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54"/>
  </p:notesMasterIdLst>
  <p:handoutMasterIdLst>
    <p:handoutMasterId r:id="rId55"/>
  </p:handoutMasterIdLst>
  <p:sldIdLst>
    <p:sldId id="323" r:id="rId2"/>
    <p:sldId id="324" r:id="rId3"/>
    <p:sldId id="325" r:id="rId4"/>
    <p:sldId id="330" r:id="rId5"/>
    <p:sldId id="326" r:id="rId6"/>
    <p:sldId id="553" r:id="rId7"/>
    <p:sldId id="332" r:id="rId8"/>
    <p:sldId id="555" r:id="rId9"/>
    <p:sldId id="556" r:id="rId10"/>
    <p:sldId id="336" r:id="rId11"/>
    <p:sldId id="340" r:id="rId12"/>
    <p:sldId id="342" r:id="rId13"/>
    <p:sldId id="347" r:id="rId14"/>
    <p:sldId id="354" r:id="rId15"/>
    <p:sldId id="358" r:id="rId16"/>
    <p:sldId id="357" r:id="rId17"/>
    <p:sldId id="557" r:id="rId18"/>
    <p:sldId id="365" r:id="rId19"/>
    <p:sldId id="369" r:id="rId20"/>
    <p:sldId id="366" r:id="rId21"/>
    <p:sldId id="371" r:id="rId22"/>
    <p:sldId id="373" r:id="rId23"/>
    <p:sldId id="288" r:id="rId24"/>
    <p:sldId id="381" r:id="rId25"/>
    <p:sldId id="382" r:id="rId26"/>
    <p:sldId id="380" r:id="rId27"/>
    <p:sldId id="379" r:id="rId28"/>
    <p:sldId id="383" r:id="rId29"/>
    <p:sldId id="378" r:id="rId30"/>
    <p:sldId id="384" r:id="rId31"/>
    <p:sldId id="377" r:id="rId32"/>
    <p:sldId id="386" r:id="rId33"/>
    <p:sldId id="385" r:id="rId34"/>
    <p:sldId id="390" r:id="rId35"/>
    <p:sldId id="389" r:id="rId36"/>
    <p:sldId id="388" r:id="rId37"/>
    <p:sldId id="387" r:id="rId38"/>
    <p:sldId id="391" r:id="rId39"/>
    <p:sldId id="392" r:id="rId40"/>
    <p:sldId id="393" r:id="rId41"/>
    <p:sldId id="396" r:id="rId42"/>
    <p:sldId id="403" r:id="rId43"/>
    <p:sldId id="405" r:id="rId44"/>
    <p:sldId id="406" r:id="rId45"/>
    <p:sldId id="410" r:id="rId46"/>
    <p:sldId id="412" r:id="rId47"/>
    <p:sldId id="293" r:id="rId48"/>
    <p:sldId id="418" r:id="rId49"/>
    <p:sldId id="423" r:id="rId50"/>
    <p:sldId id="428" r:id="rId51"/>
    <p:sldId id="429" r:id="rId52"/>
    <p:sldId id="327" r:id="rId53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800"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800"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800"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800"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800"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800"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800"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800"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800"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6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CC"/>
    <a:srgbClr val="006600"/>
    <a:srgbClr val="339933"/>
    <a:srgbClr val="DDDDDD"/>
    <a:srgbClr val="CCCCFF"/>
    <a:srgbClr val="CCFFFF"/>
    <a:srgbClr val="CCECFF"/>
    <a:srgbClr val="B4E6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984"/>
    <p:restoredTop sz="94584"/>
  </p:normalViewPr>
  <p:slideViewPr>
    <p:cSldViewPr showGuides="1">
      <p:cViewPr varScale="1">
        <p:scale>
          <a:sx n="128" d="100"/>
          <a:sy n="128" d="100"/>
        </p:scale>
        <p:origin x="1675" y="72"/>
      </p:cViewPr>
      <p:guideLst>
        <p:guide orient="horz" pos="2160"/>
        <p:guide pos="28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 b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486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b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48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 b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48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b="0" noProof="1" dirty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42120FB-0A43-4C08-B39A-327D55B1261B}" type="slidenum">
              <a:rPr kumimoji="0" lang="en-US" altLang="zh-CN" sz="12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8772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 b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b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6" name="Rectangle 4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86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</a:p>
        </p:txBody>
      </p:sp>
      <p:sp>
        <p:nvSpPr>
          <p:cNvPr id="686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 b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86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b="0" noProof="1" dirty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78FD5AC-DA15-4B18-BB66-2377284CF884}" type="slidenum">
              <a:rPr kumimoji="0" lang="en-US" altLang="zh-CN" sz="12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4234753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95852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" altLang="zh-CN" sz="1200" b="0" dirty="0"/>
              <a:t>2</a:t>
            </a:fld>
            <a:endParaRPr lang="" altLang="zh-CN" sz="1200" b="0" dirty="0"/>
          </a:p>
        </p:txBody>
      </p:sp>
      <p:sp>
        <p:nvSpPr>
          <p:cNvPr id="7171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17317848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55126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37121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14384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90117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86510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71676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59969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47093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1408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58038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39066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70492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26382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364514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3676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613359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880541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026078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868742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665214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496842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248817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432810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14192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196354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285002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705677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508271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100416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468458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784321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372655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8279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141996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995461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333253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568211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020893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649147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468092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596082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272236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065283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349678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1305724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319992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373737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0128743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7408125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85114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FD8799B-37DC-4D29-A447-E153003872D6}" type="datetime2"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2026年7月17日</a:t>
            </a:fld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078E33D-42AC-4CE9-A9E9-0136328EAF0A}" type="slidenum">
              <a:rPr kumimoji="0" lang="en-US" altLang="zh-CN" sz="14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FD8799B-37DC-4D29-A447-E153003872D6}" type="datetime2"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2026年7月17日</a:t>
            </a:fld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078E33D-42AC-4CE9-A9E9-0136328EAF0A}" type="slidenum">
              <a:rPr kumimoji="0" lang="en-US" altLang="zh-CN" sz="14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FD8799B-37DC-4D29-A447-E153003872D6}" type="datetime2"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2026年7月17日</a:t>
            </a:fld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078E33D-42AC-4CE9-A9E9-0136328EAF0A}" type="slidenum">
              <a:rPr kumimoji="0" lang="en-US" altLang="zh-CN" sz="14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FD8799B-37DC-4D29-A447-E153003872D6}" type="datetime2"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2026年7月17日</a:t>
            </a:fld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078E33D-42AC-4CE9-A9E9-0136328EAF0A}" type="slidenum">
              <a:rPr kumimoji="0" lang="en-US" altLang="zh-CN" sz="14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FD8799B-37DC-4D29-A447-E153003872D6}" type="datetime2"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2026年7月17日</a:t>
            </a:fld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078E33D-42AC-4CE9-A9E9-0136328EAF0A}" type="slidenum">
              <a:rPr kumimoji="0" lang="en-US" altLang="zh-CN" sz="14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FD8799B-37DC-4D29-A447-E153003872D6}" type="datetime2"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2026年7月17日</a:t>
            </a:fld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078E33D-42AC-4CE9-A9E9-0136328EAF0A}" type="slidenum">
              <a:rPr kumimoji="0" lang="en-US" altLang="zh-CN" sz="14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FD8799B-37DC-4D29-A447-E153003872D6}" type="datetime2"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2026年7月17日</a:t>
            </a:fld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078E33D-42AC-4CE9-A9E9-0136328EAF0A}" type="slidenum">
              <a:rPr kumimoji="0" lang="en-US" altLang="zh-CN" sz="14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FD8799B-37DC-4D29-A447-E153003872D6}" type="datetime2"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2026年7月17日</a:t>
            </a:fld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078E33D-42AC-4CE9-A9E9-0136328EAF0A}" type="slidenum">
              <a:rPr kumimoji="0" lang="en-US" altLang="zh-CN" sz="14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FD8799B-37DC-4D29-A447-E153003872D6}" type="datetime2"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2026年7月17日</a:t>
            </a:fld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078E33D-42AC-4CE9-A9E9-0136328EAF0A}" type="slidenum">
              <a:rPr kumimoji="0" lang="en-US" altLang="zh-CN" sz="14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FD8799B-37DC-4D29-A447-E153003872D6}" type="datetime2"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2026年7月17日</a:t>
            </a:fld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078E33D-42AC-4CE9-A9E9-0136328EAF0A}" type="slidenum">
              <a:rPr kumimoji="0" lang="en-US" altLang="zh-CN" sz="14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60350"/>
            <a:ext cx="2057400" cy="5865813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60350"/>
            <a:ext cx="6019800" cy="5865813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FD8799B-37DC-4D29-A447-E153003872D6}" type="datetime2"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2026年7月17日</a:t>
            </a:fld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078E33D-42AC-4CE9-A9E9-0136328EAF0A}" type="slidenum">
              <a:rPr kumimoji="0" lang="en-US" altLang="zh-CN" sz="14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60350"/>
            <a:ext cx="8229600" cy="586581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FD8799B-37DC-4D29-A447-E153003872D6}" type="datetime2"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2026年7月17日</a:t>
            </a:fld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078E33D-42AC-4CE9-A9E9-0136328EAF0A}" type="slidenum">
              <a:rPr kumimoji="0" lang="en-US" altLang="zh-CN" sz="14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60350"/>
            <a:ext cx="8229600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FD8799B-37DC-4D29-A447-E153003872D6}" type="datetime2"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2026年7月17日</a:t>
            </a:fld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078E33D-42AC-4CE9-A9E9-0136328EAF0A}" type="slidenum">
              <a:rPr kumimoji="0" lang="en-US" altLang="zh-CN" sz="14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60350"/>
            <a:ext cx="8229600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FD8799B-37DC-4D29-A447-E153003872D6}" type="datetime2"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2026年7月17日</a:t>
            </a:fld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078E33D-42AC-4CE9-A9E9-0136328EAF0A}" type="slidenum">
              <a:rPr kumimoji="0" lang="en-US" altLang="zh-CN" sz="14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60350"/>
            <a:ext cx="8229600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FD8799B-37DC-4D29-A447-E153003872D6}" type="datetime2"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2026年7月17日</a:t>
            </a:fld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078E33D-42AC-4CE9-A9E9-0136328EAF0A}" type="slidenum">
              <a:rPr kumimoji="0" lang="en-US" altLang="zh-CN" sz="14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457200" y="260350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endParaRPr lang="zh-CN" altLang="zh-CN" dirty="0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4438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941638" y="5157788"/>
            <a:ext cx="3311525" cy="4048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2400" b="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FD8799B-37DC-4D29-A447-E153003872D6}" type="datetime2"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2026年7月17日</a:t>
            </a:fld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438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b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439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 b="0" noProof="1" dirty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078E33D-42AC-4CE9-A9E9-0136328EAF0A}" type="slidenum">
              <a:rPr kumimoji="0" lang="en-US" altLang="zh-CN" sz="14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1" name="Rectangle 7"/>
          <p:cNvSpPr/>
          <p:nvPr/>
        </p:nvSpPr>
        <p:spPr>
          <a:xfrm>
            <a:off x="323850" y="0"/>
            <a:ext cx="8820150" cy="53975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ctr" anchorCtr="0"/>
          <a:lstStyle/>
          <a:p>
            <a:pPr lvl="0" algn="ctr" eaLnBrk="1" hangingPunct="1">
              <a:buNone/>
            </a:pPr>
            <a:endParaRPr lang="zh-CN" altLang="zh-CN" sz="2000" b="0" dirty="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ransition/>
  <p:hf sldNum="0"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0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0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0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0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20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20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20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20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5.w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4.wmf"/><Relationship Id="rId4" Type="http://schemas.openxmlformats.org/officeDocument/2006/relationships/oleObject" Target="../embeddings/oleObject1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5.w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4.wmf"/><Relationship Id="rId4" Type="http://schemas.openxmlformats.org/officeDocument/2006/relationships/oleObject" Target="../embeddings/oleObject1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5.w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4.wmf"/><Relationship Id="rId4" Type="http://schemas.openxmlformats.org/officeDocument/2006/relationships/oleObject" Target="../embeddings/oleObject1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image" Target="../media/image8.wmf"/><Relationship Id="rId3" Type="http://schemas.openxmlformats.org/officeDocument/2006/relationships/image" Target="../media/image3.jpeg"/><Relationship Id="rId7" Type="http://schemas.openxmlformats.org/officeDocument/2006/relationships/image" Target="../media/image5.wmf"/><Relationship Id="rId12" Type="http://schemas.openxmlformats.org/officeDocument/2006/relationships/oleObject" Target="../embeddings/oleObject5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7.wmf"/><Relationship Id="rId5" Type="http://schemas.openxmlformats.org/officeDocument/2006/relationships/image" Target="../media/image4.wmf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6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3" Type="http://schemas.openxmlformats.org/officeDocument/2006/relationships/image" Target="../media/image3.jpeg"/><Relationship Id="rId7" Type="http://schemas.openxmlformats.org/officeDocument/2006/relationships/image" Target="../media/image10.w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9.emf"/><Relationship Id="rId4" Type="http://schemas.openxmlformats.org/officeDocument/2006/relationships/oleObject" Target="../embeddings/oleObject6.bin"/><Relationship Id="rId9" Type="http://schemas.openxmlformats.org/officeDocument/2006/relationships/image" Target="../media/image11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3" Type="http://schemas.openxmlformats.org/officeDocument/2006/relationships/image" Target="../media/image3.jpeg"/><Relationship Id="rId7" Type="http://schemas.openxmlformats.org/officeDocument/2006/relationships/image" Target="../media/image10.w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7.bin"/><Relationship Id="rId11" Type="http://schemas.openxmlformats.org/officeDocument/2006/relationships/image" Target="../media/image13.wmf"/><Relationship Id="rId5" Type="http://schemas.openxmlformats.org/officeDocument/2006/relationships/image" Target="../media/image9.emf"/><Relationship Id="rId10" Type="http://schemas.openxmlformats.org/officeDocument/2006/relationships/oleObject" Target="../embeddings/oleObject10.bin"/><Relationship Id="rId4" Type="http://schemas.openxmlformats.org/officeDocument/2006/relationships/oleObject" Target="../embeddings/oleObject6.bin"/><Relationship Id="rId9" Type="http://schemas.openxmlformats.org/officeDocument/2006/relationships/image" Target="../media/image12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.bin"/><Relationship Id="rId13" Type="http://schemas.openxmlformats.org/officeDocument/2006/relationships/image" Target="../media/image17.wmf"/><Relationship Id="rId3" Type="http://schemas.openxmlformats.org/officeDocument/2006/relationships/image" Target="../media/image3.jpeg"/><Relationship Id="rId7" Type="http://schemas.openxmlformats.org/officeDocument/2006/relationships/image" Target="../media/image14.wmf"/><Relationship Id="rId12" Type="http://schemas.openxmlformats.org/officeDocument/2006/relationships/oleObject" Target="../embeddings/oleObject14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11.bin"/><Relationship Id="rId11" Type="http://schemas.openxmlformats.org/officeDocument/2006/relationships/image" Target="../media/image16.wmf"/><Relationship Id="rId5" Type="http://schemas.openxmlformats.org/officeDocument/2006/relationships/image" Target="../media/image7.wmf"/><Relationship Id="rId15" Type="http://schemas.openxmlformats.org/officeDocument/2006/relationships/image" Target="../media/image18.wmf"/><Relationship Id="rId10" Type="http://schemas.openxmlformats.org/officeDocument/2006/relationships/oleObject" Target="../embeddings/oleObject13.bin"/><Relationship Id="rId4" Type="http://schemas.openxmlformats.org/officeDocument/2006/relationships/oleObject" Target="../embeddings/oleObject4.bin"/><Relationship Id="rId9" Type="http://schemas.openxmlformats.org/officeDocument/2006/relationships/image" Target="../media/image15.wmf"/><Relationship Id="rId14" Type="http://schemas.openxmlformats.org/officeDocument/2006/relationships/oleObject" Target="../embeddings/oleObject15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.bin"/><Relationship Id="rId3" Type="http://schemas.openxmlformats.org/officeDocument/2006/relationships/image" Target="../media/image3.jpeg"/><Relationship Id="rId7" Type="http://schemas.openxmlformats.org/officeDocument/2006/relationships/image" Target="../media/image19.w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6.bin"/><Relationship Id="rId5" Type="http://schemas.openxmlformats.org/officeDocument/2006/relationships/image" Target="../media/image10.wmf"/><Relationship Id="rId4" Type="http://schemas.openxmlformats.org/officeDocument/2006/relationships/oleObject" Target="../embeddings/oleObject7.bin"/><Relationship Id="rId9" Type="http://schemas.openxmlformats.org/officeDocument/2006/relationships/image" Target="../media/image20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3" Type="http://schemas.openxmlformats.org/officeDocument/2006/relationships/image" Target="../media/image3.jpeg"/><Relationship Id="rId7" Type="http://schemas.openxmlformats.org/officeDocument/2006/relationships/image" Target="../media/image22.w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19.bin"/><Relationship Id="rId5" Type="http://schemas.openxmlformats.org/officeDocument/2006/relationships/image" Target="../media/image21.wmf"/><Relationship Id="rId4" Type="http://schemas.openxmlformats.org/officeDocument/2006/relationships/oleObject" Target="../embeddings/oleObject18.bin"/><Relationship Id="rId9" Type="http://schemas.openxmlformats.org/officeDocument/2006/relationships/image" Target="../media/image12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.bin"/><Relationship Id="rId3" Type="http://schemas.openxmlformats.org/officeDocument/2006/relationships/image" Target="../media/image3.jpeg"/><Relationship Id="rId7" Type="http://schemas.openxmlformats.org/officeDocument/2006/relationships/image" Target="../media/image23.w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20.bin"/><Relationship Id="rId11" Type="http://schemas.openxmlformats.org/officeDocument/2006/relationships/image" Target="../media/image25.wmf"/><Relationship Id="rId5" Type="http://schemas.openxmlformats.org/officeDocument/2006/relationships/image" Target="../media/image21.wmf"/><Relationship Id="rId10" Type="http://schemas.openxmlformats.org/officeDocument/2006/relationships/oleObject" Target="../embeddings/oleObject22.bin"/><Relationship Id="rId4" Type="http://schemas.openxmlformats.org/officeDocument/2006/relationships/oleObject" Target="../embeddings/oleObject18.bin"/><Relationship Id="rId9" Type="http://schemas.openxmlformats.org/officeDocument/2006/relationships/image" Target="../media/image24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.bin"/><Relationship Id="rId13" Type="http://schemas.openxmlformats.org/officeDocument/2006/relationships/image" Target="../media/image30.wmf"/><Relationship Id="rId3" Type="http://schemas.openxmlformats.org/officeDocument/2006/relationships/image" Target="../media/image3.jpeg"/><Relationship Id="rId7" Type="http://schemas.openxmlformats.org/officeDocument/2006/relationships/image" Target="../media/image27.wmf"/><Relationship Id="rId12" Type="http://schemas.openxmlformats.org/officeDocument/2006/relationships/oleObject" Target="../embeddings/oleObject27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4.bin"/><Relationship Id="rId11" Type="http://schemas.openxmlformats.org/officeDocument/2006/relationships/image" Target="../media/image29.wmf"/><Relationship Id="rId5" Type="http://schemas.openxmlformats.org/officeDocument/2006/relationships/image" Target="../media/image26.wmf"/><Relationship Id="rId10" Type="http://schemas.openxmlformats.org/officeDocument/2006/relationships/oleObject" Target="../embeddings/oleObject26.bin"/><Relationship Id="rId4" Type="http://schemas.openxmlformats.org/officeDocument/2006/relationships/oleObject" Target="../embeddings/oleObject23.bin"/><Relationship Id="rId9" Type="http://schemas.openxmlformats.org/officeDocument/2006/relationships/image" Target="../media/image28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.bin"/><Relationship Id="rId13" Type="http://schemas.openxmlformats.org/officeDocument/2006/relationships/image" Target="../media/image31.wmf"/><Relationship Id="rId3" Type="http://schemas.openxmlformats.org/officeDocument/2006/relationships/image" Target="../media/image3.jpeg"/><Relationship Id="rId7" Type="http://schemas.openxmlformats.org/officeDocument/2006/relationships/image" Target="../media/image27.wmf"/><Relationship Id="rId12" Type="http://schemas.openxmlformats.org/officeDocument/2006/relationships/oleObject" Target="../embeddings/oleObject28.bin"/><Relationship Id="rId17" Type="http://schemas.openxmlformats.org/officeDocument/2006/relationships/image" Target="../media/image32.wmf"/><Relationship Id="rId2" Type="http://schemas.openxmlformats.org/officeDocument/2006/relationships/notesSlide" Target="../notesSlides/notesSlide18.xml"/><Relationship Id="rId16" Type="http://schemas.openxmlformats.org/officeDocument/2006/relationships/oleObject" Target="../embeddings/oleObject2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4.bin"/><Relationship Id="rId11" Type="http://schemas.openxmlformats.org/officeDocument/2006/relationships/image" Target="../media/image29.wmf"/><Relationship Id="rId5" Type="http://schemas.openxmlformats.org/officeDocument/2006/relationships/image" Target="../media/image26.wmf"/><Relationship Id="rId15" Type="http://schemas.openxmlformats.org/officeDocument/2006/relationships/image" Target="../media/image10.wmf"/><Relationship Id="rId10" Type="http://schemas.openxmlformats.org/officeDocument/2006/relationships/oleObject" Target="../embeddings/oleObject26.bin"/><Relationship Id="rId4" Type="http://schemas.openxmlformats.org/officeDocument/2006/relationships/oleObject" Target="../embeddings/oleObject23.bin"/><Relationship Id="rId9" Type="http://schemas.openxmlformats.org/officeDocument/2006/relationships/image" Target="../media/image28.wmf"/><Relationship Id="rId14" Type="http://schemas.openxmlformats.org/officeDocument/2006/relationships/oleObject" Target="../embeddings/oleObject7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34.w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31.bin"/><Relationship Id="rId5" Type="http://schemas.openxmlformats.org/officeDocument/2006/relationships/image" Target="../media/image33.wmf"/><Relationship Id="rId4" Type="http://schemas.openxmlformats.org/officeDocument/2006/relationships/oleObject" Target="../embeddings/oleObject30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.bin"/><Relationship Id="rId3" Type="http://schemas.openxmlformats.org/officeDocument/2006/relationships/image" Target="../media/image3.jpeg"/><Relationship Id="rId7" Type="http://schemas.openxmlformats.org/officeDocument/2006/relationships/image" Target="../media/image35.w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32.bin"/><Relationship Id="rId11" Type="http://schemas.openxmlformats.org/officeDocument/2006/relationships/image" Target="../media/image36.wmf"/><Relationship Id="rId5" Type="http://schemas.openxmlformats.org/officeDocument/2006/relationships/image" Target="../media/image33.wmf"/><Relationship Id="rId10" Type="http://schemas.openxmlformats.org/officeDocument/2006/relationships/oleObject" Target="../embeddings/oleObject33.bin"/><Relationship Id="rId4" Type="http://schemas.openxmlformats.org/officeDocument/2006/relationships/oleObject" Target="../embeddings/oleObject30.bin"/><Relationship Id="rId9" Type="http://schemas.openxmlformats.org/officeDocument/2006/relationships/image" Target="../media/image34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.bin"/><Relationship Id="rId3" Type="http://schemas.openxmlformats.org/officeDocument/2006/relationships/image" Target="../media/image3.jpeg"/><Relationship Id="rId7" Type="http://schemas.openxmlformats.org/officeDocument/2006/relationships/image" Target="../media/image37.w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34.bin"/><Relationship Id="rId11" Type="http://schemas.openxmlformats.org/officeDocument/2006/relationships/image" Target="../media/image36.wmf"/><Relationship Id="rId5" Type="http://schemas.openxmlformats.org/officeDocument/2006/relationships/image" Target="../media/image33.wmf"/><Relationship Id="rId10" Type="http://schemas.openxmlformats.org/officeDocument/2006/relationships/oleObject" Target="../embeddings/oleObject33.bin"/><Relationship Id="rId4" Type="http://schemas.openxmlformats.org/officeDocument/2006/relationships/oleObject" Target="../embeddings/oleObject30.bin"/><Relationship Id="rId9" Type="http://schemas.openxmlformats.org/officeDocument/2006/relationships/image" Target="../media/image34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7.bin"/><Relationship Id="rId3" Type="http://schemas.openxmlformats.org/officeDocument/2006/relationships/image" Target="../media/image3.jpeg"/><Relationship Id="rId7" Type="http://schemas.openxmlformats.org/officeDocument/2006/relationships/image" Target="../media/image39.w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6.bin"/><Relationship Id="rId5" Type="http://schemas.openxmlformats.org/officeDocument/2006/relationships/image" Target="../media/image38.wmf"/><Relationship Id="rId4" Type="http://schemas.openxmlformats.org/officeDocument/2006/relationships/oleObject" Target="../embeddings/oleObject35.bin"/><Relationship Id="rId9" Type="http://schemas.openxmlformats.org/officeDocument/2006/relationships/image" Target="../media/image40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41.wmf"/><Relationship Id="rId4" Type="http://schemas.openxmlformats.org/officeDocument/2006/relationships/oleObject" Target="../embeddings/oleObject38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41.wmf"/><Relationship Id="rId4" Type="http://schemas.openxmlformats.org/officeDocument/2006/relationships/oleObject" Target="../embeddings/oleObject38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42.w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4.xml"/><Relationship Id="rId6" Type="http://schemas.openxmlformats.org/officeDocument/2006/relationships/oleObject" Target="../embeddings/oleObject39.bin"/><Relationship Id="rId5" Type="http://schemas.openxmlformats.org/officeDocument/2006/relationships/image" Target="../media/image41.wmf"/><Relationship Id="rId4" Type="http://schemas.openxmlformats.org/officeDocument/2006/relationships/oleObject" Target="../embeddings/oleObject38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9.bin"/><Relationship Id="rId3" Type="http://schemas.openxmlformats.org/officeDocument/2006/relationships/image" Target="../media/image3.jpeg"/><Relationship Id="rId7" Type="http://schemas.openxmlformats.org/officeDocument/2006/relationships/image" Target="../media/image43.w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4.xml"/><Relationship Id="rId6" Type="http://schemas.openxmlformats.org/officeDocument/2006/relationships/oleObject" Target="../embeddings/oleObject40.bin"/><Relationship Id="rId5" Type="http://schemas.openxmlformats.org/officeDocument/2006/relationships/image" Target="../media/image41.wmf"/><Relationship Id="rId4" Type="http://schemas.openxmlformats.org/officeDocument/2006/relationships/oleObject" Target="../embeddings/oleObject38.bin"/><Relationship Id="rId9" Type="http://schemas.openxmlformats.org/officeDocument/2006/relationships/image" Target="../media/image42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9.bin"/><Relationship Id="rId3" Type="http://schemas.openxmlformats.org/officeDocument/2006/relationships/image" Target="../media/image3.jpeg"/><Relationship Id="rId7" Type="http://schemas.openxmlformats.org/officeDocument/2006/relationships/image" Target="../media/image43.wm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4.xml"/><Relationship Id="rId6" Type="http://schemas.openxmlformats.org/officeDocument/2006/relationships/oleObject" Target="../embeddings/oleObject40.bin"/><Relationship Id="rId5" Type="http://schemas.openxmlformats.org/officeDocument/2006/relationships/image" Target="../media/image41.wmf"/><Relationship Id="rId4" Type="http://schemas.openxmlformats.org/officeDocument/2006/relationships/oleObject" Target="../embeddings/oleObject38.bin"/><Relationship Id="rId9" Type="http://schemas.openxmlformats.org/officeDocument/2006/relationships/image" Target="../media/image42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1.bin"/><Relationship Id="rId3" Type="http://schemas.openxmlformats.org/officeDocument/2006/relationships/image" Target="../media/image3.jpeg"/><Relationship Id="rId7" Type="http://schemas.openxmlformats.org/officeDocument/2006/relationships/image" Target="../media/image43.wm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4.xml"/><Relationship Id="rId6" Type="http://schemas.openxmlformats.org/officeDocument/2006/relationships/oleObject" Target="../embeddings/oleObject40.bin"/><Relationship Id="rId11" Type="http://schemas.openxmlformats.org/officeDocument/2006/relationships/image" Target="../media/image42.wmf"/><Relationship Id="rId5" Type="http://schemas.openxmlformats.org/officeDocument/2006/relationships/image" Target="../media/image41.wmf"/><Relationship Id="rId10" Type="http://schemas.openxmlformats.org/officeDocument/2006/relationships/oleObject" Target="../embeddings/oleObject39.bin"/><Relationship Id="rId4" Type="http://schemas.openxmlformats.org/officeDocument/2006/relationships/oleObject" Target="../embeddings/oleObject38.bin"/><Relationship Id="rId9" Type="http://schemas.openxmlformats.org/officeDocument/2006/relationships/image" Target="../media/image44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1.bin"/><Relationship Id="rId13" Type="http://schemas.openxmlformats.org/officeDocument/2006/relationships/image" Target="../media/image45.wmf"/><Relationship Id="rId3" Type="http://schemas.openxmlformats.org/officeDocument/2006/relationships/image" Target="../media/image3.jpeg"/><Relationship Id="rId7" Type="http://schemas.openxmlformats.org/officeDocument/2006/relationships/image" Target="../media/image43.wmf"/><Relationship Id="rId12" Type="http://schemas.openxmlformats.org/officeDocument/2006/relationships/oleObject" Target="../embeddings/oleObject42.bin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4.xml"/><Relationship Id="rId6" Type="http://schemas.openxmlformats.org/officeDocument/2006/relationships/oleObject" Target="../embeddings/oleObject40.bin"/><Relationship Id="rId11" Type="http://schemas.openxmlformats.org/officeDocument/2006/relationships/image" Target="../media/image42.wmf"/><Relationship Id="rId5" Type="http://schemas.openxmlformats.org/officeDocument/2006/relationships/image" Target="../media/image41.wmf"/><Relationship Id="rId10" Type="http://schemas.openxmlformats.org/officeDocument/2006/relationships/oleObject" Target="../embeddings/oleObject39.bin"/><Relationship Id="rId4" Type="http://schemas.openxmlformats.org/officeDocument/2006/relationships/oleObject" Target="../embeddings/oleObject38.bin"/><Relationship Id="rId9" Type="http://schemas.openxmlformats.org/officeDocument/2006/relationships/image" Target="../media/image44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1.bin"/><Relationship Id="rId13" Type="http://schemas.openxmlformats.org/officeDocument/2006/relationships/image" Target="../media/image46.wmf"/><Relationship Id="rId3" Type="http://schemas.openxmlformats.org/officeDocument/2006/relationships/image" Target="../media/image3.jpeg"/><Relationship Id="rId7" Type="http://schemas.openxmlformats.org/officeDocument/2006/relationships/image" Target="../media/image43.wmf"/><Relationship Id="rId12" Type="http://schemas.openxmlformats.org/officeDocument/2006/relationships/oleObject" Target="../embeddings/oleObject43.bin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4.xml"/><Relationship Id="rId6" Type="http://schemas.openxmlformats.org/officeDocument/2006/relationships/oleObject" Target="../embeddings/oleObject40.bin"/><Relationship Id="rId11" Type="http://schemas.openxmlformats.org/officeDocument/2006/relationships/image" Target="../media/image42.wmf"/><Relationship Id="rId5" Type="http://schemas.openxmlformats.org/officeDocument/2006/relationships/image" Target="../media/image41.wmf"/><Relationship Id="rId15" Type="http://schemas.openxmlformats.org/officeDocument/2006/relationships/image" Target="../media/image45.wmf"/><Relationship Id="rId10" Type="http://schemas.openxmlformats.org/officeDocument/2006/relationships/oleObject" Target="../embeddings/oleObject39.bin"/><Relationship Id="rId4" Type="http://schemas.openxmlformats.org/officeDocument/2006/relationships/oleObject" Target="../embeddings/oleObject38.bin"/><Relationship Id="rId9" Type="http://schemas.openxmlformats.org/officeDocument/2006/relationships/image" Target="../media/image44.wmf"/><Relationship Id="rId14" Type="http://schemas.openxmlformats.org/officeDocument/2006/relationships/oleObject" Target="../embeddings/oleObject42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0.bin"/><Relationship Id="rId13" Type="http://schemas.openxmlformats.org/officeDocument/2006/relationships/image" Target="../media/image42.wmf"/><Relationship Id="rId3" Type="http://schemas.openxmlformats.org/officeDocument/2006/relationships/image" Target="../media/image3.jpeg"/><Relationship Id="rId7" Type="http://schemas.openxmlformats.org/officeDocument/2006/relationships/image" Target="../media/image47.wmf"/><Relationship Id="rId12" Type="http://schemas.openxmlformats.org/officeDocument/2006/relationships/oleObject" Target="../embeddings/oleObject39.bin"/><Relationship Id="rId17" Type="http://schemas.openxmlformats.org/officeDocument/2006/relationships/image" Target="../media/image45.wmf"/><Relationship Id="rId2" Type="http://schemas.openxmlformats.org/officeDocument/2006/relationships/notesSlide" Target="../notesSlides/notesSlide32.xml"/><Relationship Id="rId16" Type="http://schemas.openxmlformats.org/officeDocument/2006/relationships/oleObject" Target="../embeddings/oleObject42.bin"/><Relationship Id="rId1" Type="http://schemas.openxmlformats.org/officeDocument/2006/relationships/slideLayout" Target="../slideLayouts/slideLayout14.xml"/><Relationship Id="rId6" Type="http://schemas.openxmlformats.org/officeDocument/2006/relationships/oleObject" Target="../embeddings/oleObject44.bin"/><Relationship Id="rId11" Type="http://schemas.openxmlformats.org/officeDocument/2006/relationships/image" Target="../media/image44.wmf"/><Relationship Id="rId5" Type="http://schemas.openxmlformats.org/officeDocument/2006/relationships/image" Target="../media/image41.wmf"/><Relationship Id="rId15" Type="http://schemas.openxmlformats.org/officeDocument/2006/relationships/image" Target="../media/image46.wmf"/><Relationship Id="rId10" Type="http://schemas.openxmlformats.org/officeDocument/2006/relationships/oleObject" Target="../embeddings/oleObject41.bin"/><Relationship Id="rId4" Type="http://schemas.openxmlformats.org/officeDocument/2006/relationships/oleObject" Target="../embeddings/oleObject38.bin"/><Relationship Id="rId9" Type="http://schemas.openxmlformats.org/officeDocument/2006/relationships/image" Target="../media/image43.wmf"/><Relationship Id="rId14" Type="http://schemas.openxmlformats.org/officeDocument/2006/relationships/oleObject" Target="../embeddings/oleObject43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0.bin"/><Relationship Id="rId13" Type="http://schemas.openxmlformats.org/officeDocument/2006/relationships/image" Target="../media/image42.wmf"/><Relationship Id="rId18" Type="http://schemas.openxmlformats.org/officeDocument/2006/relationships/oleObject" Target="../embeddings/oleObject45.bin"/><Relationship Id="rId3" Type="http://schemas.openxmlformats.org/officeDocument/2006/relationships/image" Target="../media/image3.jpeg"/><Relationship Id="rId7" Type="http://schemas.openxmlformats.org/officeDocument/2006/relationships/image" Target="../media/image47.wmf"/><Relationship Id="rId12" Type="http://schemas.openxmlformats.org/officeDocument/2006/relationships/oleObject" Target="../embeddings/oleObject39.bin"/><Relationship Id="rId17" Type="http://schemas.openxmlformats.org/officeDocument/2006/relationships/image" Target="../media/image45.wmf"/><Relationship Id="rId2" Type="http://schemas.openxmlformats.org/officeDocument/2006/relationships/notesSlide" Target="../notesSlides/notesSlide33.xml"/><Relationship Id="rId16" Type="http://schemas.openxmlformats.org/officeDocument/2006/relationships/oleObject" Target="../embeddings/oleObject42.bin"/><Relationship Id="rId1" Type="http://schemas.openxmlformats.org/officeDocument/2006/relationships/slideLayout" Target="../slideLayouts/slideLayout14.xml"/><Relationship Id="rId6" Type="http://schemas.openxmlformats.org/officeDocument/2006/relationships/oleObject" Target="../embeddings/oleObject44.bin"/><Relationship Id="rId11" Type="http://schemas.openxmlformats.org/officeDocument/2006/relationships/image" Target="../media/image44.wmf"/><Relationship Id="rId5" Type="http://schemas.openxmlformats.org/officeDocument/2006/relationships/image" Target="../media/image41.wmf"/><Relationship Id="rId15" Type="http://schemas.openxmlformats.org/officeDocument/2006/relationships/image" Target="../media/image46.wmf"/><Relationship Id="rId10" Type="http://schemas.openxmlformats.org/officeDocument/2006/relationships/oleObject" Target="../embeddings/oleObject41.bin"/><Relationship Id="rId19" Type="http://schemas.openxmlformats.org/officeDocument/2006/relationships/image" Target="../media/image48.wmf"/><Relationship Id="rId4" Type="http://schemas.openxmlformats.org/officeDocument/2006/relationships/oleObject" Target="../embeddings/oleObject38.bin"/><Relationship Id="rId9" Type="http://schemas.openxmlformats.org/officeDocument/2006/relationships/image" Target="../media/image43.wmf"/><Relationship Id="rId14" Type="http://schemas.openxmlformats.org/officeDocument/2006/relationships/oleObject" Target="../embeddings/oleObject43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0.bin"/><Relationship Id="rId13" Type="http://schemas.openxmlformats.org/officeDocument/2006/relationships/image" Target="../media/image49.wmf"/><Relationship Id="rId18" Type="http://schemas.openxmlformats.org/officeDocument/2006/relationships/oleObject" Target="../embeddings/oleObject47.bin"/><Relationship Id="rId3" Type="http://schemas.openxmlformats.org/officeDocument/2006/relationships/image" Target="../media/image3.jpeg"/><Relationship Id="rId21" Type="http://schemas.openxmlformats.org/officeDocument/2006/relationships/image" Target="../media/image48.wmf"/><Relationship Id="rId7" Type="http://schemas.openxmlformats.org/officeDocument/2006/relationships/image" Target="../media/image47.wmf"/><Relationship Id="rId12" Type="http://schemas.openxmlformats.org/officeDocument/2006/relationships/oleObject" Target="../embeddings/oleObject46.bin"/><Relationship Id="rId17" Type="http://schemas.openxmlformats.org/officeDocument/2006/relationships/image" Target="../media/image46.wmf"/><Relationship Id="rId2" Type="http://schemas.openxmlformats.org/officeDocument/2006/relationships/notesSlide" Target="../notesSlides/notesSlide34.xml"/><Relationship Id="rId16" Type="http://schemas.openxmlformats.org/officeDocument/2006/relationships/oleObject" Target="../embeddings/oleObject43.bin"/><Relationship Id="rId20" Type="http://schemas.openxmlformats.org/officeDocument/2006/relationships/oleObject" Target="../embeddings/oleObject45.bin"/><Relationship Id="rId1" Type="http://schemas.openxmlformats.org/officeDocument/2006/relationships/slideLayout" Target="../slideLayouts/slideLayout14.xml"/><Relationship Id="rId6" Type="http://schemas.openxmlformats.org/officeDocument/2006/relationships/oleObject" Target="../embeddings/oleObject44.bin"/><Relationship Id="rId11" Type="http://schemas.openxmlformats.org/officeDocument/2006/relationships/image" Target="../media/image44.wmf"/><Relationship Id="rId5" Type="http://schemas.openxmlformats.org/officeDocument/2006/relationships/image" Target="../media/image41.wmf"/><Relationship Id="rId15" Type="http://schemas.openxmlformats.org/officeDocument/2006/relationships/image" Target="../media/image42.wmf"/><Relationship Id="rId10" Type="http://schemas.openxmlformats.org/officeDocument/2006/relationships/oleObject" Target="../embeddings/oleObject41.bin"/><Relationship Id="rId19" Type="http://schemas.openxmlformats.org/officeDocument/2006/relationships/image" Target="../media/image50.wmf"/><Relationship Id="rId4" Type="http://schemas.openxmlformats.org/officeDocument/2006/relationships/oleObject" Target="../embeddings/oleObject38.bin"/><Relationship Id="rId9" Type="http://schemas.openxmlformats.org/officeDocument/2006/relationships/image" Target="../media/image43.wmf"/><Relationship Id="rId14" Type="http://schemas.openxmlformats.org/officeDocument/2006/relationships/oleObject" Target="../embeddings/oleObject39.bin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0.bin"/><Relationship Id="rId13" Type="http://schemas.openxmlformats.org/officeDocument/2006/relationships/image" Target="../media/image49.wmf"/><Relationship Id="rId18" Type="http://schemas.openxmlformats.org/officeDocument/2006/relationships/oleObject" Target="../embeddings/oleObject47.bin"/><Relationship Id="rId3" Type="http://schemas.openxmlformats.org/officeDocument/2006/relationships/image" Target="../media/image3.jpeg"/><Relationship Id="rId21" Type="http://schemas.openxmlformats.org/officeDocument/2006/relationships/image" Target="../media/image48.wmf"/><Relationship Id="rId7" Type="http://schemas.openxmlformats.org/officeDocument/2006/relationships/image" Target="../media/image47.wmf"/><Relationship Id="rId12" Type="http://schemas.openxmlformats.org/officeDocument/2006/relationships/oleObject" Target="../embeddings/oleObject46.bin"/><Relationship Id="rId17" Type="http://schemas.openxmlformats.org/officeDocument/2006/relationships/image" Target="../media/image46.wmf"/><Relationship Id="rId2" Type="http://schemas.openxmlformats.org/officeDocument/2006/relationships/notesSlide" Target="../notesSlides/notesSlide35.xml"/><Relationship Id="rId16" Type="http://schemas.openxmlformats.org/officeDocument/2006/relationships/oleObject" Target="../embeddings/oleObject43.bin"/><Relationship Id="rId20" Type="http://schemas.openxmlformats.org/officeDocument/2006/relationships/oleObject" Target="../embeddings/oleObject45.bin"/><Relationship Id="rId1" Type="http://schemas.openxmlformats.org/officeDocument/2006/relationships/slideLayout" Target="../slideLayouts/slideLayout14.xml"/><Relationship Id="rId6" Type="http://schemas.openxmlformats.org/officeDocument/2006/relationships/oleObject" Target="../embeddings/oleObject44.bin"/><Relationship Id="rId11" Type="http://schemas.openxmlformats.org/officeDocument/2006/relationships/image" Target="../media/image44.wmf"/><Relationship Id="rId5" Type="http://schemas.openxmlformats.org/officeDocument/2006/relationships/image" Target="../media/image41.wmf"/><Relationship Id="rId15" Type="http://schemas.openxmlformats.org/officeDocument/2006/relationships/image" Target="../media/image42.wmf"/><Relationship Id="rId10" Type="http://schemas.openxmlformats.org/officeDocument/2006/relationships/oleObject" Target="../embeddings/oleObject41.bin"/><Relationship Id="rId19" Type="http://schemas.openxmlformats.org/officeDocument/2006/relationships/image" Target="../media/image50.wmf"/><Relationship Id="rId4" Type="http://schemas.openxmlformats.org/officeDocument/2006/relationships/oleObject" Target="../embeddings/oleObject38.bin"/><Relationship Id="rId9" Type="http://schemas.openxmlformats.org/officeDocument/2006/relationships/image" Target="../media/image43.wmf"/><Relationship Id="rId14" Type="http://schemas.openxmlformats.org/officeDocument/2006/relationships/oleObject" Target="../embeddings/oleObject39.bin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0.bin"/><Relationship Id="rId13" Type="http://schemas.openxmlformats.org/officeDocument/2006/relationships/image" Target="../media/image49.wmf"/><Relationship Id="rId18" Type="http://schemas.openxmlformats.org/officeDocument/2006/relationships/oleObject" Target="../embeddings/oleObject47.bin"/><Relationship Id="rId3" Type="http://schemas.openxmlformats.org/officeDocument/2006/relationships/image" Target="../media/image3.jpeg"/><Relationship Id="rId21" Type="http://schemas.openxmlformats.org/officeDocument/2006/relationships/image" Target="../media/image48.wmf"/><Relationship Id="rId7" Type="http://schemas.openxmlformats.org/officeDocument/2006/relationships/image" Target="../media/image47.wmf"/><Relationship Id="rId12" Type="http://schemas.openxmlformats.org/officeDocument/2006/relationships/oleObject" Target="../embeddings/oleObject46.bin"/><Relationship Id="rId17" Type="http://schemas.openxmlformats.org/officeDocument/2006/relationships/image" Target="../media/image46.wmf"/><Relationship Id="rId2" Type="http://schemas.openxmlformats.org/officeDocument/2006/relationships/notesSlide" Target="../notesSlides/notesSlide36.xml"/><Relationship Id="rId16" Type="http://schemas.openxmlformats.org/officeDocument/2006/relationships/oleObject" Target="../embeddings/oleObject43.bin"/><Relationship Id="rId20" Type="http://schemas.openxmlformats.org/officeDocument/2006/relationships/oleObject" Target="../embeddings/oleObject45.bin"/><Relationship Id="rId1" Type="http://schemas.openxmlformats.org/officeDocument/2006/relationships/slideLayout" Target="../slideLayouts/slideLayout14.xml"/><Relationship Id="rId6" Type="http://schemas.openxmlformats.org/officeDocument/2006/relationships/oleObject" Target="../embeddings/oleObject44.bin"/><Relationship Id="rId11" Type="http://schemas.openxmlformats.org/officeDocument/2006/relationships/image" Target="../media/image44.wmf"/><Relationship Id="rId5" Type="http://schemas.openxmlformats.org/officeDocument/2006/relationships/image" Target="../media/image41.wmf"/><Relationship Id="rId15" Type="http://schemas.openxmlformats.org/officeDocument/2006/relationships/image" Target="../media/image42.wmf"/><Relationship Id="rId10" Type="http://schemas.openxmlformats.org/officeDocument/2006/relationships/oleObject" Target="../embeddings/oleObject41.bin"/><Relationship Id="rId19" Type="http://schemas.openxmlformats.org/officeDocument/2006/relationships/image" Target="../media/image50.wmf"/><Relationship Id="rId4" Type="http://schemas.openxmlformats.org/officeDocument/2006/relationships/oleObject" Target="../embeddings/oleObject38.bin"/><Relationship Id="rId9" Type="http://schemas.openxmlformats.org/officeDocument/2006/relationships/image" Target="../media/image43.wmf"/><Relationship Id="rId14" Type="http://schemas.openxmlformats.org/officeDocument/2006/relationships/oleObject" Target="../embeddings/oleObject39.bin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0.bin"/><Relationship Id="rId13" Type="http://schemas.openxmlformats.org/officeDocument/2006/relationships/image" Target="../media/image49.wmf"/><Relationship Id="rId18" Type="http://schemas.openxmlformats.org/officeDocument/2006/relationships/oleObject" Target="../embeddings/oleObject47.bin"/><Relationship Id="rId3" Type="http://schemas.openxmlformats.org/officeDocument/2006/relationships/image" Target="../media/image3.jpeg"/><Relationship Id="rId21" Type="http://schemas.openxmlformats.org/officeDocument/2006/relationships/image" Target="../media/image48.wmf"/><Relationship Id="rId7" Type="http://schemas.openxmlformats.org/officeDocument/2006/relationships/image" Target="../media/image47.wmf"/><Relationship Id="rId12" Type="http://schemas.openxmlformats.org/officeDocument/2006/relationships/oleObject" Target="../embeddings/oleObject46.bin"/><Relationship Id="rId17" Type="http://schemas.openxmlformats.org/officeDocument/2006/relationships/image" Target="../media/image46.wmf"/><Relationship Id="rId2" Type="http://schemas.openxmlformats.org/officeDocument/2006/relationships/notesSlide" Target="../notesSlides/notesSlide37.xml"/><Relationship Id="rId16" Type="http://schemas.openxmlformats.org/officeDocument/2006/relationships/oleObject" Target="../embeddings/oleObject43.bin"/><Relationship Id="rId20" Type="http://schemas.openxmlformats.org/officeDocument/2006/relationships/oleObject" Target="../embeddings/oleObject45.bin"/><Relationship Id="rId1" Type="http://schemas.openxmlformats.org/officeDocument/2006/relationships/slideLayout" Target="../slideLayouts/slideLayout14.xml"/><Relationship Id="rId6" Type="http://schemas.openxmlformats.org/officeDocument/2006/relationships/oleObject" Target="../embeddings/oleObject44.bin"/><Relationship Id="rId11" Type="http://schemas.openxmlformats.org/officeDocument/2006/relationships/image" Target="../media/image44.wmf"/><Relationship Id="rId5" Type="http://schemas.openxmlformats.org/officeDocument/2006/relationships/image" Target="../media/image41.wmf"/><Relationship Id="rId15" Type="http://schemas.openxmlformats.org/officeDocument/2006/relationships/image" Target="../media/image42.wmf"/><Relationship Id="rId10" Type="http://schemas.openxmlformats.org/officeDocument/2006/relationships/oleObject" Target="../embeddings/oleObject41.bin"/><Relationship Id="rId19" Type="http://schemas.openxmlformats.org/officeDocument/2006/relationships/image" Target="../media/image50.wmf"/><Relationship Id="rId4" Type="http://schemas.openxmlformats.org/officeDocument/2006/relationships/oleObject" Target="../embeddings/oleObject38.bin"/><Relationship Id="rId9" Type="http://schemas.openxmlformats.org/officeDocument/2006/relationships/image" Target="../media/image43.wmf"/><Relationship Id="rId14" Type="http://schemas.openxmlformats.org/officeDocument/2006/relationships/oleObject" Target="../embeddings/oleObject39.bin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0.bin"/><Relationship Id="rId13" Type="http://schemas.openxmlformats.org/officeDocument/2006/relationships/image" Target="../media/image49.wmf"/><Relationship Id="rId18" Type="http://schemas.openxmlformats.org/officeDocument/2006/relationships/oleObject" Target="../embeddings/oleObject47.bin"/><Relationship Id="rId3" Type="http://schemas.openxmlformats.org/officeDocument/2006/relationships/image" Target="../media/image3.jpeg"/><Relationship Id="rId21" Type="http://schemas.openxmlformats.org/officeDocument/2006/relationships/image" Target="../media/image48.wmf"/><Relationship Id="rId7" Type="http://schemas.openxmlformats.org/officeDocument/2006/relationships/image" Target="../media/image47.wmf"/><Relationship Id="rId12" Type="http://schemas.openxmlformats.org/officeDocument/2006/relationships/oleObject" Target="../embeddings/oleObject46.bin"/><Relationship Id="rId17" Type="http://schemas.openxmlformats.org/officeDocument/2006/relationships/image" Target="../media/image46.wmf"/><Relationship Id="rId2" Type="http://schemas.openxmlformats.org/officeDocument/2006/relationships/notesSlide" Target="../notesSlides/notesSlide38.xml"/><Relationship Id="rId16" Type="http://schemas.openxmlformats.org/officeDocument/2006/relationships/oleObject" Target="../embeddings/oleObject43.bin"/><Relationship Id="rId20" Type="http://schemas.openxmlformats.org/officeDocument/2006/relationships/oleObject" Target="../embeddings/oleObject45.bin"/><Relationship Id="rId1" Type="http://schemas.openxmlformats.org/officeDocument/2006/relationships/slideLayout" Target="../slideLayouts/slideLayout14.xml"/><Relationship Id="rId6" Type="http://schemas.openxmlformats.org/officeDocument/2006/relationships/oleObject" Target="../embeddings/oleObject44.bin"/><Relationship Id="rId11" Type="http://schemas.openxmlformats.org/officeDocument/2006/relationships/image" Target="../media/image44.wmf"/><Relationship Id="rId5" Type="http://schemas.openxmlformats.org/officeDocument/2006/relationships/image" Target="../media/image41.wmf"/><Relationship Id="rId15" Type="http://schemas.openxmlformats.org/officeDocument/2006/relationships/image" Target="../media/image42.wmf"/><Relationship Id="rId10" Type="http://schemas.openxmlformats.org/officeDocument/2006/relationships/oleObject" Target="../embeddings/oleObject41.bin"/><Relationship Id="rId19" Type="http://schemas.openxmlformats.org/officeDocument/2006/relationships/image" Target="../media/image50.wmf"/><Relationship Id="rId4" Type="http://schemas.openxmlformats.org/officeDocument/2006/relationships/oleObject" Target="../embeddings/oleObject38.bin"/><Relationship Id="rId9" Type="http://schemas.openxmlformats.org/officeDocument/2006/relationships/image" Target="../media/image43.wmf"/><Relationship Id="rId14" Type="http://schemas.openxmlformats.org/officeDocument/2006/relationships/oleObject" Target="../embeddings/oleObject39.bin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0.bin"/><Relationship Id="rId13" Type="http://schemas.openxmlformats.org/officeDocument/2006/relationships/image" Target="../media/image51.wmf"/><Relationship Id="rId18" Type="http://schemas.openxmlformats.org/officeDocument/2006/relationships/oleObject" Target="../embeddings/oleObject47.bin"/><Relationship Id="rId3" Type="http://schemas.openxmlformats.org/officeDocument/2006/relationships/image" Target="../media/image3.jpeg"/><Relationship Id="rId21" Type="http://schemas.openxmlformats.org/officeDocument/2006/relationships/image" Target="../media/image48.wmf"/><Relationship Id="rId7" Type="http://schemas.openxmlformats.org/officeDocument/2006/relationships/image" Target="../media/image47.wmf"/><Relationship Id="rId12" Type="http://schemas.openxmlformats.org/officeDocument/2006/relationships/oleObject" Target="../embeddings/oleObject48.bin"/><Relationship Id="rId17" Type="http://schemas.openxmlformats.org/officeDocument/2006/relationships/image" Target="../media/image46.wmf"/><Relationship Id="rId2" Type="http://schemas.openxmlformats.org/officeDocument/2006/relationships/notesSlide" Target="../notesSlides/notesSlide39.xml"/><Relationship Id="rId16" Type="http://schemas.openxmlformats.org/officeDocument/2006/relationships/oleObject" Target="../embeddings/oleObject43.bin"/><Relationship Id="rId20" Type="http://schemas.openxmlformats.org/officeDocument/2006/relationships/oleObject" Target="../embeddings/oleObject45.bin"/><Relationship Id="rId1" Type="http://schemas.openxmlformats.org/officeDocument/2006/relationships/slideLayout" Target="../slideLayouts/slideLayout14.xml"/><Relationship Id="rId6" Type="http://schemas.openxmlformats.org/officeDocument/2006/relationships/oleObject" Target="../embeddings/oleObject44.bin"/><Relationship Id="rId11" Type="http://schemas.openxmlformats.org/officeDocument/2006/relationships/image" Target="../media/image44.wmf"/><Relationship Id="rId5" Type="http://schemas.openxmlformats.org/officeDocument/2006/relationships/image" Target="../media/image41.wmf"/><Relationship Id="rId15" Type="http://schemas.openxmlformats.org/officeDocument/2006/relationships/image" Target="../media/image42.wmf"/><Relationship Id="rId10" Type="http://schemas.openxmlformats.org/officeDocument/2006/relationships/oleObject" Target="../embeddings/oleObject41.bin"/><Relationship Id="rId19" Type="http://schemas.openxmlformats.org/officeDocument/2006/relationships/image" Target="../media/image50.wmf"/><Relationship Id="rId4" Type="http://schemas.openxmlformats.org/officeDocument/2006/relationships/oleObject" Target="../embeddings/oleObject38.bin"/><Relationship Id="rId9" Type="http://schemas.openxmlformats.org/officeDocument/2006/relationships/image" Target="../media/image43.wmf"/><Relationship Id="rId14" Type="http://schemas.openxmlformats.org/officeDocument/2006/relationships/oleObject" Target="../embeddings/oleObject39.bin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0.bin"/><Relationship Id="rId13" Type="http://schemas.openxmlformats.org/officeDocument/2006/relationships/image" Target="../media/image52.wmf"/><Relationship Id="rId18" Type="http://schemas.openxmlformats.org/officeDocument/2006/relationships/oleObject" Target="../embeddings/oleObject47.bin"/><Relationship Id="rId3" Type="http://schemas.openxmlformats.org/officeDocument/2006/relationships/image" Target="../media/image3.jpeg"/><Relationship Id="rId21" Type="http://schemas.openxmlformats.org/officeDocument/2006/relationships/image" Target="../media/image48.wmf"/><Relationship Id="rId7" Type="http://schemas.openxmlformats.org/officeDocument/2006/relationships/image" Target="../media/image47.wmf"/><Relationship Id="rId12" Type="http://schemas.openxmlformats.org/officeDocument/2006/relationships/oleObject" Target="../embeddings/oleObject49.bin"/><Relationship Id="rId17" Type="http://schemas.openxmlformats.org/officeDocument/2006/relationships/image" Target="../media/image46.wmf"/><Relationship Id="rId2" Type="http://schemas.openxmlformats.org/officeDocument/2006/relationships/notesSlide" Target="../notesSlides/notesSlide40.xml"/><Relationship Id="rId16" Type="http://schemas.openxmlformats.org/officeDocument/2006/relationships/oleObject" Target="../embeddings/oleObject43.bin"/><Relationship Id="rId20" Type="http://schemas.openxmlformats.org/officeDocument/2006/relationships/oleObject" Target="../embeddings/oleObject45.bin"/><Relationship Id="rId1" Type="http://schemas.openxmlformats.org/officeDocument/2006/relationships/slideLayout" Target="../slideLayouts/slideLayout14.xml"/><Relationship Id="rId6" Type="http://schemas.openxmlformats.org/officeDocument/2006/relationships/oleObject" Target="../embeddings/oleObject44.bin"/><Relationship Id="rId11" Type="http://schemas.openxmlformats.org/officeDocument/2006/relationships/image" Target="../media/image44.wmf"/><Relationship Id="rId5" Type="http://schemas.openxmlformats.org/officeDocument/2006/relationships/image" Target="../media/image41.wmf"/><Relationship Id="rId15" Type="http://schemas.openxmlformats.org/officeDocument/2006/relationships/image" Target="../media/image42.wmf"/><Relationship Id="rId10" Type="http://schemas.openxmlformats.org/officeDocument/2006/relationships/oleObject" Target="../embeddings/oleObject41.bin"/><Relationship Id="rId19" Type="http://schemas.openxmlformats.org/officeDocument/2006/relationships/image" Target="../media/image50.wmf"/><Relationship Id="rId4" Type="http://schemas.openxmlformats.org/officeDocument/2006/relationships/oleObject" Target="../embeddings/oleObject38.bin"/><Relationship Id="rId9" Type="http://schemas.openxmlformats.org/officeDocument/2006/relationships/image" Target="../media/image43.wmf"/><Relationship Id="rId14" Type="http://schemas.openxmlformats.org/officeDocument/2006/relationships/oleObject" Target="../embeddings/oleObject39.bin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2.bin"/><Relationship Id="rId13" Type="http://schemas.openxmlformats.org/officeDocument/2006/relationships/image" Target="../media/image57.wmf"/><Relationship Id="rId3" Type="http://schemas.openxmlformats.org/officeDocument/2006/relationships/image" Target="../media/image3.jpeg"/><Relationship Id="rId7" Type="http://schemas.openxmlformats.org/officeDocument/2006/relationships/image" Target="../media/image54.emf"/><Relationship Id="rId12" Type="http://schemas.openxmlformats.org/officeDocument/2006/relationships/oleObject" Target="../embeddings/oleObject54.bin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51.bin"/><Relationship Id="rId11" Type="http://schemas.openxmlformats.org/officeDocument/2006/relationships/image" Target="../media/image56.emf"/><Relationship Id="rId5" Type="http://schemas.openxmlformats.org/officeDocument/2006/relationships/image" Target="../media/image53.emf"/><Relationship Id="rId10" Type="http://schemas.openxmlformats.org/officeDocument/2006/relationships/oleObject" Target="../embeddings/oleObject53.bin"/><Relationship Id="rId4" Type="http://schemas.openxmlformats.org/officeDocument/2006/relationships/oleObject" Target="../embeddings/oleObject50.bin"/><Relationship Id="rId9" Type="http://schemas.openxmlformats.org/officeDocument/2006/relationships/image" Target="../media/image55.emf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7.bin"/><Relationship Id="rId3" Type="http://schemas.openxmlformats.org/officeDocument/2006/relationships/image" Target="../media/image3.jpeg"/><Relationship Id="rId7" Type="http://schemas.openxmlformats.org/officeDocument/2006/relationships/image" Target="../media/image59.emf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56.bin"/><Relationship Id="rId5" Type="http://schemas.openxmlformats.org/officeDocument/2006/relationships/image" Target="../media/image58.emf"/><Relationship Id="rId4" Type="http://schemas.openxmlformats.org/officeDocument/2006/relationships/oleObject" Target="../embeddings/oleObject55.bin"/><Relationship Id="rId9" Type="http://schemas.openxmlformats.org/officeDocument/2006/relationships/image" Target="../media/image60.emf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7.bin"/><Relationship Id="rId13" Type="http://schemas.openxmlformats.org/officeDocument/2006/relationships/image" Target="../media/image65.wmf"/><Relationship Id="rId3" Type="http://schemas.openxmlformats.org/officeDocument/2006/relationships/image" Target="../media/image3.jpeg"/><Relationship Id="rId7" Type="http://schemas.openxmlformats.org/officeDocument/2006/relationships/image" Target="../media/image62.emf"/><Relationship Id="rId12" Type="http://schemas.openxmlformats.org/officeDocument/2006/relationships/oleObject" Target="../embeddings/oleObject59.bin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56.bin"/><Relationship Id="rId11" Type="http://schemas.openxmlformats.org/officeDocument/2006/relationships/image" Target="../media/image64.emf"/><Relationship Id="rId5" Type="http://schemas.openxmlformats.org/officeDocument/2006/relationships/image" Target="../media/image61.emf"/><Relationship Id="rId10" Type="http://schemas.openxmlformats.org/officeDocument/2006/relationships/oleObject" Target="../embeddings/oleObject58.bin"/><Relationship Id="rId4" Type="http://schemas.openxmlformats.org/officeDocument/2006/relationships/oleObject" Target="../embeddings/oleObject55.bin"/><Relationship Id="rId9" Type="http://schemas.openxmlformats.org/officeDocument/2006/relationships/image" Target="../media/image63.emf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2.bin"/><Relationship Id="rId13" Type="http://schemas.openxmlformats.org/officeDocument/2006/relationships/image" Target="../media/image70.emf"/><Relationship Id="rId18" Type="http://schemas.openxmlformats.org/officeDocument/2006/relationships/oleObject" Target="../embeddings/oleObject67.bin"/><Relationship Id="rId3" Type="http://schemas.openxmlformats.org/officeDocument/2006/relationships/image" Target="../media/image3.jpeg"/><Relationship Id="rId21" Type="http://schemas.openxmlformats.org/officeDocument/2006/relationships/image" Target="../media/image74.emf"/><Relationship Id="rId7" Type="http://schemas.openxmlformats.org/officeDocument/2006/relationships/image" Target="../media/image67.emf"/><Relationship Id="rId12" Type="http://schemas.openxmlformats.org/officeDocument/2006/relationships/oleObject" Target="../embeddings/oleObject64.bin"/><Relationship Id="rId17" Type="http://schemas.openxmlformats.org/officeDocument/2006/relationships/image" Target="../media/image72.emf"/><Relationship Id="rId2" Type="http://schemas.openxmlformats.org/officeDocument/2006/relationships/notesSlide" Target="../notesSlides/notesSlide44.xml"/><Relationship Id="rId16" Type="http://schemas.openxmlformats.org/officeDocument/2006/relationships/oleObject" Target="../embeddings/oleObject66.bin"/><Relationship Id="rId20" Type="http://schemas.openxmlformats.org/officeDocument/2006/relationships/oleObject" Target="../embeddings/oleObject68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61.bin"/><Relationship Id="rId11" Type="http://schemas.openxmlformats.org/officeDocument/2006/relationships/image" Target="../media/image69.emf"/><Relationship Id="rId5" Type="http://schemas.openxmlformats.org/officeDocument/2006/relationships/image" Target="../media/image66.emf"/><Relationship Id="rId15" Type="http://schemas.openxmlformats.org/officeDocument/2006/relationships/image" Target="../media/image71.emf"/><Relationship Id="rId10" Type="http://schemas.openxmlformats.org/officeDocument/2006/relationships/oleObject" Target="../embeddings/oleObject63.bin"/><Relationship Id="rId19" Type="http://schemas.openxmlformats.org/officeDocument/2006/relationships/image" Target="../media/image73.emf"/><Relationship Id="rId4" Type="http://schemas.openxmlformats.org/officeDocument/2006/relationships/oleObject" Target="../embeddings/oleObject60.bin"/><Relationship Id="rId9" Type="http://schemas.openxmlformats.org/officeDocument/2006/relationships/image" Target="../media/image68.emf"/><Relationship Id="rId14" Type="http://schemas.openxmlformats.org/officeDocument/2006/relationships/oleObject" Target="../embeddings/oleObject65.bin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1.bin"/><Relationship Id="rId3" Type="http://schemas.openxmlformats.org/officeDocument/2006/relationships/image" Target="../media/image3.jpeg"/><Relationship Id="rId7" Type="http://schemas.openxmlformats.org/officeDocument/2006/relationships/image" Target="../media/image76.emf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0.bin"/><Relationship Id="rId5" Type="http://schemas.openxmlformats.org/officeDocument/2006/relationships/image" Target="../media/image75.emf"/><Relationship Id="rId4" Type="http://schemas.openxmlformats.org/officeDocument/2006/relationships/oleObject" Target="../embeddings/oleObject69.bin"/><Relationship Id="rId9" Type="http://schemas.openxmlformats.org/officeDocument/2006/relationships/image" Target="../media/image77.emf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4.bin"/><Relationship Id="rId13" Type="http://schemas.openxmlformats.org/officeDocument/2006/relationships/image" Target="../media/image82.emf"/><Relationship Id="rId3" Type="http://schemas.openxmlformats.org/officeDocument/2006/relationships/image" Target="../media/image3.jpeg"/><Relationship Id="rId7" Type="http://schemas.openxmlformats.org/officeDocument/2006/relationships/image" Target="../media/image79.emf"/><Relationship Id="rId12" Type="http://schemas.openxmlformats.org/officeDocument/2006/relationships/oleObject" Target="../embeddings/oleObject76.bin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3.bin"/><Relationship Id="rId11" Type="http://schemas.openxmlformats.org/officeDocument/2006/relationships/image" Target="../media/image81.emf"/><Relationship Id="rId5" Type="http://schemas.openxmlformats.org/officeDocument/2006/relationships/image" Target="../media/image78.emf"/><Relationship Id="rId15" Type="http://schemas.openxmlformats.org/officeDocument/2006/relationships/image" Target="../media/image83.emf"/><Relationship Id="rId10" Type="http://schemas.openxmlformats.org/officeDocument/2006/relationships/oleObject" Target="../embeddings/oleObject75.bin"/><Relationship Id="rId4" Type="http://schemas.openxmlformats.org/officeDocument/2006/relationships/oleObject" Target="../embeddings/oleObject72.bin"/><Relationship Id="rId9" Type="http://schemas.openxmlformats.org/officeDocument/2006/relationships/image" Target="../media/image80.emf"/><Relationship Id="rId14" Type="http://schemas.openxmlformats.org/officeDocument/2006/relationships/oleObject" Target="../embeddings/oleObject77.bin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4.wmf"/><Relationship Id="rId4" Type="http://schemas.openxmlformats.org/officeDocument/2006/relationships/oleObject" Target="../embeddings/oleObject78.bin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1.bin"/><Relationship Id="rId3" Type="http://schemas.openxmlformats.org/officeDocument/2006/relationships/image" Target="../media/image3.jpeg"/><Relationship Id="rId7" Type="http://schemas.openxmlformats.org/officeDocument/2006/relationships/image" Target="../media/image86.emf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80.bin"/><Relationship Id="rId11" Type="http://schemas.openxmlformats.org/officeDocument/2006/relationships/image" Target="../media/image84.wmf"/><Relationship Id="rId5" Type="http://schemas.openxmlformats.org/officeDocument/2006/relationships/image" Target="../media/image85.emf"/><Relationship Id="rId10" Type="http://schemas.openxmlformats.org/officeDocument/2006/relationships/oleObject" Target="../embeddings/oleObject78.bin"/><Relationship Id="rId4" Type="http://schemas.openxmlformats.org/officeDocument/2006/relationships/oleObject" Target="../embeddings/oleObject79.bin"/><Relationship Id="rId9" Type="http://schemas.openxmlformats.org/officeDocument/2006/relationships/image" Target="../media/image87.emf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4.bin"/><Relationship Id="rId13" Type="http://schemas.openxmlformats.org/officeDocument/2006/relationships/image" Target="../media/image92.emf"/><Relationship Id="rId3" Type="http://schemas.openxmlformats.org/officeDocument/2006/relationships/image" Target="../media/image3.jpeg"/><Relationship Id="rId7" Type="http://schemas.openxmlformats.org/officeDocument/2006/relationships/image" Target="../media/image89.emf"/><Relationship Id="rId12" Type="http://schemas.openxmlformats.org/officeDocument/2006/relationships/oleObject" Target="../embeddings/oleObject86.bin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3.bin"/><Relationship Id="rId11" Type="http://schemas.openxmlformats.org/officeDocument/2006/relationships/image" Target="../media/image91.emf"/><Relationship Id="rId5" Type="http://schemas.openxmlformats.org/officeDocument/2006/relationships/image" Target="../media/image88.emf"/><Relationship Id="rId10" Type="http://schemas.openxmlformats.org/officeDocument/2006/relationships/oleObject" Target="../embeddings/oleObject85.bin"/><Relationship Id="rId4" Type="http://schemas.openxmlformats.org/officeDocument/2006/relationships/oleObject" Target="../embeddings/oleObject82.bin"/><Relationship Id="rId9" Type="http://schemas.openxmlformats.org/officeDocument/2006/relationships/image" Target="../media/image90.emf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94.emf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8.bin"/><Relationship Id="rId5" Type="http://schemas.openxmlformats.org/officeDocument/2006/relationships/image" Target="../media/image93.emf"/><Relationship Id="rId4" Type="http://schemas.openxmlformats.org/officeDocument/2006/relationships/oleObject" Target="../embeddings/oleObject87.bin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6.emf"/><Relationship Id="rId5" Type="http://schemas.openxmlformats.org/officeDocument/2006/relationships/image" Target="../media/image95.emf"/><Relationship Id="rId4" Type="http://schemas.openxmlformats.org/officeDocument/2006/relationships/oleObject" Target="../embeddings/oleObject89.bin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日期占位符 3"/>
          <p:cNvSpPr txBox="1">
            <a:spLocks noGrp="1"/>
          </p:cNvSpPr>
          <p:nvPr>
            <p:ph type="dt" sz="half" idx="10"/>
          </p:nvPr>
        </p:nvSpPr>
        <p:spPr>
          <a:xfrm>
            <a:off x="2941638" y="5157788"/>
            <a:ext cx="3311525" cy="404812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BB962C8B-B14F-4D97-AF65-F5344CB8AC3E}" type="datetime2">
              <a:rPr lang="zh-CN" altLang="en-US" sz="2400" b="0" dirty="0">
                <a:solidFill>
                  <a:schemeClr val="bg1"/>
                </a:solidFill>
              </a:rPr>
              <a:t>2026年7月17日</a:t>
            </a:fld>
            <a:endParaRPr lang="zh-CN" altLang="en-US" sz="2400" b="0" dirty="0">
              <a:solidFill>
                <a:schemeClr val="bg1"/>
              </a:solidFill>
            </a:endParaRPr>
          </a:p>
        </p:txBody>
      </p:sp>
      <p:sp>
        <p:nvSpPr>
          <p:cNvPr id="5123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lstStyle/>
          <a:p>
            <a:pPr eaLnBrk="1" hangingPunct="1"/>
            <a:endParaRPr lang="zh-CN" altLang="zh-CN" dirty="0"/>
          </a:p>
        </p:txBody>
      </p:sp>
      <p:sp>
        <p:nvSpPr>
          <p:cNvPr id="5124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lstStyle/>
          <a:p>
            <a:pPr eaLnBrk="1" hangingPunct="1"/>
            <a:endParaRPr lang="zh-CN" altLang="zh-CN" dirty="0"/>
          </a:p>
        </p:txBody>
      </p:sp>
      <p:pic>
        <p:nvPicPr>
          <p:cNvPr id="5125" name="Picture 4" descr="底图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日期占位符 2"/>
          <p:cNvSpPr txBox="1">
            <a:spLocks noGrp="1"/>
          </p:cNvSpPr>
          <p:nvPr>
            <p:ph type="dt" sz="half" idx="10"/>
          </p:nvPr>
        </p:nvSpPr>
        <p:spPr>
          <a:xfrm>
            <a:off x="2941638" y="5157788"/>
            <a:ext cx="3311525" cy="404812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BB962C8B-B14F-4D97-AF65-F5344CB8AC3E}" type="datetime2">
              <a:rPr lang="zh-CN" altLang="en-US" sz="2400" b="0" dirty="0">
                <a:solidFill>
                  <a:schemeClr val="bg1"/>
                </a:solidFill>
              </a:rPr>
              <a:t>2026年7月17日</a:t>
            </a:fld>
            <a:endParaRPr lang="zh-CN" altLang="en-US" sz="2400" b="0" dirty="0">
              <a:solidFill>
                <a:schemeClr val="bg1"/>
              </a:solidFill>
            </a:endParaRPr>
          </a:p>
        </p:txBody>
      </p:sp>
      <p:sp>
        <p:nvSpPr>
          <p:cNvPr id="6147" name="Text Box 2"/>
          <p:cNvSpPr txBox="1"/>
          <p:nvPr/>
        </p:nvSpPr>
        <p:spPr>
          <a:xfrm>
            <a:off x="1165225" y="1538288"/>
            <a:ext cx="6791325" cy="9302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 eaLnBrk="1" hangingPunct="1"/>
            <a:r>
              <a:rPr lang="zh-CN" altLang="en-US" sz="5500" b="0" dirty="0">
                <a:solidFill>
                  <a:schemeClr val="bg1"/>
                </a:solidFill>
                <a:latin typeface="Arial" panose="020B0604020202020204" pitchFamily="34" charset="0"/>
                <a:ea typeface="方正大黑简体" pitchFamily="2" charset="-122"/>
              </a:rPr>
              <a:t>现代控制理论</a:t>
            </a:r>
          </a:p>
        </p:txBody>
      </p:sp>
      <p:sp>
        <p:nvSpPr>
          <p:cNvPr id="6148" name="Text Box 3"/>
          <p:cNvSpPr txBox="1"/>
          <p:nvPr/>
        </p:nvSpPr>
        <p:spPr>
          <a:xfrm>
            <a:off x="1403350" y="3357563"/>
            <a:ext cx="6337300" cy="1457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 eaLnBrk="1" hangingPunct="1">
              <a:lnSpc>
                <a:spcPct val="125000"/>
              </a:lnSpc>
            </a:pPr>
            <a:r>
              <a:rPr lang="zh-CN" altLang="en-US" sz="3200" b="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charset="-122"/>
              </a:rPr>
              <a:t>东北大学信息科学与工程学院</a:t>
            </a:r>
          </a:p>
          <a:p>
            <a:pPr algn="ctr" eaLnBrk="1" hangingPunct="1">
              <a:lnSpc>
                <a:spcPct val="125000"/>
              </a:lnSpc>
              <a:spcBef>
                <a:spcPct val="30000"/>
              </a:spcBef>
            </a:pPr>
            <a:r>
              <a:rPr lang="zh-CN" altLang="en-US" sz="3200" b="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charset="-122"/>
              </a:rPr>
              <a:t>井元伟教授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AutoShape 44"/>
          <p:cNvSpPr/>
          <p:nvPr/>
        </p:nvSpPr>
        <p:spPr>
          <a:xfrm>
            <a:off x="1692275" y="1743075"/>
            <a:ext cx="5170488" cy="576263"/>
          </a:xfrm>
          <a:prstGeom prst="roundRect">
            <a:avLst>
              <a:gd name="adj" fmla="val 16667"/>
            </a:avLst>
          </a:prstGeom>
          <a:solidFill>
            <a:srgbClr val="135472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hangingPunct="1"/>
            <a:endParaRPr lang="zh-CN" altLang="zh-CN" sz="1800" b="0" dirty="0">
              <a:latin typeface="Arial" panose="020B0604020202020204" pitchFamily="34" charset="0"/>
              <a:ea typeface="黑体" panose="02010609060101010101" charset="-122"/>
            </a:endParaRPr>
          </a:p>
        </p:txBody>
      </p:sp>
      <p:sp>
        <p:nvSpPr>
          <p:cNvPr id="8195" name="AutoShape 45"/>
          <p:cNvSpPr/>
          <p:nvPr/>
        </p:nvSpPr>
        <p:spPr>
          <a:xfrm>
            <a:off x="1619250" y="1714500"/>
            <a:ext cx="5141913" cy="576263"/>
          </a:xfrm>
          <a:prstGeom prst="roundRect">
            <a:avLst>
              <a:gd name="adj" fmla="val 16667"/>
            </a:avLst>
          </a:prstGeom>
          <a:solidFill>
            <a:srgbClr val="135472"/>
          </a:solidFill>
          <a:ln w="9525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hangingPunct="1"/>
            <a:endParaRPr lang="zh-CN" altLang="zh-CN" sz="1800" b="0" dirty="0">
              <a:latin typeface="Arial" panose="020B0604020202020204" pitchFamily="34" charset="0"/>
              <a:ea typeface="黑体" panose="02010609060101010101" charset="-122"/>
            </a:endParaRPr>
          </a:p>
        </p:txBody>
      </p:sp>
      <p:sp>
        <p:nvSpPr>
          <p:cNvPr id="8196" name="Text Box 46"/>
          <p:cNvSpPr txBox="1"/>
          <p:nvPr/>
        </p:nvSpPr>
        <p:spPr>
          <a:xfrm>
            <a:off x="1620838" y="1757363"/>
            <a:ext cx="532765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2800" b="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charset="-122"/>
              </a:rPr>
              <a:t> </a:t>
            </a:r>
            <a:r>
              <a:rPr lang="zh-CN" altLang="en-US" sz="2800" b="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charset="-122"/>
              </a:rPr>
              <a:t>第</a:t>
            </a:r>
            <a:r>
              <a:rPr lang="en-US" altLang="zh-CN" sz="2800" b="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charset="-122"/>
              </a:rPr>
              <a:t>2</a:t>
            </a:r>
            <a:r>
              <a:rPr lang="zh-CN" altLang="en-US" sz="2800" b="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charset="-122"/>
              </a:rPr>
              <a:t>章   控制系统状态空间描述</a:t>
            </a:r>
          </a:p>
        </p:txBody>
      </p:sp>
      <p:sp>
        <p:nvSpPr>
          <p:cNvPr id="8197" name="AutoShape 47"/>
          <p:cNvSpPr/>
          <p:nvPr/>
        </p:nvSpPr>
        <p:spPr>
          <a:xfrm>
            <a:off x="1676400" y="2392363"/>
            <a:ext cx="3816350" cy="576262"/>
          </a:xfrm>
          <a:prstGeom prst="roundRect">
            <a:avLst>
              <a:gd name="adj" fmla="val 16667"/>
            </a:avLst>
          </a:prstGeom>
          <a:solidFill>
            <a:srgbClr val="135472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hangingPunct="1"/>
            <a:endParaRPr lang="zh-CN" altLang="zh-CN" sz="1800" b="0" dirty="0">
              <a:latin typeface="Arial" panose="020B0604020202020204" pitchFamily="34" charset="0"/>
              <a:ea typeface="黑体" panose="02010609060101010101" charset="-122"/>
            </a:endParaRPr>
          </a:p>
        </p:txBody>
      </p:sp>
      <p:sp>
        <p:nvSpPr>
          <p:cNvPr id="8198" name="AutoShape 48"/>
          <p:cNvSpPr/>
          <p:nvPr/>
        </p:nvSpPr>
        <p:spPr>
          <a:xfrm>
            <a:off x="1604963" y="2362200"/>
            <a:ext cx="3816350" cy="576263"/>
          </a:xfrm>
          <a:prstGeom prst="roundRect">
            <a:avLst>
              <a:gd name="adj" fmla="val 16667"/>
            </a:avLst>
          </a:prstGeom>
          <a:solidFill>
            <a:srgbClr val="135472"/>
          </a:solidFill>
          <a:ln w="9525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hangingPunct="1"/>
            <a:endParaRPr lang="zh-CN" altLang="zh-CN" sz="1800" b="0" dirty="0">
              <a:latin typeface="Arial" panose="020B0604020202020204" pitchFamily="34" charset="0"/>
              <a:ea typeface="黑体" panose="02010609060101010101" charset="-122"/>
            </a:endParaRPr>
          </a:p>
        </p:txBody>
      </p:sp>
      <p:sp>
        <p:nvSpPr>
          <p:cNvPr id="8199" name="Text Box 49"/>
          <p:cNvSpPr txBox="1"/>
          <p:nvPr/>
        </p:nvSpPr>
        <p:spPr>
          <a:xfrm>
            <a:off x="1720850" y="2420938"/>
            <a:ext cx="3656013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800" b="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charset="-122"/>
              </a:rPr>
              <a:t>第</a:t>
            </a:r>
            <a:r>
              <a:rPr lang="en-US" altLang="zh-CN" sz="2800" b="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charset="-122"/>
              </a:rPr>
              <a:t>3</a:t>
            </a:r>
            <a:r>
              <a:rPr lang="zh-CN" altLang="en-US" sz="2800" b="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charset="-122"/>
              </a:rPr>
              <a:t>章   状态方程的解</a:t>
            </a:r>
          </a:p>
        </p:txBody>
      </p:sp>
      <p:sp>
        <p:nvSpPr>
          <p:cNvPr id="8200" name="AutoShape 50"/>
          <p:cNvSpPr/>
          <p:nvPr/>
        </p:nvSpPr>
        <p:spPr>
          <a:xfrm>
            <a:off x="1739900" y="3060700"/>
            <a:ext cx="6145213" cy="576263"/>
          </a:xfrm>
          <a:prstGeom prst="roundRect">
            <a:avLst>
              <a:gd name="adj" fmla="val 16667"/>
            </a:avLst>
          </a:prstGeom>
          <a:solidFill>
            <a:srgbClr val="135472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hangingPunct="1"/>
            <a:endParaRPr lang="zh-CN" altLang="zh-CN" sz="1800" b="0" dirty="0">
              <a:latin typeface="Arial" panose="020B0604020202020204" pitchFamily="34" charset="0"/>
              <a:ea typeface="黑体" panose="02010609060101010101" charset="-122"/>
            </a:endParaRPr>
          </a:p>
        </p:txBody>
      </p:sp>
      <p:sp>
        <p:nvSpPr>
          <p:cNvPr id="8201" name="AutoShape 51"/>
          <p:cNvSpPr/>
          <p:nvPr/>
        </p:nvSpPr>
        <p:spPr>
          <a:xfrm>
            <a:off x="1619250" y="3025775"/>
            <a:ext cx="6192838" cy="576263"/>
          </a:xfrm>
          <a:prstGeom prst="roundRect">
            <a:avLst>
              <a:gd name="adj" fmla="val 16528"/>
            </a:avLst>
          </a:prstGeom>
          <a:solidFill>
            <a:srgbClr val="135472"/>
          </a:solidFill>
          <a:ln w="9525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hangingPunct="1"/>
            <a:endParaRPr lang="zh-CN" altLang="zh-CN" sz="1800" b="0" dirty="0">
              <a:latin typeface="Arial" panose="020B0604020202020204" pitchFamily="34" charset="0"/>
              <a:ea typeface="黑体" panose="02010609060101010101" charset="-122"/>
            </a:endParaRPr>
          </a:p>
        </p:txBody>
      </p:sp>
      <p:sp>
        <p:nvSpPr>
          <p:cNvPr id="8202" name="Text Box 52"/>
          <p:cNvSpPr txBox="1"/>
          <p:nvPr/>
        </p:nvSpPr>
        <p:spPr>
          <a:xfrm>
            <a:off x="1706563" y="3068638"/>
            <a:ext cx="6175375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800" b="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charset="-122"/>
              </a:rPr>
              <a:t>第</a:t>
            </a:r>
            <a:r>
              <a:rPr lang="en-US" altLang="zh-CN" sz="2800" b="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charset="-122"/>
              </a:rPr>
              <a:t>4</a:t>
            </a:r>
            <a:r>
              <a:rPr lang="zh-CN" altLang="en-US" sz="2800" b="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charset="-122"/>
              </a:rPr>
              <a:t>章   线性系统的能控性和能观测性</a:t>
            </a:r>
          </a:p>
        </p:txBody>
      </p:sp>
      <p:sp>
        <p:nvSpPr>
          <p:cNvPr id="8203" name="AutoShape 56"/>
          <p:cNvSpPr/>
          <p:nvPr/>
        </p:nvSpPr>
        <p:spPr>
          <a:xfrm>
            <a:off x="1692275" y="4394200"/>
            <a:ext cx="5111750" cy="576263"/>
          </a:xfrm>
          <a:prstGeom prst="roundRect">
            <a:avLst>
              <a:gd name="adj" fmla="val 16667"/>
            </a:avLst>
          </a:prstGeom>
          <a:solidFill>
            <a:srgbClr val="135472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hangingPunct="1"/>
            <a:endParaRPr lang="zh-CN" altLang="zh-CN" sz="1800" b="0" dirty="0">
              <a:latin typeface="Arial" panose="020B0604020202020204" pitchFamily="34" charset="0"/>
              <a:ea typeface="黑体" panose="02010609060101010101" charset="-122"/>
            </a:endParaRPr>
          </a:p>
        </p:txBody>
      </p:sp>
      <p:sp>
        <p:nvSpPr>
          <p:cNvPr id="8204" name="AutoShape 57"/>
          <p:cNvSpPr/>
          <p:nvPr/>
        </p:nvSpPr>
        <p:spPr>
          <a:xfrm>
            <a:off x="1619250" y="4351338"/>
            <a:ext cx="5111750" cy="576262"/>
          </a:xfrm>
          <a:prstGeom prst="roundRect">
            <a:avLst>
              <a:gd name="adj" fmla="val 16667"/>
            </a:avLst>
          </a:prstGeom>
          <a:solidFill>
            <a:srgbClr val="135472"/>
          </a:solidFill>
          <a:ln w="9525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hangingPunct="1"/>
            <a:endParaRPr lang="zh-CN" altLang="zh-CN" sz="1800" b="0" dirty="0">
              <a:latin typeface="Arial" panose="020B0604020202020204" pitchFamily="34" charset="0"/>
              <a:ea typeface="黑体" panose="02010609060101010101" charset="-122"/>
            </a:endParaRPr>
          </a:p>
        </p:txBody>
      </p:sp>
      <p:sp>
        <p:nvSpPr>
          <p:cNvPr id="8205" name="Text Box 58"/>
          <p:cNvSpPr txBox="1"/>
          <p:nvPr/>
        </p:nvSpPr>
        <p:spPr>
          <a:xfrm>
            <a:off x="1735138" y="4408488"/>
            <a:ext cx="5040312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第</a:t>
            </a:r>
            <a:r>
              <a:rPr lang="en-US" altLang="zh-CN" sz="2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6</a:t>
            </a:r>
            <a:r>
              <a:rPr lang="zh-CN" altLang="en-US" sz="2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章   状态反馈和状态观测器</a:t>
            </a:r>
          </a:p>
        </p:txBody>
      </p:sp>
      <p:sp>
        <p:nvSpPr>
          <p:cNvPr id="8206" name="AutoShape 59"/>
          <p:cNvSpPr/>
          <p:nvPr/>
        </p:nvSpPr>
        <p:spPr>
          <a:xfrm>
            <a:off x="1692275" y="5041900"/>
            <a:ext cx="3008313" cy="576263"/>
          </a:xfrm>
          <a:prstGeom prst="roundRect">
            <a:avLst>
              <a:gd name="adj" fmla="val 16667"/>
            </a:avLst>
          </a:prstGeom>
          <a:solidFill>
            <a:srgbClr val="135472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hangingPunct="1"/>
            <a:endParaRPr lang="zh-CN" altLang="zh-CN" sz="1800" b="0" dirty="0">
              <a:latin typeface="Arial" panose="020B0604020202020204" pitchFamily="34" charset="0"/>
              <a:ea typeface="黑体" panose="02010609060101010101" charset="-122"/>
            </a:endParaRPr>
          </a:p>
        </p:txBody>
      </p:sp>
      <p:sp>
        <p:nvSpPr>
          <p:cNvPr id="8207" name="AutoShape 60"/>
          <p:cNvSpPr/>
          <p:nvPr/>
        </p:nvSpPr>
        <p:spPr>
          <a:xfrm>
            <a:off x="1619250" y="5013325"/>
            <a:ext cx="3024188" cy="576263"/>
          </a:xfrm>
          <a:prstGeom prst="roundRect">
            <a:avLst>
              <a:gd name="adj" fmla="val 16667"/>
            </a:avLst>
          </a:prstGeom>
          <a:solidFill>
            <a:srgbClr val="135472"/>
          </a:solidFill>
          <a:ln w="9525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hangingPunct="1"/>
            <a:endParaRPr lang="zh-CN" altLang="zh-CN" sz="1800" b="0" dirty="0">
              <a:latin typeface="Arial" panose="020B0604020202020204" pitchFamily="34" charset="0"/>
              <a:ea typeface="黑体" panose="02010609060101010101" charset="-122"/>
            </a:endParaRPr>
          </a:p>
        </p:txBody>
      </p:sp>
      <p:sp>
        <p:nvSpPr>
          <p:cNvPr id="8208" name="Text Box 61"/>
          <p:cNvSpPr txBox="1"/>
          <p:nvPr/>
        </p:nvSpPr>
        <p:spPr>
          <a:xfrm>
            <a:off x="1735138" y="5056188"/>
            <a:ext cx="286385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800" b="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charset="-122"/>
              </a:rPr>
              <a:t>第</a:t>
            </a:r>
            <a:r>
              <a:rPr lang="en-US" altLang="zh-CN" sz="2800" b="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charset="-122"/>
              </a:rPr>
              <a:t>7</a:t>
            </a:r>
            <a:r>
              <a:rPr lang="zh-CN" altLang="en-US" sz="2800" b="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charset="-122"/>
              </a:rPr>
              <a:t>章   最优控制</a:t>
            </a:r>
          </a:p>
        </p:txBody>
      </p:sp>
      <p:sp>
        <p:nvSpPr>
          <p:cNvPr id="8209" name="AutoShape 62"/>
          <p:cNvSpPr/>
          <p:nvPr/>
        </p:nvSpPr>
        <p:spPr>
          <a:xfrm>
            <a:off x="1692275" y="5703888"/>
            <a:ext cx="3024188" cy="576262"/>
          </a:xfrm>
          <a:prstGeom prst="roundRect">
            <a:avLst>
              <a:gd name="adj" fmla="val 16667"/>
            </a:avLst>
          </a:prstGeom>
          <a:solidFill>
            <a:srgbClr val="135472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hangingPunct="1"/>
            <a:endParaRPr lang="zh-CN" altLang="zh-CN" sz="1800" b="0" dirty="0">
              <a:latin typeface="Arial" panose="020B0604020202020204" pitchFamily="34" charset="0"/>
              <a:ea typeface="黑体" panose="02010609060101010101" charset="-122"/>
            </a:endParaRPr>
          </a:p>
        </p:txBody>
      </p:sp>
      <p:sp>
        <p:nvSpPr>
          <p:cNvPr id="8210" name="AutoShape 63"/>
          <p:cNvSpPr/>
          <p:nvPr/>
        </p:nvSpPr>
        <p:spPr>
          <a:xfrm>
            <a:off x="1619250" y="5662613"/>
            <a:ext cx="3024188" cy="576262"/>
          </a:xfrm>
          <a:prstGeom prst="roundRect">
            <a:avLst>
              <a:gd name="adj" fmla="val 16667"/>
            </a:avLst>
          </a:prstGeom>
          <a:solidFill>
            <a:srgbClr val="135472"/>
          </a:solidFill>
          <a:ln w="9525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hangingPunct="1"/>
            <a:endParaRPr lang="zh-CN" altLang="zh-CN" sz="1800" b="0" dirty="0">
              <a:latin typeface="Arial" panose="020B0604020202020204" pitchFamily="34" charset="0"/>
              <a:ea typeface="黑体" panose="02010609060101010101" charset="-122"/>
            </a:endParaRPr>
          </a:p>
        </p:txBody>
      </p:sp>
      <p:sp>
        <p:nvSpPr>
          <p:cNvPr id="8211" name="Text Box 64"/>
          <p:cNvSpPr txBox="1"/>
          <p:nvPr/>
        </p:nvSpPr>
        <p:spPr>
          <a:xfrm>
            <a:off x="1749425" y="5705475"/>
            <a:ext cx="2833688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800" b="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charset="-122"/>
              </a:rPr>
              <a:t>第</a:t>
            </a:r>
            <a:r>
              <a:rPr lang="en-US" altLang="zh-CN" sz="2800" b="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charset="-122"/>
              </a:rPr>
              <a:t>8</a:t>
            </a:r>
            <a:r>
              <a:rPr lang="zh-CN" altLang="en-US" sz="2800" b="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charset="-122"/>
              </a:rPr>
              <a:t>章   状态估计</a:t>
            </a:r>
          </a:p>
        </p:txBody>
      </p:sp>
      <p:sp>
        <p:nvSpPr>
          <p:cNvPr id="8212" name="AutoShape 65"/>
          <p:cNvSpPr/>
          <p:nvPr/>
        </p:nvSpPr>
        <p:spPr>
          <a:xfrm>
            <a:off x="1692275" y="1095375"/>
            <a:ext cx="2374900" cy="576263"/>
          </a:xfrm>
          <a:prstGeom prst="roundRect">
            <a:avLst>
              <a:gd name="adj" fmla="val 16667"/>
            </a:avLst>
          </a:prstGeom>
          <a:solidFill>
            <a:srgbClr val="135472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hangingPunct="1"/>
            <a:endParaRPr lang="zh-CN" altLang="zh-CN" sz="1800" b="0" dirty="0">
              <a:latin typeface="Arial" panose="020B0604020202020204" pitchFamily="34" charset="0"/>
              <a:ea typeface="黑体" panose="02010609060101010101" charset="-122"/>
            </a:endParaRPr>
          </a:p>
        </p:txBody>
      </p:sp>
      <p:sp>
        <p:nvSpPr>
          <p:cNvPr id="8213" name="AutoShape 66"/>
          <p:cNvSpPr/>
          <p:nvPr/>
        </p:nvSpPr>
        <p:spPr>
          <a:xfrm>
            <a:off x="1619250" y="1066800"/>
            <a:ext cx="2374900" cy="576263"/>
          </a:xfrm>
          <a:prstGeom prst="roundRect">
            <a:avLst>
              <a:gd name="adj" fmla="val 16667"/>
            </a:avLst>
          </a:prstGeom>
          <a:solidFill>
            <a:srgbClr val="135472"/>
          </a:solidFill>
          <a:ln w="9525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hangingPunct="1"/>
            <a:endParaRPr lang="zh-CN" altLang="zh-CN" sz="1800" b="0" dirty="0">
              <a:latin typeface="Arial" panose="020B0604020202020204" pitchFamily="34" charset="0"/>
              <a:ea typeface="黑体" panose="02010609060101010101" charset="-122"/>
            </a:endParaRPr>
          </a:p>
        </p:txBody>
      </p:sp>
      <p:sp>
        <p:nvSpPr>
          <p:cNvPr id="8214" name="Text Box 67"/>
          <p:cNvSpPr txBox="1"/>
          <p:nvPr/>
        </p:nvSpPr>
        <p:spPr>
          <a:xfrm>
            <a:off x="1704975" y="1109663"/>
            <a:ext cx="2303463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800" b="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charset="-122"/>
              </a:rPr>
              <a:t>第</a:t>
            </a:r>
            <a:r>
              <a:rPr lang="en-US" altLang="zh-CN" sz="2800" b="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charset="-122"/>
              </a:rPr>
              <a:t>1</a:t>
            </a:r>
            <a:r>
              <a:rPr lang="zh-CN" altLang="en-US" sz="2800" b="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charset="-122"/>
              </a:rPr>
              <a:t>章   绪论</a:t>
            </a:r>
          </a:p>
        </p:txBody>
      </p:sp>
      <p:sp>
        <p:nvSpPr>
          <p:cNvPr id="8215" name="AutoShape 68"/>
          <p:cNvSpPr/>
          <p:nvPr/>
        </p:nvSpPr>
        <p:spPr>
          <a:xfrm>
            <a:off x="1692275" y="3730625"/>
            <a:ext cx="6767513" cy="576263"/>
          </a:xfrm>
          <a:prstGeom prst="roundRect">
            <a:avLst>
              <a:gd name="adj" fmla="val 16667"/>
            </a:avLst>
          </a:prstGeom>
          <a:solidFill>
            <a:srgbClr val="135472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zh-CN" sz="1800" b="0" dirty="0">
              <a:latin typeface="Arial" panose="020B0604020202020204" pitchFamily="34" charset="0"/>
            </a:endParaRPr>
          </a:p>
        </p:txBody>
      </p:sp>
      <p:sp>
        <p:nvSpPr>
          <p:cNvPr id="8216" name="AutoShape 69"/>
          <p:cNvSpPr/>
          <p:nvPr/>
        </p:nvSpPr>
        <p:spPr>
          <a:xfrm>
            <a:off x="1619250" y="3687763"/>
            <a:ext cx="6769100" cy="576262"/>
          </a:xfrm>
          <a:prstGeom prst="roundRect">
            <a:avLst>
              <a:gd name="adj" fmla="val 16667"/>
            </a:avLst>
          </a:prstGeom>
          <a:solidFill>
            <a:srgbClr val="135472"/>
          </a:solidFill>
          <a:ln w="9525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zh-CN" sz="1800" b="0" dirty="0">
              <a:latin typeface="Arial" panose="020B0604020202020204" pitchFamily="34" charset="0"/>
            </a:endParaRPr>
          </a:p>
        </p:txBody>
      </p:sp>
      <p:sp>
        <p:nvSpPr>
          <p:cNvPr id="8217" name="Text Box 70"/>
          <p:cNvSpPr txBox="1"/>
          <p:nvPr/>
        </p:nvSpPr>
        <p:spPr>
          <a:xfrm>
            <a:off x="1720850" y="3730625"/>
            <a:ext cx="6738938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800" b="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charset="-122"/>
              </a:rPr>
              <a:t>第</a:t>
            </a:r>
            <a:r>
              <a:rPr lang="en-US" altLang="zh-CN" sz="2800" b="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charset="-122"/>
              </a:rPr>
              <a:t>5</a:t>
            </a:r>
            <a:r>
              <a:rPr lang="zh-CN" altLang="en-US" sz="2800" b="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charset="-122"/>
              </a:rPr>
              <a:t>章   控制系统的李雅普诺夫稳定性分析</a:t>
            </a:r>
          </a:p>
        </p:txBody>
      </p:sp>
      <p:sp>
        <p:nvSpPr>
          <p:cNvPr id="8218" name="Text Box 71"/>
          <p:cNvSpPr txBox="1"/>
          <p:nvPr/>
        </p:nvSpPr>
        <p:spPr>
          <a:xfrm>
            <a:off x="5413375" y="6435725"/>
            <a:ext cx="1390650" cy="366713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1800" b="0" dirty="0">
                <a:latin typeface="Arial" panose="020B0604020202020204" pitchFamily="34" charset="0"/>
                <a:ea typeface="黑体" panose="02010609060101010101" charset="-122"/>
              </a:rPr>
              <a:t>井元伟 教授</a:t>
            </a: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日期占位符 3"/>
          <p:cNvSpPr txBox="1">
            <a:spLocks noGrp="1"/>
          </p:cNvSpPr>
          <p:nvPr>
            <p:ph type="dt" sz="half" idx="10"/>
          </p:nvPr>
        </p:nvSpPr>
        <p:spPr>
          <a:xfrm>
            <a:off x="2941638" y="5157788"/>
            <a:ext cx="3311525" cy="404812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BB962C8B-B14F-4D97-AF65-F5344CB8AC3E}" type="datetime2">
              <a:rPr lang="zh-CN" altLang="en-US" sz="2400" b="0" dirty="0">
                <a:solidFill>
                  <a:schemeClr val="bg1"/>
                </a:solidFill>
              </a:rPr>
              <a:t>2026年7月17日</a:t>
            </a:fld>
            <a:endParaRPr lang="zh-CN" altLang="en-US" sz="2400" b="0" dirty="0">
              <a:solidFill>
                <a:schemeClr val="bg1"/>
              </a:solidFill>
            </a:endParaRPr>
          </a:p>
        </p:txBody>
      </p:sp>
      <p:sp>
        <p:nvSpPr>
          <p:cNvPr id="9219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lstStyle/>
          <a:p>
            <a:pPr eaLnBrk="1" hangingPunct="1"/>
            <a:endParaRPr lang="zh-CN" altLang="zh-CN" dirty="0"/>
          </a:p>
        </p:txBody>
      </p:sp>
      <p:sp>
        <p:nvSpPr>
          <p:cNvPr id="9220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lstStyle/>
          <a:p>
            <a:pPr eaLnBrk="1" hangingPunct="1"/>
            <a:endParaRPr lang="zh-CN" altLang="zh-CN" dirty="0"/>
          </a:p>
        </p:txBody>
      </p:sp>
      <p:pic>
        <p:nvPicPr>
          <p:cNvPr id="9221" name="Picture 4" descr="底图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222" name="AutoShape 5"/>
          <p:cNvSpPr/>
          <p:nvPr/>
        </p:nvSpPr>
        <p:spPr>
          <a:xfrm>
            <a:off x="1692275" y="4394200"/>
            <a:ext cx="5111750" cy="576263"/>
          </a:xfrm>
          <a:prstGeom prst="roundRect">
            <a:avLst>
              <a:gd name="adj" fmla="val 16667"/>
            </a:avLst>
          </a:prstGeom>
          <a:solidFill>
            <a:srgbClr val="135472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hangingPunct="1"/>
            <a:endParaRPr lang="zh-CN" altLang="zh-CN" sz="1800" b="0" dirty="0">
              <a:latin typeface="Arial" panose="020B0604020202020204" pitchFamily="34" charset="0"/>
              <a:ea typeface="黑体" panose="02010609060101010101" charset="-122"/>
            </a:endParaRPr>
          </a:p>
        </p:txBody>
      </p:sp>
      <p:sp>
        <p:nvSpPr>
          <p:cNvPr id="9223" name="AutoShape 6"/>
          <p:cNvSpPr/>
          <p:nvPr/>
        </p:nvSpPr>
        <p:spPr>
          <a:xfrm>
            <a:off x="1619250" y="4351338"/>
            <a:ext cx="5111750" cy="576262"/>
          </a:xfrm>
          <a:prstGeom prst="roundRect">
            <a:avLst>
              <a:gd name="adj" fmla="val 16667"/>
            </a:avLst>
          </a:prstGeom>
          <a:solidFill>
            <a:srgbClr val="135472"/>
          </a:solidFill>
          <a:ln w="9525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hangingPunct="1"/>
            <a:endParaRPr lang="zh-CN" altLang="zh-CN" sz="1800" b="0" dirty="0">
              <a:latin typeface="Arial" panose="020B0604020202020204" pitchFamily="34" charset="0"/>
              <a:ea typeface="黑体" panose="02010609060101010101" charset="-122"/>
            </a:endParaRPr>
          </a:p>
        </p:txBody>
      </p:sp>
      <p:sp>
        <p:nvSpPr>
          <p:cNvPr id="9224" name="Text Box 7"/>
          <p:cNvSpPr txBox="1"/>
          <p:nvPr/>
        </p:nvSpPr>
        <p:spPr>
          <a:xfrm>
            <a:off x="1735138" y="4408488"/>
            <a:ext cx="5040312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第</a:t>
            </a:r>
            <a:r>
              <a:rPr lang="en-US" altLang="zh-CN" sz="2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6</a:t>
            </a:r>
            <a:r>
              <a:rPr lang="zh-CN" altLang="en-US" sz="2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章   状态反馈和状态观测器</a:t>
            </a:r>
          </a:p>
        </p:txBody>
      </p:sp>
      <p:sp>
        <p:nvSpPr>
          <p:cNvPr id="9225" name="Text Box 8"/>
          <p:cNvSpPr txBox="1"/>
          <p:nvPr/>
        </p:nvSpPr>
        <p:spPr>
          <a:xfrm>
            <a:off x="5413375" y="6435725"/>
            <a:ext cx="1390650" cy="366713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1800" b="0" dirty="0">
                <a:latin typeface="Arial" panose="020B0604020202020204" pitchFamily="34" charset="0"/>
                <a:ea typeface="黑体" panose="02010609060101010101" charset="-122"/>
              </a:rPr>
              <a:t>井元伟 教授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日期占位符 3"/>
          <p:cNvSpPr txBox="1">
            <a:spLocks noGrp="1"/>
          </p:cNvSpPr>
          <p:nvPr>
            <p:ph type="dt" sz="half" idx="10"/>
          </p:nvPr>
        </p:nvSpPr>
        <p:spPr>
          <a:xfrm>
            <a:off x="2941638" y="5157788"/>
            <a:ext cx="3311525" cy="404812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BB962C8B-B14F-4D97-AF65-F5344CB8AC3E}" type="datetime2">
              <a:rPr lang="zh-CN" altLang="en-US" sz="2400" b="0" dirty="0">
                <a:solidFill>
                  <a:schemeClr val="bg1"/>
                </a:solidFill>
              </a:rPr>
              <a:t>2026年7月17日</a:t>
            </a:fld>
            <a:endParaRPr lang="zh-CN" altLang="en-US" sz="2400" b="0" dirty="0">
              <a:solidFill>
                <a:schemeClr val="bg1"/>
              </a:solidFill>
            </a:endParaRPr>
          </a:p>
        </p:txBody>
      </p:sp>
      <p:sp>
        <p:nvSpPr>
          <p:cNvPr id="10243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lstStyle/>
          <a:p>
            <a:pPr eaLnBrk="1" hangingPunct="1"/>
            <a:endParaRPr lang="zh-CN" altLang="zh-CN" dirty="0"/>
          </a:p>
        </p:txBody>
      </p:sp>
      <p:sp>
        <p:nvSpPr>
          <p:cNvPr id="10244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lstStyle/>
          <a:p>
            <a:pPr eaLnBrk="1" hangingPunct="1"/>
            <a:endParaRPr lang="zh-CN" altLang="zh-CN" dirty="0"/>
          </a:p>
        </p:txBody>
      </p:sp>
      <p:pic>
        <p:nvPicPr>
          <p:cNvPr id="10245" name="Picture 4" descr="底图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0246" name="Group 8"/>
          <p:cNvGrpSpPr/>
          <p:nvPr/>
        </p:nvGrpSpPr>
        <p:grpSpPr>
          <a:xfrm>
            <a:off x="3419475" y="1052513"/>
            <a:ext cx="4897438" cy="601662"/>
            <a:chOff x="1353" y="1954"/>
            <a:chExt cx="3085" cy="379"/>
          </a:xfrm>
        </p:grpSpPr>
        <p:sp>
          <p:nvSpPr>
            <p:cNvPr id="10258" name="AutoShape 5"/>
            <p:cNvSpPr/>
            <p:nvPr/>
          </p:nvSpPr>
          <p:spPr>
            <a:xfrm>
              <a:off x="1392" y="1970"/>
              <a:ext cx="3039" cy="363"/>
            </a:xfrm>
            <a:prstGeom prst="roundRect">
              <a:avLst>
                <a:gd name="adj" fmla="val 16667"/>
              </a:avLst>
            </a:prstGeom>
            <a:solidFill>
              <a:srgbClr val="135472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eaLnBrk="1" hangingPunct="1"/>
              <a:endParaRPr lang="zh-CN" altLang="zh-CN" sz="1800" b="0" dirty="0">
                <a:latin typeface="Arial" panose="020B0604020202020204" pitchFamily="34" charset="0"/>
              </a:endParaRPr>
            </a:p>
          </p:txBody>
        </p:sp>
        <p:sp>
          <p:nvSpPr>
            <p:cNvPr id="10259" name="AutoShape 6"/>
            <p:cNvSpPr/>
            <p:nvPr/>
          </p:nvSpPr>
          <p:spPr>
            <a:xfrm>
              <a:off x="1360" y="1954"/>
              <a:ext cx="3039" cy="363"/>
            </a:xfrm>
            <a:prstGeom prst="roundRect">
              <a:avLst>
                <a:gd name="adj" fmla="val 16667"/>
              </a:avLst>
            </a:prstGeom>
            <a:solidFill>
              <a:srgbClr val="135472"/>
            </a:solidFill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eaLnBrk="1" hangingPunct="1"/>
              <a:endParaRPr lang="zh-CN" altLang="zh-CN" sz="1800" b="0" dirty="0">
                <a:latin typeface="Arial" panose="020B0604020202020204" pitchFamily="34" charset="0"/>
              </a:endParaRPr>
            </a:p>
          </p:txBody>
        </p:sp>
        <p:sp>
          <p:nvSpPr>
            <p:cNvPr id="10260" name="Text Box 7"/>
            <p:cNvSpPr txBox="1"/>
            <p:nvPr/>
          </p:nvSpPr>
          <p:spPr>
            <a:xfrm>
              <a:off x="1353" y="1973"/>
              <a:ext cx="308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/>
              <a:r>
                <a:rPr lang="zh-CN" altLang="en-US" sz="2800" b="0" dirty="0">
                  <a:solidFill>
                    <a:srgbClr val="FFFFFF"/>
                  </a:solidFill>
                  <a:latin typeface="Arial" panose="020B0604020202020204" pitchFamily="34" charset="0"/>
                  <a:ea typeface="黑体" panose="02010609060101010101" charset="-122"/>
                </a:rPr>
                <a:t>第</a:t>
              </a:r>
              <a:r>
                <a:rPr lang="en-US" altLang="zh-CN" sz="2800" b="0" dirty="0">
                  <a:solidFill>
                    <a:srgbClr val="FFFFFF"/>
                  </a:solidFill>
                  <a:latin typeface="Arial" panose="020B0604020202020204" pitchFamily="34" charset="0"/>
                  <a:ea typeface="黑体" panose="02010609060101010101" charset="-122"/>
                </a:rPr>
                <a:t>6</a:t>
              </a:r>
              <a:r>
                <a:rPr lang="zh-CN" altLang="en-US" sz="2800" b="0" dirty="0">
                  <a:solidFill>
                    <a:srgbClr val="FFFFFF"/>
                  </a:solidFill>
                  <a:latin typeface="Arial" panose="020B0604020202020204" pitchFamily="34" charset="0"/>
                  <a:ea typeface="黑体" panose="02010609060101010101" charset="-122"/>
                </a:rPr>
                <a:t>章  状态反馈和状态观测器</a:t>
              </a:r>
            </a:p>
          </p:txBody>
        </p:sp>
      </p:grpSp>
      <p:sp>
        <p:nvSpPr>
          <p:cNvPr id="140297" name="Rectangle 9"/>
          <p:cNvSpPr/>
          <p:nvPr/>
        </p:nvSpPr>
        <p:spPr>
          <a:xfrm>
            <a:off x="1090613" y="2205038"/>
            <a:ext cx="4824412" cy="503237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zh-CN" sz="2400" b="0" dirty="0">
                <a:latin typeface="Arial" panose="020B0604020202020204" pitchFamily="34" charset="0"/>
                <a:ea typeface="黑体" panose="02010609060101010101" charset="-122"/>
              </a:rPr>
              <a:t>6.1  </a:t>
            </a:r>
            <a:r>
              <a:rPr lang="zh-CN" altLang="en-US" sz="2400" b="0" dirty="0">
                <a:latin typeface="Arial" panose="020B0604020202020204" pitchFamily="34" charset="0"/>
                <a:ea typeface="黑体" panose="02010609060101010101" charset="-122"/>
              </a:rPr>
              <a:t>状态反馈的定义及其性质</a:t>
            </a:r>
            <a:endParaRPr lang="zh-CN" altLang="en-US" sz="2400" b="0" dirty="0">
              <a:solidFill>
                <a:schemeClr val="bg2"/>
              </a:solidFill>
              <a:latin typeface="Arial" panose="020B0604020202020204" pitchFamily="34" charset="0"/>
              <a:ea typeface="黑体" panose="02010609060101010101" charset="-122"/>
            </a:endParaRPr>
          </a:p>
        </p:txBody>
      </p:sp>
      <p:sp>
        <p:nvSpPr>
          <p:cNvPr id="140298" name="Rectangle 10"/>
          <p:cNvSpPr/>
          <p:nvPr/>
        </p:nvSpPr>
        <p:spPr>
          <a:xfrm>
            <a:off x="1085850" y="2852738"/>
            <a:ext cx="1995488" cy="4572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r>
              <a:rPr lang="en-US" altLang="zh-CN" sz="2400" b="0" dirty="0">
                <a:latin typeface="Arial" panose="020B0604020202020204" pitchFamily="34" charset="0"/>
                <a:ea typeface="黑体" panose="02010609060101010101" charset="-122"/>
              </a:rPr>
              <a:t>6.2  </a:t>
            </a:r>
            <a:r>
              <a:rPr lang="zh-CN" altLang="en-US" sz="2400" b="0" dirty="0">
                <a:latin typeface="Arial" panose="020B0604020202020204" pitchFamily="34" charset="0"/>
                <a:ea typeface="黑体" panose="02010609060101010101" charset="-122"/>
              </a:rPr>
              <a:t>极点配置</a:t>
            </a:r>
          </a:p>
        </p:txBody>
      </p:sp>
      <p:sp>
        <p:nvSpPr>
          <p:cNvPr id="140299" name="Rectangle 11"/>
          <p:cNvSpPr/>
          <p:nvPr/>
        </p:nvSpPr>
        <p:spPr>
          <a:xfrm>
            <a:off x="1085850" y="3573463"/>
            <a:ext cx="5184775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2400" b="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charset="-122"/>
              </a:rPr>
              <a:t>6.3  </a:t>
            </a:r>
            <a:r>
              <a:rPr lang="zh-CN" altLang="en-US" sz="2400" b="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charset="-122"/>
              </a:rPr>
              <a:t>应用状态反馈实现解耦控制</a:t>
            </a:r>
          </a:p>
        </p:txBody>
      </p:sp>
      <p:sp>
        <p:nvSpPr>
          <p:cNvPr id="140300" name="Rectangle 12"/>
          <p:cNvSpPr/>
          <p:nvPr/>
        </p:nvSpPr>
        <p:spPr>
          <a:xfrm>
            <a:off x="1098550" y="4292600"/>
            <a:ext cx="2808288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</a:pPr>
            <a:r>
              <a:rPr lang="en-US" altLang="zh-CN" sz="2400" b="0" dirty="0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charset="-122"/>
              </a:rPr>
              <a:t>6.4  </a:t>
            </a:r>
            <a:r>
              <a:rPr lang="zh-CN" altLang="en-US" sz="2400" b="0" dirty="0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charset="-122"/>
              </a:rPr>
              <a:t>状态观测器</a:t>
            </a:r>
          </a:p>
        </p:txBody>
      </p:sp>
      <p:sp>
        <p:nvSpPr>
          <p:cNvPr id="140301" name="Rectangle 13"/>
          <p:cNvSpPr/>
          <p:nvPr/>
        </p:nvSpPr>
        <p:spPr>
          <a:xfrm>
            <a:off x="1116013" y="5013325"/>
            <a:ext cx="5761037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</a:pPr>
            <a:r>
              <a:rPr lang="en-US" altLang="zh-CN" sz="2400" b="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charset="-122"/>
              </a:rPr>
              <a:t>6.5  </a:t>
            </a:r>
            <a:r>
              <a:rPr lang="zh-CN" altLang="en-US" sz="2400" b="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charset="-122"/>
              </a:rPr>
              <a:t>带状态观测器的反馈系统</a:t>
            </a:r>
          </a:p>
        </p:txBody>
      </p:sp>
      <p:sp>
        <p:nvSpPr>
          <p:cNvPr id="140302" name="Rectangle 14"/>
          <p:cNvSpPr/>
          <p:nvPr/>
        </p:nvSpPr>
        <p:spPr>
          <a:xfrm>
            <a:off x="1116013" y="5746750"/>
            <a:ext cx="5473700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</a:pPr>
            <a:r>
              <a:rPr lang="en-US" altLang="zh-CN" sz="2400" b="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charset="-122"/>
              </a:rPr>
              <a:t>6.6  </a:t>
            </a:r>
            <a:r>
              <a:rPr lang="zh-CN" altLang="en-US" sz="2400" b="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charset="-122"/>
              </a:rPr>
              <a:t>线性不确定系统的鲁棒控制</a:t>
            </a:r>
          </a:p>
        </p:txBody>
      </p:sp>
      <p:sp>
        <p:nvSpPr>
          <p:cNvPr id="140303" name="Rectangle 15"/>
          <p:cNvSpPr/>
          <p:nvPr/>
        </p:nvSpPr>
        <p:spPr>
          <a:xfrm>
            <a:off x="6659563" y="2179638"/>
            <a:ext cx="2160587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</a:pPr>
            <a:r>
              <a:rPr lang="zh-CN" altLang="en-US" sz="2400" b="0" dirty="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charset="-122"/>
              </a:rPr>
              <a:t>概念与特性</a:t>
            </a:r>
          </a:p>
        </p:txBody>
      </p:sp>
      <p:sp>
        <p:nvSpPr>
          <p:cNvPr id="140304" name="Rectangle 16"/>
          <p:cNvSpPr/>
          <p:nvPr/>
        </p:nvSpPr>
        <p:spPr>
          <a:xfrm>
            <a:off x="7451725" y="3213100"/>
            <a:ext cx="1008063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</a:pPr>
            <a:r>
              <a:rPr lang="zh-CN" altLang="en-US" sz="2400" b="0" dirty="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charset="-122"/>
              </a:rPr>
              <a:t>应用</a:t>
            </a:r>
          </a:p>
        </p:txBody>
      </p:sp>
      <p:sp>
        <p:nvSpPr>
          <p:cNvPr id="140305" name="Rectangle 17"/>
          <p:cNvSpPr/>
          <p:nvPr/>
        </p:nvSpPr>
        <p:spPr>
          <a:xfrm>
            <a:off x="7451725" y="4321175"/>
            <a:ext cx="1009650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</a:pPr>
            <a:r>
              <a:rPr lang="zh-CN" altLang="en-US" sz="2400" b="0" dirty="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charset="-122"/>
              </a:rPr>
              <a:t>深入</a:t>
            </a:r>
          </a:p>
        </p:txBody>
      </p:sp>
      <p:sp>
        <p:nvSpPr>
          <p:cNvPr id="140306" name="AutoShape 18"/>
          <p:cNvSpPr/>
          <p:nvPr/>
        </p:nvSpPr>
        <p:spPr>
          <a:xfrm>
            <a:off x="6156325" y="3068638"/>
            <a:ext cx="1079500" cy="792162"/>
          </a:xfrm>
          <a:prstGeom prst="rightBrace">
            <a:avLst>
              <a:gd name="adj1" fmla="val 8324"/>
              <a:gd name="adj2" fmla="val 50000"/>
            </a:avLst>
          </a:prstGeom>
          <a:noFill/>
          <a:ln w="38100" cap="flat" cmpd="sng">
            <a:solidFill>
              <a:srgbClr val="993300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0257" name="Text Box 19"/>
          <p:cNvSpPr txBox="1"/>
          <p:nvPr/>
        </p:nvSpPr>
        <p:spPr>
          <a:xfrm>
            <a:off x="5413375" y="6435725"/>
            <a:ext cx="1390650" cy="366713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1800" b="0" dirty="0">
                <a:latin typeface="Arial" panose="020B0604020202020204" pitchFamily="34" charset="0"/>
                <a:ea typeface="黑体" panose="02010609060101010101" charset="-122"/>
              </a:rPr>
              <a:t>井元伟 教授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1000"/>
                                        <p:tgtEl>
                                          <p:spTgt spid="140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1000"/>
                                        <p:tgtEl>
                                          <p:spTgt spid="140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1000"/>
                                        <p:tgtEl>
                                          <p:spTgt spid="140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1000"/>
                                        <p:tgtEl>
                                          <p:spTgt spid="140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1000"/>
                                        <p:tgtEl>
                                          <p:spTgt spid="140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1000"/>
                                        <p:tgtEl>
                                          <p:spTgt spid="140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7" dur="1000"/>
                                        <p:tgtEl>
                                          <p:spTgt spid="140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2" dur="1000"/>
                                        <p:tgtEl>
                                          <p:spTgt spid="140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7" dur="1000"/>
                                        <p:tgtEl>
                                          <p:spTgt spid="140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2" dur="1000"/>
                                        <p:tgtEl>
                                          <p:spTgt spid="140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297" grpId="0"/>
      <p:bldP spid="140298" grpId="0"/>
      <p:bldP spid="140299" grpId="0"/>
      <p:bldP spid="140300" grpId="0"/>
      <p:bldP spid="140301" grpId="0"/>
      <p:bldP spid="140302" grpId="0"/>
      <p:bldP spid="140303" grpId="0"/>
      <p:bldP spid="140304" grpId="0"/>
      <p:bldP spid="140305" grpId="0"/>
      <p:bldP spid="14030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日期占位符 3"/>
          <p:cNvSpPr txBox="1">
            <a:spLocks noGrp="1"/>
          </p:cNvSpPr>
          <p:nvPr>
            <p:ph type="dt" sz="half" idx="10"/>
          </p:nvPr>
        </p:nvSpPr>
        <p:spPr>
          <a:xfrm>
            <a:off x="2941638" y="5157788"/>
            <a:ext cx="3311525" cy="404812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BB962C8B-B14F-4D97-AF65-F5344CB8AC3E}" type="datetime2">
              <a:rPr lang="zh-CN" altLang="en-US" sz="2400" b="0" dirty="0">
                <a:solidFill>
                  <a:schemeClr val="bg1"/>
                </a:solidFill>
              </a:rPr>
              <a:t>2026年7月17日</a:t>
            </a:fld>
            <a:endParaRPr lang="zh-CN" altLang="en-US" sz="2400" b="0" dirty="0">
              <a:solidFill>
                <a:schemeClr val="bg1"/>
              </a:solidFill>
            </a:endParaRPr>
          </a:p>
        </p:txBody>
      </p:sp>
      <p:sp>
        <p:nvSpPr>
          <p:cNvPr id="11267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lstStyle/>
          <a:p>
            <a:pPr eaLnBrk="1" hangingPunct="1"/>
            <a:endParaRPr lang="zh-CN" altLang="zh-CN" dirty="0"/>
          </a:p>
        </p:txBody>
      </p:sp>
      <p:sp>
        <p:nvSpPr>
          <p:cNvPr id="11268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lstStyle/>
          <a:p>
            <a:pPr eaLnBrk="1" hangingPunct="1"/>
            <a:endParaRPr lang="zh-CN" altLang="zh-CN" dirty="0"/>
          </a:p>
        </p:txBody>
      </p:sp>
      <p:pic>
        <p:nvPicPr>
          <p:cNvPr id="11269" name="Picture 4" descr="底图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1270" name="Group 5"/>
          <p:cNvGrpSpPr/>
          <p:nvPr/>
        </p:nvGrpSpPr>
        <p:grpSpPr>
          <a:xfrm>
            <a:off x="3419475" y="1052513"/>
            <a:ext cx="4897438" cy="601662"/>
            <a:chOff x="1353" y="1954"/>
            <a:chExt cx="3085" cy="379"/>
          </a:xfrm>
        </p:grpSpPr>
        <p:sp>
          <p:nvSpPr>
            <p:cNvPr id="11282" name="AutoShape 6"/>
            <p:cNvSpPr/>
            <p:nvPr/>
          </p:nvSpPr>
          <p:spPr>
            <a:xfrm>
              <a:off x="1392" y="1970"/>
              <a:ext cx="3039" cy="363"/>
            </a:xfrm>
            <a:prstGeom prst="roundRect">
              <a:avLst>
                <a:gd name="adj" fmla="val 16667"/>
              </a:avLst>
            </a:prstGeom>
            <a:solidFill>
              <a:srgbClr val="135472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eaLnBrk="1" hangingPunct="1"/>
              <a:endParaRPr lang="zh-CN" altLang="zh-CN" sz="1800" b="0" dirty="0">
                <a:latin typeface="Arial" panose="020B0604020202020204" pitchFamily="34" charset="0"/>
              </a:endParaRPr>
            </a:p>
          </p:txBody>
        </p:sp>
        <p:sp>
          <p:nvSpPr>
            <p:cNvPr id="11283" name="AutoShape 7"/>
            <p:cNvSpPr/>
            <p:nvPr/>
          </p:nvSpPr>
          <p:spPr>
            <a:xfrm>
              <a:off x="1360" y="1954"/>
              <a:ext cx="3039" cy="363"/>
            </a:xfrm>
            <a:prstGeom prst="roundRect">
              <a:avLst>
                <a:gd name="adj" fmla="val 16667"/>
              </a:avLst>
            </a:prstGeom>
            <a:solidFill>
              <a:srgbClr val="135472"/>
            </a:solidFill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eaLnBrk="1" hangingPunct="1"/>
              <a:endParaRPr lang="zh-CN" altLang="zh-CN" sz="1800" b="0" dirty="0">
                <a:latin typeface="Arial" panose="020B0604020202020204" pitchFamily="34" charset="0"/>
              </a:endParaRPr>
            </a:p>
          </p:txBody>
        </p:sp>
        <p:sp>
          <p:nvSpPr>
            <p:cNvPr id="11284" name="Text Box 8"/>
            <p:cNvSpPr txBox="1"/>
            <p:nvPr/>
          </p:nvSpPr>
          <p:spPr>
            <a:xfrm>
              <a:off x="1353" y="1973"/>
              <a:ext cx="308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/>
              <a:r>
                <a:rPr lang="zh-CN" altLang="en-US" sz="2800" b="0" dirty="0">
                  <a:solidFill>
                    <a:srgbClr val="FFFFFF"/>
                  </a:solidFill>
                  <a:latin typeface="Arial" panose="020B0604020202020204" pitchFamily="34" charset="0"/>
                  <a:ea typeface="黑体" panose="02010609060101010101" charset="-122"/>
                </a:rPr>
                <a:t>第</a:t>
              </a:r>
              <a:r>
                <a:rPr lang="en-US" altLang="zh-CN" sz="2800" b="0" dirty="0">
                  <a:solidFill>
                    <a:srgbClr val="FFFFFF"/>
                  </a:solidFill>
                  <a:latin typeface="Arial" panose="020B0604020202020204" pitchFamily="34" charset="0"/>
                  <a:ea typeface="黑体" panose="02010609060101010101" charset="-122"/>
                </a:rPr>
                <a:t>6</a:t>
              </a:r>
              <a:r>
                <a:rPr lang="zh-CN" altLang="en-US" sz="2800" b="0" dirty="0">
                  <a:solidFill>
                    <a:srgbClr val="FFFFFF"/>
                  </a:solidFill>
                  <a:latin typeface="Arial" panose="020B0604020202020204" pitchFamily="34" charset="0"/>
                  <a:ea typeface="黑体" panose="02010609060101010101" charset="-122"/>
                </a:rPr>
                <a:t>章  状态反馈和状态观测器</a:t>
              </a:r>
            </a:p>
          </p:txBody>
        </p:sp>
      </p:grpSp>
      <p:sp>
        <p:nvSpPr>
          <p:cNvPr id="11271" name="Rectangle 9"/>
          <p:cNvSpPr/>
          <p:nvPr/>
        </p:nvSpPr>
        <p:spPr>
          <a:xfrm>
            <a:off x="1090613" y="2205038"/>
            <a:ext cx="4824412" cy="503237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zh-CN" sz="2400" b="0" dirty="0">
                <a:latin typeface="Arial" panose="020B0604020202020204" pitchFamily="34" charset="0"/>
                <a:ea typeface="黑体" panose="02010609060101010101" charset="-122"/>
              </a:rPr>
              <a:t>6.1  </a:t>
            </a:r>
            <a:r>
              <a:rPr lang="zh-CN" altLang="en-US" sz="2400" b="0" dirty="0">
                <a:latin typeface="Arial" panose="020B0604020202020204" pitchFamily="34" charset="0"/>
                <a:ea typeface="黑体" panose="02010609060101010101" charset="-122"/>
              </a:rPr>
              <a:t>状态反馈的定义及其性质</a:t>
            </a:r>
            <a:endParaRPr lang="zh-CN" altLang="en-US" sz="2400" b="0" dirty="0">
              <a:solidFill>
                <a:schemeClr val="bg2"/>
              </a:solidFill>
              <a:latin typeface="Arial" panose="020B0604020202020204" pitchFamily="34" charset="0"/>
              <a:ea typeface="黑体" panose="02010609060101010101" charset="-122"/>
            </a:endParaRPr>
          </a:p>
        </p:txBody>
      </p:sp>
      <p:sp>
        <p:nvSpPr>
          <p:cNvPr id="11272" name="Rectangle 10"/>
          <p:cNvSpPr/>
          <p:nvPr/>
        </p:nvSpPr>
        <p:spPr>
          <a:xfrm>
            <a:off x="1085850" y="2852738"/>
            <a:ext cx="1995488" cy="4572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r>
              <a:rPr lang="en-US" altLang="zh-CN" sz="2400" b="0" dirty="0">
                <a:latin typeface="Arial" panose="020B0604020202020204" pitchFamily="34" charset="0"/>
                <a:ea typeface="黑体" panose="02010609060101010101" charset="-122"/>
              </a:rPr>
              <a:t>6.2  </a:t>
            </a:r>
            <a:r>
              <a:rPr lang="zh-CN" altLang="en-US" sz="2400" b="0" dirty="0">
                <a:latin typeface="Arial" panose="020B0604020202020204" pitchFamily="34" charset="0"/>
                <a:ea typeface="黑体" panose="02010609060101010101" charset="-122"/>
              </a:rPr>
              <a:t>极点配置</a:t>
            </a:r>
          </a:p>
        </p:txBody>
      </p:sp>
      <p:sp>
        <p:nvSpPr>
          <p:cNvPr id="11273" name="Rectangle 11"/>
          <p:cNvSpPr/>
          <p:nvPr/>
        </p:nvSpPr>
        <p:spPr>
          <a:xfrm>
            <a:off x="1085850" y="3573463"/>
            <a:ext cx="5184775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2400" b="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charset="-122"/>
              </a:rPr>
              <a:t>6.3  </a:t>
            </a:r>
            <a:r>
              <a:rPr lang="zh-CN" altLang="en-US" sz="2400" b="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charset="-122"/>
              </a:rPr>
              <a:t>应用状态反馈实现解耦控制</a:t>
            </a:r>
          </a:p>
        </p:txBody>
      </p:sp>
      <p:sp>
        <p:nvSpPr>
          <p:cNvPr id="11274" name="Rectangle 12"/>
          <p:cNvSpPr/>
          <p:nvPr/>
        </p:nvSpPr>
        <p:spPr>
          <a:xfrm>
            <a:off x="1098550" y="4292600"/>
            <a:ext cx="2808288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</a:pPr>
            <a:r>
              <a:rPr lang="en-US" altLang="zh-CN" sz="2400" b="0" dirty="0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charset="-122"/>
              </a:rPr>
              <a:t>6.4  </a:t>
            </a:r>
            <a:r>
              <a:rPr lang="zh-CN" altLang="en-US" sz="2400" b="0" dirty="0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charset="-122"/>
              </a:rPr>
              <a:t>状态观测器</a:t>
            </a:r>
          </a:p>
        </p:txBody>
      </p:sp>
      <p:sp>
        <p:nvSpPr>
          <p:cNvPr id="11275" name="Rectangle 13"/>
          <p:cNvSpPr/>
          <p:nvPr/>
        </p:nvSpPr>
        <p:spPr>
          <a:xfrm>
            <a:off x="1116013" y="5013325"/>
            <a:ext cx="5761037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</a:pPr>
            <a:r>
              <a:rPr lang="en-US" altLang="zh-CN" sz="2400" b="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charset="-122"/>
              </a:rPr>
              <a:t>6.5  </a:t>
            </a:r>
            <a:r>
              <a:rPr lang="zh-CN" altLang="en-US" sz="2400" b="0" dirty="0">
                <a:solidFill>
                  <a:schemeClr val="bg2"/>
                </a:solidFill>
                <a:latin typeface="Arial" panose="020B0604020202020204" pitchFamily="34" charset="0"/>
                <a:ea typeface="黑体" panose="02010609060101010101" charset="-122"/>
              </a:rPr>
              <a:t>带状态观测器的反馈系统</a:t>
            </a:r>
          </a:p>
        </p:txBody>
      </p:sp>
      <p:sp>
        <p:nvSpPr>
          <p:cNvPr id="11276" name="Rectangle 14"/>
          <p:cNvSpPr/>
          <p:nvPr/>
        </p:nvSpPr>
        <p:spPr>
          <a:xfrm>
            <a:off x="1116013" y="5746750"/>
            <a:ext cx="5473700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</a:pPr>
            <a:r>
              <a:rPr lang="en-US" altLang="zh-CN" sz="2400" b="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charset="-122"/>
              </a:rPr>
              <a:t>6.6  </a:t>
            </a:r>
            <a:r>
              <a:rPr lang="zh-CN" altLang="en-US" sz="2400" b="0" dirty="0">
                <a:solidFill>
                  <a:schemeClr val="bg2"/>
                </a:solidFill>
                <a:latin typeface="Arial" panose="020B0604020202020204" pitchFamily="34" charset="0"/>
                <a:ea typeface="黑体" panose="02010609060101010101" charset="-122"/>
              </a:rPr>
              <a:t>线性不确定系统的鲁棒控制</a:t>
            </a:r>
          </a:p>
        </p:txBody>
      </p:sp>
      <p:sp>
        <p:nvSpPr>
          <p:cNvPr id="11277" name="Rectangle 15"/>
          <p:cNvSpPr/>
          <p:nvPr/>
        </p:nvSpPr>
        <p:spPr>
          <a:xfrm>
            <a:off x="6659563" y="2179638"/>
            <a:ext cx="2160587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</a:pPr>
            <a:r>
              <a:rPr lang="zh-CN" altLang="en-US" sz="2400" b="0" dirty="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charset="-122"/>
              </a:rPr>
              <a:t>概念与特性</a:t>
            </a:r>
          </a:p>
        </p:txBody>
      </p:sp>
      <p:sp>
        <p:nvSpPr>
          <p:cNvPr id="11278" name="Rectangle 16"/>
          <p:cNvSpPr/>
          <p:nvPr/>
        </p:nvSpPr>
        <p:spPr>
          <a:xfrm>
            <a:off x="7451725" y="3213100"/>
            <a:ext cx="1008063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</a:pPr>
            <a:r>
              <a:rPr lang="zh-CN" altLang="en-US" sz="2400" b="0" dirty="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charset="-122"/>
              </a:rPr>
              <a:t>应用</a:t>
            </a:r>
          </a:p>
        </p:txBody>
      </p:sp>
      <p:sp>
        <p:nvSpPr>
          <p:cNvPr id="11279" name="Rectangle 17"/>
          <p:cNvSpPr/>
          <p:nvPr/>
        </p:nvSpPr>
        <p:spPr>
          <a:xfrm>
            <a:off x="7451725" y="4321175"/>
            <a:ext cx="1009650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</a:pPr>
            <a:r>
              <a:rPr lang="zh-CN" altLang="en-US" sz="2400" b="0" dirty="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charset="-122"/>
              </a:rPr>
              <a:t>深入</a:t>
            </a:r>
          </a:p>
        </p:txBody>
      </p:sp>
      <p:sp>
        <p:nvSpPr>
          <p:cNvPr id="11280" name="AutoShape 18"/>
          <p:cNvSpPr/>
          <p:nvPr/>
        </p:nvSpPr>
        <p:spPr>
          <a:xfrm>
            <a:off x="6156325" y="3068638"/>
            <a:ext cx="1079500" cy="792162"/>
          </a:xfrm>
          <a:prstGeom prst="rightBrace">
            <a:avLst>
              <a:gd name="adj1" fmla="val 8324"/>
              <a:gd name="adj2" fmla="val 50000"/>
            </a:avLst>
          </a:prstGeom>
          <a:noFill/>
          <a:ln w="38100" cap="flat" cmpd="sng">
            <a:solidFill>
              <a:srgbClr val="993300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1281" name="Text Box 19"/>
          <p:cNvSpPr txBox="1"/>
          <p:nvPr/>
        </p:nvSpPr>
        <p:spPr>
          <a:xfrm>
            <a:off x="5413375" y="6435725"/>
            <a:ext cx="1390650" cy="366713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1800" b="0" dirty="0">
                <a:latin typeface="Arial" panose="020B0604020202020204" pitchFamily="34" charset="0"/>
                <a:ea typeface="黑体" panose="02010609060101010101" charset="-122"/>
              </a:rPr>
              <a:t>井元伟 教授</a:t>
            </a: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日期占位符 4"/>
          <p:cNvSpPr txBox="1">
            <a:spLocks noGrp="1"/>
          </p:cNvSpPr>
          <p:nvPr>
            <p:ph type="dt" sz="half" idx="10"/>
          </p:nvPr>
        </p:nvSpPr>
        <p:spPr>
          <a:xfrm>
            <a:off x="2941638" y="5157788"/>
            <a:ext cx="3311525" cy="404812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BB962C8B-B14F-4D97-AF65-F5344CB8AC3E}" type="datetime2">
              <a:rPr lang="zh-CN" altLang="en-US" sz="2400" b="0" dirty="0">
                <a:solidFill>
                  <a:schemeClr val="bg1"/>
                </a:solidFill>
              </a:rPr>
              <a:t>2026年7月17日</a:t>
            </a:fld>
            <a:endParaRPr lang="zh-CN" altLang="en-US" sz="2400" b="0" dirty="0">
              <a:solidFill>
                <a:schemeClr val="bg1"/>
              </a:solidFill>
            </a:endParaRPr>
          </a:p>
        </p:txBody>
      </p:sp>
      <p:pic>
        <p:nvPicPr>
          <p:cNvPr id="14339" name="Picture 2" descr="底图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4340" name="Text Box 3"/>
          <p:cNvSpPr txBox="1"/>
          <p:nvPr/>
        </p:nvSpPr>
        <p:spPr>
          <a:xfrm>
            <a:off x="5651500" y="188913"/>
            <a:ext cx="3313113" cy="366712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r>
              <a:rPr lang="zh-CN" altLang="en-US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第 </a:t>
            </a:r>
            <a:r>
              <a:rPr lang="en-US" altLang="zh-CN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6 </a:t>
            </a:r>
            <a:r>
              <a:rPr lang="zh-CN" altLang="en-US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章  状态反馈和状态观测器</a:t>
            </a:r>
          </a:p>
        </p:txBody>
      </p:sp>
      <p:sp>
        <p:nvSpPr>
          <p:cNvPr id="14341" name="Text Box 4"/>
          <p:cNvSpPr txBox="1"/>
          <p:nvPr/>
        </p:nvSpPr>
        <p:spPr>
          <a:xfrm>
            <a:off x="250825" y="6440488"/>
            <a:ext cx="3097213" cy="366712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r>
              <a:rPr lang="en-US" altLang="zh-CN" sz="1800" b="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charset="-122"/>
              </a:rPr>
              <a:t>1. </a:t>
            </a:r>
            <a:r>
              <a:rPr lang="zh-CN" altLang="en-US" sz="1800" b="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charset="-122"/>
              </a:rPr>
              <a:t>状态反馈的定义及其性质</a:t>
            </a:r>
          </a:p>
        </p:txBody>
      </p:sp>
      <p:sp>
        <p:nvSpPr>
          <p:cNvPr id="14342" name="Rectangle 5"/>
          <p:cNvSpPr>
            <a:spLocks noGrp="1"/>
          </p:cNvSpPr>
          <p:nvPr>
            <p:ph type="body" sz="half" idx="1"/>
          </p:nvPr>
        </p:nvSpPr>
        <p:spPr>
          <a:xfrm>
            <a:off x="3348038" y="765175"/>
            <a:ext cx="4906962" cy="604838"/>
          </a:xfrm>
          <a:ln/>
        </p:spPr>
        <p:txBody>
          <a:bodyPr vert="horz" wrap="square" lIns="91440" tIns="45720" rIns="91440" bIns="45720" anchor="t" anchorCtr="0"/>
          <a:lstStyle/>
          <a:p>
            <a:pPr eaLnBrk="1" hangingPunct="1"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A50021"/>
                </a:solidFill>
                <a:ea typeface="黑体" panose="02010609060101010101" charset="-122"/>
              </a:rPr>
              <a:t>6.1 </a:t>
            </a:r>
            <a:r>
              <a:rPr lang="zh-CN" altLang="en-US" sz="2800" dirty="0">
                <a:solidFill>
                  <a:srgbClr val="A50021"/>
                </a:solidFill>
                <a:ea typeface="黑体" panose="02010609060101010101" charset="-122"/>
              </a:rPr>
              <a:t>状态反馈的定义及其性质</a:t>
            </a:r>
          </a:p>
        </p:txBody>
      </p:sp>
      <p:sp>
        <p:nvSpPr>
          <p:cNvPr id="14343" name="Rectangle 6"/>
          <p:cNvSpPr/>
          <p:nvPr/>
        </p:nvSpPr>
        <p:spPr>
          <a:xfrm>
            <a:off x="4479925" y="3017838"/>
            <a:ext cx="184150" cy="519112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lstStyle/>
          <a:p>
            <a:pPr algn="ctr"/>
            <a:endParaRPr lang="zh-CN" altLang="zh-CN" sz="2800" b="0" dirty="0">
              <a:latin typeface="Arial" panose="020B0604020202020204" pitchFamily="34" charset="0"/>
              <a:ea typeface="黑体" panose="02010609060101010101" charset="-122"/>
            </a:endParaRPr>
          </a:p>
        </p:txBody>
      </p:sp>
      <p:graphicFrame>
        <p:nvGraphicFramePr>
          <p:cNvPr id="14344" name="Object 7"/>
          <p:cNvGraphicFramePr/>
          <p:nvPr/>
        </p:nvGraphicFramePr>
        <p:xfrm>
          <a:off x="3276600" y="1557338"/>
          <a:ext cx="2551113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015365" imgH="431800" progId="Equation.DSMT4">
                  <p:embed/>
                </p:oleObj>
              </mc:Choice>
              <mc:Fallback>
                <p:oleObj r:id="rId4" imgW="1015365" imgH="431800" progId="Equation.DSMT4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276600" y="1557338"/>
                        <a:ext cx="2551113" cy="1079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5" name="Object 8"/>
          <p:cNvGraphicFramePr/>
          <p:nvPr/>
        </p:nvGraphicFramePr>
        <p:xfrm>
          <a:off x="5435600" y="2781300"/>
          <a:ext cx="196056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748665" imgH="177800" progId="Equation.DSMT4">
                  <p:embed/>
                </p:oleObj>
              </mc:Choice>
              <mc:Fallback>
                <p:oleObj r:id="rId6" imgW="748665" imgH="177800" progId="Equation.DSMT4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435600" y="2781300"/>
                        <a:ext cx="1960563" cy="469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6" name="Rectangle 10"/>
          <p:cNvSpPr/>
          <p:nvPr/>
        </p:nvSpPr>
        <p:spPr>
          <a:xfrm>
            <a:off x="611188" y="1557338"/>
            <a:ext cx="1403350" cy="4572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b="0" dirty="0">
                <a:latin typeface="Arial" panose="020B0604020202020204" pitchFamily="34" charset="0"/>
                <a:ea typeface="黑体" panose="02010609060101010101" charset="-122"/>
              </a:rPr>
              <a:t>给定系统</a:t>
            </a:r>
          </a:p>
        </p:txBody>
      </p:sp>
      <p:sp>
        <p:nvSpPr>
          <p:cNvPr id="14347" name="Rectangle 11"/>
          <p:cNvSpPr/>
          <p:nvPr/>
        </p:nvSpPr>
        <p:spPr>
          <a:xfrm>
            <a:off x="611188" y="2820988"/>
            <a:ext cx="3536950" cy="4572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b="0" dirty="0">
                <a:latin typeface="Arial" panose="020B0604020202020204" pitchFamily="34" charset="0"/>
                <a:ea typeface="黑体" panose="02010609060101010101" charset="-122"/>
              </a:rPr>
              <a:t>在系统中引入反馈控制律</a:t>
            </a:r>
          </a:p>
        </p:txBody>
      </p:sp>
      <p:sp>
        <p:nvSpPr>
          <p:cNvPr id="14348" name="Text Box 21"/>
          <p:cNvSpPr txBox="1"/>
          <p:nvPr/>
        </p:nvSpPr>
        <p:spPr>
          <a:xfrm>
            <a:off x="5413375" y="6435725"/>
            <a:ext cx="1390650" cy="366713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1800" b="0" dirty="0">
                <a:latin typeface="Arial" panose="020B0604020202020204" pitchFamily="34" charset="0"/>
                <a:ea typeface="黑体" panose="02010609060101010101" charset="-122"/>
              </a:rPr>
              <a:t>井元伟 教授</a:t>
            </a: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日期占位符 4"/>
          <p:cNvSpPr txBox="1">
            <a:spLocks noGrp="1"/>
          </p:cNvSpPr>
          <p:nvPr>
            <p:ph type="dt" sz="half" idx="10"/>
          </p:nvPr>
        </p:nvSpPr>
        <p:spPr>
          <a:xfrm>
            <a:off x="2941638" y="5157788"/>
            <a:ext cx="3311525" cy="404812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BB962C8B-B14F-4D97-AF65-F5344CB8AC3E}" type="datetime2">
              <a:rPr lang="zh-CN" altLang="en-US" sz="2400" b="0" dirty="0">
                <a:solidFill>
                  <a:schemeClr val="bg1"/>
                </a:solidFill>
              </a:rPr>
              <a:t>2026年7月17日</a:t>
            </a:fld>
            <a:endParaRPr lang="zh-CN" altLang="en-US" sz="2400" b="0" dirty="0">
              <a:solidFill>
                <a:schemeClr val="bg1"/>
              </a:solidFill>
            </a:endParaRPr>
          </a:p>
        </p:txBody>
      </p:sp>
      <p:pic>
        <p:nvPicPr>
          <p:cNvPr id="16387" name="Picture 2" descr="底图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6388" name="Text Box 3"/>
          <p:cNvSpPr txBox="1"/>
          <p:nvPr/>
        </p:nvSpPr>
        <p:spPr>
          <a:xfrm>
            <a:off x="5651500" y="188913"/>
            <a:ext cx="3313113" cy="366712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r>
              <a:rPr lang="zh-CN" altLang="en-US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第 </a:t>
            </a:r>
            <a:r>
              <a:rPr lang="en-US" altLang="zh-CN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6 </a:t>
            </a:r>
            <a:r>
              <a:rPr lang="zh-CN" altLang="en-US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章  状态反馈和状态观测器</a:t>
            </a:r>
          </a:p>
        </p:txBody>
      </p:sp>
      <p:sp>
        <p:nvSpPr>
          <p:cNvPr id="16389" name="Text Box 4"/>
          <p:cNvSpPr txBox="1"/>
          <p:nvPr/>
        </p:nvSpPr>
        <p:spPr>
          <a:xfrm>
            <a:off x="250825" y="6440488"/>
            <a:ext cx="3097213" cy="366712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r>
              <a:rPr lang="en-US" altLang="zh-CN" sz="1800" b="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charset="-122"/>
              </a:rPr>
              <a:t>1. </a:t>
            </a:r>
            <a:r>
              <a:rPr lang="zh-CN" altLang="en-US" sz="1800" b="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charset="-122"/>
              </a:rPr>
              <a:t>状态反馈的定义及其性质</a:t>
            </a:r>
          </a:p>
        </p:txBody>
      </p:sp>
      <p:sp>
        <p:nvSpPr>
          <p:cNvPr id="16390" name="Rectangle 5"/>
          <p:cNvSpPr>
            <a:spLocks noGrp="1"/>
          </p:cNvSpPr>
          <p:nvPr>
            <p:ph type="body" sz="half" idx="1"/>
          </p:nvPr>
        </p:nvSpPr>
        <p:spPr>
          <a:xfrm>
            <a:off x="3348038" y="765175"/>
            <a:ext cx="4906962" cy="604838"/>
          </a:xfrm>
          <a:ln/>
        </p:spPr>
        <p:txBody>
          <a:bodyPr vert="horz" wrap="square" lIns="91440" tIns="45720" rIns="91440" bIns="45720" anchor="t" anchorCtr="0"/>
          <a:lstStyle/>
          <a:p>
            <a:pPr eaLnBrk="1" hangingPunct="1"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A50021"/>
                </a:solidFill>
                <a:ea typeface="黑体" panose="02010609060101010101" charset="-122"/>
              </a:rPr>
              <a:t>6.1 </a:t>
            </a:r>
            <a:r>
              <a:rPr lang="zh-CN" altLang="en-US" sz="2800" dirty="0">
                <a:solidFill>
                  <a:srgbClr val="A50021"/>
                </a:solidFill>
                <a:ea typeface="黑体" panose="02010609060101010101" charset="-122"/>
              </a:rPr>
              <a:t>状态反馈的定义及其性质</a:t>
            </a:r>
          </a:p>
        </p:txBody>
      </p:sp>
      <p:sp>
        <p:nvSpPr>
          <p:cNvPr id="16391" name="Rectangle 6"/>
          <p:cNvSpPr/>
          <p:nvPr/>
        </p:nvSpPr>
        <p:spPr>
          <a:xfrm>
            <a:off x="4479925" y="3017838"/>
            <a:ext cx="184150" cy="519112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lstStyle/>
          <a:p>
            <a:pPr algn="ctr"/>
            <a:endParaRPr lang="zh-CN" altLang="zh-CN" sz="2800" b="0" dirty="0">
              <a:latin typeface="Arial" panose="020B0604020202020204" pitchFamily="34" charset="0"/>
              <a:ea typeface="黑体" panose="02010609060101010101" charset="-122"/>
            </a:endParaRPr>
          </a:p>
        </p:txBody>
      </p:sp>
      <p:graphicFrame>
        <p:nvGraphicFramePr>
          <p:cNvPr id="16392" name="Object 7"/>
          <p:cNvGraphicFramePr/>
          <p:nvPr/>
        </p:nvGraphicFramePr>
        <p:xfrm>
          <a:off x="3276600" y="1557338"/>
          <a:ext cx="2551113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015365" imgH="431800" progId="Equation.DSMT4">
                  <p:embed/>
                </p:oleObj>
              </mc:Choice>
              <mc:Fallback>
                <p:oleObj r:id="rId4" imgW="1015365" imgH="431800" progId="Equation.DSMT4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276600" y="1557338"/>
                        <a:ext cx="2551113" cy="1079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3" name="Object 8"/>
          <p:cNvGraphicFramePr/>
          <p:nvPr/>
        </p:nvGraphicFramePr>
        <p:xfrm>
          <a:off x="5435600" y="2781300"/>
          <a:ext cx="196056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748665" imgH="177800" progId="Equation.DSMT4">
                  <p:embed/>
                </p:oleObj>
              </mc:Choice>
              <mc:Fallback>
                <p:oleObj r:id="rId6" imgW="748665" imgH="177800" progId="Equation.DSMT4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435600" y="2781300"/>
                        <a:ext cx="1960563" cy="469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4" name="Rectangle 10"/>
          <p:cNvSpPr/>
          <p:nvPr/>
        </p:nvSpPr>
        <p:spPr>
          <a:xfrm>
            <a:off x="611188" y="1557338"/>
            <a:ext cx="1403350" cy="4572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b="0" dirty="0">
                <a:latin typeface="Arial" panose="020B0604020202020204" pitchFamily="34" charset="0"/>
                <a:ea typeface="黑体" panose="02010609060101010101" charset="-122"/>
              </a:rPr>
              <a:t>给定系统</a:t>
            </a:r>
          </a:p>
        </p:txBody>
      </p:sp>
      <p:sp>
        <p:nvSpPr>
          <p:cNvPr id="16395" name="Rectangle 11"/>
          <p:cNvSpPr/>
          <p:nvPr/>
        </p:nvSpPr>
        <p:spPr>
          <a:xfrm>
            <a:off x="611188" y="2820988"/>
            <a:ext cx="3536950" cy="4572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b="0" dirty="0">
                <a:latin typeface="Arial" panose="020B0604020202020204" pitchFamily="34" charset="0"/>
                <a:ea typeface="黑体" panose="02010609060101010101" charset="-122"/>
              </a:rPr>
              <a:t>在系统中引入反馈控制律</a:t>
            </a:r>
          </a:p>
        </p:txBody>
      </p:sp>
      <p:sp>
        <p:nvSpPr>
          <p:cNvPr id="444432" name="Text Box 16"/>
          <p:cNvSpPr txBox="1">
            <a:spLocks noChangeArrowheads="1"/>
          </p:cNvSpPr>
          <p:nvPr/>
        </p:nvSpPr>
        <p:spPr bwMode="auto">
          <a:xfrm>
            <a:off x="7940675" y="1268413"/>
            <a:ext cx="930275" cy="1701800"/>
          </a:xfrm>
          <a:prstGeom prst="rect">
            <a:avLst/>
          </a:prstGeom>
          <a:noFill/>
          <a:ln w="15875">
            <a:solidFill>
              <a:srgbClr val="0000FF"/>
            </a:solidFill>
            <a:miter lim="800000"/>
            <a:headEnd type="none" w="sm" len="sm"/>
            <a:tailEnd type="none" w="sm" len="sm"/>
          </a:ln>
          <a:effectLst/>
        </p:spPr>
        <p:txBody>
          <a:bodyPr vert="eaVert"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zh-CN" altLang="en-US" sz="2400" b="0" kern="1200" cap="none" spc="0" normalizeH="0" baseline="0" noProof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charset="-122"/>
                <a:cs typeface="+mn-cs"/>
              </a:rPr>
              <a:t>输入变换阵非奇异实常</a:t>
            </a:r>
          </a:p>
        </p:txBody>
      </p:sp>
      <p:sp>
        <p:nvSpPr>
          <p:cNvPr id="444433" name="Text Box 17"/>
          <p:cNvSpPr txBox="1">
            <a:spLocks noChangeArrowheads="1"/>
          </p:cNvSpPr>
          <p:nvPr/>
        </p:nvSpPr>
        <p:spPr bwMode="auto">
          <a:xfrm>
            <a:off x="7956550" y="3429000"/>
            <a:ext cx="930275" cy="1701800"/>
          </a:xfrm>
          <a:prstGeom prst="rect">
            <a:avLst/>
          </a:prstGeom>
          <a:noFill/>
          <a:ln w="15875">
            <a:solidFill>
              <a:srgbClr val="0000FF"/>
            </a:solidFill>
            <a:miter lim="800000"/>
            <a:headEnd type="none" w="sm" len="sm"/>
            <a:tailEnd type="none" w="sm" len="sm"/>
          </a:ln>
          <a:effectLst/>
        </p:spPr>
        <p:txBody>
          <a:bodyPr vert="eaVert"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zh-CN" altLang="en-US" sz="2400" b="0" kern="1200" cap="none" spc="0" normalizeH="0" baseline="0" noProof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charset="-122"/>
                <a:cs typeface="+mn-cs"/>
              </a:rPr>
              <a:t>反馈增益阵实常数</a:t>
            </a:r>
          </a:p>
        </p:txBody>
      </p:sp>
      <p:sp>
        <p:nvSpPr>
          <p:cNvPr id="16398" name="Line 18"/>
          <p:cNvSpPr/>
          <p:nvPr/>
        </p:nvSpPr>
        <p:spPr>
          <a:xfrm flipH="1">
            <a:off x="6300788" y="1700213"/>
            <a:ext cx="1655762" cy="1223962"/>
          </a:xfrm>
          <a:prstGeom prst="line">
            <a:avLst/>
          </a:prstGeom>
          <a:ln w="12700" cap="flat" cmpd="sng">
            <a:solidFill>
              <a:schemeClr val="accent2"/>
            </a:solidFill>
            <a:prstDash val="lgDash"/>
            <a:headEnd type="none" w="sm" len="sm"/>
            <a:tailEnd type="triangle" w="sm" len="sm"/>
          </a:ln>
        </p:spPr>
      </p:sp>
      <p:sp>
        <p:nvSpPr>
          <p:cNvPr id="16399" name="Line 19"/>
          <p:cNvSpPr/>
          <p:nvPr/>
        </p:nvSpPr>
        <p:spPr>
          <a:xfrm flipH="1" flipV="1">
            <a:off x="7092950" y="3213100"/>
            <a:ext cx="863600" cy="431800"/>
          </a:xfrm>
          <a:prstGeom prst="line">
            <a:avLst/>
          </a:prstGeom>
          <a:ln w="12700" cap="flat" cmpd="sng">
            <a:solidFill>
              <a:schemeClr val="accent2"/>
            </a:solidFill>
            <a:prstDash val="lgDash"/>
            <a:headEnd type="none" w="sm" len="sm"/>
            <a:tailEnd type="triangle" w="sm" len="sm"/>
          </a:ln>
        </p:spPr>
      </p:sp>
      <p:sp>
        <p:nvSpPr>
          <p:cNvPr id="16400" name="Text Box 21"/>
          <p:cNvSpPr txBox="1"/>
          <p:nvPr/>
        </p:nvSpPr>
        <p:spPr>
          <a:xfrm>
            <a:off x="5413375" y="6435725"/>
            <a:ext cx="1390650" cy="366713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1800" b="0" dirty="0">
                <a:latin typeface="Arial" panose="020B0604020202020204" pitchFamily="34" charset="0"/>
                <a:ea typeface="黑体" panose="02010609060101010101" charset="-122"/>
              </a:rPr>
              <a:t>井元伟 教授</a:t>
            </a: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日期占位符 4"/>
          <p:cNvSpPr txBox="1">
            <a:spLocks noGrp="1"/>
          </p:cNvSpPr>
          <p:nvPr>
            <p:ph type="dt" sz="half" idx="10"/>
          </p:nvPr>
        </p:nvSpPr>
        <p:spPr>
          <a:xfrm>
            <a:off x="2941638" y="5157788"/>
            <a:ext cx="3311525" cy="404812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BB962C8B-B14F-4D97-AF65-F5344CB8AC3E}" type="datetime2">
              <a:rPr lang="zh-CN" altLang="en-US" sz="2400" b="0" dirty="0">
                <a:solidFill>
                  <a:schemeClr val="bg1"/>
                </a:solidFill>
              </a:rPr>
              <a:t>2026年7月17日</a:t>
            </a:fld>
            <a:endParaRPr lang="zh-CN" altLang="en-US" sz="2400" b="0" dirty="0">
              <a:solidFill>
                <a:schemeClr val="bg1"/>
              </a:solidFill>
            </a:endParaRPr>
          </a:p>
        </p:txBody>
      </p:sp>
      <p:pic>
        <p:nvPicPr>
          <p:cNvPr id="17411" name="Picture 2" descr="底图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7412" name="Text Box 3"/>
          <p:cNvSpPr txBox="1"/>
          <p:nvPr/>
        </p:nvSpPr>
        <p:spPr>
          <a:xfrm>
            <a:off x="5651500" y="188913"/>
            <a:ext cx="3313113" cy="366712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r>
              <a:rPr lang="zh-CN" altLang="en-US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第 </a:t>
            </a:r>
            <a:r>
              <a:rPr lang="en-US" altLang="zh-CN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6 </a:t>
            </a:r>
            <a:r>
              <a:rPr lang="zh-CN" altLang="en-US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章  状态反馈和状态观测器</a:t>
            </a:r>
          </a:p>
        </p:txBody>
      </p:sp>
      <p:sp>
        <p:nvSpPr>
          <p:cNvPr id="17413" name="Text Box 4"/>
          <p:cNvSpPr txBox="1"/>
          <p:nvPr/>
        </p:nvSpPr>
        <p:spPr>
          <a:xfrm>
            <a:off x="250825" y="6440488"/>
            <a:ext cx="3097213" cy="366712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r>
              <a:rPr lang="en-US" altLang="zh-CN" sz="1800" b="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charset="-122"/>
              </a:rPr>
              <a:t>1. </a:t>
            </a:r>
            <a:r>
              <a:rPr lang="zh-CN" altLang="en-US" sz="1800" b="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charset="-122"/>
              </a:rPr>
              <a:t>状态反馈的定义及其性质</a:t>
            </a:r>
          </a:p>
        </p:txBody>
      </p:sp>
      <p:sp>
        <p:nvSpPr>
          <p:cNvPr id="17414" name="Rectangle 5"/>
          <p:cNvSpPr>
            <a:spLocks noGrp="1"/>
          </p:cNvSpPr>
          <p:nvPr>
            <p:ph type="body" sz="half" idx="1"/>
          </p:nvPr>
        </p:nvSpPr>
        <p:spPr>
          <a:xfrm>
            <a:off x="3348038" y="765175"/>
            <a:ext cx="4906962" cy="604838"/>
          </a:xfrm>
          <a:ln/>
        </p:spPr>
        <p:txBody>
          <a:bodyPr vert="horz" wrap="square" lIns="91440" tIns="45720" rIns="91440" bIns="45720" anchor="t" anchorCtr="0"/>
          <a:lstStyle/>
          <a:p>
            <a:pPr eaLnBrk="1" hangingPunct="1"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A50021"/>
                </a:solidFill>
                <a:ea typeface="黑体" panose="02010609060101010101" charset="-122"/>
              </a:rPr>
              <a:t>6.1 </a:t>
            </a:r>
            <a:r>
              <a:rPr lang="zh-CN" altLang="en-US" sz="2800" dirty="0">
                <a:solidFill>
                  <a:srgbClr val="A50021"/>
                </a:solidFill>
                <a:ea typeface="黑体" panose="02010609060101010101" charset="-122"/>
              </a:rPr>
              <a:t>状态反馈的定义及其性质</a:t>
            </a:r>
          </a:p>
        </p:txBody>
      </p:sp>
      <p:sp>
        <p:nvSpPr>
          <p:cNvPr id="17415" name="Rectangle 6"/>
          <p:cNvSpPr/>
          <p:nvPr/>
        </p:nvSpPr>
        <p:spPr>
          <a:xfrm>
            <a:off x="4479925" y="3017838"/>
            <a:ext cx="184150" cy="519112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lstStyle/>
          <a:p>
            <a:pPr algn="ctr"/>
            <a:endParaRPr lang="zh-CN" altLang="zh-CN" sz="2800" b="0" dirty="0">
              <a:latin typeface="Arial" panose="020B0604020202020204" pitchFamily="34" charset="0"/>
              <a:ea typeface="黑体" panose="02010609060101010101" charset="-122"/>
            </a:endParaRPr>
          </a:p>
        </p:txBody>
      </p:sp>
      <p:graphicFrame>
        <p:nvGraphicFramePr>
          <p:cNvPr id="17416" name="Object 7"/>
          <p:cNvGraphicFramePr/>
          <p:nvPr/>
        </p:nvGraphicFramePr>
        <p:xfrm>
          <a:off x="3276600" y="1557338"/>
          <a:ext cx="2551113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015365" imgH="431800" progId="Equation.DSMT4">
                  <p:embed/>
                </p:oleObj>
              </mc:Choice>
              <mc:Fallback>
                <p:oleObj r:id="rId4" imgW="1015365" imgH="431800" progId="Equation.DSMT4">
                  <p:embed/>
                  <p:pic>
                    <p:nvPicPr>
                      <p:cNvPr id="0" name="图片 332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276600" y="1557338"/>
                        <a:ext cx="2551113" cy="1079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7" name="Object 8"/>
          <p:cNvGraphicFramePr/>
          <p:nvPr/>
        </p:nvGraphicFramePr>
        <p:xfrm>
          <a:off x="5435600" y="2781300"/>
          <a:ext cx="196056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748665" imgH="177800" progId="Equation.DSMT4">
                  <p:embed/>
                </p:oleObj>
              </mc:Choice>
              <mc:Fallback>
                <p:oleObj r:id="rId6" imgW="748665" imgH="177800" progId="Equation.DSMT4">
                  <p:embed/>
                  <p:pic>
                    <p:nvPicPr>
                      <p:cNvPr id="0" name="图片 3324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435600" y="2781300"/>
                        <a:ext cx="1960563" cy="469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8" name="Rectangle 9"/>
          <p:cNvSpPr/>
          <p:nvPr/>
        </p:nvSpPr>
        <p:spPr>
          <a:xfrm>
            <a:off x="611188" y="1557338"/>
            <a:ext cx="1403350" cy="4572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b="0" dirty="0">
                <a:latin typeface="Arial" panose="020B0604020202020204" pitchFamily="34" charset="0"/>
                <a:ea typeface="黑体" panose="02010609060101010101" charset="-122"/>
              </a:rPr>
              <a:t>给定系统</a:t>
            </a:r>
          </a:p>
        </p:txBody>
      </p:sp>
      <p:sp>
        <p:nvSpPr>
          <p:cNvPr id="17419" name="Rectangle 10"/>
          <p:cNvSpPr/>
          <p:nvPr/>
        </p:nvSpPr>
        <p:spPr>
          <a:xfrm>
            <a:off x="611188" y="2820988"/>
            <a:ext cx="3536950" cy="4572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b="0" dirty="0">
                <a:latin typeface="Arial" panose="020B0604020202020204" pitchFamily="34" charset="0"/>
                <a:ea typeface="黑体" panose="02010609060101010101" charset="-122"/>
              </a:rPr>
              <a:t>在系统中引入反馈控制律</a:t>
            </a:r>
          </a:p>
        </p:txBody>
      </p:sp>
      <p:sp>
        <p:nvSpPr>
          <p:cNvPr id="17420" name="Text Box 11"/>
          <p:cNvSpPr txBox="1"/>
          <p:nvPr/>
        </p:nvSpPr>
        <p:spPr>
          <a:xfrm>
            <a:off x="5413375" y="6435725"/>
            <a:ext cx="1390650" cy="366713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1800" b="0" dirty="0">
                <a:latin typeface="Arial" panose="020B0604020202020204" pitchFamily="34" charset="0"/>
                <a:ea typeface="黑体" panose="02010609060101010101" charset="-122"/>
              </a:rPr>
              <a:t>井元伟 教授</a:t>
            </a: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日期占位符 4"/>
          <p:cNvSpPr txBox="1">
            <a:spLocks noGrp="1"/>
          </p:cNvSpPr>
          <p:nvPr>
            <p:ph type="dt" sz="half" idx="10"/>
          </p:nvPr>
        </p:nvSpPr>
        <p:spPr>
          <a:xfrm>
            <a:off x="2941638" y="5157788"/>
            <a:ext cx="3311525" cy="404812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BB962C8B-B14F-4D97-AF65-F5344CB8AC3E}" type="datetime2">
              <a:rPr lang="zh-CN" altLang="en-US" sz="2400" b="0" dirty="0">
                <a:solidFill>
                  <a:schemeClr val="bg1"/>
                </a:solidFill>
              </a:rPr>
              <a:t>2026年7月17日</a:t>
            </a:fld>
            <a:endParaRPr lang="zh-CN" altLang="en-US" sz="2400" b="0" dirty="0">
              <a:solidFill>
                <a:schemeClr val="bg1"/>
              </a:solidFill>
            </a:endParaRPr>
          </a:p>
        </p:txBody>
      </p:sp>
      <p:pic>
        <p:nvPicPr>
          <p:cNvPr id="19459" name="Picture 2" descr="底图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9460" name="Text Box 3"/>
          <p:cNvSpPr txBox="1"/>
          <p:nvPr/>
        </p:nvSpPr>
        <p:spPr>
          <a:xfrm>
            <a:off x="5651500" y="188913"/>
            <a:ext cx="3313113" cy="366712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r>
              <a:rPr lang="zh-CN" altLang="en-US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第 </a:t>
            </a:r>
            <a:r>
              <a:rPr lang="en-US" altLang="zh-CN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6 </a:t>
            </a:r>
            <a:r>
              <a:rPr lang="zh-CN" altLang="en-US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章  状态反馈和状态观测器</a:t>
            </a:r>
          </a:p>
        </p:txBody>
      </p:sp>
      <p:sp>
        <p:nvSpPr>
          <p:cNvPr id="19461" name="Text Box 4"/>
          <p:cNvSpPr txBox="1"/>
          <p:nvPr/>
        </p:nvSpPr>
        <p:spPr>
          <a:xfrm>
            <a:off x="250825" y="6440488"/>
            <a:ext cx="3097213" cy="366712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r>
              <a:rPr lang="en-US" altLang="zh-CN" sz="1800" b="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charset="-122"/>
              </a:rPr>
              <a:t>1. </a:t>
            </a:r>
            <a:r>
              <a:rPr lang="zh-CN" altLang="en-US" sz="1800" b="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charset="-122"/>
              </a:rPr>
              <a:t>状态反馈的定义及其性质</a:t>
            </a:r>
          </a:p>
        </p:txBody>
      </p:sp>
      <p:sp>
        <p:nvSpPr>
          <p:cNvPr id="19462" name="Rectangle 5"/>
          <p:cNvSpPr>
            <a:spLocks noGrp="1"/>
          </p:cNvSpPr>
          <p:nvPr>
            <p:ph type="body" sz="half" idx="1"/>
          </p:nvPr>
        </p:nvSpPr>
        <p:spPr>
          <a:xfrm>
            <a:off x="3348038" y="765175"/>
            <a:ext cx="4906962" cy="604838"/>
          </a:xfrm>
          <a:ln/>
        </p:spPr>
        <p:txBody>
          <a:bodyPr vert="horz" wrap="square" lIns="91440" tIns="45720" rIns="91440" bIns="45720" anchor="t" anchorCtr="0"/>
          <a:lstStyle/>
          <a:p>
            <a:pPr eaLnBrk="1" hangingPunct="1"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A50021"/>
                </a:solidFill>
                <a:ea typeface="黑体" panose="02010609060101010101" charset="-122"/>
              </a:rPr>
              <a:t>6.1 </a:t>
            </a:r>
            <a:r>
              <a:rPr lang="zh-CN" altLang="en-US" sz="2800" dirty="0">
                <a:solidFill>
                  <a:srgbClr val="A50021"/>
                </a:solidFill>
                <a:ea typeface="黑体" panose="02010609060101010101" charset="-122"/>
              </a:rPr>
              <a:t>状态反馈的定义及其性质</a:t>
            </a:r>
          </a:p>
        </p:txBody>
      </p:sp>
      <p:sp>
        <p:nvSpPr>
          <p:cNvPr id="19463" name="Rectangle 6"/>
          <p:cNvSpPr/>
          <p:nvPr/>
        </p:nvSpPr>
        <p:spPr>
          <a:xfrm>
            <a:off x="4479925" y="3017838"/>
            <a:ext cx="184150" cy="519112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lstStyle/>
          <a:p>
            <a:pPr algn="ctr"/>
            <a:endParaRPr lang="zh-CN" altLang="zh-CN" sz="2800" b="0" dirty="0">
              <a:latin typeface="Arial" panose="020B0604020202020204" pitchFamily="34" charset="0"/>
              <a:ea typeface="黑体" panose="02010609060101010101" charset="-122"/>
            </a:endParaRPr>
          </a:p>
        </p:txBody>
      </p:sp>
      <p:graphicFrame>
        <p:nvGraphicFramePr>
          <p:cNvPr id="19464" name="Object 7"/>
          <p:cNvGraphicFramePr/>
          <p:nvPr/>
        </p:nvGraphicFramePr>
        <p:xfrm>
          <a:off x="3276600" y="1557338"/>
          <a:ext cx="2551113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015365" imgH="431800" progId="Equation.DSMT4">
                  <p:embed/>
                </p:oleObj>
              </mc:Choice>
              <mc:Fallback>
                <p:oleObj r:id="rId4" imgW="1015365" imgH="431800" progId="Equation.DSMT4">
                  <p:embed/>
                  <p:pic>
                    <p:nvPicPr>
                      <p:cNvPr id="0" name="图片 3328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276600" y="1557338"/>
                        <a:ext cx="2551113" cy="1079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5" name="Object 8"/>
          <p:cNvGraphicFramePr/>
          <p:nvPr/>
        </p:nvGraphicFramePr>
        <p:xfrm>
          <a:off x="5435600" y="2781300"/>
          <a:ext cx="196056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748665" imgH="177800" progId="Equation.DSMT4">
                  <p:embed/>
                </p:oleObj>
              </mc:Choice>
              <mc:Fallback>
                <p:oleObj r:id="rId6" imgW="748665" imgH="177800" progId="Equation.DSMT4">
                  <p:embed/>
                  <p:pic>
                    <p:nvPicPr>
                      <p:cNvPr id="0" name="图片 3329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435600" y="2781300"/>
                        <a:ext cx="1960563" cy="469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6" name="Rectangle 9"/>
          <p:cNvSpPr/>
          <p:nvPr/>
        </p:nvSpPr>
        <p:spPr>
          <a:xfrm>
            <a:off x="611188" y="3586163"/>
            <a:ext cx="1708150" cy="457200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lstStyle/>
          <a:p>
            <a:pPr eaLnBrk="1" hangingPunct="1"/>
            <a:r>
              <a:rPr lang="zh-CN" altLang="en-US" sz="2400" b="0" dirty="0">
                <a:latin typeface="Arial" panose="020B0604020202020204" pitchFamily="34" charset="0"/>
                <a:ea typeface="黑体" panose="02010609060101010101" charset="-122"/>
              </a:rPr>
              <a:t>得闭环系统</a:t>
            </a:r>
          </a:p>
        </p:txBody>
      </p:sp>
      <p:sp>
        <p:nvSpPr>
          <p:cNvPr id="19467" name="Rectangle 10"/>
          <p:cNvSpPr/>
          <p:nvPr/>
        </p:nvSpPr>
        <p:spPr>
          <a:xfrm>
            <a:off x="611188" y="1557338"/>
            <a:ext cx="1403350" cy="4572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b="0" dirty="0">
                <a:latin typeface="Arial" panose="020B0604020202020204" pitchFamily="34" charset="0"/>
                <a:ea typeface="黑体" panose="02010609060101010101" charset="-122"/>
              </a:rPr>
              <a:t>给定系统</a:t>
            </a:r>
          </a:p>
        </p:txBody>
      </p:sp>
      <p:sp>
        <p:nvSpPr>
          <p:cNvPr id="19468" name="Rectangle 11"/>
          <p:cNvSpPr/>
          <p:nvPr/>
        </p:nvSpPr>
        <p:spPr>
          <a:xfrm>
            <a:off x="611188" y="2820988"/>
            <a:ext cx="3536950" cy="4572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b="0" dirty="0">
                <a:latin typeface="Arial" panose="020B0604020202020204" pitchFamily="34" charset="0"/>
                <a:ea typeface="黑体" panose="02010609060101010101" charset="-122"/>
              </a:rPr>
              <a:t>在系统中引入反馈控制律</a:t>
            </a:r>
          </a:p>
        </p:txBody>
      </p:sp>
      <p:graphicFrame>
        <p:nvGraphicFramePr>
          <p:cNvPr id="19469" name="Object 12"/>
          <p:cNvGraphicFramePr>
            <a:graphicFrameLocks noGrp="1"/>
          </p:cNvGraphicFramePr>
          <p:nvPr>
            <p:ph sz="half" idx="2"/>
          </p:nvPr>
        </p:nvGraphicFramePr>
        <p:xfrm>
          <a:off x="3300413" y="3586163"/>
          <a:ext cx="4151312" cy="1116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701800" imgH="457200" progId="Equation.DSMT4">
                  <p:embed/>
                </p:oleObj>
              </mc:Choice>
              <mc:Fallback>
                <p:oleObj r:id="rId8" imgW="1701800" imgH="457200" progId="Equation.DSMT4">
                  <p:embed/>
                  <p:pic>
                    <p:nvPicPr>
                      <p:cNvPr id="0" name="图片 3332"/>
                      <p:cNvPicPr/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>
                      <a:xfrm>
                        <a:off x="3300413" y="3586163"/>
                        <a:ext cx="4151312" cy="1116012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70" name="Object 13"/>
          <p:cNvGraphicFramePr/>
          <p:nvPr/>
        </p:nvGraphicFramePr>
        <p:xfrm>
          <a:off x="1187450" y="5000625"/>
          <a:ext cx="852488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393065" imgH="177800" progId="Equation.DSMT4">
                  <p:embed/>
                </p:oleObj>
              </mc:Choice>
              <mc:Fallback>
                <p:oleObj r:id="rId10" imgW="393065" imgH="177800" progId="Equation.DSMT4">
                  <p:embed/>
                  <p:pic>
                    <p:nvPicPr>
                      <p:cNvPr id="0" name="图片 3333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187450" y="5000625"/>
                        <a:ext cx="852488" cy="3952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71" name="Object 14"/>
          <p:cNvGraphicFramePr/>
          <p:nvPr/>
        </p:nvGraphicFramePr>
        <p:xfrm>
          <a:off x="3276600" y="4913313"/>
          <a:ext cx="4151313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1663700" imgH="457200" progId="Equation.DSMT4">
                  <p:embed/>
                </p:oleObj>
              </mc:Choice>
              <mc:Fallback>
                <p:oleObj r:id="rId12" imgW="1663700" imgH="457200" progId="Equation.DSMT4">
                  <p:embed/>
                  <p:pic>
                    <p:nvPicPr>
                      <p:cNvPr id="0" name="图片 3331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276600" y="4913313"/>
                        <a:ext cx="4151313" cy="1079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72" name="Rectangle 15"/>
          <p:cNvSpPr/>
          <p:nvPr/>
        </p:nvSpPr>
        <p:spPr>
          <a:xfrm>
            <a:off x="611188" y="4956175"/>
            <a:ext cx="2108200" cy="4572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hlink"/>
              </a:buClr>
              <a:buSzPct val="75000"/>
              <a:buFont typeface="Monotype Sorts" charset="2"/>
            </a:pPr>
            <a:r>
              <a:rPr lang="zh-CN" altLang="en-US" sz="2400" b="0" dirty="0">
                <a:latin typeface="Arial" panose="020B0604020202020204" pitchFamily="34" charset="0"/>
                <a:ea typeface="黑体" panose="02010609060101010101" charset="-122"/>
              </a:rPr>
              <a:t>若            ，则</a:t>
            </a:r>
          </a:p>
        </p:txBody>
      </p:sp>
      <p:sp>
        <p:nvSpPr>
          <p:cNvPr id="19473" name="Text Box 20"/>
          <p:cNvSpPr txBox="1"/>
          <p:nvPr/>
        </p:nvSpPr>
        <p:spPr>
          <a:xfrm>
            <a:off x="5413375" y="6435725"/>
            <a:ext cx="1390650" cy="366713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1800" b="0" dirty="0">
                <a:latin typeface="Arial" panose="020B0604020202020204" pitchFamily="34" charset="0"/>
                <a:ea typeface="黑体" panose="02010609060101010101" charset="-122"/>
              </a:rPr>
              <a:t>井元伟 教授</a:t>
            </a: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日期占位符 2"/>
          <p:cNvSpPr txBox="1">
            <a:spLocks noGrp="1"/>
          </p:cNvSpPr>
          <p:nvPr>
            <p:ph type="dt" sz="half" idx="10"/>
          </p:nvPr>
        </p:nvSpPr>
        <p:spPr>
          <a:xfrm>
            <a:off x="2941638" y="5157788"/>
            <a:ext cx="3311525" cy="404812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BB962C8B-B14F-4D97-AF65-F5344CB8AC3E}" type="datetime2">
              <a:rPr lang="zh-CN" altLang="en-US" sz="2400" b="0" dirty="0">
                <a:solidFill>
                  <a:schemeClr val="bg1"/>
                </a:solidFill>
              </a:rPr>
              <a:t>2026年7月17日</a:t>
            </a:fld>
            <a:endParaRPr lang="zh-CN" altLang="en-US" sz="2400" b="0" dirty="0">
              <a:solidFill>
                <a:schemeClr val="bg1"/>
              </a:solidFill>
            </a:endParaRPr>
          </a:p>
        </p:txBody>
      </p:sp>
      <p:pic>
        <p:nvPicPr>
          <p:cNvPr id="23555" name="Picture 2" descr="底图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3556" name="Rectangle 3"/>
          <p:cNvSpPr/>
          <p:nvPr/>
        </p:nvSpPr>
        <p:spPr>
          <a:xfrm>
            <a:off x="4479925" y="3017838"/>
            <a:ext cx="184150" cy="519112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lstStyle/>
          <a:p>
            <a:pPr algn="ctr"/>
            <a:endParaRPr lang="zh-CN" altLang="zh-CN" sz="2800" b="0" dirty="0">
              <a:latin typeface="Arial" panose="020B0604020202020204" pitchFamily="34" charset="0"/>
              <a:ea typeface="黑体" panose="02010609060101010101" charset="-122"/>
            </a:endParaRPr>
          </a:p>
        </p:txBody>
      </p:sp>
      <p:sp>
        <p:nvSpPr>
          <p:cNvPr id="23557" name="Rectangle 4"/>
          <p:cNvSpPr/>
          <p:nvPr/>
        </p:nvSpPr>
        <p:spPr>
          <a:xfrm>
            <a:off x="4479925" y="3017838"/>
            <a:ext cx="184150" cy="519112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lstStyle/>
          <a:p>
            <a:pPr algn="ctr"/>
            <a:endParaRPr lang="zh-CN" altLang="zh-CN" sz="2800" b="0" dirty="0">
              <a:latin typeface="Arial" panose="020B0604020202020204" pitchFamily="34" charset="0"/>
              <a:ea typeface="黑体" panose="02010609060101010101" charset="-122"/>
            </a:endParaRPr>
          </a:p>
        </p:txBody>
      </p:sp>
      <p:sp>
        <p:nvSpPr>
          <p:cNvPr id="23558" name="Rectangle 5"/>
          <p:cNvSpPr/>
          <p:nvPr/>
        </p:nvSpPr>
        <p:spPr>
          <a:xfrm>
            <a:off x="4479925" y="3055938"/>
            <a:ext cx="184150" cy="519112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lstStyle/>
          <a:p>
            <a:pPr algn="ctr"/>
            <a:endParaRPr lang="zh-CN" altLang="zh-CN" sz="2800" b="0" dirty="0">
              <a:latin typeface="Arial" panose="020B0604020202020204" pitchFamily="34" charset="0"/>
              <a:ea typeface="黑体" panose="02010609060101010101" charset="-122"/>
            </a:endParaRPr>
          </a:p>
        </p:txBody>
      </p:sp>
      <p:graphicFrame>
        <p:nvGraphicFramePr>
          <p:cNvPr id="23559" name="Object 6"/>
          <p:cNvGraphicFramePr>
            <a:graphicFrameLocks noChangeAspect="1"/>
          </p:cNvGraphicFramePr>
          <p:nvPr/>
        </p:nvGraphicFramePr>
        <p:xfrm>
          <a:off x="1763713" y="1125538"/>
          <a:ext cx="7056437" cy="230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4075430" imgH="1343660" progId="Visio.Drawing.11">
                  <p:embed/>
                </p:oleObj>
              </mc:Choice>
              <mc:Fallback>
                <p:oleObj r:id="rId4" imgW="4075430" imgH="1343660" progId="Visio.Drawing.11">
                  <p:embed/>
                  <p:pic>
                    <p:nvPicPr>
                      <p:cNvPr id="0" name="图片 3342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763713" y="1125538"/>
                        <a:ext cx="7056437" cy="2305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0" name="Text Box 7"/>
          <p:cNvSpPr txBox="1"/>
          <p:nvPr/>
        </p:nvSpPr>
        <p:spPr>
          <a:xfrm>
            <a:off x="5453063" y="3481388"/>
            <a:ext cx="927100" cy="379412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lstStyle/>
          <a:p>
            <a:endParaRPr lang="zh-CN" altLang="zh-CN" sz="2400" b="0" dirty="0">
              <a:latin typeface="Arial" panose="020B0604020202020204" pitchFamily="34" charset="0"/>
              <a:ea typeface="黑体" panose="02010609060101010101" charset="-122"/>
            </a:endParaRPr>
          </a:p>
        </p:txBody>
      </p:sp>
      <p:sp>
        <p:nvSpPr>
          <p:cNvPr id="23561" name="Rectangle 8"/>
          <p:cNvSpPr/>
          <p:nvPr/>
        </p:nvSpPr>
        <p:spPr>
          <a:xfrm>
            <a:off x="4479925" y="2933700"/>
            <a:ext cx="184150" cy="519113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lstStyle/>
          <a:p>
            <a:pPr algn="ctr"/>
            <a:endParaRPr lang="zh-CN" altLang="zh-CN" sz="2800" b="0" dirty="0">
              <a:latin typeface="Arial" panose="020B0604020202020204" pitchFamily="34" charset="0"/>
              <a:ea typeface="黑体" panose="02010609060101010101" charset="-122"/>
            </a:endParaRPr>
          </a:p>
        </p:txBody>
      </p:sp>
      <p:graphicFrame>
        <p:nvGraphicFramePr>
          <p:cNvPr id="23562" name="Object 9"/>
          <p:cNvGraphicFramePr/>
          <p:nvPr/>
        </p:nvGraphicFramePr>
        <p:xfrm>
          <a:off x="684213" y="1989138"/>
          <a:ext cx="561975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241300" imgH="228600" progId="Equation.DSMT4">
                  <p:embed/>
                </p:oleObj>
              </mc:Choice>
              <mc:Fallback>
                <p:oleObj r:id="rId6" imgW="241300" imgH="228600" progId="Equation.DSMT4">
                  <p:embed/>
                  <p:pic>
                    <p:nvPicPr>
                      <p:cNvPr id="0" name="图片 3340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84213" y="1989138"/>
                        <a:ext cx="561975" cy="539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3" name="Rectangle 10"/>
          <p:cNvSpPr/>
          <p:nvPr/>
        </p:nvSpPr>
        <p:spPr>
          <a:xfrm>
            <a:off x="4479925" y="2941638"/>
            <a:ext cx="184150" cy="519112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lstStyle/>
          <a:p>
            <a:pPr algn="ctr"/>
            <a:endParaRPr lang="zh-CN" altLang="zh-CN" sz="2800" b="0" dirty="0">
              <a:latin typeface="Arial" panose="020B0604020202020204" pitchFamily="34" charset="0"/>
              <a:ea typeface="黑体" panose="02010609060101010101" charset="-122"/>
            </a:endParaRPr>
          </a:p>
        </p:txBody>
      </p:sp>
      <p:sp>
        <p:nvSpPr>
          <p:cNvPr id="23564" name="Text Box 11"/>
          <p:cNvSpPr txBox="1"/>
          <p:nvPr/>
        </p:nvSpPr>
        <p:spPr>
          <a:xfrm>
            <a:off x="5651500" y="188913"/>
            <a:ext cx="3313113" cy="366712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r>
              <a:rPr lang="zh-CN" altLang="en-US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第 </a:t>
            </a:r>
            <a:r>
              <a:rPr lang="en-US" altLang="zh-CN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6 </a:t>
            </a:r>
            <a:r>
              <a:rPr lang="zh-CN" altLang="en-US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章  状态反馈和状态观测器</a:t>
            </a:r>
          </a:p>
        </p:txBody>
      </p:sp>
      <p:sp>
        <p:nvSpPr>
          <p:cNvPr id="23565" name="Text Box 12"/>
          <p:cNvSpPr txBox="1"/>
          <p:nvPr/>
        </p:nvSpPr>
        <p:spPr>
          <a:xfrm>
            <a:off x="250825" y="6440488"/>
            <a:ext cx="3097213" cy="366712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r>
              <a:rPr lang="en-US" altLang="zh-CN" sz="1800" b="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charset="-122"/>
              </a:rPr>
              <a:t>1. </a:t>
            </a:r>
            <a:r>
              <a:rPr lang="zh-CN" altLang="en-US" sz="1800" b="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charset="-122"/>
              </a:rPr>
              <a:t>状态反馈的定义及其性质</a:t>
            </a:r>
          </a:p>
        </p:txBody>
      </p:sp>
      <p:sp>
        <p:nvSpPr>
          <p:cNvPr id="23566" name="Rectangle 13"/>
          <p:cNvSpPr/>
          <p:nvPr/>
        </p:nvSpPr>
        <p:spPr>
          <a:xfrm>
            <a:off x="684213" y="2417763"/>
            <a:ext cx="576262" cy="2647950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lstStyle/>
          <a:p>
            <a:pPr eaLnBrk="1" hangingPunct="1"/>
            <a:r>
              <a:rPr lang="zh-CN" altLang="en-US" sz="2400" b="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charset="-122"/>
              </a:rPr>
              <a:t>的结构如图 所示</a:t>
            </a:r>
          </a:p>
        </p:txBody>
      </p:sp>
      <p:sp>
        <p:nvSpPr>
          <p:cNvPr id="23567" name="Oval 14"/>
          <p:cNvSpPr/>
          <p:nvPr/>
        </p:nvSpPr>
        <p:spPr>
          <a:xfrm>
            <a:off x="1692275" y="2565400"/>
            <a:ext cx="1366838" cy="6477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23568" name="Object 15"/>
          <p:cNvGraphicFramePr>
            <a:graphicFrameLocks noGrp="1"/>
          </p:cNvGraphicFramePr>
          <p:nvPr>
            <p:ph/>
          </p:nvPr>
        </p:nvGraphicFramePr>
        <p:xfrm>
          <a:off x="1908175" y="2682875"/>
          <a:ext cx="863600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317500" imgH="152400" progId="Equation.DSMT4">
                  <p:embed/>
                </p:oleObj>
              </mc:Choice>
              <mc:Fallback>
                <p:oleObj r:id="rId8" imgW="317500" imgH="152400" progId="Equation.DSMT4">
                  <p:embed/>
                  <p:pic>
                    <p:nvPicPr>
                      <p:cNvPr id="0" name="图片 3341"/>
                      <p:cNvPicPr/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>
                      <a:xfrm>
                        <a:off x="1908175" y="2682875"/>
                        <a:ext cx="863600" cy="414338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9" name="Rectangle 16"/>
          <p:cNvSpPr/>
          <p:nvPr/>
        </p:nvSpPr>
        <p:spPr>
          <a:xfrm>
            <a:off x="3563938" y="981075"/>
            <a:ext cx="4824412" cy="1871663"/>
          </a:xfrm>
          <a:prstGeom prst="rect">
            <a:avLst/>
          </a:prstGeom>
          <a:solidFill>
            <a:schemeClr val="accent1">
              <a:alpha val="0"/>
            </a:schemeClr>
          </a:solidFill>
          <a:ln w="12700" cap="flat" cmpd="sng">
            <a:solidFill>
              <a:srgbClr val="0000FF"/>
            </a:solidFill>
            <a:prstDash val="dash"/>
            <a:miter/>
            <a:headEnd type="none" w="sm" len="sm"/>
            <a:tailEnd type="none" w="sm" len="sm"/>
          </a:ln>
        </p:spPr>
        <p:txBody>
          <a:bodyPr wrap="none" anchor="ctr" anchorCtr="0"/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3570" name="Text Box 17"/>
          <p:cNvSpPr txBox="1"/>
          <p:nvPr/>
        </p:nvSpPr>
        <p:spPr>
          <a:xfrm>
            <a:off x="5413375" y="6435725"/>
            <a:ext cx="1390650" cy="366713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1800" b="0" dirty="0">
                <a:latin typeface="Arial" panose="020B0604020202020204" pitchFamily="34" charset="0"/>
                <a:ea typeface="黑体" panose="02010609060101010101" charset="-122"/>
              </a:rPr>
              <a:t>井元伟 教授</a:t>
            </a: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日期占位符 2"/>
          <p:cNvSpPr txBox="1">
            <a:spLocks noGrp="1"/>
          </p:cNvSpPr>
          <p:nvPr>
            <p:ph type="dt" sz="half" idx="10"/>
          </p:nvPr>
        </p:nvSpPr>
        <p:spPr>
          <a:xfrm>
            <a:off x="2941638" y="5157788"/>
            <a:ext cx="3311525" cy="404812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BB962C8B-B14F-4D97-AF65-F5344CB8AC3E}" type="datetime2">
              <a:rPr lang="zh-CN" altLang="en-US" sz="2400" b="0" dirty="0">
                <a:solidFill>
                  <a:schemeClr val="bg1"/>
                </a:solidFill>
              </a:rPr>
              <a:t>2026年7月17日</a:t>
            </a:fld>
            <a:endParaRPr lang="zh-CN" altLang="en-US" sz="2400" b="0" dirty="0">
              <a:solidFill>
                <a:schemeClr val="bg1"/>
              </a:solidFill>
            </a:endParaRPr>
          </a:p>
        </p:txBody>
      </p:sp>
      <p:pic>
        <p:nvPicPr>
          <p:cNvPr id="27651" name="Picture 2" descr="底图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7652" name="Rectangle 3"/>
          <p:cNvSpPr/>
          <p:nvPr/>
        </p:nvSpPr>
        <p:spPr>
          <a:xfrm>
            <a:off x="4479925" y="3017838"/>
            <a:ext cx="184150" cy="519112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lstStyle/>
          <a:p>
            <a:pPr algn="ctr"/>
            <a:endParaRPr lang="zh-CN" altLang="zh-CN" sz="2800" b="0" dirty="0">
              <a:latin typeface="Arial" panose="020B0604020202020204" pitchFamily="34" charset="0"/>
              <a:ea typeface="黑体" panose="02010609060101010101" charset="-122"/>
            </a:endParaRPr>
          </a:p>
        </p:txBody>
      </p:sp>
      <p:sp>
        <p:nvSpPr>
          <p:cNvPr id="27653" name="Rectangle 4"/>
          <p:cNvSpPr/>
          <p:nvPr/>
        </p:nvSpPr>
        <p:spPr>
          <a:xfrm>
            <a:off x="4479925" y="3017838"/>
            <a:ext cx="184150" cy="519112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lstStyle/>
          <a:p>
            <a:pPr algn="ctr"/>
            <a:endParaRPr lang="zh-CN" altLang="zh-CN" sz="2800" b="0" dirty="0">
              <a:latin typeface="Arial" panose="020B0604020202020204" pitchFamily="34" charset="0"/>
              <a:ea typeface="黑体" panose="02010609060101010101" charset="-122"/>
            </a:endParaRPr>
          </a:p>
        </p:txBody>
      </p:sp>
      <p:sp>
        <p:nvSpPr>
          <p:cNvPr id="27654" name="Rectangle 5"/>
          <p:cNvSpPr/>
          <p:nvPr/>
        </p:nvSpPr>
        <p:spPr>
          <a:xfrm>
            <a:off x="4479925" y="3055938"/>
            <a:ext cx="184150" cy="519112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lstStyle/>
          <a:p>
            <a:pPr algn="ctr"/>
            <a:endParaRPr lang="zh-CN" altLang="zh-CN" sz="2800" b="0" dirty="0">
              <a:latin typeface="Arial" panose="020B0604020202020204" pitchFamily="34" charset="0"/>
              <a:ea typeface="黑体" panose="02010609060101010101" charset="-122"/>
            </a:endParaRPr>
          </a:p>
        </p:txBody>
      </p:sp>
      <p:graphicFrame>
        <p:nvGraphicFramePr>
          <p:cNvPr id="27655" name="Object 6"/>
          <p:cNvGraphicFramePr>
            <a:graphicFrameLocks noChangeAspect="1"/>
          </p:cNvGraphicFramePr>
          <p:nvPr/>
        </p:nvGraphicFramePr>
        <p:xfrm>
          <a:off x="1763713" y="1125538"/>
          <a:ext cx="7056437" cy="230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4075430" imgH="1343660" progId="Visio.Drawing.11">
                  <p:embed/>
                </p:oleObj>
              </mc:Choice>
              <mc:Fallback>
                <p:oleObj r:id="rId4" imgW="4075430" imgH="1343660" progId="Visio.Drawing.11">
                  <p:embed/>
                  <p:pic>
                    <p:nvPicPr>
                      <p:cNvPr id="0" name="图片 3353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763713" y="1125538"/>
                        <a:ext cx="7056437" cy="2305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6" name="Text Box 7"/>
          <p:cNvSpPr txBox="1"/>
          <p:nvPr/>
        </p:nvSpPr>
        <p:spPr>
          <a:xfrm>
            <a:off x="5453063" y="3481388"/>
            <a:ext cx="927100" cy="379412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lstStyle/>
          <a:p>
            <a:endParaRPr lang="zh-CN" altLang="zh-CN" sz="2400" b="0" dirty="0">
              <a:latin typeface="Arial" panose="020B0604020202020204" pitchFamily="34" charset="0"/>
              <a:ea typeface="黑体" panose="02010609060101010101" charset="-122"/>
            </a:endParaRPr>
          </a:p>
        </p:txBody>
      </p:sp>
      <p:sp>
        <p:nvSpPr>
          <p:cNvPr id="27657" name="Rectangle 8"/>
          <p:cNvSpPr/>
          <p:nvPr/>
        </p:nvSpPr>
        <p:spPr>
          <a:xfrm>
            <a:off x="4479925" y="2933700"/>
            <a:ext cx="184150" cy="519113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lstStyle/>
          <a:p>
            <a:pPr algn="ctr"/>
            <a:endParaRPr lang="zh-CN" altLang="zh-CN" sz="2800" b="0" dirty="0">
              <a:latin typeface="Arial" panose="020B0604020202020204" pitchFamily="34" charset="0"/>
              <a:ea typeface="黑体" panose="02010609060101010101" charset="-122"/>
            </a:endParaRPr>
          </a:p>
        </p:txBody>
      </p:sp>
      <p:graphicFrame>
        <p:nvGraphicFramePr>
          <p:cNvPr id="27658" name="Object 9"/>
          <p:cNvGraphicFramePr/>
          <p:nvPr/>
        </p:nvGraphicFramePr>
        <p:xfrm>
          <a:off x="684213" y="1989138"/>
          <a:ext cx="561975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241300" imgH="228600" progId="Equation.DSMT4">
                  <p:embed/>
                </p:oleObj>
              </mc:Choice>
              <mc:Fallback>
                <p:oleObj r:id="rId6" imgW="241300" imgH="228600" progId="Equation.DSMT4">
                  <p:embed/>
                  <p:pic>
                    <p:nvPicPr>
                      <p:cNvPr id="0" name="图片 3352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84213" y="1989138"/>
                        <a:ext cx="561975" cy="539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9" name="Rectangle 10"/>
          <p:cNvSpPr/>
          <p:nvPr/>
        </p:nvSpPr>
        <p:spPr>
          <a:xfrm>
            <a:off x="4479925" y="2941638"/>
            <a:ext cx="184150" cy="519112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lstStyle/>
          <a:p>
            <a:pPr algn="ctr"/>
            <a:endParaRPr lang="zh-CN" altLang="zh-CN" sz="2800" b="0" dirty="0">
              <a:latin typeface="Arial" panose="020B0604020202020204" pitchFamily="34" charset="0"/>
              <a:ea typeface="黑体" panose="02010609060101010101" charset="-122"/>
            </a:endParaRPr>
          </a:p>
        </p:txBody>
      </p:sp>
      <p:sp>
        <p:nvSpPr>
          <p:cNvPr id="27660" name="Text Box 11"/>
          <p:cNvSpPr txBox="1"/>
          <p:nvPr/>
        </p:nvSpPr>
        <p:spPr>
          <a:xfrm>
            <a:off x="5651500" y="188913"/>
            <a:ext cx="3313113" cy="366712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r>
              <a:rPr lang="zh-CN" altLang="en-US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第 </a:t>
            </a:r>
            <a:r>
              <a:rPr lang="en-US" altLang="zh-CN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6 </a:t>
            </a:r>
            <a:r>
              <a:rPr lang="zh-CN" altLang="en-US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章  状态反馈和状态观测器</a:t>
            </a:r>
          </a:p>
        </p:txBody>
      </p:sp>
      <p:sp>
        <p:nvSpPr>
          <p:cNvPr id="27661" name="Text Box 12"/>
          <p:cNvSpPr txBox="1"/>
          <p:nvPr/>
        </p:nvSpPr>
        <p:spPr>
          <a:xfrm>
            <a:off x="250825" y="6440488"/>
            <a:ext cx="3097213" cy="366712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r>
              <a:rPr lang="en-US" altLang="zh-CN" sz="1800" b="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charset="-122"/>
              </a:rPr>
              <a:t>1. </a:t>
            </a:r>
            <a:r>
              <a:rPr lang="zh-CN" altLang="en-US" sz="1800" b="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charset="-122"/>
              </a:rPr>
              <a:t>状态反馈的定义及其性质</a:t>
            </a:r>
          </a:p>
        </p:txBody>
      </p:sp>
      <p:sp>
        <p:nvSpPr>
          <p:cNvPr id="27662" name="Rectangle 13"/>
          <p:cNvSpPr/>
          <p:nvPr/>
        </p:nvSpPr>
        <p:spPr>
          <a:xfrm>
            <a:off x="684213" y="2417763"/>
            <a:ext cx="576262" cy="2647950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lstStyle/>
          <a:p>
            <a:pPr eaLnBrk="1" hangingPunct="1"/>
            <a:r>
              <a:rPr lang="zh-CN" altLang="en-US" sz="2400" b="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charset="-122"/>
              </a:rPr>
              <a:t>的结构如图 所示</a:t>
            </a:r>
          </a:p>
        </p:txBody>
      </p:sp>
      <p:graphicFrame>
        <p:nvGraphicFramePr>
          <p:cNvPr id="27663" name="Object 14"/>
          <p:cNvGraphicFramePr>
            <a:graphicFrameLocks noChangeAspect="1"/>
          </p:cNvGraphicFramePr>
          <p:nvPr/>
        </p:nvGraphicFramePr>
        <p:xfrm>
          <a:off x="1835150" y="3789363"/>
          <a:ext cx="6985000" cy="2090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4819015" imgH="1184275" progId="Visio.Drawing.6">
                  <p:embed/>
                </p:oleObj>
              </mc:Choice>
              <mc:Fallback>
                <p:oleObj r:id="rId8" imgW="4819015" imgH="1184275" progId="Visio.Drawing.6">
                  <p:embed/>
                  <p:pic>
                    <p:nvPicPr>
                      <p:cNvPr id="0" name="图片 3350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835150" y="3789363"/>
                        <a:ext cx="6985000" cy="20907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64" name="Oval 15"/>
          <p:cNvSpPr/>
          <p:nvPr/>
        </p:nvSpPr>
        <p:spPr>
          <a:xfrm>
            <a:off x="1677988" y="5099050"/>
            <a:ext cx="1223962" cy="576263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27665" name="Object 16"/>
          <p:cNvGraphicFramePr>
            <a:graphicFrameLocks noGrp="1"/>
          </p:cNvGraphicFramePr>
          <p:nvPr>
            <p:ph/>
          </p:nvPr>
        </p:nvGraphicFramePr>
        <p:xfrm>
          <a:off x="1835150" y="5157788"/>
          <a:ext cx="865188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304800" imgH="152400" progId="Equation.DSMT4">
                  <p:embed/>
                </p:oleObj>
              </mc:Choice>
              <mc:Fallback>
                <p:oleObj r:id="rId10" imgW="304800" imgH="152400" progId="Equation.DSMT4">
                  <p:embed/>
                  <p:pic>
                    <p:nvPicPr>
                      <p:cNvPr id="0" name="图片 3355"/>
                      <p:cNvPicPr/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>
                      <a:xfrm>
                        <a:off x="1835150" y="5157788"/>
                        <a:ext cx="865188" cy="433387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66" name="Rectangle 17"/>
          <p:cNvSpPr/>
          <p:nvPr/>
        </p:nvSpPr>
        <p:spPr>
          <a:xfrm>
            <a:off x="3635375" y="3860800"/>
            <a:ext cx="3457575" cy="1439863"/>
          </a:xfrm>
          <a:prstGeom prst="rect">
            <a:avLst/>
          </a:prstGeom>
          <a:solidFill>
            <a:schemeClr val="accent1">
              <a:alpha val="0"/>
            </a:schemeClr>
          </a:solidFill>
          <a:ln w="12700" cap="flat" cmpd="sng">
            <a:solidFill>
              <a:srgbClr val="0000FF"/>
            </a:solidFill>
            <a:prstDash val="dash"/>
            <a:miter/>
            <a:headEnd type="none" w="sm" len="sm"/>
            <a:tailEnd type="none" w="sm" len="sm"/>
          </a:ln>
        </p:spPr>
        <p:txBody>
          <a:bodyPr wrap="none" anchor="ctr" anchorCtr="0"/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7667" name="Rectangle 18"/>
          <p:cNvSpPr/>
          <p:nvPr/>
        </p:nvSpPr>
        <p:spPr>
          <a:xfrm>
            <a:off x="3175000" y="3644900"/>
            <a:ext cx="4248150" cy="2305050"/>
          </a:xfrm>
          <a:prstGeom prst="rect">
            <a:avLst/>
          </a:prstGeom>
          <a:solidFill>
            <a:schemeClr val="accent1">
              <a:alpha val="0"/>
            </a:schemeClr>
          </a:solidFill>
          <a:ln w="12700" cap="flat" cmpd="sng">
            <a:solidFill>
              <a:srgbClr val="800080"/>
            </a:solidFill>
            <a:prstDash val="dash"/>
            <a:miter/>
            <a:headEnd type="none" w="sm" len="sm"/>
            <a:tailEnd type="none" w="sm" len="sm"/>
          </a:ln>
        </p:spPr>
        <p:txBody>
          <a:bodyPr wrap="none" anchor="ctr" anchorCtr="0"/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7668" name="Text Box 19"/>
          <p:cNvSpPr txBox="1"/>
          <p:nvPr/>
        </p:nvSpPr>
        <p:spPr>
          <a:xfrm>
            <a:off x="5413375" y="6435725"/>
            <a:ext cx="1390650" cy="366713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1800" b="0" dirty="0">
                <a:latin typeface="Arial" panose="020B0604020202020204" pitchFamily="34" charset="0"/>
                <a:ea typeface="黑体" panose="02010609060101010101" charset="-122"/>
              </a:rPr>
              <a:t>井元伟 教授</a:t>
            </a: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日期占位符 2"/>
          <p:cNvSpPr txBox="1">
            <a:spLocks noGrp="1"/>
          </p:cNvSpPr>
          <p:nvPr>
            <p:ph type="dt" sz="half" idx="10"/>
          </p:nvPr>
        </p:nvSpPr>
        <p:spPr>
          <a:xfrm>
            <a:off x="2941638" y="5157788"/>
            <a:ext cx="3311525" cy="404812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BB962C8B-B14F-4D97-AF65-F5344CB8AC3E}" type="datetime2">
              <a:rPr lang="zh-CN" altLang="en-US" sz="2400" b="0" dirty="0">
                <a:solidFill>
                  <a:schemeClr val="bg1"/>
                </a:solidFill>
              </a:rPr>
              <a:t>2026年7月17日</a:t>
            </a:fld>
            <a:endParaRPr lang="zh-CN" altLang="en-US" sz="2400" b="0" dirty="0">
              <a:solidFill>
                <a:schemeClr val="bg1"/>
              </a:solidFill>
            </a:endParaRPr>
          </a:p>
        </p:txBody>
      </p:sp>
      <p:pic>
        <p:nvPicPr>
          <p:cNvPr id="34819" name="Picture 2" descr="底图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4820" name="Rectangle 3"/>
          <p:cNvSpPr/>
          <p:nvPr/>
        </p:nvSpPr>
        <p:spPr>
          <a:xfrm>
            <a:off x="4479925" y="3048000"/>
            <a:ext cx="184150" cy="457200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lstStyle/>
          <a:p>
            <a:pPr algn="ctr"/>
            <a:endParaRPr lang="zh-CN" altLang="zh-CN" sz="2400" b="0" dirty="0">
              <a:latin typeface="Arial" panose="020B0604020202020204" pitchFamily="34" charset="0"/>
              <a:ea typeface="黑体" panose="02010609060101010101" charset="-122"/>
            </a:endParaRPr>
          </a:p>
        </p:txBody>
      </p:sp>
      <p:sp>
        <p:nvSpPr>
          <p:cNvPr id="34821" name="Rectangle 4"/>
          <p:cNvSpPr/>
          <p:nvPr/>
        </p:nvSpPr>
        <p:spPr>
          <a:xfrm>
            <a:off x="4479925" y="3048000"/>
            <a:ext cx="184150" cy="457200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lstStyle/>
          <a:p>
            <a:pPr algn="ctr"/>
            <a:endParaRPr lang="zh-CN" altLang="zh-CN" sz="2400" b="0" dirty="0">
              <a:latin typeface="Arial" panose="020B0604020202020204" pitchFamily="34" charset="0"/>
              <a:ea typeface="黑体" panose="02010609060101010101" charset="-122"/>
            </a:endParaRPr>
          </a:p>
        </p:txBody>
      </p:sp>
      <p:graphicFrame>
        <p:nvGraphicFramePr>
          <p:cNvPr id="34822" name="Object 5"/>
          <p:cNvGraphicFramePr/>
          <p:nvPr/>
        </p:nvGraphicFramePr>
        <p:xfrm>
          <a:off x="3524250" y="1268413"/>
          <a:ext cx="852488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393065" imgH="177800" progId="Equation.DSMT4">
                  <p:embed/>
                </p:oleObj>
              </mc:Choice>
              <mc:Fallback>
                <p:oleObj r:id="rId4" imgW="393065" imgH="177800" progId="Equation.DSMT4">
                  <p:embed/>
                  <p:pic>
                    <p:nvPicPr>
                      <p:cNvPr id="0" name="图片 338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524250" y="1268413"/>
                        <a:ext cx="852488" cy="3952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3" name="Rectangle 6"/>
          <p:cNvSpPr/>
          <p:nvPr/>
        </p:nvSpPr>
        <p:spPr>
          <a:xfrm>
            <a:off x="4479925" y="2971800"/>
            <a:ext cx="184150" cy="457200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lstStyle/>
          <a:p>
            <a:pPr algn="ctr"/>
            <a:endParaRPr lang="zh-CN" altLang="zh-CN" sz="2400" b="0" dirty="0">
              <a:latin typeface="Arial" panose="020B0604020202020204" pitchFamily="34" charset="0"/>
              <a:ea typeface="黑体" panose="02010609060101010101" charset="-122"/>
            </a:endParaRPr>
          </a:p>
        </p:txBody>
      </p:sp>
      <p:graphicFrame>
        <p:nvGraphicFramePr>
          <p:cNvPr id="34824" name="Object 7"/>
          <p:cNvGraphicFramePr/>
          <p:nvPr/>
        </p:nvGraphicFramePr>
        <p:xfrm>
          <a:off x="2579688" y="1773238"/>
          <a:ext cx="3937000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663700" imgH="457200" progId="Equation.DSMT4">
                  <p:embed/>
                </p:oleObj>
              </mc:Choice>
              <mc:Fallback>
                <p:oleObj r:id="rId6" imgW="1663700" imgH="457200" progId="Equation.DSMT4">
                  <p:embed/>
                  <p:pic>
                    <p:nvPicPr>
                      <p:cNvPr id="0" name="图片 3379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579688" y="1773238"/>
                        <a:ext cx="3937000" cy="1079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5" name="Object 8"/>
          <p:cNvGraphicFramePr/>
          <p:nvPr/>
        </p:nvGraphicFramePr>
        <p:xfrm>
          <a:off x="1573213" y="2997200"/>
          <a:ext cx="911225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368300" imgH="165100" progId="Equation.DSMT4">
                  <p:embed/>
                </p:oleObj>
              </mc:Choice>
              <mc:Fallback>
                <p:oleObj r:id="rId8" imgW="368300" imgH="165100" progId="Equation.DSMT4">
                  <p:embed/>
                  <p:pic>
                    <p:nvPicPr>
                      <p:cNvPr id="0" name="图片 3377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73213" y="2997200"/>
                        <a:ext cx="911225" cy="396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6" name="Object 9"/>
          <p:cNvGraphicFramePr/>
          <p:nvPr/>
        </p:nvGraphicFramePr>
        <p:xfrm>
          <a:off x="1547813" y="3716338"/>
          <a:ext cx="1187450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545465" imgH="177800" progId="Equation.DSMT4">
                  <p:embed/>
                </p:oleObj>
              </mc:Choice>
              <mc:Fallback>
                <p:oleObj r:id="rId10" imgW="545465" imgH="177800" progId="Equation.DSMT4">
                  <p:embed/>
                  <p:pic>
                    <p:nvPicPr>
                      <p:cNvPr id="0" name="图片 3380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47813" y="3716338"/>
                        <a:ext cx="1187450" cy="3952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7" name="Object 10"/>
          <p:cNvGraphicFramePr/>
          <p:nvPr/>
        </p:nvGraphicFramePr>
        <p:xfrm>
          <a:off x="3406775" y="3716338"/>
          <a:ext cx="1274763" cy="446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571500" imgH="203200" progId="Equation.DSMT4">
                  <p:embed/>
                </p:oleObj>
              </mc:Choice>
              <mc:Fallback>
                <p:oleObj r:id="rId12" imgW="571500" imgH="203200" progId="Equation.DSMT4">
                  <p:embed/>
                  <p:pic>
                    <p:nvPicPr>
                      <p:cNvPr id="0" name="图片 3378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406775" y="3716338"/>
                        <a:ext cx="1274763" cy="4460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8" name="Rectangle 11"/>
          <p:cNvSpPr/>
          <p:nvPr/>
        </p:nvSpPr>
        <p:spPr>
          <a:xfrm>
            <a:off x="684213" y="2954338"/>
            <a:ext cx="641350" cy="457200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lstStyle/>
          <a:p>
            <a:pPr eaLnBrk="1" hangingPunct="1"/>
            <a:r>
              <a:rPr lang="en-US" altLang="zh-CN" sz="2400" b="0" dirty="0">
                <a:latin typeface="Arial" panose="020B0604020202020204" pitchFamily="34" charset="0"/>
                <a:ea typeface="黑体" panose="02010609060101010101" charset="-122"/>
              </a:rPr>
              <a:t>(1)</a:t>
            </a:r>
            <a:r>
              <a:rPr lang="en-US" altLang="zh-CN" sz="2400" b="0" dirty="0">
                <a:solidFill>
                  <a:schemeClr val="bg2"/>
                </a:solidFill>
                <a:latin typeface="Arial" panose="020B0604020202020204" pitchFamily="34" charset="0"/>
                <a:ea typeface="黑体" panose="02010609060101010101" charset="-122"/>
              </a:rPr>
              <a:t> </a:t>
            </a:r>
          </a:p>
        </p:txBody>
      </p:sp>
      <p:sp>
        <p:nvSpPr>
          <p:cNvPr id="34829" name="Rectangle 12"/>
          <p:cNvSpPr/>
          <p:nvPr/>
        </p:nvSpPr>
        <p:spPr>
          <a:xfrm>
            <a:off x="684213" y="1238250"/>
            <a:ext cx="4378325" cy="4572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hlink"/>
              </a:buClr>
              <a:buSzPct val="75000"/>
              <a:buFont typeface="Monotype Sorts" charset="2"/>
            </a:pPr>
            <a:r>
              <a:rPr lang="zh-CN" altLang="en-US" sz="2400" b="0" dirty="0">
                <a:latin typeface="Arial" panose="020B0604020202020204" pitchFamily="34" charset="0"/>
                <a:ea typeface="黑体" panose="02010609060101010101" charset="-122"/>
              </a:rPr>
              <a:t>为了叙述的简便，取          ，即</a:t>
            </a:r>
          </a:p>
        </p:txBody>
      </p:sp>
      <p:sp>
        <p:nvSpPr>
          <p:cNvPr id="34830" name="Rectangle 13"/>
          <p:cNvSpPr/>
          <p:nvPr/>
        </p:nvSpPr>
        <p:spPr>
          <a:xfrm>
            <a:off x="2484438" y="2954338"/>
            <a:ext cx="4146550" cy="457200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lstStyle/>
          <a:p>
            <a:pPr eaLnBrk="1" hangingPunct="1"/>
            <a:r>
              <a:rPr lang="zh-CN" altLang="en-US" sz="2400" b="0" dirty="0">
                <a:latin typeface="Arial" panose="020B0604020202020204" pitchFamily="34" charset="0"/>
                <a:ea typeface="黑体" panose="02010609060101010101" charset="-122"/>
              </a:rPr>
              <a:t>时，为单纯的状态变量反馈。</a:t>
            </a:r>
          </a:p>
        </p:txBody>
      </p:sp>
      <p:sp>
        <p:nvSpPr>
          <p:cNvPr id="34831" name="Rectangle 14"/>
          <p:cNvSpPr/>
          <p:nvPr/>
        </p:nvSpPr>
        <p:spPr>
          <a:xfrm>
            <a:off x="2598738" y="3654425"/>
            <a:ext cx="793750" cy="457200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lstStyle/>
          <a:p>
            <a:pPr eaLnBrk="1" hangingPunct="1"/>
            <a:r>
              <a:rPr lang="zh-CN" altLang="en-US" sz="2400" b="0" dirty="0">
                <a:latin typeface="Arial" panose="020B0604020202020204" pitchFamily="34" charset="0"/>
                <a:ea typeface="黑体" panose="02010609060101010101" charset="-122"/>
              </a:rPr>
              <a:t>，则</a:t>
            </a:r>
          </a:p>
        </p:txBody>
      </p:sp>
      <p:sp>
        <p:nvSpPr>
          <p:cNvPr id="34832" name="Rectangle 15"/>
          <p:cNvSpPr/>
          <p:nvPr/>
        </p:nvSpPr>
        <p:spPr>
          <a:xfrm>
            <a:off x="4572000" y="3675063"/>
            <a:ext cx="3925888" cy="457200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lstStyle/>
          <a:p>
            <a:pPr eaLnBrk="1" hangingPunct="1"/>
            <a:r>
              <a:rPr lang="zh-CN" altLang="en-US" sz="2400" b="0" dirty="0">
                <a:latin typeface="Arial" panose="020B0604020202020204" pitchFamily="34" charset="0"/>
                <a:ea typeface="黑体" panose="02010609060101010101" charset="-122"/>
              </a:rPr>
              <a:t>，状态反馈等价于输出反馈 </a:t>
            </a:r>
          </a:p>
        </p:txBody>
      </p:sp>
      <p:sp>
        <p:nvSpPr>
          <p:cNvPr id="34833" name="Rectangle 16"/>
          <p:cNvSpPr/>
          <p:nvPr/>
        </p:nvSpPr>
        <p:spPr>
          <a:xfrm>
            <a:off x="8221663" y="3667125"/>
            <a:ext cx="488950" cy="457200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lstStyle/>
          <a:p>
            <a:pPr eaLnBrk="1" hangingPunct="1"/>
            <a:r>
              <a:rPr lang="zh-CN" altLang="en-US" sz="2400" b="0" dirty="0">
                <a:latin typeface="Arial" panose="020B0604020202020204" pitchFamily="34" charset="0"/>
                <a:ea typeface="黑体" panose="02010609060101010101" charset="-122"/>
              </a:rPr>
              <a:t>。</a:t>
            </a:r>
          </a:p>
        </p:txBody>
      </p:sp>
      <p:sp>
        <p:nvSpPr>
          <p:cNvPr id="34834" name="Text Box 17"/>
          <p:cNvSpPr txBox="1"/>
          <p:nvPr/>
        </p:nvSpPr>
        <p:spPr>
          <a:xfrm>
            <a:off x="5651500" y="188913"/>
            <a:ext cx="3313113" cy="366712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r>
              <a:rPr lang="zh-CN" altLang="en-US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第 </a:t>
            </a:r>
            <a:r>
              <a:rPr lang="en-US" altLang="zh-CN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6 </a:t>
            </a:r>
            <a:r>
              <a:rPr lang="zh-CN" altLang="en-US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章  状态反馈和状态观测器</a:t>
            </a:r>
          </a:p>
        </p:txBody>
      </p:sp>
      <p:sp>
        <p:nvSpPr>
          <p:cNvPr id="34835" name="Text Box 18"/>
          <p:cNvSpPr txBox="1"/>
          <p:nvPr/>
        </p:nvSpPr>
        <p:spPr>
          <a:xfrm>
            <a:off x="250825" y="6440488"/>
            <a:ext cx="3097213" cy="366712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r>
              <a:rPr lang="en-US" altLang="zh-CN" sz="1800" b="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charset="-122"/>
              </a:rPr>
              <a:t>1. </a:t>
            </a:r>
            <a:r>
              <a:rPr lang="zh-CN" altLang="en-US" sz="1800" b="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charset="-122"/>
              </a:rPr>
              <a:t>状态反馈的定义及其性质</a:t>
            </a:r>
          </a:p>
        </p:txBody>
      </p:sp>
      <p:sp>
        <p:nvSpPr>
          <p:cNvPr id="34836" name="Text Box 19"/>
          <p:cNvSpPr txBox="1"/>
          <p:nvPr/>
        </p:nvSpPr>
        <p:spPr>
          <a:xfrm>
            <a:off x="2124075" y="4508500"/>
            <a:ext cx="1403350" cy="4572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400" b="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charset="-122"/>
              </a:rPr>
              <a:t>输出反馈</a:t>
            </a:r>
          </a:p>
        </p:txBody>
      </p:sp>
      <p:sp>
        <p:nvSpPr>
          <p:cNvPr id="34837" name="Text Box 20"/>
          <p:cNvSpPr txBox="1"/>
          <p:nvPr/>
        </p:nvSpPr>
        <p:spPr>
          <a:xfrm>
            <a:off x="5724525" y="4484688"/>
            <a:ext cx="1403350" cy="4572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400" b="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charset="-122"/>
              </a:rPr>
              <a:t>状态反馈</a:t>
            </a:r>
          </a:p>
        </p:txBody>
      </p:sp>
      <p:graphicFrame>
        <p:nvGraphicFramePr>
          <p:cNvPr id="34838" name="Object 21"/>
          <p:cNvGraphicFramePr>
            <a:graphicFrameLocks noGrp="1"/>
          </p:cNvGraphicFramePr>
          <p:nvPr>
            <p:ph/>
          </p:nvPr>
        </p:nvGraphicFramePr>
        <p:xfrm>
          <a:off x="4140200" y="4494213"/>
          <a:ext cx="2447925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151765" imgH="127000" progId="Equation.3">
                  <p:embed/>
                </p:oleObj>
              </mc:Choice>
              <mc:Fallback>
                <p:oleObj r:id="rId14" imgW="151765" imgH="127000" progId="Equation.3">
                  <p:embed/>
                  <p:pic>
                    <p:nvPicPr>
                      <p:cNvPr id="0" name="图片 3348"/>
                      <p:cNvPicPr/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>
                      <a:xfrm>
                        <a:off x="4140200" y="4494213"/>
                        <a:ext cx="2447925" cy="503237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39" name="Text Box 22"/>
          <p:cNvSpPr txBox="1"/>
          <p:nvPr/>
        </p:nvSpPr>
        <p:spPr>
          <a:xfrm>
            <a:off x="2124075" y="5426075"/>
            <a:ext cx="2012950" cy="4572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400" b="0" dirty="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charset="-122"/>
              </a:rPr>
              <a:t>部分状态反馈</a:t>
            </a:r>
          </a:p>
        </p:txBody>
      </p:sp>
      <p:sp>
        <p:nvSpPr>
          <p:cNvPr id="34840" name="Line 23"/>
          <p:cNvSpPr/>
          <p:nvPr/>
        </p:nvSpPr>
        <p:spPr>
          <a:xfrm>
            <a:off x="2916238" y="5084763"/>
            <a:ext cx="0" cy="288925"/>
          </a:xfrm>
          <a:prstGeom prst="line">
            <a:avLst/>
          </a:prstGeom>
          <a:ln w="76200" cap="flat" cmpd="tri">
            <a:solidFill>
              <a:schemeClr val="tx1"/>
            </a:solidFill>
            <a:prstDash val="solid"/>
            <a:headEnd type="none" w="sm" len="sm"/>
            <a:tailEnd type="triangle" w="sm" len="sm"/>
          </a:ln>
        </p:spPr>
      </p:sp>
      <p:sp>
        <p:nvSpPr>
          <p:cNvPr id="34841" name="Text Box 24"/>
          <p:cNvSpPr txBox="1"/>
          <p:nvPr/>
        </p:nvSpPr>
        <p:spPr>
          <a:xfrm>
            <a:off x="5413375" y="6435725"/>
            <a:ext cx="1390650" cy="366713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1800" b="0" dirty="0">
                <a:latin typeface="Arial" panose="020B0604020202020204" pitchFamily="34" charset="0"/>
                <a:ea typeface="黑体" panose="02010609060101010101" charset="-122"/>
              </a:rPr>
              <a:t>井元伟 教授</a:t>
            </a: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日期占位符 3"/>
          <p:cNvSpPr txBox="1">
            <a:spLocks noGrp="1"/>
          </p:cNvSpPr>
          <p:nvPr>
            <p:ph type="dt" sz="half" idx="10"/>
          </p:nvPr>
        </p:nvSpPr>
        <p:spPr>
          <a:xfrm>
            <a:off x="2941638" y="5157788"/>
            <a:ext cx="3311525" cy="404812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BB962C8B-B14F-4D97-AF65-F5344CB8AC3E}" type="datetime2">
              <a:rPr lang="zh-CN" altLang="en-US" sz="2400" b="0" dirty="0">
                <a:solidFill>
                  <a:schemeClr val="bg1"/>
                </a:solidFill>
              </a:rPr>
              <a:t>2026年7月17日</a:t>
            </a:fld>
            <a:endParaRPr lang="zh-CN" altLang="en-US" sz="2400" b="0" dirty="0">
              <a:solidFill>
                <a:schemeClr val="bg1"/>
              </a:solidFill>
            </a:endParaRPr>
          </a:p>
        </p:txBody>
      </p:sp>
      <p:pic>
        <p:nvPicPr>
          <p:cNvPr id="41987" name="Picture 2" descr="底图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1988" name="Rectangle 3"/>
          <p:cNvSpPr>
            <a:spLocks noGrp="1"/>
          </p:cNvSpPr>
          <p:nvPr>
            <p:ph idx="1"/>
          </p:nvPr>
        </p:nvSpPr>
        <p:spPr>
          <a:xfrm>
            <a:off x="684213" y="620713"/>
            <a:ext cx="7773987" cy="5553075"/>
          </a:xfrm>
          <a:ln/>
        </p:spPr>
        <p:txBody>
          <a:bodyPr vert="horz" wrap="square" lIns="91440" tIns="45720" rIns="91440" bIns="45720" anchor="t" anchorCtr="0"/>
          <a:lstStyle/>
          <a:p>
            <a:pPr eaLnBrk="1" hangingPunct="1">
              <a:buNone/>
            </a:pPr>
            <a:endParaRPr lang="en-US" altLang="zh-CN" dirty="0">
              <a:solidFill>
                <a:schemeClr val="bg2"/>
              </a:solidFill>
              <a:ea typeface="黑体" panose="02010609060101010101" charset="-122"/>
            </a:endParaRPr>
          </a:p>
          <a:p>
            <a:pPr algn="ctr" eaLnBrk="1" hangingPunct="1">
              <a:buNone/>
            </a:pPr>
            <a:endParaRPr lang="en-US" altLang="zh-CN" dirty="0">
              <a:solidFill>
                <a:schemeClr val="bg2"/>
              </a:solidFill>
              <a:ea typeface="黑体" panose="02010609060101010101" charset="-122"/>
            </a:endParaRPr>
          </a:p>
          <a:p>
            <a:pPr algn="ctr" eaLnBrk="1" hangingPunct="1">
              <a:spcBef>
                <a:spcPct val="0"/>
              </a:spcBef>
              <a:buNone/>
            </a:pPr>
            <a:endParaRPr lang="en-US" altLang="zh-CN" sz="2800" dirty="0">
              <a:solidFill>
                <a:schemeClr val="bg2"/>
              </a:solidFill>
              <a:ea typeface="黑体" panose="02010609060101010101" charset="-122"/>
            </a:endParaRPr>
          </a:p>
          <a:p>
            <a:pPr algn="ctr" eaLnBrk="1" hangingPunct="1">
              <a:buNone/>
            </a:pPr>
            <a:endParaRPr lang="en-US" altLang="zh-CN" dirty="0">
              <a:solidFill>
                <a:schemeClr val="bg2"/>
              </a:solidFill>
              <a:ea typeface="黑体" panose="02010609060101010101" charset="-122"/>
            </a:endParaRPr>
          </a:p>
          <a:p>
            <a:pPr algn="ctr" eaLnBrk="1" hangingPunct="1">
              <a:buNone/>
            </a:pPr>
            <a:endParaRPr lang="en-US" altLang="zh-CN" sz="3600" dirty="0">
              <a:solidFill>
                <a:schemeClr val="bg2"/>
              </a:solidFill>
              <a:ea typeface="黑体" panose="02010609060101010101" charset="-122"/>
            </a:endParaRPr>
          </a:p>
        </p:txBody>
      </p:sp>
      <p:sp>
        <p:nvSpPr>
          <p:cNvPr id="41989" name="Rectangle 4"/>
          <p:cNvSpPr/>
          <p:nvPr/>
        </p:nvSpPr>
        <p:spPr>
          <a:xfrm>
            <a:off x="4479925" y="3048000"/>
            <a:ext cx="184150" cy="457200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lstStyle/>
          <a:p>
            <a:pPr algn="ctr"/>
            <a:endParaRPr lang="zh-CN" altLang="zh-CN" sz="2400" b="0" dirty="0">
              <a:latin typeface="Arial" panose="020B0604020202020204" pitchFamily="34" charset="0"/>
              <a:ea typeface="黑体" panose="02010609060101010101" charset="-122"/>
            </a:endParaRPr>
          </a:p>
        </p:txBody>
      </p:sp>
      <p:sp>
        <p:nvSpPr>
          <p:cNvPr id="41990" name="Rectangle 5"/>
          <p:cNvSpPr/>
          <p:nvPr/>
        </p:nvSpPr>
        <p:spPr>
          <a:xfrm>
            <a:off x="4479925" y="3048000"/>
            <a:ext cx="184150" cy="457200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lstStyle/>
          <a:p>
            <a:pPr algn="ctr"/>
            <a:endParaRPr lang="zh-CN" altLang="zh-CN" sz="2400" b="0" dirty="0">
              <a:latin typeface="Arial" panose="020B0604020202020204" pitchFamily="34" charset="0"/>
              <a:ea typeface="黑体" panose="02010609060101010101" charset="-122"/>
            </a:endParaRPr>
          </a:p>
        </p:txBody>
      </p:sp>
      <p:graphicFrame>
        <p:nvGraphicFramePr>
          <p:cNvPr id="41991" name="Object 6"/>
          <p:cNvGraphicFramePr/>
          <p:nvPr/>
        </p:nvGraphicFramePr>
        <p:xfrm>
          <a:off x="5003800" y="1323975"/>
          <a:ext cx="576263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41300" imgH="228600" progId="Equation.DSMT4">
                  <p:embed/>
                </p:oleObj>
              </mc:Choice>
              <mc:Fallback>
                <p:oleObj r:id="rId4" imgW="241300" imgH="228600" progId="Equation.DSMT4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03800" y="1323975"/>
                        <a:ext cx="576263" cy="5540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2" name="Object 7"/>
          <p:cNvGraphicFramePr/>
          <p:nvPr/>
        </p:nvGraphicFramePr>
        <p:xfrm>
          <a:off x="2051050" y="2060575"/>
          <a:ext cx="5014913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2120900" imgH="228600" progId="Equation.DSMT4">
                  <p:embed/>
                </p:oleObj>
              </mc:Choice>
              <mc:Fallback>
                <p:oleObj r:id="rId6" imgW="2120900" imgH="228600" progId="Equation.DSMT4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051050" y="2060575"/>
                        <a:ext cx="5014913" cy="539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3" name="Rectangle 8"/>
          <p:cNvSpPr/>
          <p:nvPr/>
        </p:nvSpPr>
        <p:spPr>
          <a:xfrm>
            <a:off x="827088" y="2940050"/>
            <a:ext cx="5740400" cy="457200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lstStyle/>
          <a:p>
            <a:pPr eaLnBrk="1" hangingPunct="1"/>
            <a:r>
              <a:rPr lang="en-US" altLang="zh-CN" sz="2400" b="0" dirty="0">
                <a:latin typeface="Arial" panose="020B0604020202020204" pitchFamily="34" charset="0"/>
                <a:ea typeface="黑体" panose="02010609060101010101" charset="-122"/>
              </a:rPr>
              <a:t>①</a:t>
            </a:r>
            <a:r>
              <a:rPr lang="zh-CN" altLang="en-US" sz="2400" b="0" dirty="0">
                <a:latin typeface="Arial" panose="020B0604020202020204" pitchFamily="34" charset="0"/>
                <a:ea typeface="黑体" panose="02010609060101010101" charset="-122"/>
              </a:rPr>
              <a:t>利用矩阵运算直接可推出（见书</a:t>
            </a:r>
            <a:r>
              <a:rPr lang="en-US" altLang="zh-CN" sz="2400" b="0" dirty="0">
                <a:latin typeface="Arial" panose="020B0604020202020204" pitchFamily="34" charset="0"/>
                <a:ea typeface="黑体" panose="02010609060101010101" charset="-122"/>
              </a:rPr>
              <a:t>p191</a:t>
            </a:r>
            <a:r>
              <a:rPr lang="zh-CN" altLang="en-US" sz="2400" b="0" dirty="0">
                <a:latin typeface="Arial" panose="020B0604020202020204" pitchFamily="34" charset="0"/>
                <a:ea typeface="黑体" panose="02010609060101010101" charset="-122"/>
              </a:rPr>
              <a:t>）</a:t>
            </a:r>
          </a:p>
        </p:txBody>
      </p:sp>
      <p:graphicFrame>
        <p:nvGraphicFramePr>
          <p:cNvPr id="41994" name="Object 9"/>
          <p:cNvGraphicFramePr/>
          <p:nvPr/>
        </p:nvGraphicFramePr>
        <p:xfrm>
          <a:off x="1717675" y="3716338"/>
          <a:ext cx="5691188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2413000" imgH="228600" progId="Equation.DSMT4">
                  <p:embed/>
                </p:oleObj>
              </mc:Choice>
              <mc:Fallback>
                <p:oleObj r:id="rId8" imgW="2413000" imgH="228600" progId="Equation.DSMT4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717675" y="3716338"/>
                        <a:ext cx="5691188" cy="539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5" name="Rectangle 10"/>
          <p:cNvSpPr/>
          <p:nvPr/>
        </p:nvSpPr>
        <p:spPr>
          <a:xfrm>
            <a:off x="755650" y="1341438"/>
            <a:ext cx="6735763" cy="4572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r>
              <a:rPr lang="en-US" altLang="zh-CN" sz="2400" b="0" dirty="0">
                <a:latin typeface="Arial" panose="020B0604020202020204" pitchFamily="34" charset="0"/>
                <a:ea typeface="黑体" panose="02010609060101010101" charset="-122"/>
              </a:rPr>
              <a:t>(2)   </a:t>
            </a:r>
            <a:r>
              <a:rPr lang="en-US" altLang="zh-CN" sz="2400" b="0" i="1" dirty="0">
                <a:latin typeface="Times New Roman" panose="02020603050405020304" pitchFamily="18" charset="0"/>
                <a:ea typeface="黑体" panose="02010609060101010101" charset="-122"/>
              </a:rPr>
              <a:t>D</a:t>
            </a:r>
            <a:r>
              <a:rPr lang="en-US" altLang="zh-CN" sz="2400" b="0" dirty="0">
                <a:latin typeface="Times New Roman" panose="02020603050405020304" pitchFamily="18" charset="0"/>
                <a:ea typeface="黑体" panose="02010609060101010101" charset="-122"/>
              </a:rPr>
              <a:t>=0</a:t>
            </a:r>
            <a:r>
              <a:rPr lang="zh-CN" altLang="en-US" sz="2400" b="0" dirty="0">
                <a:latin typeface="Arial" panose="020B0604020202020204" pitchFamily="34" charset="0"/>
                <a:ea typeface="黑体" panose="02010609060101010101" charset="-122"/>
              </a:rPr>
              <a:t>时，可以求得闭环系统      的传递函数阵</a:t>
            </a:r>
          </a:p>
        </p:txBody>
      </p:sp>
      <p:sp>
        <p:nvSpPr>
          <p:cNvPr id="41996" name="Text Box 11"/>
          <p:cNvSpPr txBox="1"/>
          <p:nvPr/>
        </p:nvSpPr>
        <p:spPr>
          <a:xfrm>
            <a:off x="5651500" y="188913"/>
            <a:ext cx="3313113" cy="366712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r>
              <a:rPr lang="zh-CN" altLang="en-US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第 </a:t>
            </a:r>
            <a:r>
              <a:rPr lang="en-US" altLang="zh-CN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6 </a:t>
            </a:r>
            <a:r>
              <a:rPr lang="zh-CN" altLang="en-US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章  状态反馈和状态观测器</a:t>
            </a:r>
          </a:p>
        </p:txBody>
      </p:sp>
      <p:sp>
        <p:nvSpPr>
          <p:cNvPr id="41997" name="Text Box 12"/>
          <p:cNvSpPr txBox="1"/>
          <p:nvPr/>
        </p:nvSpPr>
        <p:spPr>
          <a:xfrm>
            <a:off x="250825" y="6440488"/>
            <a:ext cx="3097213" cy="366712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r>
              <a:rPr lang="en-US" altLang="zh-CN" sz="1800" b="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charset="-122"/>
              </a:rPr>
              <a:t>1. </a:t>
            </a:r>
            <a:r>
              <a:rPr lang="zh-CN" altLang="en-US" sz="1800" b="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charset="-122"/>
              </a:rPr>
              <a:t>状态反馈的定义及其性质</a:t>
            </a:r>
          </a:p>
        </p:txBody>
      </p:sp>
      <p:sp>
        <p:nvSpPr>
          <p:cNvPr id="41998" name="Text Box 13"/>
          <p:cNvSpPr txBox="1"/>
          <p:nvPr/>
        </p:nvSpPr>
        <p:spPr>
          <a:xfrm>
            <a:off x="1403350" y="4705350"/>
            <a:ext cx="1403350" cy="4572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400" b="0" dirty="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charset="-122"/>
              </a:rPr>
              <a:t>闭环系统</a:t>
            </a:r>
          </a:p>
        </p:txBody>
      </p:sp>
      <p:sp>
        <p:nvSpPr>
          <p:cNvPr id="41999" name="Text Box 14"/>
          <p:cNvSpPr txBox="1"/>
          <p:nvPr/>
        </p:nvSpPr>
        <p:spPr>
          <a:xfrm>
            <a:off x="3779838" y="5065713"/>
            <a:ext cx="1098550" cy="4572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charset="-122"/>
              </a:rPr>
              <a:t>原系统</a:t>
            </a:r>
          </a:p>
        </p:txBody>
      </p:sp>
      <p:sp>
        <p:nvSpPr>
          <p:cNvPr id="42000" name="Text Box 15"/>
          <p:cNvSpPr txBox="1"/>
          <p:nvPr/>
        </p:nvSpPr>
        <p:spPr>
          <a:xfrm>
            <a:off x="6300788" y="4776788"/>
            <a:ext cx="1403350" cy="4572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400" b="0" dirty="0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charset="-122"/>
              </a:rPr>
              <a:t>前加系统</a:t>
            </a:r>
          </a:p>
        </p:txBody>
      </p:sp>
      <p:sp>
        <p:nvSpPr>
          <p:cNvPr id="42001" name="Line 16"/>
          <p:cNvSpPr/>
          <p:nvPr/>
        </p:nvSpPr>
        <p:spPr>
          <a:xfrm>
            <a:off x="1763713" y="4292600"/>
            <a:ext cx="1439862" cy="0"/>
          </a:xfrm>
          <a:prstGeom prst="line">
            <a:avLst/>
          </a:prstGeom>
          <a:ln w="12700" cap="flat" cmpd="sng">
            <a:solidFill>
              <a:srgbClr val="FF33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2002" name="Line 17"/>
          <p:cNvSpPr/>
          <p:nvPr/>
        </p:nvSpPr>
        <p:spPr>
          <a:xfrm>
            <a:off x="3576638" y="4292600"/>
            <a:ext cx="576262" cy="0"/>
          </a:xfrm>
          <a:prstGeom prst="line">
            <a:avLst/>
          </a:prstGeom>
          <a:ln w="12700" cap="flat" cmpd="sng">
            <a:solidFill>
              <a:schemeClr val="accent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2003" name="Line 18"/>
          <p:cNvSpPr/>
          <p:nvPr/>
        </p:nvSpPr>
        <p:spPr>
          <a:xfrm>
            <a:off x="4284663" y="4292600"/>
            <a:ext cx="3095625" cy="0"/>
          </a:xfrm>
          <a:prstGeom prst="line">
            <a:avLst/>
          </a:prstGeom>
          <a:ln w="12700" cap="flat" cmpd="sng">
            <a:solidFill>
              <a:srgbClr val="A5002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2004" name="Line 19"/>
          <p:cNvSpPr/>
          <p:nvPr/>
        </p:nvSpPr>
        <p:spPr>
          <a:xfrm flipH="1">
            <a:off x="2051050" y="4292600"/>
            <a:ext cx="431800" cy="4318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triangle" w="sm" len="sm"/>
          </a:ln>
        </p:spPr>
      </p:sp>
      <p:sp>
        <p:nvSpPr>
          <p:cNvPr id="42005" name="Line 20"/>
          <p:cNvSpPr/>
          <p:nvPr/>
        </p:nvSpPr>
        <p:spPr>
          <a:xfrm>
            <a:off x="3851275" y="4292600"/>
            <a:ext cx="433388" cy="792163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triangle" w="sm" len="sm"/>
          </a:ln>
        </p:spPr>
      </p:sp>
      <p:sp>
        <p:nvSpPr>
          <p:cNvPr id="42006" name="Line 21"/>
          <p:cNvSpPr/>
          <p:nvPr/>
        </p:nvSpPr>
        <p:spPr>
          <a:xfrm>
            <a:off x="5940425" y="4292600"/>
            <a:ext cx="792163" cy="576263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triangle" w="sm" len="sm"/>
          </a:ln>
        </p:spPr>
      </p:sp>
      <p:sp>
        <p:nvSpPr>
          <p:cNvPr id="42007" name="Text Box 22"/>
          <p:cNvSpPr txBox="1"/>
          <p:nvPr/>
        </p:nvSpPr>
        <p:spPr>
          <a:xfrm>
            <a:off x="5413375" y="6435725"/>
            <a:ext cx="1390650" cy="366713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1800" b="0" dirty="0">
                <a:latin typeface="Arial" panose="020B0604020202020204" pitchFamily="34" charset="0"/>
                <a:ea typeface="黑体" panose="02010609060101010101" charset="-122"/>
              </a:rPr>
              <a:t>井元伟 教授</a:t>
            </a: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日期占位符 4"/>
          <p:cNvSpPr txBox="1">
            <a:spLocks noGrp="1"/>
          </p:cNvSpPr>
          <p:nvPr>
            <p:ph type="dt" sz="half" idx="10"/>
          </p:nvPr>
        </p:nvSpPr>
        <p:spPr>
          <a:xfrm>
            <a:off x="2941638" y="5157788"/>
            <a:ext cx="3311525" cy="404812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BB962C8B-B14F-4D97-AF65-F5344CB8AC3E}" type="datetime2">
              <a:rPr lang="zh-CN" altLang="en-US" sz="2400" b="0" dirty="0">
                <a:solidFill>
                  <a:schemeClr val="bg1"/>
                </a:solidFill>
              </a:rPr>
              <a:t>2026年7月17日</a:t>
            </a:fld>
            <a:endParaRPr lang="zh-CN" altLang="en-US" sz="2400" b="0" dirty="0">
              <a:solidFill>
                <a:schemeClr val="bg1"/>
              </a:solidFill>
            </a:endParaRPr>
          </a:p>
        </p:txBody>
      </p:sp>
      <p:pic>
        <p:nvPicPr>
          <p:cNvPr id="47107" name="Picture 2" descr="底图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1755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7108" name="Rectangle 3"/>
          <p:cNvSpPr>
            <a:spLocks noGrp="1"/>
          </p:cNvSpPr>
          <p:nvPr>
            <p:ph type="body" sz="half" idx="1"/>
          </p:nvPr>
        </p:nvSpPr>
        <p:spPr>
          <a:ln/>
        </p:spPr>
        <p:txBody>
          <a:bodyPr vert="horz" wrap="square" lIns="91440" tIns="45720" rIns="91440" bIns="45720" anchor="t" anchorCtr="0"/>
          <a:lstStyle/>
          <a:p>
            <a:pPr algn="ctr" eaLnBrk="1" hangingPunct="1">
              <a:buClrTx/>
              <a:buSzTx/>
              <a:buFontTx/>
              <a:buNone/>
            </a:pPr>
            <a:endParaRPr lang="en-US" altLang="zh-CN" sz="2400" dirty="0">
              <a:ea typeface="黑体" panose="02010609060101010101" charset="-122"/>
            </a:endParaRPr>
          </a:p>
          <a:p>
            <a:pPr algn="ctr" eaLnBrk="1" hangingPunct="1">
              <a:buClrTx/>
              <a:buSzTx/>
              <a:buFontTx/>
              <a:buNone/>
            </a:pPr>
            <a:endParaRPr lang="en-US" altLang="zh-CN" sz="2400" dirty="0">
              <a:ea typeface="黑体" panose="02010609060101010101" charset="-122"/>
            </a:endParaRPr>
          </a:p>
          <a:p>
            <a:pPr algn="ctr" eaLnBrk="1" hangingPunct="1">
              <a:buClrTx/>
              <a:buSzTx/>
              <a:buFontTx/>
              <a:buNone/>
            </a:pPr>
            <a:r>
              <a:rPr lang="en-US" altLang="zh-CN" sz="2400" dirty="0">
                <a:ea typeface="黑体" panose="02010609060101010101" charset="-122"/>
              </a:rPr>
              <a:t> </a:t>
            </a:r>
            <a:endParaRPr lang="en-US" altLang="zh-CN" sz="2400" dirty="0">
              <a:solidFill>
                <a:schemeClr val="bg2"/>
              </a:solidFill>
              <a:ea typeface="黑体" panose="02010609060101010101" charset="-122"/>
            </a:endParaRPr>
          </a:p>
        </p:txBody>
      </p:sp>
      <p:sp>
        <p:nvSpPr>
          <p:cNvPr id="47109" name="Rectangle 4"/>
          <p:cNvSpPr/>
          <p:nvPr/>
        </p:nvSpPr>
        <p:spPr>
          <a:xfrm>
            <a:off x="4479925" y="3048000"/>
            <a:ext cx="184150" cy="457200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lstStyle/>
          <a:p>
            <a:pPr algn="ctr"/>
            <a:endParaRPr lang="zh-CN" altLang="zh-CN" sz="2400" b="0" dirty="0">
              <a:latin typeface="Arial" panose="020B0604020202020204" pitchFamily="34" charset="0"/>
              <a:ea typeface="黑体" panose="02010609060101010101" charset="-122"/>
            </a:endParaRPr>
          </a:p>
        </p:txBody>
      </p:sp>
      <p:sp>
        <p:nvSpPr>
          <p:cNvPr id="47110" name="Rectangle 5"/>
          <p:cNvSpPr/>
          <p:nvPr/>
        </p:nvSpPr>
        <p:spPr>
          <a:xfrm>
            <a:off x="4479925" y="3048000"/>
            <a:ext cx="184150" cy="457200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lstStyle/>
          <a:p>
            <a:pPr algn="ctr"/>
            <a:endParaRPr lang="zh-CN" altLang="zh-CN" sz="2400" b="0" dirty="0">
              <a:latin typeface="Arial" panose="020B0604020202020204" pitchFamily="34" charset="0"/>
              <a:ea typeface="黑体" panose="02010609060101010101" charset="-122"/>
            </a:endParaRPr>
          </a:p>
        </p:txBody>
      </p:sp>
      <p:sp>
        <p:nvSpPr>
          <p:cNvPr id="47111" name="Rectangle 6"/>
          <p:cNvSpPr/>
          <p:nvPr/>
        </p:nvSpPr>
        <p:spPr>
          <a:xfrm>
            <a:off x="4479925" y="3086100"/>
            <a:ext cx="184150" cy="457200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lstStyle/>
          <a:p>
            <a:pPr algn="ctr"/>
            <a:endParaRPr lang="zh-CN" altLang="zh-CN" sz="2400" b="0" dirty="0">
              <a:latin typeface="Arial" panose="020B0604020202020204" pitchFamily="34" charset="0"/>
              <a:ea typeface="黑体" panose="02010609060101010101" charset="-122"/>
            </a:endParaRPr>
          </a:p>
        </p:txBody>
      </p:sp>
      <p:graphicFrame>
        <p:nvGraphicFramePr>
          <p:cNvPr id="47112" name="Object 7"/>
          <p:cNvGraphicFramePr/>
          <p:nvPr/>
        </p:nvGraphicFramePr>
        <p:xfrm>
          <a:off x="3563938" y="1700213"/>
          <a:ext cx="1944687" cy="98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774065" imgH="431800" progId="Equation.DSMT4">
                  <p:embed/>
                </p:oleObj>
              </mc:Choice>
              <mc:Fallback>
                <p:oleObj r:id="rId4" imgW="774065" imgH="431800" progId="Equation.DSMT4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563938" y="1700213"/>
                        <a:ext cx="1944687" cy="984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13" name="Rectangle 8"/>
          <p:cNvSpPr/>
          <p:nvPr/>
        </p:nvSpPr>
        <p:spPr>
          <a:xfrm>
            <a:off x="1000125" y="2708275"/>
            <a:ext cx="1708150" cy="457200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lstStyle/>
          <a:p>
            <a:pPr eaLnBrk="1" hangingPunct="1"/>
            <a:r>
              <a:rPr lang="zh-CN" altLang="en-US" sz="2400" b="0" dirty="0">
                <a:latin typeface="Arial" panose="020B0604020202020204" pitchFamily="34" charset="0"/>
                <a:ea typeface="黑体" panose="02010609060101010101" charset="-122"/>
              </a:rPr>
              <a:t>和输出反馈</a:t>
            </a:r>
          </a:p>
        </p:txBody>
      </p:sp>
      <p:sp>
        <p:nvSpPr>
          <p:cNvPr id="47114" name="Rectangle 9"/>
          <p:cNvSpPr/>
          <p:nvPr/>
        </p:nvSpPr>
        <p:spPr>
          <a:xfrm>
            <a:off x="4479925" y="3100388"/>
            <a:ext cx="184150" cy="457200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lstStyle/>
          <a:p>
            <a:pPr algn="ctr"/>
            <a:endParaRPr lang="zh-CN" altLang="zh-CN" sz="2400" b="0" dirty="0">
              <a:latin typeface="Arial" panose="020B0604020202020204" pitchFamily="34" charset="0"/>
              <a:ea typeface="黑体" panose="02010609060101010101" charset="-122"/>
            </a:endParaRPr>
          </a:p>
        </p:txBody>
      </p:sp>
      <p:graphicFrame>
        <p:nvGraphicFramePr>
          <p:cNvPr id="47115" name="Object 10"/>
          <p:cNvGraphicFramePr/>
          <p:nvPr/>
        </p:nvGraphicFramePr>
        <p:xfrm>
          <a:off x="3779838" y="3068638"/>
          <a:ext cx="1511300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659765" imgH="203200" progId="Equation.DSMT4">
                  <p:embed/>
                </p:oleObj>
              </mc:Choice>
              <mc:Fallback>
                <p:oleObj r:id="rId6" imgW="659765" imgH="203200" progId="Equation.DSMT4">
                  <p:embed/>
                  <p:pic>
                    <p:nvPicPr>
                      <p:cNvPr id="0" name="图片 3383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779838" y="3068638"/>
                        <a:ext cx="1511300" cy="4587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16" name="Rectangle 11"/>
          <p:cNvSpPr/>
          <p:nvPr/>
        </p:nvSpPr>
        <p:spPr>
          <a:xfrm>
            <a:off x="1004888" y="3649663"/>
            <a:ext cx="4764087" cy="457200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lstStyle/>
          <a:p>
            <a:pPr eaLnBrk="1" hangingPunct="1"/>
            <a:r>
              <a:rPr lang="zh-CN" altLang="en-US" sz="2400" b="0" dirty="0">
                <a:latin typeface="Arial" panose="020B0604020202020204" pitchFamily="34" charset="0"/>
                <a:ea typeface="黑体" panose="02010609060101010101" charset="-122"/>
              </a:rPr>
              <a:t>所组成。</a:t>
            </a:r>
            <a:r>
              <a:rPr lang="zh-CN" altLang="en-US" sz="2400" b="0" dirty="0">
                <a:solidFill>
                  <a:srgbClr val="DDDDDD"/>
                </a:solidFill>
                <a:latin typeface="Arial" panose="020B0604020202020204" pitchFamily="34" charset="0"/>
                <a:ea typeface="黑体" panose="02010609060101010101" charset="-122"/>
              </a:rPr>
              <a:t>从 </a:t>
            </a:r>
            <a:r>
              <a:rPr lang="en-US" altLang="zh-CN" sz="2400" b="0" i="1" dirty="0">
                <a:solidFill>
                  <a:srgbClr val="DDDDDD"/>
                </a:solidFill>
                <a:latin typeface="Times New Roman" panose="02020603050405020304" pitchFamily="18" charset="0"/>
                <a:ea typeface="黑体" panose="02010609060101010101" charset="-122"/>
              </a:rPr>
              <a:t>a </a:t>
            </a:r>
            <a:r>
              <a:rPr lang="zh-CN" altLang="en-US" sz="2400" b="0" dirty="0">
                <a:solidFill>
                  <a:srgbClr val="DDDDDD"/>
                </a:solidFill>
                <a:latin typeface="Times New Roman" panose="02020603050405020304" pitchFamily="18" charset="0"/>
                <a:ea typeface="黑体" panose="02010609060101010101" charset="-122"/>
              </a:rPr>
              <a:t>到 </a:t>
            </a:r>
            <a:r>
              <a:rPr lang="en-US" altLang="zh-CN" sz="2400" b="0" i="1" dirty="0">
                <a:solidFill>
                  <a:srgbClr val="DDDDDD"/>
                </a:solidFill>
                <a:latin typeface="Times New Roman" panose="02020603050405020304" pitchFamily="18" charset="0"/>
                <a:ea typeface="黑体" panose="02010609060101010101" charset="-122"/>
              </a:rPr>
              <a:t>b </a:t>
            </a:r>
            <a:r>
              <a:rPr lang="zh-CN" altLang="en-US" sz="2400" b="0" dirty="0">
                <a:solidFill>
                  <a:srgbClr val="DDDDDD"/>
                </a:solidFill>
                <a:latin typeface="Times New Roman" panose="02020603050405020304" pitchFamily="18" charset="0"/>
                <a:ea typeface="黑体" panose="02010609060101010101" charset="-122"/>
              </a:rPr>
              <a:t>的</a:t>
            </a:r>
            <a:r>
              <a:rPr lang="zh-CN" altLang="en-US" sz="2400" b="0" dirty="0">
                <a:solidFill>
                  <a:srgbClr val="DDDDDD"/>
                </a:solidFill>
                <a:latin typeface="Arial" panose="020B0604020202020204" pitchFamily="34" charset="0"/>
                <a:ea typeface="黑体" panose="02010609060101010101" charset="-122"/>
              </a:rPr>
              <a:t>传递函数矩阵</a:t>
            </a:r>
          </a:p>
        </p:txBody>
      </p:sp>
      <p:sp>
        <p:nvSpPr>
          <p:cNvPr id="47117" name="Rectangle 13"/>
          <p:cNvSpPr/>
          <p:nvPr/>
        </p:nvSpPr>
        <p:spPr>
          <a:xfrm>
            <a:off x="1004888" y="4195763"/>
            <a:ext cx="4756150" cy="457200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lstStyle/>
          <a:p>
            <a:pPr eaLnBrk="1" hangingPunct="1"/>
            <a:r>
              <a:rPr lang="zh-CN" altLang="en-US" sz="2400" b="0" dirty="0">
                <a:solidFill>
                  <a:srgbClr val="DDDDDD"/>
                </a:solidFill>
                <a:latin typeface="Arial" panose="020B0604020202020204" pitchFamily="34" charset="0"/>
                <a:ea typeface="黑体" panose="02010609060101010101" charset="-122"/>
              </a:rPr>
              <a:t>输出反馈传递函数阵的公式求出，</a:t>
            </a:r>
          </a:p>
        </p:txBody>
      </p:sp>
      <p:sp>
        <p:nvSpPr>
          <p:cNvPr id="47118" name="Rectangle 14"/>
          <p:cNvSpPr/>
          <p:nvPr/>
        </p:nvSpPr>
        <p:spPr>
          <a:xfrm>
            <a:off x="6113463" y="3640138"/>
            <a:ext cx="1435100" cy="4572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r>
              <a:rPr lang="en-US" altLang="zh-CN" sz="2400" b="0" dirty="0">
                <a:latin typeface="Arial" panose="020B0604020202020204" pitchFamily="34" charset="0"/>
                <a:ea typeface="黑体" panose="02010609060101010101" charset="-122"/>
              </a:rPr>
              <a:t>    </a:t>
            </a:r>
            <a:r>
              <a:rPr lang="zh-CN" altLang="en-US" sz="2400" b="0" dirty="0">
                <a:solidFill>
                  <a:srgbClr val="CCCCFF"/>
                </a:solidFill>
                <a:latin typeface="Arial" panose="020B0604020202020204" pitchFamily="34" charset="0"/>
                <a:ea typeface="黑体" panose="02010609060101010101" charset="-122"/>
              </a:rPr>
              <a:t>不难用</a:t>
            </a:r>
          </a:p>
        </p:txBody>
      </p:sp>
      <p:sp>
        <p:nvSpPr>
          <p:cNvPr id="47119" name="Rectangle 15"/>
          <p:cNvSpPr/>
          <p:nvPr/>
        </p:nvSpPr>
        <p:spPr>
          <a:xfrm>
            <a:off x="5292725" y="2198688"/>
            <a:ext cx="2089150" cy="4572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hlink"/>
              </a:buClr>
              <a:buSzPct val="75000"/>
              <a:buFont typeface="Monotype Sorts" charset="2"/>
            </a:pPr>
            <a:r>
              <a:rPr lang="en-US" altLang="zh-CN" sz="2400" b="0" dirty="0">
                <a:latin typeface="Times New Roman" panose="02020603050405020304" pitchFamily="18" charset="0"/>
                <a:ea typeface="黑体" panose="02010609060101010101" charset="-122"/>
              </a:rPr>
              <a:t>( </a:t>
            </a:r>
            <a:r>
              <a:rPr lang="en-US" altLang="zh-CN" sz="2400" b="0" i="1" dirty="0">
                <a:latin typeface="Times New Roman" panose="02020603050405020304" pitchFamily="18" charset="0"/>
                <a:ea typeface="黑体" panose="02010609060101010101" charset="-122"/>
              </a:rPr>
              <a:t>I</a:t>
            </a:r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charset="-122"/>
              </a:rPr>
              <a:t>为单位矩阵</a:t>
            </a:r>
            <a:r>
              <a:rPr lang="en-US" altLang="zh-CN" sz="2400" b="0" dirty="0">
                <a:latin typeface="Times New Roman" panose="02020603050405020304" pitchFamily="18" charset="0"/>
                <a:ea typeface="黑体" panose="02010609060101010101" charset="-122"/>
              </a:rPr>
              <a:t>)</a:t>
            </a:r>
          </a:p>
        </p:txBody>
      </p:sp>
      <p:sp>
        <p:nvSpPr>
          <p:cNvPr id="47120" name="Rectangle 16"/>
          <p:cNvSpPr/>
          <p:nvPr/>
        </p:nvSpPr>
        <p:spPr>
          <a:xfrm>
            <a:off x="1042988" y="1177925"/>
            <a:ext cx="5670550" cy="4572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b="0" dirty="0">
                <a:latin typeface="Arial" panose="020B0604020202020204" pitchFamily="34" charset="0"/>
                <a:ea typeface="黑体" panose="02010609060101010101" charset="-122"/>
              </a:rPr>
              <a:t>图中</a:t>
            </a:r>
            <a:r>
              <a:rPr lang="en-US" altLang="zh-CN" sz="2400" b="0" i="1" dirty="0">
                <a:latin typeface="Times New Roman" panose="02020603050405020304" pitchFamily="18" charset="0"/>
                <a:ea typeface="黑体" panose="02010609060101010101" charset="-122"/>
              </a:rPr>
              <a:t>a</a:t>
            </a:r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charset="-122"/>
              </a:rPr>
              <a:t>和</a:t>
            </a:r>
            <a:r>
              <a:rPr lang="en-US" altLang="zh-CN" sz="2400" b="0" i="1" dirty="0">
                <a:latin typeface="Times New Roman" panose="02020603050405020304" pitchFamily="18" charset="0"/>
                <a:ea typeface="黑体" panose="02010609060101010101" charset="-122"/>
              </a:rPr>
              <a:t>b</a:t>
            </a:r>
            <a:r>
              <a:rPr lang="zh-CN" altLang="en-US" sz="2400" b="0" dirty="0">
                <a:latin typeface="Arial" panose="020B0604020202020204" pitchFamily="34" charset="0"/>
                <a:ea typeface="黑体" panose="02010609060101010101" charset="-122"/>
              </a:rPr>
              <a:t>之间的部分，可以看成是由系统</a:t>
            </a:r>
          </a:p>
        </p:txBody>
      </p:sp>
      <p:sp>
        <p:nvSpPr>
          <p:cNvPr id="47121" name="Text Box 17"/>
          <p:cNvSpPr txBox="1"/>
          <p:nvPr/>
        </p:nvSpPr>
        <p:spPr>
          <a:xfrm>
            <a:off x="5651500" y="188913"/>
            <a:ext cx="3313113" cy="366712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r>
              <a:rPr lang="zh-CN" altLang="en-US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第 </a:t>
            </a:r>
            <a:r>
              <a:rPr lang="en-US" altLang="zh-CN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6 </a:t>
            </a:r>
            <a:r>
              <a:rPr lang="zh-CN" altLang="en-US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章  状态反馈和状态观测器</a:t>
            </a:r>
          </a:p>
        </p:txBody>
      </p:sp>
      <p:sp>
        <p:nvSpPr>
          <p:cNvPr id="47122" name="Text Box 18"/>
          <p:cNvSpPr txBox="1"/>
          <p:nvPr/>
        </p:nvSpPr>
        <p:spPr>
          <a:xfrm>
            <a:off x="250825" y="6440488"/>
            <a:ext cx="3097213" cy="366712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r>
              <a:rPr lang="en-US" altLang="zh-CN" sz="1800" b="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charset="-122"/>
              </a:rPr>
              <a:t>1. </a:t>
            </a:r>
            <a:r>
              <a:rPr lang="zh-CN" altLang="en-US" sz="1800" b="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charset="-122"/>
              </a:rPr>
              <a:t>状态反馈的定义及其性质</a:t>
            </a:r>
          </a:p>
        </p:txBody>
      </p:sp>
      <p:graphicFrame>
        <p:nvGraphicFramePr>
          <p:cNvPr id="47123" name="Object 21"/>
          <p:cNvGraphicFramePr>
            <a:graphicFrameLocks noChangeAspect="1"/>
          </p:cNvGraphicFramePr>
          <p:nvPr/>
        </p:nvGraphicFramePr>
        <p:xfrm>
          <a:off x="1403350" y="4265613"/>
          <a:ext cx="6337300" cy="182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4819015" imgH="1184275" progId="Visio.Drawing.6">
                  <p:embed/>
                </p:oleObj>
              </mc:Choice>
              <mc:Fallback>
                <p:oleObj r:id="rId8" imgW="4819015" imgH="1184275" progId="Visio.Drawing.6">
                  <p:embed/>
                  <p:pic>
                    <p:nvPicPr>
                      <p:cNvPr id="0" name="图片 3382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403350" y="4265613"/>
                        <a:ext cx="6337300" cy="18272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24" name="Rectangle 24"/>
          <p:cNvSpPr/>
          <p:nvPr/>
        </p:nvSpPr>
        <p:spPr>
          <a:xfrm>
            <a:off x="3025775" y="4410075"/>
            <a:ext cx="3168650" cy="1223963"/>
          </a:xfrm>
          <a:prstGeom prst="rect">
            <a:avLst/>
          </a:prstGeom>
          <a:solidFill>
            <a:schemeClr val="accent1">
              <a:alpha val="0"/>
            </a:schemeClr>
          </a:solidFill>
          <a:ln w="12700" cap="flat" cmpd="sng">
            <a:solidFill>
              <a:srgbClr val="0000FF"/>
            </a:solidFill>
            <a:prstDash val="dash"/>
            <a:miter/>
            <a:headEnd type="none" w="sm" len="sm"/>
            <a:tailEnd type="none" w="sm" len="sm"/>
          </a:ln>
        </p:spPr>
        <p:txBody>
          <a:bodyPr wrap="none" anchor="ctr" anchorCtr="0"/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7125" name="Text Box 25"/>
          <p:cNvSpPr txBox="1"/>
          <p:nvPr/>
        </p:nvSpPr>
        <p:spPr>
          <a:xfrm>
            <a:off x="5413375" y="6435725"/>
            <a:ext cx="1390650" cy="366713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1800" b="0" dirty="0">
                <a:latin typeface="Arial" panose="020B0604020202020204" pitchFamily="34" charset="0"/>
                <a:ea typeface="黑体" panose="02010609060101010101" charset="-122"/>
              </a:rPr>
              <a:t>井元伟 教授</a:t>
            </a: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日期占位符 4"/>
          <p:cNvSpPr txBox="1">
            <a:spLocks noGrp="1"/>
          </p:cNvSpPr>
          <p:nvPr>
            <p:ph type="dt" sz="half" idx="10"/>
          </p:nvPr>
        </p:nvSpPr>
        <p:spPr>
          <a:xfrm>
            <a:off x="2941638" y="5157788"/>
            <a:ext cx="3311525" cy="404812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BB962C8B-B14F-4D97-AF65-F5344CB8AC3E}" type="datetime2">
              <a:rPr lang="zh-CN" altLang="en-US" sz="2400" b="0" dirty="0">
                <a:solidFill>
                  <a:schemeClr val="bg1"/>
                </a:solidFill>
              </a:rPr>
              <a:t>2026年7月17日</a:t>
            </a:fld>
            <a:endParaRPr lang="zh-CN" altLang="en-US" sz="2400" b="0" dirty="0">
              <a:solidFill>
                <a:schemeClr val="bg1"/>
              </a:solidFill>
            </a:endParaRPr>
          </a:p>
        </p:txBody>
      </p:sp>
      <p:pic>
        <p:nvPicPr>
          <p:cNvPr id="48131" name="Picture 2" descr="底图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8132" name="Rectangle 3"/>
          <p:cNvSpPr>
            <a:spLocks noGrp="1"/>
          </p:cNvSpPr>
          <p:nvPr>
            <p:ph type="body" sz="half" idx="1"/>
          </p:nvPr>
        </p:nvSpPr>
        <p:spPr>
          <a:ln/>
        </p:spPr>
        <p:txBody>
          <a:bodyPr vert="horz" wrap="square" lIns="91440" tIns="45720" rIns="91440" bIns="45720" anchor="t" anchorCtr="0"/>
          <a:lstStyle/>
          <a:p>
            <a:pPr algn="ctr" eaLnBrk="1" hangingPunct="1">
              <a:buClrTx/>
              <a:buSzTx/>
              <a:buFontTx/>
              <a:buNone/>
            </a:pPr>
            <a:endParaRPr lang="en-US" altLang="zh-CN" sz="2400" dirty="0">
              <a:ea typeface="黑体" panose="02010609060101010101" charset="-122"/>
            </a:endParaRPr>
          </a:p>
          <a:p>
            <a:pPr algn="ctr" eaLnBrk="1" hangingPunct="1">
              <a:buClrTx/>
              <a:buSzTx/>
              <a:buFontTx/>
              <a:buNone/>
            </a:pPr>
            <a:endParaRPr lang="en-US" altLang="zh-CN" sz="2400" dirty="0">
              <a:ea typeface="黑体" panose="02010609060101010101" charset="-122"/>
            </a:endParaRPr>
          </a:p>
          <a:p>
            <a:pPr algn="ctr" eaLnBrk="1" hangingPunct="1">
              <a:buClrTx/>
              <a:buSzTx/>
              <a:buFontTx/>
              <a:buNone/>
            </a:pPr>
            <a:r>
              <a:rPr lang="en-US" altLang="zh-CN" sz="2400" dirty="0">
                <a:ea typeface="黑体" panose="02010609060101010101" charset="-122"/>
              </a:rPr>
              <a:t> </a:t>
            </a:r>
            <a:endParaRPr lang="en-US" altLang="zh-CN" sz="2400" dirty="0">
              <a:solidFill>
                <a:schemeClr val="bg2"/>
              </a:solidFill>
              <a:ea typeface="黑体" panose="02010609060101010101" charset="-122"/>
            </a:endParaRPr>
          </a:p>
        </p:txBody>
      </p:sp>
      <p:sp>
        <p:nvSpPr>
          <p:cNvPr id="48133" name="Rectangle 4"/>
          <p:cNvSpPr/>
          <p:nvPr/>
        </p:nvSpPr>
        <p:spPr>
          <a:xfrm>
            <a:off x="4479925" y="3048000"/>
            <a:ext cx="184150" cy="457200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lstStyle/>
          <a:p>
            <a:pPr algn="ctr"/>
            <a:endParaRPr lang="zh-CN" altLang="zh-CN" sz="2400" b="0" dirty="0">
              <a:latin typeface="Arial" panose="020B0604020202020204" pitchFamily="34" charset="0"/>
              <a:ea typeface="黑体" panose="02010609060101010101" charset="-122"/>
            </a:endParaRPr>
          </a:p>
        </p:txBody>
      </p:sp>
      <p:sp>
        <p:nvSpPr>
          <p:cNvPr id="48134" name="Rectangle 5"/>
          <p:cNvSpPr/>
          <p:nvPr/>
        </p:nvSpPr>
        <p:spPr>
          <a:xfrm>
            <a:off x="4479925" y="3048000"/>
            <a:ext cx="184150" cy="457200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lstStyle/>
          <a:p>
            <a:pPr algn="ctr"/>
            <a:endParaRPr lang="zh-CN" altLang="zh-CN" sz="2400" b="0" dirty="0">
              <a:latin typeface="Arial" panose="020B0604020202020204" pitchFamily="34" charset="0"/>
              <a:ea typeface="黑体" panose="02010609060101010101" charset="-122"/>
            </a:endParaRPr>
          </a:p>
        </p:txBody>
      </p:sp>
      <p:sp>
        <p:nvSpPr>
          <p:cNvPr id="48135" name="Rectangle 6"/>
          <p:cNvSpPr/>
          <p:nvPr/>
        </p:nvSpPr>
        <p:spPr>
          <a:xfrm>
            <a:off x="4479925" y="3086100"/>
            <a:ext cx="184150" cy="457200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lstStyle/>
          <a:p>
            <a:pPr algn="ctr"/>
            <a:endParaRPr lang="zh-CN" altLang="zh-CN" sz="2400" b="0" dirty="0">
              <a:latin typeface="Arial" panose="020B0604020202020204" pitchFamily="34" charset="0"/>
              <a:ea typeface="黑体" panose="02010609060101010101" charset="-122"/>
            </a:endParaRPr>
          </a:p>
        </p:txBody>
      </p:sp>
      <p:graphicFrame>
        <p:nvGraphicFramePr>
          <p:cNvPr id="48136" name="Object 7"/>
          <p:cNvGraphicFramePr/>
          <p:nvPr/>
        </p:nvGraphicFramePr>
        <p:xfrm>
          <a:off x="3563938" y="1700213"/>
          <a:ext cx="1944687" cy="98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774065" imgH="431800" progId="Equation.DSMT4">
                  <p:embed/>
                </p:oleObj>
              </mc:Choice>
              <mc:Fallback>
                <p:oleObj r:id="rId4" imgW="774065" imgH="431800" progId="Equation.DSMT4">
                  <p:embed/>
                  <p:pic>
                    <p:nvPicPr>
                      <p:cNvPr id="0" name="图片 3386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563938" y="1700213"/>
                        <a:ext cx="1944687" cy="984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37" name="Rectangle 8"/>
          <p:cNvSpPr/>
          <p:nvPr/>
        </p:nvSpPr>
        <p:spPr>
          <a:xfrm>
            <a:off x="1000125" y="2708275"/>
            <a:ext cx="1708150" cy="457200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lstStyle/>
          <a:p>
            <a:pPr eaLnBrk="1" hangingPunct="1"/>
            <a:r>
              <a:rPr lang="zh-CN" altLang="en-US" sz="2400" b="0" dirty="0">
                <a:latin typeface="Arial" panose="020B0604020202020204" pitchFamily="34" charset="0"/>
                <a:ea typeface="黑体" panose="02010609060101010101" charset="-122"/>
              </a:rPr>
              <a:t>和输出反馈</a:t>
            </a:r>
          </a:p>
        </p:txBody>
      </p:sp>
      <p:sp>
        <p:nvSpPr>
          <p:cNvPr id="48138" name="Rectangle 9"/>
          <p:cNvSpPr/>
          <p:nvPr/>
        </p:nvSpPr>
        <p:spPr>
          <a:xfrm>
            <a:off x="4479925" y="3100388"/>
            <a:ext cx="184150" cy="457200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lstStyle/>
          <a:p>
            <a:pPr algn="ctr"/>
            <a:endParaRPr lang="zh-CN" altLang="zh-CN" sz="2400" b="0" dirty="0">
              <a:latin typeface="Arial" panose="020B0604020202020204" pitchFamily="34" charset="0"/>
              <a:ea typeface="黑体" panose="02010609060101010101" charset="-122"/>
            </a:endParaRPr>
          </a:p>
        </p:txBody>
      </p:sp>
      <p:graphicFrame>
        <p:nvGraphicFramePr>
          <p:cNvPr id="48139" name="Object 10"/>
          <p:cNvGraphicFramePr/>
          <p:nvPr/>
        </p:nvGraphicFramePr>
        <p:xfrm>
          <a:off x="3779838" y="3068638"/>
          <a:ext cx="1511300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659765" imgH="203200" progId="Equation.DSMT4">
                  <p:embed/>
                </p:oleObj>
              </mc:Choice>
              <mc:Fallback>
                <p:oleObj r:id="rId6" imgW="659765" imgH="203200" progId="Equation.DSMT4">
                  <p:embed/>
                  <p:pic>
                    <p:nvPicPr>
                      <p:cNvPr id="0" name="图片 3384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779838" y="3068638"/>
                        <a:ext cx="1511300" cy="4587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40" name="Rectangle 11"/>
          <p:cNvSpPr/>
          <p:nvPr/>
        </p:nvSpPr>
        <p:spPr>
          <a:xfrm>
            <a:off x="1004888" y="3654425"/>
            <a:ext cx="4764087" cy="457200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lstStyle/>
          <a:p>
            <a:pPr eaLnBrk="1" hangingPunct="1"/>
            <a:r>
              <a:rPr lang="zh-CN" altLang="en-US" sz="2400" b="0" dirty="0">
                <a:latin typeface="Arial" panose="020B0604020202020204" pitchFamily="34" charset="0"/>
                <a:ea typeface="黑体" panose="02010609060101010101" charset="-122"/>
              </a:rPr>
              <a:t>所组成。从 </a:t>
            </a:r>
            <a:r>
              <a:rPr lang="en-US" altLang="zh-CN" sz="2400" b="0" i="1" dirty="0">
                <a:latin typeface="Times New Roman" panose="02020603050405020304" pitchFamily="18" charset="0"/>
                <a:ea typeface="黑体" panose="02010609060101010101" charset="-122"/>
              </a:rPr>
              <a:t>a </a:t>
            </a:r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charset="-122"/>
              </a:rPr>
              <a:t>到 </a:t>
            </a:r>
            <a:r>
              <a:rPr lang="en-US" altLang="zh-CN" sz="2400" b="0" i="1" dirty="0">
                <a:latin typeface="Times New Roman" panose="02020603050405020304" pitchFamily="18" charset="0"/>
                <a:ea typeface="黑体" panose="02010609060101010101" charset="-122"/>
              </a:rPr>
              <a:t>b </a:t>
            </a:r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charset="-122"/>
              </a:rPr>
              <a:t>的</a:t>
            </a:r>
            <a:r>
              <a:rPr lang="zh-CN" altLang="en-US" sz="2400" b="0" dirty="0">
                <a:latin typeface="Arial" panose="020B0604020202020204" pitchFamily="34" charset="0"/>
                <a:ea typeface="黑体" panose="02010609060101010101" charset="-122"/>
              </a:rPr>
              <a:t>传递函数矩阵</a:t>
            </a:r>
          </a:p>
        </p:txBody>
      </p:sp>
      <p:graphicFrame>
        <p:nvGraphicFramePr>
          <p:cNvPr id="48141" name="Object 12"/>
          <p:cNvGraphicFramePr/>
          <p:nvPr/>
        </p:nvGraphicFramePr>
        <p:xfrm>
          <a:off x="5661025" y="3671888"/>
          <a:ext cx="863600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431800" imgH="228600" progId="Equation.DSMT4">
                  <p:embed/>
                </p:oleObj>
              </mc:Choice>
              <mc:Fallback>
                <p:oleObj r:id="rId8" imgW="431800" imgH="228600" progId="Equation.DSMT4">
                  <p:embed/>
                  <p:pic>
                    <p:nvPicPr>
                      <p:cNvPr id="0" name="图片 3387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661025" y="3671888"/>
                        <a:ext cx="863600" cy="4603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42" name="Rectangle 13"/>
          <p:cNvSpPr/>
          <p:nvPr/>
        </p:nvSpPr>
        <p:spPr>
          <a:xfrm>
            <a:off x="1004888" y="4200525"/>
            <a:ext cx="4756150" cy="457200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lstStyle/>
          <a:p>
            <a:pPr eaLnBrk="1" hangingPunct="1"/>
            <a:r>
              <a:rPr lang="zh-CN" altLang="en-US" sz="2400" b="0" dirty="0">
                <a:latin typeface="Arial" panose="020B0604020202020204" pitchFamily="34" charset="0"/>
                <a:ea typeface="黑体" panose="02010609060101010101" charset="-122"/>
              </a:rPr>
              <a:t>输出反馈传递函数阵的公式求出，</a:t>
            </a:r>
          </a:p>
        </p:txBody>
      </p:sp>
      <p:sp>
        <p:nvSpPr>
          <p:cNvPr id="48143" name="Rectangle 14"/>
          <p:cNvSpPr/>
          <p:nvPr/>
        </p:nvSpPr>
        <p:spPr>
          <a:xfrm>
            <a:off x="6113463" y="3644900"/>
            <a:ext cx="1435100" cy="4572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r>
              <a:rPr lang="en-US" altLang="zh-CN" sz="2400" b="0" dirty="0">
                <a:latin typeface="Arial" panose="020B0604020202020204" pitchFamily="34" charset="0"/>
                <a:ea typeface="黑体" panose="02010609060101010101" charset="-122"/>
              </a:rPr>
              <a:t>    </a:t>
            </a:r>
            <a:r>
              <a:rPr lang="zh-CN" altLang="en-US" sz="2400" b="0" dirty="0">
                <a:latin typeface="Arial" panose="020B0604020202020204" pitchFamily="34" charset="0"/>
                <a:ea typeface="黑体" panose="02010609060101010101" charset="-122"/>
              </a:rPr>
              <a:t>不难用</a:t>
            </a:r>
          </a:p>
        </p:txBody>
      </p:sp>
      <p:sp>
        <p:nvSpPr>
          <p:cNvPr id="48144" name="Rectangle 15"/>
          <p:cNvSpPr/>
          <p:nvPr/>
        </p:nvSpPr>
        <p:spPr>
          <a:xfrm>
            <a:off x="5292725" y="2198688"/>
            <a:ext cx="2089150" cy="4572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hlink"/>
              </a:buClr>
              <a:buSzPct val="75000"/>
              <a:buFont typeface="Monotype Sorts" charset="2"/>
            </a:pPr>
            <a:r>
              <a:rPr lang="en-US" altLang="zh-CN" sz="2400" b="0" dirty="0">
                <a:latin typeface="Times New Roman" panose="02020603050405020304" pitchFamily="18" charset="0"/>
                <a:ea typeface="黑体" panose="02010609060101010101" charset="-122"/>
              </a:rPr>
              <a:t>( </a:t>
            </a:r>
            <a:r>
              <a:rPr lang="en-US" altLang="zh-CN" sz="2400" b="0" i="1" dirty="0">
                <a:latin typeface="Times New Roman" panose="02020603050405020304" pitchFamily="18" charset="0"/>
                <a:ea typeface="黑体" panose="02010609060101010101" charset="-122"/>
              </a:rPr>
              <a:t>I</a:t>
            </a:r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charset="-122"/>
              </a:rPr>
              <a:t>为单位矩阵</a:t>
            </a:r>
            <a:r>
              <a:rPr lang="en-US" altLang="zh-CN" sz="2400" b="0" dirty="0">
                <a:latin typeface="Times New Roman" panose="02020603050405020304" pitchFamily="18" charset="0"/>
                <a:ea typeface="黑体" panose="02010609060101010101" charset="-122"/>
              </a:rPr>
              <a:t>)</a:t>
            </a:r>
          </a:p>
        </p:txBody>
      </p:sp>
      <p:sp>
        <p:nvSpPr>
          <p:cNvPr id="48145" name="Rectangle 16"/>
          <p:cNvSpPr/>
          <p:nvPr/>
        </p:nvSpPr>
        <p:spPr>
          <a:xfrm>
            <a:off x="1042988" y="1177925"/>
            <a:ext cx="5670550" cy="4572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b="0" dirty="0">
                <a:latin typeface="Arial" panose="020B0604020202020204" pitchFamily="34" charset="0"/>
                <a:ea typeface="黑体" panose="02010609060101010101" charset="-122"/>
              </a:rPr>
              <a:t>图中</a:t>
            </a:r>
            <a:r>
              <a:rPr lang="en-US" altLang="zh-CN" sz="2400" b="0" i="1" dirty="0">
                <a:latin typeface="Times New Roman" panose="02020603050405020304" pitchFamily="18" charset="0"/>
                <a:ea typeface="黑体" panose="02010609060101010101" charset="-122"/>
              </a:rPr>
              <a:t>a</a:t>
            </a:r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charset="-122"/>
              </a:rPr>
              <a:t>和</a:t>
            </a:r>
            <a:r>
              <a:rPr lang="en-US" altLang="zh-CN" sz="2400" b="0" i="1" dirty="0">
                <a:latin typeface="Times New Roman" panose="02020603050405020304" pitchFamily="18" charset="0"/>
                <a:ea typeface="黑体" panose="02010609060101010101" charset="-122"/>
              </a:rPr>
              <a:t>b</a:t>
            </a:r>
            <a:r>
              <a:rPr lang="zh-CN" altLang="en-US" sz="2400" b="0" dirty="0">
                <a:latin typeface="Arial" panose="020B0604020202020204" pitchFamily="34" charset="0"/>
                <a:ea typeface="黑体" panose="02010609060101010101" charset="-122"/>
              </a:rPr>
              <a:t>之间的部分，可以看成是由系统</a:t>
            </a:r>
          </a:p>
        </p:txBody>
      </p:sp>
      <p:sp>
        <p:nvSpPr>
          <p:cNvPr id="48146" name="Text Box 17"/>
          <p:cNvSpPr txBox="1"/>
          <p:nvPr/>
        </p:nvSpPr>
        <p:spPr>
          <a:xfrm>
            <a:off x="5651500" y="188913"/>
            <a:ext cx="3313113" cy="366712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r>
              <a:rPr lang="zh-CN" altLang="en-US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第 </a:t>
            </a:r>
            <a:r>
              <a:rPr lang="en-US" altLang="zh-CN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6 </a:t>
            </a:r>
            <a:r>
              <a:rPr lang="zh-CN" altLang="en-US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章  状态反馈和状态观测器</a:t>
            </a:r>
          </a:p>
        </p:txBody>
      </p:sp>
      <p:sp>
        <p:nvSpPr>
          <p:cNvPr id="48147" name="Text Box 18"/>
          <p:cNvSpPr txBox="1"/>
          <p:nvPr/>
        </p:nvSpPr>
        <p:spPr>
          <a:xfrm>
            <a:off x="250825" y="6440488"/>
            <a:ext cx="3097213" cy="366712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r>
              <a:rPr lang="en-US" altLang="zh-CN" sz="1800" b="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charset="-122"/>
              </a:rPr>
              <a:t>1. </a:t>
            </a:r>
            <a:r>
              <a:rPr lang="zh-CN" altLang="en-US" sz="1800" b="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charset="-122"/>
              </a:rPr>
              <a:t>状态反馈的定义及其性质</a:t>
            </a:r>
          </a:p>
        </p:txBody>
      </p:sp>
      <p:graphicFrame>
        <p:nvGraphicFramePr>
          <p:cNvPr id="48148" name="Object 19"/>
          <p:cNvGraphicFramePr>
            <a:graphicFrameLocks noGrp="1"/>
          </p:cNvGraphicFramePr>
          <p:nvPr>
            <p:ph sz="half" idx="2"/>
          </p:nvPr>
        </p:nvGraphicFramePr>
        <p:xfrm>
          <a:off x="1908175" y="4941888"/>
          <a:ext cx="5256213" cy="51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2463800" imgH="241300" progId="Equation.DSMT4">
                  <p:embed/>
                </p:oleObj>
              </mc:Choice>
              <mc:Fallback>
                <p:oleObj r:id="rId10" imgW="2463800" imgH="241300" progId="Equation.DSMT4">
                  <p:embed/>
                  <p:pic>
                    <p:nvPicPr>
                      <p:cNvPr id="0" name="图片 3385"/>
                      <p:cNvPicPr/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>
                      <a:xfrm>
                        <a:off x="1908175" y="4941888"/>
                        <a:ext cx="5256213" cy="515937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49" name="Text Box 23"/>
          <p:cNvSpPr txBox="1"/>
          <p:nvPr/>
        </p:nvSpPr>
        <p:spPr>
          <a:xfrm>
            <a:off x="5413375" y="6435725"/>
            <a:ext cx="1390650" cy="366713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1800" b="0" dirty="0">
                <a:latin typeface="Arial" panose="020B0604020202020204" pitchFamily="34" charset="0"/>
                <a:ea typeface="黑体" panose="02010609060101010101" charset="-122"/>
              </a:rPr>
              <a:t>井元伟 教授</a:t>
            </a: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日期占位符 3"/>
          <p:cNvSpPr txBox="1">
            <a:spLocks noGrp="1"/>
          </p:cNvSpPr>
          <p:nvPr>
            <p:ph type="dt" sz="half" idx="10"/>
          </p:nvPr>
        </p:nvSpPr>
        <p:spPr>
          <a:xfrm>
            <a:off x="2941638" y="5157788"/>
            <a:ext cx="3311525" cy="404812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BB962C8B-B14F-4D97-AF65-F5344CB8AC3E}" type="datetime2">
              <a:rPr lang="zh-CN" altLang="en-US" sz="2400" b="0" dirty="0">
                <a:solidFill>
                  <a:schemeClr val="bg1"/>
                </a:solidFill>
              </a:rPr>
              <a:t>2026年7月17日</a:t>
            </a:fld>
            <a:endParaRPr lang="zh-CN" altLang="en-US" sz="2400" b="0" dirty="0">
              <a:solidFill>
                <a:schemeClr val="bg1"/>
              </a:solidFill>
            </a:endParaRPr>
          </a:p>
        </p:txBody>
      </p:sp>
      <p:pic>
        <p:nvPicPr>
          <p:cNvPr id="52227" name="Picture 2" descr="底图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52228" name="Object 4"/>
          <p:cNvGraphicFramePr/>
          <p:nvPr/>
        </p:nvGraphicFramePr>
        <p:xfrm>
          <a:off x="1908175" y="1479550"/>
          <a:ext cx="315913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14300" imgH="139700" progId="Equation.DSMT4">
                  <p:embed/>
                </p:oleObj>
              </mc:Choice>
              <mc:Fallback>
                <p:oleObj r:id="rId4" imgW="114300" imgH="139700" progId="Equation.DSMT4">
                  <p:embed/>
                  <p:pic>
                    <p:nvPicPr>
                      <p:cNvPr id="0" name="图片 3398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08175" y="1479550"/>
                        <a:ext cx="315913" cy="3952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29" name="Object 5"/>
          <p:cNvGraphicFramePr/>
          <p:nvPr/>
        </p:nvGraphicFramePr>
        <p:xfrm>
          <a:off x="2493963" y="1512888"/>
          <a:ext cx="349250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39700" imgH="165100" progId="Equation.DSMT4">
                  <p:embed/>
                </p:oleObj>
              </mc:Choice>
              <mc:Fallback>
                <p:oleObj r:id="rId6" imgW="139700" imgH="165100" progId="Equation.DSMT4">
                  <p:embed/>
                  <p:pic>
                    <p:nvPicPr>
                      <p:cNvPr id="0" name="图片 3397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493963" y="1512888"/>
                        <a:ext cx="349250" cy="3952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0" name="Object 6"/>
          <p:cNvGraphicFramePr/>
          <p:nvPr/>
        </p:nvGraphicFramePr>
        <p:xfrm>
          <a:off x="4932363" y="1477963"/>
          <a:ext cx="1368425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660400" imgH="203200" progId="Equation.DSMT4">
                  <p:embed/>
                </p:oleObj>
              </mc:Choice>
              <mc:Fallback>
                <p:oleObj r:id="rId8" imgW="660400" imgH="203200" progId="Equation.DSMT4">
                  <p:embed/>
                  <p:pic>
                    <p:nvPicPr>
                      <p:cNvPr id="0" name="图片 3394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932363" y="1477963"/>
                        <a:ext cx="1368425" cy="415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31" name="Rectangle 7"/>
          <p:cNvSpPr/>
          <p:nvPr/>
        </p:nvSpPr>
        <p:spPr>
          <a:xfrm>
            <a:off x="611188" y="1419225"/>
            <a:ext cx="1403350" cy="457200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lstStyle/>
          <a:p>
            <a:pPr eaLnBrk="1" hangingPunct="1"/>
            <a:r>
              <a:rPr lang="zh-CN" altLang="en-US" sz="2400" b="0" dirty="0">
                <a:latin typeface="Arial" panose="020B0604020202020204" pitchFamily="34" charset="0"/>
                <a:ea typeface="黑体" panose="02010609060101010101" charset="-122"/>
              </a:rPr>
              <a:t>于是，从</a:t>
            </a:r>
          </a:p>
        </p:txBody>
      </p:sp>
      <p:sp>
        <p:nvSpPr>
          <p:cNvPr id="52232" name="Rectangle 8"/>
          <p:cNvSpPr/>
          <p:nvPr/>
        </p:nvSpPr>
        <p:spPr>
          <a:xfrm>
            <a:off x="2124075" y="1412875"/>
            <a:ext cx="488950" cy="457200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lstStyle/>
          <a:p>
            <a:pPr eaLnBrk="1" hangingPunct="1"/>
            <a:r>
              <a:rPr lang="zh-CN" altLang="en-US" sz="2400" b="0" dirty="0">
                <a:latin typeface="Arial" panose="020B0604020202020204" pitchFamily="34" charset="0"/>
                <a:ea typeface="黑体" panose="02010609060101010101" charset="-122"/>
              </a:rPr>
              <a:t>到</a:t>
            </a:r>
          </a:p>
        </p:txBody>
      </p:sp>
      <p:sp>
        <p:nvSpPr>
          <p:cNvPr id="52233" name="Rectangle 9"/>
          <p:cNvSpPr/>
          <p:nvPr/>
        </p:nvSpPr>
        <p:spPr>
          <a:xfrm>
            <a:off x="2700338" y="1412875"/>
            <a:ext cx="2317750" cy="457200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lstStyle/>
          <a:p>
            <a:pPr eaLnBrk="1" hangingPunct="1"/>
            <a:r>
              <a:rPr lang="zh-CN" altLang="en-US" sz="2400" b="0" dirty="0">
                <a:latin typeface="Arial" panose="020B0604020202020204" pitchFamily="34" charset="0"/>
                <a:ea typeface="黑体" panose="02010609060101010101" charset="-122"/>
              </a:rPr>
              <a:t>的传递函数矩阵</a:t>
            </a:r>
          </a:p>
        </p:txBody>
      </p:sp>
      <p:sp>
        <p:nvSpPr>
          <p:cNvPr id="52234" name="Rectangle 10"/>
          <p:cNvSpPr/>
          <p:nvPr/>
        </p:nvSpPr>
        <p:spPr>
          <a:xfrm>
            <a:off x="6226175" y="1428750"/>
            <a:ext cx="793750" cy="457200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lstStyle/>
          <a:p>
            <a:pPr eaLnBrk="1" hangingPunct="1"/>
            <a:r>
              <a:rPr lang="zh-CN" altLang="en-US" sz="2400" b="0" dirty="0">
                <a:latin typeface="Arial" panose="020B0604020202020204" pitchFamily="34" charset="0"/>
                <a:ea typeface="黑体" panose="02010609060101010101" charset="-122"/>
              </a:rPr>
              <a:t>即为</a:t>
            </a:r>
          </a:p>
        </p:txBody>
      </p:sp>
      <p:graphicFrame>
        <p:nvGraphicFramePr>
          <p:cNvPr id="52235" name="Object 11"/>
          <p:cNvGraphicFramePr/>
          <p:nvPr/>
        </p:nvGraphicFramePr>
        <p:xfrm>
          <a:off x="1284288" y="2133600"/>
          <a:ext cx="6002337" cy="1058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2907030" imgH="482600" progId="Equation.DSMT4">
                  <p:embed/>
                </p:oleObj>
              </mc:Choice>
              <mc:Fallback>
                <p:oleObj r:id="rId10" imgW="2907030" imgH="482600" progId="Equation.DSMT4">
                  <p:embed/>
                  <p:pic>
                    <p:nvPicPr>
                      <p:cNvPr id="0" name="图片 3396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284288" y="2133600"/>
                        <a:ext cx="6002337" cy="10588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36" name="Text Box 12"/>
          <p:cNvSpPr txBox="1"/>
          <p:nvPr/>
        </p:nvSpPr>
        <p:spPr>
          <a:xfrm>
            <a:off x="5651500" y="188913"/>
            <a:ext cx="3313113" cy="366712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r>
              <a:rPr lang="zh-CN" altLang="en-US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第 </a:t>
            </a:r>
            <a:r>
              <a:rPr lang="en-US" altLang="zh-CN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6 </a:t>
            </a:r>
            <a:r>
              <a:rPr lang="zh-CN" altLang="en-US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章  状态反馈和状态观测器</a:t>
            </a:r>
          </a:p>
        </p:txBody>
      </p:sp>
      <p:sp>
        <p:nvSpPr>
          <p:cNvPr id="52237" name="Text Box 13"/>
          <p:cNvSpPr txBox="1"/>
          <p:nvPr/>
        </p:nvSpPr>
        <p:spPr>
          <a:xfrm>
            <a:off x="250825" y="6440488"/>
            <a:ext cx="3097213" cy="366712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r>
              <a:rPr lang="en-US" altLang="zh-CN" sz="1800" b="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charset="-122"/>
              </a:rPr>
              <a:t>1. </a:t>
            </a:r>
            <a:r>
              <a:rPr lang="zh-CN" altLang="en-US" sz="1800" b="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charset="-122"/>
              </a:rPr>
              <a:t>状态反馈的定义及其性质</a:t>
            </a:r>
          </a:p>
        </p:txBody>
      </p:sp>
      <p:sp>
        <p:nvSpPr>
          <p:cNvPr id="52238" name="AutoShape 24"/>
          <p:cNvSpPr/>
          <p:nvPr/>
        </p:nvSpPr>
        <p:spPr>
          <a:xfrm>
            <a:off x="1187450" y="3429000"/>
            <a:ext cx="6769100" cy="1944688"/>
          </a:xfrm>
          <a:prstGeom prst="wedgeRoundRectCallout">
            <a:avLst>
              <a:gd name="adj1" fmla="val 375"/>
              <a:gd name="adj2" fmla="val -63389"/>
              <a:gd name="adj3" fmla="val 16667"/>
            </a:avLst>
          </a:prstGeom>
          <a:solidFill>
            <a:schemeClr val="accent1"/>
          </a:solidFill>
          <a:ln w="12700" cap="flat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/>
          <a:lstStyle/>
          <a:p>
            <a:pPr algn="ctr" eaLnBrk="1" hangingPunct="1"/>
            <a:endParaRPr lang="zh-CN" altLang="zh-CN" dirty="0">
              <a:latin typeface="Arial" panose="020B0604020202020204" pitchFamily="34" charset="0"/>
            </a:endParaRPr>
          </a:p>
        </p:txBody>
      </p:sp>
      <p:graphicFrame>
        <p:nvGraphicFramePr>
          <p:cNvPr id="52239" name="Object 19"/>
          <p:cNvGraphicFramePr/>
          <p:nvPr/>
        </p:nvGraphicFramePr>
        <p:xfrm>
          <a:off x="1636713" y="3754438"/>
          <a:ext cx="6103937" cy="1403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2946400" imgH="685800" progId="Equation.DSMT4">
                  <p:embed/>
                </p:oleObj>
              </mc:Choice>
              <mc:Fallback>
                <p:oleObj r:id="rId12" imgW="2946400" imgH="685800" progId="Equation.DSMT4">
                  <p:embed/>
                  <p:pic>
                    <p:nvPicPr>
                      <p:cNvPr id="0" name="图片 3402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636713" y="3754438"/>
                        <a:ext cx="6103937" cy="1403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40" name="Text Box 26"/>
          <p:cNvSpPr txBox="1"/>
          <p:nvPr/>
        </p:nvSpPr>
        <p:spPr>
          <a:xfrm>
            <a:off x="5413375" y="6435725"/>
            <a:ext cx="1390650" cy="366713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1800" b="0" dirty="0">
                <a:latin typeface="Arial" panose="020B0604020202020204" pitchFamily="34" charset="0"/>
                <a:ea typeface="黑体" panose="02010609060101010101" charset="-122"/>
              </a:rPr>
              <a:t>井元伟 教授</a:t>
            </a: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日期占位符 3"/>
          <p:cNvSpPr txBox="1">
            <a:spLocks noGrp="1"/>
          </p:cNvSpPr>
          <p:nvPr>
            <p:ph type="dt" sz="half" idx="10"/>
          </p:nvPr>
        </p:nvSpPr>
        <p:spPr>
          <a:xfrm>
            <a:off x="2941638" y="5157788"/>
            <a:ext cx="3311525" cy="404812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BB962C8B-B14F-4D97-AF65-F5344CB8AC3E}" type="datetime2">
              <a:rPr lang="zh-CN" altLang="en-US" sz="2400" b="0" dirty="0">
                <a:solidFill>
                  <a:schemeClr val="bg1"/>
                </a:solidFill>
              </a:rPr>
              <a:t>2026年7月17日</a:t>
            </a:fld>
            <a:endParaRPr lang="zh-CN" altLang="en-US" sz="2400" b="0" dirty="0">
              <a:solidFill>
                <a:schemeClr val="bg1"/>
              </a:solidFill>
            </a:endParaRPr>
          </a:p>
        </p:txBody>
      </p:sp>
      <p:pic>
        <p:nvPicPr>
          <p:cNvPr id="56323" name="Picture 2" descr="底图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6324" name="Rectangle 3"/>
          <p:cNvSpPr>
            <a:spLocks noGrp="1"/>
          </p:cNvSpPr>
          <p:nvPr>
            <p:ph idx="1"/>
          </p:nvPr>
        </p:nvSpPr>
        <p:spPr>
          <a:xfrm>
            <a:off x="684213" y="620713"/>
            <a:ext cx="7773987" cy="5553075"/>
          </a:xfrm>
          <a:ln/>
        </p:spPr>
        <p:txBody>
          <a:bodyPr vert="horz" wrap="square" lIns="91440" tIns="45720" rIns="91440" bIns="45720" anchor="t" anchorCtr="0"/>
          <a:lstStyle/>
          <a:p>
            <a:pPr algn="ctr" eaLnBrk="1" hangingPunct="1">
              <a:buNone/>
            </a:pPr>
            <a:endParaRPr lang="en-US" altLang="zh-CN" dirty="0">
              <a:ea typeface="黑体" panose="02010609060101010101" charset="-122"/>
            </a:endParaRPr>
          </a:p>
          <a:p>
            <a:pPr algn="ctr" eaLnBrk="1" hangingPunct="1">
              <a:buNone/>
            </a:pPr>
            <a:endParaRPr lang="en-US" altLang="zh-CN" dirty="0">
              <a:ea typeface="黑体" panose="02010609060101010101" charset="-122"/>
            </a:endParaRPr>
          </a:p>
          <a:p>
            <a:pPr algn="ctr" eaLnBrk="1" hangingPunct="1">
              <a:buNone/>
            </a:pPr>
            <a:endParaRPr lang="en-US" altLang="zh-CN" dirty="0">
              <a:ea typeface="黑体" panose="02010609060101010101" charset="-122"/>
            </a:endParaRPr>
          </a:p>
          <a:p>
            <a:pPr algn="ctr" eaLnBrk="1" hangingPunct="1">
              <a:buNone/>
            </a:pPr>
            <a:endParaRPr lang="en-US" altLang="zh-CN" sz="3600" dirty="0">
              <a:ea typeface="黑体" panose="02010609060101010101" charset="-122"/>
            </a:endParaRPr>
          </a:p>
        </p:txBody>
      </p:sp>
      <p:graphicFrame>
        <p:nvGraphicFramePr>
          <p:cNvPr id="56325" name="Object 4"/>
          <p:cNvGraphicFramePr/>
          <p:nvPr/>
        </p:nvGraphicFramePr>
        <p:xfrm>
          <a:off x="1908175" y="1479550"/>
          <a:ext cx="315913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14300" imgH="139700" progId="Equation.DSMT4">
                  <p:embed/>
                </p:oleObj>
              </mc:Choice>
              <mc:Fallback>
                <p:oleObj r:id="rId4" imgW="114300" imgH="139700" progId="Equation.DSMT4">
                  <p:embed/>
                  <p:pic>
                    <p:nvPicPr>
                      <p:cNvPr id="0" name="图片 3417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08175" y="1479550"/>
                        <a:ext cx="315913" cy="3952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26" name="Object 5"/>
          <p:cNvGraphicFramePr/>
          <p:nvPr/>
        </p:nvGraphicFramePr>
        <p:xfrm>
          <a:off x="2493963" y="1512888"/>
          <a:ext cx="349250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39700" imgH="165100" progId="Equation.DSMT4">
                  <p:embed/>
                </p:oleObj>
              </mc:Choice>
              <mc:Fallback>
                <p:oleObj r:id="rId6" imgW="139700" imgH="165100" progId="Equation.DSMT4">
                  <p:embed/>
                  <p:pic>
                    <p:nvPicPr>
                      <p:cNvPr id="0" name="图片 341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493963" y="1512888"/>
                        <a:ext cx="349250" cy="3952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27" name="Object 6"/>
          <p:cNvGraphicFramePr/>
          <p:nvPr/>
        </p:nvGraphicFramePr>
        <p:xfrm>
          <a:off x="4932363" y="1477963"/>
          <a:ext cx="1368425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660400" imgH="203200" progId="Equation.DSMT4">
                  <p:embed/>
                </p:oleObj>
              </mc:Choice>
              <mc:Fallback>
                <p:oleObj r:id="rId8" imgW="660400" imgH="203200" progId="Equation.DSMT4">
                  <p:embed/>
                  <p:pic>
                    <p:nvPicPr>
                      <p:cNvPr id="0" name="图片 3416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932363" y="1477963"/>
                        <a:ext cx="1368425" cy="415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28" name="Rectangle 7"/>
          <p:cNvSpPr/>
          <p:nvPr/>
        </p:nvSpPr>
        <p:spPr>
          <a:xfrm>
            <a:off x="611188" y="1419225"/>
            <a:ext cx="1403350" cy="457200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lstStyle/>
          <a:p>
            <a:pPr eaLnBrk="1" hangingPunct="1"/>
            <a:r>
              <a:rPr lang="zh-CN" altLang="en-US" sz="2400" b="0" dirty="0">
                <a:latin typeface="Arial" panose="020B0604020202020204" pitchFamily="34" charset="0"/>
                <a:ea typeface="黑体" panose="02010609060101010101" charset="-122"/>
              </a:rPr>
              <a:t>于是，从</a:t>
            </a:r>
          </a:p>
        </p:txBody>
      </p:sp>
      <p:sp>
        <p:nvSpPr>
          <p:cNvPr id="56329" name="Rectangle 8"/>
          <p:cNvSpPr/>
          <p:nvPr/>
        </p:nvSpPr>
        <p:spPr>
          <a:xfrm>
            <a:off x="2124075" y="1412875"/>
            <a:ext cx="488950" cy="457200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lstStyle/>
          <a:p>
            <a:pPr eaLnBrk="1" hangingPunct="1"/>
            <a:r>
              <a:rPr lang="zh-CN" altLang="en-US" sz="2400" b="0" dirty="0">
                <a:latin typeface="Arial" panose="020B0604020202020204" pitchFamily="34" charset="0"/>
                <a:ea typeface="黑体" panose="02010609060101010101" charset="-122"/>
              </a:rPr>
              <a:t>到</a:t>
            </a:r>
          </a:p>
        </p:txBody>
      </p:sp>
      <p:sp>
        <p:nvSpPr>
          <p:cNvPr id="56330" name="Rectangle 9"/>
          <p:cNvSpPr/>
          <p:nvPr/>
        </p:nvSpPr>
        <p:spPr>
          <a:xfrm>
            <a:off x="2700338" y="1412875"/>
            <a:ext cx="2317750" cy="457200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lstStyle/>
          <a:p>
            <a:pPr eaLnBrk="1" hangingPunct="1"/>
            <a:r>
              <a:rPr lang="zh-CN" altLang="en-US" sz="2400" b="0" dirty="0">
                <a:latin typeface="Arial" panose="020B0604020202020204" pitchFamily="34" charset="0"/>
                <a:ea typeface="黑体" panose="02010609060101010101" charset="-122"/>
              </a:rPr>
              <a:t>的传递函数矩阵</a:t>
            </a:r>
          </a:p>
        </p:txBody>
      </p:sp>
      <p:sp>
        <p:nvSpPr>
          <p:cNvPr id="56331" name="Rectangle 10"/>
          <p:cNvSpPr/>
          <p:nvPr/>
        </p:nvSpPr>
        <p:spPr>
          <a:xfrm>
            <a:off x="6226175" y="1428750"/>
            <a:ext cx="793750" cy="457200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lstStyle/>
          <a:p>
            <a:pPr eaLnBrk="1" hangingPunct="1"/>
            <a:r>
              <a:rPr lang="zh-CN" altLang="en-US" sz="2400" b="0" dirty="0">
                <a:latin typeface="Arial" panose="020B0604020202020204" pitchFamily="34" charset="0"/>
                <a:ea typeface="黑体" panose="02010609060101010101" charset="-122"/>
              </a:rPr>
              <a:t>即为</a:t>
            </a:r>
          </a:p>
        </p:txBody>
      </p:sp>
      <p:graphicFrame>
        <p:nvGraphicFramePr>
          <p:cNvPr id="56332" name="Object 11"/>
          <p:cNvGraphicFramePr/>
          <p:nvPr/>
        </p:nvGraphicFramePr>
        <p:xfrm>
          <a:off x="1284288" y="2133600"/>
          <a:ext cx="6002337" cy="1058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2907030" imgH="482600" progId="Equation.DSMT4">
                  <p:embed/>
                </p:oleObj>
              </mc:Choice>
              <mc:Fallback>
                <p:oleObj r:id="rId10" imgW="2907030" imgH="482600" progId="Equation.DSMT4">
                  <p:embed/>
                  <p:pic>
                    <p:nvPicPr>
                      <p:cNvPr id="0" name="图片 3419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284288" y="2133600"/>
                        <a:ext cx="6002337" cy="10588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33" name="Object 12"/>
          <p:cNvGraphicFramePr/>
          <p:nvPr/>
        </p:nvGraphicFramePr>
        <p:xfrm>
          <a:off x="4932363" y="4478338"/>
          <a:ext cx="360362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165100" imgH="165100" progId="Equation.DSMT4">
                  <p:embed/>
                </p:oleObj>
              </mc:Choice>
              <mc:Fallback>
                <p:oleObj r:id="rId12" imgW="165100" imgH="165100" progId="Equation.DSMT4">
                  <p:embed/>
                  <p:pic>
                    <p:nvPicPr>
                      <p:cNvPr id="0" name="图片 3421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932363" y="4478338"/>
                        <a:ext cx="360362" cy="3603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34" name="Object 13"/>
          <p:cNvGraphicFramePr/>
          <p:nvPr/>
        </p:nvGraphicFramePr>
        <p:xfrm>
          <a:off x="6156325" y="4460875"/>
          <a:ext cx="503238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241300" imgH="228600" progId="Equation.DSMT4">
                  <p:embed/>
                </p:oleObj>
              </mc:Choice>
              <mc:Fallback>
                <p:oleObj r:id="rId14" imgW="241300" imgH="228600" progId="Equation.DSMT4">
                  <p:embed/>
                  <p:pic>
                    <p:nvPicPr>
                      <p:cNvPr id="0" name="图片 3420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6156325" y="4460875"/>
                        <a:ext cx="503238" cy="4841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35" name="Object 14"/>
          <p:cNvGraphicFramePr/>
          <p:nvPr/>
        </p:nvGraphicFramePr>
        <p:xfrm>
          <a:off x="4284663" y="5129213"/>
          <a:ext cx="338137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6" imgW="165100" imgH="190500" progId="Equation.DSMT4">
                  <p:embed/>
                </p:oleObj>
              </mc:Choice>
              <mc:Fallback>
                <p:oleObj r:id="rId16" imgW="165100" imgH="190500" progId="Equation.DSMT4">
                  <p:embed/>
                  <p:pic>
                    <p:nvPicPr>
                      <p:cNvPr id="0" name="图片 3418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4284663" y="5129213"/>
                        <a:ext cx="338137" cy="396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36" name="Rectangle 15"/>
          <p:cNvSpPr/>
          <p:nvPr/>
        </p:nvSpPr>
        <p:spPr>
          <a:xfrm>
            <a:off x="539750" y="4437063"/>
            <a:ext cx="4467225" cy="457200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lstStyle/>
          <a:p>
            <a:pPr eaLnBrk="1" hangingPunct="1"/>
            <a:r>
              <a:rPr lang="en-US" altLang="zh-CN" sz="2400" b="0" dirty="0">
                <a:latin typeface="Arial" panose="020B0604020202020204" pitchFamily="34" charset="0"/>
                <a:ea typeface="黑体" panose="02010609060101010101" charset="-122"/>
              </a:rPr>
              <a:t> </a:t>
            </a:r>
            <a:r>
              <a:rPr lang="zh-CN" altLang="en-US" sz="2400" b="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charset="-122"/>
              </a:rPr>
              <a:t>定理 </a:t>
            </a:r>
            <a:r>
              <a:rPr lang="en-US" altLang="zh-CN" sz="2400" b="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charset="-122"/>
              </a:rPr>
              <a:t>6.1.1</a:t>
            </a:r>
            <a:r>
              <a:rPr lang="en-US" altLang="zh-CN" sz="2400" b="0" dirty="0">
                <a:latin typeface="Arial" panose="020B0604020202020204" pitchFamily="34" charset="0"/>
                <a:ea typeface="黑体" panose="02010609060101010101" charset="-122"/>
              </a:rPr>
              <a:t> </a:t>
            </a:r>
            <a:r>
              <a:rPr lang="zh-CN" altLang="en-US" sz="2400" b="0" dirty="0">
                <a:latin typeface="Arial" panose="020B0604020202020204" pitchFamily="34" charset="0"/>
                <a:ea typeface="黑体" panose="02010609060101010101" charset="-122"/>
              </a:rPr>
              <a:t>对于任何实常量矩阵</a:t>
            </a:r>
          </a:p>
        </p:txBody>
      </p:sp>
      <p:sp>
        <p:nvSpPr>
          <p:cNvPr id="56337" name="Rectangle 16"/>
          <p:cNvSpPr/>
          <p:nvPr/>
        </p:nvSpPr>
        <p:spPr>
          <a:xfrm>
            <a:off x="5148263" y="4437063"/>
            <a:ext cx="3127375" cy="457200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lstStyle/>
          <a:p>
            <a:pPr eaLnBrk="1" hangingPunct="1"/>
            <a:r>
              <a:rPr lang="zh-CN" altLang="en-US" sz="2400" b="0" dirty="0">
                <a:latin typeface="Arial" panose="020B0604020202020204" pitchFamily="34" charset="0"/>
                <a:ea typeface="黑体" panose="02010609060101010101" charset="-122"/>
              </a:rPr>
              <a:t>，系统      完全能控的</a:t>
            </a:r>
          </a:p>
        </p:txBody>
      </p:sp>
      <p:sp>
        <p:nvSpPr>
          <p:cNvPr id="56338" name="Rectangle 17"/>
          <p:cNvSpPr/>
          <p:nvPr/>
        </p:nvSpPr>
        <p:spPr>
          <a:xfrm>
            <a:off x="2063750" y="5080000"/>
            <a:ext cx="2317750" cy="457200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lstStyle/>
          <a:p>
            <a:pPr eaLnBrk="1" hangingPunct="1"/>
            <a:r>
              <a:rPr lang="zh-CN" altLang="en-US" sz="2400" b="0" dirty="0">
                <a:latin typeface="Arial" panose="020B0604020202020204" pitchFamily="34" charset="0"/>
                <a:ea typeface="黑体" panose="02010609060101010101" charset="-122"/>
              </a:rPr>
              <a:t>充要条件是系统</a:t>
            </a:r>
          </a:p>
        </p:txBody>
      </p:sp>
      <p:sp>
        <p:nvSpPr>
          <p:cNvPr id="56339" name="Rectangle 18"/>
          <p:cNvSpPr/>
          <p:nvPr/>
        </p:nvSpPr>
        <p:spPr>
          <a:xfrm>
            <a:off x="4500563" y="5072063"/>
            <a:ext cx="1708150" cy="457200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lstStyle/>
          <a:p>
            <a:pPr eaLnBrk="1" hangingPunct="1"/>
            <a:r>
              <a:rPr lang="zh-CN" altLang="en-US" sz="2400" b="0" dirty="0">
                <a:latin typeface="Arial" panose="020B0604020202020204" pitchFamily="34" charset="0"/>
                <a:ea typeface="黑体" panose="02010609060101010101" charset="-122"/>
              </a:rPr>
              <a:t>完全能控。</a:t>
            </a:r>
          </a:p>
        </p:txBody>
      </p:sp>
      <p:sp>
        <p:nvSpPr>
          <p:cNvPr id="56340" name="Text Box 19"/>
          <p:cNvSpPr txBox="1"/>
          <p:nvPr/>
        </p:nvSpPr>
        <p:spPr>
          <a:xfrm>
            <a:off x="5651500" y="188913"/>
            <a:ext cx="3313113" cy="366712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r>
              <a:rPr lang="zh-CN" altLang="en-US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第 </a:t>
            </a:r>
            <a:r>
              <a:rPr lang="en-US" altLang="zh-CN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6 </a:t>
            </a:r>
            <a:r>
              <a:rPr lang="zh-CN" altLang="en-US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章  状态反馈和状态观测器</a:t>
            </a:r>
          </a:p>
        </p:txBody>
      </p:sp>
      <p:sp>
        <p:nvSpPr>
          <p:cNvPr id="56341" name="Text Box 20"/>
          <p:cNvSpPr txBox="1"/>
          <p:nvPr/>
        </p:nvSpPr>
        <p:spPr>
          <a:xfrm>
            <a:off x="250825" y="6440488"/>
            <a:ext cx="3097213" cy="366712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r>
              <a:rPr lang="en-US" altLang="zh-CN" sz="1800" b="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charset="-122"/>
              </a:rPr>
              <a:t>1. </a:t>
            </a:r>
            <a:r>
              <a:rPr lang="zh-CN" altLang="en-US" sz="1800" b="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charset="-122"/>
              </a:rPr>
              <a:t>状态反馈的定义及其性质</a:t>
            </a:r>
          </a:p>
        </p:txBody>
      </p:sp>
      <p:sp>
        <p:nvSpPr>
          <p:cNvPr id="56342" name="Text Box 21"/>
          <p:cNvSpPr txBox="1"/>
          <p:nvPr/>
        </p:nvSpPr>
        <p:spPr>
          <a:xfrm>
            <a:off x="609600" y="3644900"/>
            <a:ext cx="5602288" cy="4572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 b="0" dirty="0">
                <a:latin typeface="Arial" panose="020B0604020202020204" pitchFamily="34" charset="0"/>
                <a:ea typeface="黑体" panose="02010609060101010101" charset="-122"/>
              </a:rPr>
              <a:t>(3)  </a:t>
            </a:r>
            <a:r>
              <a:rPr lang="zh-CN" altLang="en-US" sz="2400" b="0" dirty="0">
                <a:latin typeface="Arial" panose="020B0604020202020204" pitchFamily="34" charset="0"/>
                <a:ea typeface="黑体" panose="02010609060101010101" charset="-122"/>
              </a:rPr>
              <a:t>状态反馈对能控性和能观测性的影响</a:t>
            </a:r>
          </a:p>
        </p:txBody>
      </p:sp>
      <p:sp>
        <p:nvSpPr>
          <p:cNvPr id="56343" name="Text Box 22"/>
          <p:cNvSpPr txBox="1"/>
          <p:nvPr/>
        </p:nvSpPr>
        <p:spPr>
          <a:xfrm>
            <a:off x="827088" y="5661025"/>
            <a:ext cx="4781550" cy="482600"/>
          </a:xfrm>
          <a:prstGeom prst="rect">
            <a:avLst/>
          </a:prstGeom>
          <a:noFill/>
          <a:ln w="25400" cap="flat" cmpd="sng">
            <a:solidFill>
              <a:srgbClr val="0000FF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400" b="0" dirty="0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charset="-122"/>
              </a:rPr>
              <a:t>而状态反馈对能观测性可能有影响</a:t>
            </a:r>
          </a:p>
        </p:txBody>
      </p:sp>
      <p:sp>
        <p:nvSpPr>
          <p:cNvPr id="56344" name="Text Box 23"/>
          <p:cNvSpPr txBox="1"/>
          <p:nvPr/>
        </p:nvSpPr>
        <p:spPr>
          <a:xfrm>
            <a:off x="5413375" y="6435725"/>
            <a:ext cx="1390650" cy="366713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1800" b="0" dirty="0">
                <a:latin typeface="Arial" panose="020B0604020202020204" pitchFamily="34" charset="0"/>
                <a:ea typeface="黑体" panose="02010609060101010101" charset="-122"/>
              </a:rPr>
              <a:t>井元伟 教授</a:t>
            </a: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日期占位符 4"/>
          <p:cNvSpPr txBox="1">
            <a:spLocks noGrp="1"/>
          </p:cNvSpPr>
          <p:nvPr>
            <p:ph type="dt" sz="half" idx="10"/>
          </p:nvPr>
        </p:nvSpPr>
        <p:spPr>
          <a:xfrm>
            <a:off x="2941638" y="5157788"/>
            <a:ext cx="3311525" cy="404812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BB962C8B-B14F-4D97-AF65-F5344CB8AC3E}" type="datetime2">
              <a:rPr lang="zh-CN" altLang="en-US" sz="2400" b="0" dirty="0">
                <a:solidFill>
                  <a:schemeClr val="bg1"/>
                </a:solidFill>
              </a:rPr>
              <a:t>2026年7月17日</a:t>
            </a:fld>
            <a:endParaRPr lang="zh-CN" altLang="en-US" sz="2400" b="0" dirty="0">
              <a:solidFill>
                <a:schemeClr val="bg1"/>
              </a:solidFill>
            </a:endParaRPr>
          </a:p>
        </p:txBody>
      </p:sp>
      <p:pic>
        <p:nvPicPr>
          <p:cNvPr id="60419" name="Picture 2" descr="底图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0420" name="Rectangle 3"/>
          <p:cNvSpPr>
            <a:spLocks noGrp="1"/>
          </p:cNvSpPr>
          <p:nvPr>
            <p:ph type="body" sz="half" idx="1"/>
          </p:nvPr>
        </p:nvSpPr>
        <p:spPr>
          <a:ln/>
        </p:spPr>
        <p:txBody>
          <a:bodyPr vert="horz" wrap="square" lIns="91440" tIns="45720" rIns="91440" bIns="45720" anchor="t" anchorCtr="0"/>
          <a:lstStyle/>
          <a:p>
            <a:pPr eaLnBrk="1" hangingPunct="1">
              <a:buClrTx/>
              <a:buSzTx/>
              <a:buFontTx/>
              <a:buNone/>
            </a:pPr>
            <a:r>
              <a:rPr lang="en-US" altLang="zh-CN" sz="2800" dirty="0">
                <a:ea typeface="黑体" panose="02010609060101010101" charset="-122"/>
              </a:rPr>
              <a:t>  </a:t>
            </a:r>
            <a:endParaRPr lang="en-US" altLang="zh-CN" sz="2800" dirty="0">
              <a:solidFill>
                <a:schemeClr val="bg2"/>
              </a:solidFill>
              <a:ea typeface="黑体" panose="02010609060101010101" charset="-122"/>
            </a:endParaRPr>
          </a:p>
        </p:txBody>
      </p:sp>
      <p:graphicFrame>
        <p:nvGraphicFramePr>
          <p:cNvPr id="60421" name="Object 4"/>
          <p:cNvGraphicFramePr/>
          <p:nvPr/>
        </p:nvGraphicFramePr>
        <p:xfrm>
          <a:off x="2670175" y="1081088"/>
          <a:ext cx="358775" cy="42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65100" imgH="190500" progId="Equation.DSMT4">
                  <p:embed/>
                </p:oleObj>
              </mc:Choice>
              <mc:Fallback>
                <p:oleObj r:id="rId4" imgW="165100" imgH="190500" progId="Equation.DSMT4">
                  <p:embed/>
                  <p:pic>
                    <p:nvPicPr>
                      <p:cNvPr id="0" name="图片 342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670175" y="1081088"/>
                        <a:ext cx="358775" cy="4206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22" name="Rectangle 9"/>
          <p:cNvSpPr/>
          <p:nvPr/>
        </p:nvSpPr>
        <p:spPr>
          <a:xfrm>
            <a:off x="539750" y="1052513"/>
            <a:ext cx="6480175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hlink"/>
              </a:buClr>
              <a:buSzPct val="75000"/>
              <a:buFont typeface="Monotype Sorts" charset="2"/>
            </a:pPr>
            <a:r>
              <a:rPr lang="zh-CN" altLang="en-US" sz="2400" b="0" dirty="0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charset="-122"/>
              </a:rPr>
              <a:t>例</a:t>
            </a:r>
            <a:r>
              <a:rPr lang="en-US" altLang="zh-CN" sz="2400" b="0" dirty="0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charset="-122"/>
              </a:rPr>
              <a:t>6.1.1  </a:t>
            </a:r>
            <a:r>
              <a:rPr lang="zh-CN" altLang="en-US" sz="2400" b="0" dirty="0">
                <a:latin typeface="Arial" panose="020B0604020202020204" pitchFamily="34" charset="0"/>
                <a:ea typeface="黑体" panose="02010609060101010101" charset="-122"/>
              </a:rPr>
              <a:t>设系统    的状态空间表达式为</a:t>
            </a:r>
          </a:p>
        </p:txBody>
      </p:sp>
      <p:sp>
        <p:nvSpPr>
          <p:cNvPr id="60423" name="Text Box 10"/>
          <p:cNvSpPr txBox="1"/>
          <p:nvPr/>
        </p:nvSpPr>
        <p:spPr>
          <a:xfrm>
            <a:off x="5651500" y="188913"/>
            <a:ext cx="3313113" cy="366712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r>
              <a:rPr lang="zh-CN" altLang="en-US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第 </a:t>
            </a:r>
            <a:r>
              <a:rPr lang="en-US" altLang="zh-CN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6 </a:t>
            </a:r>
            <a:r>
              <a:rPr lang="zh-CN" altLang="en-US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章  状态反馈和状态观测器</a:t>
            </a:r>
          </a:p>
        </p:txBody>
      </p:sp>
      <p:sp>
        <p:nvSpPr>
          <p:cNvPr id="60424" name="Text Box 11"/>
          <p:cNvSpPr txBox="1"/>
          <p:nvPr/>
        </p:nvSpPr>
        <p:spPr>
          <a:xfrm>
            <a:off x="250825" y="6440488"/>
            <a:ext cx="3097213" cy="366712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r>
              <a:rPr lang="en-US" altLang="zh-CN" sz="1800" b="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charset="-122"/>
              </a:rPr>
              <a:t>1. </a:t>
            </a:r>
            <a:r>
              <a:rPr lang="zh-CN" altLang="en-US" sz="1800" b="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charset="-122"/>
              </a:rPr>
              <a:t>状态反馈的定义及其性质</a:t>
            </a:r>
          </a:p>
        </p:txBody>
      </p:sp>
      <p:graphicFrame>
        <p:nvGraphicFramePr>
          <p:cNvPr id="60425" name="Object 12"/>
          <p:cNvGraphicFramePr>
            <a:graphicFrameLocks noGrp="1"/>
          </p:cNvGraphicFramePr>
          <p:nvPr>
            <p:ph sz="half" idx="2"/>
          </p:nvPr>
        </p:nvGraphicFramePr>
        <p:xfrm>
          <a:off x="2265363" y="1606550"/>
          <a:ext cx="4611687" cy="1030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2425700" imgH="457200" progId="Equation.DSMT4">
                  <p:embed/>
                </p:oleObj>
              </mc:Choice>
              <mc:Fallback>
                <p:oleObj r:id="rId6" imgW="2425700" imgH="457200" progId="Equation.DSMT4">
                  <p:embed/>
                  <p:pic>
                    <p:nvPicPr>
                      <p:cNvPr id="0" name="图片 3425"/>
                      <p:cNvPicPr/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>
                      <a:xfrm>
                        <a:off x="2265363" y="1606550"/>
                        <a:ext cx="4611687" cy="1030288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26" name="Text Box 13"/>
          <p:cNvSpPr txBox="1"/>
          <p:nvPr/>
        </p:nvSpPr>
        <p:spPr>
          <a:xfrm>
            <a:off x="566738" y="2703513"/>
            <a:ext cx="6680200" cy="4572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400" b="0" dirty="0">
                <a:latin typeface="Arial" panose="020B0604020202020204" pitchFamily="34" charset="0"/>
                <a:ea typeface="黑体" panose="02010609060101010101" charset="-122"/>
              </a:rPr>
              <a:t>容易验证这个系统是完全能控能观测的。            </a:t>
            </a:r>
          </a:p>
        </p:txBody>
      </p:sp>
      <p:sp>
        <p:nvSpPr>
          <p:cNvPr id="60427" name="Text Box 16"/>
          <p:cNvSpPr txBox="1"/>
          <p:nvPr/>
        </p:nvSpPr>
        <p:spPr>
          <a:xfrm>
            <a:off x="5413375" y="6435725"/>
            <a:ext cx="1390650" cy="366713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1800" b="0" dirty="0">
                <a:latin typeface="Arial" panose="020B0604020202020204" pitchFamily="34" charset="0"/>
                <a:ea typeface="黑体" panose="02010609060101010101" charset="-122"/>
              </a:rPr>
              <a:t>井元伟 教授</a:t>
            </a: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日期占位符 4"/>
          <p:cNvSpPr txBox="1">
            <a:spLocks noGrp="1"/>
          </p:cNvSpPr>
          <p:nvPr>
            <p:ph type="dt" sz="half" idx="10"/>
          </p:nvPr>
        </p:nvSpPr>
        <p:spPr>
          <a:xfrm>
            <a:off x="2941638" y="5157788"/>
            <a:ext cx="3311525" cy="404812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BB962C8B-B14F-4D97-AF65-F5344CB8AC3E}" type="datetime2">
              <a:rPr lang="zh-CN" altLang="en-US" sz="2400" b="0" dirty="0">
                <a:solidFill>
                  <a:schemeClr val="bg1"/>
                </a:solidFill>
              </a:rPr>
              <a:t>2026年7月17日</a:t>
            </a:fld>
            <a:endParaRPr lang="zh-CN" altLang="en-US" sz="2400" b="0" dirty="0">
              <a:solidFill>
                <a:schemeClr val="bg1"/>
              </a:solidFill>
            </a:endParaRPr>
          </a:p>
        </p:txBody>
      </p:sp>
      <p:pic>
        <p:nvPicPr>
          <p:cNvPr id="63491" name="Picture 2" descr="底图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3492" name="Rectangle 3"/>
          <p:cNvSpPr>
            <a:spLocks noGrp="1"/>
          </p:cNvSpPr>
          <p:nvPr>
            <p:ph type="body" sz="half" idx="1"/>
          </p:nvPr>
        </p:nvSpPr>
        <p:spPr>
          <a:ln/>
        </p:spPr>
        <p:txBody>
          <a:bodyPr vert="horz" wrap="square" lIns="91440" tIns="45720" rIns="91440" bIns="45720" anchor="t" anchorCtr="0"/>
          <a:lstStyle/>
          <a:p>
            <a:pPr eaLnBrk="1" hangingPunct="1">
              <a:buClrTx/>
              <a:buSzTx/>
              <a:buFontTx/>
              <a:buNone/>
            </a:pPr>
            <a:r>
              <a:rPr lang="en-US" altLang="zh-CN" sz="2800" dirty="0">
                <a:ea typeface="黑体" panose="02010609060101010101" charset="-122"/>
              </a:rPr>
              <a:t>  </a:t>
            </a:r>
            <a:endParaRPr lang="en-US" altLang="zh-CN" sz="2800" dirty="0">
              <a:solidFill>
                <a:schemeClr val="bg2"/>
              </a:solidFill>
              <a:ea typeface="黑体" panose="02010609060101010101" charset="-122"/>
            </a:endParaRPr>
          </a:p>
        </p:txBody>
      </p:sp>
      <p:graphicFrame>
        <p:nvGraphicFramePr>
          <p:cNvPr id="63493" name="Object 4"/>
          <p:cNvGraphicFramePr/>
          <p:nvPr/>
        </p:nvGraphicFramePr>
        <p:xfrm>
          <a:off x="2670175" y="1081088"/>
          <a:ext cx="358775" cy="42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65100" imgH="190500" progId="Equation.DSMT4">
                  <p:embed/>
                </p:oleObj>
              </mc:Choice>
              <mc:Fallback>
                <p:oleObj r:id="rId4" imgW="165100" imgH="190500" progId="Equation.DSMT4">
                  <p:embed/>
                  <p:pic>
                    <p:nvPicPr>
                      <p:cNvPr id="0" name="图片 3433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670175" y="1081088"/>
                        <a:ext cx="358775" cy="4206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494" name="Object 5"/>
          <p:cNvGraphicFramePr/>
          <p:nvPr/>
        </p:nvGraphicFramePr>
        <p:xfrm>
          <a:off x="2171700" y="4162425"/>
          <a:ext cx="4802188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2476500" imgH="457200" progId="Equation.DSMT4">
                  <p:embed/>
                </p:oleObj>
              </mc:Choice>
              <mc:Fallback>
                <p:oleObj r:id="rId6" imgW="2476500" imgH="457200" progId="Equation.DSMT4">
                  <p:embed/>
                  <p:pic>
                    <p:nvPicPr>
                      <p:cNvPr id="0" name="图片 3436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171700" y="4162425"/>
                        <a:ext cx="4802188" cy="1066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495" name="Rectangle 9"/>
          <p:cNvSpPr/>
          <p:nvPr/>
        </p:nvSpPr>
        <p:spPr>
          <a:xfrm>
            <a:off x="539750" y="1052513"/>
            <a:ext cx="6480175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hlink"/>
              </a:buClr>
              <a:buSzPct val="75000"/>
              <a:buFont typeface="Monotype Sorts" charset="2"/>
            </a:pPr>
            <a:r>
              <a:rPr lang="zh-CN" altLang="en-US" sz="2400" b="0" dirty="0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charset="-122"/>
              </a:rPr>
              <a:t>例</a:t>
            </a:r>
            <a:r>
              <a:rPr lang="en-US" altLang="zh-CN" sz="2400" b="0" dirty="0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charset="-122"/>
              </a:rPr>
              <a:t>6.1.1  </a:t>
            </a:r>
            <a:r>
              <a:rPr lang="zh-CN" altLang="en-US" sz="2400" b="0" dirty="0">
                <a:latin typeface="Arial" panose="020B0604020202020204" pitchFamily="34" charset="0"/>
                <a:ea typeface="黑体" panose="02010609060101010101" charset="-122"/>
              </a:rPr>
              <a:t>设系统    的状态空间表达式为</a:t>
            </a:r>
          </a:p>
        </p:txBody>
      </p:sp>
      <p:sp>
        <p:nvSpPr>
          <p:cNvPr id="63496" name="Text Box 10"/>
          <p:cNvSpPr txBox="1"/>
          <p:nvPr/>
        </p:nvSpPr>
        <p:spPr>
          <a:xfrm>
            <a:off x="5651500" y="188913"/>
            <a:ext cx="3313113" cy="366712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r>
              <a:rPr lang="zh-CN" altLang="en-US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第 </a:t>
            </a:r>
            <a:r>
              <a:rPr lang="en-US" altLang="zh-CN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6 </a:t>
            </a:r>
            <a:r>
              <a:rPr lang="zh-CN" altLang="en-US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章  状态反馈和状态观测器</a:t>
            </a:r>
          </a:p>
        </p:txBody>
      </p:sp>
      <p:sp>
        <p:nvSpPr>
          <p:cNvPr id="63497" name="Text Box 11"/>
          <p:cNvSpPr txBox="1"/>
          <p:nvPr/>
        </p:nvSpPr>
        <p:spPr>
          <a:xfrm>
            <a:off x="250825" y="6440488"/>
            <a:ext cx="3097213" cy="366712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r>
              <a:rPr lang="en-US" altLang="zh-CN" sz="1800" b="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charset="-122"/>
              </a:rPr>
              <a:t>1. </a:t>
            </a:r>
            <a:r>
              <a:rPr lang="zh-CN" altLang="en-US" sz="1800" b="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charset="-122"/>
              </a:rPr>
              <a:t>状态反馈的定义及其性质</a:t>
            </a:r>
          </a:p>
        </p:txBody>
      </p:sp>
      <p:graphicFrame>
        <p:nvGraphicFramePr>
          <p:cNvPr id="63498" name="Object 12"/>
          <p:cNvGraphicFramePr>
            <a:graphicFrameLocks noGrp="1"/>
          </p:cNvGraphicFramePr>
          <p:nvPr>
            <p:ph sz="half" idx="2"/>
          </p:nvPr>
        </p:nvGraphicFramePr>
        <p:xfrm>
          <a:off x="2265363" y="1606550"/>
          <a:ext cx="4611687" cy="1030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2425700" imgH="457200" progId="Equation.DSMT4">
                  <p:embed/>
                </p:oleObj>
              </mc:Choice>
              <mc:Fallback>
                <p:oleObj r:id="rId8" imgW="2425700" imgH="457200" progId="Equation.DSMT4">
                  <p:embed/>
                  <p:pic>
                    <p:nvPicPr>
                      <p:cNvPr id="0" name="图片 3435"/>
                      <p:cNvPicPr/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>
                      <a:xfrm>
                        <a:off x="2265363" y="1606550"/>
                        <a:ext cx="4611687" cy="1030288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499" name="Text Box 13"/>
          <p:cNvSpPr txBox="1"/>
          <p:nvPr/>
        </p:nvSpPr>
        <p:spPr>
          <a:xfrm>
            <a:off x="566738" y="2684463"/>
            <a:ext cx="8108950" cy="4572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400" b="0" dirty="0">
                <a:latin typeface="Arial" panose="020B0604020202020204" pitchFamily="34" charset="0"/>
                <a:ea typeface="黑体" panose="02010609060101010101" charset="-122"/>
              </a:rPr>
              <a:t>容易验证这个系统是完全能控能观测的。如果加上状态反馈</a:t>
            </a:r>
          </a:p>
        </p:txBody>
      </p:sp>
      <p:graphicFrame>
        <p:nvGraphicFramePr>
          <p:cNvPr id="63500" name="Object 14"/>
          <p:cNvGraphicFramePr/>
          <p:nvPr/>
        </p:nvGraphicFramePr>
        <p:xfrm>
          <a:off x="3563938" y="3292475"/>
          <a:ext cx="1979612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799465" imgH="203200" progId="Equation.DSMT4">
                  <p:embed/>
                </p:oleObj>
              </mc:Choice>
              <mc:Fallback>
                <p:oleObj r:id="rId10" imgW="799465" imgH="203200" progId="Equation.DSMT4">
                  <p:embed/>
                  <p:pic>
                    <p:nvPicPr>
                      <p:cNvPr id="0" name="图片 3434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563938" y="3292475"/>
                        <a:ext cx="1979612" cy="5683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501" name="Text Box 15"/>
          <p:cNvSpPr txBox="1"/>
          <p:nvPr/>
        </p:nvSpPr>
        <p:spPr>
          <a:xfrm>
            <a:off x="555625" y="3692525"/>
            <a:ext cx="2012950" cy="4572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400" b="0" dirty="0">
                <a:latin typeface="Arial" panose="020B0604020202020204" pitchFamily="34" charset="0"/>
                <a:ea typeface="黑体" panose="02010609060101010101" charset="-122"/>
              </a:rPr>
              <a:t>则闭环系统为</a:t>
            </a:r>
          </a:p>
        </p:txBody>
      </p:sp>
      <p:sp>
        <p:nvSpPr>
          <p:cNvPr id="63502" name="Text Box 16"/>
          <p:cNvSpPr txBox="1"/>
          <p:nvPr/>
        </p:nvSpPr>
        <p:spPr>
          <a:xfrm>
            <a:off x="5413375" y="6435725"/>
            <a:ext cx="1390650" cy="366713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1800" b="0" dirty="0">
                <a:latin typeface="Arial" panose="020B0604020202020204" pitchFamily="34" charset="0"/>
                <a:ea typeface="黑体" panose="02010609060101010101" charset="-122"/>
              </a:rPr>
              <a:t>井元伟 教授</a:t>
            </a: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日期占位符 4"/>
          <p:cNvSpPr txBox="1">
            <a:spLocks noGrp="1"/>
          </p:cNvSpPr>
          <p:nvPr>
            <p:ph type="dt" sz="half" idx="10"/>
          </p:nvPr>
        </p:nvSpPr>
        <p:spPr>
          <a:xfrm>
            <a:off x="2941638" y="5157788"/>
            <a:ext cx="3311525" cy="404812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BB962C8B-B14F-4D97-AF65-F5344CB8AC3E}" type="datetime2">
              <a:rPr lang="zh-CN" altLang="en-US" sz="2400" b="0" dirty="0">
                <a:solidFill>
                  <a:schemeClr val="bg1"/>
                </a:solidFill>
              </a:rPr>
              <a:t>2026年7月17日</a:t>
            </a:fld>
            <a:endParaRPr lang="zh-CN" altLang="en-US" sz="2400" b="0" dirty="0">
              <a:solidFill>
                <a:schemeClr val="bg1"/>
              </a:solidFill>
            </a:endParaRPr>
          </a:p>
        </p:txBody>
      </p:sp>
      <p:pic>
        <p:nvPicPr>
          <p:cNvPr id="64515" name="Picture 2" descr="底图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4516" name="Rectangle 3"/>
          <p:cNvSpPr>
            <a:spLocks noGrp="1"/>
          </p:cNvSpPr>
          <p:nvPr>
            <p:ph type="body" sz="half" idx="1"/>
          </p:nvPr>
        </p:nvSpPr>
        <p:spPr>
          <a:ln/>
        </p:spPr>
        <p:txBody>
          <a:bodyPr vert="horz" wrap="square" lIns="91440" tIns="45720" rIns="91440" bIns="45720" anchor="t" anchorCtr="0"/>
          <a:lstStyle/>
          <a:p>
            <a:pPr eaLnBrk="1" hangingPunct="1">
              <a:buClrTx/>
              <a:buSzTx/>
              <a:buFontTx/>
              <a:buNone/>
            </a:pPr>
            <a:r>
              <a:rPr lang="en-US" altLang="zh-CN" sz="2800" dirty="0">
                <a:ea typeface="黑体" panose="02010609060101010101" charset="-122"/>
              </a:rPr>
              <a:t>  </a:t>
            </a:r>
            <a:endParaRPr lang="en-US" altLang="zh-CN" sz="2800" dirty="0">
              <a:solidFill>
                <a:schemeClr val="bg2"/>
              </a:solidFill>
              <a:ea typeface="黑体" panose="02010609060101010101" charset="-122"/>
            </a:endParaRPr>
          </a:p>
        </p:txBody>
      </p:sp>
      <p:graphicFrame>
        <p:nvGraphicFramePr>
          <p:cNvPr id="64517" name="Object 4"/>
          <p:cNvGraphicFramePr/>
          <p:nvPr/>
        </p:nvGraphicFramePr>
        <p:xfrm>
          <a:off x="2670175" y="1081088"/>
          <a:ext cx="358775" cy="42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65100" imgH="190500" progId="Equation.DSMT4">
                  <p:embed/>
                </p:oleObj>
              </mc:Choice>
              <mc:Fallback>
                <p:oleObj r:id="rId4" imgW="165100" imgH="190500" progId="Equation.DSMT4">
                  <p:embed/>
                  <p:pic>
                    <p:nvPicPr>
                      <p:cNvPr id="0" name="图片 3437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670175" y="1081088"/>
                        <a:ext cx="358775" cy="4206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18" name="Object 5"/>
          <p:cNvGraphicFramePr/>
          <p:nvPr/>
        </p:nvGraphicFramePr>
        <p:xfrm>
          <a:off x="2171700" y="4162425"/>
          <a:ext cx="4802188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2476500" imgH="457200" progId="Equation.DSMT4">
                  <p:embed/>
                </p:oleObj>
              </mc:Choice>
              <mc:Fallback>
                <p:oleObj r:id="rId6" imgW="2476500" imgH="457200" progId="Equation.DSMT4">
                  <p:embed/>
                  <p:pic>
                    <p:nvPicPr>
                      <p:cNvPr id="0" name="图片 3439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171700" y="4162425"/>
                        <a:ext cx="4802188" cy="1066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19" name="Rectangle 6"/>
          <p:cNvSpPr/>
          <p:nvPr/>
        </p:nvSpPr>
        <p:spPr>
          <a:xfrm>
            <a:off x="598488" y="5273675"/>
            <a:ext cx="3536950" cy="457200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lstStyle/>
          <a:p>
            <a:pPr eaLnBrk="1" hangingPunct="1"/>
            <a:r>
              <a:rPr lang="zh-CN" altLang="en-US" sz="2400" b="0" dirty="0">
                <a:latin typeface="Arial" panose="020B0604020202020204" pitchFamily="34" charset="0"/>
                <a:ea typeface="黑体" panose="02010609060101010101" charset="-122"/>
              </a:rPr>
              <a:t>不难判断，此时反馈系统</a:t>
            </a:r>
          </a:p>
        </p:txBody>
      </p:sp>
      <p:sp>
        <p:nvSpPr>
          <p:cNvPr id="64520" name="Rectangle 7"/>
          <p:cNvSpPr/>
          <p:nvPr/>
        </p:nvSpPr>
        <p:spPr>
          <a:xfrm>
            <a:off x="3949700" y="5273675"/>
            <a:ext cx="3536950" cy="457200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lstStyle/>
          <a:p>
            <a:pPr eaLnBrk="1" hangingPunct="1"/>
            <a:r>
              <a:rPr lang="zh-CN" altLang="en-US" sz="2400" b="0" dirty="0">
                <a:latin typeface="Arial" panose="020B0604020202020204" pitchFamily="34" charset="0"/>
                <a:ea typeface="黑体" panose="02010609060101010101" charset="-122"/>
              </a:rPr>
              <a:t>仍然是能控的，但已不再</a:t>
            </a:r>
          </a:p>
        </p:txBody>
      </p:sp>
      <p:sp>
        <p:nvSpPr>
          <p:cNvPr id="64521" name="Rectangle 8"/>
          <p:cNvSpPr/>
          <p:nvPr/>
        </p:nvSpPr>
        <p:spPr>
          <a:xfrm>
            <a:off x="7286625" y="5276850"/>
            <a:ext cx="1403350" cy="4572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b="0" dirty="0">
                <a:latin typeface="Arial" panose="020B0604020202020204" pitchFamily="34" charset="0"/>
                <a:ea typeface="黑体" panose="02010609060101010101" charset="-122"/>
              </a:rPr>
              <a:t>能观测。</a:t>
            </a:r>
          </a:p>
        </p:txBody>
      </p:sp>
      <p:sp>
        <p:nvSpPr>
          <p:cNvPr id="64522" name="Rectangle 9"/>
          <p:cNvSpPr/>
          <p:nvPr/>
        </p:nvSpPr>
        <p:spPr>
          <a:xfrm>
            <a:off x="539750" y="1052513"/>
            <a:ext cx="6480175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hlink"/>
              </a:buClr>
              <a:buSzPct val="75000"/>
              <a:buFont typeface="Monotype Sorts" charset="2"/>
            </a:pPr>
            <a:r>
              <a:rPr lang="zh-CN" altLang="en-US" sz="2400" b="0" dirty="0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charset="-122"/>
              </a:rPr>
              <a:t>例</a:t>
            </a:r>
            <a:r>
              <a:rPr lang="en-US" altLang="zh-CN" sz="2400" b="0" dirty="0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charset="-122"/>
              </a:rPr>
              <a:t>6.1.1  </a:t>
            </a:r>
            <a:r>
              <a:rPr lang="zh-CN" altLang="en-US" sz="2400" b="0" dirty="0">
                <a:latin typeface="Arial" panose="020B0604020202020204" pitchFamily="34" charset="0"/>
                <a:ea typeface="黑体" panose="02010609060101010101" charset="-122"/>
              </a:rPr>
              <a:t>设系统    的状态空间表达式为</a:t>
            </a:r>
          </a:p>
        </p:txBody>
      </p:sp>
      <p:sp>
        <p:nvSpPr>
          <p:cNvPr id="64523" name="Text Box 10"/>
          <p:cNvSpPr txBox="1"/>
          <p:nvPr/>
        </p:nvSpPr>
        <p:spPr>
          <a:xfrm>
            <a:off x="5651500" y="188913"/>
            <a:ext cx="3313113" cy="366712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r>
              <a:rPr lang="zh-CN" altLang="en-US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第 </a:t>
            </a:r>
            <a:r>
              <a:rPr lang="en-US" altLang="zh-CN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6 </a:t>
            </a:r>
            <a:r>
              <a:rPr lang="zh-CN" altLang="en-US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章  状态反馈和状态观测器</a:t>
            </a:r>
          </a:p>
        </p:txBody>
      </p:sp>
      <p:sp>
        <p:nvSpPr>
          <p:cNvPr id="64524" name="Text Box 11"/>
          <p:cNvSpPr txBox="1"/>
          <p:nvPr/>
        </p:nvSpPr>
        <p:spPr>
          <a:xfrm>
            <a:off x="250825" y="6440488"/>
            <a:ext cx="3097213" cy="366712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r>
              <a:rPr lang="en-US" altLang="zh-CN" sz="1800" b="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charset="-122"/>
              </a:rPr>
              <a:t>1. </a:t>
            </a:r>
            <a:r>
              <a:rPr lang="zh-CN" altLang="en-US" sz="1800" b="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charset="-122"/>
              </a:rPr>
              <a:t>状态反馈的定义及其性质</a:t>
            </a:r>
          </a:p>
        </p:txBody>
      </p:sp>
      <p:graphicFrame>
        <p:nvGraphicFramePr>
          <p:cNvPr id="64525" name="Object 12"/>
          <p:cNvGraphicFramePr>
            <a:graphicFrameLocks noGrp="1"/>
          </p:cNvGraphicFramePr>
          <p:nvPr>
            <p:ph sz="half" idx="2"/>
          </p:nvPr>
        </p:nvGraphicFramePr>
        <p:xfrm>
          <a:off x="2265363" y="1606550"/>
          <a:ext cx="4611687" cy="1030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2425700" imgH="457200" progId="Equation.DSMT4">
                  <p:embed/>
                </p:oleObj>
              </mc:Choice>
              <mc:Fallback>
                <p:oleObj r:id="rId8" imgW="2425700" imgH="457200" progId="Equation.DSMT4">
                  <p:embed/>
                  <p:pic>
                    <p:nvPicPr>
                      <p:cNvPr id="0" name="图片 3438"/>
                      <p:cNvPicPr/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>
                      <a:xfrm>
                        <a:off x="2265363" y="1606550"/>
                        <a:ext cx="4611687" cy="1030288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26" name="Text Box 13"/>
          <p:cNvSpPr txBox="1"/>
          <p:nvPr/>
        </p:nvSpPr>
        <p:spPr>
          <a:xfrm>
            <a:off x="566738" y="2684463"/>
            <a:ext cx="8108950" cy="4572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400" b="0" dirty="0">
                <a:latin typeface="Arial" panose="020B0604020202020204" pitchFamily="34" charset="0"/>
                <a:ea typeface="黑体" panose="02010609060101010101" charset="-122"/>
              </a:rPr>
              <a:t>容易验证这个系统是完全能控能观测的。如果加上状态反馈</a:t>
            </a:r>
          </a:p>
        </p:txBody>
      </p:sp>
      <p:graphicFrame>
        <p:nvGraphicFramePr>
          <p:cNvPr id="64527" name="Object 14"/>
          <p:cNvGraphicFramePr/>
          <p:nvPr/>
        </p:nvGraphicFramePr>
        <p:xfrm>
          <a:off x="3563938" y="3292475"/>
          <a:ext cx="1979612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799465" imgH="203200" progId="Equation.DSMT4">
                  <p:embed/>
                </p:oleObj>
              </mc:Choice>
              <mc:Fallback>
                <p:oleObj r:id="rId10" imgW="799465" imgH="203200" progId="Equation.DSMT4">
                  <p:embed/>
                  <p:pic>
                    <p:nvPicPr>
                      <p:cNvPr id="0" name="图片 3440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563938" y="3292475"/>
                        <a:ext cx="1979612" cy="5683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28" name="Text Box 15"/>
          <p:cNvSpPr txBox="1"/>
          <p:nvPr/>
        </p:nvSpPr>
        <p:spPr>
          <a:xfrm>
            <a:off x="555625" y="3692525"/>
            <a:ext cx="2012950" cy="4572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400" b="0" dirty="0">
                <a:latin typeface="Arial" panose="020B0604020202020204" pitchFamily="34" charset="0"/>
                <a:ea typeface="黑体" panose="02010609060101010101" charset="-122"/>
              </a:rPr>
              <a:t>则闭环系统为</a:t>
            </a:r>
          </a:p>
        </p:txBody>
      </p:sp>
      <p:sp>
        <p:nvSpPr>
          <p:cNvPr id="64529" name="Text Box 16"/>
          <p:cNvSpPr txBox="1"/>
          <p:nvPr/>
        </p:nvSpPr>
        <p:spPr>
          <a:xfrm>
            <a:off x="5413375" y="6435725"/>
            <a:ext cx="1390650" cy="366713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1800" b="0" dirty="0">
                <a:latin typeface="Arial" panose="020B0604020202020204" pitchFamily="34" charset="0"/>
                <a:ea typeface="黑体" panose="02010609060101010101" charset="-122"/>
              </a:rPr>
              <a:t>井元伟 教授</a:t>
            </a: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日期占位符 3"/>
          <p:cNvSpPr txBox="1">
            <a:spLocks noGrp="1"/>
          </p:cNvSpPr>
          <p:nvPr>
            <p:ph type="dt" sz="half" idx="10"/>
          </p:nvPr>
        </p:nvSpPr>
        <p:spPr>
          <a:xfrm>
            <a:off x="2941638" y="5157788"/>
            <a:ext cx="3311525" cy="404812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BB962C8B-B14F-4D97-AF65-F5344CB8AC3E}" type="datetime2">
              <a:rPr lang="zh-CN" altLang="en-US" sz="2400" b="0" dirty="0">
                <a:solidFill>
                  <a:schemeClr val="bg1"/>
                </a:solidFill>
              </a:rPr>
              <a:t>2026年7月17日</a:t>
            </a:fld>
            <a:endParaRPr lang="zh-CN" altLang="en-US" sz="2400" b="0" dirty="0">
              <a:solidFill>
                <a:schemeClr val="bg1"/>
              </a:solidFill>
            </a:endParaRPr>
          </a:p>
        </p:txBody>
      </p:sp>
      <p:pic>
        <p:nvPicPr>
          <p:cNvPr id="69635" name="Picture 2" descr="底图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9636" name="Text Box 3"/>
          <p:cNvSpPr txBox="1"/>
          <p:nvPr/>
        </p:nvSpPr>
        <p:spPr>
          <a:xfrm>
            <a:off x="252413" y="6435725"/>
            <a:ext cx="1439862" cy="366713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r>
              <a:rPr lang="en-US" altLang="zh-CN" sz="1800" b="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charset="-122"/>
              </a:rPr>
              <a:t>2. </a:t>
            </a:r>
            <a:r>
              <a:rPr lang="zh-CN" altLang="en-US" sz="1800" b="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charset="-122"/>
              </a:rPr>
              <a:t>极点配置</a:t>
            </a:r>
          </a:p>
        </p:txBody>
      </p:sp>
      <p:sp>
        <p:nvSpPr>
          <p:cNvPr id="69637" name="Rectangle 4"/>
          <p:cNvSpPr/>
          <p:nvPr/>
        </p:nvSpPr>
        <p:spPr>
          <a:xfrm>
            <a:off x="684213" y="2108200"/>
            <a:ext cx="2859087" cy="457200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lstStyle/>
          <a:p>
            <a:pPr eaLnBrk="1" hangingPunct="1"/>
            <a:r>
              <a:rPr lang="zh-CN" altLang="en-US" sz="2400" b="0" dirty="0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charset="-122"/>
              </a:rPr>
              <a:t>定理 </a:t>
            </a:r>
            <a:r>
              <a:rPr lang="en-US" altLang="zh-CN" sz="2400" b="0" dirty="0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charset="-122"/>
              </a:rPr>
              <a:t>6.2.1</a:t>
            </a:r>
            <a:r>
              <a:rPr lang="en-US" altLang="zh-CN" sz="2400" b="0" dirty="0">
                <a:latin typeface="Arial" panose="020B0604020202020204" pitchFamily="34" charset="0"/>
                <a:ea typeface="黑体" panose="02010609060101010101" charset="-122"/>
              </a:rPr>
              <a:t> </a:t>
            </a:r>
            <a:r>
              <a:rPr lang="zh-CN" altLang="en-US" sz="2400" b="0" dirty="0">
                <a:latin typeface="Arial" panose="020B0604020202020204" pitchFamily="34" charset="0"/>
                <a:ea typeface="黑体" panose="02010609060101010101" charset="-122"/>
              </a:rPr>
              <a:t>给定系统</a:t>
            </a:r>
          </a:p>
        </p:txBody>
      </p:sp>
      <p:graphicFrame>
        <p:nvGraphicFramePr>
          <p:cNvPr id="69638" name="Object 5"/>
          <p:cNvGraphicFramePr/>
          <p:nvPr/>
        </p:nvGraphicFramePr>
        <p:xfrm>
          <a:off x="3059113" y="2852738"/>
          <a:ext cx="2997200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193800" imgH="431800" progId="Equation.3">
                  <p:embed/>
                </p:oleObj>
              </mc:Choice>
              <mc:Fallback>
                <p:oleObj r:id="rId4" imgW="1193800" imgH="431800" progId="Equation.3">
                  <p:embed/>
                  <p:pic>
                    <p:nvPicPr>
                      <p:cNvPr id="0" name="图片 344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059113" y="2852738"/>
                        <a:ext cx="2997200" cy="1079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39" name="Object 6"/>
          <p:cNvGraphicFramePr/>
          <p:nvPr/>
        </p:nvGraphicFramePr>
        <p:xfrm>
          <a:off x="2641600" y="4343400"/>
          <a:ext cx="1511300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634365" imgH="177800" progId="Equation.3">
                  <p:embed/>
                </p:oleObj>
              </mc:Choice>
              <mc:Fallback>
                <p:oleObj r:id="rId6" imgW="634365" imgH="177800" progId="Equation.3">
                  <p:embed/>
                  <p:pic>
                    <p:nvPicPr>
                      <p:cNvPr id="0" name="图片 3442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641600" y="4343400"/>
                        <a:ext cx="1511300" cy="428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40" name="Object 7"/>
          <p:cNvGraphicFramePr/>
          <p:nvPr/>
        </p:nvGraphicFramePr>
        <p:xfrm>
          <a:off x="755650" y="5013325"/>
          <a:ext cx="338138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65100" imgH="190500" progId="Equation.3">
                  <p:embed/>
                </p:oleObj>
              </mc:Choice>
              <mc:Fallback>
                <p:oleObj r:id="rId8" imgW="165100" imgH="190500" progId="Equation.3">
                  <p:embed/>
                  <p:pic>
                    <p:nvPicPr>
                      <p:cNvPr id="0" name="图片 3443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55650" y="5013325"/>
                        <a:ext cx="338138" cy="396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641" name="Rectangle 8"/>
          <p:cNvSpPr/>
          <p:nvPr/>
        </p:nvSpPr>
        <p:spPr>
          <a:xfrm>
            <a:off x="684213" y="4330700"/>
            <a:ext cx="2012950" cy="457200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lstStyle/>
          <a:p>
            <a:pPr eaLnBrk="1" hangingPunct="1"/>
            <a:r>
              <a:rPr lang="zh-CN" altLang="en-US" sz="2400" b="0" dirty="0">
                <a:latin typeface="Arial" panose="020B0604020202020204" pitchFamily="34" charset="0"/>
                <a:ea typeface="黑体" panose="02010609060101010101" charset="-122"/>
              </a:rPr>
              <a:t>通过状态反馈</a:t>
            </a:r>
          </a:p>
        </p:txBody>
      </p:sp>
      <p:sp>
        <p:nvSpPr>
          <p:cNvPr id="69642" name="Rectangle 9"/>
          <p:cNvSpPr/>
          <p:nvPr/>
        </p:nvSpPr>
        <p:spPr>
          <a:xfrm>
            <a:off x="4081463" y="4322763"/>
            <a:ext cx="2622550" cy="457200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lstStyle/>
          <a:p>
            <a:pPr eaLnBrk="1" hangingPunct="1"/>
            <a:r>
              <a:rPr lang="zh-CN" altLang="en-US" sz="2400" b="0" dirty="0">
                <a:latin typeface="Arial" panose="020B0604020202020204" pitchFamily="34" charset="0"/>
                <a:ea typeface="黑体" panose="02010609060101010101" charset="-122"/>
              </a:rPr>
              <a:t>任意配置极点的充</a:t>
            </a:r>
          </a:p>
        </p:txBody>
      </p:sp>
      <p:sp>
        <p:nvSpPr>
          <p:cNvPr id="69643" name="Rectangle 10"/>
          <p:cNvSpPr/>
          <p:nvPr/>
        </p:nvSpPr>
        <p:spPr>
          <a:xfrm>
            <a:off x="992188" y="4941888"/>
            <a:ext cx="1708150" cy="457200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lstStyle/>
          <a:p>
            <a:pPr eaLnBrk="1" hangingPunct="1"/>
            <a:r>
              <a:rPr lang="zh-CN" altLang="en-US" sz="2400" b="0" dirty="0">
                <a:latin typeface="Arial" panose="020B0604020202020204" pitchFamily="34" charset="0"/>
                <a:ea typeface="黑体" panose="02010609060101010101" charset="-122"/>
              </a:rPr>
              <a:t>完全能控。</a:t>
            </a:r>
          </a:p>
        </p:txBody>
      </p:sp>
      <p:sp>
        <p:nvSpPr>
          <p:cNvPr id="69644" name="Rectangle 11"/>
          <p:cNvSpPr/>
          <p:nvPr/>
        </p:nvSpPr>
        <p:spPr>
          <a:xfrm>
            <a:off x="6524625" y="4311650"/>
            <a:ext cx="2012950" cy="4572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b="0" dirty="0">
                <a:latin typeface="Arial" panose="020B0604020202020204" pitchFamily="34" charset="0"/>
                <a:ea typeface="黑体" panose="02010609060101010101" charset="-122"/>
              </a:rPr>
              <a:t>要条件是系统</a:t>
            </a:r>
          </a:p>
        </p:txBody>
      </p:sp>
      <p:sp>
        <p:nvSpPr>
          <p:cNvPr id="69645" name="Rectangle 12"/>
          <p:cNvSpPr/>
          <p:nvPr/>
        </p:nvSpPr>
        <p:spPr>
          <a:xfrm>
            <a:off x="3348038" y="765175"/>
            <a:ext cx="2200275" cy="519113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r>
              <a:rPr lang="en-US" altLang="zh-CN" sz="2800" b="0" dirty="0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charset="-122"/>
              </a:rPr>
              <a:t>6.2 </a:t>
            </a:r>
            <a:r>
              <a:rPr lang="zh-CN" altLang="en-US" sz="2800" b="0" dirty="0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charset="-122"/>
              </a:rPr>
              <a:t>极点配置</a:t>
            </a:r>
          </a:p>
        </p:txBody>
      </p:sp>
      <p:sp>
        <p:nvSpPr>
          <p:cNvPr id="69646" name="Rectangle 13"/>
          <p:cNvSpPr/>
          <p:nvPr/>
        </p:nvSpPr>
        <p:spPr>
          <a:xfrm>
            <a:off x="684213" y="1341438"/>
            <a:ext cx="3440112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r>
              <a:rPr lang="en-US" altLang="zh-CN" sz="2400" b="0" dirty="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charset="-122"/>
              </a:rPr>
              <a:t>6.2.1 </a:t>
            </a:r>
            <a:r>
              <a:rPr lang="zh-CN" altLang="en-US" sz="2400" b="0" dirty="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charset="-122"/>
              </a:rPr>
              <a:t>极点配置定理</a:t>
            </a:r>
          </a:p>
        </p:txBody>
      </p:sp>
      <p:sp>
        <p:nvSpPr>
          <p:cNvPr id="69647" name="Text Box 14"/>
          <p:cNvSpPr txBox="1"/>
          <p:nvPr/>
        </p:nvSpPr>
        <p:spPr>
          <a:xfrm>
            <a:off x="5651500" y="188913"/>
            <a:ext cx="3313113" cy="366712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r>
              <a:rPr lang="zh-CN" altLang="en-US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第 </a:t>
            </a:r>
            <a:r>
              <a:rPr lang="en-US" altLang="zh-CN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6 </a:t>
            </a:r>
            <a:r>
              <a:rPr lang="zh-CN" altLang="en-US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章  状态反馈和状态观测器</a:t>
            </a:r>
          </a:p>
        </p:txBody>
      </p:sp>
      <p:sp>
        <p:nvSpPr>
          <p:cNvPr id="69648" name="Text Box 15"/>
          <p:cNvSpPr txBox="1"/>
          <p:nvPr/>
        </p:nvSpPr>
        <p:spPr>
          <a:xfrm>
            <a:off x="5413375" y="6435725"/>
            <a:ext cx="1390650" cy="366713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1800" b="0" dirty="0">
                <a:latin typeface="Arial" panose="020B0604020202020204" pitchFamily="34" charset="0"/>
                <a:ea typeface="黑体" panose="02010609060101010101" charset="-122"/>
              </a:rPr>
              <a:t>井元伟 教授</a:t>
            </a: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4" name="Picture 42" descr="底图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4755" name="Rectangle 28"/>
          <p:cNvSpPr/>
          <p:nvPr/>
        </p:nvSpPr>
        <p:spPr>
          <a:xfrm>
            <a:off x="3455988" y="739775"/>
            <a:ext cx="1403350" cy="4572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hlink"/>
              </a:buClr>
              <a:buSzPct val="75000"/>
              <a:buFont typeface="Monotype Sorts" charset="2"/>
            </a:pPr>
            <a:r>
              <a:rPr lang="zh-CN" altLang="en-US" sz="2400" b="0" dirty="0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charset="-122"/>
              </a:rPr>
              <a:t>主要思想</a:t>
            </a:r>
            <a:endParaRPr lang="zh-CN" altLang="en-US" sz="2400" b="0" dirty="0">
              <a:latin typeface="Arial" panose="020B0604020202020204" pitchFamily="34" charset="0"/>
              <a:ea typeface="黑体" panose="02010609060101010101" charset="-122"/>
            </a:endParaRPr>
          </a:p>
        </p:txBody>
      </p:sp>
      <p:sp>
        <p:nvSpPr>
          <p:cNvPr id="74756" name="Text Box 45"/>
          <p:cNvSpPr txBox="1"/>
          <p:nvPr/>
        </p:nvSpPr>
        <p:spPr>
          <a:xfrm>
            <a:off x="5651500" y="188913"/>
            <a:ext cx="3313113" cy="366712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r>
              <a:rPr lang="zh-CN" altLang="en-US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第 </a:t>
            </a:r>
            <a:r>
              <a:rPr lang="en-US" altLang="zh-CN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6 </a:t>
            </a:r>
            <a:r>
              <a:rPr lang="zh-CN" altLang="en-US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章  状态反馈和状态观测器</a:t>
            </a:r>
          </a:p>
        </p:txBody>
      </p:sp>
      <p:sp>
        <p:nvSpPr>
          <p:cNvPr id="74757" name="Text Box 46"/>
          <p:cNvSpPr txBox="1"/>
          <p:nvPr/>
        </p:nvSpPr>
        <p:spPr>
          <a:xfrm>
            <a:off x="252413" y="6435725"/>
            <a:ext cx="1439862" cy="366713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r>
              <a:rPr lang="en-US" altLang="zh-CN" sz="1800" b="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charset="-122"/>
              </a:rPr>
              <a:t>2. </a:t>
            </a:r>
            <a:r>
              <a:rPr lang="zh-CN" altLang="en-US" sz="1800" b="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charset="-122"/>
              </a:rPr>
              <a:t>极点配置</a:t>
            </a:r>
          </a:p>
        </p:txBody>
      </p:sp>
      <p:sp>
        <p:nvSpPr>
          <p:cNvPr id="74758" name="Text Box 80"/>
          <p:cNvSpPr txBox="1"/>
          <p:nvPr/>
        </p:nvSpPr>
        <p:spPr>
          <a:xfrm>
            <a:off x="5413375" y="6435725"/>
            <a:ext cx="1390650" cy="366713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1800" b="0" dirty="0">
                <a:latin typeface="Arial" panose="020B0604020202020204" pitchFamily="34" charset="0"/>
                <a:ea typeface="黑体" panose="02010609060101010101" charset="-122"/>
              </a:rPr>
              <a:t>井元伟 教授</a:t>
            </a: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日期占位符 5"/>
          <p:cNvSpPr txBox="1">
            <a:spLocks noGrp="1"/>
          </p:cNvSpPr>
          <p:nvPr>
            <p:ph type="dt" sz="half" idx="10"/>
          </p:nvPr>
        </p:nvSpPr>
        <p:spPr>
          <a:xfrm>
            <a:off x="2941638" y="5157788"/>
            <a:ext cx="3311525" cy="404812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BB962C8B-B14F-4D97-AF65-F5344CB8AC3E}" type="datetime2">
              <a:rPr lang="zh-CN" altLang="en-US" sz="2400" b="0" dirty="0">
                <a:solidFill>
                  <a:schemeClr val="bg1"/>
                </a:solidFill>
              </a:rPr>
              <a:t>2026年7月17日</a:t>
            </a:fld>
            <a:endParaRPr lang="zh-CN" altLang="en-US" sz="2400" b="0" dirty="0">
              <a:solidFill>
                <a:schemeClr val="bg1"/>
              </a:solidFill>
            </a:endParaRPr>
          </a:p>
        </p:txBody>
      </p:sp>
      <p:pic>
        <p:nvPicPr>
          <p:cNvPr id="75779" name="Picture 2" descr="底图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75780" name="Object 3"/>
          <p:cNvGraphicFramePr/>
          <p:nvPr/>
        </p:nvGraphicFramePr>
        <p:xfrm>
          <a:off x="612775" y="1328738"/>
          <a:ext cx="1712913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570865" imgH="165100" progId="Equation.DSMT4">
                  <p:embed/>
                </p:oleObj>
              </mc:Choice>
              <mc:Fallback>
                <p:oleObj r:id="rId4" imgW="570865" imgH="165100" progId="Equation.DSMT4">
                  <p:embed/>
                  <p:pic>
                    <p:nvPicPr>
                      <p:cNvPr id="0" name="图片 3099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12775" y="1328738"/>
                        <a:ext cx="1712913" cy="4937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81" name="Rectangle 8"/>
          <p:cNvSpPr/>
          <p:nvPr/>
        </p:nvSpPr>
        <p:spPr>
          <a:xfrm>
            <a:off x="3455988" y="739775"/>
            <a:ext cx="1403350" cy="4572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hlink"/>
              </a:buClr>
              <a:buSzPct val="75000"/>
              <a:buFont typeface="Monotype Sorts" charset="2"/>
            </a:pPr>
            <a:r>
              <a:rPr lang="zh-CN" altLang="en-US" sz="2400" b="0" dirty="0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charset="-122"/>
              </a:rPr>
              <a:t>主要思想</a:t>
            </a:r>
            <a:endParaRPr lang="zh-CN" altLang="en-US" sz="2400" b="0" dirty="0">
              <a:latin typeface="Arial" panose="020B0604020202020204" pitchFamily="34" charset="0"/>
              <a:ea typeface="黑体" panose="02010609060101010101" charset="-122"/>
            </a:endParaRPr>
          </a:p>
        </p:txBody>
      </p:sp>
      <p:sp>
        <p:nvSpPr>
          <p:cNvPr id="75782" name="Text Box 9"/>
          <p:cNvSpPr txBox="1"/>
          <p:nvPr/>
        </p:nvSpPr>
        <p:spPr>
          <a:xfrm>
            <a:off x="5651500" y="188913"/>
            <a:ext cx="3313113" cy="366712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r>
              <a:rPr lang="zh-CN" altLang="en-US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第 </a:t>
            </a:r>
            <a:r>
              <a:rPr lang="en-US" altLang="zh-CN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6 </a:t>
            </a:r>
            <a:r>
              <a:rPr lang="zh-CN" altLang="en-US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章  状态反馈和状态观测器</a:t>
            </a:r>
          </a:p>
        </p:txBody>
      </p:sp>
      <p:sp>
        <p:nvSpPr>
          <p:cNvPr id="75783" name="Text Box 10"/>
          <p:cNvSpPr txBox="1"/>
          <p:nvPr/>
        </p:nvSpPr>
        <p:spPr>
          <a:xfrm>
            <a:off x="252413" y="6435725"/>
            <a:ext cx="1439862" cy="366713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r>
              <a:rPr lang="en-US" altLang="zh-CN" sz="1800" b="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charset="-122"/>
              </a:rPr>
              <a:t>2. </a:t>
            </a:r>
            <a:r>
              <a:rPr lang="zh-CN" altLang="en-US" sz="1800" b="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charset="-122"/>
              </a:rPr>
              <a:t>极点配置</a:t>
            </a:r>
          </a:p>
        </p:txBody>
      </p:sp>
      <p:sp>
        <p:nvSpPr>
          <p:cNvPr id="75784" name="Text Box 24"/>
          <p:cNvSpPr txBox="1"/>
          <p:nvPr/>
        </p:nvSpPr>
        <p:spPr>
          <a:xfrm>
            <a:off x="5413375" y="6435725"/>
            <a:ext cx="1390650" cy="366713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1800" b="0" dirty="0">
                <a:latin typeface="Arial" panose="020B0604020202020204" pitchFamily="34" charset="0"/>
                <a:ea typeface="黑体" panose="02010609060101010101" charset="-122"/>
              </a:rPr>
              <a:t>井元伟 教授</a:t>
            </a:r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日期占位符 5"/>
          <p:cNvSpPr txBox="1">
            <a:spLocks noGrp="1"/>
          </p:cNvSpPr>
          <p:nvPr>
            <p:ph type="dt" sz="half" idx="10"/>
          </p:nvPr>
        </p:nvSpPr>
        <p:spPr>
          <a:xfrm>
            <a:off x="2941638" y="5157788"/>
            <a:ext cx="3311525" cy="404812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BB962C8B-B14F-4D97-AF65-F5344CB8AC3E}" type="datetime2">
              <a:rPr lang="zh-CN" altLang="en-US" sz="2400" b="0" dirty="0">
                <a:solidFill>
                  <a:schemeClr val="bg1"/>
                </a:solidFill>
              </a:rPr>
              <a:t>2026年7月17日</a:t>
            </a:fld>
            <a:endParaRPr lang="zh-CN" altLang="en-US" sz="2400" b="0" dirty="0">
              <a:solidFill>
                <a:schemeClr val="bg1"/>
              </a:solidFill>
            </a:endParaRPr>
          </a:p>
        </p:txBody>
      </p:sp>
      <p:pic>
        <p:nvPicPr>
          <p:cNvPr id="76803" name="Picture 2" descr="底图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76804" name="Object 3"/>
          <p:cNvGraphicFramePr/>
          <p:nvPr/>
        </p:nvGraphicFramePr>
        <p:xfrm>
          <a:off x="612775" y="1328738"/>
          <a:ext cx="1712913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570865" imgH="165100" progId="Equation.DSMT4">
                  <p:embed/>
                </p:oleObj>
              </mc:Choice>
              <mc:Fallback>
                <p:oleObj r:id="rId4" imgW="570865" imgH="165100" progId="Equation.DSMT4">
                  <p:embed/>
                  <p:pic>
                    <p:nvPicPr>
                      <p:cNvPr id="0" name="图片 3098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12775" y="1328738"/>
                        <a:ext cx="1712913" cy="4937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05" name="Rectangle 4"/>
          <p:cNvSpPr/>
          <p:nvPr/>
        </p:nvSpPr>
        <p:spPr>
          <a:xfrm>
            <a:off x="3455988" y="739775"/>
            <a:ext cx="1403350" cy="4572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hlink"/>
              </a:buClr>
              <a:buSzPct val="75000"/>
              <a:buFont typeface="Monotype Sorts" charset="2"/>
            </a:pPr>
            <a:r>
              <a:rPr lang="zh-CN" altLang="en-US" sz="2400" b="0" dirty="0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charset="-122"/>
              </a:rPr>
              <a:t>主要思想</a:t>
            </a:r>
            <a:endParaRPr lang="zh-CN" altLang="en-US" sz="2400" b="0" dirty="0">
              <a:latin typeface="Arial" panose="020B0604020202020204" pitchFamily="34" charset="0"/>
              <a:ea typeface="黑体" panose="02010609060101010101" charset="-122"/>
            </a:endParaRPr>
          </a:p>
        </p:txBody>
      </p:sp>
      <p:sp>
        <p:nvSpPr>
          <p:cNvPr id="76806" name="Text Box 5"/>
          <p:cNvSpPr txBox="1"/>
          <p:nvPr/>
        </p:nvSpPr>
        <p:spPr>
          <a:xfrm>
            <a:off x="5651500" y="188913"/>
            <a:ext cx="3313113" cy="366712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r>
              <a:rPr lang="zh-CN" altLang="en-US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第 </a:t>
            </a:r>
            <a:r>
              <a:rPr lang="en-US" altLang="zh-CN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6 </a:t>
            </a:r>
            <a:r>
              <a:rPr lang="zh-CN" altLang="en-US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章  状态反馈和状态观测器</a:t>
            </a:r>
          </a:p>
        </p:txBody>
      </p:sp>
      <p:sp>
        <p:nvSpPr>
          <p:cNvPr id="76807" name="Text Box 6"/>
          <p:cNvSpPr txBox="1"/>
          <p:nvPr/>
        </p:nvSpPr>
        <p:spPr>
          <a:xfrm>
            <a:off x="252413" y="6435725"/>
            <a:ext cx="1439862" cy="366713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r>
              <a:rPr lang="en-US" altLang="zh-CN" sz="1800" b="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charset="-122"/>
              </a:rPr>
              <a:t>2. </a:t>
            </a:r>
            <a:r>
              <a:rPr lang="zh-CN" altLang="en-US" sz="1800" b="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charset="-122"/>
              </a:rPr>
              <a:t>极点配置</a:t>
            </a:r>
          </a:p>
        </p:txBody>
      </p:sp>
      <p:sp>
        <p:nvSpPr>
          <p:cNvPr id="76808" name="AutoShape 7"/>
          <p:cNvSpPr/>
          <p:nvPr/>
        </p:nvSpPr>
        <p:spPr>
          <a:xfrm>
            <a:off x="141288" y="1196975"/>
            <a:ext cx="431800" cy="936625"/>
          </a:xfrm>
          <a:prstGeom prst="wedgeRoundRectCallout">
            <a:avLst>
              <a:gd name="adj1" fmla="val 77648"/>
              <a:gd name="adj2" fmla="val -13727"/>
              <a:gd name="adj3" fmla="val 16667"/>
            </a:avLst>
          </a:prstGeom>
          <a:solidFill>
            <a:schemeClr val="accent1"/>
          </a:solidFill>
          <a:ln w="12700" cap="flat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/>
          <a:lstStyle/>
          <a:p>
            <a:pPr eaLnBrk="1" hangingPunct="1">
              <a:lnSpc>
                <a:spcPct val="85000"/>
              </a:lnSpc>
            </a:pPr>
            <a:r>
              <a:rPr lang="zh-CN" altLang="en-US" sz="2000" b="0" dirty="0">
                <a:latin typeface="Arial" panose="020B0604020202020204" pitchFamily="34" charset="0"/>
                <a:ea typeface="黑体" panose="02010609060101010101" charset="-122"/>
              </a:rPr>
              <a:t>原系统</a:t>
            </a:r>
          </a:p>
        </p:txBody>
      </p:sp>
      <p:sp>
        <p:nvSpPr>
          <p:cNvPr id="76809" name="Text Box 8"/>
          <p:cNvSpPr txBox="1"/>
          <p:nvPr/>
        </p:nvSpPr>
        <p:spPr>
          <a:xfrm>
            <a:off x="5413375" y="6435725"/>
            <a:ext cx="1390650" cy="366713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1800" b="0" dirty="0">
                <a:latin typeface="Arial" panose="020B0604020202020204" pitchFamily="34" charset="0"/>
                <a:ea typeface="黑体" panose="02010609060101010101" charset="-122"/>
              </a:rPr>
              <a:t>井元伟 教授</a:t>
            </a:r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日期占位符 5"/>
          <p:cNvSpPr txBox="1">
            <a:spLocks noGrp="1"/>
          </p:cNvSpPr>
          <p:nvPr>
            <p:ph type="dt" sz="half" idx="10"/>
          </p:nvPr>
        </p:nvSpPr>
        <p:spPr>
          <a:xfrm>
            <a:off x="2941638" y="5157788"/>
            <a:ext cx="3311525" cy="404812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BB962C8B-B14F-4D97-AF65-F5344CB8AC3E}" type="datetime2">
              <a:rPr lang="zh-CN" altLang="en-US" sz="2400" b="0" dirty="0">
                <a:solidFill>
                  <a:schemeClr val="bg1"/>
                </a:solidFill>
              </a:rPr>
              <a:t>2026年7月17日</a:t>
            </a:fld>
            <a:endParaRPr lang="zh-CN" altLang="en-US" sz="2400" b="0" dirty="0">
              <a:solidFill>
                <a:schemeClr val="bg1"/>
              </a:solidFill>
            </a:endParaRPr>
          </a:p>
        </p:txBody>
      </p:sp>
      <p:pic>
        <p:nvPicPr>
          <p:cNvPr id="77827" name="Picture 2" descr="底图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77828" name="Object 3"/>
          <p:cNvGraphicFramePr/>
          <p:nvPr/>
        </p:nvGraphicFramePr>
        <p:xfrm>
          <a:off x="612775" y="1328738"/>
          <a:ext cx="1712913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570865" imgH="165100" progId="Equation.DSMT4">
                  <p:embed/>
                </p:oleObj>
              </mc:Choice>
              <mc:Fallback>
                <p:oleObj r:id="rId4" imgW="570865" imgH="165100" progId="Equation.DSMT4">
                  <p:embed/>
                  <p:pic>
                    <p:nvPicPr>
                      <p:cNvPr id="0" name="图片 310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12775" y="1328738"/>
                        <a:ext cx="1712913" cy="4937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829" name="Rectangle 6"/>
          <p:cNvSpPr/>
          <p:nvPr/>
        </p:nvSpPr>
        <p:spPr>
          <a:xfrm>
            <a:off x="3448050" y="1206500"/>
            <a:ext cx="1200150" cy="396875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lstStyle/>
          <a:p>
            <a:pPr eaLnBrk="1" hangingPunct="1"/>
            <a:r>
              <a:rPr lang="zh-CN" altLang="en-US" sz="2000" b="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charset="-122"/>
              </a:rPr>
              <a:t>线性变换</a:t>
            </a:r>
          </a:p>
        </p:txBody>
      </p:sp>
      <p:sp>
        <p:nvSpPr>
          <p:cNvPr id="77830" name="Rectangle 8"/>
          <p:cNvSpPr/>
          <p:nvPr/>
        </p:nvSpPr>
        <p:spPr>
          <a:xfrm>
            <a:off x="3455988" y="739775"/>
            <a:ext cx="1403350" cy="4572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hlink"/>
              </a:buClr>
              <a:buSzPct val="75000"/>
              <a:buFont typeface="Monotype Sorts" charset="2"/>
            </a:pPr>
            <a:r>
              <a:rPr lang="zh-CN" altLang="en-US" sz="2400" b="0" dirty="0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charset="-122"/>
              </a:rPr>
              <a:t>主要思想</a:t>
            </a:r>
            <a:endParaRPr lang="zh-CN" altLang="en-US" sz="2400" b="0" dirty="0">
              <a:latin typeface="Arial" panose="020B0604020202020204" pitchFamily="34" charset="0"/>
              <a:ea typeface="黑体" panose="02010609060101010101" charset="-122"/>
            </a:endParaRPr>
          </a:p>
        </p:txBody>
      </p:sp>
      <p:sp>
        <p:nvSpPr>
          <p:cNvPr id="77831" name="Text Box 9"/>
          <p:cNvSpPr txBox="1"/>
          <p:nvPr/>
        </p:nvSpPr>
        <p:spPr>
          <a:xfrm>
            <a:off x="5651500" y="188913"/>
            <a:ext cx="3313113" cy="366712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r>
              <a:rPr lang="zh-CN" altLang="en-US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第 </a:t>
            </a:r>
            <a:r>
              <a:rPr lang="en-US" altLang="zh-CN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6 </a:t>
            </a:r>
            <a:r>
              <a:rPr lang="zh-CN" altLang="en-US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章  状态反馈和状态观测器</a:t>
            </a:r>
          </a:p>
        </p:txBody>
      </p:sp>
      <p:sp>
        <p:nvSpPr>
          <p:cNvPr id="77832" name="Text Box 10"/>
          <p:cNvSpPr txBox="1"/>
          <p:nvPr/>
        </p:nvSpPr>
        <p:spPr>
          <a:xfrm>
            <a:off x="252413" y="6435725"/>
            <a:ext cx="1439862" cy="366713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r>
              <a:rPr lang="en-US" altLang="zh-CN" sz="1800" b="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charset="-122"/>
              </a:rPr>
              <a:t>2. </a:t>
            </a:r>
            <a:r>
              <a:rPr lang="zh-CN" altLang="en-US" sz="1800" b="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charset="-122"/>
              </a:rPr>
              <a:t>极点配置</a:t>
            </a:r>
          </a:p>
        </p:txBody>
      </p:sp>
      <p:graphicFrame>
        <p:nvGraphicFramePr>
          <p:cNvPr id="77833" name="Object 11"/>
          <p:cNvGraphicFramePr>
            <a:graphicFrameLocks noGrp="1"/>
          </p:cNvGraphicFramePr>
          <p:nvPr>
            <p:ph sz="half" idx="1"/>
          </p:nvPr>
        </p:nvGraphicFramePr>
        <p:xfrm>
          <a:off x="2967038" y="1209675"/>
          <a:ext cx="3810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27000" imgH="139700" progId="Equation.DSMT4">
                  <p:embed/>
                </p:oleObj>
              </mc:Choice>
              <mc:Fallback>
                <p:oleObj r:id="rId6" imgW="127000" imgH="139700" progId="Equation.DSMT4">
                  <p:embed/>
                  <p:pic>
                    <p:nvPicPr>
                      <p:cNvPr id="0" name="图片 3100"/>
                      <p:cNvPicPr/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>
                      <a:xfrm>
                        <a:off x="2967038" y="1209675"/>
                        <a:ext cx="381000" cy="41910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834" name="Line 16"/>
          <p:cNvSpPr/>
          <p:nvPr/>
        </p:nvSpPr>
        <p:spPr>
          <a:xfrm>
            <a:off x="2554288" y="1616075"/>
            <a:ext cx="2592387" cy="0"/>
          </a:xfrm>
          <a:prstGeom prst="line">
            <a:avLst/>
          </a:prstGeom>
          <a:ln w="76200" cap="flat" cmpd="tri">
            <a:solidFill>
              <a:srgbClr val="0000FF"/>
            </a:solidFill>
            <a:prstDash val="solid"/>
            <a:headEnd type="none" w="sm" len="sm"/>
            <a:tailEnd type="triangle" w="sm" len="sm"/>
          </a:ln>
        </p:spPr>
      </p:sp>
      <p:sp>
        <p:nvSpPr>
          <p:cNvPr id="77835" name="AutoShape 20"/>
          <p:cNvSpPr/>
          <p:nvPr/>
        </p:nvSpPr>
        <p:spPr>
          <a:xfrm>
            <a:off x="141288" y="1196975"/>
            <a:ext cx="431800" cy="936625"/>
          </a:xfrm>
          <a:prstGeom prst="wedgeRoundRectCallout">
            <a:avLst>
              <a:gd name="adj1" fmla="val 77648"/>
              <a:gd name="adj2" fmla="val -13727"/>
              <a:gd name="adj3" fmla="val 16667"/>
            </a:avLst>
          </a:prstGeom>
          <a:solidFill>
            <a:schemeClr val="accent1"/>
          </a:solidFill>
          <a:ln w="12700" cap="flat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/>
          <a:lstStyle/>
          <a:p>
            <a:pPr eaLnBrk="1" hangingPunct="1">
              <a:lnSpc>
                <a:spcPct val="85000"/>
              </a:lnSpc>
            </a:pPr>
            <a:r>
              <a:rPr lang="zh-CN" altLang="en-US" sz="2000" b="0" dirty="0">
                <a:latin typeface="Arial" panose="020B0604020202020204" pitchFamily="34" charset="0"/>
                <a:ea typeface="黑体" panose="02010609060101010101" charset="-122"/>
              </a:rPr>
              <a:t>原系统</a:t>
            </a:r>
          </a:p>
        </p:txBody>
      </p:sp>
      <p:sp>
        <p:nvSpPr>
          <p:cNvPr id="77836" name="Text Box 23"/>
          <p:cNvSpPr txBox="1"/>
          <p:nvPr/>
        </p:nvSpPr>
        <p:spPr>
          <a:xfrm>
            <a:off x="5413375" y="6435725"/>
            <a:ext cx="1390650" cy="366713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1800" b="0" dirty="0">
                <a:latin typeface="Arial" panose="020B0604020202020204" pitchFamily="34" charset="0"/>
                <a:ea typeface="黑体" panose="02010609060101010101" charset="-122"/>
              </a:rPr>
              <a:t>井元伟 教授</a:t>
            </a:r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日期占位符 5"/>
          <p:cNvSpPr txBox="1">
            <a:spLocks noGrp="1"/>
          </p:cNvSpPr>
          <p:nvPr>
            <p:ph type="dt" sz="half" idx="10"/>
          </p:nvPr>
        </p:nvSpPr>
        <p:spPr>
          <a:xfrm>
            <a:off x="2941638" y="5157788"/>
            <a:ext cx="3311525" cy="404812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BB962C8B-B14F-4D97-AF65-F5344CB8AC3E}" type="datetime2">
              <a:rPr lang="zh-CN" altLang="en-US" sz="2400" b="0" dirty="0">
                <a:solidFill>
                  <a:schemeClr val="bg1"/>
                </a:solidFill>
              </a:rPr>
              <a:t>2026年7月17日</a:t>
            </a:fld>
            <a:endParaRPr lang="zh-CN" altLang="en-US" sz="2400" b="0" dirty="0">
              <a:solidFill>
                <a:schemeClr val="bg1"/>
              </a:solidFill>
            </a:endParaRPr>
          </a:p>
        </p:txBody>
      </p:sp>
      <p:pic>
        <p:nvPicPr>
          <p:cNvPr id="78851" name="Picture 2" descr="底图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78852" name="Object 3"/>
          <p:cNvGraphicFramePr/>
          <p:nvPr/>
        </p:nvGraphicFramePr>
        <p:xfrm>
          <a:off x="612775" y="1328738"/>
          <a:ext cx="1712913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570865" imgH="165100" progId="Equation.DSMT4">
                  <p:embed/>
                </p:oleObj>
              </mc:Choice>
              <mc:Fallback>
                <p:oleObj r:id="rId4" imgW="570865" imgH="165100" progId="Equation.DSMT4">
                  <p:embed/>
                  <p:pic>
                    <p:nvPicPr>
                      <p:cNvPr id="0" name="图片 310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12775" y="1328738"/>
                        <a:ext cx="1712913" cy="4937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53" name="Object 5"/>
          <p:cNvGraphicFramePr/>
          <p:nvPr/>
        </p:nvGraphicFramePr>
        <p:xfrm>
          <a:off x="5219700" y="1255713"/>
          <a:ext cx="1706563" cy="573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571500" imgH="190500" progId="Equation.DSMT4">
                  <p:embed/>
                </p:oleObj>
              </mc:Choice>
              <mc:Fallback>
                <p:oleObj r:id="rId6" imgW="571500" imgH="190500" progId="Equation.DSMT4">
                  <p:embed/>
                  <p:pic>
                    <p:nvPicPr>
                      <p:cNvPr id="0" name="图片 3106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219700" y="1255713"/>
                        <a:ext cx="1706563" cy="5730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854" name="Rectangle 6"/>
          <p:cNvSpPr/>
          <p:nvPr/>
        </p:nvSpPr>
        <p:spPr>
          <a:xfrm>
            <a:off x="3448050" y="1206500"/>
            <a:ext cx="1200150" cy="396875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lstStyle/>
          <a:p>
            <a:pPr eaLnBrk="1" hangingPunct="1"/>
            <a:r>
              <a:rPr lang="zh-CN" altLang="en-US" sz="2000" b="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charset="-122"/>
              </a:rPr>
              <a:t>线性变换</a:t>
            </a:r>
          </a:p>
        </p:txBody>
      </p:sp>
      <p:sp>
        <p:nvSpPr>
          <p:cNvPr id="78855" name="Rectangle 8"/>
          <p:cNvSpPr/>
          <p:nvPr/>
        </p:nvSpPr>
        <p:spPr>
          <a:xfrm>
            <a:off x="3455988" y="739775"/>
            <a:ext cx="1403350" cy="4572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hlink"/>
              </a:buClr>
              <a:buSzPct val="75000"/>
              <a:buFont typeface="Monotype Sorts" charset="2"/>
            </a:pPr>
            <a:r>
              <a:rPr lang="zh-CN" altLang="en-US" sz="2400" b="0" dirty="0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charset="-122"/>
              </a:rPr>
              <a:t>主要思想</a:t>
            </a:r>
            <a:endParaRPr lang="zh-CN" altLang="en-US" sz="2400" b="0" dirty="0">
              <a:latin typeface="Arial" panose="020B0604020202020204" pitchFamily="34" charset="0"/>
              <a:ea typeface="黑体" panose="02010609060101010101" charset="-122"/>
            </a:endParaRPr>
          </a:p>
        </p:txBody>
      </p:sp>
      <p:sp>
        <p:nvSpPr>
          <p:cNvPr id="78856" name="Text Box 9"/>
          <p:cNvSpPr txBox="1"/>
          <p:nvPr/>
        </p:nvSpPr>
        <p:spPr>
          <a:xfrm>
            <a:off x="5651500" y="188913"/>
            <a:ext cx="3313113" cy="366712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r>
              <a:rPr lang="zh-CN" altLang="en-US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第 </a:t>
            </a:r>
            <a:r>
              <a:rPr lang="en-US" altLang="zh-CN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6 </a:t>
            </a:r>
            <a:r>
              <a:rPr lang="zh-CN" altLang="en-US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章  状态反馈和状态观测器</a:t>
            </a:r>
          </a:p>
        </p:txBody>
      </p:sp>
      <p:sp>
        <p:nvSpPr>
          <p:cNvPr id="78857" name="Text Box 10"/>
          <p:cNvSpPr txBox="1"/>
          <p:nvPr/>
        </p:nvSpPr>
        <p:spPr>
          <a:xfrm>
            <a:off x="252413" y="6435725"/>
            <a:ext cx="1439862" cy="366713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r>
              <a:rPr lang="en-US" altLang="zh-CN" sz="1800" b="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charset="-122"/>
              </a:rPr>
              <a:t>2. </a:t>
            </a:r>
            <a:r>
              <a:rPr lang="zh-CN" altLang="en-US" sz="1800" b="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charset="-122"/>
              </a:rPr>
              <a:t>极点配置</a:t>
            </a:r>
          </a:p>
        </p:txBody>
      </p:sp>
      <p:graphicFrame>
        <p:nvGraphicFramePr>
          <p:cNvPr id="78858" name="Object 11"/>
          <p:cNvGraphicFramePr>
            <a:graphicFrameLocks noGrp="1"/>
          </p:cNvGraphicFramePr>
          <p:nvPr>
            <p:ph sz="half" idx="1"/>
          </p:nvPr>
        </p:nvGraphicFramePr>
        <p:xfrm>
          <a:off x="2967038" y="1209675"/>
          <a:ext cx="3810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27000" imgH="139700" progId="Equation.DSMT4">
                  <p:embed/>
                </p:oleObj>
              </mc:Choice>
              <mc:Fallback>
                <p:oleObj r:id="rId8" imgW="127000" imgH="139700" progId="Equation.DSMT4">
                  <p:embed/>
                  <p:pic>
                    <p:nvPicPr>
                      <p:cNvPr id="0" name="图片 3104"/>
                      <p:cNvPicPr/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>
                      <a:xfrm>
                        <a:off x="2967038" y="1209675"/>
                        <a:ext cx="381000" cy="41910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859" name="Line 16"/>
          <p:cNvSpPr/>
          <p:nvPr/>
        </p:nvSpPr>
        <p:spPr>
          <a:xfrm>
            <a:off x="2554288" y="1616075"/>
            <a:ext cx="2592387" cy="0"/>
          </a:xfrm>
          <a:prstGeom prst="line">
            <a:avLst/>
          </a:prstGeom>
          <a:ln w="76200" cap="flat" cmpd="tri">
            <a:solidFill>
              <a:srgbClr val="0000FF"/>
            </a:solidFill>
            <a:prstDash val="solid"/>
            <a:headEnd type="none" w="sm" len="sm"/>
            <a:tailEnd type="triangle" w="sm" len="sm"/>
          </a:ln>
        </p:spPr>
      </p:sp>
      <p:sp>
        <p:nvSpPr>
          <p:cNvPr id="78860" name="AutoShape 20"/>
          <p:cNvSpPr/>
          <p:nvPr/>
        </p:nvSpPr>
        <p:spPr>
          <a:xfrm>
            <a:off x="141288" y="1196975"/>
            <a:ext cx="431800" cy="936625"/>
          </a:xfrm>
          <a:prstGeom prst="wedgeRoundRectCallout">
            <a:avLst>
              <a:gd name="adj1" fmla="val 77648"/>
              <a:gd name="adj2" fmla="val -13727"/>
              <a:gd name="adj3" fmla="val 16667"/>
            </a:avLst>
          </a:prstGeom>
          <a:solidFill>
            <a:schemeClr val="accent1"/>
          </a:solidFill>
          <a:ln w="12700" cap="flat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/>
          <a:lstStyle/>
          <a:p>
            <a:pPr eaLnBrk="1" hangingPunct="1">
              <a:lnSpc>
                <a:spcPct val="85000"/>
              </a:lnSpc>
            </a:pPr>
            <a:r>
              <a:rPr lang="zh-CN" altLang="en-US" sz="2000" b="0" dirty="0">
                <a:latin typeface="Arial" panose="020B0604020202020204" pitchFamily="34" charset="0"/>
                <a:ea typeface="黑体" panose="02010609060101010101" charset="-122"/>
              </a:rPr>
              <a:t>原系统</a:t>
            </a:r>
          </a:p>
        </p:txBody>
      </p:sp>
      <p:sp>
        <p:nvSpPr>
          <p:cNvPr id="78861" name="Text Box 23"/>
          <p:cNvSpPr txBox="1"/>
          <p:nvPr/>
        </p:nvSpPr>
        <p:spPr>
          <a:xfrm>
            <a:off x="5413375" y="6435725"/>
            <a:ext cx="1390650" cy="366713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1800" b="0" dirty="0">
                <a:latin typeface="Arial" panose="020B0604020202020204" pitchFamily="34" charset="0"/>
                <a:ea typeface="黑体" panose="02010609060101010101" charset="-122"/>
              </a:rPr>
              <a:t>井元伟 教授</a:t>
            </a:r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日期占位符 5"/>
          <p:cNvSpPr txBox="1">
            <a:spLocks noGrp="1"/>
          </p:cNvSpPr>
          <p:nvPr>
            <p:ph type="dt" sz="half" idx="10"/>
          </p:nvPr>
        </p:nvSpPr>
        <p:spPr>
          <a:xfrm>
            <a:off x="2941638" y="5157788"/>
            <a:ext cx="3311525" cy="404812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BB962C8B-B14F-4D97-AF65-F5344CB8AC3E}" type="datetime2">
              <a:rPr lang="zh-CN" altLang="en-US" sz="2400" b="0" dirty="0">
                <a:solidFill>
                  <a:schemeClr val="bg1"/>
                </a:solidFill>
              </a:rPr>
              <a:t>2026年7月17日</a:t>
            </a:fld>
            <a:endParaRPr lang="zh-CN" altLang="en-US" sz="2400" b="0" dirty="0">
              <a:solidFill>
                <a:schemeClr val="bg1"/>
              </a:solidFill>
            </a:endParaRPr>
          </a:p>
        </p:txBody>
      </p:sp>
      <p:pic>
        <p:nvPicPr>
          <p:cNvPr id="79875" name="Picture 2" descr="底图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79876" name="Object 3"/>
          <p:cNvGraphicFramePr/>
          <p:nvPr/>
        </p:nvGraphicFramePr>
        <p:xfrm>
          <a:off x="612775" y="1328738"/>
          <a:ext cx="1712913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570865" imgH="165100" progId="Equation.DSMT4">
                  <p:embed/>
                </p:oleObj>
              </mc:Choice>
              <mc:Fallback>
                <p:oleObj r:id="rId4" imgW="570865" imgH="165100" progId="Equation.DSMT4">
                  <p:embed/>
                  <p:pic>
                    <p:nvPicPr>
                      <p:cNvPr id="0" name="图片 3102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12775" y="1328738"/>
                        <a:ext cx="1712913" cy="4937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77" name="Object 4"/>
          <p:cNvGraphicFramePr/>
          <p:nvPr/>
        </p:nvGraphicFramePr>
        <p:xfrm>
          <a:off x="5219700" y="1255713"/>
          <a:ext cx="1706563" cy="573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571500" imgH="190500" progId="Equation.DSMT4">
                  <p:embed/>
                </p:oleObj>
              </mc:Choice>
              <mc:Fallback>
                <p:oleObj r:id="rId6" imgW="571500" imgH="190500" progId="Equation.DSMT4">
                  <p:embed/>
                  <p:pic>
                    <p:nvPicPr>
                      <p:cNvPr id="0" name="图片 3103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219700" y="1255713"/>
                        <a:ext cx="1706563" cy="5730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878" name="Rectangle 5"/>
          <p:cNvSpPr/>
          <p:nvPr/>
        </p:nvSpPr>
        <p:spPr>
          <a:xfrm>
            <a:off x="3448050" y="1206500"/>
            <a:ext cx="1200150" cy="396875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lstStyle/>
          <a:p>
            <a:pPr eaLnBrk="1" hangingPunct="1"/>
            <a:r>
              <a:rPr lang="zh-CN" altLang="en-US" sz="2000" b="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charset="-122"/>
              </a:rPr>
              <a:t>线性变换</a:t>
            </a:r>
          </a:p>
        </p:txBody>
      </p:sp>
      <p:sp>
        <p:nvSpPr>
          <p:cNvPr id="79879" name="Rectangle 6"/>
          <p:cNvSpPr/>
          <p:nvPr/>
        </p:nvSpPr>
        <p:spPr>
          <a:xfrm>
            <a:off x="3455988" y="739775"/>
            <a:ext cx="1403350" cy="4572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hlink"/>
              </a:buClr>
              <a:buSzPct val="75000"/>
              <a:buFont typeface="Monotype Sorts" charset="2"/>
            </a:pPr>
            <a:r>
              <a:rPr lang="zh-CN" altLang="en-US" sz="2400" b="0" dirty="0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charset="-122"/>
              </a:rPr>
              <a:t>主要思想</a:t>
            </a:r>
            <a:endParaRPr lang="zh-CN" altLang="en-US" sz="2400" b="0" dirty="0">
              <a:latin typeface="Arial" panose="020B0604020202020204" pitchFamily="34" charset="0"/>
              <a:ea typeface="黑体" panose="02010609060101010101" charset="-122"/>
            </a:endParaRPr>
          </a:p>
        </p:txBody>
      </p:sp>
      <p:sp>
        <p:nvSpPr>
          <p:cNvPr id="79880" name="Text Box 7"/>
          <p:cNvSpPr txBox="1"/>
          <p:nvPr/>
        </p:nvSpPr>
        <p:spPr>
          <a:xfrm>
            <a:off x="5651500" y="188913"/>
            <a:ext cx="3313113" cy="366712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r>
              <a:rPr lang="zh-CN" altLang="en-US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第 </a:t>
            </a:r>
            <a:r>
              <a:rPr lang="en-US" altLang="zh-CN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6 </a:t>
            </a:r>
            <a:r>
              <a:rPr lang="zh-CN" altLang="en-US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章  状态反馈和状态观测器</a:t>
            </a:r>
          </a:p>
        </p:txBody>
      </p:sp>
      <p:sp>
        <p:nvSpPr>
          <p:cNvPr id="79881" name="Text Box 8"/>
          <p:cNvSpPr txBox="1"/>
          <p:nvPr/>
        </p:nvSpPr>
        <p:spPr>
          <a:xfrm>
            <a:off x="252413" y="6435725"/>
            <a:ext cx="1439862" cy="366713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r>
              <a:rPr lang="en-US" altLang="zh-CN" sz="1800" b="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charset="-122"/>
              </a:rPr>
              <a:t>2. </a:t>
            </a:r>
            <a:r>
              <a:rPr lang="zh-CN" altLang="en-US" sz="1800" b="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charset="-122"/>
              </a:rPr>
              <a:t>极点配置</a:t>
            </a:r>
          </a:p>
        </p:txBody>
      </p:sp>
      <p:graphicFrame>
        <p:nvGraphicFramePr>
          <p:cNvPr id="79882" name="Object 9"/>
          <p:cNvGraphicFramePr>
            <a:graphicFrameLocks noGrp="1"/>
          </p:cNvGraphicFramePr>
          <p:nvPr>
            <p:ph sz="half" idx="1"/>
          </p:nvPr>
        </p:nvGraphicFramePr>
        <p:xfrm>
          <a:off x="2967038" y="1209675"/>
          <a:ext cx="3810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27000" imgH="139700" progId="Equation.DSMT4">
                  <p:embed/>
                </p:oleObj>
              </mc:Choice>
              <mc:Fallback>
                <p:oleObj r:id="rId8" imgW="127000" imgH="139700" progId="Equation.DSMT4">
                  <p:embed/>
                  <p:pic>
                    <p:nvPicPr>
                      <p:cNvPr id="0" name="图片 3107"/>
                      <p:cNvPicPr/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>
                      <a:xfrm>
                        <a:off x="2967038" y="1209675"/>
                        <a:ext cx="381000" cy="41910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883" name="Line 10"/>
          <p:cNvSpPr/>
          <p:nvPr/>
        </p:nvSpPr>
        <p:spPr>
          <a:xfrm>
            <a:off x="2554288" y="1616075"/>
            <a:ext cx="2592387" cy="0"/>
          </a:xfrm>
          <a:prstGeom prst="line">
            <a:avLst/>
          </a:prstGeom>
          <a:ln w="76200" cap="flat" cmpd="tri">
            <a:solidFill>
              <a:srgbClr val="0000FF"/>
            </a:solidFill>
            <a:prstDash val="solid"/>
            <a:headEnd type="none" w="sm" len="sm"/>
            <a:tailEnd type="triangle" w="sm" len="sm"/>
          </a:ln>
        </p:spPr>
      </p:sp>
      <p:sp>
        <p:nvSpPr>
          <p:cNvPr id="79884" name="AutoShape 11"/>
          <p:cNvSpPr/>
          <p:nvPr/>
        </p:nvSpPr>
        <p:spPr>
          <a:xfrm>
            <a:off x="6877050" y="908050"/>
            <a:ext cx="1582738" cy="466725"/>
          </a:xfrm>
          <a:prstGeom prst="wedgeRoundRectCallout">
            <a:avLst>
              <a:gd name="adj1" fmla="val -46389"/>
              <a:gd name="adj2" fmla="val 76190"/>
              <a:gd name="adj3" fmla="val 16667"/>
            </a:avLst>
          </a:prstGeom>
          <a:solidFill>
            <a:schemeClr val="accent1"/>
          </a:solidFill>
          <a:ln w="12700" cap="flat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/>
          <a:lstStyle/>
          <a:p>
            <a:pPr algn="ctr" eaLnBrk="1" hangingPunct="1"/>
            <a:r>
              <a:rPr lang="zh-CN" altLang="en-US" sz="2000" b="0" dirty="0">
                <a:latin typeface="Arial" panose="020B0604020202020204" pitchFamily="34" charset="0"/>
                <a:ea typeface="黑体" panose="02010609060101010101" charset="-122"/>
              </a:rPr>
              <a:t>能控标准型</a:t>
            </a:r>
          </a:p>
        </p:txBody>
      </p:sp>
      <p:sp>
        <p:nvSpPr>
          <p:cNvPr id="79885" name="AutoShape 12"/>
          <p:cNvSpPr/>
          <p:nvPr/>
        </p:nvSpPr>
        <p:spPr>
          <a:xfrm>
            <a:off x="141288" y="1196975"/>
            <a:ext cx="431800" cy="936625"/>
          </a:xfrm>
          <a:prstGeom prst="wedgeRoundRectCallout">
            <a:avLst>
              <a:gd name="adj1" fmla="val 77648"/>
              <a:gd name="adj2" fmla="val -13727"/>
              <a:gd name="adj3" fmla="val 16667"/>
            </a:avLst>
          </a:prstGeom>
          <a:solidFill>
            <a:schemeClr val="accent1"/>
          </a:solidFill>
          <a:ln w="12700" cap="flat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/>
          <a:lstStyle/>
          <a:p>
            <a:pPr eaLnBrk="1" hangingPunct="1">
              <a:lnSpc>
                <a:spcPct val="85000"/>
              </a:lnSpc>
            </a:pPr>
            <a:r>
              <a:rPr lang="zh-CN" altLang="en-US" sz="2000" b="0" dirty="0">
                <a:latin typeface="Arial" panose="020B0604020202020204" pitchFamily="34" charset="0"/>
                <a:ea typeface="黑体" panose="02010609060101010101" charset="-122"/>
              </a:rPr>
              <a:t>原系统</a:t>
            </a:r>
          </a:p>
        </p:txBody>
      </p:sp>
      <p:sp>
        <p:nvSpPr>
          <p:cNvPr id="79886" name="Text Box 13"/>
          <p:cNvSpPr txBox="1"/>
          <p:nvPr/>
        </p:nvSpPr>
        <p:spPr>
          <a:xfrm>
            <a:off x="5413375" y="6435725"/>
            <a:ext cx="1390650" cy="366713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1800" b="0" dirty="0">
                <a:latin typeface="Arial" panose="020B0604020202020204" pitchFamily="34" charset="0"/>
                <a:ea typeface="黑体" panose="02010609060101010101" charset="-122"/>
              </a:rPr>
              <a:t>井元伟 教授</a:t>
            </a:r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日期占位符 5"/>
          <p:cNvSpPr txBox="1">
            <a:spLocks noGrp="1"/>
          </p:cNvSpPr>
          <p:nvPr>
            <p:ph type="dt" sz="half" idx="10"/>
          </p:nvPr>
        </p:nvSpPr>
        <p:spPr>
          <a:xfrm>
            <a:off x="2941638" y="5157788"/>
            <a:ext cx="3311525" cy="404812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BB962C8B-B14F-4D97-AF65-F5344CB8AC3E}" type="datetime2">
              <a:rPr lang="zh-CN" altLang="en-US" sz="2400" b="0" dirty="0">
                <a:solidFill>
                  <a:schemeClr val="bg1"/>
                </a:solidFill>
              </a:rPr>
              <a:t>2026年7月17日</a:t>
            </a:fld>
            <a:endParaRPr lang="zh-CN" altLang="en-US" sz="2400" b="0" dirty="0">
              <a:solidFill>
                <a:schemeClr val="bg1"/>
              </a:solidFill>
            </a:endParaRPr>
          </a:p>
        </p:txBody>
      </p:sp>
      <p:pic>
        <p:nvPicPr>
          <p:cNvPr id="80899" name="Picture 2" descr="底图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80900" name="Object 3"/>
          <p:cNvGraphicFramePr/>
          <p:nvPr/>
        </p:nvGraphicFramePr>
        <p:xfrm>
          <a:off x="612775" y="1328738"/>
          <a:ext cx="1712913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570865" imgH="165100" progId="Equation.DSMT4">
                  <p:embed/>
                </p:oleObj>
              </mc:Choice>
              <mc:Fallback>
                <p:oleObj r:id="rId4" imgW="570865" imgH="165100" progId="Equation.DSMT4">
                  <p:embed/>
                  <p:pic>
                    <p:nvPicPr>
                      <p:cNvPr id="0" name="图片 3109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12775" y="1328738"/>
                        <a:ext cx="1712913" cy="4937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01" name="Object 5"/>
          <p:cNvGraphicFramePr/>
          <p:nvPr/>
        </p:nvGraphicFramePr>
        <p:xfrm>
          <a:off x="5219700" y="1255713"/>
          <a:ext cx="1706563" cy="573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571500" imgH="190500" progId="Equation.DSMT4">
                  <p:embed/>
                </p:oleObj>
              </mc:Choice>
              <mc:Fallback>
                <p:oleObj r:id="rId6" imgW="571500" imgH="190500" progId="Equation.DSMT4">
                  <p:embed/>
                  <p:pic>
                    <p:nvPicPr>
                      <p:cNvPr id="0" name="图片 3108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219700" y="1255713"/>
                        <a:ext cx="1706563" cy="5730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902" name="Rectangle 6"/>
          <p:cNvSpPr/>
          <p:nvPr/>
        </p:nvSpPr>
        <p:spPr>
          <a:xfrm>
            <a:off x="3448050" y="1206500"/>
            <a:ext cx="1200150" cy="396875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lstStyle/>
          <a:p>
            <a:pPr eaLnBrk="1" hangingPunct="1"/>
            <a:r>
              <a:rPr lang="zh-CN" altLang="en-US" sz="2000" b="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charset="-122"/>
              </a:rPr>
              <a:t>线性变换</a:t>
            </a:r>
          </a:p>
        </p:txBody>
      </p:sp>
      <p:graphicFrame>
        <p:nvGraphicFramePr>
          <p:cNvPr id="80903" name="Object 7"/>
          <p:cNvGraphicFramePr/>
          <p:nvPr/>
        </p:nvGraphicFramePr>
        <p:xfrm>
          <a:off x="1122363" y="2090738"/>
          <a:ext cx="236855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798830" imgH="177800" progId="Equation.DSMT4">
                  <p:embed/>
                </p:oleObj>
              </mc:Choice>
              <mc:Fallback>
                <p:oleObj r:id="rId8" imgW="798830" imgH="177800" progId="Equation.DSMT4">
                  <p:embed/>
                  <p:pic>
                    <p:nvPicPr>
                      <p:cNvPr id="0" name="图片 3110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122363" y="2090738"/>
                        <a:ext cx="2368550" cy="533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904" name="Rectangle 8"/>
          <p:cNvSpPr/>
          <p:nvPr/>
        </p:nvSpPr>
        <p:spPr>
          <a:xfrm>
            <a:off x="3455988" y="739775"/>
            <a:ext cx="1403350" cy="4572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hlink"/>
              </a:buClr>
              <a:buSzPct val="75000"/>
              <a:buFont typeface="Monotype Sorts" charset="2"/>
            </a:pPr>
            <a:r>
              <a:rPr lang="zh-CN" altLang="en-US" sz="2400" b="0" dirty="0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charset="-122"/>
              </a:rPr>
              <a:t>主要思想</a:t>
            </a:r>
            <a:endParaRPr lang="zh-CN" altLang="en-US" sz="2400" b="0" dirty="0">
              <a:latin typeface="Arial" panose="020B0604020202020204" pitchFamily="34" charset="0"/>
              <a:ea typeface="黑体" panose="02010609060101010101" charset="-122"/>
            </a:endParaRPr>
          </a:p>
        </p:txBody>
      </p:sp>
      <p:sp>
        <p:nvSpPr>
          <p:cNvPr id="80905" name="Text Box 9"/>
          <p:cNvSpPr txBox="1"/>
          <p:nvPr/>
        </p:nvSpPr>
        <p:spPr>
          <a:xfrm>
            <a:off x="5651500" y="188913"/>
            <a:ext cx="3313113" cy="366712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r>
              <a:rPr lang="zh-CN" altLang="en-US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第 </a:t>
            </a:r>
            <a:r>
              <a:rPr lang="en-US" altLang="zh-CN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6 </a:t>
            </a:r>
            <a:r>
              <a:rPr lang="zh-CN" altLang="en-US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章  状态反馈和状态观测器</a:t>
            </a:r>
          </a:p>
        </p:txBody>
      </p:sp>
      <p:sp>
        <p:nvSpPr>
          <p:cNvPr id="80906" name="Text Box 10"/>
          <p:cNvSpPr txBox="1"/>
          <p:nvPr/>
        </p:nvSpPr>
        <p:spPr>
          <a:xfrm>
            <a:off x="252413" y="6435725"/>
            <a:ext cx="1439862" cy="366713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r>
              <a:rPr lang="en-US" altLang="zh-CN" sz="1800" b="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charset="-122"/>
              </a:rPr>
              <a:t>2. </a:t>
            </a:r>
            <a:r>
              <a:rPr lang="zh-CN" altLang="en-US" sz="1800" b="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charset="-122"/>
              </a:rPr>
              <a:t>极点配置</a:t>
            </a:r>
          </a:p>
        </p:txBody>
      </p:sp>
      <p:graphicFrame>
        <p:nvGraphicFramePr>
          <p:cNvPr id="80907" name="Object 11"/>
          <p:cNvGraphicFramePr>
            <a:graphicFrameLocks noGrp="1"/>
          </p:cNvGraphicFramePr>
          <p:nvPr>
            <p:ph sz="half" idx="1"/>
          </p:nvPr>
        </p:nvGraphicFramePr>
        <p:xfrm>
          <a:off x="2967038" y="1209675"/>
          <a:ext cx="3810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127000" imgH="139700" progId="Equation.DSMT4">
                  <p:embed/>
                </p:oleObj>
              </mc:Choice>
              <mc:Fallback>
                <p:oleObj r:id="rId10" imgW="127000" imgH="139700" progId="Equation.DSMT4">
                  <p:embed/>
                  <p:pic>
                    <p:nvPicPr>
                      <p:cNvPr id="0" name="图片 3111"/>
                      <p:cNvPicPr/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>
                      <a:xfrm>
                        <a:off x="2967038" y="1209675"/>
                        <a:ext cx="381000" cy="41910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908" name="Line 14"/>
          <p:cNvSpPr/>
          <p:nvPr/>
        </p:nvSpPr>
        <p:spPr>
          <a:xfrm>
            <a:off x="1042988" y="1905000"/>
            <a:ext cx="0" cy="863600"/>
          </a:xfrm>
          <a:prstGeom prst="line">
            <a:avLst/>
          </a:prstGeom>
          <a:ln w="76200" cap="flat" cmpd="tri">
            <a:solidFill>
              <a:srgbClr val="0000FF"/>
            </a:solidFill>
            <a:prstDash val="solid"/>
            <a:headEnd type="none" w="sm" len="sm"/>
            <a:tailEnd type="triangle" w="sm" len="sm"/>
          </a:ln>
        </p:spPr>
      </p:sp>
      <p:sp>
        <p:nvSpPr>
          <p:cNvPr id="80909" name="Line 16"/>
          <p:cNvSpPr/>
          <p:nvPr/>
        </p:nvSpPr>
        <p:spPr>
          <a:xfrm>
            <a:off x="2554288" y="1616075"/>
            <a:ext cx="2592387" cy="0"/>
          </a:xfrm>
          <a:prstGeom prst="line">
            <a:avLst/>
          </a:prstGeom>
          <a:ln w="76200" cap="flat" cmpd="tri">
            <a:solidFill>
              <a:srgbClr val="0000FF"/>
            </a:solidFill>
            <a:prstDash val="solid"/>
            <a:headEnd type="none" w="sm" len="sm"/>
            <a:tailEnd type="triangle" w="sm" len="sm"/>
          </a:ln>
        </p:spPr>
      </p:sp>
      <p:sp>
        <p:nvSpPr>
          <p:cNvPr id="80910" name="AutoShape 19"/>
          <p:cNvSpPr/>
          <p:nvPr/>
        </p:nvSpPr>
        <p:spPr>
          <a:xfrm>
            <a:off x="6877050" y="908050"/>
            <a:ext cx="1582738" cy="466725"/>
          </a:xfrm>
          <a:prstGeom prst="wedgeRoundRectCallout">
            <a:avLst>
              <a:gd name="adj1" fmla="val -46389"/>
              <a:gd name="adj2" fmla="val 76190"/>
              <a:gd name="adj3" fmla="val 16667"/>
            </a:avLst>
          </a:prstGeom>
          <a:solidFill>
            <a:schemeClr val="accent1"/>
          </a:solidFill>
          <a:ln w="12700" cap="flat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/>
          <a:lstStyle/>
          <a:p>
            <a:pPr algn="ctr" eaLnBrk="1" hangingPunct="1"/>
            <a:r>
              <a:rPr lang="zh-CN" altLang="en-US" sz="2000" b="0" dirty="0">
                <a:latin typeface="Arial" panose="020B0604020202020204" pitchFamily="34" charset="0"/>
                <a:ea typeface="黑体" panose="02010609060101010101" charset="-122"/>
              </a:rPr>
              <a:t>能控标准型</a:t>
            </a:r>
          </a:p>
        </p:txBody>
      </p:sp>
      <p:sp>
        <p:nvSpPr>
          <p:cNvPr id="80911" name="AutoShape 20"/>
          <p:cNvSpPr/>
          <p:nvPr/>
        </p:nvSpPr>
        <p:spPr>
          <a:xfrm>
            <a:off x="141288" y="1196975"/>
            <a:ext cx="431800" cy="936625"/>
          </a:xfrm>
          <a:prstGeom prst="wedgeRoundRectCallout">
            <a:avLst>
              <a:gd name="adj1" fmla="val 77648"/>
              <a:gd name="adj2" fmla="val -13727"/>
              <a:gd name="adj3" fmla="val 16667"/>
            </a:avLst>
          </a:prstGeom>
          <a:solidFill>
            <a:schemeClr val="accent1"/>
          </a:solidFill>
          <a:ln w="12700" cap="flat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/>
          <a:lstStyle/>
          <a:p>
            <a:pPr eaLnBrk="1" hangingPunct="1">
              <a:lnSpc>
                <a:spcPct val="85000"/>
              </a:lnSpc>
            </a:pPr>
            <a:r>
              <a:rPr lang="zh-CN" altLang="en-US" sz="2000" b="0" dirty="0">
                <a:latin typeface="Arial" panose="020B0604020202020204" pitchFamily="34" charset="0"/>
                <a:ea typeface="黑体" panose="02010609060101010101" charset="-122"/>
              </a:rPr>
              <a:t>原系统</a:t>
            </a:r>
          </a:p>
        </p:txBody>
      </p:sp>
      <p:sp>
        <p:nvSpPr>
          <p:cNvPr id="80912" name="Text Box 23"/>
          <p:cNvSpPr txBox="1"/>
          <p:nvPr/>
        </p:nvSpPr>
        <p:spPr>
          <a:xfrm>
            <a:off x="5413375" y="6435725"/>
            <a:ext cx="1390650" cy="366713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1800" b="0" dirty="0">
                <a:latin typeface="Arial" panose="020B0604020202020204" pitchFamily="34" charset="0"/>
                <a:ea typeface="黑体" panose="02010609060101010101" charset="-122"/>
              </a:rPr>
              <a:t>井元伟 教授</a:t>
            </a:r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日期占位符 5"/>
          <p:cNvSpPr txBox="1">
            <a:spLocks noGrp="1"/>
          </p:cNvSpPr>
          <p:nvPr>
            <p:ph type="dt" sz="half" idx="10"/>
          </p:nvPr>
        </p:nvSpPr>
        <p:spPr>
          <a:xfrm>
            <a:off x="2941638" y="5157788"/>
            <a:ext cx="3311525" cy="404812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BB962C8B-B14F-4D97-AF65-F5344CB8AC3E}" type="datetime2">
              <a:rPr lang="zh-CN" altLang="en-US" sz="2400" b="0" dirty="0">
                <a:solidFill>
                  <a:schemeClr val="bg1"/>
                </a:solidFill>
              </a:rPr>
              <a:t>2026年7月17日</a:t>
            </a:fld>
            <a:endParaRPr lang="zh-CN" altLang="en-US" sz="2400" b="0" dirty="0">
              <a:solidFill>
                <a:schemeClr val="bg1"/>
              </a:solidFill>
            </a:endParaRPr>
          </a:p>
        </p:txBody>
      </p:sp>
      <p:pic>
        <p:nvPicPr>
          <p:cNvPr id="81923" name="Picture 2" descr="底图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81924" name="Object 3"/>
          <p:cNvGraphicFramePr/>
          <p:nvPr/>
        </p:nvGraphicFramePr>
        <p:xfrm>
          <a:off x="612775" y="1328738"/>
          <a:ext cx="1712913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570865" imgH="165100" progId="Equation.DSMT4">
                  <p:embed/>
                </p:oleObj>
              </mc:Choice>
              <mc:Fallback>
                <p:oleObj r:id="rId4" imgW="570865" imgH="165100" progId="Equation.DSMT4">
                  <p:embed/>
                  <p:pic>
                    <p:nvPicPr>
                      <p:cNvPr id="0" name="图片 3112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12775" y="1328738"/>
                        <a:ext cx="1712913" cy="4937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25" name="Object 4"/>
          <p:cNvGraphicFramePr/>
          <p:nvPr/>
        </p:nvGraphicFramePr>
        <p:xfrm>
          <a:off x="5219700" y="1255713"/>
          <a:ext cx="1706563" cy="573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571500" imgH="190500" progId="Equation.DSMT4">
                  <p:embed/>
                </p:oleObj>
              </mc:Choice>
              <mc:Fallback>
                <p:oleObj r:id="rId6" imgW="571500" imgH="190500" progId="Equation.DSMT4">
                  <p:embed/>
                  <p:pic>
                    <p:nvPicPr>
                      <p:cNvPr id="0" name="图片 3116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219700" y="1255713"/>
                        <a:ext cx="1706563" cy="5730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6" name="Rectangle 5"/>
          <p:cNvSpPr/>
          <p:nvPr/>
        </p:nvSpPr>
        <p:spPr>
          <a:xfrm>
            <a:off x="3448050" y="1206500"/>
            <a:ext cx="1200150" cy="396875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lstStyle/>
          <a:p>
            <a:pPr eaLnBrk="1" hangingPunct="1"/>
            <a:r>
              <a:rPr lang="zh-CN" altLang="en-US" sz="2000" b="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charset="-122"/>
              </a:rPr>
              <a:t>线性变换</a:t>
            </a:r>
          </a:p>
        </p:txBody>
      </p:sp>
      <p:graphicFrame>
        <p:nvGraphicFramePr>
          <p:cNvPr id="81927" name="Object 6"/>
          <p:cNvGraphicFramePr/>
          <p:nvPr/>
        </p:nvGraphicFramePr>
        <p:xfrm>
          <a:off x="1122363" y="2090738"/>
          <a:ext cx="236855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798830" imgH="177800" progId="Equation.DSMT4">
                  <p:embed/>
                </p:oleObj>
              </mc:Choice>
              <mc:Fallback>
                <p:oleObj r:id="rId8" imgW="798830" imgH="177800" progId="Equation.DSMT4">
                  <p:embed/>
                  <p:pic>
                    <p:nvPicPr>
                      <p:cNvPr id="0" name="图片 3115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122363" y="2090738"/>
                        <a:ext cx="2368550" cy="533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8" name="Rectangle 7"/>
          <p:cNvSpPr/>
          <p:nvPr/>
        </p:nvSpPr>
        <p:spPr>
          <a:xfrm>
            <a:off x="3455988" y="739775"/>
            <a:ext cx="1403350" cy="4572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hlink"/>
              </a:buClr>
              <a:buSzPct val="75000"/>
              <a:buFont typeface="Monotype Sorts" charset="2"/>
            </a:pPr>
            <a:r>
              <a:rPr lang="zh-CN" altLang="en-US" sz="2400" b="0" dirty="0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charset="-122"/>
              </a:rPr>
              <a:t>主要思想</a:t>
            </a:r>
            <a:endParaRPr lang="zh-CN" altLang="en-US" sz="2400" b="0" dirty="0">
              <a:latin typeface="Arial" panose="020B0604020202020204" pitchFamily="34" charset="0"/>
              <a:ea typeface="黑体" panose="02010609060101010101" charset="-122"/>
            </a:endParaRPr>
          </a:p>
        </p:txBody>
      </p:sp>
      <p:sp>
        <p:nvSpPr>
          <p:cNvPr id="81929" name="Text Box 8"/>
          <p:cNvSpPr txBox="1"/>
          <p:nvPr/>
        </p:nvSpPr>
        <p:spPr>
          <a:xfrm>
            <a:off x="5651500" y="188913"/>
            <a:ext cx="3313113" cy="366712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r>
              <a:rPr lang="zh-CN" altLang="en-US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第 </a:t>
            </a:r>
            <a:r>
              <a:rPr lang="en-US" altLang="zh-CN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6 </a:t>
            </a:r>
            <a:r>
              <a:rPr lang="zh-CN" altLang="en-US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章  状态反馈和状态观测器</a:t>
            </a:r>
          </a:p>
        </p:txBody>
      </p:sp>
      <p:sp>
        <p:nvSpPr>
          <p:cNvPr id="81930" name="Text Box 9"/>
          <p:cNvSpPr txBox="1"/>
          <p:nvPr/>
        </p:nvSpPr>
        <p:spPr>
          <a:xfrm>
            <a:off x="252413" y="6435725"/>
            <a:ext cx="1439862" cy="366713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r>
              <a:rPr lang="en-US" altLang="zh-CN" sz="1800" b="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charset="-122"/>
              </a:rPr>
              <a:t>2. </a:t>
            </a:r>
            <a:r>
              <a:rPr lang="zh-CN" altLang="en-US" sz="1800" b="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charset="-122"/>
              </a:rPr>
              <a:t>极点配置</a:t>
            </a:r>
          </a:p>
        </p:txBody>
      </p:sp>
      <p:graphicFrame>
        <p:nvGraphicFramePr>
          <p:cNvPr id="81931" name="Object 10"/>
          <p:cNvGraphicFramePr>
            <a:graphicFrameLocks noGrp="1"/>
          </p:cNvGraphicFramePr>
          <p:nvPr>
            <p:ph sz="half" idx="1"/>
          </p:nvPr>
        </p:nvGraphicFramePr>
        <p:xfrm>
          <a:off x="2967038" y="1209675"/>
          <a:ext cx="3810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127000" imgH="139700" progId="Equation.DSMT4">
                  <p:embed/>
                </p:oleObj>
              </mc:Choice>
              <mc:Fallback>
                <p:oleObj r:id="rId10" imgW="127000" imgH="139700" progId="Equation.DSMT4">
                  <p:embed/>
                  <p:pic>
                    <p:nvPicPr>
                      <p:cNvPr id="0" name="图片 3113"/>
                      <p:cNvPicPr/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>
                      <a:xfrm>
                        <a:off x="2967038" y="1209675"/>
                        <a:ext cx="381000" cy="41910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32" name="Object 11"/>
          <p:cNvGraphicFramePr>
            <a:graphicFrameLocks noGrp="1"/>
          </p:cNvGraphicFramePr>
          <p:nvPr>
            <p:ph sz="quarter" idx="3"/>
          </p:nvPr>
        </p:nvGraphicFramePr>
        <p:xfrm>
          <a:off x="611188" y="2913063"/>
          <a:ext cx="3281362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1077595" imgH="177800" progId="Equation.DSMT4">
                  <p:embed/>
                </p:oleObj>
              </mc:Choice>
              <mc:Fallback>
                <p:oleObj r:id="rId12" imgW="1077595" imgH="177800" progId="Equation.DSMT4">
                  <p:embed/>
                  <p:pic>
                    <p:nvPicPr>
                      <p:cNvPr id="0" name="图片 3114"/>
                      <p:cNvPicPr/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>
                      <a:xfrm>
                        <a:off x="611188" y="2913063"/>
                        <a:ext cx="3281362" cy="53975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33" name="Line 12"/>
          <p:cNvSpPr/>
          <p:nvPr/>
        </p:nvSpPr>
        <p:spPr>
          <a:xfrm>
            <a:off x="1042988" y="1905000"/>
            <a:ext cx="0" cy="863600"/>
          </a:xfrm>
          <a:prstGeom prst="line">
            <a:avLst/>
          </a:prstGeom>
          <a:ln w="76200" cap="flat" cmpd="tri">
            <a:solidFill>
              <a:srgbClr val="0000FF"/>
            </a:solidFill>
            <a:prstDash val="solid"/>
            <a:headEnd type="none" w="sm" len="sm"/>
            <a:tailEnd type="triangle" w="sm" len="sm"/>
          </a:ln>
        </p:spPr>
      </p:sp>
      <p:sp>
        <p:nvSpPr>
          <p:cNvPr id="81934" name="Line 13"/>
          <p:cNvSpPr/>
          <p:nvPr/>
        </p:nvSpPr>
        <p:spPr>
          <a:xfrm>
            <a:off x="2554288" y="1616075"/>
            <a:ext cx="2592387" cy="0"/>
          </a:xfrm>
          <a:prstGeom prst="line">
            <a:avLst/>
          </a:prstGeom>
          <a:ln w="76200" cap="flat" cmpd="tri">
            <a:solidFill>
              <a:srgbClr val="0000FF"/>
            </a:solidFill>
            <a:prstDash val="solid"/>
            <a:headEnd type="none" w="sm" len="sm"/>
            <a:tailEnd type="triangle" w="sm" len="sm"/>
          </a:ln>
        </p:spPr>
      </p:sp>
      <p:sp>
        <p:nvSpPr>
          <p:cNvPr id="81935" name="AutoShape 14"/>
          <p:cNvSpPr/>
          <p:nvPr/>
        </p:nvSpPr>
        <p:spPr>
          <a:xfrm>
            <a:off x="6877050" y="908050"/>
            <a:ext cx="1582738" cy="466725"/>
          </a:xfrm>
          <a:prstGeom prst="wedgeRoundRectCallout">
            <a:avLst>
              <a:gd name="adj1" fmla="val -46389"/>
              <a:gd name="adj2" fmla="val 76190"/>
              <a:gd name="adj3" fmla="val 16667"/>
            </a:avLst>
          </a:prstGeom>
          <a:solidFill>
            <a:schemeClr val="accent1"/>
          </a:solidFill>
          <a:ln w="12700" cap="flat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/>
          <a:lstStyle/>
          <a:p>
            <a:pPr algn="ctr" eaLnBrk="1" hangingPunct="1"/>
            <a:r>
              <a:rPr lang="zh-CN" altLang="en-US" sz="2000" b="0" dirty="0">
                <a:latin typeface="Arial" panose="020B0604020202020204" pitchFamily="34" charset="0"/>
                <a:ea typeface="黑体" panose="02010609060101010101" charset="-122"/>
              </a:rPr>
              <a:t>能控标准型</a:t>
            </a:r>
          </a:p>
        </p:txBody>
      </p:sp>
      <p:sp>
        <p:nvSpPr>
          <p:cNvPr id="81936" name="AutoShape 15"/>
          <p:cNvSpPr/>
          <p:nvPr/>
        </p:nvSpPr>
        <p:spPr>
          <a:xfrm>
            <a:off x="141288" y="1196975"/>
            <a:ext cx="431800" cy="936625"/>
          </a:xfrm>
          <a:prstGeom prst="wedgeRoundRectCallout">
            <a:avLst>
              <a:gd name="adj1" fmla="val 77648"/>
              <a:gd name="adj2" fmla="val -13727"/>
              <a:gd name="adj3" fmla="val 16667"/>
            </a:avLst>
          </a:prstGeom>
          <a:solidFill>
            <a:schemeClr val="accent1"/>
          </a:solidFill>
          <a:ln w="12700" cap="flat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/>
          <a:lstStyle/>
          <a:p>
            <a:pPr eaLnBrk="1" hangingPunct="1">
              <a:lnSpc>
                <a:spcPct val="85000"/>
              </a:lnSpc>
            </a:pPr>
            <a:r>
              <a:rPr lang="zh-CN" altLang="en-US" sz="2000" b="0" dirty="0">
                <a:latin typeface="Arial" panose="020B0604020202020204" pitchFamily="34" charset="0"/>
                <a:ea typeface="黑体" panose="02010609060101010101" charset="-122"/>
              </a:rPr>
              <a:t>原系统</a:t>
            </a:r>
          </a:p>
        </p:txBody>
      </p:sp>
      <p:sp>
        <p:nvSpPr>
          <p:cNvPr id="81937" name="Text Box 16"/>
          <p:cNvSpPr txBox="1"/>
          <p:nvPr/>
        </p:nvSpPr>
        <p:spPr>
          <a:xfrm>
            <a:off x="5413375" y="6435725"/>
            <a:ext cx="1390650" cy="366713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1800" b="0" dirty="0">
                <a:latin typeface="Arial" panose="020B0604020202020204" pitchFamily="34" charset="0"/>
                <a:ea typeface="黑体" panose="02010609060101010101" charset="-122"/>
              </a:rPr>
              <a:t>井元伟 教授</a:t>
            </a:r>
          </a:p>
        </p:txBody>
      </p: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日期占位符 5"/>
          <p:cNvSpPr txBox="1">
            <a:spLocks noGrp="1"/>
          </p:cNvSpPr>
          <p:nvPr>
            <p:ph type="dt" sz="half" idx="10"/>
          </p:nvPr>
        </p:nvSpPr>
        <p:spPr>
          <a:xfrm>
            <a:off x="2941638" y="5157788"/>
            <a:ext cx="3311525" cy="404812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BB962C8B-B14F-4D97-AF65-F5344CB8AC3E}" type="datetime2">
              <a:rPr lang="zh-CN" altLang="en-US" sz="2400" b="0" dirty="0">
                <a:solidFill>
                  <a:schemeClr val="bg1"/>
                </a:solidFill>
              </a:rPr>
              <a:t>2026年7月17日</a:t>
            </a:fld>
            <a:endParaRPr lang="zh-CN" altLang="en-US" sz="2400" b="0" dirty="0">
              <a:solidFill>
                <a:schemeClr val="bg1"/>
              </a:solidFill>
            </a:endParaRPr>
          </a:p>
        </p:txBody>
      </p:sp>
      <p:pic>
        <p:nvPicPr>
          <p:cNvPr id="82947" name="Picture 2" descr="底图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82948" name="Object 3"/>
          <p:cNvGraphicFramePr/>
          <p:nvPr/>
        </p:nvGraphicFramePr>
        <p:xfrm>
          <a:off x="612775" y="1328738"/>
          <a:ext cx="1712913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570865" imgH="165100" progId="Equation.DSMT4">
                  <p:embed/>
                </p:oleObj>
              </mc:Choice>
              <mc:Fallback>
                <p:oleObj r:id="rId4" imgW="570865" imgH="165100" progId="Equation.DSMT4">
                  <p:embed/>
                  <p:pic>
                    <p:nvPicPr>
                      <p:cNvPr id="0" name="图片 3119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12775" y="1328738"/>
                        <a:ext cx="1712913" cy="4937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49" name="Object 5"/>
          <p:cNvGraphicFramePr/>
          <p:nvPr/>
        </p:nvGraphicFramePr>
        <p:xfrm>
          <a:off x="5219700" y="1255713"/>
          <a:ext cx="1706563" cy="573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571500" imgH="190500" progId="Equation.DSMT4">
                  <p:embed/>
                </p:oleObj>
              </mc:Choice>
              <mc:Fallback>
                <p:oleObj r:id="rId6" imgW="571500" imgH="190500" progId="Equation.DSMT4">
                  <p:embed/>
                  <p:pic>
                    <p:nvPicPr>
                      <p:cNvPr id="0" name="图片 3117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219700" y="1255713"/>
                        <a:ext cx="1706563" cy="5730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50" name="Rectangle 6"/>
          <p:cNvSpPr/>
          <p:nvPr/>
        </p:nvSpPr>
        <p:spPr>
          <a:xfrm>
            <a:off x="3448050" y="1206500"/>
            <a:ext cx="1200150" cy="396875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lstStyle/>
          <a:p>
            <a:pPr eaLnBrk="1" hangingPunct="1"/>
            <a:r>
              <a:rPr lang="zh-CN" altLang="en-US" sz="2000" b="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charset="-122"/>
              </a:rPr>
              <a:t>线性变换</a:t>
            </a:r>
          </a:p>
        </p:txBody>
      </p:sp>
      <p:graphicFrame>
        <p:nvGraphicFramePr>
          <p:cNvPr id="82951" name="Object 7"/>
          <p:cNvGraphicFramePr/>
          <p:nvPr/>
        </p:nvGraphicFramePr>
        <p:xfrm>
          <a:off x="1122363" y="2090738"/>
          <a:ext cx="236855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798830" imgH="177800" progId="Equation.DSMT4">
                  <p:embed/>
                </p:oleObj>
              </mc:Choice>
              <mc:Fallback>
                <p:oleObj r:id="rId8" imgW="798830" imgH="177800" progId="Equation.DSMT4">
                  <p:embed/>
                  <p:pic>
                    <p:nvPicPr>
                      <p:cNvPr id="0" name="图片 3120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122363" y="2090738"/>
                        <a:ext cx="2368550" cy="533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52" name="Rectangle 8"/>
          <p:cNvSpPr/>
          <p:nvPr/>
        </p:nvSpPr>
        <p:spPr>
          <a:xfrm>
            <a:off x="3455988" y="739775"/>
            <a:ext cx="1403350" cy="4572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hlink"/>
              </a:buClr>
              <a:buSzPct val="75000"/>
              <a:buFont typeface="Monotype Sorts" charset="2"/>
            </a:pPr>
            <a:r>
              <a:rPr lang="zh-CN" altLang="en-US" sz="2400" b="0" dirty="0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charset="-122"/>
              </a:rPr>
              <a:t>主要思想</a:t>
            </a:r>
            <a:endParaRPr lang="zh-CN" altLang="en-US" sz="2400" b="0" dirty="0">
              <a:latin typeface="Arial" panose="020B0604020202020204" pitchFamily="34" charset="0"/>
              <a:ea typeface="黑体" panose="02010609060101010101" charset="-122"/>
            </a:endParaRPr>
          </a:p>
        </p:txBody>
      </p:sp>
      <p:sp>
        <p:nvSpPr>
          <p:cNvPr id="82953" name="Text Box 9"/>
          <p:cNvSpPr txBox="1"/>
          <p:nvPr/>
        </p:nvSpPr>
        <p:spPr>
          <a:xfrm>
            <a:off x="5651500" y="188913"/>
            <a:ext cx="3313113" cy="366712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r>
              <a:rPr lang="zh-CN" altLang="en-US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第 </a:t>
            </a:r>
            <a:r>
              <a:rPr lang="en-US" altLang="zh-CN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6 </a:t>
            </a:r>
            <a:r>
              <a:rPr lang="zh-CN" altLang="en-US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章  状态反馈和状态观测器</a:t>
            </a:r>
          </a:p>
        </p:txBody>
      </p:sp>
      <p:sp>
        <p:nvSpPr>
          <p:cNvPr id="82954" name="Text Box 10"/>
          <p:cNvSpPr txBox="1"/>
          <p:nvPr/>
        </p:nvSpPr>
        <p:spPr>
          <a:xfrm>
            <a:off x="252413" y="6435725"/>
            <a:ext cx="1439862" cy="366713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r>
              <a:rPr lang="en-US" altLang="zh-CN" sz="1800" b="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charset="-122"/>
              </a:rPr>
              <a:t>2. </a:t>
            </a:r>
            <a:r>
              <a:rPr lang="zh-CN" altLang="en-US" sz="1800" b="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charset="-122"/>
              </a:rPr>
              <a:t>极点配置</a:t>
            </a:r>
          </a:p>
        </p:txBody>
      </p:sp>
      <p:graphicFrame>
        <p:nvGraphicFramePr>
          <p:cNvPr id="82955" name="Object 11"/>
          <p:cNvGraphicFramePr>
            <a:graphicFrameLocks noGrp="1"/>
          </p:cNvGraphicFramePr>
          <p:nvPr>
            <p:ph sz="half" idx="1"/>
          </p:nvPr>
        </p:nvGraphicFramePr>
        <p:xfrm>
          <a:off x="2967038" y="1209675"/>
          <a:ext cx="3810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127000" imgH="139700" progId="Equation.DSMT4">
                  <p:embed/>
                </p:oleObj>
              </mc:Choice>
              <mc:Fallback>
                <p:oleObj r:id="rId10" imgW="127000" imgH="139700" progId="Equation.DSMT4">
                  <p:embed/>
                  <p:pic>
                    <p:nvPicPr>
                      <p:cNvPr id="0" name="图片 3122"/>
                      <p:cNvPicPr/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>
                      <a:xfrm>
                        <a:off x="2967038" y="1209675"/>
                        <a:ext cx="381000" cy="41910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56" name="Object 12"/>
          <p:cNvGraphicFramePr>
            <a:graphicFrameLocks noGrp="1"/>
          </p:cNvGraphicFramePr>
          <p:nvPr>
            <p:ph sz="quarter" idx="2"/>
          </p:nvPr>
        </p:nvGraphicFramePr>
        <p:xfrm>
          <a:off x="5702300" y="2014538"/>
          <a:ext cx="2397125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799465" imgH="203200" progId="Equation.DSMT4">
                  <p:embed/>
                </p:oleObj>
              </mc:Choice>
              <mc:Fallback>
                <p:oleObj r:id="rId12" imgW="799465" imgH="203200" progId="Equation.DSMT4">
                  <p:embed/>
                  <p:pic>
                    <p:nvPicPr>
                      <p:cNvPr id="0" name="图片 3118"/>
                      <p:cNvPicPr/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>
                      <a:xfrm>
                        <a:off x="5702300" y="2014538"/>
                        <a:ext cx="2397125" cy="60960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57" name="Object 13"/>
          <p:cNvGraphicFramePr>
            <a:graphicFrameLocks noGrp="1"/>
          </p:cNvGraphicFramePr>
          <p:nvPr>
            <p:ph sz="quarter" idx="3"/>
          </p:nvPr>
        </p:nvGraphicFramePr>
        <p:xfrm>
          <a:off x="611188" y="2913063"/>
          <a:ext cx="3281362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1077595" imgH="177800" progId="Equation.DSMT4">
                  <p:embed/>
                </p:oleObj>
              </mc:Choice>
              <mc:Fallback>
                <p:oleObj r:id="rId14" imgW="1077595" imgH="177800" progId="Equation.DSMT4">
                  <p:embed/>
                  <p:pic>
                    <p:nvPicPr>
                      <p:cNvPr id="0" name="图片 3121"/>
                      <p:cNvPicPr/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>
                      <a:xfrm>
                        <a:off x="611188" y="2913063"/>
                        <a:ext cx="3281362" cy="53975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58" name="Line 14"/>
          <p:cNvSpPr/>
          <p:nvPr/>
        </p:nvSpPr>
        <p:spPr>
          <a:xfrm>
            <a:off x="1042988" y="1905000"/>
            <a:ext cx="0" cy="863600"/>
          </a:xfrm>
          <a:prstGeom prst="line">
            <a:avLst/>
          </a:prstGeom>
          <a:ln w="76200" cap="flat" cmpd="tri">
            <a:solidFill>
              <a:srgbClr val="0000FF"/>
            </a:solidFill>
            <a:prstDash val="solid"/>
            <a:headEnd type="none" w="sm" len="sm"/>
            <a:tailEnd type="triangle" w="sm" len="sm"/>
          </a:ln>
        </p:spPr>
      </p:sp>
      <p:sp>
        <p:nvSpPr>
          <p:cNvPr id="82959" name="Line 15"/>
          <p:cNvSpPr/>
          <p:nvPr/>
        </p:nvSpPr>
        <p:spPr>
          <a:xfrm>
            <a:off x="5651500" y="1905000"/>
            <a:ext cx="0" cy="863600"/>
          </a:xfrm>
          <a:prstGeom prst="line">
            <a:avLst/>
          </a:prstGeom>
          <a:ln w="76200" cap="flat" cmpd="tri">
            <a:solidFill>
              <a:srgbClr val="0000FF"/>
            </a:solidFill>
            <a:prstDash val="solid"/>
            <a:headEnd type="none" w="sm" len="sm"/>
            <a:tailEnd type="triangle" w="sm" len="sm"/>
          </a:ln>
        </p:spPr>
      </p:sp>
      <p:sp>
        <p:nvSpPr>
          <p:cNvPr id="82960" name="Line 16"/>
          <p:cNvSpPr/>
          <p:nvPr/>
        </p:nvSpPr>
        <p:spPr>
          <a:xfrm>
            <a:off x="2554288" y="1616075"/>
            <a:ext cx="2592387" cy="0"/>
          </a:xfrm>
          <a:prstGeom prst="line">
            <a:avLst/>
          </a:prstGeom>
          <a:ln w="76200" cap="flat" cmpd="tri">
            <a:solidFill>
              <a:srgbClr val="0000FF"/>
            </a:solidFill>
            <a:prstDash val="solid"/>
            <a:headEnd type="none" w="sm" len="sm"/>
            <a:tailEnd type="triangle" w="sm" len="sm"/>
          </a:ln>
        </p:spPr>
      </p:sp>
      <p:sp>
        <p:nvSpPr>
          <p:cNvPr id="82961" name="AutoShape 19"/>
          <p:cNvSpPr/>
          <p:nvPr/>
        </p:nvSpPr>
        <p:spPr>
          <a:xfrm>
            <a:off x="6877050" y="908050"/>
            <a:ext cx="1582738" cy="466725"/>
          </a:xfrm>
          <a:prstGeom prst="wedgeRoundRectCallout">
            <a:avLst>
              <a:gd name="adj1" fmla="val -46389"/>
              <a:gd name="adj2" fmla="val 76190"/>
              <a:gd name="adj3" fmla="val 16667"/>
            </a:avLst>
          </a:prstGeom>
          <a:solidFill>
            <a:schemeClr val="accent1"/>
          </a:solidFill>
          <a:ln w="12700" cap="flat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/>
          <a:lstStyle/>
          <a:p>
            <a:pPr algn="ctr" eaLnBrk="1" hangingPunct="1"/>
            <a:r>
              <a:rPr lang="zh-CN" altLang="en-US" sz="2000" b="0" dirty="0">
                <a:latin typeface="Arial" panose="020B0604020202020204" pitchFamily="34" charset="0"/>
                <a:ea typeface="黑体" panose="02010609060101010101" charset="-122"/>
              </a:rPr>
              <a:t>能控标准型</a:t>
            </a:r>
          </a:p>
        </p:txBody>
      </p:sp>
      <p:sp>
        <p:nvSpPr>
          <p:cNvPr id="82962" name="AutoShape 20"/>
          <p:cNvSpPr/>
          <p:nvPr/>
        </p:nvSpPr>
        <p:spPr>
          <a:xfrm>
            <a:off x="141288" y="1196975"/>
            <a:ext cx="431800" cy="936625"/>
          </a:xfrm>
          <a:prstGeom prst="wedgeRoundRectCallout">
            <a:avLst>
              <a:gd name="adj1" fmla="val 77648"/>
              <a:gd name="adj2" fmla="val -13727"/>
              <a:gd name="adj3" fmla="val 16667"/>
            </a:avLst>
          </a:prstGeom>
          <a:solidFill>
            <a:schemeClr val="accent1"/>
          </a:solidFill>
          <a:ln w="12700" cap="flat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/>
          <a:lstStyle/>
          <a:p>
            <a:pPr eaLnBrk="1" hangingPunct="1">
              <a:lnSpc>
                <a:spcPct val="85000"/>
              </a:lnSpc>
            </a:pPr>
            <a:r>
              <a:rPr lang="zh-CN" altLang="en-US" sz="2000" b="0" dirty="0">
                <a:latin typeface="Arial" panose="020B0604020202020204" pitchFamily="34" charset="0"/>
                <a:ea typeface="黑体" panose="02010609060101010101" charset="-122"/>
              </a:rPr>
              <a:t>原系统</a:t>
            </a:r>
          </a:p>
        </p:txBody>
      </p:sp>
      <p:sp>
        <p:nvSpPr>
          <p:cNvPr id="82963" name="Text Box 21"/>
          <p:cNvSpPr txBox="1"/>
          <p:nvPr/>
        </p:nvSpPr>
        <p:spPr>
          <a:xfrm>
            <a:off x="5413375" y="6435725"/>
            <a:ext cx="1390650" cy="366713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1800" b="0" dirty="0">
                <a:latin typeface="Arial" panose="020B0604020202020204" pitchFamily="34" charset="0"/>
                <a:ea typeface="黑体" panose="02010609060101010101" charset="-122"/>
              </a:rPr>
              <a:t>井元伟 教授</a:t>
            </a:r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日期占位符 5"/>
          <p:cNvSpPr txBox="1">
            <a:spLocks noGrp="1"/>
          </p:cNvSpPr>
          <p:nvPr>
            <p:ph type="dt" sz="half" idx="10"/>
          </p:nvPr>
        </p:nvSpPr>
        <p:spPr>
          <a:xfrm>
            <a:off x="2941638" y="5157788"/>
            <a:ext cx="3311525" cy="404812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BB962C8B-B14F-4D97-AF65-F5344CB8AC3E}" type="datetime2">
              <a:rPr lang="zh-CN" altLang="en-US" sz="2400" b="0" dirty="0">
                <a:solidFill>
                  <a:schemeClr val="bg1"/>
                </a:solidFill>
              </a:rPr>
              <a:t>2026年7月17日</a:t>
            </a:fld>
            <a:endParaRPr lang="zh-CN" altLang="en-US" sz="2400" b="0" dirty="0">
              <a:solidFill>
                <a:schemeClr val="bg1"/>
              </a:solidFill>
            </a:endParaRPr>
          </a:p>
        </p:txBody>
      </p:sp>
      <p:pic>
        <p:nvPicPr>
          <p:cNvPr id="83971" name="Picture 2" descr="底图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83972" name="Object 3"/>
          <p:cNvGraphicFramePr/>
          <p:nvPr/>
        </p:nvGraphicFramePr>
        <p:xfrm>
          <a:off x="612775" y="1328738"/>
          <a:ext cx="1712913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570865" imgH="165100" progId="Equation.DSMT4">
                  <p:embed/>
                </p:oleObj>
              </mc:Choice>
              <mc:Fallback>
                <p:oleObj r:id="rId4" imgW="570865" imgH="165100" progId="Equation.DSMT4">
                  <p:embed/>
                  <p:pic>
                    <p:nvPicPr>
                      <p:cNvPr id="0" name="图片 3129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12775" y="1328738"/>
                        <a:ext cx="1712913" cy="4937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73" name="Object 4"/>
          <p:cNvGraphicFramePr/>
          <p:nvPr/>
        </p:nvGraphicFramePr>
        <p:xfrm>
          <a:off x="5219700" y="2840038"/>
          <a:ext cx="3289300" cy="608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091565" imgH="203200" progId="Equation.DSMT4">
                  <p:embed/>
                </p:oleObj>
              </mc:Choice>
              <mc:Fallback>
                <p:oleObj r:id="rId6" imgW="1091565" imgH="203200" progId="Equation.DSMT4">
                  <p:embed/>
                  <p:pic>
                    <p:nvPicPr>
                      <p:cNvPr id="0" name="图片 3127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219700" y="2840038"/>
                        <a:ext cx="3289300" cy="6080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74" name="Object 5"/>
          <p:cNvGraphicFramePr/>
          <p:nvPr/>
        </p:nvGraphicFramePr>
        <p:xfrm>
          <a:off x="5219700" y="1255713"/>
          <a:ext cx="1706563" cy="573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571500" imgH="190500" progId="Equation.DSMT4">
                  <p:embed/>
                </p:oleObj>
              </mc:Choice>
              <mc:Fallback>
                <p:oleObj r:id="rId8" imgW="571500" imgH="190500" progId="Equation.DSMT4">
                  <p:embed/>
                  <p:pic>
                    <p:nvPicPr>
                      <p:cNvPr id="0" name="图片 3125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219700" y="1255713"/>
                        <a:ext cx="1706563" cy="5730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975" name="Rectangle 6"/>
          <p:cNvSpPr/>
          <p:nvPr/>
        </p:nvSpPr>
        <p:spPr>
          <a:xfrm>
            <a:off x="3448050" y="1206500"/>
            <a:ext cx="1200150" cy="396875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lstStyle/>
          <a:p>
            <a:pPr eaLnBrk="1" hangingPunct="1"/>
            <a:r>
              <a:rPr lang="zh-CN" altLang="en-US" sz="2000" b="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charset="-122"/>
              </a:rPr>
              <a:t>线性变换</a:t>
            </a:r>
          </a:p>
        </p:txBody>
      </p:sp>
      <p:graphicFrame>
        <p:nvGraphicFramePr>
          <p:cNvPr id="83976" name="Object 7"/>
          <p:cNvGraphicFramePr/>
          <p:nvPr/>
        </p:nvGraphicFramePr>
        <p:xfrm>
          <a:off x="1122363" y="2090738"/>
          <a:ext cx="236855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798830" imgH="177800" progId="Equation.DSMT4">
                  <p:embed/>
                </p:oleObj>
              </mc:Choice>
              <mc:Fallback>
                <p:oleObj r:id="rId10" imgW="798830" imgH="177800" progId="Equation.DSMT4">
                  <p:embed/>
                  <p:pic>
                    <p:nvPicPr>
                      <p:cNvPr id="0" name="图片 3128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122363" y="2090738"/>
                        <a:ext cx="2368550" cy="533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977" name="Rectangle 8"/>
          <p:cNvSpPr/>
          <p:nvPr/>
        </p:nvSpPr>
        <p:spPr>
          <a:xfrm>
            <a:off x="3455988" y="739775"/>
            <a:ext cx="1403350" cy="4572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hlink"/>
              </a:buClr>
              <a:buSzPct val="75000"/>
              <a:buFont typeface="Monotype Sorts" charset="2"/>
            </a:pPr>
            <a:r>
              <a:rPr lang="zh-CN" altLang="en-US" sz="2400" b="0" dirty="0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charset="-122"/>
              </a:rPr>
              <a:t>主要思想</a:t>
            </a:r>
            <a:endParaRPr lang="zh-CN" altLang="en-US" sz="2400" b="0" dirty="0">
              <a:latin typeface="Arial" panose="020B0604020202020204" pitchFamily="34" charset="0"/>
              <a:ea typeface="黑体" panose="02010609060101010101" charset="-122"/>
            </a:endParaRPr>
          </a:p>
        </p:txBody>
      </p:sp>
      <p:sp>
        <p:nvSpPr>
          <p:cNvPr id="83978" name="Text Box 9"/>
          <p:cNvSpPr txBox="1"/>
          <p:nvPr/>
        </p:nvSpPr>
        <p:spPr>
          <a:xfrm>
            <a:off x="5651500" y="188913"/>
            <a:ext cx="3313113" cy="366712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r>
              <a:rPr lang="zh-CN" altLang="en-US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第 </a:t>
            </a:r>
            <a:r>
              <a:rPr lang="en-US" altLang="zh-CN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6 </a:t>
            </a:r>
            <a:r>
              <a:rPr lang="zh-CN" altLang="en-US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章  状态反馈和状态观测器</a:t>
            </a:r>
          </a:p>
        </p:txBody>
      </p:sp>
      <p:sp>
        <p:nvSpPr>
          <p:cNvPr id="83979" name="Text Box 10"/>
          <p:cNvSpPr txBox="1"/>
          <p:nvPr/>
        </p:nvSpPr>
        <p:spPr>
          <a:xfrm>
            <a:off x="252413" y="6435725"/>
            <a:ext cx="1439862" cy="366713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r>
              <a:rPr lang="en-US" altLang="zh-CN" sz="1800" b="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charset="-122"/>
              </a:rPr>
              <a:t>2. </a:t>
            </a:r>
            <a:r>
              <a:rPr lang="zh-CN" altLang="en-US" sz="1800" b="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charset="-122"/>
              </a:rPr>
              <a:t>极点配置</a:t>
            </a:r>
          </a:p>
        </p:txBody>
      </p:sp>
      <p:graphicFrame>
        <p:nvGraphicFramePr>
          <p:cNvPr id="83980" name="Object 11"/>
          <p:cNvGraphicFramePr>
            <a:graphicFrameLocks noGrp="1"/>
          </p:cNvGraphicFramePr>
          <p:nvPr>
            <p:ph sz="half" idx="1"/>
          </p:nvPr>
        </p:nvGraphicFramePr>
        <p:xfrm>
          <a:off x="2967038" y="1209675"/>
          <a:ext cx="3810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127000" imgH="139700" progId="Equation.DSMT4">
                  <p:embed/>
                </p:oleObj>
              </mc:Choice>
              <mc:Fallback>
                <p:oleObj r:id="rId12" imgW="127000" imgH="139700" progId="Equation.DSMT4">
                  <p:embed/>
                  <p:pic>
                    <p:nvPicPr>
                      <p:cNvPr id="0" name="图片 3123"/>
                      <p:cNvPicPr/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>
                      <a:xfrm>
                        <a:off x="2967038" y="1209675"/>
                        <a:ext cx="381000" cy="41910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81" name="Object 12"/>
          <p:cNvGraphicFramePr>
            <a:graphicFrameLocks noGrp="1"/>
          </p:cNvGraphicFramePr>
          <p:nvPr>
            <p:ph sz="quarter" idx="2"/>
          </p:nvPr>
        </p:nvGraphicFramePr>
        <p:xfrm>
          <a:off x="5702300" y="2014538"/>
          <a:ext cx="2397125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799465" imgH="203200" progId="Equation.DSMT4">
                  <p:embed/>
                </p:oleObj>
              </mc:Choice>
              <mc:Fallback>
                <p:oleObj r:id="rId14" imgW="799465" imgH="203200" progId="Equation.DSMT4">
                  <p:embed/>
                  <p:pic>
                    <p:nvPicPr>
                      <p:cNvPr id="0" name="图片 3124"/>
                      <p:cNvPicPr/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>
                      <a:xfrm>
                        <a:off x="5702300" y="2014538"/>
                        <a:ext cx="2397125" cy="60960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82" name="Object 13"/>
          <p:cNvGraphicFramePr>
            <a:graphicFrameLocks noGrp="1"/>
          </p:cNvGraphicFramePr>
          <p:nvPr>
            <p:ph sz="quarter" idx="3"/>
          </p:nvPr>
        </p:nvGraphicFramePr>
        <p:xfrm>
          <a:off x="611188" y="2913063"/>
          <a:ext cx="3281362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6" imgW="1077595" imgH="177800" progId="Equation.DSMT4">
                  <p:embed/>
                </p:oleObj>
              </mc:Choice>
              <mc:Fallback>
                <p:oleObj r:id="rId16" imgW="1077595" imgH="177800" progId="Equation.DSMT4">
                  <p:embed/>
                  <p:pic>
                    <p:nvPicPr>
                      <p:cNvPr id="0" name="图片 3126"/>
                      <p:cNvPicPr/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>
                      <a:xfrm>
                        <a:off x="611188" y="2913063"/>
                        <a:ext cx="3281362" cy="53975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983" name="Line 14"/>
          <p:cNvSpPr/>
          <p:nvPr/>
        </p:nvSpPr>
        <p:spPr>
          <a:xfrm>
            <a:off x="1042988" y="1905000"/>
            <a:ext cx="0" cy="863600"/>
          </a:xfrm>
          <a:prstGeom prst="line">
            <a:avLst/>
          </a:prstGeom>
          <a:ln w="76200" cap="flat" cmpd="tri">
            <a:solidFill>
              <a:srgbClr val="0000FF"/>
            </a:solidFill>
            <a:prstDash val="solid"/>
            <a:headEnd type="none" w="sm" len="sm"/>
            <a:tailEnd type="triangle" w="sm" len="sm"/>
          </a:ln>
        </p:spPr>
      </p:sp>
      <p:sp>
        <p:nvSpPr>
          <p:cNvPr id="83984" name="Line 15"/>
          <p:cNvSpPr/>
          <p:nvPr/>
        </p:nvSpPr>
        <p:spPr>
          <a:xfrm>
            <a:off x="5651500" y="1905000"/>
            <a:ext cx="0" cy="863600"/>
          </a:xfrm>
          <a:prstGeom prst="line">
            <a:avLst/>
          </a:prstGeom>
          <a:ln w="76200" cap="flat" cmpd="tri">
            <a:solidFill>
              <a:srgbClr val="0000FF"/>
            </a:solidFill>
            <a:prstDash val="solid"/>
            <a:headEnd type="none" w="sm" len="sm"/>
            <a:tailEnd type="triangle" w="sm" len="sm"/>
          </a:ln>
        </p:spPr>
      </p:sp>
      <p:sp>
        <p:nvSpPr>
          <p:cNvPr id="83985" name="Line 16"/>
          <p:cNvSpPr/>
          <p:nvPr/>
        </p:nvSpPr>
        <p:spPr>
          <a:xfrm>
            <a:off x="2554288" y="1616075"/>
            <a:ext cx="2592387" cy="0"/>
          </a:xfrm>
          <a:prstGeom prst="line">
            <a:avLst/>
          </a:prstGeom>
          <a:ln w="76200" cap="flat" cmpd="tri">
            <a:solidFill>
              <a:srgbClr val="0000FF"/>
            </a:solidFill>
            <a:prstDash val="solid"/>
            <a:headEnd type="none" w="sm" len="sm"/>
            <a:tailEnd type="triangle" w="sm" len="sm"/>
          </a:ln>
        </p:spPr>
      </p:sp>
      <p:sp>
        <p:nvSpPr>
          <p:cNvPr id="83986" name="AutoShape 19"/>
          <p:cNvSpPr/>
          <p:nvPr/>
        </p:nvSpPr>
        <p:spPr>
          <a:xfrm>
            <a:off x="6877050" y="908050"/>
            <a:ext cx="1582738" cy="466725"/>
          </a:xfrm>
          <a:prstGeom prst="wedgeRoundRectCallout">
            <a:avLst>
              <a:gd name="adj1" fmla="val -46389"/>
              <a:gd name="adj2" fmla="val 76190"/>
              <a:gd name="adj3" fmla="val 16667"/>
            </a:avLst>
          </a:prstGeom>
          <a:solidFill>
            <a:schemeClr val="accent1"/>
          </a:solidFill>
          <a:ln w="12700" cap="flat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/>
          <a:lstStyle/>
          <a:p>
            <a:pPr algn="ctr" eaLnBrk="1" hangingPunct="1"/>
            <a:r>
              <a:rPr lang="zh-CN" altLang="en-US" sz="2000" b="0" dirty="0">
                <a:latin typeface="Arial" panose="020B0604020202020204" pitchFamily="34" charset="0"/>
                <a:ea typeface="黑体" panose="02010609060101010101" charset="-122"/>
              </a:rPr>
              <a:t>能控标准型</a:t>
            </a:r>
          </a:p>
        </p:txBody>
      </p:sp>
      <p:sp>
        <p:nvSpPr>
          <p:cNvPr id="83987" name="AutoShape 20"/>
          <p:cNvSpPr/>
          <p:nvPr/>
        </p:nvSpPr>
        <p:spPr>
          <a:xfrm>
            <a:off x="141288" y="1196975"/>
            <a:ext cx="431800" cy="936625"/>
          </a:xfrm>
          <a:prstGeom prst="wedgeRoundRectCallout">
            <a:avLst>
              <a:gd name="adj1" fmla="val 77648"/>
              <a:gd name="adj2" fmla="val -13727"/>
              <a:gd name="adj3" fmla="val 16667"/>
            </a:avLst>
          </a:prstGeom>
          <a:solidFill>
            <a:schemeClr val="accent1"/>
          </a:solidFill>
          <a:ln w="12700" cap="flat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/>
          <a:lstStyle/>
          <a:p>
            <a:pPr eaLnBrk="1" hangingPunct="1">
              <a:lnSpc>
                <a:spcPct val="85000"/>
              </a:lnSpc>
            </a:pPr>
            <a:r>
              <a:rPr lang="zh-CN" altLang="en-US" sz="2000" b="0" dirty="0">
                <a:latin typeface="Arial" panose="020B0604020202020204" pitchFamily="34" charset="0"/>
                <a:ea typeface="黑体" panose="02010609060101010101" charset="-122"/>
              </a:rPr>
              <a:t>原系统</a:t>
            </a:r>
          </a:p>
        </p:txBody>
      </p:sp>
      <p:sp>
        <p:nvSpPr>
          <p:cNvPr id="83988" name="Text Box 21"/>
          <p:cNvSpPr txBox="1"/>
          <p:nvPr/>
        </p:nvSpPr>
        <p:spPr>
          <a:xfrm>
            <a:off x="5413375" y="6435725"/>
            <a:ext cx="1390650" cy="366713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1800" b="0" dirty="0">
                <a:latin typeface="Arial" panose="020B0604020202020204" pitchFamily="34" charset="0"/>
                <a:ea typeface="黑体" panose="02010609060101010101" charset="-122"/>
              </a:rPr>
              <a:t>井元伟 教授</a:t>
            </a:r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日期占位符 5"/>
          <p:cNvSpPr txBox="1">
            <a:spLocks noGrp="1"/>
          </p:cNvSpPr>
          <p:nvPr>
            <p:ph type="dt" sz="half" idx="10"/>
          </p:nvPr>
        </p:nvSpPr>
        <p:spPr>
          <a:xfrm>
            <a:off x="2941638" y="5157788"/>
            <a:ext cx="3311525" cy="404812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BB962C8B-B14F-4D97-AF65-F5344CB8AC3E}" type="datetime2">
              <a:rPr lang="zh-CN" altLang="en-US" sz="2400" b="0" dirty="0">
                <a:solidFill>
                  <a:schemeClr val="bg1"/>
                </a:solidFill>
              </a:rPr>
              <a:t>2026年7月17日</a:t>
            </a:fld>
            <a:endParaRPr lang="zh-CN" altLang="en-US" sz="2400" b="0" dirty="0">
              <a:solidFill>
                <a:schemeClr val="bg1"/>
              </a:solidFill>
            </a:endParaRPr>
          </a:p>
        </p:txBody>
      </p:sp>
      <p:pic>
        <p:nvPicPr>
          <p:cNvPr id="84995" name="Picture 2" descr="底图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84996" name="Object 3"/>
          <p:cNvGraphicFramePr/>
          <p:nvPr/>
        </p:nvGraphicFramePr>
        <p:xfrm>
          <a:off x="612775" y="1328738"/>
          <a:ext cx="1712913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570865" imgH="165100" progId="Equation.DSMT4">
                  <p:embed/>
                </p:oleObj>
              </mc:Choice>
              <mc:Fallback>
                <p:oleObj r:id="rId4" imgW="570865" imgH="165100" progId="Equation.DSMT4">
                  <p:embed/>
                  <p:pic>
                    <p:nvPicPr>
                      <p:cNvPr id="0" name="图片 3136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12775" y="1328738"/>
                        <a:ext cx="1712913" cy="4937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997" name="Object 4"/>
          <p:cNvGraphicFramePr/>
          <p:nvPr/>
        </p:nvGraphicFramePr>
        <p:xfrm>
          <a:off x="5219700" y="2840038"/>
          <a:ext cx="3289300" cy="608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091565" imgH="203200" progId="Equation.DSMT4">
                  <p:embed/>
                </p:oleObj>
              </mc:Choice>
              <mc:Fallback>
                <p:oleObj r:id="rId6" imgW="1091565" imgH="203200" progId="Equation.DSMT4">
                  <p:embed/>
                  <p:pic>
                    <p:nvPicPr>
                      <p:cNvPr id="0" name="图片 313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219700" y="2840038"/>
                        <a:ext cx="3289300" cy="6080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998" name="Object 5"/>
          <p:cNvGraphicFramePr/>
          <p:nvPr/>
        </p:nvGraphicFramePr>
        <p:xfrm>
          <a:off x="5219700" y="1255713"/>
          <a:ext cx="1706563" cy="573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571500" imgH="190500" progId="Equation.DSMT4">
                  <p:embed/>
                </p:oleObj>
              </mc:Choice>
              <mc:Fallback>
                <p:oleObj r:id="rId8" imgW="571500" imgH="190500" progId="Equation.DSMT4">
                  <p:embed/>
                  <p:pic>
                    <p:nvPicPr>
                      <p:cNvPr id="0" name="图片 3134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219700" y="1255713"/>
                        <a:ext cx="1706563" cy="5730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999" name="Rectangle 6"/>
          <p:cNvSpPr/>
          <p:nvPr/>
        </p:nvSpPr>
        <p:spPr>
          <a:xfrm>
            <a:off x="3448050" y="1206500"/>
            <a:ext cx="1200150" cy="396875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lstStyle/>
          <a:p>
            <a:pPr eaLnBrk="1" hangingPunct="1"/>
            <a:r>
              <a:rPr lang="zh-CN" altLang="en-US" sz="2000" b="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charset="-122"/>
              </a:rPr>
              <a:t>线性变换</a:t>
            </a:r>
          </a:p>
        </p:txBody>
      </p:sp>
      <p:graphicFrame>
        <p:nvGraphicFramePr>
          <p:cNvPr id="85000" name="Object 7"/>
          <p:cNvGraphicFramePr/>
          <p:nvPr/>
        </p:nvGraphicFramePr>
        <p:xfrm>
          <a:off x="1122363" y="2090738"/>
          <a:ext cx="236855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798830" imgH="177800" progId="Equation.DSMT4">
                  <p:embed/>
                </p:oleObj>
              </mc:Choice>
              <mc:Fallback>
                <p:oleObj r:id="rId10" imgW="798830" imgH="177800" progId="Equation.DSMT4">
                  <p:embed/>
                  <p:pic>
                    <p:nvPicPr>
                      <p:cNvPr id="0" name="图片 3137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122363" y="2090738"/>
                        <a:ext cx="2368550" cy="533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5001" name="Rectangle 8"/>
          <p:cNvSpPr/>
          <p:nvPr/>
        </p:nvSpPr>
        <p:spPr>
          <a:xfrm>
            <a:off x="3455988" y="739775"/>
            <a:ext cx="1403350" cy="4572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hlink"/>
              </a:buClr>
              <a:buSzPct val="75000"/>
              <a:buFont typeface="Monotype Sorts" charset="2"/>
            </a:pPr>
            <a:r>
              <a:rPr lang="zh-CN" altLang="en-US" sz="2400" b="0" dirty="0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charset="-122"/>
              </a:rPr>
              <a:t>主要思想</a:t>
            </a:r>
            <a:endParaRPr lang="zh-CN" altLang="en-US" sz="2400" b="0" dirty="0">
              <a:latin typeface="Arial" panose="020B0604020202020204" pitchFamily="34" charset="0"/>
              <a:ea typeface="黑体" panose="02010609060101010101" charset="-122"/>
            </a:endParaRPr>
          </a:p>
        </p:txBody>
      </p:sp>
      <p:sp>
        <p:nvSpPr>
          <p:cNvPr id="85002" name="Text Box 9"/>
          <p:cNvSpPr txBox="1"/>
          <p:nvPr/>
        </p:nvSpPr>
        <p:spPr>
          <a:xfrm>
            <a:off x="5651500" y="188913"/>
            <a:ext cx="3313113" cy="366712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r>
              <a:rPr lang="zh-CN" altLang="en-US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第 </a:t>
            </a:r>
            <a:r>
              <a:rPr lang="en-US" altLang="zh-CN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6 </a:t>
            </a:r>
            <a:r>
              <a:rPr lang="zh-CN" altLang="en-US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章  状态反馈和状态观测器</a:t>
            </a:r>
          </a:p>
        </p:txBody>
      </p:sp>
      <p:sp>
        <p:nvSpPr>
          <p:cNvPr id="85003" name="Text Box 10"/>
          <p:cNvSpPr txBox="1"/>
          <p:nvPr/>
        </p:nvSpPr>
        <p:spPr>
          <a:xfrm>
            <a:off x="252413" y="6435725"/>
            <a:ext cx="1439862" cy="366713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r>
              <a:rPr lang="en-US" altLang="zh-CN" sz="1800" b="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charset="-122"/>
              </a:rPr>
              <a:t>2. </a:t>
            </a:r>
            <a:r>
              <a:rPr lang="zh-CN" altLang="en-US" sz="1800" b="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charset="-122"/>
              </a:rPr>
              <a:t>极点配置</a:t>
            </a:r>
          </a:p>
        </p:txBody>
      </p:sp>
      <p:graphicFrame>
        <p:nvGraphicFramePr>
          <p:cNvPr id="85004" name="Object 11"/>
          <p:cNvGraphicFramePr>
            <a:graphicFrameLocks noGrp="1"/>
          </p:cNvGraphicFramePr>
          <p:nvPr>
            <p:ph sz="half" idx="1"/>
          </p:nvPr>
        </p:nvGraphicFramePr>
        <p:xfrm>
          <a:off x="2967038" y="1209675"/>
          <a:ext cx="3810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127000" imgH="139700" progId="Equation.DSMT4">
                  <p:embed/>
                </p:oleObj>
              </mc:Choice>
              <mc:Fallback>
                <p:oleObj r:id="rId12" imgW="127000" imgH="139700" progId="Equation.DSMT4">
                  <p:embed/>
                  <p:pic>
                    <p:nvPicPr>
                      <p:cNvPr id="0" name="图片 3133"/>
                      <p:cNvPicPr/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>
                      <a:xfrm>
                        <a:off x="2967038" y="1209675"/>
                        <a:ext cx="381000" cy="41910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005" name="Object 12"/>
          <p:cNvGraphicFramePr>
            <a:graphicFrameLocks noGrp="1"/>
          </p:cNvGraphicFramePr>
          <p:nvPr>
            <p:ph sz="quarter" idx="2"/>
          </p:nvPr>
        </p:nvGraphicFramePr>
        <p:xfrm>
          <a:off x="5702300" y="2014538"/>
          <a:ext cx="2397125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799465" imgH="203200" progId="Equation.DSMT4">
                  <p:embed/>
                </p:oleObj>
              </mc:Choice>
              <mc:Fallback>
                <p:oleObj r:id="rId14" imgW="799465" imgH="203200" progId="Equation.DSMT4">
                  <p:embed/>
                  <p:pic>
                    <p:nvPicPr>
                      <p:cNvPr id="0" name="图片 3130"/>
                      <p:cNvPicPr/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>
                      <a:xfrm>
                        <a:off x="5702300" y="2014538"/>
                        <a:ext cx="2397125" cy="60960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006" name="Object 13"/>
          <p:cNvGraphicFramePr>
            <a:graphicFrameLocks noGrp="1"/>
          </p:cNvGraphicFramePr>
          <p:nvPr>
            <p:ph sz="quarter" idx="3"/>
          </p:nvPr>
        </p:nvGraphicFramePr>
        <p:xfrm>
          <a:off x="611188" y="2913063"/>
          <a:ext cx="3281362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6" imgW="1077595" imgH="177800" progId="Equation.DSMT4">
                  <p:embed/>
                </p:oleObj>
              </mc:Choice>
              <mc:Fallback>
                <p:oleObj r:id="rId16" imgW="1077595" imgH="177800" progId="Equation.DSMT4">
                  <p:embed/>
                  <p:pic>
                    <p:nvPicPr>
                      <p:cNvPr id="0" name="图片 3131"/>
                      <p:cNvPicPr/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>
                      <a:xfrm>
                        <a:off x="611188" y="2913063"/>
                        <a:ext cx="3281362" cy="53975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5007" name="Line 14"/>
          <p:cNvSpPr/>
          <p:nvPr/>
        </p:nvSpPr>
        <p:spPr>
          <a:xfrm>
            <a:off x="1042988" y="1905000"/>
            <a:ext cx="0" cy="863600"/>
          </a:xfrm>
          <a:prstGeom prst="line">
            <a:avLst/>
          </a:prstGeom>
          <a:ln w="76200" cap="flat" cmpd="tri">
            <a:solidFill>
              <a:srgbClr val="0000FF"/>
            </a:solidFill>
            <a:prstDash val="solid"/>
            <a:headEnd type="none" w="sm" len="sm"/>
            <a:tailEnd type="triangle" w="sm" len="sm"/>
          </a:ln>
        </p:spPr>
      </p:sp>
      <p:sp>
        <p:nvSpPr>
          <p:cNvPr id="85008" name="Line 15"/>
          <p:cNvSpPr/>
          <p:nvPr/>
        </p:nvSpPr>
        <p:spPr>
          <a:xfrm>
            <a:off x="5651500" y="1905000"/>
            <a:ext cx="0" cy="863600"/>
          </a:xfrm>
          <a:prstGeom prst="line">
            <a:avLst/>
          </a:prstGeom>
          <a:ln w="76200" cap="flat" cmpd="tri">
            <a:solidFill>
              <a:srgbClr val="0000FF"/>
            </a:solidFill>
            <a:prstDash val="solid"/>
            <a:headEnd type="none" w="sm" len="sm"/>
            <a:tailEnd type="triangle" w="sm" len="sm"/>
          </a:ln>
        </p:spPr>
      </p:sp>
      <p:sp>
        <p:nvSpPr>
          <p:cNvPr id="85009" name="Line 16"/>
          <p:cNvSpPr/>
          <p:nvPr/>
        </p:nvSpPr>
        <p:spPr>
          <a:xfrm>
            <a:off x="2554288" y="1616075"/>
            <a:ext cx="2592387" cy="0"/>
          </a:xfrm>
          <a:prstGeom prst="line">
            <a:avLst/>
          </a:prstGeom>
          <a:ln w="76200" cap="flat" cmpd="tri">
            <a:solidFill>
              <a:srgbClr val="0000FF"/>
            </a:solidFill>
            <a:prstDash val="solid"/>
            <a:headEnd type="none" w="sm" len="sm"/>
            <a:tailEnd type="triangle" w="sm" len="sm"/>
          </a:ln>
        </p:spPr>
      </p:sp>
      <p:sp>
        <p:nvSpPr>
          <p:cNvPr id="85010" name="Line 17"/>
          <p:cNvSpPr/>
          <p:nvPr/>
        </p:nvSpPr>
        <p:spPr>
          <a:xfrm flipH="1">
            <a:off x="3922713" y="3200400"/>
            <a:ext cx="1296987" cy="0"/>
          </a:xfrm>
          <a:prstGeom prst="line">
            <a:avLst/>
          </a:prstGeom>
          <a:ln w="76200" cap="flat" cmpd="tri">
            <a:solidFill>
              <a:srgbClr val="0000FF"/>
            </a:solidFill>
            <a:prstDash val="solid"/>
            <a:headEnd type="none" w="sm" len="sm"/>
            <a:tailEnd type="triangle" w="sm" len="sm"/>
          </a:ln>
        </p:spPr>
      </p:sp>
      <p:graphicFrame>
        <p:nvGraphicFramePr>
          <p:cNvPr id="85011" name="Object 18"/>
          <p:cNvGraphicFramePr/>
          <p:nvPr/>
        </p:nvGraphicFramePr>
        <p:xfrm>
          <a:off x="4476750" y="2765425"/>
          <a:ext cx="527050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8" imgW="190500" imgH="152400" progId="Equation.DSMT4">
                  <p:embed/>
                </p:oleObj>
              </mc:Choice>
              <mc:Fallback>
                <p:oleObj r:id="rId18" imgW="190500" imgH="152400" progId="Equation.DSMT4">
                  <p:embed/>
                  <p:pic>
                    <p:nvPicPr>
                      <p:cNvPr id="0" name="图片 3132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4476750" y="2765425"/>
                        <a:ext cx="527050" cy="447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5012" name="AutoShape 19"/>
          <p:cNvSpPr/>
          <p:nvPr/>
        </p:nvSpPr>
        <p:spPr>
          <a:xfrm>
            <a:off x="6877050" y="908050"/>
            <a:ext cx="1582738" cy="466725"/>
          </a:xfrm>
          <a:prstGeom prst="wedgeRoundRectCallout">
            <a:avLst>
              <a:gd name="adj1" fmla="val -46389"/>
              <a:gd name="adj2" fmla="val 76190"/>
              <a:gd name="adj3" fmla="val 16667"/>
            </a:avLst>
          </a:prstGeom>
          <a:solidFill>
            <a:schemeClr val="accent1"/>
          </a:solidFill>
          <a:ln w="12700" cap="flat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/>
          <a:lstStyle/>
          <a:p>
            <a:pPr algn="ctr" eaLnBrk="1" hangingPunct="1"/>
            <a:r>
              <a:rPr lang="zh-CN" altLang="en-US" sz="2000" b="0" dirty="0">
                <a:latin typeface="Arial" panose="020B0604020202020204" pitchFamily="34" charset="0"/>
                <a:ea typeface="黑体" panose="02010609060101010101" charset="-122"/>
              </a:rPr>
              <a:t>能控标准型</a:t>
            </a:r>
          </a:p>
        </p:txBody>
      </p:sp>
      <p:sp>
        <p:nvSpPr>
          <p:cNvPr id="85013" name="AutoShape 20"/>
          <p:cNvSpPr/>
          <p:nvPr/>
        </p:nvSpPr>
        <p:spPr>
          <a:xfrm>
            <a:off x="141288" y="1196975"/>
            <a:ext cx="431800" cy="936625"/>
          </a:xfrm>
          <a:prstGeom prst="wedgeRoundRectCallout">
            <a:avLst>
              <a:gd name="adj1" fmla="val 77648"/>
              <a:gd name="adj2" fmla="val -13727"/>
              <a:gd name="adj3" fmla="val 16667"/>
            </a:avLst>
          </a:prstGeom>
          <a:solidFill>
            <a:schemeClr val="accent1"/>
          </a:solidFill>
          <a:ln w="12700" cap="flat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/>
          <a:lstStyle/>
          <a:p>
            <a:pPr eaLnBrk="1" hangingPunct="1">
              <a:lnSpc>
                <a:spcPct val="85000"/>
              </a:lnSpc>
            </a:pPr>
            <a:r>
              <a:rPr lang="zh-CN" altLang="en-US" sz="2000" b="0" dirty="0">
                <a:latin typeface="Arial" panose="020B0604020202020204" pitchFamily="34" charset="0"/>
                <a:ea typeface="黑体" panose="02010609060101010101" charset="-122"/>
              </a:rPr>
              <a:t>原系统</a:t>
            </a:r>
          </a:p>
        </p:txBody>
      </p:sp>
      <p:sp>
        <p:nvSpPr>
          <p:cNvPr id="85014" name="Text Box 21"/>
          <p:cNvSpPr txBox="1"/>
          <p:nvPr/>
        </p:nvSpPr>
        <p:spPr>
          <a:xfrm>
            <a:off x="5413375" y="6435725"/>
            <a:ext cx="1390650" cy="366713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1800" b="0" dirty="0">
                <a:latin typeface="Arial" panose="020B0604020202020204" pitchFamily="34" charset="0"/>
                <a:ea typeface="黑体" panose="02010609060101010101" charset="-122"/>
              </a:rPr>
              <a:t>井元伟 教授</a:t>
            </a:r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日期占位符 5"/>
          <p:cNvSpPr txBox="1">
            <a:spLocks noGrp="1"/>
          </p:cNvSpPr>
          <p:nvPr>
            <p:ph type="dt" sz="half" idx="10"/>
          </p:nvPr>
        </p:nvSpPr>
        <p:spPr>
          <a:xfrm>
            <a:off x="2941638" y="5157788"/>
            <a:ext cx="3311525" cy="404812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BB962C8B-B14F-4D97-AF65-F5344CB8AC3E}" type="datetime2">
              <a:rPr lang="zh-CN" altLang="en-US" sz="2400" b="0" dirty="0">
                <a:solidFill>
                  <a:schemeClr val="bg1"/>
                </a:solidFill>
              </a:rPr>
              <a:t>2026年7月17日</a:t>
            </a:fld>
            <a:endParaRPr lang="zh-CN" altLang="en-US" sz="2400" b="0" dirty="0">
              <a:solidFill>
                <a:schemeClr val="bg1"/>
              </a:solidFill>
            </a:endParaRPr>
          </a:p>
        </p:txBody>
      </p:sp>
      <p:pic>
        <p:nvPicPr>
          <p:cNvPr id="86019" name="Picture 2" descr="底图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86020" name="Object 4"/>
          <p:cNvGraphicFramePr/>
          <p:nvPr/>
        </p:nvGraphicFramePr>
        <p:xfrm>
          <a:off x="612775" y="1328738"/>
          <a:ext cx="1712913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570865" imgH="165100" progId="Equation.DSMT4">
                  <p:embed/>
                </p:oleObj>
              </mc:Choice>
              <mc:Fallback>
                <p:oleObj r:id="rId4" imgW="570865" imgH="165100" progId="Equation.DSMT4">
                  <p:embed/>
                  <p:pic>
                    <p:nvPicPr>
                      <p:cNvPr id="0" name="图片 3146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12775" y="1328738"/>
                        <a:ext cx="1712913" cy="4937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21" name="Object 5"/>
          <p:cNvGraphicFramePr/>
          <p:nvPr/>
        </p:nvGraphicFramePr>
        <p:xfrm>
          <a:off x="5219700" y="2840038"/>
          <a:ext cx="3289300" cy="608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091565" imgH="203200" progId="Equation.DSMT4">
                  <p:embed/>
                </p:oleObj>
              </mc:Choice>
              <mc:Fallback>
                <p:oleObj r:id="rId6" imgW="1091565" imgH="203200" progId="Equation.DSMT4">
                  <p:embed/>
                  <p:pic>
                    <p:nvPicPr>
                      <p:cNvPr id="0" name="图片 3142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219700" y="2840038"/>
                        <a:ext cx="3289300" cy="6080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22" name="Object 6"/>
          <p:cNvGraphicFramePr/>
          <p:nvPr/>
        </p:nvGraphicFramePr>
        <p:xfrm>
          <a:off x="5219700" y="1255713"/>
          <a:ext cx="1706563" cy="573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571500" imgH="190500" progId="Equation.DSMT4">
                  <p:embed/>
                </p:oleObj>
              </mc:Choice>
              <mc:Fallback>
                <p:oleObj r:id="rId8" imgW="571500" imgH="190500" progId="Equation.DSMT4">
                  <p:embed/>
                  <p:pic>
                    <p:nvPicPr>
                      <p:cNvPr id="0" name="图片 3138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219700" y="1255713"/>
                        <a:ext cx="1706563" cy="5730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023" name="Rectangle 7"/>
          <p:cNvSpPr/>
          <p:nvPr/>
        </p:nvSpPr>
        <p:spPr>
          <a:xfrm>
            <a:off x="3448050" y="1206500"/>
            <a:ext cx="1200150" cy="396875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lstStyle/>
          <a:p>
            <a:pPr eaLnBrk="1" hangingPunct="1"/>
            <a:r>
              <a:rPr lang="zh-CN" altLang="en-US" sz="2000" b="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charset="-122"/>
              </a:rPr>
              <a:t>线性变换</a:t>
            </a:r>
          </a:p>
        </p:txBody>
      </p:sp>
      <p:graphicFrame>
        <p:nvGraphicFramePr>
          <p:cNvPr id="86024" name="Object 8"/>
          <p:cNvGraphicFramePr/>
          <p:nvPr/>
        </p:nvGraphicFramePr>
        <p:xfrm>
          <a:off x="1122363" y="2090738"/>
          <a:ext cx="236855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798830" imgH="177800" progId="Equation.DSMT4">
                  <p:embed/>
                </p:oleObj>
              </mc:Choice>
              <mc:Fallback>
                <p:oleObj r:id="rId10" imgW="798830" imgH="177800" progId="Equation.DSMT4">
                  <p:embed/>
                  <p:pic>
                    <p:nvPicPr>
                      <p:cNvPr id="0" name="图片 3143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122363" y="2090738"/>
                        <a:ext cx="2368550" cy="533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25" name="Object 9"/>
          <p:cNvGraphicFramePr/>
          <p:nvPr/>
        </p:nvGraphicFramePr>
        <p:xfrm>
          <a:off x="638175" y="3587750"/>
          <a:ext cx="7866063" cy="236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3086100" imgH="787400" progId="Equation.DSMT4">
                  <p:embed/>
                </p:oleObj>
              </mc:Choice>
              <mc:Fallback>
                <p:oleObj r:id="rId12" imgW="3086100" imgH="787400" progId="Equation.DSMT4">
                  <p:embed/>
                  <p:pic>
                    <p:nvPicPr>
                      <p:cNvPr id="0" name="图片 3139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638175" y="3587750"/>
                        <a:ext cx="7866063" cy="2362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026" name="Rectangle 10"/>
          <p:cNvSpPr/>
          <p:nvPr/>
        </p:nvSpPr>
        <p:spPr>
          <a:xfrm>
            <a:off x="3455988" y="739775"/>
            <a:ext cx="1403350" cy="4572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hlink"/>
              </a:buClr>
              <a:buSzPct val="75000"/>
              <a:buFont typeface="Monotype Sorts" charset="2"/>
            </a:pPr>
            <a:r>
              <a:rPr lang="zh-CN" altLang="en-US" sz="2400" b="0" dirty="0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charset="-122"/>
              </a:rPr>
              <a:t>主要思想</a:t>
            </a:r>
            <a:endParaRPr lang="zh-CN" altLang="en-US" sz="2400" b="0" dirty="0">
              <a:latin typeface="Arial" panose="020B0604020202020204" pitchFamily="34" charset="0"/>
              <a:ea typeface="黑体" panose="02010609060101010101" charset="-122"/>
            </a:endParaRPr>
          </a:p>
        </p:txBody>
      </p:sp>
      <p:sp>
        <p:nvSpPr>
          <p:cNvPr id="86027" name="Text Box 11"/>
          <p:cNvSpPr txBox="1"/>
          <p:nvPr/>
        </p:nvSpPr>
        <p:spPr>
          <a:xfrm>
            <a:off x="5651500" y="188913"/>
            <a:ext cx="3313113" cy="366712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r>
              <a:rPr lang="zh-CN" altLang="en-US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第 </a:t>
            </a:r>
            <a:r>
              <a:rPr lang="en-US" altLang="zh-CN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6 </a:t>
            </a:r>
            <a:r>
              <a:rPr lang="zh-CN" altLang="en-US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章  状态反馈和状态观测器</a:t>
            </a:r>
          </a:p>
        </p:txBody>
      </p:sp>
      <p:sp>
        <p:nvSpPr>
          <p:cNvPr id="86028" name="Text Box 12"/>
          <p:cNvSpPr txBox="1"/>
          <p:nvPr/>
        </p:nvSpPr>
        <p:spPr>
          <a:xfrm>
            <a:off x="252413" y="6435725"/>
            <a:ext cx="1439862" cy="366713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r>
              <a:rPr lang="en-US" altLang="zh-CN" sz="1800" b="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charset="-122"/>
              </a:rPr>
              <a:t>2. </a:t>
            </a:r>
            <a:r>
              <a:rPr lang="zh-CN" altLang="en-US" sz="1800" b="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charset="-122"/>
              </a:rPr>
              <a:t>极点配置</a:t>
            </a:r>
          </a:p>
        </p:txBody>
      </p:sp>
      <p:graphicFrame>
        <p:nvGraphicFramePr>
          <p:cNvPr id="86029" name="Object 13"/>
          <p:cNvGraphicFramePr>
            <a:graphicFrameLocks noGrp="1"/>
          </p:cNvGraphicFramePr>
          <p:nvPr>
            <p:ph sz="half" idx="1"/>
          </p:nvPr>
        </p:nvGraphicFramePr>
        <p:xfrm>
          <a:off x="2967038" y="1209675"/>
          <a:ext cx="3810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127000" imgH="139700" progId="Equation.DSMT4">
                  <p:embed/>
                </p:oleObj>
              </mc:Choice>
              <mc:Fallback>
                <p:oleObj r:id="rId14" imgW="127000" imgH="139700" progId="Equation.DSMT4">
                  <p:embed/>
                  <p:pic>
                    <p:nvPicPr>
                      <p:cNvPr id="0" name="图片 3140"/>
                      <p:cNvPicPr/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>
                      <a:xfrm>
                        <a:off x="2967038" y="1209675"/>
                        <a:ext cx="381000" cy="41910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30" name="Object 14"/>
          <p:cNvGraphicFramePr>
            <a:graphicFrameLocks noGrp="1"/>
          </p:cNvGraphicFramePr>
          <p:nvPr>
            <p:ph sz="quarter" idx="2"/>
          </p:nvPr>
        </p:nvGraphicFramePr>
        <p:xfrm>
          <a:off x="5702300" y="2014538"/>
          <a:ext cx="2397125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6" imgW="799465" imgH="203200" progId="Equation.DSMT4">
                  <p:embed/>
                </p:oleObj>
              </mc:Choice>
              <mc:Fallback>
                <p:oleObj r:id="rId16" imgW="799465" imgH="203200" progId="Equation.DSMT4">
                  <p:embed/>
                  <p:pic>
                    <p:nvPicPr>
                      <p:cNvPr id="0" name="图片 3141"/>
                      <p:cNvPicPr/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>
                      <a:xfrm>
                        <a:off x="5702300" y="2014538"/>
                        <a:ext cx="2397125" cy="60960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31" name="Object 15"/>
          <p:cNvGraphicFramePr>
            <a:graphicFrameLocks noGrp="1"/>
          </p:cNvGraphicFramePr>
          <p:nvPr>
            <p:ph sz="quarter" idx="3"/>
          </p:nvPr>
        </p:nvGraphicFramePr>
        <p:xfrm>
          <a:off x="611188" y="2913063"/>
          <a:ext cx="3281362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8" imgW="1077595" imgH="177800" progId="Equation.DSMT4">
                  <p:embed/>
                </p:oleObj>
              </mc:Choice>
              <mc:Fallback>
                <p:oleObj r:id="rId18" imgW="1077595" imgH="177800" progId="Equation.DSMT4">
                  <p:embed/>
                  <p:pic>
                    <p:nvPicPr>
                      <p:cNvPr id="0" name="图片 3144"/>
                      <p:cNvPicPr/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>
                      <a:xfrm>
                        <a:off x="611188" y="2913063"/>
                        <a:ext cx="3281362" cy="53975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032" name="Line 16"/>
          <p:cNvSpPr/>
          <p:nvPr/>
        </p:nvSpPr>
        <p:spPr>
          <a:xfrm>
            <a:off x="1042988" y="1905000"/>
            <a:ext cx="0" cy="863600"/>
          </a:xfrm>
          <a:prstGeom prst="line">
            <a:avLst/>
          </a:prstGeom>
          <a:ln w="76200" cap="flat" cmpd="tri">
            <a:solidFill>
              <a:srgbClr val="0000FF"/>
            </a:solidFill>
            <a:prstDash val="solid"/>
            <a:headEnd type="none" w="sm" len="sm"/>
            <a:tailEnd type="triangle" w="sm" len="sm"/>
          </a:ln>
        </p:spPr>
      </p:sp>
      <p:sp>
        <p:nvSpPr>
          <p:cNvPr id="86033" name="Line 17"/>
          <p:cNvSpPr/>
          <p:nvPr/>
        </p:nvSpPr>
        <p:spPr>
          <a:xfrm>
            <a:off x="5651500" y="1905000"/>
            <a:ext cx="0" cy="863600"/>
          </a:xfrm>
          <a:prstGeom prst="line">
            <a:avLst/>
          </a:prstGeom>
          <a:ln w="76200" cap="flat" cmpd="tri">
            <a:solidFill>
              <a:srgbClr val="0000FF"/>
            </a:solidFill>
            <a:prstDash val="solid"/>
            <a:headEnd type="none" w="sm" len="sm"/>
            <a:tailEnd type="triangle" w="sm" len="sm"/>
          </a:ln>
        </p:spPr>
      </p:sp>
      <p:sp>
        <p:nvSpPr>
          <p:cNvPr id="86034" name="Line 18"/>
          <p:cNvSpPr/>
          <p:nvPr/>
        </p:nvSpPr>
        <p:spPr>
          <a:xfrm>
            <a:off x="2554288" y="1616075"/>
            <a:ext cx="2592387" cy="0"/>
          </a:xfrm>
          <a:prstGeom prst="line">
            <a:avLst/>
          </a:prstGeom>
          <a:ln w="76200" cap="flat" cmpd="tri">
            <a:solidFill>
              <a:srgbClr val="0000FF"/>
            </a:solidFill>
            <a:prstDash val="solid"/>
            <a:headEnd type="none" w="sm" len="sm"/>
            <a:tailEnd type="triangle" w="sm" len="sm"/>
          </a:ln>
        </p:spPr>
      </p:sp>
      <p:sp>
        <p:nvSpPr>
          <p:cNvPr id="86035" name="Line 19"/>
          <p:cNvSpPr/>
          <p:nvPr/>
        </p:nvSpPr>
        <p:spPr>
          <a:xfrm flipH="1">
            <a:off x="3922713" y="3200400"/>
            <a:ext cx="1296987" cy="0"/>
          </a:xfrm>
          <a:prstGeom prst="line">
            <a:avLst/>
          </a:prstGeom>
          <a:ln w="76200" cap="flat" cmpd="tri">
            <a:solidFill>
              <a:srgbClr val="0000FF"/>
            </a:solidFill>
            <a:prstDash val="solid"/>
            <a:headEnd type="none" w="sm" len="sm"/>
            <a:tailEnd type="triangle" w="sm" len="sm"/>
          </a:ln>
        </p:spPr>
      </p:sp>
      <p:graphicFrame>
        <p:nvGraphicFramePr>
          <p:cNvPr id="86036" name="Object 20"/>
          <p:cNvGraphicFramePr/>
          <p:nvPr/>
        </p:nvGraphicFramePr>
        <p:xfrm>
          <a:off x="4476750" y="2765425"/>
          <a:ext cx="527050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0" imgW="190500" imgH="152400" progId="Equation.DSMT4">
                  <p:embed/>
                </p:oleObj>
              </mc:Choice>
              <mc:Fallback>
                <p:oleObj r:id="rId20" imgW="190500" imgH="152400" progId="Equation.DSMT4">
                  <p:embed/>
                  <p:pic>
                    <p:nvPicPr>
                      <p:cNvPr id="0" name="图片 3145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4476750" y="2765425"/>
                        <a:ext cx="527050" cy="447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037" name="AutoShape 21"/>
          <p:cNvSpPr/>
          <p:nvPr/>
        </p:nvSpPr>
        <p:spPr>
          <a:xfrm>
            <a:off x="6877050" y="908050"/>
            <a:ext cx="1582738" cy="466725"/>
          </a:xfrm>
          <a:prstGeom prst="wedgeRoundRectCallout">
            <a:avLst>
              <a:gd name="adj1" fmla="val -46389"/>
              <a:gd name="adj2" fmla="val 76190"/>
              <a:gd name="adj3" fmla="val 16667"/>
            </a:avLst>
          </a:prstGeom>
          <a:solidFill>
            <a:schemeClr val="accent1"/>
          </a:solidFill>
          <a:ln w="12700" cap="flat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/>
          <a:lstStyle/>
          <a:p>
            <a:pPr algn="ctr" eaLnBrk="1" hangingPunct="1"/>
            <a:r>
              <a:rPr lang="zh-CN" altLang="en-US" sz="2000" b="0" dirty="0">
                <a:latin typeface="Arial" panose="020B0604020202020204" pitchFamily="34" charset="0"/>
                <a:ea typeface="黑体" panose="02010609060101010101" charset="-122"/>
              </a:rPr>
              <a:t>能控标准型</a:t>
            </a:r>
          </a:p>
        </p:txBody>
      </p:sp>
      <p:sp>
        <p:nvSpPr>
          <p:cNvPr id="86038" name="AutoShape 22"/>
          <p:cNvSpPr/>
          <p:nvPr/>
        </p:nvSpPr>
        <p:spPr>
          <a:xfrm>
            <a:off x="141288" y="1196975"/>
            <a:ext cx="431800" cy="936625"/>
          </a:xfrm>
          <a:prstGeom prst="wedgeRoundRectCallout">
            <a:avLst>
              <a:gd name="adj1" fmla="val 77648"/>
              <a:gd name="adj2" fmla="val -13727"/>
              <a:gd name="adj3" fmla="val 16667"/>
            </a:avLst>
          </a:prstGeom>
          <a:solidFill>
            <a:schemeClr val="accent1"/>
          </a:solidFill>
          <a:ln w="12700" cap="flat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/>
          <a:lstStyle/>
          <a:p>
            <a:pPr eaLnBrk="1" hangingPunct="1">
              <a:lnSpc>
                <a:spcPct val="85000"/>
              </a:lnSpc>
            </a:pPr>
            <a:r>
              <a:rPr lang="zh-CN" altLang="en-US" sz="2000" b="0" dirty="0">
                <a:latin typeface="Arial" panose="020B0604020202020204" pitchFamily="34" charset="0"/>
                <a:ea typeface="黑体" panose="02010609060101010101" charset="-122"/>
              </a:rPr>
              <a:t>原系统</a:t>
            </a:r>
          </a:p>
        </p:txBody>
      </p:sp>
      <p:sp>
        <p:nvSpPr>
          <p:cNvPr id="86039" name="Text Box 26"/>
          <p:cNvSpPr txBox="1"/>
          <p:nvPr/>
        </p:nvSpPr>
        <p:spPr>
          <a:xfrm>
            <a:off x="5413375" y="6435725"/>
            <a:ext cx="1390650" cy="366713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1800" b="0" dirty="0">
                <a:latin typeface="Arial" panose="020B0604020202020204" pitchFamily="34" charset="0"/>
                <a:ea typeface="黑体" panose="02010609060101010101" charset="-122"/>
              </a:rPr>
              <a:t>井元伟 教授</a:t>
            </a:r>
          </a:p>
        </p:txBody>
      </p:sp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日期占位符 5"/>
          <p:cNvSpPr txBox="1">
            <a:spLocks noGrp="1"/>
          </p:cNvSpPr>
          <p:nvPr>
            <p:ph type="dt" sz="half" idx="10"/>
          </p:nvPr>
        </p:nvSpPr>
        <p:spPr>
          <a:xfrm>
            <a:off x="2941638" y="5157788"/>
            <a:ext cx="3311525" cy="404812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BB962C8B-B14F-4D97-AF65-F5344CB8AC3E}" type="datetime2">
              <a:rPr lang="zh-CN" altLang="en-US" sz="2400" b="0" dirty="0">
                <a:solidFill>
                  <a:schemeClr val="bg1"/>
                </a:solidFill>
              </a:rPr>
              <a:t>2026年7月17日</a:t>
            </a:fld>
            <a:endParaRPr lang="zh-CN" altLang="en-US" sz="2400" b="0" dirty="0">
              <a:solidFill>
                <a:schemeClr val="bg1"/>
              </a:solidFill>
            </a:endParaRPr>
          </a:p>
        </p:txBody>
      </p:sp>
      <p:pic>
        <p:nvPicPr>
          <p:cNvPr id="87043" name="Picture 2" descr="底图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87044" name="Object 4"/>
          <p:cNvGraphicFramePr/>
          <p:nvPr/>
        </p:nvGraphicFramePr>
        <p:xfrm>
          <a:off x="612775" y="1328738"/>
          <a:ext cx="1712913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570865" imgH="165100" progId="Equation.DSMT4">
                  <p:embed/>
                </p:oleObj>
              </mc:Choice>
              <mc:Fallback>
                <p:oleObj r:id="rId4" imgW="570865" imgH="165100" progId="Equation.DSMT4">
                  <p:embed/>
                  <p:pic>
                    <p:nvPicPr>
                      <p:cNvPr id="0" name="图片 3149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12775" y="1328738"/>
                        <a:ext cx="1712913" cy="4937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45" name="Object 5"/>
          <p:cNvGraphicFramePr/>
          <p:nvPr/>
        </p:nvGraphicFramePr>
        <p:xfrm>
          <a:off x="5219700" y="2840038"/>
          <a:ext cx="3289300" cy="608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091565" imgH="203200" progId="Equation.DSMT4">
                  <p:embed/>
                </p:oleObj>
              </mc:Choice>
              <mc:Fallback>
                <p:oleObj r:id="rId6" imgW="1091565" imgH="203200" progId="Equation.DSMT4">
                  <p:embed/>
                  <p:pic>
                    <p:nvPicPr>
                      <p:cNvPr id="0" name="图片 3153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219700" y="2840038"/>
                        <a:ext cx="3289300" cy="6080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46" name="Object 6"/>
          <p:cNvGraphicFramePr/>
          <p:nvPr/>
        </p:nvGraphicFramePr>
        <p:xfrm>
          <a:off x="5219700" y="1255713"/>
          <a:ext cx="1706563" cy="573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571500" imgH="190500" progId="Equation.DSMT4">
                  <p:embed/>
                </p:oleObj>
              </mc:Choice>
              <mc:Fallback>
                <p:oleObj r:id="rId8" imgW="571500" imgH="190500" progId="Equation.DSMT4">
                  <p:embed/>
                  <p:pic>
                    <p:nvPicPr>
                      <p:cNvPr id="0" name="图片 3152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219700" y="1255713"/>
                        <a:ext cx="1706563" cy="5730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047" name="Rectangle 7"/>
          <p:cNvSpPr/>
          <p:nvPr/>
        </p:nvSpPr>
        <p:spPr>
          <a:xfrm>
            <a:off x="3448050" y="1206500"/>
            <a:ext cx="1200150" cy="396875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lstStyle/>
          <a:p>
            <a:pPr eaLnBrk="1" hangingPunct="1"/>
            <a:r>
              <a:rPr lang="zh-CN" altLang="en-US" sz="2000" b="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charset="-122"/>
              </a:rPr>
              <a:t>线性变换</a:t>
            </a:r>
          </a:p>
        </p:txBody>
      </p:sp>
      <p:graphicFrame>
        <p:nvGraphicFramePr>
          <p:cNvPr id="87048" name="Object 8"/>
          <p:cNvGraphicFramePr/>
          <p:nvPr/>
        </p:nvGraphicFramePr>
        <p:xfrm>
          <a:off x="1122363" y="2090738"/>
          <a:ext cx="236855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798830" imgH="177800" progId="Equation.DSMT4">
                  <p:embed/>
                </p:oleObj>
              </mc:Choice>
              <mc:Fallback>
                <p:oleObj r:id="rId10" imgW="798830" imgH="177800" progId="Equation.DSMT4">
                  <p:embed/>
                  <p:pic>
                    <p:nvPicPr>
                      <p:cNvPr id="0" name="图片 3147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122363" y="2090738"/>
                        <a:ext cx="2368550" cy="533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49" name="Object 9"/>
          <p:cNvGraphicFramePr/>
          <p:nvPr/>
        </p:nvGraphicFramePr>
        <p:xfrm>
          <a:off x="638175" y="3587750"/>
          <a:ext cx="7866063" cy="236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3086100" imgH="787400" progId="Equation.DSMT4">
                  <p:embed/>
                </p:oleObj>
              </mc:Choice>
              <mc:Fallback>
                <p:oleObj r:id="rId12" imgW="3086100" imgH="787400" progId="Equation.DSMT4">
                  <p:embed/>
                  <p:pic>
                    <p:nvPicPr>
                      <p:cNvPr id="0" name="图片 3151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638175" y="3587750"/>
                        <a:ext cx="7866063" cy="2362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050" name="Rectangle 10"/>
          <p:cNvSpPr/>
          <p:nvPr/>
        </p:nvSpPr>
        <p:spPr>
          <a:xfrm>
            <a:off x="3455988" y="739775"/>
            <a:ext cx="1403350" cy="4572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hlink"/>
              </a:buClr>
              <a:buSzPct val="75000"/>
              <a:buFont typeface="Monotype Sorts" charset="2"/>
            </a:pPr>
            <a:r>
              <a:rPr lang="zh-CN" altLang="en-US" sz="2400" b="0" dirty="0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charset="-122"/>
              </a:rPr>
              <a:t>主要思想</a:t>
            </a:r>
            <a:endParaRPr lang="zh-CN" altLang="en-US" sz="2400" b="0" dirty="0">
              <a:latin typeface="Arial" panose="020B0604020202020204" pitchFamily="34" charset="0"/>
              <a:ea typeface="黑体" panose="02010609060101010101" charset="-122"/>
            </a:endParaRPr>
          </a:p>
        </p:txBody>
      </p:sp>
      <p:sp>
        <p:nvSpPr>
          <p:cNvPr id="87051" name="Text Box 11"/>
          <p:cNvSpPr txBox="1"/>
          <p:nvPr/>
        </p:nvSpPr>
        <p:spPr>
          <a:xfrm>
            <a:off x="5651500" y="188913"/>
            <a:ext cx="3313113" cy="366712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r>
              <a:rPr lang="zh-CN" altLang="en-US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第 </a:t>
            </a:r>
            <a:r>
              <a:rPr lang="en-US" altLang="zh-CN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6 </a:t>
            </a:r>
            <a:r>
              <a:rPr lang="zh-CN" altLang="en-US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章  状态反馈和状态观测器</a:t>
            </a:r>
          </a:p>
        </p:txBody>
      </p:sp>
      <p:sp>
        <p:nvSpPr>
          <p:cNvPr id="87052" name="Text Box 12"/>
          <p:cNvSpPr txBox="1"/>
          <p:nvPr/>
        </p:nvSpPr>
        <p:spPr>
          <a:xfrm>
            <a:off x="252413" y="6435725"/>
            <a:ext cx="1439862" cy="366713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r>
              <a:rPr lang="en-US" altLang="zh-CN" sz="1800" b="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charset="-122"/>
              </a:rPr>
              <a:t>2. </a:t>
            </a:r>
            <a:r>
              <a:rPr lang="zh-CN" altLang="en-US" sz="1800" b="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charset="-122"/>
              </a:rPr>
              <a:t>极点配置</a:t>
            </a:r>
          </a:p>
        </p:txBody>
      </p:sp>
      <p:graphicFrame>
        <p:nvGraphicFramePr>
          <p:cNvPr id="87053" name="Object 13"/>
          <p:cNvGraphicFramePr>
            <a:graphicFrameLocks noGrp="1"/>
          </p:cNvGraphicFramePr>
          <p:nvPr>
            <p:ph sz="half" idx="1"/>
          </p:nvPr>
        </p:nvGraphicFramePr>
        <p:xfrm>
          <a:off x="2967038" y="1209675"/>
          <a:ext cx="3810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127000" imgH="139700" progId="Equation.DSMT4">
                  <p:embed/>
                </p:oleObj>
              </mc:Choice>
              <mc:Fallback>
                <p:oleObj r:id="rId14" imgW="127000" imgH="139700" progId="Equation.DSMT4">
                  <p:embed/>
                  <p:pic>
                    <p:nvPicPr>
                      <p:cNvPr id="0" name="图片 3154"/>
                      <p:cNvPicPr/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>
                      <a:xfrm>
                        <a:off x="2967038" y="1209675"/>
                        <a:ext cx="381000" cy="41910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54" name="Object 14"/>
          <p:cNvGraphicFramePr>
            <a:graphicFrameLocks noGrp="1"/>
          </p:cNvGraphicFramePr>
          <p:nvPr>
            <p:ph sz="quarter" idx="2"/>
          </p:nvPr>
        </p:nvGraphicFramePr>
        <p:xfrm>
          <a:off x="5702300" y="2014538"/>
          <a:ext cx="2397125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6" imgW="799465" imgH="203200" progId="Equation.DSMT4">
                  <p:embed/>
                </p:oleObj>
              </mc:Choice>
              <mc:Fallback>
                <p:oleObj r:id="rId16" imgW="799465" imgH="203200" progId="Equation.DSMT4">
                  <p:embed/>
                  <p:pic>
                    <p:nvPicPr>
                      <p:cNvPr id="0" name="图片 3155"/>
                      <p:cNvPicPr/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>
                      <a:xfrm>
                        <a:off x="5702300" y="2014538"/>
                        <a:ext cx="2397125" cy="60960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55" name="Object 15"/>
          <p:cNvGraphicFramePr>
            <a:graphicFrameLocks noGrp="1"/>
          </p:cNvGraphicFramePr>
          <p:nvPr>
            <p:ph sz="quarter" idx="3"/>
          </p:nvPr>
        </p:nvGraphicFramePr>
        <p:xfrm>
          <a:off x="611188" y="2913063"/>
          <a:ext cx="3281362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8" imgW="1077595" imgH="177800" progId="Equation.DSMT4">
                  <p:embed/>
                </p:oleObj>
              </mc:Choice>
              <mc:Fallback>
                <p:oleObj r:id="rId18" imgW="1077595" imgH="177800" progId="Equation.DSMT4">
                  <p:embed/>
                  <p:pic>
                    <p:nvPicPr>
                      <p:cNvPr id="0" name="图片 3148"/>
                      <p:cNvPicPr/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>
                      <a:xfrm>
                        <a:off x="611188" y="2913063"/>
                        <a:ext cx="3281362" cy="53975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056" name="Line 16"/>
          <p:cNvSpPr/>
          <p:nvPr/>
        </p:nvSpPr>
        <p:spPr>
          <a:xfrm>
            <a:off x="1042988" y="1905000"/>
            <a:ext cx="0" cy="863600"/>
          </a:xfrm>
          <a:prstGeom prst="line">
            <a:avLst/>
          </a:prstGeom>
          <a:ln w="76200" cap="flat" cmpd="tri">
            <a:solidFill>
              <a:srgbClr val="0000FF"/>
            </a:solidFill>
            <a:prstDash val="solid"/>
            <a:headEnd type="none" w="sm" len="sm"/>
            <a:tailEnd type="triangle" w="sm" len="sm"/>
          </a:ln>
        </p:spPr>
      </p:sp>
      <p:sp>
        <p:nvSpPr>
          <p:cNvPr id="87057" name="Line 17"/>
          <p:cNvSpPr/>
          <p:nvPr/>
        </p:nvSpPr>
        <p:spPr>
          <a:xfrm>
            <a:off x="5651500" y="1905000"/>
            <a:ext cx="0" cy="863600"/>
          </a:xfrm>
          <a:prstGeom prst="line">
            <a:avLst/>
          </a:prstGeom>
          <a:ln w="76200" cap="flat" cmpd="tri">
            <a:solidFill>
              <a:srgbClr val="0000FF"/>
            </a:solidFill>
            <a:prstDash val="solid"/>
            <a:headEnd type="none" w="sm" len="sm"/>
            <a:tailEnd type="triangle" w="sm" len="sm"/>
          </a:ln>
        </p:spPr>
      </p:sp>
      <p:sp>
        <p:nvSpPr>
          <p:cNvPr id="87058" name="Line 18"/>
          <p:cNvSpPr/>
          <p:nvPr/>
        </p:nvSpPr>
        <p:spPr>
          <a:xfrm>
            <a:off x="2554288" y="1616075"/>
            <a:ext cx="2592387" cy="0"/>
          </a:xfrm>
          <a:prstGeom prst="line">
            <a:avLst/>
          </a:prstGeom>
          <a:ln w="76200" cap="flat" cmpd="tri">
            <a:solidFill>
              <a:srgbClr val="0000FF"/>
            </a:solidFill>
            <a:prstDash val="solid"/>
            <a:headEnd type="none" w="sm" len="sm"/>
            <a:tailEnd type="triangle" w="sm" len="sm"/>
          </a:ln>
        </p:spPr>
      </p:sp>
      <p:sp>
        <p:nvSpPr>
          <p:cNvPr id="87059" name="Line 19"/>
          <p:cNvSpPr/>
          <p:nvPr/>
        </p:nvSpPr>
        <p:spPr>
          <a:xfrm flipH="1">
            <a:off x="3922713" y="3200400"/>
            <a:ext cx="1296987" cy="0"/>
          </a:xfrm>
          <a:prstGeom prst="line">
            <a:avLst/>
          </a:prstGeom>
          <a:ln w="76200" cap="flat" cmpd="tri">
            <a:solidFill>
              <a:srgbClr val="0000FF"/>
            </a:solidFill>
            <a:prstDash val="solid"/>
            <a:headEnd type="none" w="sm" len="sm"/>
            <a:tailEnd type="triangle" w="sm" len="sm"/>
          </a:ln>
        </p:spPr>
      </p:sp>
      <p:graphicFrame>
        <p:nvGraphicFramePr>
          <p:cNvPr id="87060" name="Object 20"/>
          <p:cNvGraphicFramePr/>
          <p:nvPr/>
        </p:nvGraphicFramePr>
        <p:xfrm>
          <a:off x="4476750" y="2765425"/>
          <a:ext cx="527050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0" imgW="190500" imgH="152400" progId="Equation.DSMT4">
                  <p:embed/>
                </p:oleObj>
              </mc:Choice>
              <mc:Fallback>
                <p:oleObj r:id="rId20" imgW="190500" imgH="152400" progId="Equation.DSMT4">
                  <p:embed/>
                  <p:pic>
                    <p:nvPicPr>
                      <p:cNvPr id="0" name="图片 3150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4476750" y="2765425"/>
                        <a:ext cx="527050" cy="447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061" name="AutoShape 21"/>
          <p:cNvSpPr/>
          <p:nvPr/>
        </p:nvSpPr>
        <p:spPr>
          <a:xfrm>
            <a:off x="6877050" y="908050"/>
            <a:ext cx="1582738" cy="466725"/>
          </a:xfrm>
          <a:prstGeom prst="wedgeRoundRectCallout">
            <a:avLst>
              <a:gd name="adj1" fmla="val -46389"/>
              <a:gd name="adj2" fmla="val 76190"/>
              <a:gd name="adj3" fmla="val 16667"/>
            </a:avLst>
          </a:prstGeom>
          <a:solidFill>
            <a:schemeClr val="accent1"/>
          </a:solidFill>
          <a:ln w="12700" cap="flat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/>
          <a:lstStyle/>
          <a:p>
            <a:pPr algn="ctr" eaLnBrk="1" hangingPunct="1"/>
            <a:r>
              <a:rPr lang="zh-CN" altLang="en-US" sz="2000" b="0" dirty="0">
                <a:latin typeface="Arial" panose="020B0604020202020204" pitchFamily="34" charset="0"/>
                <a:ea typeface="黑体" panose="02010609060101010101" charset="-122"/>
              </a:rPr>
              <a:t>能控标准型</a:t>
            </a:r>
          </a:p>
        </p:txBody>
      </p:sp>
      <p:sp>
        <p:nvSpPr>
          <p:cNvPr id="87062" name="AutoShape 22"/>
          <p:cNvSpPr/>
          <p:nvPr/>
        </p:nvSpPr>
        <p:spPr>
          <a:xfrm>
            <a:off x="141288" y="1196975"/>
            <a:ext cx="431800" cy="936625"/>
          </a:xfrm>
          <a:prstGeom prst="wedgeRoundRectCallout">
            <a:avLst>
              <a:gd name="adj1" fmla="val 77648"/>
              <a:gd name="adj2" fmla="val -13727"/>
              <a:gd name="adj3" fmla="val 16667"/>
            </a:avLst>
          </a:prstGeom>
          <a:solidFill>
            <a:schemeClr val="accent1"/>
          </a:solidFill>
          <a:ln w="12700" cap="flat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/>
          <a:lstStyle/>
          <a:p>
            <a:pPr eaLnBrk="1" hangingPunct="1">
              <a:lnSpc>
                <a:spcPct val="85000"/>
              </a:lnSpc>
            </a:pPr>
            <a:r>
              <a:rPr lang="zh-CN" altLang="en-US" sz="2000" b="0" dirty="0">
                <a:latin typeface="Arial" panose="020B0604020202020204" pitchFamily="34" charset="0"/>
                <a:ea typeface="黑体" panose="02010609060101010101" charset="-122"/>
              </a:rPr>
              <a:t>原系统</a:t>
            </a:r>
          </a:p>
        </p:txBody>
      </p:sp>
      <p:sp>
        <p:nvSpPr>
          <p:cNvPr id="87063" name="AutoShape 23"/>
          <p:cNvSpPr/>
          <p:nvPr/>
        </p:nvSpPr>
        <p:spPr>
          <a:xfrm>
            <a:off x="107950" y="3429000"/>
            <a:ext cx="431800" cy="1728788"/>
          </a:xfrm>
          <a:prstGeom prst="wedgeRoundRectCallout">
            <a:avLst>
              <a:gd name="adj1" fmla="val 93014"/>
              <a:gd name="adj2" fmla="val -20708"/>
              <a:gd name="adj3" fmla="val 16667"/>
            </a:avLst>
          </a:prstGeom>
          <a:solidFill>
            <a:schemeClr val="accent1"/>
          </a:solidFill>
          <a:ln w="12700" cap="flat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/>
          <a:lstStyle/>
          <a:p>
            <a:pPr algn="ctr" eaLnBrk="1" hangingPunct="1">
              <a:lnSpc>
                <a:spcPct val="85000"/>
              </a:lnSpc>
            </a:pPr>
            <a:r>
              <a:rPr lang="zh-CN" altLang="en-US" sz="2000" b="0" dirty="0">
                <a:latin typeface="Arial" panose="020B0604020202020204" pitchFamily="34" charset="0"/>
                <a:ea typeface="黑体" panose="02010609060101010101" charset="-122"/>
              </a:rPr>
              <a:t>闭环特征方程</a:t>
            </a:r>
          </a:p>
        </p:txBody>
      </p:sp>
      <p:sp>
        <p:nvSpPr>
          <p:cNvPr id="87064" name="Text Box 26"/>
          <p:cNvSpPr txBox="1"/>
          <p:nvPr/>
        </p:nvSpPr>
        <p:spPr>
          <a:xfrm>
            <a:off x="5413375" y="6435725"/>
            <a:ext cx="1390650" cy="366713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1800" b="0" dirty="0">
                <a:latin typeface="Arial" panose="020B0604020202020204" pitchFamily="34" charset="0"/>
                <a:ea typeface="黑体" panose="02010609060101010101" charset="-122"/>
              </a:rPr>
              <a:t>井元伟 教授</a:t>
            </a:r>
          </a:p>
        </p:txBody>
      </p:sp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日期占位符 5"/>
          <p:cNvSpPr txBox="1">
            <a:spLocks noGrp="1"/>
          </p:cNvSpPr>
          <p:nvPr>
            <p:ph type="dt" sz="half" idx="10"/>
          </p:nvPr>
        </p:nvSpPr>
        <p:spPr>
          <a:xfrm>
            <a:off x="2941638" y="5157788"/>
            <a:ext cx="3311525" cy="404812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BB962C8B-B14F-4D97-AF65-F5344CB8AC3E}" type="datetime2">
              <a:rPr lang="zh-CN" altLang="en-US" sz="2400" b="0" dirty="0">
                <a:solidFill>
                  <a:schemeClr val="bg1"/>
                </a:solidFill>
              </a:rPr>
              <a:t>2026年7月17日</a:t>
            </a:fld>
            <a:endParaRPr lang="zh-CN" altLang="en-US" sz="2400" b="0" dirty="0">
              <a:solidFill>
                <a:schemeClr val="bg1"/>
              </a:solidFill>
            </a:endParaRPr>
          </a:p>
        </p:txBody>
      </p:sp>
      <p:pic>
        <p:nvPicPr>
          <p:cNvPr id="88067" name="Picture 2" descr="底图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88068" name="Object 4"/>
          <p:cNvGraphicFramePr/>
          <p:nvPr/>
        </p:nvGraphicFramePr>
        <p:xfrm>
          <a:off x="612775" y="1328738"/>
          <a:ext cx="1712913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570865" imgH="165100" progId="Equation.DSMT4">
                  <p:embed/>
                </p:oleObj>
              </mc:Choice>
              <mc:Fallback>
                <p:oleObj r:id="rId4" imgW="570865" imgH="165100" progId="Equation.DSMT4">
                  <p:embed/>
                  <p:pic>
                    <p:nvPicPr>
                      <p:cNvPr id="0" name="图片 3162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12775" y="1328738"/>
                        <a:ext cx="1712913" cy="4937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69" name="Object 5"/>
          <p:cNvGraphicFramePr/>
          <p:nvPr/>
        </p:nvGraphicFramePr>
        <p:xfrm>
          <a:off x="5219700" y="2840038"/>
          <a:ext cx="3289300" cy="608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091565" imgH="203200" progId="Equation.DSMT4">
                  <p:embed/>
                </p:oleObj>
              </mc:Choice>
              <mc:Fallback>
                <p:oleObj r:id="rId6" imgW="1091565" imgH="203200" progId="Equation.DSMT4">
                  <p:embed/>
                  <p:pic>
                    <p:nvPicPr>
                      <p:cNvPr id="0" name="图片 3156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219700" y="2840038"/>
                        <a:ext cx="3289300" cy="6080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70" name="Object 6"/>
          <p:cNvGraphicFramePr/>
          <p:nvPr/>
        </p:nvGraphicFramePr>
        <p:xfrm>
          <a:off x="5219700" y="1255713"/>
          <a:ext cx="1706563" cy="573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571500" imgH="190500" progId="Equation.DSMT4">
                  <p:embed/>
                </p:oleObj>
              </mc:Choice>
              <mc:Fallback>
                <p:oleObj r:id="rId8" imgW="571500" imgH="190500" progId="Equation.DSMT4">
                  <p:embed/>
                  <p:pic>
                    <p:nvPicPr>
                      <p:cNvPr id="0" name="图片 3158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219700" y="1255713"/>
                        <a:ext cx="1706563" cy="5730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071" name="Rectangle 7"/>
          <p:cNvSpPr/>
          <p:nvPr/>
        </p:nvSpPr>
        <p:spPr>
          <a:xfrm>
            <a:off x="3448050" y="1206500"/>
            <a:ext cx="1200150" cy="396875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lstStyle/>
          <a:p>
            <a:pPr eaLnBrk="1" hangingPunct="1"/>
            <a:r>
              <a:rPr lang="zh-CN" altLang="en-US" sz="2000" b="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charset="-122"/>
              </a:rPr>
              <a:t>线性变换</a:t>
            </a:r>
          </a:p>
        </p:txBody>
      </p:sp>
      <p:graphicFrame>
        <p:nvGraphicFramePr>
          <p:cNvPr id="88072" name="Object 8"/>
          <p:cNvGraphicFramePr/>
          <p:nvPr/>
        </p:nvGraphicFramePr>
        <p:xfrm>
          <a:off x="1122363" y="2090738"/>
          <a:ext cx="236855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798830" imgH="177800" progId="Equation.DSMT4">
                  <p:embed/>
                </p:oleObj>
              </mc:Choice>
              <mc:Fallback>
                <p:oleObj r:id="rId10" imgW="798830" imgH="177800" progId="Equation.DSMT4">
                  <p:embed/>
                  <p:pic>
                    <p:nvPicPr>
                      <p:cNvPr id="0" name="图片 3163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122363" y="2090738"/>
                        <a:ext cx="2368550" cy="533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73" name="Object 9"/>
          <p:cNvGraphicFramePr/>
          <p:nvPr/>
        </p:nvGraphicFramePr>
        <p:xfrm>
          <a:off x="638175" y="3587750"/>
          <a:ext cx="7866063" cy="236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3086100" imgH="787400" progId="Equation.DSMT4">
                  <p:embed/>
                </p:oleObj>
              </mc:Choice>
              <mc:Fallback>
                <p:oleObj r:id="rId12" imgW="3086100" imgH="787400" progId="Equation.DSMT4">
                  <p:embed/>
                  <p:pic>
                    <p:nvPicPr>
                      <p:cNvPr id="0" name="图片 3157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638175" y="3587750"/>
                        <a:ext cx="7866063" cy="2362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074" name="Rectangle 10"/>
          <p:cNvSpPr/>
          <p:nvPr/>
        </p:nvSpPr>
        <p:spPr>
          <a:xfrm>
            <a:off x="3455988" y="739775"/>
            <a:ext cx="1403350" cy="4572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hlink"/>
              </a:buClr>
              <a:buSzPct val="75000"/>
              <a:buFont typeface="Monotype Sorts" charset="2"/>
            </a:pPr>
            <a:r>
              <a:rPr lang="zh-CN" altLang="en-US" sz="2400" b="0" dirty="0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charset="-122"/>
              </a:rPr>
              <a:t>主要思想</a:t>
            </a:r>
            <a:endParaRPr lang="zh-CN" altLang="en-US" sz="2400" b="0" dirty="0">
              <a:latin typeface="Arial" panose="020B0604020202020204" pitchFamily="34" charset="0"/>
              <a:ea typeface="黑体" panose="02010609060101010101" charset="-122"/>
            </a:endParaRPr>
          </a:p>
        </p:txBody>
      </p:sp>
      <p:sp>
        <p:nvSpPr>
          <p:cNvPr id="88075" name="Text Box 11"/>
          <p:cNvSpPr txBox="1"/>
          <p:nvPr/>
        </p:nvSpPr>
        <p:spPr>
          <a:xfrm>
            <a:off x="5651500" y="188913"/>
            <a:ext cx="3313113" cy="366712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r>
              <a:rPr lang="zh-CN" altLang="en-US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第 </a:t>
            </a:r>
            <a:r>
              <a:rPr lang="en-US" altLang="zh-CN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6 </a:t>
            </a:r>
            <a:r>
              <a:rPr lang="zh-CN" altLang="en-US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章  状态反馈和状态观测器</a:t>
            </a:r>
          </a:p>
        </p:txBody>
      </p:sp>
      <p:sp>
        <p:nvSpPr>
          <p:cNvPr id="88076" name="Text Box 12"/>
          <p:cNvSpPr txBox="1"/>
          <p:nvPr/>
        </p:nvSpPr>
        <p:spPr>
          <a:xfrm>
            <a:off x="252413" y="6435725"/>
            <a:ext cx="1439862" cy="366713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r>
              <a:rPr lang="en-US" altLang="zh-CN" sz="1800" b="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charset="-122"/>
              </a:rPr>
              <a:t>2. </a:t>
            </a:r>
            <a:r>
              <a:rPr lang="zh-CN" altLang="en-US" sz="1800" b="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charset="-122"/>
              </a:rPr>
              <a:t>极点配置</a:t>
            </a:r>
          </a:p>
        </p:txBody>
      </p:sp>
      <p:graphicFrame>
        <p:nvGraphicFramePr>
          <p:cNvPr id="88077" name="Object 13"/>
          <p:cNvGraphicFramePr>
            <a:graphicFrameLocks noGrp="1"/>
          </p:cNvGraphicFramePr>
          <p:nvPr>
            <p:ph sz="half" idx="1"/>
          </p:nvPr>
        </p:nvGraphicFramePr>
        <p:xfrm>
          <a:off x="2967038" y="1209675"/>
          <a:ext cx="3810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127000" imgH="139700" progId="Equation.DSMT4">
                  <p:embed/>
                </p:oleObj>
              </mc:Choice>
              <mc:Fallback>
                <p:oleObj r:id="rId14" imgW="127000" imgH="139700" progId="Equation.DSMT4">
                  <p:embed/>
                  <p:pic>
                    <p:nvPicPr>
                      <p:cNvPr id="0" name="图片 3160"/>
                      <p:cNvPicPr/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>
                      <a:xfrm>
                        <a:off x="2967038" y="1209675"/>
                        <a:ext cx="381000" cy="41910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78" name="Object 14"/>
          <p:cNvGraphicFramePr>
            <a:graphicFrameLocks noGrp="1"/>
          </p:cNvGraphicFramePr>
          <p:nvPr>
            <p:ph sz="quarter" idx="2"/>
          </p:nvPr>
        </p:nvGraphicFramePr>
        <p:xfrm>
          <a:off x="5702300" y="2014538"/>
          <a:ext cx="2397125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6" imgW="799465" imgH="203200" progId="Equation.DSMT4">
                  <p:embed/>
                </p:oleObj>
              </mc:Choice>
              <mc:Fallback>
                <p:oleObj r:id="rId16" imgW="799465" imgH="203200" progId="Equation.DSMT4">
                  <p:embed/>
                  <p:pic>
                    <p:nvPicPr>
                      <p:cNvPr id="0" name="图片 3159"/>
                      <p:cNvPicPr/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>
                      <a:xfrm>
                        <a:off x="5702300" y="2014538"/>
                        <a:ext cx="2397125" cy="60960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79" name="Object 15"/>
          <p:cNvGraphicFramePr>
            <a:graphicFrameLocks noGrp="1"/>
          </p:cNvGraphicFramePr>
          <p:nvPr>
            <p:ph sz="quarter" idx="3"/>
          </p:nvPr>
        </p:nvGraphicFramePr>
        <p:xfrm>
          <a:off x="611188" y="2913063"/>
          <a:ext cx="3281362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8" imgW="1077595" imgH="177800" progId="Equation.DSMT4">
                  <p:embed/>
                </p:oleObj>
              </mc:Choice>
              <mc:Fallback>
                <p:oleObj r:id="rId18" imgW="1077595" imgH="177800" progId="Equation.DSMT4">
                  <p:embed/>
                  <p:pic>
                    <p:nvPicPr>
                      <p:cNvPr id="0" name="图片 3161"/>
                      <p:cNvPicPr/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>
                      <a:xfrm>
                        <a:off x="611188" y="2913063"/>
                        <a:ext cx="3281362" cy="53975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080" name="Line 16"/>
          <p:cNvSpPr/>
          <p:nvPr/>
        </p:nvSpPr>
        <p:spPr>
          <a:xfrm>
            <a:off x="1042988" y="1905000"/>
            <a:ext cx="0" cy="863600"/>
          </a:xfrm>
          <a:prstGeom prst="line">
            <a:avLst/>
          </a:prstGeom>
          <a:ln w="76200" cap="flat" cmpd="tri">
            <a:solidFill>
              <a:srgbClr val="0000FF"/>
            </a:solidFill>
            <a:prstDash val="solid"/>
            <a:headEnd type="none" w="sm" len="sm"/>
            <a:tailEnd type="triangle" w="sm" len="sm"/>
          </a:ln>
        </p:spPr>
      </p:sp>
      <p:sp>
        <p:nvSpPr>
          <p:cNvPr id="88081" name="Line 17"/>
          <p:cNvSpPr/>
          <p:nvPr/>
        </p:nvSpPr>
        <p:spPr>
          <a:xfrm>
            <a:off x="5651500" y="1905000"/>
            <a:ext cx="0" cy="863600"/>
          </a:xfrm>
          <a:prstGeom prst="line">
            <a:avLst/>
          </a:prstGeom>
          <a:ln w="76200" cap="flat" cmpd="tri">
            <a:solidFill>
              <a:srgbClr val="0000FF"/>
            </a:solidFill>
            <a:prstDash val="solid"/>
            <a:headEnd type="none" w="sm" len="sm"/>
            <a:tailEnd type="triangle" w="sm" len="sm"/>
          </a:ln>
        </p:spPr>
      </p:sp>
      <p:sp>
        <p:nvSpPr>
          <p:cNvPr id="88082" name="Line 18"/>
          <p:cNvSpPr/>
          <p:nvPr/>
        </p:nvSpPr>
        <p:spPr>
          <a:xfrm>
            <a:off x="2554288" y="1616075"/>
            <a:ext cx="2592387" cy="0"/>
          </a:xfrm>
          <a:prstGeom prst="line">
            <a:avLst/>
          </a:prstGeom>
          <a:ln w="76200" cap="flat" cmpd="tri">
            <a:solidFill>
              <a:srgbClr val="0000FF"/>
            </a:solidFill>
            <a:prstDash val="solid"/>
            <a:headEnd type="none" w="sm" len="sm"/>
            <a:tailEnd type="triangle" w="sm" len="sm"/>
          </a:ln>
        </p:spPr>
      </p:sp>
      <p:sp>
        <p:nvSpPr>
          <p:cNvPr id="88083" name="Line 19"/>
          <p:cNvSpPr/>
          <p:nvPr/>
        </p:nvSpPr>
        <p:spPr>
          <a:xfrm flipH="1">
            <a:off x="3922713" y="3200400"/>
            <a:ext cx="1296987" cy="0"/>
          </a:xfrm>
          <a:prstGeom prst="line">
            <a:avLst/>
          </a:prstGeom>
          <a:ln w="76200" cap="flat" cmpd="tri">
            <a:solidFill>
              <a:srgbClr val="0000FF"/>
            </a:solidFill>
            <a:prstDash val="solid"/>
            <a:headEnd type="none" w="sm" len="sm"/>
            <a:tailEnd type="triangle" w="sm" len="sm"/>
          </a:ln>
        </p:spPr>
      </p:sp>
      <p:graphicFrame>
        <p:nvGraphicFramePr>
          <p:cNvPr id="88084" name="Object 20"/>
          <p:cNvGraphicFramePr/>
          <p:nvPr/>
        </p:nvGraphicFramePr>
        <p:xfrm>
          <a:off x="4476750" y="2765425"/>
          <a:ext cx="527050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0" imgW="190500" imgH="152400" progId="Equation.DSMT4">
                  <p:embed/>
                </p:oleObj>
              </mc:Choice>
              <mc:Fallback>
                <p:oleObj r:id="rId20" imgW="190500" imgH="152400" progId="Equation.DSMT4">
                  <p:embed/>
                  <p:pic>
                    <p:nvPicPr>
                      <p:cNvPr id="0" name="图片 3164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4476750" y="2765425"/>
                        <a:ext cx="527050" cy="447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085" name="AutoShape 21"/>
          <p:cNvSpPr/>
          <p:nvPr/>
        </p:nvSpPr>
        <p:spPr>
          <a:xfrm>
            <a:off x="6877050" y="908050"/>
            <a:ext cx="1582738" cy="466725"/>
          </a:xfrm>
          <a:prstGeom prst="wedgeRoundRectCallout">
            <a:avLst>
              <a:gd name="adj1" fmla="val -46389"/>
              <a:gd name="adj2" fmla="val 76190"/>
              <a:gd name="adj3" fmla="val 16667"/>
            </a:avLst>
          </a:prstGeom>
          <a:solidFill>
            <a:schemeClr val="accent1"/>
          </a:solidFill>
          <a:ln w="12700" cap="flat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/>
          <a:lstStyle/>
          <a:p>
            <a:pPr algn="ctr" eaLnBrk="1" hangingPunct="1"/>
            <a:r>
              <a:rPr lang="zh-CN" altLang="en-US" sz="2000" b="0" dirty="0">
                <a:latin typeface="Arial" panose="020B0604020202020204" pitchFamily="34" charset="0"/>
                <a:ea typeface="黑体" panose="02010609060101010101" charset="-122"/>
              </a:rPr>
              <a:t>能控标准型</a:t>
            </a:r>
          </a:p>
        </p:txBody>
      </p:sp>
      <p:sp>
        <p:nvSpPr>
          <p:cNvPr id="88086" name="AutoShape 22"/>
          <p:cNvSpPr/>
          <p:nvPr/>
        </p:nvSpPr>
        <p:spPr>
          <a:xfrm>
            <a:off x="141288" y="1196975"/>
            <a:ext cx="431800" cy="936625"/>
          </a:xfrm>
          <a:prstGeom prst="wedgeRoundRectCallout">
            <a:avLst>
              <a:gd name="adj1" fmla="val 77648"/>
              <a:gd name="adj2" fmla="val -13727"/>
              <a:gd name="adj3" fmla="val 16667"/>
            </a:avLst>
          </a:prstGeom>
          <a:solidFill>
            <a:schemeClr val="accent1"/>
          </a:solidFill>
          <a:ln w="12700" cap="flat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/>
          <a:lstStyle/>
          <a:p>
            <a:pPr eaLnBrk="1" hangingPunct="1">
              <a:lnSpc>
                <a:spcPct val="85000"/>
              </a:lnSpc>
            </a:pPr>
            <a:r>
              <a:rPr lang="zh-CN" altLang="en-US" sz="2000" b="0" dirty="0">
                <a:latin typeface="Arial" panose="020B0604020202020204" pitchFamily="34" charset="0"/>
                <a:ea typeface="黑体" panose="02010609060101010101" charset="-122"/>
              </a:rPr>
              <a:t>原系统</a:t>
            </a:r>
          </a:p>
        </p:txBody>
      </p:sp>
      <p:sp>
        <p:nvSpPr>
          <p:cNvPr id="88087" name="AutoShape 23"/>
          <p:cNvSpPr/>
          <p:nvPr/>
        </p:nvSpPr>
        <p:spPr>
          <a:xfrm>
            <a:off x="107950" y="3429000"/>
            <a:ext cx="431800" cy="1728788"/>
          </a:xfrm>
          <a:prstGeom prst="wedgeRoundRectCallout">
            <a:avLst>
              <a:gd name="adj1" fmla="val 93014"/>
              <a:gd name="adj2" fmla="val -20708"/>
              <a:gd name="adj3" fmla="val 16667"/>
            </a:avLst>
          </a:prstGeom>
          <a:solidFill>
            <a:schemeClr val="accent1"/>
          </a:solidFill>
          <a:ln w="12700" cap="flat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/>
          <a:lstStyle/>
          <a:p>
            <a:pPr algn="ctr" eaLnBrk="1" hangingPunct="1">
              <a:lnSpc>
                <a:spcPct val="85000"/>
              </a:lnSpc>
            </a:pPr>
            <a:r>
              <a:rPr lang="zh-CN" altLang="en-US" sz="2000" b="0" dirty="0">
                <a:latin typeface="Arial" panose="020B0604020202020204" pitchFamily="34" charset="0"/>
                <a:ea typeface="黑体" panose="02010609060101010101" charset="-122"/>
              </a:rPr>
              <a:t>闭环特征方程</a:t>
            </a:r>
          </a:p>
        </p:txBody>
      </p:sp>
      <p:sp>
        <p:nvSpPr>
          <p:cNvPr id="88088" name="AutoShape 24"/>
          <p:cNvSpPr/>
          <p:nvPr/>
        </p:nvSpPr>
        <p:spPr>
          <a:xfrm>
            <a:off x="565150" y="4221163"/>
            <a:ext cx="431800" cy="1689100"/>
          </a:xfrm>
          <a:prstGeom prst="wedgeRoundRectCallout">
            <a:avLst>
              <a:gd name="adj1" fmla="val 81250"/>
              <a:gd name="adj2" fmla="val -27069"/>
              <a:gd name="adj3" fmla="val 16667"/>
            </a:avLst>
          </a:prstGeom>
          <a:solidFill>
            <a:schemeClr val="accent1"/>
          </a:solidFill>
          <a:ln w="12700" cap="flat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/>
          <a:lstStyle/>
          <a:p>
            <a:pPr algn="ctr" eaLnBrk="1" hangingPunct="1">
              <a:lnSpc>
                <a:spcPct val="85000"/>
              </a:lnSpc>
            </a:pPr>
            <a:r>
              <a:rPr lang="zh-CN" altLang="en-US" sz="2000" b="0" dirty="0">
                <a:latin typeface="Arial" panose="020B0604020202020204" pitchFamily="34" charset="0"/>
                <a:ea typeface="黑体" panose="02010609060101010101" charset="-122"/>
              </a:rPr>
              <a:t>期望特征方程</a:t>
            </a:r>
          </a:p>
        </p:txBody>
      </p:sp>
      <p:sp>
        <p:nvSpPr>
          <p:cNvPr id="88089" name="Text Box 26"/>
          <p:cNvSpPr txBox="1"/>
          <p:nvPr/>
        </p:nvSpPr>
        <p:spPr>
          <a:xfrm>
            <a:off x="5413375" y="6435725"/>
            <a:ext cx="1390650" cy="366713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1800" b="0" dirty="0">
                <a:latin typeface="Arial" panose="020B0604020202020204" pitchFamily="34" charset="0"/>
                <a:ea typeface="黑体" panose="02010609060101010101" charset="-122"/>
              </a:rPr>
              <a:t>井元伟 教授</a:t>
            </a:r>
          </a:p>
        </p:txBody>
      </p:sp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日期占位符 5"/>
          <p:cNvSpPr txBox="1">
            <a:spLocks noGrp="1"/>
          </p:cNvSpPr>
          <p:nvPr>
            <p:ph type="dt" sz="half" idx="10"/>
          </p:nvPr>
        </p:nvSpPr>
        <p:spPr>
          <a:xfrm>
            <a:off x="2941638" y="5157788"/>
            <a:ext cx="3311525" cy="404812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BB962C8B-B14F-4D97-AF65-F5344CB8AC3E}" type="datetime2">
              <a:rPr lang="zh-CN" altLang="en-US" sz="2400" b="0" dirty="0">
                <a:solidFill>
                  <a:schemeClr val="bg1"/>
                </a:solidFill>
              </a:rPr>
              <a:t>2026年7月17日</a:t>
            </a:fld>
            <a:endParaRPr lang="zh-CN" altLang="en-US" sz="2400" b="0" dirty="0">
              <a:solidFill>
                <a:schemeClr val="bg1"/>
              </a:solidFill>
            </a:endParaRPr>
          </a:p>
        </p:txBody>
      </p:sp>
      <p:pic>
        <p:nvPicPr>
          <p:cNvPr id="89091" name="Picture 2" descr="底图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89092" name="Object 4"/>
          <p:cNvGraphicFramePr/>
          <p:nvPr/>
        </p:nvGraphicFramePr>
        <p:xfrm>
          <a:off x="612775" y="1328738"/>
          <a:ext cx="1712913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570865" imgH="165100" progId="Equation.DSMT4">
                  <p:embed/>
                </p:oleObj>
              </mc:Choice>
              <mc:Fallback>
                <p:oleObj r:id="rId4" imgW="570865" imgH="165100" progId="Equation.DSMT4">
                  <p:embed/>
                  <p:pic>
                    <p:nvPicPr>
                      <p:cNvPr id="0" name="图片 3168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12775" y="1328738"/>
                        <a:ext cx="1712913" cy="4937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093" name="Object 5"/>
          <p:cNvGraphicFramePr/>
          <p:nvPr/>
        </p:nvGraphicFramePr>
        <p:xfrm>
          <a:off x="5219700" y="2840038"/>
          <a:ext cx="3289300" cy="608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091565" imgH="203200" progId="Equation.DSMT4">
                  <p:embed/>
                </p:oleObj>
              </mc:Choice>
              <mc:Fallback>
                <p:oleObj r:id="rId6" imgW="1091565" imgH="203200" progId="Equation.DSMT4">
                  <p:embed/>
                  <p:pic>
                    <p:nvPicPr>
                      <p:cNvPr id="0" name="图片 3167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219700" y="2840038"/>
                        <a:ext cx="3289300" cy="6080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094" name="Object 6"/>
          <p:cNvGraphicFramePr/>
          <p:nvPr/>
        </p:nvGraphicFramePr>
        <p:xfrm>
          <a:off x="5219700" y="1255713"/>
          <a:ext cx="1706563" cy="573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571500" imgH="190500" progId="Equation.DSMT4">
                  <p:embed/>
                </p:oleObj>
              </mc:Choice>
              <mc:Fallback>
                <p:oleObj r:id="rId8" imgW="571500" imgH="190500" progId="Equation.DSMT4">
                  <p:embed/>
                  <p:pic>
                    <p:nvPicPr>
                      <p:cNvPr id="0" name="图片 3170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219700" y="1255713"/>
                        <a:ext cx="1706563" cy="5730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095" name="Rectangle 7"/>
          <p:cNvSpPr/>
          <p:nvPr/>
        </p:nvSpPr>
        <p:spPr>
          <a:xfrm>
            <a:off x="3448050" y="1206500"/>
            <a:ext cx="1200150" cy="396875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lstStyle/>
          <a:p>
            <a:pPr eaLnBrk="1" hangingPunct="1"/>
            <a:r>
              <a:rPr lang="zh-CN" altLang="en-US" sz="2000" b="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charset="-122"/>
              </a:rPr>
              <a:t>线性变换</a:t>
            </a:r>
          </a:p>
        </p:txBody>
      </p:sp>
      <p:graphicFrame>
        <p:nvGraphicFramePr>
          <p:cNvPr id="89096" name="Object 8"/>
          <p:cNvGraphicFramePr/>
          <p:nvPr/>
        </p:nvGraphicFramePr>
        <p:xfrm>
          <a:off x="1122363" y="2090738"/>
          <a:ext cx="236855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798830" imgH="177800" progId="Equation.DSMT4">
                  <p:embed/>
                </p:oleObj>
              </mc:Choice>
              <mc:Fallback>
                <p:oleObj r:id="rId10" imgW="798830" imgH="177800" progId="Equation.DSMT4">
                  <p:embed/>
                  <p:pic>
                    <p:nvPicPr>
                      <p:cNvPr id="0" name="图片 3165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122363" y="2090738"/>
                        <a:ext cx="2368550" cy="533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097" name="Object 9"/>
          <p:cNvGraphicFramePr/>
          <p:nvPr/>
        </p:nvGraphicFramePr>
        <p:xfrm>
          <a:off x="638175" y="3587750"/>
          <a:ext cx="7866063" cy="236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3086100" imgH="787400" progId="Equation.DSMT4">
                  <p:embed/>
                </p:oleObj>
              </mc:Choice>
              <mc:Fallback>
                <p:oleObj r:id="rId12" imgW="3086100" imgH="787400" progId="Equation.DSMT4">
                  <p:embed/>
                  <p:pic>
                    <p:nvPicPr>
                      <p:cNvPr id="0" name="图片 3166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638175" y="3587750"/>
                        <a:ext cx="7866063" cy="2362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098" name="Rectangle 10"/>
          <p:cNvSpPr/>
          <p:nvPr/>
        </p:nvSpPr>
        <p:spPr>
          <a:xfrm>
            <a:off x="3455988" y="739775"/>
            <a:ext cx="1403350" cy="4572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hlink"/>
              </a:buClr>
              <a:buSzPct val="75000"/>
              <a:buFont typeface="Monotype Sorts" charset="2"/>
            </a:pPr>
            <a:r>
              <a:rPr lang="zh-CN" altLang="en-US" sz="2400" b="0" dirty="0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charset="-122"/>
              </a:rPr>
              <a:t>主要思想</a:t>
            </a:r>
            <a:endParaRPr lang="zh-CN" altLang="en-US" sz="2400" b="0" dirty="0">
              <a:latin typeface="Arial" panose="020B0604020202020204" pitchFamily="34" charset="0"/>
              <a:ea typeface="黑体" panose="02010609060101010101" charset="-122"/>
            </a:endParaRPr>
          </a:p>
        </p:txBody>
      </p:sp>
      <p:sp>
        <p:nvSpPr>
          <p:cNvPr id="89099" name="Text Box 11"/>
          <p:cNvSpPr txBox="1"/>
          <p:nvPr/>
        </p:nvSpPr>
        <p:spPr>
          <a:xfrm>
            <a:off x="5651500" y="188913"/>
            <a:ext cx="3313113" cy="366712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r>
              <a:rPr lang="zh-CN" altLang="en-US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第 </a:t>
            </a:r>
            <a:r>
              <a:rPr lang="en-US" altLang="zh-CN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6 </a:t>
            </a:r>
            <a:r>
              <a:rPr lang="zh-CN" altLang="en-US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章  状态反馈和状态观测器</a:t>
            </a:r>
          </a:p>
        </p:txBody>
      </p:sp>
      <p:sp>
        <p:nvSpPr>
          <p:cNvPr id="89100" name="Text Box 12"/>
          <p:cNvSpPr txBox="1"/>
          <p:nvPr/>
        </p:nvSpPr>
        <p:spPr>
          <a:xfrm>
            <a:off x="252413" y="6435725"/>
            <a:ext cx="1439862" cy="366713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r>
              <a:rPr lang="en-US" altLang="zh-CN" sz="1800" b="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charset="-122"/>
              </a:rPr>
              <a:t>2. </a:t>
            </a:r>
            <a:r>
              <a:rPr lang="zh-CN" altLang="en-US" sz="1800" b="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charset="-122"/>
              </a:rPr>
              <a:t>极点配置</a:t>
            </a:r>
          </a:p>
        </p:txBody>
      </p:sp>
      <p:graphicFrame>
        <p:nvGraphicFramePr>
          <p:cNvPr id="89101" name="Object 13"/>
          <p:cNvGraphicFramePr>
            <a:graphicFrameLocks noGrp="1"/>
          </p:cNvGraphicFramePr>
          <p:nvPr>
            <p:ph sz="half" idx="1"/>
          </p:nvPr>
        </p:nvGraphicFramePr>
        <p:xfrm>
          <a:off x="2967038" y="1209675"/>
          <a:ext cx="3810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127000" imgH="139700" progId="Equation.DSMT4">
                  <p:embed/>
                </p:oleObj>
              </mc:Choice>
              <mc:Fallback>
                <p:oleObj r:id="rId14" imgW="127000" imgH="139700" progId="Equation.DSMT4">
                  <p:embed/>
                  <p:pic>
                    <p:nvPicPr>
                      <p:cNvPr id="0" name="图片 3169"/>
                      <p:cNvPicPr/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>
                      <a:xfrm>
                        <a:off x="2967038" y="1209675"/>
                        <a:ext cx="381000" cy="41910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102" name="Object 14"/>
          <p:cNvGraphicFramePr>
            <a:graphicFrameLocks noGrp="1"/>
          </p:cNvGraphicFramePr>
          <p:nvPr>
            <p:ph sz="quarter" idx="2"/>
          </p:nvPr>
        </p:nvGraphicFramePr>
        <p:xfrm>
          <a:off x="5702300" y="2014538"/>
          <a:ext cx="2397125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6" imgW="799465" imgH="203200" progId="Equation.DSMT4">
                  <p:embed/>
                </p:oleObj>
              </mc:Choice>
              <mc:Fallback>
                <p:oleObj r:id="rId16" imgW="799465" imgH="203200" progId="Equation.DSMT4">
                  <p:embed/>
                  <p:pic>
                    <p:nvPicPr>
                      <p:cNvPr id="0" name="图片 3172"/>
                      <p:cNvPicPr/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>
                      <a:xfrm>
                        <a:off x="5702300" y="2014538"/>
                        <a:ext cx="2397125" cy="60960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103" name="Object 15"/>
          <p:cNvGraphicFramePr>
            <a:graphicFrameLocks noGrp="1"/>
          </p:cNvGraphicFramePr>
          <p:nvPr>
            <p:ph sz="quarter" idx="3"/>
          </p:nvPr>
        </p:nvGraphicFramePr>
        <p:xfrm>
          <a:off x="611188" y="2913063"/>
          <a:ext cx="3281362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8" imgW="1077595" imgH="177800" progId="Equation.DSMT4">
                  <p:embed/>
                </p:oleObj>
              </mc:Choice>
              <mc:Fallback>
                <p:oleObj r:id="rId18" imgW="1077595" imgH="177800" progId="Equation.DSMT4">
                  <p:embed/>
                  <p:pic>
                    <p:nvPicPr>
                      <p:cNvPr id="0" name="图片 3174"/>
                      <p:cNvPicPr/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>
                      <a:xfrm>
                        <a:off x="611188" y="2913063"/>
                        <a:ext cx="3281362" cy="53975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104" name="Line 16"/>
          <p:cNvSpPr/>
          <p:nvPr/>
        </p:nvSpPr>
        <p:spPr>
          <a:xfrm>
            <a:off x="1042988" y="1905000"/>
            <a:ext cx="0" cy="863600"/>
          </a:xfrm>
          <a:prstGeom prst="line">
            <a:avLst/>
          </a:prstGeom>
          <a:ln w="76200" cap="flat" cmpd="tri">
            <a:solidFill>
              <a:srgbClr val="0000FF"/>
            </a:solidFill>
            <a:prstDash val="solid"/>
            <a:headEnd type="none" w="sm" len="sm"/>
            <a:tailEnd type="triangle" w="sm" len="sm"/>
          </a:ln>
        </p:spPr>
      </p:sp>
      <p:sp>
        <p:nvSpPr>
          <p:cNvPr id="89105" name="Line 17"/>
          <p:cNvSpPr/>
          <p:nvPr/>
        </p:nvSpPr>
        <p:spPr>
          <a:xfrm>
            <a:off x="5651500" y="1905000"/>
            <a:ext cx="0" cy="863600"/>
          </a:xfrm>
          <a:prstGeom prst="line">
            <a:avLst/>
          </a:prstGeom>
          <a:ln w="76200" cap="flat" cmpd="tri">
            <a:solidFill>
              <a:srgbClr val="0000FF"/>
            </a:solidFill>
            <a:prstDash val="solid"/>
            <a:headEnd type="none" w="sm" len="sm"/>
            <a:tailEnd type="triangle" w="sm" len="sm"/>
          </a:ln>
        </p:spPr>
      </p:sp>
      <p:sp>
        <p:nvSpPr>
          <p:cNvPr id="89106" name="Line 18"/>
          <p:cNvSpPr/>
          <p:nvPr/>
        </p:nvSpPr>
        <p:spPr>
          <a:xfrm>
            <a:off x="2554288" y="1616075"/>
            <a:ext cx="2592387" cy="0"/>
          </a:xfrm>
          <a:prstGeom prst="line">
            <a:avLst/>
          </a:prstGeom>
          <a:ln w="76200" cap="flat" cmpd="tri">
            <a:solidFill>
              <a:srgbClr val="0000FF"/>
            </a:solidFill>
            <a:prstDash val="solid"/>
            <a:headEnd type="none" w="sm" len="sm"/>
            <a:tailEnd type="triangle" w="sm" len="sm"/>
          </a:ln>
        </p:spPr>
      </p:sp>
      <p:sp>
        <p:nvSpPr>
          <p:cNvPr id="89107" name="Line 19"/>
          <p:cNvSpPr/>
          <p:nvPr/>
        </p:nvSpPr>
        <p:spPr>
          <a:xfrm flipH="1">
            <a:off x="3922713" y="3200400"/>
            <a:ext cx="1296987" cy="0"/>
          </a:xfrm>
          <a:prstGeom prst="line">
            <a:avLst/>
          </a:prstGeom>
          <a:ln w="76200" cap="flat" cmpd="tri">
            <a:solidFill>
              <a:srgbClr val="0000FF"/>
            </a:solidFill>
            <a:prstDash val="solid"/>
            <a:headEnd type="none" w="sm" len="sm"/>
            <a:tailEnd type="triangle" w="sm" len="sm"/>
          </a:ln>
        </p:spPr>
      </p:sp>
      <p:graphicFrame>
        <p:nvGraphicFramePr>
          <p:cNvPr id="89108" name="Object 20"/>
          <p:cNvGraphicFramePr/>
          <p:nvPr/>
        </p:nvGraphicFramePr>
        <p:xfrm>
          <a:off x="4476750" y="2765425"/>
          <a:ext cx="527050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0" imgW="190500" imgH="152400" progId="Equation.DSMT4">
                  <p:embed/>
                </p:oleObj>
              </mc:Choice>
              <mc:Fallback>
                <p:oleObj r:id="rId20" imgW="190500" imgH="152400" progId="Equation.DSMT4">
                  <p:embed/>
                  <p:pic>
                    <p:nvPicPr>
                      <p:cNvPr id="0" name="图片 3171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4476750" y="2765425"/>
                        <a:ext cx="527050" cy="447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109" name="AutoShape 21"/>
          <p:cNvSpPr/>
          <p:nvPr/>
        </p:nvSpPr>
        <p:spPr>
          <a:xfrm>
            <a:off x="6877050" y="908050"/>
            <a:ext cx="1582738" cy="466725"/>
          </a:xfrm>
          <a:prstGeom prst="wedgeRoundRectCallout">
            <a:avLst>
              <a:gd name="adj1" fmla="val -46389"/>
              <a:gd name="adj2" fmla="val 76190"/>
              <a:gd name="adj3" fmla="val 16667"/>
            </a:avLst>
          </a:prstGeom>
          <a:solidFill>
            <a:schemeClr val="accent1"/>
          </a:solidFill>
          <a:ln w="12700" cap="flat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/>
          <a:lstStyle/>
          <a:p>
            <a:pPr algn="ctr" eaLnBrk="1" hangingPunct="1"/>
            <a:r>
              <a:rPr lang="zh-CN" altLang="en-US" sz="2000" b="0" dirty="0">
                <a:latin typeface="Arial" panose="020B0604020202020204" pitchFamily="34" charset="0"/>
                <a:ea typeface="黑体" panose="02010609060101010101" charset="-122"/>
              </a:rPr>
              <a:t>能控标准型</a:t>
            </a:r>
          </a:p>
        </p:txBody>
      </p:sp>
      <p:sp>
        <p:nvSpPr>
          <p:cNvPr id="89110" name="AutoShape 22"/>
          <p:cNvSpPr/>
          <p:nvPr/>
        </p:nvSpPr>
        <p:spPr>
          <a:xfrm>
            <a:off x="141288" y="1196975"/>
            <a:ext cx="431800" cy="936625"/>
          </a:xfrm>
          <a:prstGeom prst="wedgeRoundRectCallout">
            <a:avLst>
              <a:gd name="adj1" fmla="val 77648"/>
              <a:gd name="adj2" fmla="val -13727"/>
              <a:gd name="adj3" fmla="val 16667"/>
            </a:avLst>
          </a:prstGeom>
          <a:solidFill>
            <a:schemeClr val="accent1"/>
          </a:solidFill>
          <a:ln w="12700" cap="flat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/>
          <a:lstStyle/>
          <a:p>
            <a:pPr eaLnBrk="1" hangingPunct="1">
              <a:lnSpc>
                <a:spcPct val="85000"/>
              </a:lnSpc>
            </a:pPr>
            <a:r>
              <a:rPr lang="zh-CN" altLang="en-US" sz="2000" b="0" dirty="0">
                <a:latin typeface="Arial" panose="020B0604020202020204" pitchFamily="34" charset="0"/>
                <a:ea typeface="黑体" panose="02010609060101010101" charset="-122"/>
              </a:rPr>
              <a:t>原系统</a:t>
            </a:r>
          </a:p>
        </p:txBody>
      </p:sp>
      <p:sp>
        <p:nvSpPr>
          <p:cNvPr id="89111" name="AutoShape 23"/>
          <p:cNvSpPr/>
          <p:nvPr/>
        </p:nvSpPr>
        <p:spPr>
          <a:xfrm>
            <a:off x="107950" y="3429000"/>
            <a:ext cx="431800" cy="1728788"/>
          </a:xfrm>
          <a:prstGeom prst="wedgeRoundRectCallout">
            <a:avLst>
              <a:gd name="adj1" fmla="val 93014"/>
              <a:gd name="adj2" fmla="val -20708"/>
              <a:gd name="adj3" fmla="val 16667"/>
            </a:avLst>
          </a:prstGeom>
          <a:solidFill>
            <a:schemeClr val="accent1"/>
          </a:solidFill>
          <a:ln w="12700" cap="flat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/>
          <a:lstStyle/>
          <a:p>
            <a:pPr algn="ctr" eaLnBrk="1" hangingPunct="1">
              <a:lnSpc>
                <a:spcPct val="85000"/>
              </a:lnSpc>
            </a:pPr>
            <a:r>
              <a:rPr lang="zh-CN" altLang="en-US" sz="2000" b="0" dirty="0">
                <a:latin typeface="Arial" panose="020B0604020202020204" pitchFamily="34" charset="0"/>
                <a:ea typeface="黑体" panose="02010609060101010101" charset="-122"/>
              </a:rPr>
              <a:t>闭环特征方程</a:t>
            </a:r>
          </a:p>
        </p:txBody>
      </p:sp>
      <p:sp>
        <p:nvSpPr>
          <p:cNvPr id="89112" name="AutoShape 24"/>
          <p:cNvSpPr/>
          <p:nvPr/>
        </p:nvSpPr>
        <p:spPr>
          <a:xfrm>
            <a:off x="565150" y="4221163"/>
            <a:ext cx="431800" cy="1689100"/>
          </a:xfrm>
          <a:prstGeom prst="wedgeRoundRectCallout">
            <a:avLst>
              <a:gd name="adj1" fmla="val 81250"/>
              <a:gd name="adj2" fmla="val -27069"/>
              <a:gd name="adj3" fmla="val 16667"/>
            </a:avLst>
          </a:prstGeom>
          <a:solidFill>
            <a:schemeClr val="accent1"/>
          </a:solidFill>
          <a:ln w="12700" cap="flat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/>
          <a:lstStyle/>
          <a:p>
            <a:pPr algn="ctr" eaLnBrk="1" hangingPunct="1">
              <a:lnSpc>
                <a:spcPct val="85000"/>
              </a:lnSpc>
            </a:pPr>
            <a:r>
              <a:rPr lang="zh-CN" altLang="en-US" sz="2000" b="0" dirty="0">
                <a:latin typeface="Arial" panose="020B0604020202020204" pitchFamily="34" charset="0"/>
                <a:ea typeface="黑体" panose="02010609060101010101" charset="-122"/>
              </a:rPr>
              <a:t>期望特征方程</a:t>
            </a:r>
          </a:p>
        </p:txBody>
      </p:sp>
      <p:sp>
        <p:nvSpPr>
          <p:cNvPr id="89113" name="AutoShape 25"/>
          <p:cNvSpPr/>
          <p:nvPr/>
        </p:nvSpPr>
        <p:spPr>
          <a:xfrm>
            <a:off x="1022350" y="5589588"/>
            <a:ext cx="792163" cy="609600"/>
          </a:xfrm>
          <a:prstGeom prst="wedgeRoundRectCallout">
            <a:avLst>
              <a:gd name="adj1" fmla="val 38579"/>
              <a:gd name="adj2" fmla="val -202083"/>
              <a:gd name="adj3" fmla="val 16667"/>
            </a:avLst>
          </a:prstGeom>
          <a:solidFill>
            <a:schemeClr val="accent1"/>
          </a:solidFill>
          <a:ln w="12700" cap="flat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/>
          <a:lstStyle/>
          <a:p>
            <a:pPr algn="ctr" eaLnBrk="1" hangingPunct="1">
              <a:lnSpc>
                <a:spcPct val="80000"/>
              </a:lnSpc>
            </a:pPr>
            <a:r>
              <a:rPr lang="zh-CN" altLang="en-US" sz="2000" b="0" dirty="0">
                <a:latin typeface="Arial" panose="020B0604020202020204" pitchFamily="34" charset="0"/>
                <a:ea typeface="黑体" panose="02010609060101010101" charset="-122"/>
              </a:rPr>
              <a:t>期望极点</a:t>
            </a:r>
          </a:p>
        </p:txBody>
      </p:sp>
      <p:sp>
        <p:nvSpPr>
          <p:cNvPr id="89114" name="Text Box 26"/>
          <p:cNvSpPr txBox="1"/>
          <p:nvPr/>
        </p:nvSpPr>
        <p:spPr>
          <a:xfrm>
            <a:off x="5413375" y="6435725"/>
            <a:ext cx="1390650" cy="366713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1800" b="0" dirty="0">
                <a:latin typeface="Arial" panose="020B0604020202020204" pitchFamily="34" charset="0"/>
                <a:ea typeface="黑体" panose="02010609060101010101" charset="-122"/>
              </a:rPr>
              <a:t>井元伟 教授</a:t>
            </a:r>
          </a:p>
        </p:txBody>
      </p:sp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日期占位符 5"/>
          <p:cNvSpPr txBox="1">
            <a:spLocks noGrp="1"/>
          </p:cNvSpPr>
          <p:nvPr>
            <p:ph type="dt" sz="half" idx="10"/>
          </p:nvPr>
        </p:nvSpPr>
        <p:spPr>
          <a:xfrm>
            <a:off x="2941638" y="5157788"/>
            <a:ext cx="3311525" cy="404812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BB962C8B-B14F-4D97-AF65-F5344CB8AC3E}" type="datetime2">
              <a:rPr lang="zh-CN" altLang="en-US" sz="2400" b="0" dirty="0">
                <a:solidFill>
                  <a:schemeClr val="bg1"/>
                </a:solidFill>
              </a:rPr>
              <a:t>2026年7月17日</a:t>
            </a:fld>
            <a:endParaRPr lang="zh-CN" altLang="en-US" sz="2400" b="0" dirty="0">
              <a:solidFill>
                <a:schemeClr val="bg1"/>
              </a:solidFill>
            </a:endParaRPr>
          </a:p>
        </p:txBody>
      </p:sp>
      <p:pic>
        <p:nvPicPr>
          <p:cNvPr id="90115" name="Picture 2" descr="底图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90116" name="Object 3"/>
          <p:cNvGraphicFramePr/>
          <p:nvPr/>
        </p:nvGraphicFramePr>
        <p:xfrm>
          <a:off x="612775" y="1328738"/>
          <a:ext cx="1712913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570865" imgH="165100" progId="Equation.DSMT4">
                  <p:embed/>
                </p:oleObj>
              </mc:Choice>
              <mc:Fallback>
                <p:oleObj r:id="rId4" imgW="570865" imgH="165100" progId="Equation.DSMT4">
                  <p:embed/>
                  <p:pic>
                    <p:nvPicPr>
                      <p:cNvPr id="0" name="图片 3173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12775" y="1328738"/>
                        <a:ext cx="1712913" cy="4937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17" name="Object 4"/>
          <p:cNvGraphicFramePr/>
          <p:nvPr/>
        </p:nvGraphicFramePr>
        <p:xfrm>
          <a:off x="5219700" y="2840038"/>
          <a:ext cx="3289300" cy="608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091565" imgH="203200" progId="Equation.DSMT4">
                  <p:embed/>
                </p:oleObj>
              </mc:Choice>
              <mc:Fallback>
                <p:oleObj r:id="rId6" imgW="1091565" imgH="203200" progId="Equation.DSMT4">
                  <p:embed/>
                  <p:pic>
                    <p:nvPicPr>
                      <p:cNvPr id="0" name="图片 317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219700" y="2840038"/>
                        <a:ext cx="3289300" cy="6080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18" name="Object 5"/>
          <p:cNvGraphicFramePr/>
          <p:nvPr/>
        </p:nvGraphicFramePr>
        <p:xfrm>
          <a:off x="5219700" y="1255713"/>
          <a:ext cx="1706563" cy="573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571500" imgH="190500" progId="Equation.DSMT4">
                  <p:embed/>
                </p:oleObj>
              </mc:Choice>
              <mc:Fallback>
                <p:oleObj r:id="rId8" imgW="571500" imgH="190500" progId="Equation.DSMT4">
                  <p:embed/>
                  <p:pic>
                    <p:nvPicPr>
                      <p:cNvPr id="0" name="图片 3176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219700" y="1255713"/>
                        <a:ext cx="1706563" cy="5730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119" name="Rectangle 6"/>
          <p:cNvSpPr/>
          <p:nvPr/>
        </p:nvSpPr>
        <p:spPr>
          <a:xfrm>
            <a:off x="3448050" y="1206500"/>
            <a:ext cx="1200150" cy="396875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lstStyle/>
          <a:p>
            <a:pPr eaLnBrk="1" hangingPunct="1"/>
            <a:r>
              <a:rPr lang="zh-CN" altLang="en-US" sz="2000" b="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charset="-122"/>
              </a:rPr>
              <a:t>线性变换</a:t>
            </a:r>
          </a:p>
        </p:txBody>
      </p:sp>
      <p:graphicFrame>
        <p:nvGraphicFramePr>
          <p:cNvPr id="90120" name="Object 7"/>
          <p:cNvGraphicFramePr/>
          <p:nvPr/>
        </p:nvGraphicFramePr>
        <p:xfrm>
          <a:off x="1122363" y="2090738"/>
          <a:ext cx="236855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798830" imgH="177800" progId="Equation.DSMT4">
                  <p:embed/>
                </p:oleObj>
              </mc:Choice>
              <mc:Fallback>
                <p:oleObj r:id="rId10" imgW="798830" imgH="177800" progId="Equation.DSMT4">
                  <p:embed/>
                  <p:pic>
                    <p:nvPicPr>
                      <p:cNvPr id="0" name="图片 3177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122363" y="2090738"/>
                        <a:ext cx="2368550" cy="533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21" name="Object 8"/>
          <p:cNvGraphicFramePr/>
          <p:nvPr/>
        </p:nvGraphicFramePr>
        <p:xfrm>
          <a:off x="638175" y="3587750"/>
          <a:ext cx="7866063" cy="236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3086100" imgH="787400" progId="Equation.DSMT4">
                  <p:embed/>
                </p:oleObj>
              </mc:Choice>
              <mc:Fallback>
                <p:oleObj r:id="rId12" imgW="3086100" imgH="787400" progId="Equation.DSMT4">
                  <p:embed/>
                  <p:pic>
                    <p:nvPicPr>
                      <p:cNvPr id="0" name="图片 3179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638175" y="3587750"/>
                        <a:ext cx="7866063" cy="2362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122" name="Rectangle 9"/>
          <p:cNvSpPr/>
          <p:nvPr/>
        </p:nvSpPr>
        <p:spPr>
          <a:xfrm>
            <a:off x="3455988" y="739775"/>
            <a:ext cx="1403350" cy="4572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hlink"/>
              </a:buClr>
              <a:buSzPct val="75000"/>
              <a:buFont typeface="Monotype Sorts" charset="2"/>
            </a:pPr>
            <a:r>
              <a:rPr lang="zh-CN" altLang="en-US" sz="2400" b="0" dirty="0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charset="-122"/>
              </a:rPr>
              <a:t>主要思想</a:t>
            </a:r>
            <a:endParaRPr lang="zh-CN" altLang="en-US" sz="2400" b="0" dirty="0">
              <a:latin typeface="Arial" panose="020B0604020202020204" pitchFamily="34" charset="0"/>
              <a:ea typeface="黑体" panose="02010609060101010101" charset="-122"/>
            </a:endParaRPr>
          </a:p>
        </p:txBody>
      </p:sp>
      <p:sp>
        <p:nvSpPr>
          <p:cNvPr id="90123" name="Text Box 10"/>
          <p:cNvSpPr txBox="1"/>
          <p:nvPr/>
        </p:nvSpPr>
        <p:spPr>
          <a:xfrm>
            <a:off x="5651500" y="188913"/>
            <a:ext cx="3313113" cy="366712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r>
              <a:rPr lang="zh-CN" altLang="en-US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第 </a:t>
            </a:r>
            <a:r>
              <a:rPr lang="en-US" altLang="zh-CN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6 </a:t>
            </a:r>
            <a:r>
              <a:rPr lang="zh-CN" altLang="en-US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章  状态反馈和状态观测器</a:t>
            </a:r>
          </a:p>
        </p:txBody>
      </p:sp>
      <p:sp>
        <p:nvSpPr>
          <p:cNvPr id="90124" name="Text Box 11"/>
          <p:cNvSpPr txBox="1"/>
          <p:nvPr/>
        </p:nvSpPr>
        <p:spPr>
          <a:xfrm>
            <a:off x="252413" y="6435725"/>
            <a:ext cx="1439862" cy="366713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r>
              <a:rPr lang="en-US" altLang="zh-CN" sz="1800" b="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charset="-122"/>
              </a:rPr>
              <a:t>2. </a:t>
            </a:r>
            <a:r>
              <a:rPr lang="zh-CN" altLang="en-US" sz="1800" b="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charset="-122"/>
              </a:rPr>
              <a:t>极点配置</a:t>
            </a:r>
          </a:p>
        </p:txBody>
      </p:sp>
      <p:graphicFrame>
        <p:nvGraphicFramePr>
          <p:cNvPr id="90125" name="Object 12"/>
          <p:cNvGraphicFramePr>
            <a:graphicFrameLocks noGrp="1"/>
          </p:cNvGraphicFramePr>
          <p:nvPr>
            <p:ph sz="half" idx="1"/>
          </p:nvPr>
        </p:nvGraphicFramePr>
        <p:xfrm>
          <a:off x="2967038" y="1209675"/>
          <a:ext cx="3810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127000" imgH="139700" progId="Equation.DSMT4">
                  <p:embed/>
                </p:oleObj>
              </mc:Choice>
              <mc:Fallback>
                <p:oleObj r:id="rId14" imgW="127000" imgH="139700" progId="Equation.DSMT4">
                  <p:embed/>
                  <p:pic>
                    <p:nvPicPr>
                      <p:cNvPr id="0" name="图片 3178"/>
                      <p:cNvPicPr/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>
                      <a:xfrm>
                        <a:off x="2967038" y="1209675"/>
                        <a:ext cx="381000" cy="41910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26" name="Object 13"/>
          <p:cNvGraphicFramePr>
            <a:graphicFrameLocks noGrp="1"/>
          </p:cNvGraphicFramePr>
          <p:nvPr>
            <p:ph sz="quarter" idx="2"/>
          </p:nvPr>
        </p:nvGraphicFramePr>
        <p:xfrm>
          <a:off x="5702300" y="2014538"/>
          <a:ext cx="2397125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6" imgW="799465" imgH="203200" progId="Equation.DSMT4">
                  <p:embed/>
                </p:oleObj>
              </mc:Choice>
              <mc:Fallback>
                <p:oleObj r:id="rId16" imgW="799465" imgH="203200" progId="Equation.DSMT4">
                  <p:embed/>
                  <p:pic>
                    <p:nvPicPr>
                      <p:cNvPr id="0" name="图片 3185"/>
                      <p:cNvPicPr/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>
                      <a:xfrm>
                        <a:off x="5702300" y="2014538"/>
                        <a:ext cx="2397125" cy="60960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27" name="Object 14"/>
          <p:cNvGraphicFramePr>
            <a:graphicFrameLocks noGrp="1"/>
          </p:cNvGraphicFramePr>
          <p:nvPr>
            <p:ph sz="quarter" idx="3"/>
          </p:nvPr>
        </p:nvGraphicFramePr>
        <p:xfrm>
          <a:off x="611188" y="2913063"/>
          <a:ext cx="3281362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8" imgW="1077595" imgH="177800" progId="Equation.DSMT4">
                  <p:embed/>
                </p:oleObj>
              </mc:Choice>
              <mc:Fallback>
                <p:oleObj r:id="rId18" imgW="1077595" imgH="177800" progId="Equation.DSMT4">
                  <p:embed/>
                  <p:pic>
                    <p:nvPicPr>
                      <p:cNvPr id="0" name="图片 3184"/>
                      <p:cNvPicPr/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>
                      <a:xfrm>
                        <a:off x="611188" y="2913063"/>
                        <a:ext cx="3281362" cy="53975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128" name="Line 15"/>
          <p:cNvSpPr/>
          <p:nvPr/>
        </p:nvSpPr>
        <p:spPr>
          <a:xfrm>
            <a:off x="1042988" y="1905000"/>
            <a:ext cx="0" cy="863600"/>
          </a:xfrm>
          <a:prstGeom prst="line">
            <a:avLst/>
          </a:prstGeom>
          <a:ln w="76200" cap="flat" cmpd="tri">
            <a:solidFill>
              <a:srgbClr val="0000FF"/>
            </a:solidFill>
            <a:prstDash val="solid"/>
            <a:headEnd type="none" w="sm" len="sm"/>
            <a:tailEnd type="triangle" w="sm" len="sm"/>
          </a:ln>
        </p:spPr>
      </p:sp>
      <p:sp>
        <p:nvSpPr>
          <p:cNvPr id="90129" name="Line 16"/>
          <p:cNvSpPr/>
          <p:nvPr/>
        </p:nvSpPr>
        <p:spPr>
          <a:xfrm>
            <a:off x="5651500" y="1905000"/>
            <a:ext cx="0" cy="863600"/>
          </a:xfrm>
          <a:prstGeom prst="line">
            <a:avLst/>
          </a:prstGeom>
          <a:ln w="76200" cap="flat" cmpd="tri">
            <a:solidFill>
              <a:srgbClr val="0000FF"/>
            </a:solidFill>
            <a:prstDash val="solid"/>
            <a:headEnd type="none" w="sm" len="sm"/>
            <a:tailEnd type="triangle" w="sm" len="sm"/>
          </a:ln>
        </p:spPr>
      </p:sp>
      <p:sp>
        <p:nvSpPr>
          <p:cNvPr id="90130" name="Line 17"/>
          <p:cNvSpPr/>
          <p:nvPr/>
        </p:nvSpPr>
        <p:spPr>
          <a:xfrm>
            <a:off x="2554288" y="1616075"/>
            <a:ext cx="2592387" cy="0"/>
          </a:xfrm>
          <a:prstGeom prst="line">
            <a:avLst/>
          </a:prstGeom>
          <a:ln w="76200" cap="flat" cmpd="tri">
            <a:solidFill>
              <a:srgbClr val="0000FF"/>
            </a:solidFill>
            <a:prstDash val="solid"/>
            <a:headEnd type="none" w="sm" len="sm"/>
            <a:tailEnd type="triangle" w="sm" len="sm"/>
          </a:ln>
        </p:spPr>
      </p:sp>
      <p:sp>
        <p:nvSpPr>
          <p:cNvPr id="90131" name="Line 18"/>
          <p:cNvSpPr/>
          <p:nvPr/>
        </p:nvSpPr>
        <p:spPr>
          <a:xfrm flipH="1">
            <a:off x="3922713" y="3200400"/>
            <a:ext cx="1296987" cy="0"/>
          </a:xfrm>
          <a:prstGeom prst="line">
            <a:avLst/>
          </a:prstGeom>
          <a:ln w="76200" cap="flat" cmpd="tri">
            <a:solidFill>
              <a:srgbClr val="0000FF"/>
            </a:solidFill>
            <a:prstDash val="solid"/>
            <a:headEnd type="none" w="sm" len="sm"/>
            <a:tailEnd type="triangle" w="sm" len="sm"/>
          </a:ln>
        </p:spPr>
      </p:sp>
      <p:graphicFrame>
        <p:nvGraphicFramePr>
          <p:cNvPr id="90132" name="Object 19"/>
          <p:cNvGraphicFramePr/>
          <p:nvPr/>
        </p:nvGraphicFramePr>
        <p:xfrm>
          <a:off x="4476750" y="2765425"/>
          <a:ext cx="527050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0" imgW="190500" imgH="152400" progId="Equation.DSMT4">
                  <p:embed/>
                </p:oleObj>
              </mc:Choice>
              <mc:Fallback>
                <p:oleObj r:id="rId20" imgW="190500" imgH="152400" progId="Equation.DSMT4">
                  <p:embed/>
                  <p:pic>
                    <p:nvPicPr>
                      <p:cNvPr id="0" name="图片 3180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4476750" y="2765425"/>
                        <a:ext cx="527050" cy="447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133" name="Text Box 25"/>
          <p:cNvSpPr txBox="1"/>
          <p:nvPr/>
        </p:nvSpPr>
        <p:spPr>
          <a:xfrm>
            <a:off x="5413375" y="6435725"/>
            <a:ext cx="1390650" cy="366713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1800" b="0" dirty="0">
                <a:latin typeface="Arial" panose="020B0604020202020204" pitchFamily="34" charset="0"/>
                <a:ea typeface="黑体" panose="02010609060101010101" charset="-122"/>
              </a:rPr>
              <a:t>井元伟 教授</a:t>
            </a:r>
          </a:p>
        </p:txBody>
      </p:sp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日期占位符 5"/>
          <p:cNvSpPr txBox="1">
            <a:spLocks noGrp="1"/>
          </p:cNvSpPr>
          <p:nvPr>
            <p:ph type="dt" sz="half" idx="10"/>
          </p:nvPr>
        </p:nvSpPr>
        <p:spPr>
          <a:xfrm>
            <a:off x="2941638" y="5157788"/>
            <a:ext cx="3311525" cy="404812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BB962C8B-B14F-4D97-AF65-F5344CB8AC3E}" type="datetime2">
              <a:rPr lang="zh-CN" altLang="en-US" sz="2400" b="0" dirty="0">
                <a:solidFill>
                  <a:schemeClr val="bg1"/>
                </a:solidFill>
              </a:rPr>
              <a:t>2026年7月17日</a:t>
            </a:fld>
            <a:endParaRPr lang="zh-CN" altLang="en-US" sz="2400" b="0" dirty="0">
              <a:solidFill>
                <a:schemeClr val="bg1"/>
              </a:solidFill>
            </a:endParaRPr>
          </a:p>
        </p:txBody>
      </p:sp>
      <p:pic>
        <p:nvPicPr>
          <p:cNvPr id="91139" name="Picture 2" descr="底图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91140" name="Object 3"/>
          <p:cNvGraphicFramePr/>
          <p:nvPr/>
        </p:nvGraphicFramePr>
        <p:xfrm>
          <a:off x="612775" y="1328738"/>
          <a:ext cx="1712913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570865" imgH="165100" progId="Equation.DSMT4">
                  <p:embed/>
                </p:oleObj>
              </mc:Choice>
              <mc:Fallback>
                <p:oleObj r:id="rId4" imgW="570865" imgH="165100" progId="Equation.DSMT4">
                  <p:embed/>
                  <p:pic>
                    <p:nvPicPr>
                      <p:cNvPr id="0" name="图片 3186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12775" y="1328738"/>
                        <a:ext cx="1712913" cy="4937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41" name="Object 4"/>
          <p:cNvGraphicFramePr/>
          <p:nvPr/>
        </p:nvGraphicFramePr>
        <p:xfrm>
          <a:off x="5219700" y="2840038"/>
          <a:ext cx="3289300" cy="608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091565" imgH="203200" progId="Equation.DSMT4">
                  <p:embed/>
                </p:oleObj>
              </mc:Choice>
              <mc:Fallback>
                <p:oleObj r:id="rId6" imgW="1091565" imgH="203200" progId="Equation.DSMT4">
                  <p:embed/>
                  <p:pic>
                    <p:nvPicPr>
                      <p:cNvPr id="0" name="图片 318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219700" y="2840038"/>
                        <a:ext cx="3289300" cy="6080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42" name="Object 5"/>
          <p:cNvGraphicFramePr/>
          <p:nvPr/>
        </p:nvGraphicFramePr>
        <p:xfrm>
          <a:off x="5219700" y="1255713"/>
          <a:ext cx="1706563" cy="573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571500" imgH="190500" progId="Equation.DSMT4">
                  <p:embed/>
                </p:oleObj>
              </mc:Choice>
              <mc:Fallback>
                <p:oleObj r:id="rId8" imgW="571500" imgH="190500" progId="Equation.DSMT4">
                  <p:embed/>
                  <p:pic>
                    <p:nvPicPr>
                      <p:cNvPr id="0" name="图片 3182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219700" y="1255713"/>
                        <a:ext cx="1706563" cy="5730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143" name="Rectangle 6"/>
          <p:cNvSpPr/>
          <p:nvPr/>
        </p:nvSpPr>
        <p:spPr>
          <a:xfrm>
            <a:off x="3448050" y="1206500"/>
            <a:ext cx="1200150" cy="396875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lstStyle/>
          <a:p>
            <a:pPr eaLnBrk="1" hangingPunct="1"/>
            <a:r>
              <a:rPr lang="zh-CN" altLang="en-US" sz="2000" b="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charset="-122"/>
              </a:rPr>
              <a:t>线性变换</a:t>
            </a:r>
          </a:p>
        </p:txBody>
      </p:sp>
      <p:graphicFrame>
        <p:nvGraphicFramePr>
          <p:cNvPr id="91144" name="Object 7"/>
          <p:cNvGraphicFramePr/>
          <p:nvPr/>
        </p:nvGraphicFramePr>
        <p:xfrm>
          <a:off x="1122363" y="2090738"/>
          <a:ext cx="236855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798830" imgH="177800" progId="Equation.DSMT4">
                  <p:embed/>
                </p:oleObj>
              </mc:Choice>
              <mc:Fallback>
                <p:oleObj r:id="rId10" imgW="798830" imgH="177800" progId="Equation.DSMT4">
                  <p:embed/>
                  <p:pic>
                    <p:nvPicPr>
                      <p:cNvPr id="0" name="图片 3183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122363" y="2090738"/>
                        <a:ext cx="2368550" cy="533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45" name="Object 8"/>
          <p:cNvGraphicFramePr/>
          <p:nvPr/>
        </p:nvGraphicFramePr>
        <p:xfrm>
          <a:off x="638175" y="3587750"/>
          <a:ext cx="7866063" cy="236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3086100" imgH="787400" progId="Equation.DSMT4">
                  <p:embed/>
                </p:oleObj>
              </mc:Choice>
              <mc:Fallback>
                <p:oleObj r:id="rId12" imgW="3086100" imgH="787400" progId="Equation.DSMT4">
                  <p:embed/>
                  <p:pic>
                    <p:nvPicPr>
                      <p:cNvPr id="0" name="图片 3187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638175" y="3587750"/>
                        <a:ext cx="7866063" cy="2362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146" name="Rectangle 9"/>
          <p:cNvSpPr/>
          <p:nvPr/>
        </p:nvSpPr>
        <p:spPr>
          <a:xfrm>
            <a:off x="3455988" y="739775"/>
            <a:ext cx="1403350" cy="4572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hlink"/>
              </a:buClr>
              <a:buSzPct val="75000"/>
              <a:buFont typeface="Monotype Sorts" charset="2"/>
            </a:pPr>
            <a:r>
              <a:rPr lang="zh-CN" altLang="en-US" sz="2400" b="0" dirty="0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charset="-122"/>
              </a:rPr>
              <a:t>主要思想</a:t>
            </a:r>
            <a:endParaRPr lang="zh-CN" altLang="en-US" sz="2400" b="0" dirty="0">
              <a:latin typeface="Arial" panose="020B0604020202020204" pitchFamily="34" charset="0"/>
              <a:ea typeface="黑体" panose="02010609060101010101" charset="-122"/>
            </a:endParaRPr>
          </a:p>
        </p:txBody>
      </p:sp>
      <p:sp>
        <p:nvSpPr>
          <p:cNvPr id="91147" name="Text Box 10"/>
          <p:cNvSpPr txBox="1"/>
          <p:nvPr/>
        </p:nvSpPr>
        <p:spPr>
          <a:xfrm>
            <a:off x="5651500" y="188913"/>
            <a:ext cx="3313113" cy="366712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r>
              <a:rPr lang="zh-CN" altLang="en-US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第 </a:t>
            </a:r>
            <a:r>
              <a:rPr lang="en-US" altLang="zh-CN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6 </a:t>
            </a:r>
            <a:r>
              <a:rPr lang="zh-CN" altLang="en-US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章  状态反馈和状态观测器</a:t>
            </a:r>
          </a:p>
        </p:txBody>
      </p:sp>
      <p:sp>
        <p:nvSpPr>
          <p:cNvPr id="91148" name="Text Box 11"/>
          <p:cNvSpPr txBox="1"/>
          <p:nvPr/>
        </p:nvSpPr>
        <p:spPr>
          <a:xfrm>
            <a:off x="252413" y="6435725"/>
            <a:ext cx="1439862" cy="366713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r>
              <a:rPr lang="en-US" altLang="zh-CN" sz="1800" b="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charset="-122"/>
              </a:rPr>
              <a:t>2. </a:t>
            </a:r>
            <a:r>
              <a:rPr lang="zh-CN" altLang="en-US" sz="1800" b="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charset="-122"/>
              </a:rPr>
              <a:t>极点配置</a:t>
            </a:r>
          </a:p>
        </p:txBody>
      </p:sp>
      <p:graphicFrame>
        <p:nvGraphicFramePr>
          <p:cNvPr id="91149" name="Object 12"/>
          <p:cNvGraphicFramePr>
            <a:graphicFrameLocks noGrp="1"/>
          </p:cNvGraphicFramePr>
          <p:nvPr>
            <p:ph sz="half" idx="1"/>
          </p:nvPr>
        </p:nvGraphicFramePr>
        <p:xfrm>
          <a:off x="2967038" y="1209675"/>
          <a:ext cx="3810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127000" imgH="139700" progId="Equation.DSMT4">
                  <p:embed/>
                </p:oleObj>
              </mc:Choice>
              <mc:Fallback>
                <p:oleObj r:id="rId14" imgW="127000" imgH="139700" progId="Equation.DSMT4">
                  <p:embed/>
                  <p:pic>
                    <p:nvPicPr>
                      <p:cNvPr id="0" name="图片 3193"/>
                      <p:cNvPicPr/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>
                      <a:xfrm>
                        <a:off x="2967038" y="1209675"/>
                        <a:ext cx="381000" cy="41910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50" name="Object 13"/>
          <p:cNvGraphicFramePr>
            <a:graphicFrameLocks noGrp="1"/>
          </p:cNvGraphicFramePr>
          <p:nvPr>
            <p:ph sz="quarter" idx="2"/>
          </p:nvPr>
        </p:nvGraphicFramePr>
        <p:xfrm>
          <a:off x="5702300" y="2014538"/>
          <a:ext cx="2397125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6" imgW="799465" imgH="203200" progId="Equation.DSMT4">
                  <p:embed/>
                </p:oleObj>
              </mc:Choice>
              <mc:Fallback>
                <p:oleObj r:id="rId16" imgW="799465" imgH="203200" progId="Equation.DSMT4">
                  <p:embed/>
                  <p:pic>
                    <p:nvPicPr>
                      <p:cNvPr id="0" name="图片 3188"/>
                      <p:cNvPicPr/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>
                      <a:xfrm>
                        <a:off x="5702300" y="2014538"/>
                        <a:ext cx="2397125" cy="60960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51" name="Object 14"/>
          <p:cNvGraphicFramePr>
            <a:graphicFrameLocks noGrp="1"/>
          </p:cNvGraphicFramePr>
          <p:nvPr>
            <p:ph sz="quarter" idx="3"/>
          </p:nvPr>
        </p:nvGraphicFramePr>
        <p:xfrm>
          <a:off x="611188" y="2913063"/>
          <a:ext cx="3281362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8" imgW="1077595" imgH="177800" progId="Equation.DSMT4">
                  <p:embed/>
                </p:oleObj>
              </mc:Choice>
              <mc:Fallback>
                <p:oleObj r:id="rId18" imgW="1077595" imgH="177800" progId="Equation.DSMT4">
                  <p:embed/>
                  <p:pic>
                    <p:nvPicPr>
                      <p:cNvPr id="0" name="图片 3190"/>
                      <p:cNvPicPr/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>
                      <a:xfrm>
                        <a:off x="611188" y="2913063"/>
                        <a:ext cx="3281362" cy="53975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152" name="Line 15"/>
          <p:cNvSpPr/>
          <p:nvPr/>
        </p:nvSpPr>
        <p:spPr>
          <a:xfrm>
            <a:off x="1042988" y="1905000"/>
            <a:ext cx="0" cy="863600"/>
          </a:xfrm>
          <a:prstGeom prst="line">
            <a:avLst/>
          </a:prstGeom>
          <a:ln w="76200" cap="flat" cmpd="tri">
            <a:solidFill>
              <a:srgbClr val="0000FF"/>
            </a:solidFill>
            <a:prstDash val="solid"/>
            <a:headEnd type="none" w="sm" len="sm"/>
            <a:tailEnd type="triangle" w="sm" len="sm"/>
          </a:ln>
        </p:spPr>
      </p:sp>
      <p:sp>
        <p:nvSpPr>
          <p:cNvPr id="91153" name="Line 16"/>
          <p:cNvSpPr/>
          <p:nvPr/>
        </p:nvSpPr>
        <p:spPr>
          <a:xfrm>
            <a:off x="5651500" y="1905000"/>
            <a:ext cx="0" cy="863600"/>
          </a:xfrm>
          <a:prstGeom prst="line">
            <a:avLst/>
          </a:prstGeom>
          <a:ln w="76200" cap="flat" cmpd="tri">
            <a:solidFill>
              <a:srgbClr val="0000FF"/>
            </a:solidFill>
            <a:prstDash val="solid"/>
            <a:headEnd type="none" w="sm" len="sm"/>
            <a:tailEnd type="triangle" w="sm" len="sm"/>
          </a:ln>
        </p:spPr>
      </p:sp>
      <p:sp>
        <p:nvSpPr>
          <p:cNvPr id="91154" name="Line 17"/>
          <p:cNvSpPr/>
          <p:nvPr/>
        </p:nvSpPr>
        <p:spPr>
          <a:xfrm>
            <a:off x="2554288" y="1616075"/>
            <a:ext cx="2592387" cy="0"/>
          </a:xfrm>
          <a:prstGeom prst="line">
            <a:avLst/>
          </a:prstGeom>
          <a:ln w="76200" cap="flat" cmpd="tri">
            <a:solidFill>
              <a:srgbClr val="0000FF"/>
            </a:solidFill>
            <a:prstDash val="solid"/>
            <a:headEnd type="none" w="sm" len="sm"/>
            <a:tailEnd type="triangle" w="sm" len="sm"/>
          </a:ln>
        </p:spPr>
      </p:sp>
      <p:sp>
        <p:nvSpPr>
          <p:cNvPr id="91155" name="Line 18"/>
          <p:cNvSpPr/>
          <p:nvPr/>
        </p:nvSpPr>
        <p:spPr>
          <a:xfrm flipH="1">
            <a:off x="3922713" y="3200400"/>
            <a:ext cx="1296987" cy="0"/>
          </a:xfrm>
          <a:prstGeom prst="line">
            <a:avLst/>
          </a:prstGeom>
          <a:ln w="76200" cap="flat" cmpd="tri">
            <a:solidFill>
              <a:srgbClr val="0000FF"/>
            </a:solidFill>
            <a:prstDash val="solid"/>
            <a:headEnd type="none" w="sm" len="sm"/>
            <a:tailEnd type="triangle" w="sm" len="sm"/>
          </a:ln>
        </p:spPr>
      </p:sp>
      <p:graphicFrame>
        <p:nvGraphicFramePr>
          <p:cNvPr id="91156" name="Object 19"/>
          <p:cNvGraphicFramePr/>
          <p:nvPr/>
        </p:nvGraphicFramePr>
        <p:xfrm>
          <a:off x="4476750" y="2765425"/>
          <a:ext cx="527050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0" imgW="190500" imgH="152400" progId="Equation.DSMT4">
                  <p:embed/>
                </p:oleObj>
              </mc:Choice>
              <mc:Fallback>
                <p:oleObj r:id="rId20" imgW="190500" imgH="152400" progId="Equation.DSMT4">
                  <p:embed/>
                  <p:pic>
                    <p:nvPicPr>
                      <p:cNvPr id="0" name="图片 3191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4476750" y="2765425"/>
                        <a:ext cx="527050" cy="447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157" name="Text Box 20"/>
          <p:cNvSpPr txBox="1"/>
          <p:nvPr/>
        </p:nvSpPr>
        <p:spPr>
          <a:xfrm>
            <a:off x="5413375" y="6435725"/>
            <a:ext cx="1390650" cy="366713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1800" b="0" dirty="0">
                <a:latin typeface="Arial" panose="020B0604020202020204" pitchFamily="34" charset="0"/>
                <a:ea typeface="黑体" panose="02010609060101010101" charset="-122"/>
              </a:rPr>
              <a:t>井元伟 教授</a:t>
            </a:r>
          </a:p>
        </p:txBody>
      </p:sp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日期占位符 5"/>
          <p:cNvSpPr txBox="1">
            <a:spLocks noGrp="1"/>
          </p:cNvSpPr>
          <p:nvPr>
            <p:ph type="dt" sz="half" idx="10"/>
          </p:nvPr>
        </p:nvSpPr>
        <p:spPr>
          <a:xfrm>
            <a:off x="2941638" y="5157788"/>
            <a:ext cx="3311525" cy="404812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BB962C8B-B14F-4D97-AF65-F5344CB8AC3E}" type="datetime2">
              <a:rPr lang="zh-CN" altLang="en-US" sz="2400" b="0" dirty="0">
                <a:solidFill>
                  <a:schemeClr val="bg1"/>
                </a:solidFill>
              </a:rPr>
              <a:t>2026年7月17日</a:t>
            </a:fld>
            <a:endParaRPr lang="zh-CN" altLang="en-US" sz="2400" b="0" dirty="0">
              <a:solidFill>
                <a:schemeClr val="bg1"/>
              </a:solidFill>
            </a:endParaRPr>
          </a:p>
        </p:txBody>
      </p:sp>
      <p:pic>
        <p:nvPicPr>
          <p:cNvPr id="92163" name="Picture 2" descr="底图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92164" name="Object 3"/>
          <p:cNvGraphicFramePr/>
          <p:nvPr/>
        </p:nvGraphicFramePr>
        <p:xfrm>
          <a:off x="612775" y="1328738"/>
          <a:ext cx="1712913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570865" imgH="165100" progId="Equation.DSMT4">
                  <p:embed/>
                </p:oleObj>
              </mc:Choice>
              <mc:Fallback>
                <p:oleObj r:id="rId4" imgW="570865" imgH="165100" progId="Equation.DSMT4">
                  <p:embed/>
                  <p:pic>
                    <p:nvPicPr>
                      <p:cNvPr id="0" name="图片 319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12775" y="1328738"/>
                        <a:ext cx="1712913" cy="4937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65" name="Object 4"/>
          <p:cNvGraphicFramePr/>
          <p:nvPr/>
        </p:nvGraphicFramePr>
        <p:xfrm>
          <a:off x="5219700" y="2840038"/>
          <a:ext cx="3289300" cy="608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091565" imgH="203200" progId="Equation.DSMT4">
                  <p:embed/>
                </p:oleObj>
              </mc:Choice>
              <mc:Fallback>
                <p:oleObj r:id="rId6" imgW="1091565" imgH="203200" progId="Equation.DSMT4">
                  <p:embed/>
                  <p:pic>
                    <p:nvPicPr>
                      <p:cNvPr id="0" name="图片 3196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219700" y="2840038"/>
                        <a:ext cx="3289300" cy="6080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66" name="Object 5"/>
          <p:cNvGraphicFramePr/>
          <p:nvPr/>
        </p:nvGraphicFramePr>
        <p:xfrm>
          <a:off x="5219700" y="1255713"/>
          <a:ext cx="1706563" cy="573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571500" imgH="190500" progId="Equation.DSMT4">
                  <p:embed/>
                </p:oleObj>
              </mc:Choice>
              <mc:Fallback>
                <p:oleObj r:id="rId8" imgW="571500" imgH="190500" progId="Equation.DSMT4">
                  <p:embed/>
                  <p:pic>
                    <p:nvPicPr>
                      <p:cNvPr id="0" name="图片 3192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219700" y="1255713"/>
                        <a:ext cx="1706563" cy="5730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67" name="Rectangle 6"/>
          <p:cNvSpPr/>
          <p:nvPr/>
        </p:nvSpPr>
        <p:spPr>
          <a:xfrm>
            <a:off x="3448050" y="1206500"/>
            <a:ext cx="1200150" cy="396875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lstStyle/>
          <a:p>
            <a:pPr eaLnBrk="1" hangingPunct="1"/>
            <a:r>
              <a:rPr lang="zh-CN" altLang="en-US" sz="2000" b="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charset="-122"/>
              </a:rPr>
              <a:t>线性变换</a:t>
            </a:r>
          </a:p>
        </p:txBody>
      </p:sp>
      <p:graphicFrame>
        <p:nvGraphicFramePr>
          <p:cNvPr id="92168" name="Object 7"/>
          <p:cNvGraphicFramePr/>
          <p:nvPr/>
        </p:nvGraphicFramePr>
        <p:xfrm>
          <a:off x="1122363" y="2090738"/>
          <a:ext cx="236855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798830" imgH="177800" progId="Equation.DSMT4">
                  <p:embed/>
                </p:oleObj>
              </mc:Choice>
              <mc:Fallback>
                <p:oleObj r:id="rId10" imgW="798830" imgH="177800" progId="Equation.DSMT4">
                  <p:embed/>
                  <p:pic>
                    <p:nvPicPr>
                      <p:cNvPr id="0" name="图片 3189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122363" y="2090738"/>
                        <a:ext cx="2368550" cy="533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69" name="Object 8"/>
          <p:cNvGraphicFramePr/>
          <p:nvPr/>
        </p:nvGraphicFramePr>
        <p:xfrm>
          <a:off x="638175" y="3587750"/>
          <a:ext cx="7866063" cy="236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3086100" imgH="787400" progId="Equation.DSMT4">
                  <p:embed/>
                </p:oleObj>
              </mc:Choice>
              <mc:Fallback>
                <p:oleObj r:id="rId12" imgW="3086100" imgH="787400" progId="Equation.DSMT4">
                  <p:embed/>
                  <p:pic>
                    <p:nvPicPr>
                      <p:cNvPr id="0" name="图片 3195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638175" y="3587750"/>
                        <a:ext cx="7866063" cy="2362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70" name="Rectangle 9"/>
          <p:cNvSpPr/>
          <p:nvPr/>
        </p:nvSpPr>
        <p:spPr>
          <a:xfrm>
            <a:off x="3455988" y="739775"/>
            <a:ext cx="1403350" cy="4572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hlink"/>
              </a:buClr>
              <a:buSzPct val="75000"/>
              <a:buFont typeface="Monotype Sorts" charset="2"/>
            </a:pPr>
            <a:r>
              <a:rPr lang="zh-CN" altLang="en-US" sz="2400" b="0" dirty="0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charset="-122"/>
              </a:rPr>
              <a:t>主要思想</a:t>
            </a:r>
            <a:endParaRPr lang="zh-CN" altLang="en-US" sz="2400" b="0" dirty="0">
              <a:latin typeface="Arial" panose="020B0604020202020204" pitchFamily="34" charset="0"/>
              <a:ea typeface="黑体" panose="02010609060101010101" charset="-122"/>
            </a:endParaRPr>
          </a:p>
        </p:txBody>
      </p:sp>
      <p:sp>
        <p:nvSpPr>
          <p:cNvPr id="92171" name="Text Box 10"/>
          <p:cNvSpPr txBox="1"/>
          <p:nvPr/>
        </p:nvSpPr>
        <p:spPr>
          <a:xfrm>
            <a:off x="5651500" y="188913"/>
            <a:ext cx="3313113" cy="366712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r>
              <a:rPr lang="zh-CN" altLang="en-US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第 </a:t>
            </a:r>
            <a:r>
              <a:rPr lang="en-US" altLang="zh-CN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6 </a:t>
            </a:r>
            <a:r>
              <a:rPr lang="zh-CN" altLang="en-US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章  状态反馈和状态观测器</a:t>
            </a:r>
          </a:p>
        </p:txBody>
      </p:sp>
      <p:sp>
        <p:nvSpPr>
          <p:cNvPr id="92172" name="Text Box 11"/>
          <p:cNvSpPr txBox="1"/>
          <p:nvPr/>
        </p:nvSpPr>
        <p:spPr>
          <a:xfrm>
            <a:off x="252413" y="6435725"/>
            <a:ext cx="1439862" cy="366713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r>
              <a:rPr lang="en-US" altLang="zh-CN" sz="1800" b="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charset="-122"/>
              </a:rPr>
              <a:t>2. </a:t>
            </a:r>
            <a:r>
              <a:rPr lang="zh-CN" altLang="en-US" sz="1800" b="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charset="-122"/>
              </a:rPr>
              <a:t>极点配置</a:t>
            </a:r>
          </a:p>
        </p:txBody>
      </p:sp>
      <p:graphicFrame>
        <p:nvGraphicFramePr>
          <p:cNvPr id="92173" name="Object 12"/>
          <p:cNvGraphicFramePr>
            <a:graphicFrameLocks noGrp="1"/>
          </p:cNvGraphicFramePr>
          <p:nvPr>
            <p:ph sz="half" idx="1"/>
          </p:nvPr>
        </p:nvGraphicFramePr>
        <p:xfrm>
          <a:off x="2967038" y="1209675"/>
          <a:ext cx="3810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127000" imgH="139700" progId="Equation.DSMT4">
                  <p:embed/>
                </p:oleObj>
              </mc:Choice>
              <mc:Fallback>
                <p:oleObj r:id="rId14" imgW="127000" imgH="139700" progId="Equation.DSMT4">
                  <p:embed/>
                  <p:pic>
                    <p:nvPicPr>
                      <p:cNvPr id="0" name="图片 3225"/>
                      <p:cNvPicPr/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>
                      <a:xfrm>
                        <a:off x="2967038" y="1209675"/>
                        <a:ext cx="381000" cy="41910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74" name="Object 13"/>
          <p:cNvGraphicFramePr>
            <a:graphicFrameLocks noGrp="1"/>
          </p:cNvGraphicFramePr>
          <p:nvPr>
            <p:ph sz="quarter" idx="2"/>
          </p:nvPr>
        </p:nvGraphicFramePr>
        <p:xfrm>
          <a:off x="5702300" y="2014538"/>
          <a:ext cx="2397125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6" imgW="799465" imgH="203200" progId="Equation.DSMT4">
                  <p:embed/>
                </p:oleObj>
              </mc:Choice>
              <mc:Fallback>
                <p:oleObj r:id="rId16" imgW="799465" imgH="203200" progId="Equation.DSMT4">
                  <p:embed/>
                  <p:pic>
                    <p:nvPicPr>
                      <p:cNvPr id="0" name="图片 3228"/>
                      <p:cNvPicPr/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>
                      <a:xfrm>
                        <a:off x="5702300" y="2014538"/>
                        <a:ext cx="2397125" cy="60960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75" name="Object 14"/>
          <p:cNvGraphicFramePr>
            <a:graphicFrameLocks noGrp="1"/>
          </p:cNvGraphicFramePr>
          <p:nvPr>
            <p:ph sz="quarter" idx="3"/>
          </p:nvPr>
        </p:nvGraphicFramePr>
        <p:xfrm>
          <a:off x="611188" y="2913063"/>
          <a:ext cx="3281362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8" imgW="1077595" imgH="177800" progId="Equation.DSMT4">
                  <p:embed/>
                </p:oleObj>
              </mc:Choice>
              <mc:Fallback>
                <p:oleObj r:id="rId18" imgW="1077595" imgH="177800" progId="Equation.DSMT4">
                  <p:embed/>
                  <p:pic>
                    <p:nvPicPr>
                      <p:cNvPr id="0" name="图片 3227"/>
                      <p:cNvPicPr/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>
                      <a:xfrm>
                        <a:off x="611188" y="2913063"/>
                        <a:ext cx="3281362" cy="53975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76" name="Line 15"/>
          <p:cNvSpPr/>
          <p:nvPr/>
        </p:nvSpPr>
        <p:spPr>
          <a:xfrm>
            <a:off x="1042988" y="1905000"/>
            <a:ext cx="0" cy="863600"/>
          </a:xfrm>
          <a:prstGeom prst="line">
            <a:avLst/>
          </a:prstGeom>
          <a:ln w="76200" cap="flat" cmpd="tri">
            <a:solidFill>
              <a:srgbClr val="0000FF"/>
            </a:solidFill>
            <a:prstDash val="solid"/>
            <a:headEnd type="none" w="sm" len="sm"/>
            <a:tailEnd type="triangle" w="sm" len="sm"/>
          </a:ln>
        </p:spPr>
      </p:sp>
      <p:sp>
        <p:nvSpPr>
          <p:cNvPr id="92177" name="Line 16"/>
          <p:cNvSpPr/>
          <p:nvPr/>
        </p:nvSpPr>
        <p:spPr>
          <a:xfrm>
            <a:off x="5651500" y="1905000"/>
            <a:ext cx="0" cy="863600"/>
          </a:xfrm>
          <a:prstGeom prst="line">
            <a:avLst/>
          </a:prstGeom>
          <a:ln w="76200" cap="flat" cmpd="tri">
            <a:solidFill>
              <a:srgbClr val="0000FF"/>
            </a:solidFill>
            <a:prstDash val="solid"/>
            <a:headEnd type="none" w="sm" len="sm"/>
            <a:tailEnd type="triangle" w="sm" len="sm"/>
          </a:ln>
        </p:spPr>
      </p:sp>
      <p:sp>
        <p:nvSpPr>
          <p:cNvPr id="92178" name="Line 17"/>
          <p:cNvSpPr/>
          <p:nvPr/>
        </p:nvSpPr>
        <p:spPr>
          <a:xfrm>
            <a:off x="2554288" y="1616075"/>
            <a:ext cx="2592387" cy="0"/>
          </a:xfrm>
          <a:prstGeom prst="line">
            <a:avLst/>
          </a:prstGeom>
          <a:ln w="76200" cap="flat" cmpd="tri">
            <a:solidFill>
              <a:srgbClr val="0000FF"/>
            </a:solidFill>
            <a:prstDash val="solid"/>
            <a:headEnd type="none" w="sm" len="sm"/>
            <a:tailEnd type="triangle" w="sm" len="sm"/>
          </a:ln>
        </p:spPr>
      </p:sp>
      <p:sp>
        <p:nvSpPr>
          <p:cNvPr id="92179" name="Line 18"/>
          <p:cNvSpPr/>
          <p:nvPr/>
        </p:nvSpPr>
        <p:spPr>
          <a:xfrm flipH="1">
            <a:off x="3922713" y="3200400"/>
            <a:ext cx="1296987" cy="0"/>
          </a:xfrm>
          <a:prstGeom prst="line">
            <a:avLst/>
          </a:prstGeom>
          <a:ln w="76200" cap="flat" cmpd="tri">
            <a:solidFill>
              <a:srgbClr val="0000FF"/>
            </a:solidFill>
            <a:prstDash val="solid"/>
            <a:headEnd type="none" w="sm" len="sm"/>
            <a:tailEnd type="triangle" w="sm" len="sm"/>
          </a:ln>
        </p:spPr>
      </p:sp>
      <p:graphicFrame>
        <p:nvGraphicFramePr>
          <p:cNvPr id="92180" name="Object 19"/>
          <p:cNvGraphicFramePr/>
          <p:nvPr/>
        </p:nvGraphicFramePr>
        <p:xfrm>
          <a:off x="4476750" y="2765425"/>
          <a:ext cx="527050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0" imgW="190500" imgH="152400" progId="Equation.DSMT4">
                  <p:embed/>
                </p:oleObj>
              </mc:Choice>
              <mc:Fallback>
                <p:oleObj r:id="rId20" imgW="190500" imgH="152400" progId="Equation.DSMT4">
                  <p:embed/>
                  <p:pic>
                    <p:nvPicPr>
                      <p:cNvPr id="0" name="图片 3226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4476750" y="2765425"/>
                        <a:ext cx="527050" cy="447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81" name="Line 20"/>
          <p:cNvSpPr/>
          <p:nvPr/>
        </p:nvSpPr>
        <p:spPr>
          <a:xfrm>
            <a:off x="1116013" y="5373688"/>
            <a:ext cx="6911975" cy="0"/>
          </a:xfrm>
          <a:prstGeom prst="line">
            <a:avLst/>
          </a:prstGeom>
          <a:ln w="15875" cap="flat" cmpd="sng">
            <a:solidFill>
              <a:srgbClr val="FF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2182" name="Text Box 21"/>
          <p:cNvSpPr txBox="1"/>
          <p:nvPr/>
        </p:nvSpPr>
        <p:spPr>
          <a:xfrm>
            <a:off x="5413375" y="6435725"/>
            <a:ext cx="1390650" cy="366713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1800" b="0" dirty="0">
                <a:latin typeface="Arial" panose="020B0604020202020204" pitchFamily="34" charset="0"/>
                <a:ea typeface="黑体" panose="02010609060101010101" charset="-122"/>
              </a:rPr>
              <a:t>井元伟 教授</a:t>
            </a:r>
          </a:p>
        </p:txBody>
      </p:sp>
    </p:spTree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日期占位符 2"/>
          <p:cNvSpPr txBox="1">
            <a:spLocks noGrp="1"/>
          </p:cNvSpPr>
          <p:nvPr>
            <p:ph type="dt" sz="half" idx="10"/>
          </p:nvPr>
        </p:nvSpPr>
        <p:spPr>
          <a:xfrm>
            <a:off x="2941638" y="5157788"/>
            <a:ext cx="3311525" cy="404812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BB962C8B-B14F-4D97-AF65-F5344CB8AC3E}" type="datetime2">
              <a:rPr lang="zh-CN" altLang="en-US" sz="2400" b="0" dirty="0">
                <a:solidFill>
                  <a:schemeClr val="bg1"/>
                </a:solidFill>
              </a:rPr>
              <a:t>2026年7月17日</a:t>
            </a:fld>
            <a:endParaRPr lang="zh-CN" altLang="en-US" sz="2400" b="0" dirty="0">
              <a:solidFill>
                <a:schemeClr val="bg1"/>
              </a:solidFill>
            </a:endParaRPr>
          </a:p>
        </p:txBody>
      </p:sp>
      <p:pic>
        <p:nvPicPr>
          <p:cNvPr id="101379" name="Picture 2" descr="底图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101380" name="Object 3"/>
          <p:cNvGraphicFramePr/>
          <p:nvPr/>
        </p:nvGraphicFramePr>
        <p:xfrm>
          <a:off x="1547813" y="3568700"/>
          <a:ext cx="5970587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802255" imgH="206375" progId="Equation.DSMT4">
                  <p:embed/>
                </p:oleObj>
              </mc:Choice>
              <mc:Fallback>
                <p:oleObj r:id="rId4" imgW="2802255" imgH="206375" progId="Equation.DSMT4">
                  <p:embed/>
                  <p:pic>
                    <p:nvPicPr>
                      <p:cNvPr id="0" name="图片 3247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547813" y="3568700"/>
                        <a:ext cx="5970587" cy="508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381" name="Object 4"/>
          <p:cNvGraphicFramePr/>
          <p:nvPr/>
        </p:nvGraphicFramePr>
        <p:xfrm>
          <a:off x="1993900" y="1884363"/>
          <a:ext cx="509905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2104390" imgH="206375" progId="Equation.DSMT4">
                  <p:embed/>
                </p:oleObj>
              </mc:Choice>
              <mc:Fallback>
                <p:oleObj r:id="rId6" imgW="2104390" imgH="206375" progId="Equation.DSMT4">
                  <p:embed/>
                  <p:pic>
                    <p:nvPicPr>
                      <p:cNvPr id="0" name="图片 3245"/>
                      <p:cNvPicPr/>
                      <p:nvPr/>
                    </p:nvPicPr>
                    <p:blipFill>
                      <a:blip r:embed="rId7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993900" y="1884363"/>
                        <a:ext cx="5099050" cy="508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382" name="Object 5"/>
          <p:cNvGraphicFramePr/>
          <p:nvPr/>
        </p:nvGraphicFramePr>
        <p:xfrm>
          <a:off x="1187450" y="2781300"/>
          <a:ext cx="6686550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3185795" imgH="196850" progId="Equation.DSMT4">
                  <p:embed/>
                </p:oleObj>
              </mc:Choice>
              <mc:Fallback>
                <p:oleObj r:id="rId8" imgW="3185795" imgH="196850" progId="Equation.DSMT4">
                  <p:embed/>
                  <p:pic>
                    <p:nvPicPr>
                      <p:cNvPr id="0" name="图片 3246"/>
                      <p:cNvPicPr/>
                      <p:nvPr/>
                    </p:nvPicPr>
                    <p:blipFill>
                      <a:blip r:embed="rId9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  <a:clrChange>
                          <a:clrFrom>
                            <a:srgbClr val="FFFFFF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87450" y="2781300"/>
                        <a:ext cx="6686550" cy="4746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383" name="Object 6"/>
          <p:cNvGraphicFramePr/>
          <p:nvPr/>
        </p:nvGraphicFramePr>
        <p:xfrm>
          <a:off x="1870075" y="4168775"/>
          <a:ext cx="5403850" cy="178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2124075" imgH="737235" progId="Equation.DSMT4">
                  <p:embed/>
                </p:oleObj>
              </mc:Choice>
              <mc:Fallback>
                <p:oleObj r:id="rId10" imgW="2124075" imgH="737235" progId="Equation.DSMT4">
                  <p:embed/>
                  <p:pic>
                    <p:nvPicPr>
                      <p:cNvPr id="0" name="图片 3248"/>
                      <p:cNvPicPr/>
                      <p:nvPr/>
                    </p:nvPicPr>
                    <p:blipFill>
                      <a:blip r:embed="rId11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870075" y="4168775"/>
                        <a:ext cx="5403850" cy="1781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384" name="Text Box 7"/>
          <p:cNvSpPr txBox="1"/>
          <p:nvPr/>
        </p:nvSpPr>
        <p:spPr>
          <a:xfrm>
            <a:off x="5651500" y="188913"/>
            <a:ext cx="3313113" cy="366712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r>
              <a:rPr lang="zh-CN" altLang="en-US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第 </a:t>
            </a:r>
            <a:r>
              <a:rPr lang="en-US" altLang="zh-CN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6 </a:t>
            </a:r>
            <a:r>
              <a:rPr lang="zh-CN" altLang="en-US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章  状态反馈和状态观测器</a:t>
            </a:r>
          </a:p>
        </p:txBody>
      </p:sp>
      <p:sp>
        <p:nvSpPr>
          <p:cNvPr id="101385" name="Text Box 8"/>
          <p:cNvSpPr txBox="1"/>
          <p:nvPr/>
        </p:nvSpPr>
        <p:spPr>
          <a:xfrm>
            <a:off x="252413" y="6435725"/>
            <a:ext cx="1439862" cy="366713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r>
              <a:rPr lang="en-US" altLang="zh-CN" sz="1800" b="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charset="-122"/>
              </a:rPr>
              <a:t>2. </a:t>
            </a:r>
            <a:r>
              <a:rPr lang="zh-CN" altLang="en-US" sz="1800" b="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charset="-122"/>
              </a:rPr>
              <a:t>极点配置</a:t>
            </a:r>
          </a:p>
        </p:txBody>
      </p:sp>
      <p:sp>
        <p:nvSpPr>
          <p:cNvPr id="101386" name="Rectangle 9"/>
          <p:cNvSpPr/>
          <p:nvPr/>
        </p:nvSpPr>
        <p:spPr>
          <a:xfrm>
            <a:off x="611188" y="1125538"/>
            <a:ext cx="4503737" cy="3651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altLang="zh-CN" sz="2400" b="0" dirty="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charset="-122"/>
              </a:rPr>
              <a:t>6.2.2  </a:t>
            </a:r>
            <a:r>
              <a:rPr lang="zh-CN" altLang="en-US" sz="2400" b="0" dirty="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charset="-122"/>
              </a:rPr>
              <a:t>单输入系统极点配置的算法</a:t>
            </a:r>
          </a:p>
        </p:txBody>
      </p:sp>
      <p:sp>
        <p:nvSpPr>
          <p:cNvPr id="101387" name="Rectangle 10"/>
          <p:cNvSpPr/>
          <p:nvPr/>
        </p:nvSpPr>
        <p:spPr>
          <a:xfrm>
            <a:off x="684213" y="1557338"/>
            <a:ext cx="2708275" cy="3651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altLang="zh-CN" sz="2400" b="0" dirty="0">
                <a:latin typeface="Arial" panose="020B0604020202020204" pitchFamily="34" charset="0"/>
                <a:ea typeface="黑体" panose="02010609060101010101" charset="-122"/>
              </a:rPr>
              <a:t>① </a:t>
            </a:r>
            <a:r>
              <a:rPr lang="zh-CN" altLang="en-US" sz="2400" b="0" dirty="0">
                <a:latin typeface="Arial" panose="020B0604020202020204" pitchFamily="34" charset="0"/>
                <a:ea typeface="黑体" panose="02010609060101010101" charset="-122"/>
              </a:rPr>
              <a:t>求</a:t>
            </a:r>
            <a:r>
              <a:rPr lang="en-US" altLang="zh-CN" sz="2400" b="0" i="1" dirty="0">
                <a:latin typeface="Times New Roman" panose="02020603050405020304" pitchFamily="18" charset="0"/>
                <a:ea typeface="黑体" panose="02010609060101010101" charset="-122"/>
              </a:rPr>
              <a:t>A</a:t>
            </a:r>
            <a:r>
              <a:rPr lang="zh-CN" altLang="en-US" sz="2400" b="0" dirty="0">
                <a:latin typeface="Arial" panose="020B0604020202020204" pitchFamily="34" charset="0"/>
                <a:ea typeface="黑体" panose="02010609060101010101" charset="-122"/>
              </a:rPr>
              <a:t>的特征多项式</a:t>
            </a:r>
            <a:endParaRPr lang="zh-CN" altLang="en-US" sz="2400" b="0" dirty="0">
              <a:solidFill>
                <a:srgbClr val="000000"/>
              </a:solidFill>
              <a:latin typeface="Arial" panose="020B0604020202020204" pitchFamily="34" charset="0"/>
              <a:ea typeface="黑体" panose="02010609060101010101" charset="-122"/>
            </a:endParaRPr>
          </a:p>
        </p:txBody>
      </p:sp>
      <p:sp>
        <p:nvSpPr>
          <p:cNvPr id="101388" name="Rectangle 11"/>
          <p:cNvSpPr/>
          <p:nvPr/>
        </p:nvSpPr>
        <p:spPr>
          <a:xfrm>
            <a:off x="685800" y="5829300"/>
            <a:ext cx="2917825" cy="3651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altLang="zh-CN" sz="2400" b="0" dirty="0">
                <a:latin typeface="Arial" panose="020B0604020202020204" pitchFamily="34" charset="0"/>
                <a:ea typeface="黑体" panose="02010609060101010101" charset="-122"/>
              </a:rPr>
              <a:t>⑤ </a:t>
            </a:r>
            <a:r>
              <a:rPr lang="zh-CN" altLang="en-US" sz="2400" b="0" dirty="0">
                <a:latin typeface="黑体" panose="02010609060101010101" charset="-122"/>
                <a:ea typeface="黑体" panose="02010609060101010101" charset="-122"/>
              </a:rPr>
              <a:t>令</a:t>
            </a:r>
            <a:r>
              <a:rPr lang="en-US" altLang="zh-CN" sz="2400" b="0" i="1" dirty="0">
                <a:latin typeface="Times New Roman" panose="02020603050405020304" pitchFamily="18" charset="0"/>
                <a:ea typeface="黑体" panose="02010609060101010101" charset="-122"/>
              </a:rPr>
              <a:t>P</a:t>
            </a:r>
            <a:r>
              <a:rPr lang="en-US" altLang="zh-CN" sz="2400" b="0" dirty="0">
                <a:latin typeface="Times New Roman" panose="02020603050405020304" pitchFamily="18" charset="0"/>
                <a:ea typeface="黑体" panose="02010609060101010101" charset="-122"/>
              </a:rPr>
              <a:t>=</a:t>
            </a:r>
            <a:r>
              <a:rPr lang="en-US" altLang="zh-CN" sz="2400" b="0" i="1" dirty="0">
                <a:latin typeface="Times New Roman" panose="02020603050405020304" pitchFamily="18" charset="0"/>
                <a:ea typeface="黑体" panose="02010609060101010101" charset="-122"/>
              </a:rPr>
              <a:t>Q</a:t>
            </a:r>
            <a:r>
              <a:rPr lang="en-US" altLang="zh-CN" sz="2400" b="0" baseline="30000" dirty="0">
                <a:latin typeface="宋体" panose="02010600030101010101" pitchFamily="2" charset="-122"/>
              </a:rPr>
              <a:t>-</a:t>
            </a:r>
            <a:r>
              <a:rPr lang="en-US" altLang="zh-CN" sz="2400" b="0" baseline="30000" dirty="0">
                <a:latin typeface="Times New Roman" panose="02020603050405020304" pitchFamily="18" charset="0"/>
                <a:ea typeface="黑体" panose="02010609060101010101" charset="-122"/>
              </a:rPr>
              <a:t>1</a:t>
            </a:r>
            <a:r>
              <a:rPr lang="en-US" altLang="zh-CN" sz="2400" b="0" dirty="0">
                <a:latin typeface="Times New Roman" panose="02020603050405020304" pitchFamily="18" charset="0"/>
                <a:ea typeface="黑体" panose="02010609060101010101" charset="-122"/>
              </a:rPr>
              <a:t> </a:t>
            </a:r>
            <a:r>
              <a:rPr lang="en-US" altLang="zh-CN" sz="2400" b="0" dirty="0">
                <a:latin typeface="Arial" panose="020B0604020202020204" pitchFamily="34" charset="0"/>
                <a:ea typeface="黑体" panose="02010609060101010101" charset="-122"/>
              </a:rPr>
              <a:t>        </a:t>
            </a:r>
            <a:r>
              <a:rPr lang="en-US" altLang="zh-CN" sz="2400" b="0" dirty="0">
                <a:latin typeface="黑体" panose="02010609060101010101" charset="-122"/>
                <a:ea typeface="黑体" panose="02010609060101010101" charset="-122"/>
              </a:rPr>
              <a:t>⑥</a:t>
            </a:r>
            <a:r>
              <a:rPr lang="en-US" altLang="zh-CN" sz="2400" b="0" dirty="0">
                <a:latin typeface="Arial" panose="020B0604020202020204" pitchFamily="34" charset="0"/>
                <a:ea typeface="黑体" panose="02010609060101010101" charset="-122"/>
              </a:rPr>
              <a:t> </a:t>
            </a:r>
            <a:r>
              <a:rPr lang="zh-CN" altLang="en-US" sz="2400" b="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charset="-122"/>
              </a:rPr>
              <a:t>求</a:t>
            </a:r>
          </a:p>
        </p:txBody>
      </p:sp>
      <p:sp>
        <p:nvSpPr>
          <p:cNvPr id="101389" name="Rectangle 12"/>
          <p:cNvSpPr/>
          <p:nvPr/>
        </p:nvSpPr>
        <p:spPr>
          <a:xfrm>
            <a:off x="684213" y="2349500"/>
            <a:ext cx="4351337" cy="3651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altLang="zh-CN" sz="2400" b="0" dirty="0">
                <a:latin typeface="Arial" panose="020B0604020202020204" pitchFamily="34" charset="0"/>
                <a:ea typeface="黑体" panose="02010609060101010101" charset="-122"/>
              </a:rPr>
              <a:t>② </a:t>
            </a:r>
            <a:r>
              <a:rPr lang="zh-CN" altLang="en-US" sz="2400" b="0" dirty="0">
                <a:latin typeface="Arial" panose="020B0604020202020204" pitchFamily="34" charset="0"/>
                <a:ea typeface="黑体" panose="02010609060101010101" charset="-122"/>
              </a:rPr>
              <a:t>求闭环系统的期望特征多项式</a:t>
            </a:r>
            <a:endParaRPr lang="zh-CN" altLang="en-US" sz="2400" b="0" dirty="0">
              <a:solidFill>
                <a:srgbClr val="000000"/>
              </a:solidFill>
              <a:latin typeface="Arial" panose="020B0604020202020204" pitchFamily="34" charset="0"/>
              <a:ea typeface="黑体" panose="02010609060101010101" charset="-122"/>
            </a:endParaRPr>
          </a:p>
        </p:txBody>
      </p:sp>
      <p:sp>
        <p:nvSpPr>
          <p:cNvPr id="101390" name="Rectangle 13"/>
          <p:cNvSpPr/>
          <p:nvPr/>
        </p:nvSpPr>
        <p:spPr>
          <a:xfrm>
            <a:off x="693738" y="3213100"/>
            <a:ext cx="998537" cy="3651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altLang="zh-CN" sz="2400" b="0" dirty="0">
                <a:latin typeface="Arial" panose="020B0604020202020204" pitchFamily="34" charset="0"/>
                <a:ea typeface="黑体" panose="02010609060101010101" charset="-122"/>
              </a:rPr>
              <a:t>③ </a:t>
            </a:r>
            <a:r>
              <a:rPr lang="zh-CN" altLang="en-US" sz="2400" b="0" dirty="0">
                <a:latin typeface="Arial" panose="020B0604020202020204" pitchFamily="34" charset="0"/>
                <a:ea typeface="黑体" panose="02010609060101010101" charset="-122"/>
              </a:rPr>
              <a:t>计算</a:t>
            </a:r>
            <a:endParaRPr lang="zh-CN" altLang="en-US" sz="2400" b="0" dirty="0">
              <a:solidFill>
                <a:srgbClr val="000000"/>
              </a:solidFill>
              <a:latin typeface="Arial" panose="020B0604020202020204" pitchFamily="34" charset="0"/>
              <a:ea typeface="黑体" panose="02010609060101010101" charset="-122"/>
            </a:endParaRPr>
          </a:p>
        </p:txBody>
      </p:sp>
      <p:sp>
        <p:nvSpPr>
          <p:cNvPr id="101391" name="Rectangle 14"/>
          <p:cNvSpPr/>
          <p:nvPr/>
        </p:nvSpPr>
        <p:spPr>
          <a:xfrm>
            <a:off x="693738" y="4005263"/>
            <a:ext cx="998537" cy="3651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en-US" altLang="zh-CN" sz="2400" b="0" dirty="0">
                <a:latin typeface="黑体" panose="02010609060101010101" charset="-122"/>
                <a:ea typeface="黑体" panose="02010609060101010101" charset="-122"/>
              </a:rPr>
              <a:t>④</a:t>
            </a:r>
            <a:r>
              <a:rPr lang="en-US" altLang="zh-CN" sz="2400" b="0" dirty="0">
                <a:latin typeface="Arial" panose="020B0604020202020204" pitchFamily="34" charset="0"/>
                <a:ea typeface="黑体" panose="02010609060101010101" charset="-122"/>
              </a:rPr>
              <a:t> </a:t>
            </a:r>
            <a:r>
              <a:rPr lang="zh-CN" altLang="en-US" sz="2400" b="0" dirty="0">
                <a:latin typeface="Arial" panose="020B0604020202020204" pitchFamily="34" charset="0"/>
                <a:ea typeface="黑体" panose="02010609060101010101" charset="-122"/>
              </a:rPr>
              <a:t>计算</a:t>
            </a:r>
          </a:p>
        </p:txBody>
      </p:sp>
      <p:graphicFrame>
        <p:nvGraphicFramePr>
          <p:cNvPr id="101392" name="Object 15"/>
          <p:cNvGraphicFramePr>
            <a:graphicFrameLocks noGrp="1"/>
          </p:cNvGraphicFramePr>
          <p:nvPr>
            <p:ph/>
          </p:nvPr>
        </p:nvGraphicFramePr>
        <p:xfrm>
          <a:off x="3563938" y="5768975"/>
          <a:ext cx="936625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354965" imgH="177800" progId="Equation.DSMT4">
                  <p:embed/>
                </p:oleObj>
              </mc:Choice>
              <mc:Fallback>
                <p:oleObj r:id="rId12" imgW="354965" imgH="177800" progId="Equation.DSMT4">
                  <p:embed/>
                  <p:pic>
                    <p:nvPicPr>
                      <p:cNvPr id="0" name="图片 3244"/>
                      <p:cNvPicPr/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>
                      <a:xfrm>
                        <a:off x="3563938" y="5768975"/>
                        <a:ext cx="936625" cy="468313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393" name="Text Box 16"/>
          <p:cNvSpPr txBox="1"/>
          <p:nvPr/>
        </p:nvSpPr>
        <p:spPr>
          <a:xfrm>
            <a:off x="5413375" y="6435725"/>
            <a:ext cx="1390650" cy="366713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1800" b="0" dirty="0">
                <a:latin typeface="Arial" panose="020B0604020202020204" pitchFamily="34" charset="0"/>
                <a:ea typeface="黑体" panose="02010609060101010101" charset="-122"/>
              </a:rPr>
              <a:t>井元伟 教授</a:t>
            </a:r>
          </a:p>
        </p:txBody>
      </p:sp>
    </p:spTree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日期占位符 2"/>
          <p:cNvSpPr txBox="1">
            <a:spLocks noGrp="1"/>
          </p:cNvSpPr>
          <p:nvPr>
            <p:ph type="dt" sz="half" idx="10"/>
          </p:nvPr>
        </p:nvSpPr>
        <p:spPr>
          <a:xfrm>
            <a:off x="2941638" y="5157788"/>
            <a:ext cx="3311525" cy="404812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BB962C8B-B14F-4D97-AF65-F5344CB8AC3E}" type="datetime2">
              <a:rPr lang="zh-CN" altLang="en-US" sz="2400" b="0" dirty="0">
                <a:solidFill>
                  <a:schemeClr val="bg1"/>
                </a:solidFill>
              </a:rPr>
              <a:t>2026年7月17日</a:t>
            </a:fld>
            <a:endParaRPr lang="zh-CN" altLang="en-US" sz="2400" b="0" dirty="0">
              <a:solidFill>
                <a:schemeClr val="bg1"/>
              </a:solidFill>
            </a:endParaRPr>
          </a:p>
        </p:txBody>
      </p:sp>
      <p:pic>
        <p:nvPicPr>
          <p:cNvPr id="103427" name="Picture 2" descr="底图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103428" name="Object 3"/>
          <p:cNvGraphicFramePr/>
          <p:nvPr/>
        </p:nvGraphicFramePr>
        <p:xfrm>
          <a:off x="3059113" y="1484313"/>
          <a:ext cx="2987675" cy="1417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543685" imgH="737235" progId="Equation.DSMT4">
                  <p:embed/>
                </p:oleObj>
              </mc:Choice>
              <mc:Fallback>
                <p:oleObj r:id="rId4" imgW="1543685" imgH="737235" progId="Equation.DSMT4">
                  <p:embed/>
                  <p:pic>
                    <p:nvPicPr>
                      <p:cNvPr id="0" name="图片 3250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059113" y="1484313"/>
                        <a:ext cx="2987675" cy="14176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429" name="Object 4"/>
          <p:cNvGraphicFramePr/>
          <p:nvPr/>
        </p:nvGraphicFramePr>
        <p:xfrm>
          <a:off x="3492500" y="3357563"/>
          <a:ext cx="935038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521335" imgH="236220" progId="Equation.3">
                  <p:embed/>
                </p:oleObj>
              </mc:Choice>
              <mc:Fallback>
                <p:oleObj r:id="rId6" imgW="521335" imgH="236220" progId="Equation.3">
                  <p:embed/>
                  <p:pic>
                    <p:nvPicPr>
                      <p:cNvPr id="0" name="图片 3249"/>
                      <p:cNvPicPr/>
                      <p:nvPr/>
                    </p:nvPicPr>
                    <p:blipFill>
                      <a:blip r:embed="rId7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492500" y="3357563"/>
                        <a:ext cx="935038" cy="422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430" name="Object 5"/>
          <p:cNvGraphicFramePr/>
          <p:nvPr/>
        </p:nvGraphicFramePr>
        <p:xfrm>
          <a:off x="4572000" y="3322638"/>
          <a:ext cx="158432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993140" imgH="275590" progId="Equation.3">
                  <p:embed/>
                </p:oleObj>
              </mc:Choice>
              <mc:Fallback>
                <p:oleObj r:id="rId8" imgW="993140" imgH="275590" progId="Equation.3">
                  <p:embed/>
                  <p:pic>
                    <p:nvPicPr>
                      <p:cNvPr id="0" name="图片 3252"/>
                      <p:cNvPicPr/>
                      <p:nvPr/>
                    </p:nvPicPr>
                    <p:blipFill>
                      <a:blip r:embed="rId9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  <a:clrChange>
                          <a:clrFrom>
                            <a:srgbClr val="FFFFFF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572000" y="3322638"/>
                        <a:ext cx="1584325" cy="504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431" name="Text Box 7"/>
          <p:cNvSpPr txBox="1"/>
          <p:nvPr/>
        </p:nvSpPr>
        <p:spPr>
          <a:xfrm>
            <a:off x="5651500" y="188913"/>
            <a:ext cx="3313113" cy="366712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r>
              <a:rPr lang="zh-CN" altLang="en-US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第 </a:t>
            </a:r>
            <a:r>
              <a:rPr lang="en-US" altLang="zh-CN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6 </a:t>
            </a:r>
            <a:r>
              <a:rPr lang="zh-CN" altLang="en-US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章  状态反馈和状态观测器</a:t>
            </a:r>
          </a:p>
        </p:txBody>
      </p:sp>
      <p:sp>
        <p:nvSpPr>
          <p:cNvPr id="103432" name="Text Box 8"/>
          <p:cNvSpPr txBox="1"/>
          <p:nvPr/>
        </p:nvSpPr>
        <p:spPr>
          <a:xfrm>
            <a:off x="252413" y="6435725"/>
            <a:ext cx="1439862" cy="366713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r>
              <a:rPr lang="en-US" altLang="zh-CN" sz="1800" b="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charset="-122"/>
              </a:rPr>
              <a:t>2. </a:t>
            </a:r>
            <a:r>
              <a:rPr lang="zh-CN" altLang="en-US" sz="1800" b="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charset="-122"/>
              </a:rPr>
              <a:t>极点配置</a:t>
            </a:r>
          </a:p>
        </p:txBody>
      </p:sp>
      <p:sp>
        <p:nvSpPr>
          <p:cNvPr id="103433" name="Text Box 14"/>
          <p:cNvSpPr txBox="1"/>
          <p:nvPr/>
        </p:nvSpPr>
        <p:spPr>
          <a:xfrm>
            <a:off x="539750" y="1143000"/>
            <a:ext cx="2554288" cy="4572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400" b="0" dirty="0">
                <a:latin typeface="Arial" panose="020B0604020202020204" pitchFamily="34" charset="0"/>
                <a:ea typeface="黑体" panose="02010609060101010101" charset="-122"/>
              </a:rPr>
              <a:t>例</a:t>
            </a:r>
            <a:r>
              <a:rPr lang="en-US" altLang="zh-CN" sz="2400" b="0" dirty="0">
                <a:latin typeface="Arial" panose="020B0604020202020204" pitchFamily="34" charset="0"/>
                <a:ea typeface="黑体" panose="02010609060101010101" charset="-122"/>
              </a:rPr>
              <a:t>6.2.1  </a:t>
            </a:r>
            <a:r>
              <a:rPr lang="zh-CN" altLang="en-US" sz="2400" b="0" dirty="0">
                <a:latin typeface="Arial" panose="020B0604020202020204" pitchFamily="34" charset="0"/>
                <a:ea typeface="黑体" panose="02010609060101010101" charset="-122"/>
              </a:rPr>
              <a:t>考虑系统</a:t>
            </a:r>
          </a:p>
        </p:txBody>
      </p:sp>
      <p:sp>
        <p:nvSpPr>
          <p:cNvPr id="103434" name="Text Box 15"/>
          <p:cNvSpPr txBox="1"/>
          <p:nvPr/>
        </p:nvSpPr>
        <p:spPr>
          <a:xfrm>
            <a:off x="539750" y="2852738"/>
            <a:ext cx="6178550" cy="4572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400" b="0" dirty="0">
                <a:latin typeface="Arial" panose="020B0604020202020204" pitchFamily="34" charset="0"/>
                <a:ea typeface="黑体" panose="02010609060101010101" charset="-122"/>
              </a:rPr>
              <a:t>求状态反馈增益阵</a:t>
            </a:r>
            <a:r>
              <a:rPr lang="en-US" altLang="zh-CN" sz="2400" b="0" i="1" dirty="0">
                <a:latin typeface="Times New Roman" panose="02020603050405020304" pitchFamily="18" charset="0"/>
                <a:ea typeface="黑体" panose="02010609060101010101" charset="-122"/>
              </a:rPr>
              <a:t>K</a:t>
            </a:r>
            <a:r>
              <a:rPr lang="zh-CN" altLang="en-US" sz="2400" b="0" dirty="0">
                <a:latin typeface="Arial" panose="020B0604020202020204" pitchFamily="34" charset="0"/>
                <a:ea typeface="黑体" panose="02010609060101010101" charset="-122"/>
              </a:rPr>
              <a:t>，使反馈后闭环特征值为</a:t>
            </a:r>
          </a:p>
        </p:txBody>
      </p:sp>
      <p:sp>
        <p:nvSpPr>
          <p:cNvPr id="103435" name="Text Box 18"/>
          <p:cNvSpPr txBox="1"/>
          <p:nvPr/>
        </p:nvSpPr>
        <p:spPr>
          <a:xfrm>
            <a:off x="5413375" y="6435725"/>
            <a:ext cx="1390650" cy="366713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1800" b="0" dirty="0">
                <a:latin typeface="Arial" panose="020B0604020202020204" pitchFamily="34" charset="0"/>
                <a:ea typeface="黑体" panose="02010609060101010101" charset="-122"/>
              </a:rPr>
              <a:t>井元伟 教授</a:t>
            </a:r>
          </a:p>
        </p:txBody>
      </p:sp>
    </p:spTree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日期占位符 2"/>
          <p:cNvSpPr txBox="1">
            <a:spLocks noGrp="1"/>
          </p:cNvSpPr>
          <p:nvPr>
            <p:ph type="dt" sz="half" idx="10"/>
          </p:nvPr>
        </p:nvSpPr>
        <p:spPr>
          <a:xfrm>
            <a:off x="2941638" y="5157788"/>
            <a:ext cx="3311525" cy="404812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BB962C8B-B14F-4D97-AF65-F5344CB8AC3E}" type="datetime2">
              <a:rPr lang="zh-CN" altLang="en-US" sz="2400" b="0" dirty="0">
                <a:solidFill>
                  <a:schemeClr val="bg1"/>
                </a:solidFill>
              </a:rPr>
              <a:t>2026年7月17日</a:t>
            </a:fld>
            <a:endParaRPr lang="zh-CN" altLang="en-US" sz="2400" b="0" dirty="0">
              <a:solidFill>
                <a:schemeClr val="bg1"/>
              </a:solidFill>
            </a:endParaRPr>
          </a:p>
        </p:txBody>
      </p:sp>
      <p:pic>
        <p:nvPicPr>
          <p:cNvPr id="105475" name="Picture 2" descr="底图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105476" name="Object 3"/>
          <p:cNvGraphicFramePr/>
          <p:nvPr/>
        </p:nvGraphicFramePr>
        <p:xfrm>
          <a:off x="3059113" y="1484313"/>
          <a:ext cx="2987675" cy="1417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543685" imgH="737235" progId="Equation.DSMT4">
                  <p:embed/>
                </p:oleObj>
              </mc:Choice>
              <mc:Fallback>
                <p:oleObj r:id="rId4" imgW="1543685" imgH="737235" progId="Equation.DSMT4">
                  <p:embed/>
                  <p:pic>
                    <p:nvPicPr>
                      <p:cNvPr id="0" name="图片 3253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059113" y="1484313"/>
                        <a:ext cx="2987675" cy="14176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477" name="Object 4"/>
          <p:cNvGraphicFramePr/>
          <p:nvPr/>
        </p:nvGraphicFramePr>
        <p:xfrm>
          <a:off x="3492500" y="3357563"/>
          <a:ext cx="935038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521335" imgH="236220" progId="Equation.3">
                  <p:embed/>
                </p:oleObj>
              </mc:Choice>
              <mc:Fallback>
                <p:oleObj r:id="rId6" imgW="521335" imgH="236220" progId="Equation.3">
                  <p:embed/>
                  <p:pic>
                    <p:nvPicPr>
                      <p:cNvPr id="0" name="图片 3254"/>
                      <p:cNvPicPr/>
                      <p:nvPr/>
                    </p:nvPicPr>
                    <p:blipFill>
                      <a:blip r:embed="rId7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492500" y="3357563"/>
                        <a:ext cx="935038" cy="422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478" name="Object 5"/>
          <p:cNvGraphicFramePr/>
          <p:nvPr/>
        </p:nvGraphicFramePr>
        <p:xfrm>
          <a:off x="4572000" y="3322638"/>
          <a:ext cx="158432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993140" imgH="275590" progId="Equation.3">
                  <p:embed/>
                </p:oleObj>
              </mc:Choice>
              <mc:Fallback>
                <p:oleObj r:id="rId8" imgW="993140" imgH="275590" progId="Equation.3">
                  <p:embed/>
                  <p:pic>
                    <p:nvPicPr>
                      <p:cNvPr id="0" name="图片 3262"/>
                      <p:cNvPicPr/>
                      <p:nvPr/>
                    </p:nvPicPr>
                    <p:blipFill>
                      <a:blip r:embed="rId9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  <a:clrChange>
                          <a:clrFrom>
                            <a:srgbClr val="FFFFFF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572000" y="3322638"/>
                        <a:ext cx="1584325" cy="504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479" name="Object 6"/>
          <p:cNvGraphicFramePr/>
          <p:nvPr/>
        </p:nvGraphicFramePr>
        <p:xfrm>
          <a:off x="1835150" y="3954463"/>
          <a:ext cx="5472113" cy="134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2664460" imgH="737235" progId="Equation.3">
                  <p:embed/>
                </p:oleObj>
              </mc:Choice>
              <mc:Fallback>
                <p:oleObj r:id="rId10" imgW="2664460" imgH="737235" progId="Equation.3">
                  <p:embed/>
                  <p:pic>
                    <p:nvPicPr>
                      <p:cNvPr id="0" name="图片 3260"/>
                      <p:cNvPicPr/>
                      <p:nvPr/>
                    </p:nvPicPr>
                    <p:blipFill>
                      <a:blip r:embed="rId11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835150" y="3954463"/>
                        <a:ext cx="5472113" cy="1346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480" name="Text Box 7"/>
          <p:cNvSpPr txBox="1"/>
          <p:nvPr/>
        </p:nvSpPr>
        <p:spPr>
          <a:xfrm>
            <a:off x="5651500" y="188913"/>
            <a:ext cx="3313113" cy="366712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r>
              <a:rPr lang="zh-CN" altLang="en-US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第 </a:t>
            </a:r>
            <a:r>
              <a:rPr lang="en-US" altLang="zh-CN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6 </a:t>
            </a:r>
            <a:r>
              <a:rPr lang="zh-CN" altLang="en-US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章  状态反馈和状态观测器</a:t>
            </a:r>
          </a:p>
        </p:txBody>
      </p:sp>
      <p:sp>
        <p:nvSpPr>
          <p:cNvPr id="105481" name="Text Box 8"/>
          <p:cNvSpPr txBox="1"/>
          <p:nvPr/>
        </p:nvSpPr>
        <p:spPr>
          <a:xfrm>
            <a:off x="252413" y="6435725"/>
            <a:ext cx="1439862" cy="366713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r>
              <a:rPr lang="en-US" altLang="zh-CN" sz="1800" b="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charset="-122"/>
              </a:rPr>
              <a:t>2. </a:t>
            </a:r>
            <a:r>
              <a:rPr lang="zh-CN" altLang="en-US" sz="1800" b="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charset="-122"/>
              </a:rPr>
              <a:t>极点配置</a:t>
            </a:r>
          </a:p>
        </p:txBody>
      </p:sp>
      <p:sp>
        <p:nvSpPr>
          <p:cNvPr id="105482" name="Rectangle 9"/>
          <p:cNvSpPr/>
          <p:nvPr/>
        </p:nvSpPr>
        <p:spPr>
          <a:xfrm>
            <a:off x="684213" y="3644900"/>
            <a:ext cx="609600" cy="3651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zh-CN" altLang="en-US" sz="2400" b="0" dirty="0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charset="-122"/>
              </a:rPr>
              <a:t>解</a:t>
            </a:r>
            <a:r>
              <a:rPr lang="zh-CN" altLang="en-US" sz="2400" b="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charset="-122"/>
              </a:rPr>
              <a:t>：</a:t>
            </a:r>
            <a:endParaRPr lang="zh-CN" altLang="en-US" sz="2400" b="0" dirty="0">
              <a:latin typeface="Arial" panose="020B0604020202020204" pitchFamily="34" charset="0"/>
              <a:ea typeface="黑体" panose="02010609060101010101" charset="-122"/>
            </a:endParaRPr>
          </a:p>
        </p:txBody>
      </p:sp>
      <p:sp>
        <p:nvSpPr>
          <p:cNvPr id="105483" name="Rectangle 10"/>
          <p:cNvSpPr/>
          <p:nvPr/>
        </p:nvSpPr>
        <p:spPr>
          <a:xfrm>
            <a:off x="1476375" y="3644900"/>
            <a:ext cx="609600" cy="3651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zh-CN" altLang="en-US" sz="2400" b="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charset="-122"/>
              </a:rPr>
              <a:t>因为</a:t>
            </a:r>
            <a:endParaRPr lang="zh-CN" altLang="en-US" sz="2400" b="0" dirty="0">
              <a:latin typeface="Arial" panose="020B0604020202020204" pitchFamily="34" charset="0"/>
              <a:ea typeface="黑体" panose="02010609060101010101" charset="-122"/>
            </a:endParaRPr>
          </a:p>
        </p:txBody>
      </p:sp>
      <p:sp>
        <p:nvSpPr>
          <p:cNvPr id="105484" name="Rectangle 11"/>
          <p:cNvSpPr/>
          <p:nvPr/>
        </p:nvSpPr>
        <p:spPr>
          <a:xfrm>
            <a:off x="611188" y="5300663"/>
            <a:ext cx="6096000" cy="3651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zh-CN" altLang="en-US" sz="2400" b="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charset="-122"/>
              </a:rPr>
              <a:t>系统是状态完全能控的，通过状态反馈控制律</a:t>
            </a:r>
            <a:endParaRPr lang="zh-CN" altLang="en-US" sz="2400" b="0" dirty="0">
              <a:latin typeface="Arial" panose="020B0604020202020204" pitchFamily="34" charset="0"/>
              <a:ea typeface="黑体" panose="02010609060101010101" charset="-122"/>
            </a:endParaRPr>
          </a:p>
        </p:txBody>
      </p:sp>
      <p:sp>
        <p:nvSpPr>
          <p:cNvPr id="105485" name="Rectangle 12"/>
          <p:cNvSpPr/>
          <p:nvPr/>
        </p:nvSpPr>
        <p:spPr>
          <a:xfrm>
            <a:off x="7905750" y="5295900"/>
            <a:ext cx="914400" cy="3651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zh-CN" altLang="en-US" sz="2400" b="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charset="-122"/>
              </a:rPr>
              <a:t>能任意</a:t>
            </a:r>
            <a:endParaRPr lang="zh-CN" altLang="en-US" sz="2400" b="0" dirty="0">
              <a:latin typeface="Arial" panose="020B0604020202020204" pitchFamily="34" charset="0"/>
              <a:ea typeface="黑体" panose="02010609060101010101" charset="-122"/>
            </a:endParaRPr>
          </a:p>
        </p:txBody>
      </p:sp>
      <p:sp>
        <p:nvSpPr>
          <p:cNvPr id="105486" name="Rectangle 13"/>
          <p:cNvSpPr/>
          <p:nvPr/>
        </p:nvSpPr>
        <p:spPr>
          <a:xfrm>
            <a:off x="611188" y="5805488"/>
            <a:ext cx="2438400" cy="3651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lang="zh-CN" altLang="en-US" sz="2400" b="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charset="-122"/>
              </a:rPr>
              <a:t>配置</a:t>
            </a:r>
            <a:r>
              <a:rPr lang="zh-CN" altLang="en-US" sz="2400" b="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charset="-122"/>
              </a:rPr>
              <a:t>闭环特征值</a:t>
            </a:r>
            <a:r>
              <a:rPr lang="zh-CN" altLang="en-US" sz="2400" b="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charset="-122"/>
              </a:rPr>
              <a:t>。</a:t>
            </a:r>
            <a:endParaRPr lang="zh-CN" altLang="en-US" sz="2400" b="0" dirty="0">
              <a:latin typeface="Arial" panose="020B0604020202020204" pitchFamily="34" charset="0"/>
              <a:ea typeface="黑体" panose="02010609060101010101" charset="-122"/>
            </a:endParaRPr>
          </a:p>
        </p:txBody>
      </p:sp>
      <p:sp>
        <p:nvSpPr>
          <p:cNvPr id="105487" name="Text Box 14"/>
          <p:cNvSpPr txBox="1"/>
          <p:nvPr/>
        </p:nvSpPr>
        <p:spPr>
          <a:xfrm>
            <a:off x="539750" y="1143000"/>
            <a:ext cx="2554288" cy="4572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400" b="0" dirty="0">
                <a:latin typeface="Arial" panose="020B0604020202020204" pitchFamily="34" charset="0"/>
                <a:ea typeface="黑体" panose="02010609060101010101" charset="-122"/>
              </a:rPr>
              <a:t>例</a:t>
            </a:r>
            <a:r>
              <a:rPr lang="en-US" altLang="zh-CN" sz="2400" b="0" dirty="0">
                <a:latin typeface="Arial" panose="020B0604020202020204" pitchFamily="34" charset="0"/>
                <a:ea typeface="黑体" panose="02010609060101010101" charset="-122"/>
              </a:rPr>
              <a:t>6.2.1  </a:t>
            </a:r>
            <a:r>
              <a:rPr lang="zh-CN" altLang="en-US" sz="2400" b="0" dirty="0">
                <a:latin typeface="Arial" panose="020B0604020202020204" pitchFamily="34" charset="0"/>
                <a:ea typeface="黑体" panose="02010609060101010101" charset="-122"/>
              </a:rPr>
              <a:t>考虑系统</a:t>
            </a:r>
          </a:p>
        </p:txBody>
      </p:sp>
      <p:sp>
        <p:nvSpPr>
          <p:cNvPr id="105488" name="Text Box 15"/>
          <p:cNvSpPr txBox="1"/>
          <p:nvPr/>
        </p:nvSpPr>
        <p:spPr>
          <a:xfrm>
            <a:off x="539750" y="2852738"/>
            <a:ext cx="6178550" cy="4572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400" b="0" dirty="0">
                <a:latin typeface="Arial" panose="020B0604020202020204" pitchFamily="34" charset="0"/>
                <a:ea typeface="黑体" panose="02010609060101010101" charset="-122"/>
              </a:rPr>
              <a:t>求状态反馈增益阵</a:t>
            </a:r>
            <a:r>
              <a:rPr lang="en-US" altLang="zh-CN" sz="2400" b="0" i="1" dirty="0">
                <a:latin typeface="Times New Roman" panose="02020603050405020304" pitchFamily="18" charset="0"/>
                <a:ea typeface="黑体" panose="02010609060101010101" charset="-122"/>
              </a:rPr>
              <a:t>K</a:t>
            </a:r>
            <a:r>
              <a:rPr lang="zh-CN" altLang="en-US" sz="2400" b="0" dirty="0">
                <a:latin typeface="Arial" panose="020B0604020202020204" pitchFamily="34" charset="0"/>
                <a:ea typeface="黑体" panose="02010609060101010101" charset="-122"/>
              </a:rPr>
              <a:t>，使反馈后闭环特征值为</a:t>
            </a:r>
          </a:p>
        </p:txBody>
      </p:sp>
      <p:graphicFrame>
        <p:nvGraphicFramePr>
          <p:cNvPr id="105489" name="Object 16"/>
          <p:cNvGraphicFramePr>
            <a:graphicFrameLocks noGrp="1"/>
          </p:cNvGraphicFramePr>
          <p:nvPr>
            <p:ph/>
          </p:nvPr>
        </p:nvGraphicFramePr>
        <p:xfrm>
          <a:off x="6678613" y="5280025"/>
          <a:ext cx="1277937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481965" imgH="152400" progId="Equation.DSMT4">
                  <p:embed/>
                </p:oleObj>
              </mc:Choice>
              <mc:Fallback>
                <p:oleObj r:id="rId12" imgW="481965" imgH="152400" progId="Equation.DSMT4">
                  <p:embed/>
                  <p:pic>
                    <p:nvPicPr>
                      <p:cNvPr id="0" name="图片 3259"/>
                      <p:cNvPicPr/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>
                      <a:xfrm>
                        <a:off x="6678613" y="5280025"/>
                        <a:ext cx="1277937" cy="403225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490" name="Text Box 17"/>
          <p:cNvSpPr txBox="1"/>
          <p:nvPr/>
        </p:nvSpPr>
        <p:spPr>
          <a:xfrm>
            <a:off x="5413375" y="6435725"/>
            <a:ext cx="1390650" cy="366713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1800" b="0" dirty="0">
                <a:latin typeface="Arial" panose="020B0604020202020204" pitchFamily="34" charset="0"/>
                <a:ea typeface="黑体" panose="02010609060101010101" charset="-122"/>
              </a:rPr>
              <a:t>井元伟 教授</a:t>
            </a:r>
          </a:p>
        </p:txBody>
      </p:sp>
    </p:spTree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日期占位符 2"/>
          <p:cNvSpPr txBox="1">
            <a:spLocks noGrp="1"/>
          </p:cNvSpPr>
          <p:nvPr>
            <p:ph type="dt" sz="half" idx="10"/>
          </p:nvPr>
        </p:nvSpPr>
        <p:spPr>
          <a:xfrm>
            <a:off x="2941638" y="5157788"/>
            <a:ext cx="3311525" cy="404812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BB962C8B-B14F-4D97-AF65-F5344CB8AC3E}" type="datetime2">
              <a:rPr lang="zh-CN" altLang="en-US" sz="2400" b="0" dirty="0">
                <a:solidFill>
                  <a:schemeClr val="bg1"/>
                </a:solidFill>
              </a:rPr>
              <a:t>2026年7月17日</a:t>
            </a:fld>
            <a:endParaRPr lang="zh-CN" altLang="en-US" sz="2400" b="0" dirty="0">
              <a:solidFill>
                <a:schemeClr val="bg1"/>
              </a:solidFill>
            </a:endParaRPr>
          </a:p>
        </p:txBody>
      </p:sp>
      <p:pic>
        <p:nvPicPr>
          <p:cNvPr id="110595" name="Picture 2" descr="底图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0596" name="Text Box 3"/>
          <p:cNvSpPr txBox="1"/>
          <p:nvPr/>
        </p:nvSpPr>
        <p:spPr>
          <a:xfrm>
            <a:off x="468313" y="1008063"/>
            <a:ext cx="1133475" cy="4572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>
            <a:spAutoFit/>
          </a:bodyPr>
          <a:lstStyle/>
          <a:p>
            <a:pPr>
              <a:spcBef>
                <a:spcPct val="20000"/>
              </a:spcBef>
              <a:buSzPct val="100000"/>
            </a:pPr>
            <a:r>
              <a:rPr lang="en-US" altLang="zh-CN" sz="2400" b="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charset="-122"/>
              </a:rPr>
              <a:t>1) </a:t>
            </a:r>
            <a:r>
              <a:rPr lang="zh-CN" altLang="en-US" sz="2400" b="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charset="-122"/>
              </a:rPr>
              <a:t>由</a:t>
            </a:r>
          </a:p>
        </p:txBody>
      </p:sp>
      <p:graphicFrame>
        <p:nvGraphicFramePr>
          <p:cNvPr id="110597" name="Object 4"/>
          <p:cNvGraphicFramePr/>
          <p:nvPr/>
        </p:nvGraphicFramePr>
        <p:xfrm>
          <a:off x="1536700" y="1196975"/>
          <a:ext cx="6069013" cy="158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3146425" imgH="737235" progId="Equation.3">
                  <p:embed/>
                </p:oleObj>
              </mc:Choice>
              <mc:Fallback>
                <p:oleObj r:id="rId4" imgW="3146425" imgH="737235" progId="Equation.3">
                  <p:embed/>
                  <p:pic>
                    <p:nvPicPr>
                      <p:cNvPr id="0" name="图片 3203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536700" y="1196975"/>
                        <a:ext cx="6069013" cy="15843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598" name="Text Box 5"/>
          <p:cNvSpPr txBox="1"/>
          <p:nvPr/>
        </p:nvSpPr>
        <p:spPr>
          <a:xfrm>
            <a:off x="827088" y="2684463"/>
            <a:ext cx="719137" cy="4572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>
            <a:spAutoFit/>
          </a:bodyPr>
          <a:lstStyle/>
          <a:p>
            <a:pPr>
              <a:spcBef>
                <a:spcPct val="20000"/>
              </a:spcBef>
              <a:buSzPct val="100000"/>
            </a:pPr>
            <a:r>
              <a:rPr lang="zh-CN" altLang="en-US" sz="2400" b="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charset="-122"/>
              </a:rPr>
              <a:t>得</a:t>
            </a:r>
          </a:p>
        </p:txBody>
      </p:sp>
      <p:graphicFrame>
        <p:nvGraphicFramePr>
          <p:cNvPr id="110599" name="Object 6"/>
          <p:cNvGraphicFramePr/>
          <p:nvPr/>
        </p:nvGraphicFramePr>
        <p:xfrm>
          <a:off x="3052763" y="2924175"/>
          <a:ext cx="3032125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081405" imgH="186690" progId="Equation.DSMT4">
                  <p:embed/>
                </p:oleObj>
              </mc:Choice>
              <mc:Fallback>
                <p:oleObj r:id="rId6" imgW="1081405" imgH="186690" progId="Equation.DSMT4">
                  <p:embed/>
                  <p:pic>
                    <p:nvPicPr>
                      <p:cNvPr id="0" name="图片 3205"/>
                      <p:cNvPicPr/>
                      <p:nvPr/>
                    </p:nvPicPr>
                    <p:blipFill>
                      <a:blip r:embed="rId7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052763" y="2924175"/>
                        <a:ext cx="3032125" cy="488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600" name="Text Box 7"/>
          <p:cNvSpPr txBox="1"/>
          <p:nvPr/>
        </p:nvSpPr>
        <p:spPr>
          <a:xfrm>
            <a:off x="468313" y="3500438"/>
            <a:ext cx="844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20000"/>
              </a:spcBef>
              <a:buSzPct val="100000"/>
            </a:pPr>
            <a:r>
              <a:rPr lang="en-US" altLang="zh-CN" sz="2400" b="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charset="-122"/>
              </a:rPr>
              <a:t>2) </a:t>
            </a:r>
            <a:r>
              <a:rPr lang="zh-CN" altLang="en-US" sz="2400" b="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charset="-122"/>
              </a:rPr>
              <a:t>由</a:t>
            </a:r>
          </a:p>
        </p:txBody>
      </p:sp>
      <p:sp>
        <p:nvSpPr>
          <p:cNvPr id="110601" name="Text Box 8"/>
          <p:cNvSpPr txBox="1"/>
          <p:nvPr/>
        </p:nvSpPr>
        <p:spPr>
          <a:xfrm>
            <a:off x="827088" y="4365625"/>
            <a:ext cx="612775" cy="4572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>
            <a:spAutoFit/>
          </a:bodyPr>
          <a:lstStyle/>
          <a:p>
            <a:pPr>
              <a:spcBef>
                <a:spcPct val="20000"/>
              </a:spcBef>
              <a:buSzPct val="100000"/>
            </a:pPr>
            <a:r>
              <a:rPr lang="zh-CN" altLang="en-US" sz="2400" b="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charset="-122"/>
              </a:rPr>
              <a:t>得</a:t>
            </a:r>
          </a:p>
        </p:txBody>
      </p:sp>
      <p:grpSp>
        <p:nvGrpSpPr>
          <p:cNvPr id="110602" name="Group 9"/>
          <p:cNvGrpSpPr/>
          <p:nvPr/>
        </p:nvGrpSpPr>
        <p:grpSpPr>
          <a:xfrm>
            <a:off x="1476375" y="3429000"/>
            <a:ext cx="6551613" cy="952500"/>
            <a:chOff x="1020" y="2205"/>
            <a:chExt cx="3720" cy="600"/>
          </a:xfrm>
        </p:grpSpPr>
        <p:graphicFrame>
          <p:nvGraphicFramePr>
            <p:cNvPr id="110609" name="Object 10"/>
            <p:cNvGraphicFramePr/>
            <p:nvPr/>
          </p:nvGraphicFramePr>
          <p:xfrm>
            <a:off x="1020" y="2251"/>
            <a:ext cx="455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521335" imgH="236220" progId="Equation.3">
                    <p:embed/>
                  </p:oleObj>
                </mc:Choice>
                <mc:Fallback>
                  <p:oleObj r:id="rId8" imgW="521335" imgH="236220" progId="Equation.3">
                    <p:embed/>
                    <p:pic>
                      <p:nvPicPr>
                        <p:cNvPr id="0" name="图片 3200"/>
                        <p:cNvPicPr/>
                        <p:nvPr/>
                      </p:nvPicPr>
                      <p:blipFill>
                        <a:blip r:embed="rId9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020" y="2251"/>
                          <a:ext cx="455" cy="29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0610" name="Object 11"/>
            <p:cNvGraphicFramePr/>
            <p:nvPr/>
          </p:nvGraphicFramePr>
          <p:xfrm>
            <a:off x="1439" y="2251"/>
            <a:ext cx="455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" imgW="521335" imgH="236220" progId="Equation.3">
                    <p:embed/>
                  </p:oleObj>
                </mc:Choice>
                <mc:Fallback>
                  <p:oleObj r:id="rId10" imgW="521335" imgH="236220" progId="Equation.3">
                    <p:embed/>
                    <p:pic>
                      <p:nvPicPr>
                        <p:cNvPr id="0" name="图片 3206"/>
                        <p:cNvPicPr/>
                        <p:nvPr/>
                      </p:nvPicPr>
                      <p:blipFill>
                        <a:blip r:embed="rId11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439" y="2251"/>
                          <a:ext cx="455" cy="29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0611" name="Object 12"/>
            <p:cNvGraphicFramePr/>
            <p:nvPr/>
          </p:nvGraphicFramePr>
          <p:xfrm>
            <a:off x="1859" y="2251"/>
            <a:ext cx="490" cy="3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2" imgW="521335" imgH="245745" progId="Equation.3">
                    <p:embed/>
                  </p:oleObj>
                </mc:Choice>
                <mc:Fallback>
                  <p:oleObj r:id="rId12" imgW="521335" imgH="245745" progId="Equation.3">
                    <p:embed/>
                    <p:pic>
                      <p:nvPicPr>
                        <p:cNvPr id="0" name="图片 3197"/>
                        <p:cNvPicPr/>
                        <p:nvPr/>
                      </p:nvPicPr>
                      <p:blipFill>
                        <a:blip r:embed="rId13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859" y="2251"/>
                          <a:ext cx="490" cy="33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0612" name="Object 13"/>
            <p:cNvGraphicFramePr/>
            <p:nvPr/>
          </p:nvGraphicFramePr>
          <p:xfrm>
            <a:off x="2381" y="2205"/>
            <a:ext cx="2359" cy="3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4" imgW="2124075" imgH="245745" progId="Equation.DSMT4">
                    <p:embed/>
                  </p:oleObj>
                </mc:Choice>
                <mc:Fallback>
                  <p:oleObj r:id="rId14" imgW="2124075" imgH="245745" progId="Equation.DSMT4">
                    <p:embed/>
                    <p:pic>
                      <p:nvPicPr>
                        <p:cNvPr id="0" name="图片 3198"/>
                        <p:cNvPicPr/>
                        <p:nvPr/>
                      </p:nvPicPr>
                      <p:blipFill>
                        <a:blip r:embed="rId15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  <a:clrChange>
                            <a:clrFrom>
                              <a:srgbClr val="FFFFFF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381" y="2205"/>
                          <a:ext cx="2359" cy="33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0613" name="Object 14"/>
            <p:cNvGraphicFramePr/>
            <p:nvPr/>
          </p:nvGraphicFramePr>
          <p:xfrm>
            <a:off x="2381" y="2523"/>
            <a:ext cx="1156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6" imgW="1209675" imgH="206375" progId="Equation.3">
                    <p:embed/>
                  </p:oleObj>
                </mc:Choice>
                <mc:Fallback>
                  <p:oleObj r:id="rId16" imgW="1209675" imgH="206375" progId="Equation.3">
                    <p:embed/>
                    <p:pic>
                      <p:nvPicPr>
                        <p:cNvPr id="0" name="图片 3202"/>
                        <p:cNvPicPr/>
                        <p:nvPr/>
                      </p:nvPicPr>
                      <p:blipFill>
                        <a:blip r:embed="rId17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381" y="2523"/>
                          <a:ext cx="1156" cy="28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0603" name="Object 15"/>
          <p:cNvGraphicFramePr/>
          <p:nvPr/>
        </p:nvGraphicFramePr>
        <p:xfrm>
          <a:off x="3130550" y="4643438"/>
          <a:ext cx="273685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8" imgW="1327150" imgH="245745" progId="Equation.3">
                  <p:embed/>
                </p:oleObj>
              </mc:Choice>
              <mc:Fallback>
                <p:oleObj r:id="rId18" imgW="1327150" imgH="245745" progId="Equation.3">
                  <p:embed/>
                  <p:pic>
                    <p:nvPicPr>
                      <p:cNvPr id="0" name="图片 3209"/>
                      <p:cNvPicPr/>
                      <p:nvPr/>
                    </p:nvPicPr>
                    <p:blipFill>
                      <a:blip r:embed="rId19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130550" y="4643438"/>
                        <a:ext cx="2736850" cy="514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4688" name="Text Box 16"/>
          <p:cNvSpPr txBox="1">
            <a:spLocks noChangeArrowheads="1"/>
          </p:cNvSpPr>
          <p:nvPr/>
        </p:nvSpPr>
        <p:spPr bwMode="auto">
          <a:xfrm>
            <a:off x="463550" y="5229225"/>
            <a:ext cx="788988" cy="457200"/>
          </a:xfrm>
          <a:prstGeom prst="rect">
            <a:avLst/>
          </a:prstGeom>
          <a:noFill/>
          <a:ln w="952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92075" tIns="46038" rIns="92075" bIns="46038">
            <a:spAutoFit/>
          </a:bodyPr>
          <a:lstStyle/>
          <a:p>
            <a:pPr marR="0" defTabSz="914400">
              <a:spcBef>
                <a:spcPct val="20000"/>
              </a:spcBef>
              <a:buClr>
                <a:schemeClr val="hlink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400" b="0" kern="1200" cap="none" spc="0" normalizeH="0" baseline="0" noProof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charset="-122"/>
                <a:cs typeface="+mn-cs"/>
              </a:rPr>
              <a:t>3)</a:t>
            </a:r>
            <a:endParaRPr kumimoji="0" lang="en-US" altLang="zh-CN" sz="2400" b="0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  <a:ea typeface="黑体" panose="02010609060101010101" charset="-122"/>
              <a:cs typeface="+mn-cs"/>
            </a:endParaRPr>
          </a:p>
        </p:txBody>
      </p:sp>
      <p:graphicFrame>
        <p:nvGraphicFramePr>
          <p:cNvPr id="110605" name="Object 17"/>
          <p:cNvGraphicFramePr/>
          <p:nvPr/>
        </p:nvGraphicFramePr>
        <p:xfrm>
          <a:off x="1908175" y="5157788"/>
          <a:ext cx="5275263" cy="608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0" imgW="1838325" imgH="236220" progId="Equation.DSMT4">
                  <p:embed/>
                </p:oleObj>
              </mc:Choice>
              <mc:Fallback>
                <p:oleObj r:id="rId20" imgW="1838325" imgH="236220" progId="Equation.DSMT4">
                  <p:embed/>
                  <p:pic>
                    <p:nvPicPr>
                      <p:cNvPr id="0" name="图片 3208"/>
                      <p:cNvPicPr/>
                      <p:nvPr/>
                    </p:nvPicPr>
                    <p:blipFill>
                      <a:blip r:embed="rId21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908175" y="5157788"/>
                        <a:ext cx="5275263" cy="6080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606" name="Text Box 18"/>
          <p:cNvSpPr txBox="1"/>
          <p:nvPr/>
        </p:nvSpPr>
        <p:spPr>
          <a:xfrm>
            <a:off x="5651500" y="188913"/>
            <a:ext cx="3313113" cy="366712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r>
              <a:rPr lang="zh-CN" altLang="en-US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第 </a:t>
            </a:r>
            <a:r>
              <a:rPr lang="en-US" altLang="zh-CN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6 </a:t>
            </a:r>
            <a:r>
              <a:rPr lang="zh-CN" altLang="en-US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章  状态反馈和状态观测器</a:t>
            </a:r>
          </a:p>
        </p:txBody>
      </p:sp>
      <p:sp>
        <p:nvSpPr>
          <p:cNvPr id="110607" name="Text Box 19"/>
          <p:cNvSpPr txBox="1"/>
          <p:nvPr/>
        </p:nvSpPr>
        <p:spPr>
          <a:xfrm>
            <a:off x="252413" y="6435725"/>
            <a:ext cx="1439862" cy="366713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r>
              <a:rPr lang="en-US" altLang="zh-CN" sz="1800" b="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charset="-122"/>
              </a:rPr>
              <a:t>2. </a:t>
            </a:r>
            <a:r>
              <a:rPr lang="zh-CN" altLang="en-US" sz="1800" b="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charset="-122"/>
              </a:rPr>
              <a:t>极点配置</a:t>
            </a:r>
          </a:p>
        </p:txBody>
      </p:sp>
      <p:sp>
        <p:nvSpPr>
          <p:cNvPr id="110608" name="Text Box 20"/>
          <p:cNvSpPr txBox="1"/>
          <p:nvPr/>
        </p:nvSpPr>
        <p:spPr>
          <a:xfrm>
            <a:off x="5413375" y="6435725"/>
            <a:ext cx="1390650" cy="366713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1800" b="0" dirty="0">
                <a:latin typeface="Arial" panose="020B0604020202020204" pitchFamily="34" charset="0"/>
                <a:ea typeface="黑体" panose="02010609060101010101" charset="-122"/>
              </a:rPr>
              <a:t>井元伟 教授</a:t>
            </a:r>
          </a:p>
        </p:txBody>
      </p:sp>
    </p:spTree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日期占位符 3"/>
          <p:cNvSpPr txBox="1">
            <a:spLocks noGrp="1"/>
          </p:cNvSpPr>
          <p:nvPr>
            <p:ph type="dt" sz="half" idx="10"/>
          </p:nvPr>
        </p:nvSpPr>
        <p:spPr>
          <a:xfrm>
            <a:off x="2941638" y="5157788"/>
            <a:ext cx="3311525" cy="404812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BB962C8B-B14F-4D97-AF65-F5344CB8AC3E}" type="datetime2">
              <a:rPr lang="zh-CN" altLang="en-US" sz="2400" b="0" dirty="0">
                <a:solidFill>
                  <a:schemeClr val="bg1"/>
                </a:solidFill>
              </a:rPr>
              <a:t>2026年7月17日</a:t>
            </a:fld>
            <a:endParaRPr lang="zh-CN" altLang="en-US" sz="2400" b="0" dirty="0">
              <a:solidFill>
                <a:schemeClr val="bg1"/>
              </a:solidFill>
            </a:endParaRPr>
          </a:p>
        </p:txBody>
      </p:sp>
      <p:pic>
        <p:nvPicPr>
          <p:cNvPr id="113667" name="Picture 2" descr="底图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3668" name="Text Box 3"/>
          <p:cNvSpPr txBox="1"/>
          <p:nvPr/>
        </p:nvSpPr>
        <p:spPr>
          <a:xfrm>
            <a:off x="395288" y="1392238"/>
            <a:ext cx="455612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20000"/>
              </a:spcBef>
              <a:buSzPct val="100000"/>
            </a:pPr>
            <a:r>
              <a:rPr lang="en-US" altLang="zh-CN" sz="2400" b="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charset="-122"/>
              </a:rPr>
              <a:t>4)</a:t>
            </a:r>
          </a:p>
        </p:txBody>
      </p:sp>
      <p:graphicFrame>
        <p:nvGraphicFramePr>
          <p:cNvPr id="113669" name="Object 4"/>
          <p:cNvGraphicFramePr/>
          <p:nvPr/>
        </p:nvGraphicFramePr>
        <p:xfrm>
          <a:off x="971550" y="969963"/>
          <a:ext cx="7200900" cy="1357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3392170" imgH="560705" progId="Equation.DSMT4">
                  <p:embed/>
                </p:oleObj>
              </mc:Choice>
              <mc:Fallback>
                <p:oleObj r:id="rId4" imgW="3392170" imgH="560705" progId="Equation.DSMT4">
                  <p:embed/>
                  <p:pic>
                    <p:nvPicPr>
                      <p:cNvPr id="0" name="图片 3212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71550" y="969963"/>
                        <a:ext cx="7200900" cy="13573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8773" name="Text Box 5"/>
          <p:cNvSpPr txBox="1">
            <a:spLocks noChangeArrowheads="1"/>
          </p:cNvSpPr>
          <p:nvPr/>
        </p:nvSpPr>
        <p:spPr bwMode="auto">
          <a:xfrm>
            <a:off x="1887538" y="5013325"/>
            <a:ext cx="1028700" cy="457200"/>
          </a:xfrm>
          <a:prstGeom prst="rect">
            <a:avLst/>
          </a:prstGeom>
          <a:noFill/>
          <a:ln w="952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92075" tIns="46038" rIns="92075" bIns="46038">
            <a:spAutoFit/>
          </a:bodyPr>
          <a:lstStyle/>
          <a:p>
            <a:pPr marR="0" defTabSz="914400">
              <a:spcBef>
                <a:spcPct val="20000"/>
              </a:spcBef>
              <a:buClrTx/>
              <a:buSzPct val="100000"/>
              <a:buFontTx/>
              <a:buChar char="•"/>
              <a:defRPr/>
            </a:pPr>
            <a:endParaRPr kumimoji="0" lang="zh-CN" altLang="zh-CN" sz="2400" b="0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  <a:ea typeface="黑体" panose="02010609060101010101" charset="-122"/>
              <a:cs typeface="+mn-cs"/>
            </a:endParaRPr>
          </a:p>
        </p:txBody>
      </p:sp>
      <p:sp>
        <p:nvSpPr>
          <p:cNvPr id="113671" name="Text Box 6"/>
          <p:cNvSpPr txBox="1"/>
          <p:nvPr/>
        </p:nvSpPr>
        <p:spPr>
          <a:xfrm>
            <a:off x="468313" y="3141663"/>
            <a:ext cx="668337" cy="4572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>
            <a:spAutoFit/>
          </a:bodyPr>
          <a:lstStyle/>
          <a:p>
            <a:pPr>
              <a:spcBef>
                <a:spcPct val="20000"/>
              </a:spcBef>
              <a:buSzPct val="100000"/>
            </a:pPr>
            <a:r>
              <a:rPr lang="en-US" altLang="zh-CN" sz="2400" b="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charset="-122"/>
              </a:rPr>
              <a:t>5)</a:t>
            </a:r>
          </a:p>
        </p:txBody>
      </p:sp>
      <p:graphicFrame>
        <p:nvGraphicFramePr>
          <p:cNvPr id="113672" name="Object 7"/>
          <p:cNvGraphicFramePr/>
          <p:nvPr/>
        </p:nvGraphicFramePr>
        <p:xfrm>
          <a:off x="2341563" y="2708275"/>
          <a:ext cx="4462462" cy="1401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838325" imgH="580390" progId="Equation.DSMT4">
                  <p:embed/>
                </p:oleObj>
              </mc:Choice>
              <mc:Fallback>
                <p:oleObj r:id="rId6" imgW="1838325" imgH="580390" progId="Equation.DSMT4">
                  <p:embed/>
                  <p:pic>
                    <p:nvPicPr>
                      <p:cNvPr id="0" name="图片 3215"/>
                      <p:cNvPicPr/>
                      <p:nvPr/>
                    </p:nvPicPr>
                    <p:blipFill>
                      <a:blip r:embed="rId7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341563" y="2708275"/>
                        <a:ext cx="4462462" cy="14017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673" name="Text Box 8"/>
          <p:cNvSpPr txBox="1"/>
          <p:nvPr/>
        </p:nvSpPr>
        <p:spPr>
          <a:xfrm>
            <a:off x="5651500" y="188913"/>
            <a:ext cx="3313113" cy="366712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r>
              <a:rPr lang="zh-CN" altLang="en-US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第 </a:t>
            </a:r>
            <a:r>
              <a:rPr lang="en-US" altLang="zh-CN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6 </a:t>
            </a:r>
            <a:r>
              <a:rPr lang="zh-CN" altLang="en-US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章  状态反馈和状态观测器</a:t>
            </a:r>
          </a:p>
        </p:txBody>
      </p:sp>
      <p:sp>
        <p:nvSpPr>
          <p:cNvPr id="113674" name="Text Box 9"/>
          <p:cNvSpPr txBox="1"/>
          <p:nvPr/>
        </p:nvSpPr>
        <p:spPr>
          <a:xfrm>
            <a:off x="252413" y="6435725"/>
            <a:ext cx="1439862" cy="366713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r>
              <a:rPr lang="en-US" altLang="zh-CN" sz="1800" b="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charset="-122"/>
              </a:rPr>
              <a:t>2. </a:t>
            </a:r>
            <a:r>
              <a:rPr lang="zh-CN" altLang="en-US" sz="1800" b="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charset="-122"/>
              </a:rPr>
              <a:t>极点配置</a:t>
            </a:r>
          </a:p>
        </p:txBody>
      </p:sp>
      <p:sp>
        <p:nvSpPr>
          <p:cNvPr id="113675" name="Text Box 10"/>
          <p:cNvSpPr txBox="1"/>
          <p:nvPr/>
        </p:nvSpPr>
        <p:spPr>
          <a:xfrm>
            <a:off x="468313" y="4797425"/>
            <a:ext cx="455612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20000"/>
              </a:spcBef>
              <a:buSzPct val="100000"/>
            </a:pPr>
            <a:r>
              <a:rPr lang="en-US" altLang="zh-CN" sz="2400" b="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charset="-122"/>
              </a:rPr>
              <a:t>6)</a:t>
            </a:r>
          </a:p>
        </p:txBody>
      </p:sp>
      <p:graphicFrame>
        <p:nvGraphicFramePr>
          <p:cNvPr id="113676" name="Object 11"/>
          <p:cNvGraphicFramePr/>
          <p:nvPr/>
        </p:nvGraphicFramePr>
        <p:xfrm>
          <a:off x="1979613" y="4437063"/>
          <a:ext cx="5145087" cy="1347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2162810" imgH="560705" progId="Equation.DSMT4">
                  <p:embed/>
                </p:oleObj>
              </mc:Choice>
              <mc:Fallback>
                <p:oleObj r:id="rId8" imgW="2162810" imgH="560705" progId="Equation.DSMT4">
                  <p:embed/>
                  <p:pic>
                    <p:nvPicPr>
                      <p:cNvPr id="0" name="图片 3214"/>
                      <p:cNvPicPr/>
                      <p:nvPr/>
                    </p:nvPicPr>
                    <p:blipFill>
                      <a:blip r:embed="rId9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979613" y="4437063"/>
                        <a:ext cx="5145087" cy="13477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677" name="Text Box 12"/>
          <p:cNvSpPr txBox="1"/>
          <p:nvPr/>
        </p:nvSpPr>
        <p:spPr>
          <a:xfrm>
            <a:off x="5413375" y="6435725"/>
            <a:ext cx="1390650" cy="366713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1800" b="0" dirty="0">
                <a:latin typeface="Arial" panose="020B0604020202020204" pitchFamily="34" charset="0"/>
                <a:ea typeface="黑体" panose="02010609060101010101" charset="-122"/>
              </a:rPr>
              <a:t>井元伟 教授</a:t>
            </a:r>
          </a:p>
        </p:txBody>
      </p:sp>
    </p:spTree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日期占位符 3"/>
          <p:cNvSpPr txBox="1">
            <a:spLocks noGrp="1"/>
          </p:cNvSpPr>
          <p:nvPr>
            <p:ph type="dt" sz="half" idx="10"/>
          </p:nvPr>
        </p:nvSpPr>
        <p:spPr>
          <a:xfrm>
            <a:off x="2941638" y="5157788"/>
            <a:ext cx="3311525" cy="404812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BB962C8B-B14F-4D97-AF65-F5344CB8AC3E}" type="datetime2">
              <a:rPr lang="zh-CN" altLang="en-US" sz="2400" b="0" dirty="0">
                <a:solidFill>
                  <a:schemeClr val="bg1"/>
                </a:solidFill>
              </a:rPr>
              <a:t>2026年7月17日</a:t>
            </a:fld>
            <a:endParaRPr lang="zh-CN" altLang="en-US" sz="2400" b="0" dirty="0">
              <a:solidFill>
                <a:schemeClr val="bg1"/>
              </a:solidFill>
            </a:endParaRPr>
          </a:p>
        </p:txBody>
      </p:sp>
      <p:pic>
        <p:nvPicPr>
          <p:cNvPr id="120835" name="Picture 2" descr="底图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91843" name="Text Box 3"/>
          <p:cNvSpPr txBox="1">
            <a:spLocks noChangeArrowheads="1"/>
          </p:cNvSpPr>
          <p:nvPr/>
        </p:nvSpPr>
        <p:spPr bwMode="auto">
          <a:xfrm>
            <a:off x="3276600" y="815975"/>
            <a:ext cx="2487613" cy="457200"/>
          </a:xfrm>
          <a:prstGeom prst="rect">
            <a:avLst/>
          </a:prstGeom>
          <a:noFill/>
          <a:ln w="952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lIns="92075" tIns="46038" rIns="92075" bIns="46038">
            <a:spAutoFit/>
          </a:bodyPr>
          <a:lstStyle/>
          <a:p>
            <a:pPr marR="0" defTabSz="914400">
              <a:spcBef>
                <a:spcPct val="20000"/>
              </a:spcBef>
              <a:buClr>
                <a:schemeClr val="hlink"/>
              </a:buClr>
              <a:buSzPct val="75000"/>
              <a:buFont typeface="Monotype Sorts" charset="2"/>
              <a:buNone/>
              <a:defRPr/>
            </a:pPr>
            <a:r>
              <a:rPr kumimoji="0" lang="zh-CN" altLang="en-US" sz="2400" b="0" kern="1200" cap="none" spc="0" normalizeH="0" baseline="0" noProof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charset="-122"/>
                <a:cs typeface="+mn-cs"/>
              </a:rPr>
              <a:t>算法</a:t>
            </a:r>
            <a:r>
              <a:rPr kumimoji="0" lang="en-US" altLang="zh-CN" sz="2400" b="0" kern="1200" cap="none" spc="0" normalizeH="0" baseline="0" noProof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charset="-122"/>
                <a:cs typeface="+mn-cs"/>
              </a:rPr>
              <a:t>2</a:t>
            </a:r>
            <a:r>
              <a:rPr kumimoji="0" lang="zh-CN" altLang="en-US" sz="2400" b="0" kern="1200" cap="none" spc="0" normalizeH="0" baseline="0" noProof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charset="-122"/>
                <a:cs typeface="+mn-cs"/>
              </a:rPr>
              <a:t>：</a:t>
            </a:r>
            <a:r>
              <a:rPr kumimoji="0" lang="zh-CN" altLang="en-US" sz="2400" b="0" kern="1200" cap="none" spc="0" normalizeH="0" baseline="0" noProof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charset="-122"/>
                <a:cs typeface="+mn-cs"/>
              </a:rPr>
              <a:t>直接配置</a:t>
            </a:r>
            <a:endParaRPr kumimoji="0" lang="zh-CN" altLang="en-US" sz="2400" b="0" kern="1200" cap="none" spc="0" normalizeH="0" baseline="0" noProof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  <a:ea typeface="黑体" panose="02010609060101010101" charset="-122"/>
              <a:cs typeface="+mn-cs"/>
            </a:endParaRPr>
          </a:p>
        </p:txBody>
      </p:sp>
      <p:sp>
        <p:nvSpPr>
          <p:cNvPr id="291844" name="Text Box 4"/>
          <p:cNvSpPr txBox="1">
            <a:spLocks noChangeArrowheads="1"/>
          </p:cNvSpPr>
          <p:nvPr/>
        </p:nvSpPr>
        <p:spPr bwMode="auto">
          <a:xfrm>
            <a:off x="525463" y="1319213"/>
            <a:ext cx="6121400" cy="895350"/>
          </a:xfrm>
          <a:prstGeom prst="rect">
            <a:avLst/>
          </a:prstGeom>
          <a:noFill/>
          <a:ln w="952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lIns="92075" tIns="46038" rIns="92075" bIns="46038">
            <a:spAutoFit/>
          </a:bodyPr>
          <a:lstStyle/>
          <a:p>
            <a:pPr marR="0" defTabSz="914400">
              <a:spcBef>
                <a:spcPct val="20000"/>
              </a:spcBef>
              <a:buClr>
                <a:schemeClr val="hlink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400" b="0" kern="1200" cap="none" spc="0" normalizeH="0" baseline="0" noProof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charset="-122"/>
                <a:cs typeface="+mn-cs"/>
              </a:rPr>
              <a:t>1) </a:t>
            </a:r>
            <a:r>
              <a:rPr kumimoji="0" lang="zh-CN" altLang="en-US" sz="2400" b="0" kern="1200" cap="none" spc="0" normalizeH="0" baseline="0" noProof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charset="-122"/>
                <a:cs typeface="+mn-cs"/>
              </a:rPr>
              <a:t>将            带入系统状态方程，并求得相应</a:t>
            </a:r>
          </a:p>
          <a:p>
            <a:pPr marR="0" defTabSz="914400">
              <a:spcBef>
                <a:spcPct val="20000"/>
              </a:spcBef>
              <a:buClr>
                <a:schemeClr val="hlink"/>
              </a:buClr>
              <a:buSzPct val="75000"/>
              <a:buFont typeface="Monotype Sorts" charset="2"/>
              <a:buNone/>
              <a:defRPr/>
            </a:pPr>
            <a:r>
              <a:rPr kumimoji="0" lang="zh-CN" altLang="en-US" sz="2400" b="0" kern="1200" cap="none" spc="0" normalizeH="0" baseline="0" noProof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charset="-122"/>
                <a:cs typeface="+mn-cs"/>
              </a:rPr>
              <a:t>    </a:t>
            </a:r>
            <a:r>
              <a:rPr kumimoji="0" lang="zh-CN" altLang="en-US" sz="2400" b="0" kern="1200" cap="none" spc="0" normalizeH="0" baseline="0" noProof="0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charset="-122"/>
                <a:cs typeface="+mn-cs"/>
              </a:rPr>
              <a:t>闭环系统的特征多项式</a:t>
            </a:r>
            <a:endParaRPr kumimoji="0" lang="zh-CN" altLang="en-US" sz="2400" b="0" kern="1200" cap="none" spc="0" normalizeH="0" baseline="0" noProof="0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  <a:ea typeface="黑体" panose="02010609060101010101" charset="-122"/>
              <a:cs typeface="+mn-cs"/>
            </a:endParaRPr>
          </a:p>
        </p:txBody>
      </p:sp>
      <p:graphicFrame>
        <p:nvGraphicFramePr>
          <p:cNvPr id="120838" name="Object 5"/>
          <p:cNvGraphicFramePr/>
          <p:nvPr/>
        </p:nvGraphicFramePr>
        <p:xfrm>
          <a:off x="1246188" y="1304925"/>
          <a:ext cx="1060450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403225" imgH="157480" progId="Equation.DSMT4">
                  <p:embed/>
                </p:oleObj>
              </mc:Choice>
              <mc:Fallback>
                <p:oleObj r:id="rId4" imgW="403225" imgH="157480" progId="Equation.DSMT4">
                  <p:embed/>
                  <p:pic>
                    <p:nvPicPr>
                      <p:cNvPr id="0" name="图片 3280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246188" y="1304925"/>
                        <a:ext cx="1060450" cy="4413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39" name="Object 6"/>
          <p:cNvGraphicFramePr/>
          <p:nvPr/>
        </p:nvGraphicFramePr>
        <p:xfrm>
          <a:off x="1547813" y="2276475"/>
          <a:ext cx="6048375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2821940" imgH="245745" progId="Equation.3">
                  <p:embed/>
                </p:oleObj>
              </mc:Choice>
              <mc:Fallback>
                <p:oleObj r:id="rId6" imgW="2821940" imgH="245745" progId="Equation.3">
                  <p:embed/>
                  <p:pic>
                    <p:nvPicPr>
                      <p:cNvPr id="0" name="图片 3278"/>
                      <p:cNvPicPr/>
                      <p:nvPr/>
                    </p:nvPicPr>
                    <p:blipFill>
                      <a:blip r:embed="rId7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547813" y="2276475"/>
                        <a:ext cx="6048375" cy="520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1847" name="Text Box 7"/>
          <p:cNvSpPr txBox="1">
            <a:spLocks noChangeArrowheads="1"/>
          </p:cNvSpPr>
          <p:nvPr/>
        </p:nvSpPr>
        <p:spPr bwMode="auto">
          <a:xfrm>
            <a:off x="755650" y="2854325"/>
            <a:ext cx="4565650" cy="457200"/>
          </a:xfrm>
          <a:prstGeom prst="rect">
            <a:avLst/>
          </a:prstGeom>
          <a:noFill/>
          <a:ln w="952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lIns="92075" tIns="46038" rIns="92075" bIns="46038">
            <a:spAutoFit/>
          </a:bodyPr>
          <a:lstStyle/>
          <a:p>
            <a:pPr marR="0" defTabSz="914400">
              <a:spcBef>
                <a:spcPct val="20000"/>
              </a:spcBef>
              <a:buClrTx/>
              <a:buSzPct val="100000"/>
              <a:buFontTx/>
              <a:buNone/>
              <a:defRPr/>
            </a:pPr>
            <a:r>
              <a:rPr kumimoji="0" lang="en-US" altLang="zh-CN" sz="2400" b="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charset="-122"/>
                <a:cs typeface="+mn-cs"/>
              </a:rPr>
              <a:t> </a:t>
            </a:r>
            <a:r>
              <a:rPr kumimoji="0" lang="zh-CN" altLang="en-US" sz="2400" b="0" kern="1200" cap="none" spc="0" normalizeH="0" baseline="0" noProof="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+mn-cs"/>
              </a:rPr>
              <a:t>其中，</a:t>
            </a:r>
            <a:r>
              <a:rPr kumimoji="0" lang="zh-CN" altLang="en-US" sz="2400" b="0" kern="1200" cap="none" spc="0" normalizeH="0" baseline="0" noProof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charset="-122"/>
                <a:cs typeface="+mn-cs"/>
              </a:rPr>
              <a:t>      </a:t>
            </a:r>
            <a:r>
              <a:rPr kumimoji="0" lang="zh-CN" altLang="en-US" sz="2400" b="0" kern="1200" cap="none" spc="0" normalizeH="0" baseline="0" noProof="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+mn-cs"/>
              </a:rPr>
              <a:t>是反馈</a:t>
            </a:r>
            <a:r>
              <a:rPr kumimoji="0" lang="zh-CN" altLang="en-US" sz="2400" b="0" kern="1200" cap="none" spc="0" normalizeH="0" baseline="0" noProof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charset="-122"/>
                <a:cs typeface="+mn-cs"/>
              </a:rPr>
              <a:t>矩阵</a:t>
            </a:r>
            <a:r>
              <a:rPr kumimoji="0" lang="en-US" altLang="zh-CN" sz="2400" b="0" i="1" kern="1200" cap="none" spc="0" normalizeH="0" baseline="0" noProof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+mn-cs"/>
              </a:rPr>
              <a:t>k</a:t>
            </a:r>
            <a:r>
              <a:rPr kumimoji="0" lang="zh-CN" altLang="en-US" sz="2400" b="0" kern="1200" cap="none" spc="0" normalizeH="0" baseline="0" noProof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+mn-cs"/>
              </a:rPr>
              <a:t>的函数，</a:t>
            </a:r>
            <a:endParaRPr kumimoji="0" lang="zh-CN" altLang="en-US" sz="2400" b="0" i="1" kern="1200" cap="none" spc="0" normalizeH="0" baseline="0" noProof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charset="-122"/>
              <a:cs typeface="+mn-cs"/>
            </a:endParaRPr>
          </a:p>
        </p:txBody>
      </p:sp>
      <p:graphicFrame>
        <p:nvGraphicFramePr>
          <p:cNvPr id="120841" name="Object 8"/>
          <p:cNvGraphicFramePr/>
          <p:nvPr/>
        </p:nvGraphicFramePr>
        <p:xfrm>
          <a:off x="1692275" y="2894013"/>
          <a:ext cx="4643438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936750" imgH="186690" progId="Equation.DSMT4">
                  <p:embed/>
                </p:oleObj>
              </mc:Choice>
              <mc:Fallback>
                <p:oleObj r:id="rId8" imgW="1936750" imgH="186690" progId="Equation.DSMT4">
                  <p:embed/>
                  <p:pic>
                    <p:nvPicPr>
                      <p:cNvPr id="0" name="图片 3282"/>
                      <p:cNvPicPr/>
                      <p:nvPr/>
                    </p:nvPicPr>
                    <p:blipFill>
                      <a:blip r:embed="rId9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692275" y="2894013"/>
                        <a:ext cx="4643438" cy="438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842" name="Text Box 9"/>
          <p:cNvSpPr txBox="1"/>
          <p:nvPr/>
        </p:nvSpPr>
        <p:spPr>
          <a:xfrm>
            <a:off x="5651500" y="188913"/>
            <a:ext cx="3313113" cy="366712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r>
              <a:rPr lang="zh-CN" altLang="en-US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第 </a:t>
            </a:r>
            <a:r>
              <a:rPr lang="en-US" altLang="zh-CN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6 </a:t>
            </a:r>
            <a:r>
              <a:rPr lang="zh-CN" altLang="en-US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章  状态反馈和状态观测器</a:t>
            </a:r>
          </a:p>
        </p:txBody>
      </p:sp>
      <p:sp>
        <p:nvSpPr>
          <p:cNvPr id="120843" name="Text Box 10"/>
          <p:cNvSpPr txBox="1"/>
          <p:nvPr/>
        </p:nvSpPr>
        <p:spPr>
          <a:xfrm>
            <a:off x="252413" y="6435725"/>
            <a:ext cx="1439862" cy="366713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r>
              <a:rPr lang="en-US" altLang="zh-CN" sz="1800" b="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charset="-122"/>
              </a:rPr>
              <a:t>2. </a:t>
            </a:r>
            <a:r>
              <a:rPr lang="zh-CN" altLang="en-US" sz="1800" b="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charset="-122"/>
              </a:rPr>
              <a:t>极点配置</a:t>
            </a:r>
          </a:p>
        </p:txBody>
      </p:sp>
      <p:sp>
        <p:nvSpPr>
          <p:cNvPr id="291851" name="Text Box 11"/>
          <p:cNvSpPr txBox="1">
            <a:spLocks noChangeArrowheads="1"/>
          </p:cNvSpPr>
          <p:nvPr/>
        </p:nvSpPr>
        <p:spPr bwMode="auto">
          <a:xfrm>
            <a:off x="539750" y="3429000"/>
            <a:ext cx="3282950" cy="457200"/>
          </a:xfrm>
          <a:prstGeom prst="rect">
            <a:avLst/>
          </a:prstGeom>
          <a:noFill/>
          <a:ln w="952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lIns="92075" tIns="46038" rIns="92075" bIns="46038">
            <a:spAutoFit/>
          </a:bodyPr>
          <a:lstStyle/>
          <a:p>
            <a:pPr marR="0" defTabSz="914400">
              <a:spcBef>
                <a:spcPct val="20000"/>
              </a:spcBef>
              <a:buClr>
                <a:schemeClr val="hlink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400" b="0" kern="1200" cap="none" spc="0" normalizeH="0" baseline="0" noProof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charset="-122"/>
                <a:cs typeface="+mn-cs"/>
              </a:rPr>
              <a:t>2) </a:t>
            </a:r>
            <a:r>
              <a:rPr kumimoji="0" lang="zh-CN" altLang="en-US" sz="2400" b="0" kern="1200" cap="none" spc="0" normalizeH="0" baseline="0" noProof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charset="-122"/>
                <a:cs typeface="+mn-cs"/>
              </a:rPr>
              <a:t>计算</a:t>
            </a:r>
            <a:r>
              <a:rPr kumimoji="0" lang="zh-CN" altLang="en-US" sz="2400" b="0" kern="1200" cap="none" spc="0" normalizeH="0" baseline="0" noProof="0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charset="-122"/>
                <a:cs typeface="+mn-cs"/>
              </a:rPr>
              <a:t>理想特征多项式</a:t>
            </a:r>
            <a:endParaRPr kumimoji="0" lang="zh-CN" altLang="en-US" sz="2400" b="0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  <a:ea typeface="黑体" panose="02010609060101010101" charset="-122"/>
              <a:cs typeface="+mn-cs"/>
            </a:endParaRPr>
          </a:p>
        </p:txBody>
      </p:sp>
      <p:graphicFrame>
        <p:nvGraphicFramePr>
          <p:cNvPr id="120845" name="Object 12"/>
          <p:cNvGraphicFramePr/>
          <p:nvPr/>
        </p:nvGraphicFramePr>
        <p:xfrm>
          <a:off x="750888" y="3960813"/>
          <a:ext cx="7643812" cy="52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4030980" imgH="245745" progId="Equation.DSMT4">
                  <p:embed/>
                </p:oleObj>
              </mc:Choice>
              <mc:Fallback>
                <p:oleObj r:id="rId10" imgW="4030980" imgH="245745" progId="Equation.DSMT4">
                  <p:embed/>
                  <p:pic>
                    <p:nvPicPr>
                      <p:cNvPr id="0" name="图片 3283"/>
                      <p:cNvPicPr/>
                      <p:nvPr/>
                    </p:nvPicPr>
                    <p:blipFill>
                      <a:blip r:embed="rId11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50888" y="3960813"/>
                        <a:ext cx="7643812" cy="5222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1853" name="Text Box 13"/>
          <p:cNvSpPr txBox="1">
            <a:spLocks noChangeArrowheads="1"/>
          </p:cNvSpPr>
          <p:nvPr/>
        </p:nvSpPr>
        <p:spPr bwMode="auto">
          <a:xfrm>
            <a:off x="539750" y="4652963"/>
            <a:ext cx="5670550" cy="1023938"/>
          </a:xfrm>
          <a:prstGeom prst="rect">
            <a:avLst/>
          </a:prstGeom>
          <a:noFill/>
          <a:ln w="952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lIns="92075" tIns="46038" rIns="92075" bIns="46038">
            <a:spAutoFit/>
          </a:bodyPr>
          <a:lstStyle/>
          <a:p>
            <a:pPr marR="0" defTabSz="914400">
              <a:spcBef>
                <a:spcPct val="20000"/>
              </a:spcBef>
              <a:buClrTx/>
              <a:buSzPct val="100000"/>
              <a:buFontTx/>
              <a:buNone/>
              <a:defRPr/>
            </a:pPr>
            <a:r>
              <a:rPr kumimoji="0" lang="en-US" altLang="zh-CN" sz="2400" b="0" kern="1200" cap="none" spc="0" normalizeH="0" baseline="0" noProof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charset="-122"/>
                <a:cs typeface="+mn-cs"/>
              </a:rPr>
              <a:t>3) </a:t>
            </a:r>
            <a:r>
              <a:rPr kumimoji="0" lang="zh-CN" altLang="en-US" sz="2400" b="0" kern="1200" cap="none" spc="0" normalizeH="0" baseline="0" noProof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charset="-122"/>
                <a:cs typeface="+mn-cs"/>
              </a:rPr>
              <a:t>列方程组                               并求解。 </a:t>
            </a:r>
          </a:p>
          <a:p>
            <a:pPr marR="0" defTabSz="914400">
              <a:spcBef>
                <a:spcPct val="55000"/>
              </a:spcBef>
              <a:buClrTx/>
              <a:buSzPct val="100000"/>
              <a:buFontTx/>
              <a:buNone/>
              <a:defRPr/>
            </a:pPr>
            <a:r>
              <a:rPr kumimoji="0" lang="zh-CN" altLang="en-US" sz="2400" b="0" kern="1200" cap="none" spc="0" normalizeH="0" baseline="0" noProof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charset="-122"/>
                <a:cs typeface="+mn-cs"/>
              </a:rPr>
              <a:t>           其解                          即为所求。</a:t>
            </a:r>
            <a:endParaRPr kumimoji="0" lang="zh-CN" altLang="en-US" sz="2400" b="0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  <a:ea typeface="黑体" panose="02010609060101010101" charset="-122"/>
              <a:cs typeface="+mn-cs"/>
            </a:endParaRPr>
          </a:p>
        </p:txBody>
      </p:sp>
      <p:graphicFrame>
        <p:nvGraphicFramePr>
          <p:cNvPr id="120847" name="Object 14"/>
          <p:cNvGraphicFramePr/>
          <p:nvPr/>
        </p:nvGraphicFramePr>
        <p:xfrm>
          <a:off x="2266950" y="4613275"/>
          <a:ext cx="2520950" cy="54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1346835" imgH="245745" progId="Equation.3">
                  <p:embed/>
                </p:oleObj>
              </mc:Choice>
              <mc:Fallback>
                <p:oleObj r:id="rId12" imgW="1346835" imgH="245745" progId="Equation.3">
                  <p:embed/>
                  <p:pic>
                    <p:nvPicPr>
                      <p:cNvPr id="0" name="图片 3284"/>
                      <p:cNvPicPr/>
                      <p:nvPr/>
                    </p:nvPicPr>
                    <p:blipFill>
                      <a:blip r:embed="rId13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266950" y="4613275"/>
                        <a:ext cx="2520950" cy="5445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48" name="Object 15"/>
          <p:cNvGraphicFramePr/>
          <p:nvPr/>
        </p:nvGraphicFramePr>
        <p:xfrm>
          <a:off x="2197100" y="5207000"/>
          <a:ext cx="2087563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934085" imgH="236220" progId="Equation.3">
                  <p:embed/>
                </p:oleObj>
              </mc:Choice>
              <mc:Fallback>
                <p:oleObj r:id="rId14" imgW="934085" imgH="236220" progId="Equation.3">
                  <p:embed/>
                  <p:pic>
                    <p:nvPicPr>
                      <p:cNvPr id="0" name="图片 3285"/>
                      <p:cNvPicPr/>
                      <p:nvPr/>
                    </p:nvPicPr>
                    <p:blipFill>
                      <a:blip r:embed="rId15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197100" y="5207000"/>
                        <a:ext cx="2087563" cy="527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849" name="Text Box 16"/>
          <p:cNvSpPr txBox="1"/>
          <p:nvPr/>
        </p:nvSpPr>
        <p:spPr>
          <a:xfrm>
            <a:off x="5413375" y="6435725"/>
            <a:ext cx="1390650" cy="366713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1800" b="0" dirty="0">
                <a:latin typeface="Arial" panose="020B0604020202020204" pitchFamily="34" charset="0"/>
                <a:ea typeface="黑体" panose="02010609060101010101" charset="-122"/>
              </a:rPr>
              <a:t>井元伟 教授</a:t>
            </a:r>
          </a:p>
        </p:txBody>
      </p:sp>
    </p:spTree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858" name="Picture 21" descr="底图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1859" name="Text Box 24"/>
          <p:cNvSpPr txBox="1"/>
          <p:nvPr/>
        </p:nvSpPr>
        <p:spPr>
          <a:xfrm>
            <a:off x="5651500" y="188913"/>
            <a:ext cx="3313113" cy="366712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r>
              <a:rPr lang="zh-CN" altLang="en-US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第 </a:t>
            </a:r>
            <a:r>
              <a:rPr lang="en-US" altLang="zh-CN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6 </a:t>
            </a:r>
            <a:r>
              <a:rPr lang="zh-CN" altLang="en-US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章  状态反馈和状态观测器</a:t>
            </a:r>
          </a:p>
        </p:txBody>
      </p:sp>
      <p:sp>
        <p:nvSpPr>
          <p:cNvPr id="121860" name="Text Box 25"/>
          <p:cNvSpPr txBox="1"/>
          <p:nvPr/>
        </p:nvSpPr>
        <p:spPr>
          <a:xfrm>
            <a:off x="252413" y="6435725"/>
            <a:ext cx="1439862" cy="366713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r>
              <a:rPr lang="en-US" altLang="zh-CN" sz="1800" b="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charset="-122"/>
              </a:rPr>
              <a:t>2. </a:t>
            </a:r>
            <a:r>
              <a:rPr lang="zh-CN" altLang="en-US" sz="1800" b="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charset="-122"/>
              </a:rPr>
              <a:t>极点配置</a:t>
            </a:r>
          </a:p>
        </p:txBody>
      </p:sp>
      <p:sp>
        <p:nvSpPr>
          <p:cNvPr id="121861" name="Rectangle 33"/>
          <p:cNvSpPr/>
          <p:nvPr/>
        </p:nvSpPr>
        <p:spPr>
          <a:xfrm>
            <a:off x="468313" y="1268413"/>
            <a:ext cx="4103687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400" b="0" dirty="0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charset="-122"/>
              </a:rPr>
              <a:t>例</a:t>
            </a:r>
            <a:r>
              <a:rPr lang="en-US" altLang="zh-CN" sz="2400" b="0" dirty="0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charset="-122"/>
              </a:rPr>
              <a:t>6.2.2</a:t>
            </a:r>
            <a:r>
              <a:rPr lang="en-US" altLang="zh-CN" sz="2400" b="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charset="-122"/>
              </a:rPr>
              <a:t>  </a:t>
            </a:r>
            <a:r>
              <a:rPr lang="zh-CN" altLang="en-US" sz="2400" b="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charset="-122"/>
              </a:rPr>
              <a:t>系统矩阵同例</a:t>
            </a:r>
            <a:r>
              <a:rPr lang="en-US" altLang="zh-CN" sz="2400" b="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charset="-122"/>
              </a:rPr>
              <a:t>6.2.1</a:t>
            </a:r>
          </a:p>
        </p:txBody>
      </p:sp>
      <p:graphicFrame>
        <p:nvGraphicFramePr>
          <p:cNvPr id="121862" name="Object 34"/>
          <p:cNvGraphicFramePr>
            <a:graphicFrameLocks noGrp="1"/>
          </p:cNvGraphicFramePr>
          <p:nvPr>
            <p:ph/>
          </p:nvPr>
        </p:nvGraphicFramePr>
        <p:xfrm>
          <a:off x="2806700" y="1773238"/>
          <a:ext cx="3529013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828165" imgH="711200" progId="Equation.3">
                  <p:embed/>
                </p:oleObj>
              </mc:Choice>
              <mc:Fallback>
                <p:oleObj r:id="rId4" imgW="1828165" imgH="711200" progId="Equation.3">
                  <p:embed/>
                  <p:pic>
                    <p:nvPicPr>
                      <p:cNvPr id="0" name="图片 3286"/>
                      <p:cNvPicPr/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>
                      <a:xfrm>
                        <a:off x="2806700" y="1773238"/>
                        <a:ext cx="3529013" cy="137160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1863" name="Text Box 36"/>
          <p:cNvSpPr txBox="1"/>
          <p:nvPr/>
        </p:nvSpPr>
        <p:spPr>
          <a:xfrm>
            <a:off x="5413375" y="6435725"/>
            <a:ext cx="1390650" cy="366713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1800" b="0" dirty="0">
                <a:latin typeface="Arial" panose="020B0604020202020204" pitchFamily="34" charset="0"/>
                <a:ea typeface="黑体" panose="02010609060101010101" charset="-122"/>
              </a:rPr>
              <a:t>井元伟 教授</a:t>
            </a:r>
          </a:p>
        </p:txBody>
      </p:sp>
    </p:spTree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日期占位符 2"/>
          <p:cNvSpPr txBox="1">
            <a:spLocks noGrp="1"/>
          </p:cNvSpPr>
          <p:nvPr>
            <p:ph type="dt" sz="half" idx="10"/>
          </p:nvPr>
        </p:nvSpPr>
        <p:spPr>
          <a:xfrm>
            <a:off x="2941638" y="5157788"/>
            <a:ext cx="3311525" cy="404812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BB962C8B-B14F-4D97-AF65-F5344CB8AC3E}" type="datetime2">
              <a:rPr lang="zh-CN" altLang="en-US" sz="2400" b="0" dirty="0">
                <a:solidFill>
                  <a:schemeClr val="bg1"/>
                </a:solidFill>
              </a:rPr>
              <a:t>2026年7月17日</a:t>
            </a:fld>
            <a:endParaRPr lang="zh-CN" altLang="en-US" sz="2400" b="0" dirty="0">
              <a:solidFill>
                <a:schemeClr val="bg1"/>
              </a:solidFill>
            </a:endParaRPr>
          </a:p>
        </p:txBody>
      </p:sp>
      <p:pic>
        <p:nvPicPr>
          <p:cNvPr id="125955" name="Picture 2" descr="底图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97987" name="Text Box 3"/>
          <p:cNvSpPr txBox="1">
            <a:spLocks noChangeArrowheads="1"/>
          </p:cNvSpPr>
          <p:nvPr/>
        </p:nvSpPr>
        <p:spPr bwMode="auto">
          <a:xfrm>
            <a:off x="468313" y="3214688"/>
            <a:ext cx="5051425" cy="457200"/>
          </a:xfrm>
          <a:prstGeom prst="rect">
            <a:avLst/>
          </a:prstGeom>
          <a:noFill/>
          <a:ln w="952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lIns="92075" tIns="46038" rIns="92075" bIns="46038">
            <a:spAutoFit/>
          </a:bodyPr>
          <a:lstStyle/>
          <a:p>
            <a:pPr marR="0" defTabSz="914400">
              <a:spcBef>
                <a:spcPct val="20000"/>
              </a:spcBef>
              <a:buClrTx/>
              <a:buSzPct val="100000"/>
              <a:buFontTx/>
              <a:buNone/>
              <a:defRPr/>
            </a:pPr>
            <a:r>
              <a:rPr kumimoji="0" lang="zh-CN" altLang="en-US" sz="2400" b="0" kern="1200" cap="none" spc="0" normalizeH="0" baseline="0" noProof="0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charset="-122"/>
                <a:cs typeface="+mn-cs"/>
              </a:rPr>
              <a:t>解</a:t>
            </a:r>
            <a:r>
              <a:rPr kumimoji="0" lang="zh-CN" altLang="en-US" sz="2400" b="0" kern="1200" cap="none" spc="0" normalizeH="0" baseline="0" noProof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charset="-122"/>
                <a:cs typeface="+mn-cs"/>
              </a:rPr>
              <a:t>：设所需的状态反馈增益矩阵 </a:t>
            </a:r>
            <a:r>
              <a:rPr kumimoji="0" lang="en-US" altLang="zh-CN" sz="2400" b="0" i="1" kern="1200" cap="none" spc="0" normalizeH="0" baseline="0" noProof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charset="-122"/>
                <a:cs typeface="+mn-cs"/>
              </a:rPr>
              <a:t>k </a:t>
            </a:r>
            <a:r>
              <a:rPr kumimoji="0" lang="zh-CN" altLang="en-US" sz="2400" b="0" kern="1200" cap="none" spc="0" normalizeH="0" baseline="0" noProof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charset="-122"/>
                <a:cs typeface="+mn-cs"/>
              </a:rPr>
              <a:t>为</a:t>
            </a:r>
            <a:endParaRPr kumimoji="0" lang="zh-CN" altLang="en-US" sz="2400" b="0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  <a:ea typeface="黑体" panose="02010609060101010101" charset="-122"/>
              <a:cs typeface="+mn-cs"/>
            </a:endParaRPr>
          </a:p>
        </p:txBody>
      </p:sp>
      <p:sp>
        <p:nvSpPr>
          <p:cNvPr id="125957" name="Text Box 4"/>
          <p:cNvSpPr txBox="1"/>
          <p:nvPr/>
        </p:nvSpPr>
        <p:spPr>
          <a:xfrm>
            <a:off x="466725" y="4365625"/>
            <a:ext cx="8353425" cy="4572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>
            <a:spAutoFit/>
          </a:bodyPr>
          <a:lstStyle/>
          <a:p>
            <a:pPr>
              <a:spcBef>
                <a:spcPct val="20000"/>
              </a:spcBef>
              <a:buSzPct val="100000"/>
            </a:pPr>
            <a:r>
              <a:rPr lang="zh-CN" altLang="en-US" sz="2400" b="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charset="-122"/>
              </a:rPr>
              <a:t>因为经过状态反馈                   后，闭环系统的</a:t>
            </a:r>
            <a:r>
              <a:rPr lang="zh-CN" altLang="en-US" sz="2400" b="0" dirty="0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charset="-122"/>
              </a:rPr>
              <a:t>特征多项式</a:t>
            </a:r>
            <a:r>
              <a:rPr lang="zh-CN" altLang="en-US" sz="2400" b="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charset="-122"/>
              </a:rPr>
              <a:t>为</a:t>
            </a:r>
          </a:p>
        </p:txBody>
      </p:sp>
      <p:graphicFrame>
        <p:nvGraphicFramePr>
          <p:cNvPr id="125958" name="Object 5"/>
          <p:cNvGraphicFramePr/>
          <p:nvPr/>
        </p:nvGraphicFramePr>
        <p:xfrm>
          <a:off x="3492500" y="3789363"/>
          <a:ext cx="2089150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091565" imgH="236220" progId="Equation.DSMT4">
                  <p:embed/>
                </p:oleObj>
              </mc:Choice>
              <mc:Fallback>
                <p:oleObj r:id="rId4" imgW="1091565" imgH="236220" progId="Equation.DSMT4">
                  <p:embed/>
                  <p:pic>
                    <p:nvPicPr>
                      <p:cNvPr id="0" name="图片 3295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492500" y="3789363"/>
                        <a:ext cx="2089150" cy="5032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959" name="Object 6"/>
          <p:cNvGraphicFramePr/>
          <p:nvPr/>
        </p:nvGraphicFramePr>
        <p:xfrm>
          <a:off x="2814638" y="5027613"/>
          <a:ext cx="3486150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140460" imgH="167005" progId="Equation.DSMT4">
                  <p:embed/>
                </p:oleObj>
              </mc:Choice>
              <mc:Fallback>
                <p:oleObj r:id="rId6" imgW="1140460" imgH="167005" progId="Equation.DSMT4">
                  <p:embed/>
                  <p:pic>
                    <p:nvPicPr>
                      <p:cNvPr id="0" name="图片 3294"/>
                      <p:cNvPicPr/>
                      <p:nvPr/>
                    </p:nvPicPr>
                    <p:blipFill>
                      <a:blip r:embed="rId7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814638" y="5027613"/>
                        <a:ext cx="3486150" cy="5191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960" name="Object 7"/>
          <p:cNvGraphicFramePr/>
          <p:nvPr/>
        </p:nvGraphicFramePr>
        <p:xfrm>
          <a:off x="3084513" y="4398963"/>
          <a:ext cx="1439862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658495" imgH="186690" progId="Equation.3">
                  <p:embed/>
                </p:oleObj>
              </mc:Choice>
              <mc:Fallback>
                <p:oleObj r:id="rId8" imgW="658495" imgH="186690" progId="Equation.3">
                  <p:embed/>
                  <p:pic>
                    <p:nvPicPr>
                      <p:cNvPr id="0" name="图片 3296"/>
                      <p:cNvPicPr/>
                      <p:nvPr/>
                    </p:nvPicPr>
                    <p:blipFill>
                      <a:blip r:embed="rId9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084513" y="4398963"/>
                        <a:ext cx="1439862" cy="4079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5961" name="Text Box 8"/>
          <p:cNvSpPr txBox="1"/>
          <p:nvPr/>
        </p:nvSpPr>
        <p:spPr>
          <a:xfrm>
            <a:off x="5651500" y="188913"/>
            <a:ext cx="3313113" cy="366712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r>
              <a:rPr lang="zh-CN" altLang="en-US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第 </a:t>
            </a:r>
            <a:r>
              <a:rPr lang="en-US" altLang="zh-CN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6 </a:t>
            </a:r>
            <a:r>
              <a:rPr lang="zh-CN" altLang="en-US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章  状态反馈和状态观测器</a:t>
            </a:r>
          </a:p>
        </p:txBody>
      </p:sp>
      <p:sp>
        <p:nvSpPr>
          <p:cNvPr id="125962" name="Text Box 9"/>
          <p:cNvSpPr txBox="1"/>
          <p:nvPr/>
        </p:nvSpPr>
        <p:spPr>
          <a:xfrm>
            <a:off x="252413" y="6435725"/>
            <a:ext cx="1439862" cy="366713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r>
              <a:rPr lang="en-US" altLang="zh-CN" sz="1800" b="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charset="-122"/>
              </a:rPr>
              <a:t>2. </a:t>
            </a:r>
            <a:r>
              <a:rPr lang="zh-CN" altLang="en-US" sz="1800" b="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charset="-122"/>
              </a:rPr>
              <a:t>极点配置</a:t>
            </a:r>
          </a:p>
        </p:txBody>
      </p:sp>
      <p:sp>
        <p:nvSpPr>
          <p:cNvPr id="125963" name="Rectangle 10"/>
          <p:cNvSpPr/>
          <p:nvPr/>
        </p:nvSpPr>
        <p:spPr>
          <a:xfrm>
            <a:off x="468313" y="1268413"/>
            <a:ext cx="4103687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400" b="0" dirty="0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charset="-122"/>
              </a:rPr>
              <a:t>例</a:t>
            </a:r>
            <a:r>
              <a:rPr lang="en-US" altLang="zh-CN" sz="2400" b="0" dirty="0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charset="-122"/>
              </a:rPr>
              <a:t>6.2.2</a:t>
            </a:r>
            <a:r>
              <a:rPr lang="en-US" altLang="zh-CN" sz="2400" b="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charset="-122"/>
              </a:rPr>
              <a:t>  </a:t>
            </a:r>
            <a:r>
              <a:rPr lang="zh-CN" altLang="en-US" sz="2400" b="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charset="-122"/>
              </a:rPr>
              <a:t>系统矩阵同例</a:t>
            </a:r>
            <a:r>
              <a:rPr lang="en-US" altLang="zh-CN" sz="2400" b="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charset="-122"/>
              </a:rPr>
              <a:t>6.2.1</a:t>
            </a:r>
          </a:p>
        </p:txBody>
      </p:sp>
      <p:graphicFrame>
        <p:nvGraphicFramePr>
          <p:cNvPr id="125964" name="Object 11"/>
          <p:cNvGraphicFramePr>
            <a:graphicFrameLocks noGrp="1"/>
          </p:cNvGraphicFramePr>
          <p:nvPr>
            <p:ph/>
          </p:nvPr>
        </p:nvGraphicFramePr>
        <p:xfrm>
          <a:off x="2806700" y="1773238"/>
          <a:ext cx="3529013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1828165" imgH="711200" progId="Equation.3">
                  <p:embed/>
                </p:oleObj>
              </mc:Choice>
              <mc:Fallback>
                <p:oleObj r:id="rId10" imgW="1828165" imgH="711200" progId="Equation.3">
                  <p:embed/>
                  <p:pic>
                    <p:nvPicPr>
                      <p:cNvPr id="0" name="图片 3293"/>
                      <p:cNvPicPr/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>
                      <a:xfrm>
                        <a:off x="2806700" y="1773238"/>
                        <a:ext cx="3529013" cy="137160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5965" name="Text Box 12"/>
          <p:cNvSpPr txBox="1"/>
          <p:nvPr/>
        </p:nvSpPr>
        <p:spPr>
          <a:xfrm>
            <a:off x="5413375" y="6435725"/>
            <a:ext cx="1390650" cy="366713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1800" b="0" dirty="0">
                <a:latin typeface="Arial" panose="020B0604020202020204" pitchFamily="34" charset="0"/>
                <a:ea typeface="黑体" panose="02010609060101010101" charset="-122"/>
              </a:rPr>
              <a:t>井元伟 教授</a:t>
            </a:r>
          </a:p>
        </p:txBody>
      </p:sp>
    </p:spTree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日期占位符 3"/>
          <p:cNvSpPr txBox="1">
            <a:spLocks noGrp="1"/>
          </p:cNvSpPr>
          <p:nvPr>
            <p:ph type="dt" sz="half" idx="10"/>
          </p:nvPr>
        </p:nvSpPr>
        <p:spPr>
          <a:xfrm>
            <a:off x="2941638" y="5157788"/>
            <a:ext cx="3311525" cy="404812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BB962C8B-B14F-4D97-AF65-F5344CB8AC3E}" type="datetime2">
              <a:rPr lang="zh-CN" altLang="en-US" sz="2400" b="0" dirty="0">
                <a:solidFill>
                  <a:schemeClr val="bg1"/>
                </a:solidFill>
              </a:rPr>
              <a:t>2026年7月17日</a:t>
            </a:fld>
            <a:endParaRPr lang="zh-CN" altLang="en-US" sz="2400" b="0" dirty="0">
              <a:solidFill>
                <a:schemeClr val="bg1"/>
              </a:solidFill>
            </a:endParaRPr>
          </a:p>
        </p:txBody>
      </p:sp>
      <p:pic>
        <p:nvPicPr>
          <p:cNvPr id="133123" name="Picture 2" descr="底图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133124" name="Object 3"/>
          <p:cNvGraphicFramePr/>
          <p:nvPr/>
        </p:nvGraphicFramePr>
        <p:xfrm>
          <a:off x="1619250" y="1050925"/>
          <a:ext cx="5832475" cy="194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517140" imgH="786765" progId="Equation.DSMT4">
                  <p:embed/>
                </p:oleObj>
              </mc:Choice>
              <mc:Fallback>
                <p:oleObj r:id="rId4" imgW="2517140" imgH="786765" progId="Equation.DSMT4">
                  <p:embed/>
                  <p:pic>
                    <p:nvPicPr>
                      <p:cNvPr id="0" name="图片 3311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619250" y="1050925"/>
                        <a:ext cx="5832475" cy="1946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3108" name="Text Box 4"/>
          <p:cNvSpPr txBox="1">
            <a:spLocks noChangeArrowheads="1"/>
          </p:cNvSpPr>
          <p:nvPr/>
        </p:nvSpPr>
        <p:spPr bwMode="auto">
          <a:xfrm>
            <a:off x="539750" y="2924175"/>
            <a:ext cx="8207375" cy="457200"/>
          </a:xfrm>
          <a:prstGeom prst="rect">
            <a:avLst/>
          </a:prstGeom>
          <a:noFill/>
          <a:ln w="952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92075" tIns="46038" rIns="92075" bIns="46038">
            <a:spAutoFit/>
          </a:bodyPr>
          <a:lstStyle/>
          <a:p>
            <a:pPr marR="0" defTabSz="914400">
              <a:spcBef>
                <a:spcPct val="20000"/>
              </a:spcBef>
              <a:buClr>
                <a:schemeClr val="hlink"/>
              </a:buClr>
              <a:buSzPct val="75000"/>
              <a:buFont typeface="Monotype Sorts" charset="2"/>
              <a:buNone/>
              <a:defRPr/>
            </a:pPr>
            <a:r>
              <a:rPr kumimoji="0" lang="zh-CN" altLang="en-US" sz="2400" b="0" kern="1200" cap="none" spc="0" normalizeH="0" baseline="0" noProof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charset="-122"/>
                <a:cs typeface="+mn-cs"/>
              </a:rPr>
              <a:t>根据闭环期望极点，可求得</a:t>
            </a:r>
            <a:r>
              <a:rPr kumimoji="0" lang="zh-CN" altLang="en-US" sz="2400" b="0" kern="1200" cap="none" spc="0" normalizeH="0" baseline="0" noProof="0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charset="-122"/>
                <a:cs typeface="+mn-cs"/>
              </a:rPr>
              <a:t>闭环期望特征多项式为</a:t>
            </a:r>
            <a:endParaRPr kumimoji="0" lang="zh-CN" altLang="en-US" sz="2400" b="0" kern="1200" cap="none" spc="0" normalizeH="0" baseline="0" noProof="0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  <a:ea typeface="黑体" panose="02010609060101010101" charset="-122"/>
              <a:cs typeface="+mn-cs"/>
            </a:endParaRPr>
          </a:p>
        </p:txBody>
      </p:sp>
      <p:graphicFrame>
        <p:nvGraphicFramePr>
          <p:cNvPr id="133126" name="Object 5"/>
          <p:cNvGraphicFramePr/>
          <p:nvPr/>
        </p:nvGraphicFramePr>
        <p:xfrm>
          <a:off x="1341438" y="3484563"/>
          <a:ext cx="6399212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2841625" imgH="196850" progId="Equation.DSMT4">
                  <p:embed/>
                </p:oleObj>
              </mc:Choice>
              <mc:Fallback>
                <p:oleObj r:id="rId6" imgW="2841625" imgH="196850" progId="Equation.DSMT4">
                  <p:embed/>
                  <p:pic>
                    <p:nvPicPr>
                      <p:cNvPr id="0" name="图片 3310"/>
                      <p:cNvPicPr/>
                      <p:nvPr/>
                    </p:nvPicPr>
                    <p:blipFill>
                      <a:blip r:embed="rId7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341438" y="3484563"/>
                        <a:ext cx="6399212" cy="4651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27" name="Text Box 6"/>
          <p:cNvSpPr txBox="1"/>
          <p:nvPr/>
        </p:nvSpPr>
        <p:spPr>
          <a:xfrm>
            <a:off x="539750" y="4005263"/>
            <a:ext cx="4840288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20000"/>
              </a:spcBef>
              <a:buSzPct val="100000"/>
            </a:pPr>
            <a:r>
              <a:rPr lang="zh-CN" altLang="en-US" sz="2400" b="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charset="-122"/>
              </a:rPr>
              <a:t>比较两多项式同次幂的系数，有 ：</a:t>
            </a:r>
          </a:p>
        </p:txBody>
      </p:sp>
      <p:graphicFrame>
        <p:nvGraphicFramePr>
          <p:cNvPr id="133128" name="Object 7"/>
          <p:cNvGraphicFramePr/>
          <p:nvPr/>
        </p:nvGraphicFramePr>
        <p:xfrm>
          <a:off x="1690688" y="4508500"/>
          <a:ext cx="5761037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2635250" imgH="236220" progId="Equation.3">
                  <p:embed/>
                </p:oleObj>
              </mc:Choice>
              <mc:Fallback>
                <p:oleObj r:id="rId8" imgW="2635250" imgH="236220" progId="Equation.3">
                  <p:embed/>
                  <p:pic>
                    <p:nvPicPr>
                      <p:cNvPr id="0" name="图片 3313"/>
                      <p:cNvPicPr/>
                      <p:nvPr/>
                    </p:nvPicPr>
                    <p:blipFill>
                      <a:blip r:embed="rId9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690688" y="4508500"/>
                        <a:ext cx="5761037" cy="4778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29" name="Text Box 8"/>
          <p:cNvSpPr txBox="1"/>
          <p:nvPr/>
        </p:nvSpPr>
        <p:spPr>
          <a:xfrm>
            <a:off x="5651500" y="188913"/>
            <a:ext cx="3313113" cy="366712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r>
              <a:rPr lang="zh-CN" altLang="en-US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第 </a:t>
            </a:r>
            <a:r>
              <a:rPr lang="en-US" altLang="zh-CN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6 </a:t>
            </a:r>
            <a:r>
              <a:rPr lang="zh-CN" altLang="en-US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章  状态反馈和状态观测器</a:t>
            </a:r>
          </a:p>
        </p:txBody>
      </p:sp>
      <p:sp>
        <p:nvSpPr>
          <p:cNvPr id="133130" name="Text Box 9"/>
          <p:cNvSpPr txBox="1"/>
          <p:nvPr/>
        </p:nvSpPr>
        <p:spPr>
          <a:xfrm>
            <a:off x="252413" y="6435725"/>
            <a:ext cx="1439862" cy="366713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r>
              <a:rPr lang="en-US" altLang="zh-CN" sz="1800" b="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charset="-122"/>
              </a:rPr>
              <a:t>2. </a:t>
            </a:r>
            <a:r>
              <a:rPr lang="zh-CN" altLang="en-US" sz="1800" b="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charset="-122"/>
              </a:rPr>
              <a:t>极点配置</a:t>
            </a:r>
          </a:p>
        </p:txBody>
      </p:sp>
      <p:sp>
        <p:nvSpPr>
          <p:cNvPr id="303114" name="Text Box 10"/>
          <p:cNvSpPr txBox="1">
            <a:spLocks noChangeArrowheads="1"/>
          </p:cNvSpPr>
          <p:nvPr/>
        </p:nvSpPr>
        <p:spPr bwMode="auto">
          <a:xfrm>
            <a:off x="539750" y="4981575"/>
            <a:ext cx="6638925" cy="1023938"/>
          </a:xfrm>
          <a:prstGeom prst="rect">
            <a:avLst/>
          </a:prstGeom>
          <a:noFill/>
          <a:ln w="952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lIns="92075" tIns="46038" rIns="92075" bIns="46038">
            <a:spAutoFit/>
          </a:bodyPr>
          <a:lstStyle/>
          <a:p>
            <a:pPr marR="0" defTabSz="914400">
              <a:spcBef>
                <a:spcPct val="20000"/>
              </a:spcBef>
              <a:buClrTx/>
              <a:buSzPct val="100000"/>
              <a:buFontTx/>
              <a:buNone/>
              <a:defRPr/>
            </a:pPr>
            <a:r>
              <a:rPr kumimoji="0" lang="zh-CN" altLang="en-US" sz="2400" b="0" kern="1200" cap="none" spc="0" normalizeH="0" baseline="0" noProof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charset="-122"/>
                <a:cs typeface="+mn-cs"/>
              </a:rPr>
              <a:t>得：                         即得</a:t>
            </a:r>
            <a:r>
              <a:rPr kumimoji="0" lang="zh-CN" altLang="en-US" sz="2400" b="0" kern="1200" cap="none" spc="0" normalizeH="0" baseline="0" noProof="0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charset="-122"/>
                <a:cs typeface="+mn-cs"/>
              </a:rPr>
              <a:t>状态反馈增益矩阵</a:t>
            </a:r>
            <a:r>
              <a:rPr kumimoji="0" lang="zh-CN" altLang="en-US" sz="2400" b="0" kern="1200" cap="none" spc="0" normalizeH="0" baseline="0" noProof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charset="-122"/>
                <a:cs typeface="+mn-cs"/>
              </a:rPr>
              <a:t>为 ：</a:t>
            </a:r>
          </a:p>
          <a:p>
            <a:pPr marR="0" defTabSz="914400">
              <a:spcBef>
                <a:spcPct val="55000"/>
              </a:spcBef>
              <a:buClrTx/>
              <a:buSzPct val="100000"/>
              <a:buFontTx/>
              <a:buNone/>
              <a:defRPr/>
            </a:pPr>
            <a:r>
              <a:rPr kumimoji="0" lang="zh-CN" altLang="en-US" sz="2400" b="0" kern="1200" cap="none" spc="0" normalizeH="0" baseline="0" noProof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charset="-122"/>
                <a:cs typeface="+mn-cs"/>
              </a:rPr>
              <a:t>                         ，与例</a:t>
            </a:r>
            <a:r>
              <a:rPr kumimoji="0" lang="en-US" altLang="zh-CN" sz="2400" b="0" kern="1200" cap="none" spc="0" normalizeH="0" baseline="0" noProof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charset="-122"/>
                <a:cs typeface="+mn-cs"/>
              </a:rPr>
              <a:t>6.2.1</a:t>
            </a:r>
            <a:r>
              <a:rPr kumimoji="0" lang="zh-CN" altLang="en-US" sz="2400" b="0" kern="1200" cap="none" spc="0" normalizeH="0" baseline="0" noProof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charset="-122"/>
                <a:cs typeface="+mn-cs"/>
              </a:rPr>
              <a:t>的结果相同。</a:t>
            </a:r>
            <a:endParaRPr kumimoji="0" lang="zh-CN" altLang="en-US" sz="2400" b="0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  <a:ea typeface="黑体" panose="02010609060101010101" charset="-122"/>
              <a:cs typeface="+mn-cs"/>
            </a:endParaRPr>
          </a:p>
        </p:txBody>
      </p:sp>
      <p:graphicFrame>
        <p:nvGraphicFramePr>
          <p:cNvPr id="133132" name="Object 11"/>
          <p:cNvGraphicFramePr/>
          <p:nvPr/>
        </p:nvGraphicFramePr>
        <p:xfrm>
          <a:off x="1042988" y="5013325"/>
          <a:ext cx="2233612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1189990" imgH="236220" progId="Equation.DSMT4">
                  <p:embed/>
                </p:oleObj>
              </mc:Choice>
              <mc:Fallback>
                <p:oleObj r:id="rId10" imgW="1189990" imgH="236220" progId="Equation.DSMT4">
                  <p:embed/>
                  <p:pic>
                    <p:nvPicPr>
                      <p:cNvPr id="0" name="图片 3312"/>
                      <p:cNvPicPr/>
                      <p:nvPr/>
                    </p:nvPicPr>
                    <p:blipFill>
                      <a:blip r:embed="rId11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042988" y="5013325"/>
                        <a:ext cx="2233612" cy="482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33" name="Object 12"/>
          <p:cNvGraphicFramePr/>
          <p:nvPr/>
        </p:nvGraphicFramePr>
        <p:xfrm>
          <a:off x="755650" y="5541963"/>
          <a:ext cx="1944688" cy="490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894715" imgH="226060" progId="Equation.3">
                  <p:embed/>
                </p:oleObj>
              </mc:Choice>
              <mc:Fallback>
                <p:oleObj r:id="rId12" imgW="894715" imgH="226060" progId="Equation.3">
                  <p:embed/>
                  <p:pic>
                    <p:nvPicPr>
                      <p:cNvPr id="0" name="图片 3314"/>
                      <p:cNvPicPr/>
                      <p:nvPr/>
                    </p:nvPicPr>
                    <p:blipFill>
                      <a:blip r:embed="rId13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55650" y="5541963"/>
                        <a:ext cx="1944688" cy="4905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34" name="Text Box 13"/>
          <p:cNvSpPr txBox="1"/>
          <p:nvPr/>
        </p:nvSpPr>
        <p:spPr>
          <a:xfrm>
            <a:off x="5413375" y="6435725"/>
            <a:ext cx="1390650" cy="366713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1800" b="0" dirty="0">
                <a:latin typeface="Arial" panose="020B0604020202020204" pitchFamily="34" charset="0"/>
                <a:ea typeface="黑体" panose="02010609060101010101" charset="-122"/>
              </a:rPr>
              <a:t>井元伟 教授</a:t>
            </a:r>
          </a:p>
        </p:txBody>
      </p:sp>
    </p:spTree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日期占位符 3"/>
          <p:cNvSpPr txBox="1">
            <a:spLocks noGrp="1"/>
          </p:cNvSpPr>
          <p:nvPr>
            <p:ph type="dt" sz="half" idx="10"/>
          </p:nvPr>
        </p:nvSpPr>
        <p:spPr>
          <a:xfrm>
            <a:off x="2941638" y="5157788"/>
            <a:ext cx="3311525" cy="404812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BB962C8B-B14F-4D97-AF65-F5344CB8AC3E}" type="datetime2">
              <a:rPr lang="zh-CN" altLang="en-US" sz="2400" b="0" dirty="0">
                <a:solidFill>
                  <a:schemeClr val="bg1"/>
                </a:solidFill>
              </a:rPr>
              <a:t>2026年7月17日</a:t>
            </a:fld>
            <a:endParaRPr lang="zh-CN" altLang="en-US" sz="2400" b="0" dirty="0">
              <a:solidFill>
                <a:schemeClr val="bg1"/>
              </a:solidFill>
            </a:endParaRPr>
          </a:p>
        </p:txBody>
      </p:sp>
      <p:pic>
        <p:nvPicPr>
          <p:cNvPr id="135171" name="Picture 2" descr="底图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8227" name="Text Box 3"/>
          <p:cNvSpPr txBox="1">
            <a:spLocks noChangeArrowheads="1"/>
          </p:cNvSpPr>
          <p:nvPr/>
        </p:nvSpPr>
        <p:spPr bwMode="auto">
          <a:xfrm>
            <a:off x="3276600" y="815975"/>
            <a:ext cx="1555750" cy="457200"/>
          </a:xfrm>
          <a:prstGeom prst="rect">
            <a:avLst/>
          </a:prstGeom>
          <a:noFill/>
          <a:ln w="952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lIns="92075" tIns="46038" rIns="92075" bIns="46038">
            <a:spAutoFit/>
          </a:bodyPr>
          <a:lstStyle/>
          <a:p>
            <a:pPr marR="0" defTabSz="914400">
              <a:spcBef>
                <a:spcPct val="20000"/>
              </a:spcBef>
              <a:buClr>
                <a:schemeClr val="hlink"/>
              </a:buClr>
              <a:buSzPct val="75000"/>
              <a:buFont typeface="Monotype Sorts" charset="2"/>
              <a:buNone/>
              <a:defRPr/>
            </a:pPr>
            <a:r>
              <a:rPr kumimoji="0" lang="en-US" altLang="zh-CN" sz="2400" b="0" kern="1200" cap="none" spc="0" normalizeH="0" baseline="0" noProof="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charset="-122"/>
                <a:cs typeface="+mn-cs"/>
              </a:rPr>
              <a:t>6.2.3 </a:t>
            </a:r>
            <a:r>
              <a:rPr kumimoji="0" lang="zh-CN" altLang="en-US" sz="2400" b="0" kern="1200" cap="none" spc="0" normalizeH="0" baseline="0" noProof="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charset="-122"/>
                <a:cs typeface="+mn-cs"/>
              </a:rPr>
              <a:t>讨论</a:t>
            </a:r>
            <a:endParaRPr kumimoji="0" lang="zh-CN" altLang="en-US" sz="2400" b="0" kern="1200" cap="none" spc="0" normalizeH="0" baseline="0" noProof="0"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  <a:ea typeface="黑体" panose="02010609060101010101" charset="-122"/>
              <a:cs typeface="+mn-cs"/>
            </a:endParaRPr>
          </a:p>
        </p:txBody>
      </p:sp>
      <p:sp>
        <p:nvSpPr>
          <p:cNvPr id="308228" name="Text Box 4"/>
          <p:cNvSpPr txBox="1">
            <a:spLocks noChangeArrowheads="1"/>
          </p:cNvSpPr>
          <p:nvPr/>
        </p:nvSpPr>
        <p:spPr bwMode="auto">
          <a:xfrm>
            <a:off x="468313" y="1320800"/>
            <a:ext cx="8135938" cy="3200400"/>
          </a:xfrm>
          <a:prstGeom prst="rect">
            <a:avLst/>
          </a:prstGeom>
          <a:noFill/>
          <a:ln w="952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92075" tIns="46038" rIns="92075" bIns="46038">
            <a:spAutoFit/>
          </a:bodyPr>
          <a:lstStyle/>
          <a:p>
            <a:pPr marL="342900" marR="0" indent="-342900" algn="just" defTabSz="914400">
              <a:lnSpc>
                <a:spcPct val="125000"/>
              </a:lnSpc>
              <a:spcBef>
                <a:spcPct val="50000"/>
              </a:spcBef>
              <a:buClr>
                <a:schemeClr val="hlink"/>
              </a:buClr>
              <a:buSzPct val="75000"/>
              <a:buFont typeface="Monotype Sorts" charset="2"/>
              <a:buChar char="n"/>
              <a:defRPr/>
            </a:pPr>
            <a:r>
              <a:rPr kumimoji="0" lang="zh-CN" altLang="en-US" sz="2400" b="0" kern="1200" cap="none" spc="0" normalizeH="0" baseline="0" noProof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charset="-122"/>
                <a:cs typeface="+mn-cs"/>
              </a:rPr>
              <a:t>状态反馈不改变系统的维数，但是闭环传递函数的阶次可能会降低，这是由分子分母的公因子被对消所致。</a:t>
            </a:r>
          </a:p>
          <a:p>
            <a:pPr marL="342900" marR="0" indent="-342900" algn="just" defTabSz="914400">
              <a:lnSpc>
                <a:spcPct val="125000"/>
              </a:lnSpc>
              <a:spcBef>
                <a:spcPct val="50000"/>
              </a:spcBef>
              <a:buClr>
                <a:schemeClr val="hlink"/>
              </a:buClr>
              <a:buSzPct val="75000"/>
              <a:buFont typeface="Monotype Sorts" charset="2"/>
              <a:buChar char="n"/>
              <a:defRPr/>
            </a:pPr>
            <a:r>
              <a:rPr kumimoji="0" lang="zh-CN" altLang="en-US" sz="2400" b="0" kern="1200" cap="none" spc="0" normalizeH="0" baseline="0" noProof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charset="-122"/>
                <a:cs typeface="+mn-cs"/>
              </a:rPr>
              <a:t>对于单输入单输出系统，状态反馈不会移动系统传递函数的零点。</a:t>
            </a:r>
          </a:p>
          <a:p>
            <a:pPr marL="342900" marR="0" indent="-342900" algn="just" defTabSz="914400">
              <a:lnSpc>
                <a:spcPct val="125000"/>
              </a:lnSpc>
              <a:spcBef>
                <a:spcPct val="50000"/>
              </a:spcBef>
              <a:buClr>
                <a:schemeClr val="hlink"/>
              </a:buClr>
              <a:buSzPct val="75000"/>
              <a:buFont typeface="Monotype Sorts" charset="2"/>
              <a:buChar char="n"/>
              <a:defRPr/>
            </a:pPr>
            <a:r>
              <a:rPr kumimoji="0" lang="zh-CN" altLang="en-US" sz="2400" b="0" kern="1200" cap="none" spc="0" normalizeH="0" baseline="0" noProof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charset="-122"/>
                <a:cs typeface="+mn-cs"/>
              </a:rPr>
              <a:t>若系统是不完全能控的，可将其状态方程变换成如下形式：</a:t>
            </a:r>
            <a:endParaRPr kumimoji="0" lang="zh-CN" altLang="en-US" sz="2400" b="0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  <a:ea typeface="黑体" panose="02010609060101010101" charset="-122"/>
              <a:cs typeface="+mn-cs"/>
            </a:endParaRPr>
          </a:p>
        </p:txBody>
      </p:sp>
      <p:sp>
        <p:nvSpPr>
          <p:cNvPr id="135174" name="Text Box 5"/>
          <p:cNvSpPr txBox="1"/>
          <p:nvPr/>
        </p:nvSpPr>
        <p:spPr>
          <a:xfrm>
            <a:off x="5651500" y="188913"/>
            <a:ext cx="3313113" cy="366712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r>
              <a:rPr lang="zh-CN" altLang="en-US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第 </a:t>
            </a:r>
            <a:r>
              <a:rPr lang="en-US" altLang="zh-CN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6 </a:t>
            </a:r>
            <a:r>
              <a:rPr lang="zh-CN" altLang="en-US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章  状态反馈和状态观测器</a:t>
            </a:r>
          </a:p>
        </p:txBody>
      </p:sp>
      <p:sp>
        <p:nvSpPr>
          <p:cNvPr id="135175" name="Text Box 6"/>
          <p:cNvSpPr txBox="1"/>
          <p:nvPr/>
        </p:nvSpPr>
        <p:spPr>
          <a:xfrm>
            <a:off x="252413" y="6435725"/>
            <a:ext cx="1439862" cy="366713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r>
              <a:rPr lang="en-US" altLang="zh-CN" sz="1800" b="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charset="-122"/>
              </a:rPr>
              <a:t>2. </a:t>
            </a:r>
            <a:r>
              <a:rPr lang="zh-CN" altLang="en-US" sz="1800" b="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charset="-122"/>
              </a:rPr>
              <a:t>极点配置</a:t>
            </a:r>
          </a:p>
        </p:txBody>
      </p:sp>
      <p:graphicFrame>
        <p:nvGraphicFramePr>
          <p:cNvPr id="135176" name="Object 7"/>
          <p:cNvGraphicFramePr/>
          <p:nvPr/>
        </p:nvGraphicFramePr>
        <p:xfrm>
          <a:off x="2555875" y="4411663"/>
          <a:ext cx="4032250" cy="1033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966595" imgH="521335" progId="Equation.DSMT4">
                  <p:embed/>
                </p:oleObj>
              </mc:Choice>
              <mc:Fallback>
                <p:oleObj r:id="rId4" imgW="1966595" imgH="521335" progId="Equation.DSMT4">
                  <p:embed/>
                  <p:pic>
                    <p:nvPicPr>
                      <p:cNvPr id="0" name="图片 3315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555875" y="4411663"/>
                        <a:ext cx="4032250" cy="10334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5177" name="Text Box 8"/>
          <p:cNvSpPr txBox="1"/>
          <p:nvPr/>
        </p:nvSpPr>
        <p:spPr>
          <a:xfrm>
            <a:off x="819150" y="5564188"/>
            <a:ext cx="4787900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20000"/>
              </a:spcBef>
              <a:buSzPct val="100000"/>
            </a:pPr>
            <a:r>
              <a:rPr lang="zh-CN" altLang="en-US" sz="2400" b="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charset="-122"/>
              </a:rPr>
              <a:t>其中，    的特征值不能任意配置。</a:t>
            </a:r>
          </a:p>
        </p:txBody>
      </p:sp>
      <p:graphicFrame>
        <p:nvGraphicFramePr>
          <p:cNvPr id="135178" name="Object 9"/>
          <p:cNvGraphicFramePr/>
          <p:nvPr/>
        </p:nvGraphicFramePr>
        <p:xfrm>
          <a:off x="1663700" y="5508625"/>
          <a:ext cx="604838" cy="53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96850" imgH="206375" progId="Equation.DSMT4">
                  <p:embed/>
                </p:oleObj>
              </mc:Choice>
              <mc:Fallback>
                <p:oleObj r:id="rId6" imgW="196850" imgH="206375" progId="Equation.DSMT4">
                  <p:embed/>
                  <p:pic>
                    <p:nvPicPr>
                      <p:cNvPr id="0" name="图片 3316"/>
                      <p:cNvPicPr/>
                      <p:nvPr/>
                    </p:nvPicPr>
                    <p:blipFill>
                      <a:blip r:embed="rId7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663700" y="5508625"/>
                        <a:ext cx="604838" cy="5381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5179" name="Text Box 10"/>
          <p:cNvSpPr txBox="1"/>
          <p:nvPr/>
        </p:nvSpPr>
        <p:spPr>
          <a:xfrm>
            <a:off x="5413375" y="6435725"/>
            <a:ext cx="1390650" cy="366713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1800" b="0" dirty="0">
                <a:latin typeface="Arial" panose="020B0604020202020204" pitchFamily="34" charset="0"/>
                <a:ea typeface="黑体" panose="02010609060101010101" charset="-122"/>
              </a:rPr>
              <a:t>井元伟 教授</a:t>
            </a:r>
          </a:p>
        </p:txBody>
      </p:sp>
    </p:spTree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日期占位符 2"/>
          <p:cNvSpPr txBox="1">
            <a:spLocks noGrp="1"/>
          </p:cNvSpPr>
          <p:nvPr>
            <p:ph type="dt" sz="half" idx="10"/>
          </p:nvPr>
        </p:nvSpPr>
        <p:spPr>
          <a:xfrm>
            <a:off x="2941638" y="5157788"/>
            <a:ext cx="3311525" cy="404812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BB962C8B-B14F-4D97-AF65-F5344CB8AC3E}" type="datetime2">
              <a:rPr lang="zh-CN" altLang="en-US" sz="2400" b="0" dirty="0">
                <a:solidFill>
                  <a:schemeClr val="bg1"/>
                </a:solidFill>
              </a:rPr>
              <a:t>2026年7月17日</a:t>
            </a:fld>
            <a:endParaRPr lang="zh-CN" altLang="en-US" sz="2400" b="0" dirty="0">
              <a:solidFill>
                <a:schemeClr val="bg1"/>
              </a:solidFill>
            </a:endParaRPr>
          </a:p>
        </p:txBody>
      </p:sp>
      <p:pic>
        <p:nvPicPr>
          <p:cNvPr id="137219" name="Picture 2" descr="底图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9251" name="Text Box 3"/>
          <p:cNvSpPr txBox="1">
            <a:spLocks noChangeArrowheads="1"/>
          </p:cNvSpPr>
          <p:nvPr/>
        </p:nvSpPr>
        <p:spPr bwMode="auto">
          <a:xfrm>
            <a:off x="755650" y="1484313"/>
            <a:ext cx="7632700" cy="3579813"/>
          </a:xfrm>
          <a:prstGeom prst="rect">
            <a:avLst/>
          </a:prstGeom>
          <a:noFill/>
          <a:ln w="9525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lIns="92075" tIns="46038" rIns="92075" bIns="46038">
            <a:spAutoFit/>
          </a:bodyPr>
          <a:lstStyle/>
          <a:p>
            <a:pPr marL="365125" marR="0" indent="-365125" algn="just" defTabSz="914400">
              <a:lnSpc>
                <a:spcPct val="150000"/>
              </a:lnSpc>
              <a:spcBef>
                <a:spcPct val="55000"/>
              </a:spcBef>
              <a:buClr>
                <a:schemeClr val="hlink"/>
              </a:buClr>
              <a:buSzPct val="10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2400" b="0" kern="1200" cap="none" spc="0" normalizeH="0" baseline="0" noProof="0">
                <a:latin typeface="Arial" panose="020B0604020202020204" pitchFamily="34" charset="0"/>
                <a:ea typeface="黑体" panose="02010609060101010101" charset="-122"/>
                <a:cs typeface="+mn-cs"/>
              </a:rPr>
              <a:t>状态反馈可能改变系统的</a:t>
            </a:r>
            <a:r>
              <a:rPr kumimoji="0" lang="zh-CN" altLang="en-US" sz="2400" b="0" kern="1200" cap="none" spc="0" normalizeH="0" baseline="0" noProof="0">
                <a:solidFill>
                  <a:srgbClr val="A50021"/>
                </a:solidFill>
                <a:latin typeface="Arial" panose="020B0604020202020204" pitchFamily="34" charset="0"/>
                <a:ea typeface="黑体" panose="02010609060101010101" charset="-122"/>
                <a:cs typeface="+mn-cs"/>
              </a:rPr>
              <a:t>能观测性</a:t>
            </a:r>
            <a:r>
              <a:rPr kumimoji="0" lang="zh-CN" altLang="en-US" sz="2400" b="0" kern="1200" cap="none" spc="0" normalizeH="0" baseline="0" noProof="0">
                <a:latin typeface="Arial" panose="020B0604020202020204" pitchFamily="34" charset="0"/>
                <a:ea typeface="黑体" panose="02010609060101010101" charset="-122"/>
                <a:cs typeface="+mn-cs"/>
              </a:rPr>
              <a:t>。这是因为某些极点可能会被移动到与系统</a:t>
            </a:r>
            <a:r>
              <a:rPr kumimoji="0" lang="zh-CN" altLang="en-US" sz="2400" b="0" kern="1200" cap="none" spc="0" normalizeH="0" baseline="0" noProof="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charset="-122"/>
                <a:cs typeface="+mn-cs"/>
              </a:rPr>
              <a:t>零点</a:t>
            </a:r>
            <a:r>
              <a:rPr kumimoji="0" lang="zh-CN" altLang="en-US" sz="2400" b="0" kern="1200" cap="none" spc="0" normalizeH="0" baseline="0" noProof="0">
                <a:latin typeface="Arial" panose="020B0604020202020204" pitchFamily="34" charset="0"/>
                <a:ea typeface="黑体" panose="02010609060101010101" charset="-122"/>
                <a:cs typeface="+mn-cs"/>
              </a:rPr>
              <a:t>相重合的位置。</a:t>
            </a:r>
          </a:p>
          <a:p>
            <a:pPr marL="365125" marR="0" indent="-365125" algn="just" defTabSz="914400">
              <a:lnSpc>
                <a:spcPct val="150000"/>
              </a:lnSpc>
              <a:spcBef>
                <a:spcPct val="55000"/>
              </a:spcBef>
              <a:buClr>
                <a:schemeClr val="hlink"/>
              </a:buClr>
              <a:buSzPct val="10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2400" b="0" kern="1200" cap="none" spc="0" normalizeH="0" baseline="0" noProof="0">
                <a:latin typeface="Arial" panose="020B0604020202020204" pitchFamily="34" charset="0"/>
                <a:ea typeface="黑体" panose="02010609060101010101" charset="-122"/>
                <a:cs typeface="+mn-cs"/>
              </a:rPr>
              <a:t>系统综合</a:t>
            </a:r>
            <a:r>
              <a:rPr kumimoji="0" lang="zh-CN" altLang="en-US" sz="2400" b="0" kern="1200" cap="none" spc="0" normalizeH="0" baseline="0" noProof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charset="-122"/>
                <a:cs typeface="+mn-cs"/>
              </a:rPr>
              <a:t>往往需要将不稳定的极点，移到</a:t>
            </a:r>
            <a:r>
              <a:rPr kumimoji="0" lang="en-US" altLang="zh-CN" sz="2400" b="0" kern="1200" cap="none" spc="0" normalizeH="0" baseline="0" noProof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charset="-122"/>
                <a:cs typeface="+mn-cs"/>
              </a:rPr>
              <a:t>s</a:t>
            </a:r>
            <a:r>
              <a:rPr kumimoji="0" lang="zh-CN" altLang="en-US" sz="2400" b="0" kern="1200" cap="none" spc="0" normalizeH="0" baseline="0" noProof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charset="-122"/>
                <a:cs typeface="+mn-cs"/>
              </a:rPr>
              <a:t>平面的左半部，这一过程称为系统镇定。而子系统    是不能控的，故不能任意配置极点。只有    的全部特征值都具有</a:t>
            </a:r>
            <a:r>
              <a:rPr kumimoji="0" lang="zh-CN" altLang="en-US" sz="2400" b="0" kern="1200" cap="none" spc="0" normalizeH="0" baseline="0" noProof="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charset="-122"/>
                <a:cs typeface="+mn-cs"/>
              </a:rPr>
              <a:t>负实部</a:t>
            </a:r>
            <a:r>
              <a:rPr kumimoji="0" lang="zh-CN" altLang="en-US" sz="2400" b="0" kern="1200" cap="none" spc="0" normalizeH="0" baseline="0" noProof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charset="-122"/>
                <a:cs typeface="+mn-cs"/>
              </a:rPr>
              <a:t>时，系统才能</a:t>
            </a:r>
            <a:r>
              <a:rPr kumimoji="0" lang="zh-CN" altLang="en-US" sz="2400" b="0" kern="1200" cap="none" spc="0" normalizeH="0" baseline="0" noProof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charset="-122"/>
                <a:cs typeface="+mn-cs"/>
              </a:rPr>
              <a:t>镇定</a:t>
            </a:r>
            <a:r>
              <a:rPr kumimoji="0" lang="zh-CN" altLang="en-US" sz="2400" b="0" kern="1200" cap="none" spc="0" normalizeH="0" baseline="0" noProof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charset="-122"/>
                <a:cs typeface="+mn-cs"/>
              </a:rPr>
              <a:t>。</a:t>
            </a:r>
            <a:endParaRPr kumimoji="0" lang="zh-CN" altLang="en-US" sz="2400" b="0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  <a:ea typeface="黑体" panose="02010609060101010101" charset="-122"/>
              <a:cs typeface="+mn-cs"/>
            </a:endParaRPr>
          </a:p>
        </p:txBody>
      </p:sp>
      <p:graphicFrame>
        <p:nvGraphicFramePr>
          <p:cNvPr id="137221" name="Object 4"/>
          <p:cNvGraphicFramePr/>
          <p:nvPr/>
        </p:nvGraphicFramePr>
        <p:xfrm>
          <a:off x="6659563" y="3443288"/>
          <a:ext cx="50482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45745" imgH="245745" progId="Equation.3">
                  <p:embed/>
                </p:oleObj>
              </mc:Choice>
              <mc:Fallback>
                <p:oleObj r:id="rId4" imgW="245745" imgH="245745" progId="Equation.3">
                  <p:embed/>
                  <p:pic>
                    <p:nvPicPr>
                      <p:cNvPr id="0" name="图片 3317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659563" y="3443288"/>
                        <a:ext cx="504825" cy="504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7222" name="Text Box 5"/>
          <p:cNvSpPr txBox="1"/>
          <p:nvPr/>
        </p:nvSpPr>
        <p:spPr>
          <a:xfrm>
            <a:off x="5651500" y="188913"/>
            <a:ext cx="3313113" cy="366712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r>
              <a:rPr lang="zh-CN" altLang="en-US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第 </a:t>
            </a:r>
            <a:r>
              <a:rPr lang="en-US" altLang="zh-CN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6 </a:t>
            </a:r>
            <a:r>
              <a:rPr lang="zh-CN" altLang="en-US" sz="1800" b="0" dirty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charset="-122"/>
              </a:rPr>
              <a:t>章  状态反馈和状态观测器</a:t>
            </a:r>
          </a:p>
        </p:txBody>
      </p:sp>
      <p:sp>
        <p:nvSpPr>
          <p:cNvPr id="137223" name="Text Box 6"/>
          <p:cNvSpPr txBox="1"/>
          <p:nvPr/>
        </p:nvSpPr>
        <p:spPr>
          <a:xfrm>
            <a:off x="252413" y="6435725"/>
            <a:ext cx="1439862" cy="366713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r>
              <a:rPr lang="en-US" altLang="zh-CN" sz="1800" b="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charset="-122"/>
              </a:rPr>
              <a:t>2. </a:t>
            </a:r>
            <a:r>
              <a:rPr lang="zh-CN" altLang="en-US" sz="1800" b="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charset="-122"/>
              </a:rPr>
              <a:t>极点配置</a:t>
            </a:r>
          </a:p>
        </p:txBody>
      </p:sp>
      <p:graphicFrame>
        <p:nvGraphicFramePr>
          <p:cNvPr id="137224" name="Object 7"/>
          <p:cNvGraphicFramePr>
            <a:graphicFrameLocks noGrp="1"/>
          </p:cNvGraphicFramePr>
          <p:nvPr>
            <p:ph/>
          </p:nvPr>
        </p:nvGraphicFramePr>
        <p:xfrm>
          <a:off x="5435600" y="3990975"/>
          <a:ext cx="50482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45745" imgH="245745" progId="Equation.3">
                  <p:embed/>
                </p:oleObj>
              </mc:Choice>
              <mc:Fallback>
                <p:oleObj r:id="rId4" imgW="245745" imgH="245745" progId="Equation.3">
                  <p:embed/>
                  <p:pic>
                    <p:nvPicPr>
                      <p:cNvPr id="0" name="图片 3318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rcRect/>
                      <a:stretch>
                        <a:fillRect/>
                      </a:stretch>
                    </p:blipFill>
                    <p:spPr>
                      <a:xfrm>
                        <a:off x="5435600" y="3990975"/>
                        <a:ext cx="504825" cy="504825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7225" name="Text Box 8"/>
          <p:cNvSpPr txBox="1"/>
          <p:nvPr/>
        </p:nvSpPr>
        <p:spPr>
          <a:xfrm>
            <a:off x="5413375" y="6435725"/>
            <a:ext cx="1390650" cy="366713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1800" b="0" dirty="0">
                <a:latin typeface="Arial" panose="020B0604020202020204" pitchFamily="34" charset="0"/>
                <a:ea typeface="黑体" panose="02010609060101010101" charset="-122"/>
              </a:rPr>
              <a:t>井元伟 教授</a:t>
            </a:r>
          </a:p>
        </p:txBody>
      </p:sp>
    </p:spTree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日期占位符 3"/>
          <p:cNvSpPr txBox="1">
            <a:spLocks noGrp="1"/>
          </p:cNvSpPr>
          <p:nvPr>
            <p:ph type="dt" sz="half" idx="10"/>
          </p:nvPr>
        </p:nvSpPr>
        <p:spPr>
          <a:xfrm>
            <a:off x="2941638" y="5157788"/>
            <a:ext cx="3311525" cy="404812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BB962C8B-B14F-4D97-AF65-F5344CB8AC3E}" type="datetime2">
              <a:rPr lang="zh-CN" altLang="en-US" sz="2400" b="0" dirty="0">
                <a:solidFill>
                  <a:schemeClr val="bg1"/>
                </a:solidFill>
              </a:rPr>
              <a:t>2026年7月17日</a:t>
            </a:fld>
            <a:endParaRPr lang="zh-CN" altLang="en-US" sz="2400" b="0" dirty="0">
              <a:solidFill>
                <a:schemeClr val="bg1"/>
              </a:solidFill>
            </a:endParaRPr>
          </a:p>
        </p:txBody>
      </p:sp>
      <p:grpSp>
        <p:nvGrpSpPr>
          <p:cNvPr id="138243" name="Group 2"/>
          <p:cNvGrpSpPr/>
          <p:nvPr/>
        </p:nvGrpSpPr>
        <p:grpSpPr>
          <a:xfrm>
            <a:off x="0" y="0"/>
            <a:ext cx="9144000" cy="6858000"/>
            <a:chOff x="-192" y="-144"/>
            <a:chExt cx="6144" cy="4608"/>
          </a:xfrm>
        </p:grpSpPr>
        <p:grpSp>
          <p:nvGrpSpPr>
            <p:cNvPr id="138244" name="Group 3"/>
            <p:cNvGrpSpPr/>
            <p:nvPr/>
          </p:nvGrpSpPr>
          <p:grpSpPr>
            <a:xfrm>
              <a:off x="-192" y="-144"/>
              <a:ext cx="6144" cy="4608"/>
              <a:chOff x="-192" y="-144"/>
              <a:chExt cx="6144" cy="4608"/>
            </a:xfrm>
          </p:grpSpPr>
          <p:pic>
            <p:nvPicPr>
              <p:cNvPr id="138246" name="Picture 4" descr="底图4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192" y="-144"/>
                <a:ext cx="6144" cy="460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38247" name="WordArt 5"/>
              <p:cNvSpPr>
                <a:spLocks noTextEdit="1"/>
              </p:cNvSpPr>
              <p:nvPr/>
            </p:nvSpPr>
            <p:spPr>
              <a:xfrm>
                <a:off x="1282" y="489"/>
                <a:ext cx="3195" cy="655"/>
              </a:xfrm>
              <a:prstGeom prst="rect">
                <a:avLst/>
              </a:prstGeom>
            </p:spPr>
            <p:txBody>
              <a:bodyPr wrap="none" fromWordArt="1">
                <a:prstTxWarp prst="textFadeUp">
                  <a:avLst>
                    <a:gd name="adj" fmla="val 9991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b="1">
                    <a:ln w="12700" cap="flat" cmpd="sng">
                      <a:solidFill>
                        <a:srgbClr val="B2B2B2"/>
                      </a:solidFill>
                      <a:prstDash val="solid"/>
                      <a:headEnd type="none" w="med" len="med"/>
                      <a:tailEnd type="none" w="med" len="med"/>
                    </a:ln>
                    <a:gradFill rotWithShape="1">
                      <a:gsLst>
                        <a:gs pos="0">
                          <a:srgbClr val="520402"/>
                        </a:gs>
                        <a:gs pos="100000">
                          <a:srgbClr val="FFCC00"/>
                        </a:gs>
                      </a:gsLst>
                      <a:lin ang="5400000" scaled="1"/>
                      <a:tileRect/>
                    </a:gradFill>
                    <a:effectLst>
                      <a:outerShdw dist="35921" dir="2699999" sy="50000" rotWithShape="0">
                        <a:srgbClr val="875B0D">
                          <a:alpha val="70000"/>
                        </a:srgbClr>
                      </a:outerShdw>
                    </a:effectLst>
                    <a:latin typeface="宋体" panose="02010600030101010101" pitchFamily="2" charset="-122"/>
                    <a:ea typeface="宋体" panose="02010600030101010101" pitchFamily="2" charset="-122"/>
                  </a:rPr>
                  <a:t>谢谢</a:t>
                </a:r>
              </a:p>
            </p:txBody>
          </p:sp>
        </p:grpSp>
        <p:sp>
          <p:nvSpPr>
            <p:cNvPr id="138245" name="WordArt 6"/>
            <p:cNvSpPr>
              <a:spLocks noTextEdit="1"/>
            </p:cNvSpPr>
            <p:nvPr/>
          </p:nvSpPr>
          <p:spPr>
            <a:xfrm>
              <a:off x="1472" y="2968"/>
              <a:ext cx="2816" cy="839"/>
            </a:xfrm>
            <a:prstGeom prst="rect">
              <a:avLst/>
            </a:prstGeom>
          </p:spPr>
          <p:txBody>
            <a:bodyPr wrap="none" fromWordArt="1">
              <a:prstTxWarp prst="textFadeUp">
                <a:avLst>
                  <a:gd name="adj" fmla="val 9991"/>
                </a:avLst>
              </a:prstTxWarp>
              <a:normAutofit/>
            </a:bodyPr>
            <a:lstStyle/>
            <a:p>
              <a:pPr algn="ctr"/>
              <a:r>
                <a:rPr lang="zh-CN" altLang="en-US" sz="3600" b="1">
                  <a:ln w="12700" cap="flat" cmpd="sng">
                    <a:solidFill>
                      <a:srgbClr val="B2B2B2"/>
                    </a:solidFill>
                    <a:prstDash val="solid"/>
                    <a:headEnd type="none" w="med" len="med"/>
                    <a:tailEnd type="none" w="med" len="med"/>
                  </a:ln>
                  <a:gradFill rotWithShape="1">
                    <a:gsLst>
                      <a:gs pos="0">
                        <a:srgbClr val="520402"/>
                      </a:gs>
                      <a:gs pos="100000">
                        <a:srgbClr val="FFCC00"/>
                      </a:gs>
                    </a:gsLst>
                    <a:lin ang="5400000" scaled="1"/>
                    <a:tileRect/>
                  </a:gradFill>
                  <a:effectLst>
                    <a:outerShdw dist="35921" dir="2699999" sy="50000" rotWithShape="0">
                      <a:srgbClr val="875B0D">
                        <a:alpha val="70000"/>
                      </a:srgbClr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</a:rPr>
                <a:t>Thank You!</a:t>
              </a:r>
            </a:p>
          </p:txBody>
        </p:sp>
      </p:grpSp>
    </p:spTree>
  </p:cSld>
  <p:clrMapOvr>
    <a:masterClrMapping/>
  </p:clrMapOvr>
  <p:transition/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1645</Words>
  <Application>Microsoft Office PowerPoint</Application>
  <PresentationFormat>全屏显示(4:3)</PresentationFormat>
  <Paragraphs>420</Paragraphs>
  <Slides>52</Slides>
  <Notes>52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52</vt:i4>
      </vt:variant>
    </vt:vector>
  </HeadingPairs>
  <TitlesOfParts>
    <vt:vector size="63" baseType="lpstr">
      <vt:lpstr>Monotype Sorts</vt:lpstr>
      <vt:lpstr>宋体</vt:lpstr>
      <vt:lpstr>黑体</vt:lpstr>
      <vt:lpstr>Arial</vt:lpstr>
      <vt:lpstr>Times New Roman</vt:lpstr>
      <vt:lpstr>Wingdings</vt:lpstr>
      <vt:lpstr>默认设计模板</vt:lpstr>
      <vt:lpstr>Equation.DSMT4</vt:lpstr>
      <vt:lpstr>Visio.Drawing.11</vt:lpstr>
      <vt:lpstr>Visio.Drawing.6</vt:lpstr>
      <vt:lpstr>Equation.3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2026-07-17T14:59:33Z</dcterms:created>
  <dcterms:modified xsi:type="dcterms:W3CDTF">2026-07-17T14:59:33Z</dcterms:modified>
</cp:coreProperties>
</file>