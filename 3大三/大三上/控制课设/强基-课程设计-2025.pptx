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8" r:id="rId2"/>
    <p:sldId id="432" r:id="rId3"/>
    <p:sldId id="434" r:id="rId4"/>
    <p:sldId id="438" r:id="rId5"/>
    <p:sldId id="436" r:id="rId6"/>
    <p:sldId id="443" r:id="rId7"/>
    <p:sldId id="444" r:id="rId8"/>
    <p:sldId id="445" r:id="rId9"/>
    <p:sldId id="446" r:id="rId10"/>
    <p:sldId id="447" r:id="rId11"/>
    <p:sldId id="433" r:id="rId12"/>
    <p:sldId id="450" r:id="rId13"/>
    <p:sldId id="451" r:id="rId14"/>
  </p:sldIdLst>
  <p:sldSz cx="9144000" cy="6858000" type="screen4x3"/>
  <p:notesSz cx="7104063" cy="10234613"/>
  <p:custDataLst>
    <p:tags r:id="rId17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86B4"/>
    <a:srgbClr val="CC00CC"/>
    <a:srgbClr val="176487"/>
    <a:srgbClr val="DDDDDD"/>
    <a:srgbClr val="339933"/>
    <a:srgbClr val="FF0000"/>
    <a:srgbClr val="135472"/>
    <a:srgbClr val="6FB6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28"/>
    <p:restoredTop sz="77237"/>
  </p:normalViewPr>
  <p:slideViewPr>
    <p:cSldViewPr showGuides="1">
      <p:cViewPr varScale="1">
        <p:scale>
          <a:sx n="126" d="100"/>
          <a:sy n="126" d="100"/>
        </p:scale>
        <p:origin x="792" y="60"/>
      </p:cViewPr>
      <p:guideLst>
        <p:guide orient="horz" pos="219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defTabSz="990600" eaLnBrk="1" hangingPunct="1">
              <a:defRPr kumimoji="1" sz="1300"/>
            </a:lvl1pPr>
          </a:lstStyle>
          <a:p>
            <a:pPr marL="0" marR="0" lvl="0" indent="0" algn="l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algn="r" defTabSz="990600" eaLnBrk="1" hangingPunct="1">
              <a:defRPr kumimoji="1" sz="1300"/>
            </a:lvl1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defTabSz="990600" eaLnBrk="1" hangingPunct="1">
              <a:defRPr kumimoji="1" sz="1300"/>
            </a:lvl1pPr>
          </a:lstStyle>
          <a:p>
            <a:pPr marL="0" marR="0" lvl="0" indent="0" algn="l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185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/>
          <a:p>
            <a:pPr lvl="0" algn="r" defTabSz="990600" eaLnBrk="1" hangingPunct="1">
              <a:buNone/>
            </a:pPr>
            <a:fld id="{9A0DB2DC-4C9A-4742-B13C-FB6460FD3503}" type="slidenum">
              <a:rPr lang="en-US" altLang="zh-CN" sz="1300" dirty="0"/>
              <a:t>‹#›</a:t>
            </a:fld>
            <a:endParaRPr lang="en-US" altLang="zh-CN" sz="1300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defTabSz="990600" eaLnBrk="1" hangingPunct="1">
              <a:defRPr kumimoji="1" sz="1300"/>
            </a:lvl1pPr>
          </a:lstStyle>
          <a:p>
            <a:pPr marL="0" marR="0" lvl="0" indent="0" algn="l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313" y="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algn="r" defTabSz="990600" eaLnBrk="1" hangingPunct="1">
              <a:defRPr kumimoji="1" sz="1300"/>
            </a:lvl1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3775" y="768350"/>
            <a:ext cx="5116513" cy="38369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4838" cy="46053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defTabSz="990600" eaLnBrk="1" hangingPunct="1">
              <a:defRPr kumimoji="1" sz="1300"/>
            </a:lvl1pPr>
          </a:lstStyle>
          <a:p>
            <a:pPr marL="0" marR="0" lvl="0" indent="0" algn="l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13" y="972185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/>
          <a:p>
            <a:pPr lvl="0" algn="r" defTabSz="990600" eaLnBrk="1" hangingPunct="1">
              <a:buNone/>
            </a:pPr>
            <a:fld id="{9A0DB2DC-4C9A-4742-B13C-FB6460FD3503}" type="slidenum">
              <a:rPr lang="en-US" altLang="zh-CN" sz="1300" dirty="0"/>
              <a:t>‹#›</a:t>
            </a:fld>
            <a:endParaRPr lang="en-US" altLang="zh-CN" sz="13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>
          <a:xfrm>
            <a:off x="709613" y="4860925"/>
            <a:ext cx="5684837" cy="4605338"/>
          </a:xfrm>
        </p:spPr>
        <p:txBody>
          <a:bodyPr wrap="square" lIns="99048" tIns="49524" rIns="99048" bIns="49524" anchor="t" anchorCtr="0"/>
          <a:lstStyle/>
          <a:p>
            <a:pPr lvl="0"/>
            <a:r>
              <a:rPr lang="zh-CN" altLang="en-US" dirty="0"/>
              <a:t>进料</a:t>
            </a:r>
            <a:r>
              <a:rPr lang="en-US" altLang="zh-CN" dirty="0"/>
              <a:t>F</a:t>
            </a:r>
            <a:r>
              <a:rPr lang="zh-CN" altLang="en-US" dirty="0"/>
              <a:t>从精馏塔的中段某一塔板进入塔内，这块塔板被称为进料板。进料板上段被称为精馏段，下段被称为提馏段。</a:t>
            </a:r>
          </a:p>
        </p:txBody>
      </p:sp>
      <p:sp>
        <p:nvSpPr>
          <p:cNvPr id="174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4313" y="9721850"/>
            <a:ext cx="3078162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 anchorCtr="0"/>
          <a:lstStyle/>
          <a:p>
            <a:pPr lvl="0" algn="r" defTabSz="990600" eaLnBrk="1" hangingPunct="1">
              <a:buNone/>
            </a:pPr>
            <a:fld id="{9A0DB2DC-4C9A-4742-B13C-FB6460FD3503}" type="slidenum">
              <a:rPr lang="en-US" altLang="zh-CN" sz="1300" dirty="0"/>
              <a:t>4</a:t>
            </a:fld>
            <a:endParaRPr lang="en-US" altLang="zh-CN" sz="13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041C503-0A8F-4B47-8AB6-4D8E189462BC}" type="datetime6"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2025年12月</a:t>
            </a:fld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041C503-0A8F-4B47-8AB6-4D8E189462BC}" type="datetime6"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2025年12月</a:t>
            </a:fld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041C503-0A8F-4B47-8AB6-4D8E189462BC}" type="datetime6"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2025年12月</a:t>
            </a:fld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041C503-0A8F-4B47-8AB6-4D8E189462BC}" type="datetime6"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2025年12月</a:t>
            </a:fld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041C503-0A8F-4B47-8AB6-4D8E189462BC}" type="datetime6"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2025年12月</a:t>
            </a:fld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041C503-0A8F-4B47-8AB6-4D8E189462BC}" type="datetime6"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2025年12月</a:t>
            </a:fld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041C503-0A8F-4B47-8AB6-4D8E189462BC}" type="datetime6"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2025年12月</a:t>
            </a:fld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041C503-0A8F-4B47-8AB6-4D8E189462BC}" type="datetime6"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2025年12月</a:t>
            </a:fld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041C503-0A8F-4B47-8AB6-4D8E189462BC}" type="datetime6"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2025年12月</a:t>
            </a:fld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041C503-0A8F-4B47-8AB6-4D8E189462BC}" type="datetime6"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2025年12月</a:t>
            </a:fld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041C503-0A8F-4B47-8AB6-4D8E189462BC}" type="datetime6"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2025年12月</a:t>
            </a:fld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492500" y="4868863"/>
            <a:ext cx="259238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kumimoji="1" sz="2800">
                <a:latin typeface="楷体_GB2312" pitchFamily="49" charset="-122"/>
                <a:ea typeface="楷体_GB2312" pitchFamily="49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041C503-0A8F-4B47-8AB6-4D8E189462BC}" type="datetime6"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2025年12月</a:t>
            </a:fld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kumimoji="1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push dir="u"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indent="0" algn="ctr" eaLnBrk="1" hangingPunct="1">
              <a:spcBef>
                <a:spcPct val="0"/>
              </a:spcBef>
              <a:buNone/>
            </a:pPr>
            <a:fld id="{BB962C8B-B14F-4D97-AF65-F5344CB8AC3E}" type="datetime6"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2025年12月</a:t>
            </a:fld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099" name="Text Box 25"/>
          <p:cNvSpPr txBox="1"/>
          <p:nvPr/>
        </p:nvSpPr>
        <p:spPr>
          <a:xfrm>
            <a:off x="6805613" y="5445125"/>
            <a:ext cx="2087562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东北大学</a:t>
            </a:r>
          </a:p>
        </p:txBody>
      </p:sp>
      <p:sp>
        <p:nvSpPr>
          <p:cNvPr id="4100" name="Rectangle 27"/>
          <p:cNvSpPr/>
          <p:nvPr/>
        </p:nvSpPr>
        <p:spPr>
          <a:xfrm>
            <a:off x="760413" y="19812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4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控制理论与方法</a:t>
            </a:r>
            <a:endParaRPr lang="en-US" altLang="zh-CN" sz="4400" dirty="0">
              <a:solidFill>
                <a:schemeClr val="tx2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4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课程设计</a:t>
            </a:r>
          </a:p>
        </p:txBody>
      </p:sp>
    </p:spTree>
  </p:cSld>
  <p:clrMapOvr>
    <a:masterClrMapping/>
  </p:clrMapOvr>
  <p:transition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57">
            <a:hlinkClick r:id="" action="ppaction://noaction"/>
          </p:cNvPr>
          <p:cNvSpPr/>
          <p:nvPr/>
        </p:nvSpPr>
        <p:spPr>
          <a:xfrm>
            <a:off x="3276600" y="6697663"/>
            <a:ext cx="569913" cy="115887"/>
          </a:xfrm>
          <a:prstGeom prst="actionButtonBeginning">
            <a:avLst/>
          </a:prstGeom>
          <a:gradFill rotWithShape="0">
            <a:gsLst>
              <a:gs pos="0">
                <a:srgbClr val="DFDFDF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68686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000" dirty="0"/>
          </a:p>
        </p:txBody>
      </p:sp>
      <p:sp>
        <p:nvSpPr>
          <p:cNvPr id="7171" name="AutoShape 58">
            <a:hlinkClick r:id="" action="ppaction://hlinkshowjump?jump=previousslide"/>
          </p:cNvPr>
          <p:cNvSpPr/>
          <p:nvPr/>
        </p:nvSpPr>
        <p:spPr>
          <a:xfrm>
            <a:off x="3860800" y="6697663"/>
            <a:ext cx="571500" cy="115887"/>
          </a:xfrm>
          <a:prstGeom prst="actionButtonBackPrevious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7172" name="AutoShape 59">
            <a:hlinkClick r:id="" action="ppaction://hlinkshowjump?jump=nextslide"/>
          </p:cNvPr>
          <p:cNvSpPr/>
          <p:nvPr/>
        </p:nvSpPr>
        <p:spPr>
          <a:xfrm>
            <a:off x="4446588" y="6697663"/>
            <a:ext cx="569912" cy="115887"/>
          </a:xfrm>
          <a:prstGeom prst="actionButtonForwardNext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7173" name="AutoShape 60">
            <a:hlinkClick r:id="" action="ppaction://hlinkshowjump?jump=lastslideviewed"/>
          </p:cNvPr>
          <p:cNvSpPr/>
          <p:nvPr/>
        </p:nvSpPr>
        <p:spPr>
          <a:xfrm>
            <a:off x="5030788" y="6697663"/>
            <a:ext cx="569912" cy="115887"/>
          </a:xfrm>
          <a:prstGeom prst="actionButtonReturn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7174" name="AutoShape 61">
            <a:hlinkClick r:id="" action="ppaction://hlinkshowjump?jump=endshow"/>
          </p:cNvPr>
          <p:cNvSpPr/>
          <p:nvPr/>
        </p:nvSpPr>
        <p:spPr>
          <a:xfrm>
            <a:off x="5616575" y="6697663"/>
            <a:ext cx="581025" cy="115887"/>
          </a:xfrm>
          <a:prstGeom prst="actionButtonHome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7175" name="Rectangle 24"/>
          <p:cNvSpPr/>
          <p:nvPr/>
        </p:nvSpPr>
        <p:spPr>
          <a:xfrm>
            <a:off x="31750" y="263525"/>
            <a:ext cx="4140200" cy="4667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控制理论与方法课程设计</a:t>
            </a:r>
          </a:p>
        </p:txBody>
      </p:sp>
      <p:sp>
        <p:nvSpPr>
          <p:cNvPr id="7176" name="文本框 24"/>
          <p:cNvSpPr txBox="1"/>
          <p:nvPr/>
        </p:nvSpPr>
        <p:spPr>
          <a:xfrm>
            <a:off x="415925" y="1360488"/>
            <a:ext cx="6677025" cy="19380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设计任务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（</a:t>
            </a: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16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学时）</a:t>
            </a:r>
            <a:endParaRPr lang="en-US" altLang="zh-CN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1.任务布置、理论复习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2.机械手控制系统综合设计（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6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学时）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3.精馏过程控制系统设计（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6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学时）</a:t>
            </a: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4.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报告提交与答辩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（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4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学时）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177" name="文本框 9"/>
          <p:cNvSpPr txBox="1"/>
          <p:nvPr/>
        </p:nvSpPr>
        <p:spPr>
          <a:xfrm>
            <a:off x="481013" y="3243263"/>
            <a:ext cx="8843962" cy="3784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结课形式</a:t>
            </a:r>
            <a:endParaRPr lang="en-US" altLang="zh-CN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1.实践操作</a:t>
            </a:r>
          </a:p>
          <a:p>
            <a:pPr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2.报告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20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页以内</a:t>
            </a:r>
          </a:p>
          <a:p>
            <a:pPr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 2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人一组（可少于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人）</a:t>
            </a:r>
          </a:p>
          <a:p>
            <a:pPr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报告首页姓名后标清工作百分比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模板见群里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每组上交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份报告      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3.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报告提交与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答辩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  具体时间及形式待定。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None/>
            </a:pP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AutoShape 3">
            <a:hlinkClick r:id="" action="ppaction://noaction"/>
          </p:cNvPr>
          <p:cNvSpPr/>
          <p:nvPr/>
        </p:nvSpPr>
        <p:spPr>
          <a:xfrm>
            <a:off x="3276600" y="6697663"/>
            <a:ext cx="569913" cy="115887"/>
          </a:xfrm>
          <a:prstGeom prst="actionButtonBeginning">
            <a:avLst/>
          </a:prstGeom>
          <a:gradFill rotWithShape="0">
            <a:gsLst>
              <a:gs pos="0">
                <a:srgbClr val="DFDFDF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68686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000" dirty="0"/>
          </a:p>
        </p:txBody>
      </p:sp>
      <p:sp>
        <p:nvSpPr>
          <p:cNvPr id="15363" name="AutoShape 4">
            <a:hlinkClick r:id="" action="ppaction://hlinkshowjump?jump=previousslide"/>
          </p:cNvPr>
          <p:cNvSpPr/>
          <p:nvPr/>
        </p:nvSpPr>
        <p:spPr>
          <a:xfrm>
            <a:off x="3860800" y="6697663"/>
            <a:ext cx="571500" cy="115887"/>
          </a:xfrm>
          <a:prstGeom prst="actionButtonBackPrevious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15364" name="AutoShape 5">
            <a:hlinkClick r:id="" action="ppaction://hlinkshowjump?jump=nextslide"/>
          </p:cNvPr>
          <p:cNvSpPr/>
          <p:nvPr/>
        </p:nvSpPr>
        <p:spPr>
          <a:xfrm>
            <a:off x="4446588" y="6697663"/>
            <a:ext cx="569912" cy="115887"/>
          </a:xfrm>
          <a:prstGeom prst="actionButtonForwardNext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15365" name="AutoShape 6">
            <a:hlinkClick r:id="" action="ppaction://hlinkshowjump?jump=lastslideviewed"/>
          </p:cNvPr>
          <p:cNvSpPr/>
          <p:nvPr/>
        </p:nvSpPr>
        <p:spPr>
          <a:xfrm>
            <a:off x="5030788" y="6697663"/>
            <a:ext cx="569912" cy="115887"/>
          </a:xfrm>
          <a:prstGeom prst="actionButtonReturn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15366" name="AutoShape 7">
            <a:hlinkClick r:id="" action="ppaction://hlinkshowjump?jump=endshow"/>
          </p:cNvPr>
          <p:cNvSpPr/>
          <p:nvPr/>
        </p:nvSpPr>
        <p:spPr>
          <a:xfrm>
            <a:off x="5616575" y="6697663"/>
            <a:ext cx="581025" cy="115887"/>
          </a:xfrm>
          <a:prstGeom prst="actionButtonHome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15367" name="文本框 7"/>
          <p:cNvSpPr txBox="1"/>
          <p:nvPr/>
        </p:nvSpPr>
        <p:spPr>
          <a:xfrm>
            <a:off x="250825" y="404813"/>
            <a:ext cx="45720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精馏过程控制系统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5368" name="文本框 9"/>
          <p:cNvSpPr txBox="1"/>
          <p:nvPr/>
        </p:nvSpPr>
        <p:spPr>
          <a:xfrm>
            <a:off x="592138" y="1412875"/>
            <a:ext cx="7959725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精馏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利用混合液中不同组分挥发温度的差异将各组分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分离的过程。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5369" name="文本框 10"/>
          <p:cNvSpPr txBox="1"/>
          <p:nvPr/>
        </p:nvSpPr>
        <p:spPr>
          <a:xfrm>
            <a:off x="592138" y="2420938"/>
            <a:ext cx="7959725" cy="3416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控制要求</a:t>
            </a: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1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）保证产品质量。以塔顶或塔底一种产品的纯度作为质量参数进行控制。另一端的产品成分在规定范围内。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2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）保证平稳生产。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  </a:t>
            </a:r>
            <a:r>
              <a:rPr lang="zh-CN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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使精馏塔的进料参数保持稳定或避免剧烈波动。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      </a:t>
            </a:r>
            <a:r>
              <a:rPr lang="zh-CN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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维持塔内物料平衡。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      </a:t>
            </a:r>
            <a:r>
              <a:rPr lang="zh-CN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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保持塔内压力稳定。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3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）节能要求和经济性。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      </a:t>
            </a:r>
            <a:r>
              <a:rPr lang="zh-CN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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产品质量指标满足的情况下，能量消耗尽可能低。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3" name="文本框 10"/>
          <p:cNvSpPr txBox="1"/>
          <p:nvPr/>
        </p:nvSpPr>
        <p:spPr>
          <a:xfrm>
            <a:off x="592138" y="1925638"/>
            <a:ext cx="8378825" cy="4892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关键因素分析</a:t>
            </a: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1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）进料流量的波动。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  </a:t>
            </a:r>
            <a:r>
              <a:rPr lang="zh-CN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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进料流量的定值控制（可控时）</a:t>
            </a:r>
          </a:p>
          <a:p>
            <a:pPr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     </a:t>
            </a:r>
            <a:r>
              <a:rPr lang="zh-CN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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进料流量与塔顶温度或塔底温度的串级控制系统（不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</a:t>
            </a: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     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可控）。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     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2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）塔顶压力的变化。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  </a:t>
            </a:r>
            <a:r>
              <a:rPr lang="zh-CN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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塔顶压力控制系统。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3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）蒸汽压力波动。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      </a:t>
            </a:r>
            <a:r>
              <a:rPr lang="zh-CN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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蒸汽压力与塔底温度串级控制系统。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4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）回流压力的波动。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  </a:t>
            </a:r>
            <a:r>
              <a:rPr lang="zh-CN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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回流压力与塔顶温度的串级控制。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pPr>
              <a:buNone/>
            </a:pP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pPr>
              <a:buNone/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16386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980" y="3789045"/>
            <a:ext cx="2315210" cy="22853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87" name="AutoShape 3">
            <a:hlinkClick r:id="" action="ppaction://noaction"/>
          </p:cNvPr>
          <p:cNvSpPr/>
          <p:nvPr/>
        </p:nvSpPr>
        <p:spPr>
          <a:xfrm>
            <a:off x="3276600" y="6697663"/>
            <a:ext cx="569913" cy="115887"/>
          </a:xfrm>
          <a:prstGeom prst="actionButtonBeginning">
            <a:avLst/>
          </a:prstGeom>
          <a:gradFill rotWithShape="0">
            <a:gsLst>
              <a:gs pos="0">
                <a:srgbClr val="DFDFDF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68686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000" dirty="0"/>
          </a:p>
        </p:txBody>
      </p:sp>
      <p:sp>
        <p:nvSpPr>
          <p:cNvPr id="16388" name="AutoShape 4">
            <a:hlinkClick r:id="" action="ppaction://hlinkshowjump?jump=previousslide"/>
          </p:cNvPr>
          <p:cNvSpPr/>
          <p:nvPr/>
        </p:nvSpPr>
        <p:spPr>
          <a:xfrm>
            <a:off x="3860800" y="6697663"/>
            <a:ext cx="571500" cy="115887"/>
          </a:xfrm>
          <a:prstGeom prst="actionButtonBackPrevious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16389" name="AutoShape 5">
            <a:hlinkClick r:id="" action="ppaction://hlinkshowjump?jump=nextslide"/>
          </p:cNvPr>
          <p:cNvSpPr/>
          <p:nvPr/>
        </p:nvSpPr>
        <p:spPr>
          <a:xfrm>
            <a:off x="4446588" y="6697663"/>
            <a:ext cx="569912" cy="115887"/>
          </a:xfrm>
          <a:prstGeom prst="actionButtonForwardNext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16390" name="AutoShape 6">
            <a:hlinkClick r:id="" action="ppaction://hlinkshowjump?jump=lastslideviewed"/>
          </p:cNvPr>
          <p:cNvSpPr/>
          <p:nvPr/>
        </p:nvSpPr>
        <p:spPr>
          <a:xfrm>
            <a:off x="5030788" y="6697663"/>
            <a:ext cx="569912" cy="115887"/>
          </a:xfrm>
          <a:prstGeom prst="actionButtonReturn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16391" name="AutoShape 7">
            <a:hlinkClick r:id="" action="ppaction://hlinkshowjump?jump=endshow"/>
          </p:cNvPr>
          <p:cNvSpPr/>
          <p:nvPr/>
        </p:nvSpPr>
        <p:spPr>
          <a:xfrm>
            <a:off x="5616575" y="6697663"/>
            <a:ext cx="581025" cy="115887"/>
          </a:xfrm>
          <a:prstGeom prst="actionButtonHome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16392" name="文本框 7"/>
          <p:cNvSpPr txBox="1"/>
          <p:nvPr/>
        </p:nvSpPr>
        <p:spPr>
          <a:xfrm>
            <a:off x="250825" y="404813"/>
            <a:ext cx="45720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精馏过程控制系统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6394" name="文本框 12"/>
          <p:cNvSpPr txBox="1"/>
          <p:nvPr/>
        </p:nvSpPr>
        <p:spPr>
          <a:xfrm>
            <a:off x="601663" y="1270000"/>
            <a:ext cx="4572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进料板，精馏段，提馏段。</a:t>
            </a:r>
          </a:p>
        </p:txBody>
      </p:sp>
    </p:spTree>
  </p:cSld>
  <p:clrMapOvr>
    <a:masterClrMapping/>
  </p:clrMapOvr>
  <p:transition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AutoShape 3">
            <a:hlinkClick r:id="" action="ppaction://noaction"/>
          </p:cNvPr>
          <p:cNvSpPr/>
          <p:nvPr/>
        </p:nvSpPr>
        <p:spPr>
          <a:xfrm>
            <a:off x="3276600" y="6697663"/>
            <a:ext cx="569913" cy="115887"/>
          </a:xfrm>
          <a:prstGeom prst="actionButtonBeginning">
            <a:avLst/>
          </a:prstGeom>
          <a:gradFill rotWithShape="0">
            <a:gsLst>
              <a:gs pos="0">
                <a:srgbClr val="DFDFDF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68686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000" dirty="0"/>
          </a:p>
        </p:txBody>
      </p:sp>
      <p:sp>
        <p:nvSpPr>
          <p:cNvPr id="25603" name="AutoShape 4">
            <a:hlinkClick r:id="" action="ppaction://hlinkshowjump?jump=previousslide"/>
          </p:cNvPr>
          <p:cNvSpPr/>
          <p:nvPr/>
        </p:nvSpPr>
        <p:spPr>
          <a:xfrm>
            <a:off x="3860800" y="6697663"/>
            <a:ext cx="571500" cy="115887"/>
          </a:xfrm>
          <a:prstGeom prst="actionButtonBackPrevious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25604" name="AutoShape 5">
            <a:hlinkClick r:id="" action="ppaction://hlinkshowjump?jump=nextslide"/>
          </p:cNvPr>
          <p:cNvSpPr/>
          <p:nvPr/>
        </p:nvSpPr>
        <p:spPr>
          <a:xfrm>
            <a:off x="4446588" y="6697663"/>
            <a:ext cx="569912" cy="115887"/>
          </a:xfrm>
          <a:prstGeom prst="actionButtonForwardNext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25605" name="AutoShape 6">
            <a:hlinkClick r:id="" action="ppaction://hlinkshowjump?jump=lastslideviewed"/>
          </p:cNvPr>
          <p:cNvSpPr/>
          <p:nvPr/>
        </p:nvSpPr>
        <p:spPr>
          <a:xfrm>
            <a:off x="5030788" y="6697663"/>
            <a:ext cx="569912" cy="115887"/>
          </a:xfrm>
          <a:prstGeom prst="actionButtonReturn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25606" name="AutoShape 7">
            <a:hlinkClick r:id="" action="ppaction://hlinkshowjump?jump=endshow"/>
          </p:cNvPr>
          <p:cNvSpPr/>
          <p:nvPr/>
        </p:nvSpPr>
        <p:spPr>
          <a:xfrm>
            <a:off x="5616575" y="6697663"/>
            <a:ext cx="581025" cy="115887"/>
          </a:xfrm>
          <a:prstGeom prst="actionButtonHome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25607" name="文本框 6"/>
          <p:cNvSpPr txBox="1"/>
          <p:nvPr/>
        </p:nvSpPr>
        <p:spPr>
          <a:xfrm>
            <a:off x="239713" y="385763"/>
            <a:ext cx="72421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精馏过程控制系统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--</a:t>
            </a:r>
            <a:r>
              <a:rPr lang="zh-CN" altLang="en-US" dirty="0">
                <a:solidFill>
                  <a:srgbClr val="1E86B4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塔顶采出液为主要产品</a:t>
            </a:r>
            <a:endParaRPr lang="zh-CN" altLang="en-US" dirty="0">
              <a:solidFill>
                <a:srgbClr val="1E86B4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5608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" y="1123950"/>
            <a:ext cx="6707188" cy="53959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609" name="文本框 9"/>
          <p:cNvSpPr txBox="1"/>
          <p:nvPr/>
        </p:nvSpPr>
        <p:spPr>
          <a:xfrm>
            <a:off x="4732338" y="3795713"/>
            <a:ext cx="4303712" cy="156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en-US" altLang="zh-CN" b="1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</a:t>
            </a:r>
            <a:r>
              <a:rPr lang="zh-CN" altLang="zh-CN" b="1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</a:t>
            </a:r>
            <a:r>
              <a:rPr lang="zh-CN" altLang="en-US" b="1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塔顶温度控制系统</a:t>
            </a:r>
            <a:endParaRPr lang="en-US" altLang="zh-CN" b="1" dirty="0">
              <a:solidFill>
                <a:srgbClr val="00B05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       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主被控量：塔顶温度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pPr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         副被控量：回流量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       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操纵量：回流量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5610" name="矩形 10"/>
          <p:cNvSpPr/>
          <p:nvPr/>
        </p:nvSpPr>
        <p:spPr>
          <a:xfrm>
            <a:off x="2409825" y="2205038"/>
            <a:ext cx="2162175" cy="2232025"/>
          </a:xfrm>
          <a:prstGeom prst="rect">
            <a:avLst/>
          </a:prstGeom>
          <a:noFill/>
          <a:ln w="44450" cap="flat" cmpd="sng">
            <a:solidFill>
              <a:srgbClr val="CC00CC"/>
            </a:solidFill>
            <a:prstDash val="sysDash"/>
            <a:round/>
            <a:headEnd type="none" w="med" len="med"/>
            <a:tailEnd type="none" w="med" len="med"/>
          </a:ln>
        </p:spPr>
        <p:txBody>
          <a:bodyPr/>
          <a:lstStyle/>
          <a:p>
            <a:pPr eaLnBrk="1" hangingPunct="1">
              <a:buNone/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2385060" y="1432560"/>
            <a:ext cx="635" cy="57086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直接连接符 3"/>
          <p:cNvCxnSpPr/>
          <p:nvPr/>
        </p:nvCxnSpPr>
        <p:spPr>
          <a:xfrm>
            <a:off x="2385060" y="1432560"/>
            <a:ext cx="246761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直接箭头连接符 5"/>
          <p:cNvCxnSpPr/>
          <p:nvPr/>
        </p:nvCxnSpPr>
        <p:spPr>
          <a:xfrm>
            <a:off x="4850765" y="1444625"/>
            <a:ext cx="1905" cy="9207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ransition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AutoShape 3">
            <a:hlinkClick r:id="" action="ppaction://noaction"/>
          </p:cNvPr>
          <p:cNvSpPr/>
          <p:nvPr/>
        </p:nvSpPr>
        <p:spPr>
          <a:xfrm>
            <a:off x="3276600" y="6697663"/>
            <a:ext cx="569913" cy="115887"/>
          </a:xfrm>
          <a:prstGeom prst="actionButtonBeginning">
            <a:avLst/>
          </a:prstGeom>
          <a:gradFill rotWithShape="0">
            <a:gsLst>
              <a:gs pos="0">
                <a:srgbClr val="DFDFDF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68686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000" dirty="0"/>
          </a:p>
        </p:txBody>
      </p:sp>
      <p:sp>
        <p:nvSpPr>
          <p:cNvPr id="26627" name="AutoShape 4">
            <a:hlinkClick r:id="" action="ppaction://hlinkshowjump?jump=previousslide"/>
          </p:cNvPr>
          <p:cNvSpPr/>
          <p:nvPr/>
        </p:nvSpPr>
        <p:spPr>
          <a:xfrm>
            <a:off x="3860800" y="6697663"/>
            <a:ext cx="571500" cy="115887"/>
          </a:xfrm>
          <a:prstGeom prst="actionButtonBackPrevious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26628" name="AutoShape 5">
            <a:hlinkClick r:id="" action="ppaction://hlinkshowjump?jump=nextslide"/>
          </p:cNvPr>
          <p:cNvSpPr/>
          <p:nvPr/>
        </p:nvSpPr>
        <p:spPr>
          <a:xfrm>
            <a:off x="4446588" y="6697663"/>
            <a:ext cx="569912" cy="115887"/>
          </a:xfrm>
          <a:prstGeom prst="actionButtonForwardNext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26629" name="AutoShape 6">
            <a:hlinkClick r:id="" action="ppaction://hlinkshowjump?jump=lastslideviewed"/>
          </p:cNvPr>
          <p:cNvSpPr/>
          <p:nvPr/>
        </p:nvSpPr>
        <p:spPr>
          <a:xfrm>
            <a:off x="5030788" y="6697663"/>
            <a:ext cx="569912" cy="115887"/>
          </a:xfrm>
          <a:prstGeom prst="actionButtonReturn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26630" name="AutoShape 7">
            <a:hlinkClick r:id="" action="ppaction://hlinkshowjump?jump=endshow"/>
          </p:cNvPr>
          <p:cNvSpPr/>
          <p:nvPr/>
        </p:nvSpPr>
        <p:spPr>
          <a:xfrm>
            <a:off x="5616575" y="6697663"/>
            <a:ext cx="581025" cy="115887"/>
          </a:xfrm>
          <a:prstGeom prst="actionButtonHome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26631" name="文本框 6"/>
          <p:cNvSpPr txBox="1"/>
          <p:nvPr/>
        </p:nvSpPr>
        <p:spPr>
          <a:xfrm>
            <a:off x="239713" y="385763"/>
            <a:ext cx="72421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精馏过程控制系统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--</a:t>
            </a:r>
            <a:r>
              <a:rPr lang="zh-CN" altLang="en-US" dirty="0">
                <a:solidFill>
                  <a:srgbClr val="1E86B4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塔顶采出液为主要产品</a:t>
            </a:r>
            <a:endParaRPr lang="zh-CN" altLang="en-US" dirty="0">
              <a:solidFill>
                <a:srgbClr val="1E86B4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6632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" y="1123950"/>
            <a:ext cx="6707188" cy="53959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33" name="矩形 10"/>
          <p:cNvSpPr/>
          <p:nvPr/>
        </p:nvSpPr>
        <p:spPr>
          <a:xfrm>
            <a:off x="5049838" y="2312988"/>
            <a:ext cx="1754187" cy="1031875"/>
          </a:xfrm>
          <a:prstGeom prst="rect">
            <a:avLst/>
          </a:prstGeom>
          <a:noFill/>
          <a:ln w="44450" cap="flat" cmpd="sng">
            <a:solidFill>
              <a:srgbClr val="CC00CC"/>
            </a:solidFill>
            <a:prstDash val="sysDash"/>
            <a:round/>
            <a:headEnd type="none" w="med" len="med"/>
            <a:tailEnd type="none" w="med" len="med"/>
          </a:ln>
        </p:spPr>
        <p:txBody>
          <a:bodyPr/>
          <a:lstStyle/>
          <a:p>
            <a:pPr eaLnBrk="1" hangingPunct="1">
              <a:buNone/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6634" name="文本框 11"/>
          <p:cNvSpPr txBox="1"/>
          <p:nvPr/>
        </p:nvSpPr>
        <p:spPr>
          <a:xfrm>
            <a:off x="4284663" y="4148138"/>
            <a:ext cx="4572000" cy="1570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    </a:t>
            </a:r>
            <a:r>
              <a:rPr lang="zh-CN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</a:t>
            </a:r>
            <a:r>
              <a:rPr lang="zh-CN" altLang="en-US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冷凝罐液位控制系统</a:t>
            </a:r>
            <a:endParaRPr lang="en-US" altLang="zh-CN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       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被控量：冷凝罐液位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              </a:t>
            </a: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       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操纵量：塔顶产品排出量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  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2385060" y="1432560"/>
            <a:ext cx="635" cy="57086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直接连接符 3"/>
          <p:cNvCxnSpPr/>
          <p:nvPr/>
        </p:nvCxnSpPr>
        <p:spPr>
          <a:xfrm>
            <a:off x="2385060" y="1432560"/>
            <a:ext cx="246761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直接箭头连接符 5"/>
          <p:cNvCxnSpPr/>
          <p:nvPr/>
        </p:nvCxnSpPr>
        <p:spPr>
          <a:xfrm>
            <a:off x="4850765" y="1444625"/>
            <a:ext cx="1905" cy="9207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ransition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3">
            <a:hlinkClick r:id="" action="ppaction://noaction"/>
          </p:cNvPr>
          <p:cNvSpPr/>
          <p:nvPr/>
        </p:nvSpPr>
        <p:spPr>
          <a:xfrm>
            <a:off x="3276600" y="6697663"/>
            <a:ext cx="569913" cy="115887"/>
          </a:xfrm>
          <a:prstGeom prst="actionButtonBeginning">
            <a:avLst/>
          </a:prstGeom>
          <a:gradFill rotWithShape="0">
            <a:gsLst>
              <a:gs pos="0">
                <a:srgbClr val="DFDFDF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68686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000" dirty="0"/>
          </a:p>
        </p:txBody>
      </p:sp>
      <p:sp>
        <p:nvSpPr>
          <p:cNvPr id="27651" name="AutoShape 4">
            <a:hlinkClick r:id="" action="ppaction://hlinkshowjump?jump=previousslide"/>
          </p:cNvPr>
          <p:cNvSpPr/>
          <p:nvPr/>
        </p:nvSpPr>
        <p:spPr>
          <a:xfrm>
            <a:off x="3860800" y="6697663"/>
            <a:ext cx="571500" cy="115887"/>
          </a:xfrm>
          <a:prstGeom prst="actionButtonBackPrevious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27652" name="AutoShape 5">
            <a:hlinkClick r:id="" action="ppaction://hlinkshowjump?jump=nextslide"/>
          </p:cNvPr>
          <p:cNvSpPr/>
          <p:nvPr/>
        </p:nvSpPr>
        <p:spPr>
          <a:xfrm>
            <a:off x="4446588" y="6697663"/>
            <a:ext cx="569912" cy="115887"/>
          </a:xfrm>
          <a:prstGeom prst="actionButtonForwardNext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27653" name="AutoShape 6">
            <a:hlinkClick r:id="" action="ppaction://hlinkshowjump?jump=lastslideviewed"/>
          </p:cNvPr>
          <p:cNvSpPr/>
          <p:nvPr/>
        </p:nvSpPr>
        <p:spPr>
          <a:xfrm>
            <a:off x="5030788" y="6697663"/>
            <a:ext cx="569912" cy="115887"/>
          </a:xfrm>
          <a:prstGeom prst="actionButtonReturn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27654" name="AutoShape 7">
            <a:hlinkClick r:id="" action="ppaction://hlinkshowjump?jump=endshow"/>
          </p:cNvPr>
          <p:cNvSpPr/>
          <p:nvPr/>
        </p:nvSpPr>
        <p:spPr>
          <a:xfrm>
            <a:off x="5616575" y="6697663"/>
            <a:ext cx="581025" cy="115887"/>
          </a:xfrm>
          <a:prstGeom prst="actionButtonHome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27655" name="文本框 6"/>
          <p:cNvSpPr txBox="1"/>
          <p:nvPr/>
        </p:nvSpPr>
        <p:spPr>
          <a:xfrm>
            <a:off x="239713" y="385763"/>
            <a:ext cx="72421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精馏过程控制系统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--</a:t>
            </a:r>
            <a:r>
              <a:rPr lang="zh-CN" altLang="en-US" dirty="0">
                <a:solidFill>
                  <a:srgbClr val="1E86B4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塔顶采出液为主要产品</a:t>
            </a:r>
            <a:endParaRPr lang="zh-CN" altLang="en-US" dirty="0">
              <a:solidFill>
                <a:srgbClr val="1E86B4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7656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" y="1123950"/>
            <a:ext cx="6707188" cy="53959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57" name="矩形 10"/>
          <p:cNvSpPr/>
          <p:nvPr/>
        </p:nvSpPr>
        <p:spPr>
          <a:xfrm>
            <a:off x="1835150" y="1025525"/>
            <a:ext cx="4032250" cy="1250950"/>
          </a:xfrm>
          <a:prstGeom prst="rect">
            <a:avLst/>
          </a:prstGeom>
          <a:noFill/>
          <a:ln w="44450" cap="flat" cmpd="sng">
            <a:solidFill>
              <a:srgbClr val="CC00CC"/>
            </a:solidFill>
            <a:prstDash val="sysDash"/>
            <a:round/>
            <a:headEnd type="none" w="med" len="med"/>
            <a:tailEnd type="none" w="med" len="med"/>
          </a:ln>
        </p:spPr>
        <p:txBody>
          <a:bodyPr/>
          <a:lstStyle/>
          <a:p>
            <a:pPr eaLnBrk="1" hangingPunct="1">
              <a:buNone/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7658" name="文本框 11"/>
          <p:cNvSpPr txBox="1"/>
          <p:nvPr/>
        </p:nvSpPr>
        <p:spPr>
          <a:xfrm>
            <a:off x="4284663" y="4148138"/>
            <a:ext cx="4572000" cy="1570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    </a:t>
            </a:r>
            <a:r>
              <a:rPr lang="zh-CN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</a:t>
            </a:r>
            <a:r>
              <a:rPr lang="zh-CN" altLang="en-US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塔压控制控制系统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       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被控量：塔压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       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操纵量：冷却剂流量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  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2385060" y="1432560"/>
            <a:ext cx="635" cy="57086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直接连接符 3"/>
          <p:cNvCxnSpPr/>
          <p:nvPr/>
        </p:nvCxnSpPr>
        <p:spPr>
          <a:xfrm>
            <a:off x="2385060" y="1432560"/>
            <a:ext cx="246761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直接箭头连接符 5"/>
          <p:cNvCxnSpPr/>
          <p:nvPr/>
        </p:nvCxnSpPr>
        <p:spPr>
          <a:xfrm>
            <a:off x="4850765" y="1444625"/>
            <a:ext cx="1905" cy="9207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ransition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AutoShape 3">
            <a:hlinkClick r:id="" action="ppaction://noaction"/>
          </p:cNvPr>
          <p:cNvSpPr/>
          <p:nvPr/>
        </p:nvSpPr>
        <p:spPr>
          <a:xfrm>
            <a:off x="3276600" y="6697663"/>
            <a:ext cx="569913" cy="115887"/>
          </a:xfrm>
          <a:prstGeom prst="actionButtonBeginning">
            <a:avLst/>
          </a:prstGeom>
          <a:gradFill rotWithShape="0">
            <a:gsLst>
              <a:gs pos="0">
                <a:srgbClr val="DFDFDF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68686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000" dirty="0"/>
          </a:p>
        </p:txBody>
      </p:sp>
      <p:sp>
        <p:nvSpPr>
          <p:cNvPr id="28675" name="AutoShape 4">
            <a:hlinkClick r:id="" action="ppaction://hlinkshowjump?jump=previousslide"/>
          </p:cNvPr>
          <p:cNvSpPr/>
          <p:nvPr/>
        </p:nvSpPr>
        <p:spPr>
          <a:xfrm>
            <a:off x="3860800" y="6697663"/>
            <a:ext cx="571500" cy="115887"/>
          </a:xfrm>
          <a:prstGeom prst="actionButtonBackPrevious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28676" name="AutoShape 5">
            <a:hlinkClick r:id="" action="ppaction://hlinkshowjump?jump=nextslide"/>
          </p:cNvPr>
          <p:cNvSpPr/>
          <p:nvPr/>
        </p:nvSpPr>
        <p:spPr>
          <a:xfrm>
            <a:off x="4446588" y="6697663"/>
            <a:ext cx="569912" cy="115887"/>
          </a:xfrm>
          <a:prstGeom prst="actionButtonForwardNext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28677" name="AutoShape 6">
            <a:hlinkClick r:id="" action="ppaction://hlinkshowjump?jump=lastslideviewed"/>
          </p:cNvPr>
          <p:cNvSpPr/>
          <p:nvPr/>
        </p:nvSpPr>
        <p:spPr>
          <a:xfrm>
            <a:off x="5030788" y="6697663"/>
            <a:ext cx="569912" cy="115887"/>
          </a:xfrm>
          <a:prstGeom prst="actionButtonReturn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28678" name="AutoShape 7">
            <a:hlinkClick r:id="" action="ppaction://hlinkshowjump?jump=endshow"/>
          </p:cNvPr>
          <p:cNvSpPr/>
          <p:nvPr/>
        </p:nvSpPr>
        <p:spPr>
          <a:xfrm>
            <a:off x="5616575" y="6697663"/>
            <a:ext cx="581025" cy="115887"/>
          </a:xfrm>
          <a:prstGeom prst="actionButtonHome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28679" name="文本框 6"/>
          <p:cNvSpPr txBox="1"/>
          <p:nvPr/>
        </p:nvSpPr>
        <p:spPr>
          <a:xfrm>
            <a:off x="239713" y="385763"/>
            <a:ext cx="72421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精馏过程控制系统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--</a:t>
            </a:r>
            <a:r>
              <a:rPr lang="zh-CN" altLang="en-US" dirty="0">
                <a:solidFill>
                  <a:srgbClr val="1E86B4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塔顶采出液为主要产品</a:t>
            </a:r>
          </a:p>
        </p:txBody>
      </p:sp>
      <p:pic>
        <p:nvPicPr>
          <p:cNvPr id="28680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8" y="1076325"/>
            <a:ext cx="6707187" cy="53959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681" name="文本框 9"/>
          <p:cNvSpPr txBox="1"/>
          <p:nvPr/>
        </p:nvSpPr>
        <p:spPr>
          <a:xfrm>
            <a:off x="4732338" y="3795713"/>
            <a:ext cx="4303712" cy="156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   </a:t>
            </a:r>
            <a:r>
              <a:rPr lang="zh-CN" altLang="zh-CN" b="1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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塔底温度控制系统</a:t>
            </a:r>
            <a:endParaRPr lang="en-US" altLang="zh-CN" b="1" dirty="0">
              <a:latin typeface="华文楷体" panose="02010600040101010101" pitchFamily="2" charset="-122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       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主被控量：塔底温度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pPr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         副被控量：蒸汽流量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       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操纵量：蒸汽流量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8682" name="矩形 10"/>
          <p:cNvSpPr/>
          <p:nvPr/>
        </p:nvSpPr>
        <p:spPr>
          <a:xfrm>
            <a:off x="573088" y="3795713"/>
            <a:ext cx="1982787" cy="2081212"/>
          </a:xfrm>
          <a:prstGeom prst="rect">
            <a:avLst/>
          </a:prstGeom>
          <a:noFill/>
          <a:ln w="44450" cap="flat" cmpd="sng">
            <a:solidFill>
              <a:srgbClr val="CC00CC"/>
            </a:solidFill>
            <a:prstDash val="sysDash"/>
            <a:round/>
            <a:headEnd type="none" w="med" len="med"/>
            <a:tailEnd type="none" w="med" len="med"/>
          </a:ln>
        </p:spPr>
        <p:txBody>
          <a:bodyPr/>
          <a:lstStyle/>
          <a:p>
            <a:pPr eaLnBrk="1" hangingPunct="1">
              <a:buNone/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AutoShape 3">
            <a:hlinkClick r:id="" action="ppaction://noaction"/>
          </p:cNvPr>
          <p:cNvSpPr/>
          <p:nvPr/>
        </p:nvSpPr>
        <p:spPr>
          <a:xfrm>
            <a:off x="3276600" y="6697663"/>
            <a:ext cx="569913" cy="115887"/>
          </a:xfrm>
          <a:prstGeom prst="actionButtonBeginning">
            <a:avLst/>
          </a:prstGeom>
          <a:gradFill rotWithShape="0">
            <a:gsLst>
              <a:gs pos="0">
                <a:srgbClr val="DFDFDF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68686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000" dirty="0"/>
          </a:p>
        </p:txBody>
      </p:sp>
      <p:sp>
        <p:nvSpPr>
          <p:cNvPr id="29699" name="AutoShape 4">
            <a:hlinkClick r:id="" action="ppaction://hlinkshowjump?jump=previousslide"/>
          </p:cNvPr>
          <p:cNvSpPr/>
          <p:nvPr/>
        </p:nvSpPr>
        <p:spPr>
          <a:xfrm>
            <a:off x="3860800" y="6697663"/>
            <a:ext cx="571500" cy="115887"/>
          </a:xfrm>
          <a:prstGeom prst="actionButtonBackPrevious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29700" name="AutoShape 5">
            <a:hlinkClick r:id="" action="ppaction://hlinkshowjump?jump=nextslide"/>
          </p:cNvPr>
          <p:cNvSpPr/>
          <p:nvPr/>
        </p:nvSpPr>
        <p:spPr>
          <a:xfrm>
            <a:off x="4446588" y="6697663"/>
            <a:ext cx="569912" cy="115887"/>
          </a:xfrm>
          <a:prstGeom prst="actionButtonForwardNext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29701" name="AutoShape 6">
            <a:hlinkClick r:id="" action="ppaction://hlinkshowjump?jump=lastslideviewed"/>
          </p:cNvPr>
          <p:cNvSpPr/>
          <p:nvPr/>
        </p:nvSpPr>
        <p:spPr>
          <a:xfrm>
            <a:off x="5030788" y="6697663"/>
            <a:ext cx="569912" cy="115887"/>
          </a:xfrm>
          <a:prstGeom prst="actionButtonReturn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29702" name="AutoShape 7">
            <a:hlinkClick r:id="" action="ppaction://hlinkshowjump?jump=endshow"/>
          </p:cNvPr>
          <p:cNvSpPr/>
          <p:nvPr/>
        </p:nvSpPr>
        <p:spPr>
          <a:xfrm>
            <a:off x="5616575" y="6697663"/>
            <a:ext cx="581025" cy="115887"/>
          </a:xfrm>
          <a:prstGeom prst="actionButtonHome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29703" name="文本框 6"/>
          <p:cNvSpPr txBox="1"/>
          <p:nvPr/>
        </p:nvSpPr>
        <p:spPr>
          <a:xfrm>
            <a:off x="239713" y="385763"/>
            <a:ext cx="72421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精馏过程控制系统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--</a:t>
            </a:r>
            <a:r>
              <a:rPr lang="zh-CN" altLang="en-US" dirty="0">
                <a:solidFill>
                  <a:srgbClr val="1E86B4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塔顶采出液为主要产品</a:t>
            </a:r>
          </a:p>
        </p:txBody>
      </p:sp>
      <p:pic>
        <p:nvPicPr>
          <p:cNvPr id="29704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" y="1123950"/>
            <a:ext cx="6707188" cy="53959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705" name="矩形 10"/>
          <p:cNvSpPr/>
          <p:nvPr/>
        </p:nvSpPr>
        <p:spPr>
          <a:xfrm>
            <a:off x="2378075" y="4522788"/>
            <a:ext cx="1482725" cy="1997075"/>
          </a:xfrm>
          <a:prstGeom prst="rect">
            <a:avLst/>
          </a:prstGeom>
          <a:noFill/>
          <a:ln w="44450" cap="flat" cmpd="sng">
            <a:solidFill>
              <a:srgbClr val="CC00CC"/>
            </a:solidFill>
            <a:prstDash val="sysDash"/>
            <a:round/>
            <a:headEnd type="none" w="med" len="med"/>
            <a:tailEnd type="none" w="med" len="med"/>
          </a:ln>
        </p:spPr>
        <p:txBody>
          <a:bodyPr/>
          <a:lstStyle/>
          <a:p>
            <a:pPr eaLnBrk="1" hangingPunct="1">
              <a:buNone/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9706" name="文本框 11"/>
          <p:cNvSpPr txBox="1"/>
          <p:nvPr/>
        </p:nvSpPr>
        <p:spPr>
          <a:xfrm>
            <a:off x="4210050" y="4292600"/>
            <a:ext cx="4572000" cy="1354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 </a:t>
            </a:r>
            <a:r>
              <a:rPr lang="zh-CN" altLang="zh-CN" b="1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</a:t>
            </a:r>
            <a:r>
              <a:rPr lang="zh-CN" altLang="en-US" b="1" dirty="0">
                <a:solidFill>
                  <a:srgbClr val="7030A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塔底液位控制系统</a:t>
            </a:r>
            <a:endParaRPr lang="en-US" altLang="zh-CN" b="1" dirty="0">
              <a:solidFill>
                <a:srgbClr val="7030A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pPr>
              <a:spcBef>
                <a:spcPts val="1200"/>
              </a:spcBef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         被控量：塔底液位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       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操纵量：塔底产品排出量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2385060" y="1432560"/>
            <a:ext cx="635" cy="57086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直接连接符 3"/>
          <p:cNvCxnSpPr/>
          <p:nvPr/>
        </p:nvCxnSpPr>
        <p:spPr>
          <a:xfrm>
            <a:off x="2385060" y="1432560"/>
            <a:ext cx="246761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直接箭头连接符 5"/>
          <p:cNvCxnSpPr/>
          <p:nvPr/>
        </p:nvCxnSpPr>
        <p:spPr>
          <a:xfrm>
            <a:off x="4850765" y="1444625"/>
            <a:ext cx="1905" cy="9207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ransition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AutoShape 3">
            <a:hlinkClick r:id="" action="ppaction://noaction"/>
          </p:cNvPr>
          <p:cNvSpPr/>
          <p:nvPr/>
        </p:nvSpPr>
        <p:spPr>
          <a:xfrm>
            <a:off x="3276600" y="6697663"/>
            <a:ext cx="569913" cy="115887"/>
          </a:xfrm>
          <a:prstGeom prst="actionButtonBeginning">
            <a:avLst/>
          </a:prstGeom>
          <a:gradFill rotWithShape="0">
            <a:gsLst>
              <a:gs pos="0">
                <a:srgbClr val="DFDFDF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68686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000" dirty="0"/>
          </a:p>
        </p:txBody>
      </p:sp>
      <p:sp>
        <p:nvSpPr>
          <p:cNvPr id="30723" name="AutoShape 4">
            <a:hlinkClick r:id="" action="ppaction://hlinkshowjump?jump=previousslide"/>
          </p:cNvPr>
          <p:cNvSpPr/>
          <p:nvPr/>
        </p:nvSpPr>
        <p:spPr>
          <a:xfrm>
            <a:off x="3860800" y="6697663"/>
            <a:ext cx="571500" cy="115887"/>
          </a:xfrm>
          <a:prstGeom prst="actionButtonBackPrevious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30724" name="AutoShape 5">
            <a:hlinkClick r:id="" action="ppaction://hlinkshowjump?jump=nextslide"/>
          </p:cNvPr>
          <p:cNvSpPr/>
          <p:nvPr/>
        </p:nvSpPr>
        <p:spPr>
          <a:xfrm>
            <a:off x="4446588" y="6697663"/>
            <a:ext cx="569912" cy="115887"/>
          </a:xfrm>
          <a:prstGeom prst="actionButtonForwardNext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30725" name="AutoShape 6">
            <a:hlinkClick r:id="" action="ppaction://hlinkshowjump?jump=lastslideviewed"/>
          </p:cNvPr>
          <p:cNvSpPr/>
          <p:nvPr/>
        </p:nvSpPr>
        <p:spPr>
          <a:xfrm>
            <a:off x="5030788" y="6697663"/>
            <a:ext cx="569912" cy="115887"/>
          </a:xfrm>
          <a:prstGeom prst="actionButtonReturn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30726" name="AutoShape 7">
            <a:hlinkClick r:id="" action="ppaction://hlinkshowjump?jump=endshow"/>
          </p:cNvPr>
          <p:cNvSpPr/>
          <p:nvPr/>
        </p:nvSpPr>
        <p:spPr>
          <a:xfrm>
            <a:off x="5616575" y="6697663"/>
            <a:ext cx="581025" cy="115887"/>
          </a:xfrm>
          <a:prstGeom prst="actionButtonHome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30727" name="文本框 6"/>
          <p:cNvSpPr txBox="1"/>
          <p:nvPr/>
        </p:nvSpPr>
        <p:spPr>
          <a:xfrm>
            <a:off x="239713" y="385763"/>
            <a:ext cx="72421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精馏过程控制系统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--</a:t>
            </a:r>
            <a:r>
              <a:rPr lang="zh-CN" altLang="en-US" dirty="0">
                <a:solidFill>
                  <a:srgbClr val="1E86B4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塔顶采出液为主要产品</a:t>
            </a:r>
          </a:p>
        </p:txBody>
      </p:sp>
      <p:pic>
        <p:nvPicPr>
          <p:cNvPr id="30728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" y="1123950"/>
            <a:ext cx="6707188" cy="53959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29" name="矩形 10"/>
          <p:cNvSpPr/>
          <p:nvPr/>
        </p:nvSpPr>
        <p:spPr>
          <a:xfrm>
            <a:off x="219075" y="2781300"/>
            <a:ext cx="1482725" cy="1131888"/>
          </a:xfrm>
          <a:prstGeom prst="rect">
            <a:avLst/>
          </a:prstGeom>
          <a:noFill/>
          <a:ln w="44450" cap="flat" cmpd="sng">
            <a:solidFill>
              <a:srgbClr val="CC00CC"/>
            </a:solidFill>
            <a:prstDash val="sysDash"/>
            <a:round/>
            <a:headEnd type="none" w="med" len="med"/>
            <a:tailEnd type="none" w="med" len="med"/>
          </a:ln>
        </p:spPr>
        <p:txBody>
          <a:bodyPr/>
          <a:lstStyle/>
          <a:p>
            <a:pPr eaLnBrk="1" hangingPunct="1">
              <a:buNone/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730" name="文本框 12"/>
          <p:cNvSpPr txBox="1"/>
          <p:nvPr/>
        </p:nvSpPr>
        <p:spPr>
          <a:xfrm>
            <a:off x="4414838" y="4365625"/>
            <a:ext cx="5259387" cy="156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zh-CN" altLang="zh-CN" b="1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</a:t>
            </a:r>
            <a:r>
              <a:rPr lang="zh-CN" altLang="en-US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进料流量控制系统（可控时）</a:t>
            </a:r>
            <a:endParaRPr lang="en-US" altLang="zh-CN" b="1" dirty="0">
              <a:latin typeface="华文楷体" panose="02010600040101010101" pitchFamily="2" charset="-122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       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被控量：进料流量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       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操纵量：进料流量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     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2385060" y="1432560"/>
            <a:ext cx="635" cy="57086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直接连接符 3"/>
          <p:cNvCxnSpPr/>
          <p:nvPr/>
        </p:nvCxnSpPr>
        <p:spPr>
          <a:xfrm>
            <a:off x="2385060" y="1432560"/>
            <a:ext cx="246761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直接箭头连接符 5"/>
          <p:cNvCxnSpPr/>
          <p:nvPr/>
        </p:nvCxnSpPr>
        <p:spPr>
          <a:xfrm>
            <a:off x="4850765" y="1444625"/>
            <a:ext cx="1905" cy="9207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" name="直接连接符 1"/>
          <p:cNvCxnSpPr/>
          <p:nvPr/>
        </p:nvCxnSpPr>
        <p:spPr>
          <a:xfrm flipV="1">
            <a:off x="1592580" y="4545965"/>
            <a:ext cx="0" cy="30861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" name="直接箭头连接符 4"/>
          <p:cNvCxnSpPr/>
          <p:nvPr/>
        </p:nvCxnSpPr>
        <p:spPr>
          <a:xfrm>
            <a:off x="1592580" y="4571365"/>
            <a:ext cx="387350" cy="952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ransition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AutoShape 3">
            <a:hlinkClick r:id="" action="ppaction://noaction"/>
          </p:cNvPr>
          <p:cNvSpPr/>
          <p:nvPr/>
        </p:nvSpPr>
        <p:spPr>
          <a:xfrm>
            <a:off x="3276600" y="6697663"/>
            <a:ext cx="569913" cy="115887"/>
          </a:xfrm>
          <a:prstGeom prst="actionButtonBeginning">
            <a:avLst/>
          </a:prstGeom>
          <a:gradFill rotWithShape="0">
            <a:gsLst>
              <a:gs pos="0">
                <a:srgbClr val="DFDFDF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68686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000" dirty="0"/>
          </a:p>
        </p:txBody>
      </p:sp>
      <p:sp>
        <p:nvSpPr>
          <p:cNvPr id="35843" name="AutoShape 4">
            <a:hlinkClick r:id="" action="ppaction://hlinkshowjump?jump=previousslide"/>
          </p:cNvPr>
          <p:cNvSpPr/>
          <p:nvPr/>
        </p:nvSpPr>
        <p:spPr>
          <a:xfrm>
            <a:off x="3860800" y="6697663"/>
            <a:ext cx="571500" cy="115887"/>
          </a:xfrm>
          <a:prstGeom prst="actionButtonBackPrevious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35844" name="AutoShape 5">
            <a:hlinkClick r:id="" action="ppaction://hlinkshowjump?jump=nextslide"/>
          </p:cNvPr>
          <p:cNvSpPr/>
          <p:nvPr/>
        </p:nvSpPr>
        <p:spPr>
          <a:xfrm>
            <a:off x="4446588" y="6697663"/>
            <a:ext cx="569912" cy="115887"/>
          </a:xfrm>
          <a:prstGeom prst="actionButtonForwardNext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35845" name="AutoShape 6">
            <a:hlinkClick r:id="" action="ppaction://hlinkshowjump?jump=lastslideviewed"/>
          </p:cNvPr>
          <p:cNvSpPr/>
          <p:nvPr/>
        </p:nvSpPr>
        <p:spPr>
          <a:xfrm>
            <a:off x="5030788" y="6697663"/>
            <a:ext cx="569912" cy="115887"/>
          </a:xfrm>
          <a:prstGeom prst="actionButtonReturn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35846" name="AutoShape 7">
            <a:hlinkClick r:id="" action="ppaction://hlinkshowjump?jump=endshow"/>
          </p:cNvPr>
          <p:cNvSpPr/>
          <p:nvPr/>
        </p:nvSpPr>
        <p:spPr>
          <a:xfrm>
            <a:off x="5616575" y="6697663"/>
            <a:ext cx="581025" cy="115887"/>
          </a:xfrm>
          <a:prstGeom prst="actionButtonHome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35847" name="文本框 14"/>
          <p:cNvSpPr txBox="1"/>
          <p:nvPr/>
        </p:nvSpPr>
        <p:spPr>
          <a:xfrm>
            <a:off x="444500" y="476250"/>
            <a:ext cx="45720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精馏过程控制系统设计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5848" name="文本框 15"/>
          <p:cNvSpPr txBox="1"/>
          <p:nvPr/>
        </p:nvSpPr>
        <p:spPr>
          <a:xfrm>
            <a:off x="684530" y="1773555"/>
            <a:ext cx="8459470" cy="468439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1.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精馏过程工艺结构及操作机理。（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学时）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2.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精馏过程关键工艺参数及主要扰动分析与阐述。（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学时）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3.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控制系统原理图（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学时）。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4.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控制系统方框图，调节阀选择，控制器正反作用方式选择，控制系统的工作过程阐述（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学时）。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5.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选择一个控制系统进行仿真分析。整定恰当的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PID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参数，并对系统的抗干扰性进行仿真分析。（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学时）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已知对象模型见下页。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None/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5849" name="文本框 17"/>
          <p:cNvSpPr txBox="1"/>
          <p:nvPr/>
        </p:nvSpPr>
        <p:spPr>
          <a:xfrm>
            <a:off x="684213" y="1249363"/>
            <a:ext cx="72405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zh-CN" altLang="en-US" dirty="0">
                <a:solidFill>
                  <a:srgbClr val="1E86B4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以塔顶采出液为主要产品的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精馏过程控制系统为例：</a:t>
            </a:r>
            <a:endParaRPr lang="zh-CN" altLang="en-US" dirty="0">
              <a:solidFill>
                <a:srgbClr val="1E86B4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AutoShape 3">
            <a:hlinkClick r:id="" action="ppaction://noaction"/>
          </p:cNvPr>
          <p:cNvSpPr/>
          <p:nvPr/>
        </p:nvSpPr>
        <p:spPr>
          <a:xfrm>
            <a:off x="3276600" y="6697663"/>
            <a:ext cx="569913" cy="115887"/>
          </a:xfrm>
          <a:prstGeom prst="actionButtonBeginning">
            <a:avLst/>
          </a:prstGeom>
          <a:gradFill rotWithShape="0">
            <a:gsLst>
              <a:gs pos="0">
                <a:srgbClr val="DFDFDF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68686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000" dirty="0"/>
          </a:p>
        </p:txBody>
      </p:sp>
      <p:sp>
        <p:nvSpPr>
          <p:cNvPr id="36867" name="AutoShape 4">
            <a:hlinkClick r:id="" action="ppaction://hlinkshowjump?jump=previousslide"/>
          </p:cNvPr>
          <p:cNvSpPr/>
          <p:nvPr/>
        </p:nvSpPr>
        <p:spPr>
          <a:xfrm>
            <a:off x="3860800" y="6697663"/>
            <a:ext cx="571500" cy="115887"/>
          </a:xfrm>
          <a:prstGeom prst="actionButtonBackPrevious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36868" name="AutoShape 5">
            <a:hlinkClick r:id="" action="ppaction://hlinkshowjump?jump=nextslide"/>
          </p:cNvPr>
          <p:cNvSpPr/>
          <p:nvPr/>
        </p:nvSpPr>
        <p:spPr>
          <a:xfrm>
            <a:off x="4446588" y="6697663"/>
            <a:ext cx="569912" cy="115887"/>
          </a:xfrm>
          <a:prstGeom prst="actionButtonForwardNext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36869" name="AutoShape 6">
            <a:hlinkClick r:id="" action="ppaction://hlinkshowjump?jump=lastslideviewed"/>
          </p:cNvPr>
          <p:cNvSpPr/>
          <p:nvPr/>
        </p:nvSpPr>
        <p:spPr>
          <a:xfrm>
            <a:off x="5030788" y="6697663"/>
            <a:ext cx="569912" cy="115887"/>
          </a:xfrm>
          <a:prstGeom prst="actionButtonReturn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36870" name="AutoShape 7">
            <a:hlinkClick r:id="" action="ppaction://hlinkshowjump?jump=endshow"/>
          </p:cNvPr>
          <p:cNvSpPr/>
          <p:nvPr/>
        </p:nvSpPr>
        <p:spPr>
          <a:xfrm>
            <a:off x="5616575" y="6697663"/>
            <a:ext cx="581025" cy="115887"/>
          </a:xfrm>
          <a:prstGeom prst="actionButtonHome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36871" name="文本框 14"/>
          <p:cNvSpPr txBox="1"/>
          <p:nvPr/>
        </p:nvSpPr>
        <p:spPr>
          <a:xfrm>
            <a:off x="444500" y="476250"/>
            <a:ext cx="45720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精馏过程控制系统设计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文本框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78036" y="1546428"/>
            <a:ext cx="5728876" cy="529569"/>
          </a:xfrm>
          <a:prstGeom prst="rect">
            <a:avLst/>
          </a:prstGeom>
          <a:blipFill>
            <a:blip r:embed="rId3"/>
            <a:stretch>
              <a:fillRect l="-3191" t="-8046" b="-13793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0" name="文本框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95340" y="2466841"/>
            <a:ext cx="5546005" cy="524311"/>
          </a:xfrm>
          <a:prstGeom prst="rect">
            <a:avLst/>
          </a:prstGeom>
          <a:blipFill>
            <a:blip r:embed="rId4"/>
            <a:stretch>
              <a:fillRect l="-3297" t="-9302" b="-13953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1" name="文本框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78036" y="3552294"/>
            <a:ext cx="5274329" cy="892873"/>
          </a:xfrm>
          <a:prstGeom prst="rect">
            <a:avLst/>
          </a:prstGeom>
          <a:blipFill>
            <a:blip r:embed="rId5"/>
            <a:stretch>
              <a:fillRect l="-3464" t="-13014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4" name="文本框 1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70304" y="5035690"/>
            <a:ext cx="5636608" cy="524311"/>
          </a:xfrm>
          <a:prstGeom prst="rect">
            <a:avLst/>
          </a:prstGeom>
          <a:blipFill>
            <a:blip r:embed="rId6"/>
            <a:stretch>
              <a:fillRect l="-3355" t="-8140" b="-15116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AutoShape 3">
            <a:hlinkClick r:id="" action="ppaction://noaction"/>
          </p:cNvPr>
          <p:cNvSpPr/>
          <p:nvPr/>
        </p:nvSpPr>
        <p:spPr>
          <a:xfrm>
            <a:off x="3276600" y="6697663"/>
            <a:ext cx="569913" cy="115887"/>
          </a:xfrm>
          <a:prstGeom prst="actionButtonBeginning">
            <a:avLst/>
          </a:prstGeom>
          <a:gradFill rotWithShape="0">
            <a:gsLst>
              <a:gs pos="0">
                <a:srgbClr val="DFDFDF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68686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000" dirty="0"/>
          </a:p>
        </p:txBody>
      </p:sp>
      <p:sp>
        <p:nvSpPr>
          <p:cNvPr id="37891" name="AutoShape 4">
            <a:hlinkClick r:id="" action="ppaction://hlinkshowjump?jump=previousslide"/>
          </p:cNvPr>
          <p:cNvSpPr/>
          <p:nvPr/>
        </p:nvSpPr>
        <p:spPr>
          <a:xfrm>
            <a:off x="3860800" y="6697663"/>
            <a:ext cx="571500" cy="115887"/>
          </a:xfrm>
          <a:prstGeom prst="actionButtonBackPrevious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37892" name="AutoShape 5">
            <a:hlinkClick r:id="" action="ppaction://hlinkshowjump?jump=nextslide"/>
          </p:cNvPr>
          <p:cNvSpPr/>
          <p:nvPr/>
        </p:nvSpPr>
        <p:spPr>
          <a:xfrm>
            <a:off x="4446588" y="6697663"/>
            <a:ext cx="569912" cy="115887"/>
          </a:xfrm>
          <a:prstGeom prst="actionButtonForwardNext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37893" name="AutoShape 6">
            <a:hlinkClick r:id="" action="ppaction://hlinkshowjump?jump=lastslideviewed"/>
          </p:cNvPr>
          <p:cNvSpPr/>
          <p:nvPr/>
        </p:nvSpPr>
        <p:spPr>
          <a:xfrm>
            <a:off x="5030788" y="6697663"/>
            <a:ext cx="569912" cy="115887"/>
          </a:xfrm>
          <a:prstGeom prst="actionButtonReturn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37894" name="AutoShape 7">
            <a:hlinkClick r:id="" action="ppaction://hlinkshowjump?jump=endshow"/>
          </p:cNvPr>
          <p:cNvSpPr/>
          <p:nvPr/>
        </p:nvSpPr>
        <p:spPr>
          <a:xfrm>
            <a:off x="5616575" y="6697663"/>
            <a:ext cx="581025" cy="115887"/>
          </a:xfrm>
          <a:prstGeom prst="actionButtonHome">
            <a:avLst/>
          </a:prstGeom>
          <a:gradFill rotWithShape="0">
            <a:gsLst>
              <a:gs pos="0">
                <a:srgbClr val="DDDDDD"/>
              </a:gs>
              <a:gs pos="100000">
                <a:srgbClr val="EAEAEA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37895" name="文本框 14"/>
          <p:cNvSpPr txBox="1"/>
          <p:nvPr/>
        </p:nvSpPr>
        <p:spPr>
          <a:xfrm>
            <a:off x="444500" y="476250"/>
            <a:ext cx="45720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精馏过程控制系统设计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" name="文本框 1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9552" y="1700808"/>
            <a:ext cx="7493077" cy="577209"/>
          </a:xfrm>
          <a:prstGeom prst="rect">
            <a:avLst/>
          </a:prstGeom>
          <a:blipFill>
            <a:blip r:embed="rId3"/>
            <a:stretch>
              <a:fillRect l="-2522" t="-6316" b="-5263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7" name="文本框 1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44500" y="2955383"/>
            <a:ext cx="7538667" cy="941283"/>
          </a:xfrm>
          <a:prstGeom prst="rect">
            <a:avLst/>
          </a:prstGeom>
          <a:blipFill>
            <a:blip r:embed="rId4"/>
            <a:stretch>
              <a:fillRect l="-1940" t="-2597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8" name="文本框 1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5096" y="4137730"/>
            <a:ext cx="7355796" cy="941283"/>
          </a:xfrm>
          <a:prstGeom prst="rect">
            <a:avLst/>
          </a:prstGeom>
          <a:blipFill>
            <a:blip r:embed="rId5"/>
            <a:stretch>
              <a:fillRect l="-1907" t="-2597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TZlNjY2N2ViYzdkNmY4OTYwNjc5MzY1MjhkY2EzMTEifQ=="/>
</p:tagLst>
</file>

<file path=ppt/theme/theme1.xml><?xml version="1.0" encoding="utf-8"?>
<a:theme xmlns:a="http://schemas.openxmlformats.org/drawingml/2006/main" name="默认设计模板">
  <a:themeElements>
    <a:clrScheme name="默认设计模板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3399FF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0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697</Words>
  <Application>Microsoft Office PowerPoint</Application>
  <PresentationFormat>全屏显示(4:3)</PresentationFormat>
  <Paragraphs>91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华文楷体</vt:lpstr>
      <vt:lpstr>楷体_GB2312</vt:lpstr>
      <vt:lpstr>隶书</vt:lpstr>
      <vt:lpstr>Arial</vt:lpstr>
      <vt:lpstr>Times New Roman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554</cp:revision>
  <cp:lastPrinted>2021-03-17T13:08:00Z</cp:lastPrinted>
  <dcterms:created xsi:type="dcterms:W3CDTF">2005-11-09T06:08:00Z</dcterms:created>
  <dcterms:modified xsi:type="dcterms:W3CDTF">2025-12-24T15:58:35Z</dcterms:modified>
</cp:coreProperties>
</file>