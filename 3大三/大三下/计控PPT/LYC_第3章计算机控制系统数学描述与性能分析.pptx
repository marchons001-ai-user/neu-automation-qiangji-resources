
<file path=[Content_Types].xml><?xml version="1.0" encoding="utf-8"?>
<Types xmlns="http://schemas.openxmlformats.org/package/2006/content-types">
  <Default Extension="bin" ContentType="application/vnd.openxmlformats-officedocument.oleObject"/>
  <Default Extension="emf" ContentType="image/x-emf"/>
  <Default Extension="jpeg" ContentType="image/jpeg"/>
  <Default Extension="png" ContentType="image/png"/>
  <Default Extension="rels" ContentType="application/vnd.openxmlformats-package.relationships+xml"/>
  <Default Extension="tmp" ContentType="image/png"/>
  <Default Extension="wmf" ContentType="image/x-wmf"/>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slides/slide128.xml" ContentType="application/vnd.openxmlformats-officedocument.presentationml.slide+xml"/>
  <Override PartName="/ppt/slides/slide129.xml" ContentType="application/vnd.openxmlformats-officedocument.presentationml.slide+xml"/>
  <Override PartName="/ppt/slides/slide130.xml" ContentType="application/vnd.openxmlformats-officedocument.presentationml.slide+xml"/>
  <Override PartName="/ppt/slides/slide131.xml" ContentType="application/vnd.openxmlformats-officedocument.presentationml.slide+xml"/>
  <Override PartName="/ppt/slides/slide132.xml" ContentType="application/vnd.openxmlformats-officedocument.presentationml.slide+xml"/>
  <Override PartName="/ppt/slides/slide133.xml" ContentType="application/vnd.openxmlformats-officedocument.presentationml.slide+xml"/>
  <Override PartName="/ppt/slides/slide134.xml" ContentType="application/vnd.openxmlformats-officedocument.presentationml.slide+xml"/>
  <Override PartName="/ppt/slides/slide135.xml" ContentType="application/vnd.openxmlformats-officedocument.presentationml.slide+xml"/>
  <Override PartName="/ppt/slides/slide136.xml" ContentType="application/vnd.openxmlformats-officedocument.presentationml.slide+xml"/>
  <Override PartName="/ppt/slides/slide137.xml" ContentType="application/vnd.openxmlformats-officedocument.presentationml.slide+xml"/>
  <Override PartName="/ppt/slides/slide138.xml" ContentType="application/vnd.openxmlformats-officedocument.presentationml.slide+xml"/>
  <Override PartName="/ppt/slides/slide139.xml" ContentType="application/vnd.openxmlformats-officedocument.presentationml.slide+xml"/>
  <Override PartName="/ppt/slides/slide140.xml" ContentType="application/vnd.openxmlformats-officedocument.presentationml.slide+xml"/>
  <Override PartName="/ppt/slides/slide141.xml" ContentType="application/vnd.openxmlformats-officedocument.presentationml.slide+xml"/>
  <Override PartName="/ppt/slides/slide142.xml" ContentType="application/vnd.openxmlformats-officedocument.presentationml.slide+xml"/>
  <Override PartName="/ppt/slides/slide143.xml" ContentType="application/vnd.openxmlformats-officedocument.presentationml.slide+xml"/>
  <Override PartName="/ppt/slides/slide144.xml" ContentType="application/vnd.openxmlformats-officedocument.presentationml.slide+xml"/>
  <Override PartName="/ppt/slides/slide145.xml" ContentType="application/vnd.openxmlformats-officedocument.presentationml.slide+xml"/>
  <Override PartName="/ppt/slides/slide146.xml" ContentType="application/vnd.openxmlformats-officedocument.presentationml.slide+xml"/>
  <Override PartName="/ppt/slides/slide147.xml" ContentType="application/vnd.openxmlformats-officedocument.presentationml.slide+xml"/>
  <Override PartName="/ppt/slides/slide148.xml" ContentType="application/vnd.openxmlformats-officedocument.presentationml.slide+xml"/>
  <Override PartName="/ppt/slides/slide149.xml" ContentType="application/vnd.openxmlformats-officedocument.presentationml.slide+xml"/>
  <Override PartName="/ppt/slides/slide150.xml" ContentType="application/vnd.openxmlformats-officedocument.presentationml.slide+xml"/>
  <Override PartName="/ppt/slides/slide151.xml" ContentType="application/vnd.openxmlformats-officedocument.presentationml.slide+xml"/>
  <Override PartName="/ppt/slides/slide152.xml" ContentType="application/vnd.openxmlformats-officedocument.presentationml.slide+xml"/>
  <Override PartName="/ppt/slides/slide153.xml" ContentType="application/vnd.openxmlformats-officedocument.presentationml.slide+xml"/>
  <Override PartName="/ppt/slides/slide154.xml" ContentType="application/vnd.openxmlformats-officedocument.presentationml.slide+xml"/>
  <Override PartName="/ppt/slides/slide155.xml" ContentType="application/vnd.openxmlformats-officedocument.presentationml.slide+xml"/>
  <Override PartName="/ppt/slides/slide156.xml" ContentType="application/vnd.openxmlformats-officedocument.presentationml.slide+xml"/>
  <Override PartName="/ppt/slides/slide157.xml" ContentType="application/vnd.openxmlformats-officedocument.presentationml.slide+xml"/>
  <Override PartName="/ppt/slides/slide158.xml" ContentType="application/vnd.openxmlformats-officedocument.presentationml.slide+xml"/>
  <Override PartName="/ppt/slides/slide159.xml" ContentType="application/vnd.openxmlformats-officedocument.presentationml.slide+xml"/>
  <Override PartName="/ppt/slides/slide160.xml" ContentType="application/vnd.openxmlformats-officedocument.presentationml.slide+xml"/>
  <Override PartName="/ppt/slides/slide161.xml" ContentType="application/vnd.openxmlformats-officedocument.presentationml.slide+xml"/>
  <Override PartName="/ppt/slides/slide162.xml" ContentType="application/vnd.openxmlformats-officedocument.presentationml.slide+xml"/>
  <Override PartName="/ppt/slides/slide163.xml" ContentType="application/vnd.openxmlformats-officedocument.presentationml.slide+xml"/>
  <Override PartName="/ppt/slides/slide164.xml" ContentType="application/vnd.openxmlformats-officedocument.presentationml.slide+xml"/>
  <Override PartName="/ppt/slides/slide165.xml" ContentType="application/vnd.openxmlformats-officedocument.presentationml.slide+xml"/>
  <Override PartName="/ppt/slides/slide166.xml" ContentType="application/vnd.openxmlformats-officedocument.presentationml.slide+xml"/>
  <Override PartName="/ppt/slides/slide16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69"/>
  </p:notesMasterIdLst>
  <p:handoutMasterIdLst>
    <p:handoutMasterId r:id="rId170"/>
  </p:handoutMasterIdLst>
  <p:sldIdLst>
    <p:sldId id="258" r:id="rId2"/>
    <p:sldId id="365" r:id="rId3"/>
    <p:sldId id="259" r:id="rId4"/>
    <p:sldId id="261" r:id="rId5"/>
    <p:sldId id="264" r:id="rId6"/>
    <p:sldId id="260" r:id="rId7"/>
    <p:sldId id="265" r:id="rId8"/>
    <p:sldId id="266" r:id="rId9"/>
    <p:sldId id="267" r:id="rId10"/>
    <p:sldId id="268" r:id="rId11"/>
    <p:sldId id="269" r:id="rId12"/>
    <p:sldId id="270" r:id="rId13"/>
    <p:sldId id="271" r:id="rId14"/>
    <p:sldId id="272" r:id="rId15"/>
    <p:sldId id="273" r:id="rId16"/>
    <p:sldId id="274" r:id="rId17"/>
    <p:sldId id="275" r:id="rId18"/>
    <p:sldId id="276" r:id="rId19"/>
    <p:sldId id="277" r:id="rId20"/>
    <p:sldId id="278" r:id="rId21"/>
    <p:sldId id="279" r:id="rId22"/>
    <p:sldId id="280" r:id="rId23"/>
    <p:sldId id="281" r:id="rId24"/>
    <p:sldId id="282" r:id="rId25"/>
    <p:sldId id="283" r:id="rId26"/>
    <p:sldId id="353" r:id="rId27"/>
    <p:sldId id="352" r:id="rId28"/>
    <p:sldId id="285" r:id="rId29"/>
    <p:sldId id="286" r:id="rId30"/>
    <p:sldId id="287" r:id="rId31"/>
    <p:sldId id="288" r:id="rId32"/>
    <p:sldId id="289" r:id="rId33"/>
    <p:sldId id="290" r:id="rId34"/>
    <p:sldId id="291" r:id="rId35"/>
    <p:sldId id="292" r:id="rId36"/>
    <p:sldId id="293" r:id="rId37"/>
    <p:sldId id="294" r:id="rId38"/>
    <p:sldId id="295" r:id="rId39"/>
    <p:sldId id="296" r:id="rId40"/>
    <p:sldId id="297" r:id="rId41"/>
    <p:sldId id="350" r:id="rId42"/>
    <p:sldId id="298" r:id="rId43"/>
    <p:sldId id="299" r:id="rId44"/>
    <p:sldId id="300" r:id="rId45"/>
    <p:sldId id="301" r:id="rId46"/>
    <p:sldId id="302" r:id="rId47"/>
    <p:sldId id="303" r:id="rId48"/>
    <p:sldId id="304" r:id="rId49"/>
    <p:sldId id="305" r:id="rId50"/>
    <p:sldId id="306" r:id="rId51"/>
    <p:sldId id="307" r:id="rId52"/>
    <p:sldId id="308" r:id="rId53"/>
    <p:sldId id="309" r:id="rId54"/>
    <p:sldId id="310" r:id="rId55"/>
    <p:sldId id="311" r:id="rId56"/>
    <p:sldId id="312" r:id="rId57"/>
    <p:sldId id="313" r:id="rId58"/>
    <p:sldId id="314" r:id="rId59"/>
    <p:sldId id="315" r:id="rId60"/>
    <p:sldId id="331" r:id="rId61"/>
    <p:sldId id="332" r:id="rId62"/>
    <p:sldId id="333" r:id="rId63"/>
    <p:sldId id="334" r:id="rId64"/>
    <p:sldId id="335" r:id="rId65"/>
    <p:sldId id="336" r:id="rId66"/>
    <p:sldId id="337" r:id="rId67"/>
    <p:sldId id="338" r:id="rId68"/>
    <p:sldId id="339" r:id="rId69"/>
    <p:sldId id="340" r:id="rId70"/>
    <p:sldId id="342" r:id="rId71"/>
    <p:sldId id="343" r:id="rId72"/>
    <p:sldId id="341" r:id="rId73"/>
    <p:sldId id="344" r:id="rId74"/>
    <p:sldId id="345" r:id="rId75"/>
    <p:sldId id="346" r:id="rId76"/>
    <p:sldId id="347" r:id="rId77"/>
    <p:sldId id="316" r:id="rId78"/>
    <p:sldId id="317" r:id="rId79"/>
    <p:sldId id="318" r:id="rId80"/>
    <p:sldId id="349" r:id="rId81"/>
    <p:sldId id="319" r:id="rId82"/>
    <p:sldId id="320" r:id="rId83"/>
    <p:sldId id="321" r:id="rId84"/>
    <p:sldId id="322" r:id="rId85"/>
    <p:sldId id="323" r:id="rId86"/>
    <p:sldId id="324" r:id="rId87"/>
    <p:sldId id="325" r:id="rId88"/>
    <p:sldId id="326" r:id="rId89"/>
    <p:sldId id="327" r:id="rId90"/>
    <p:sldId id="328" r:id="rId91"/>
    <p:sldId id="329" r:id="rId92"/>
    <p:sldId id="330" r:id="rId93"/>
    <p:sldId id="354" r:id="rId94"/>
    <p:sldId id="355" r:id="rId95"/>
    <p:sldId id="356" r:id="rId96"/>
    <p:sldId id="424" r:id="rId97"/>
    <p:sldId id="425" r:id="rId98"/>
    <p:sldId id="426" r:id="rId99"/>
    <p:sldId id="427" r:id="rId100"/>
    <p:sldId id="428" r:id="rId101"/>
    <p:sldId id="429" r:id="rId102"/>
    <p:sldId id="430" r:id="rId103"/>
    <p:sldId id="431" r:id="rId104"/>
    <p:sldId id="432" r:id="rId105"/>
    <p:sldId id="394" r:id="rId106"/>
    <p:sldId id="360" r:id="rId107"/>
    <p:sldId id="361" r:id="rId108"/>
    <p:sldId id="367" r:id="rId109"/>
    <p:sldId id="368" r:id="rId110"/>
    <p:sldId id="362" r:id="rId111"/>
    <p:sldId id="363" r:id="rId112"/>
    <p:sldId id="364" r:id="rId113"/>
    <p:sldId id="366" r:id="rId114"/>
    <p:sldId id="434" r:id="rId115"/>
    <p:sldId id="435" r:id="rId116"/>
    <p:sldId id="436" r:id="rId117"/>
    <p:sldId id="443" r:id="rId118"/>
    <p:sldId id="433" r:id="rId119"/>
    <p:sldId id="437" r:id="rId120"/>
    <p:sldId id="438" r:id="rId121"/>
    <p:sldId id="439" r:id="rId122"/>
    <p:sldId id="441" r:id="rId123"/>
    <p:sldId id="442" r:id="rId124"/>
    <p:sldId id="369" r:id="rId125"/>
    <p:sldId id="370" r:id="rId126"/>
    <p:sldId id="371" r:id="rId127"/>
    <p:sldId id="372" r:id="rId128"/>
    <p:sldId id="373" r:id="rId129"/>
    <p:sldId id="374" r:id="rId130"/>
    <p:sldId id="375" r:id="rId131"/>
    <p:sldId id="376" r:id="rId132"/>
    <p:sldId id="377" r:id="rId133"/>
    <p:sldId id="378" r:id="rId134"/>
    <p:sldId id="379" r:id="rId135"/>
    <p:sldId id="380" r:id="rId136"/>
    <p:sldId id="381" r:id="rId137"/>
    <p:sldId id="382" r:id="rId138"/>
    <p:sldId id="383" r:id="rId139"/>
    <p:sldId id="384" r:id="rId140"/>
    <p:sldId id="395" r:id="rId141"/>
    <p:sldId id="396" r:id="rId142"/>
    <p:sldId id="397" r:id="rId143"/>
    <p:sldId id="385" r:id="rId144"/>
    <p:sldId id="386" r:id="rId145"/>
    <p:sldId id="387" r:id="rId146"/>
    <p:sldId id="388" r:id="rId147"/>
    <p:sldId id="389" r:id="rId148"/>
    <p:sldId id="390" r:id="rId149"/>
    <p:sldId id="391" r:id="rId150"/>
    <p:sldId id="392" r:id="rId151"/>
    <p:sldId id="393" r:id="rId152"/>
    <p:sldId id="398" r:id="rId153"/>
    <p:sldId id="399" r:id="rId154"/>
    <p:sldId id="400" r:id="rId155"/>
    <p:sldId id="401" r:id="rId156"/>
    <p:sldId id="402" r:id="rId157"/>
    <p:sldId id="403" r:id="rId158"/>
    <p:sldId id="404" r:id="rId159"/>
    <p:sldId id="405" r:id="rId160"/>
    <p:sldId id="406" r:id="rId161"/>
    <p:sldId id="415" r:id="rId162"/>
    <p:sldId id="416" r:id="rId163"/>
    <p:sldId id="417" r:id="rId164"/>
    <p:sldId id="418" r:id="rId165"/>
    <p:sldId id="412" r:id="rId166"/>
    <p:sldId id="263" r:id="rId167"/>
    <p:sldId id="444" r:id="rId168"/>
  </p:sldIdLst>
  <p:sldSz cx="9144000" cy="6858000" type="screen4x3"/>
  <p:notesSz cx="7099300" cy="10234613"/>
  <p:defaultTextStyle>
    <a:defPPr>
      <a:defRPr lang="zh-CN"/>
    </a:defPPr>
    <a:lvl1pPr algn="l" rtl="0" fontAlgn="base">
      <a:spcBef>
        <a:spcPct val="0"/>
      </a:spcBef>
      <a:spcAft>
        <a:spcPct val="0"/>
      </a:spcAft>
      <a:defRPr kumimoji="1" sz="2000" b="1" kern="1200">
        <a:solidFill>
          <a:schemeClr val="tx1"/>
        </a:solidFill>
        <a:latin typeface="Times New Roman" pitchFamily="18" charset="0"/>
        <a:ea typeface="宋体" pitchFamily="2" charset="-122"/>
        <a:cs typeface="+mn-cs"/>
      </a:defRPr>
    </a:lvl1pPr>
    <a:lvl2pPr marL="457200" algn="l" rtl="0" fontAlgn="base">
      <a:spcBef>
        <a:spcPct val="0"/>
      </a:spcBef>
      <a:spcAft>
        <a:spcPct val="0"/>
      </a:spcAft>
      <a:defRPr kumimoji="1" sz="2000" b="1" kern="1200">
        <a:solidFill>
          <a:schemeClr val="tx1"/>
        </a:solidFill>
        <a:latin typeface="Times New Roman" pitchFamily="18" charset="0"/>
        <a:ea typeface="宋体" pitchFamily="2" charset="-122"/>
        <a:cs typeface="+mn-cs"/>
      </a:defRPr>
    </a:lvl2pPr>
    <a:lvl3pPr marL="914400" algn="l" rtl="0" fontAlgn="base">
      <a:spcBef>
        <a:spcPct val="0"/>
      </a:spcBef>
      <a:spcAft>
        <a:spcPct val="0"/>
      </a:spcAft>
      <a:defRPr kumimoji="1" sz="2000" b="1" kern="1200">
        <a:solidFill>
          <a:schemeClr val="tx1"/>
        </a:solidFill>
        <a:latin typeface="Times New Roman" pitchFamily="18" charset="0"/>
        <a:ea typeface="宋体" pitchFamily="2" charset="-122"/>
        <a:cs typeface="+mn-cs"/>
      </a:defRPr>
    </a:lvl3pPr>
    <a:lvl4pPr marL="1371600" algn="l" rtl="0" fontAlgn="base">
      <a:spcBef>
        <a:spcPct val="0"/>
      </a:spcBef>
      <a:spcAft>
        <a:spcPct val="0"/>
      </a:spcAft>
      <a:defRPr kumimoji="1" sz="2000" b="1" kern="1200">
        <a:solidFill>
          <a:schemeClr val="tx1"/>
        </a:solidFill>
        <a:latin typeface="Times New Roman" pitchFamily="18" charset="0"/>
        <a:ea typeface="宋体" pitchFamily="2" charset="-122"/>
        <a:cs typeface="+mn-cs"/>
      </a:defRPr>
    </a:lvl4pPr>
    <a:lvl5pPr marL="1828800" algn="l" rtl="0" fontAlgn="base">
      <a:spcBef>
        <a:spcPct val="0"/>
      </a:spcBef>
      <a:spcAft>
        <a:spcPct val="0"/>
      </a:spcAft>
      <a:defRPr kumimoji="1" sz="2000" b="1" kern="1200">
        <a:solidFill>
          <a:schemeClr val="tx1"/>
        </a:solidFill>
        <a:latin typeface="Times New Roman" pitchFamily="18" charset="0"/>
        <a:ea typeface="宋体" pitchFamily="2" charset="-122"/>
        <a:cs typeface="+mn-cs"/>
      </a:defRPr>
    </a:lvl5pPr>
    <a:lvl6pPr marL="2286000" algn="l" defTabSz="914400" rtl="0" eaLnBrk="1" latinLnBrk="0" hangingPunct="1">
      <a:defRPr kumimoji="1" sz="2000" b="1" kern="1200">
        <a:solidFill>
          <a:schemeClr val="tx1"/>
        </a:solidFill>
        <a:latin typeface="Times New Roman" pitchFamily="18" charset="0"/>
        <a:ea typeface="宋体" pitchFamily="2" charset="-122"/>
        <a:cs typeface="+mn-cs"/>
      </a:defRPr>
    </a:lvl6pPr>
    <a:lvl7pPr marL="2743200" algn="l" defTabSz="914400" rtl="0" eaLnBrk="1" latinLnBrk="0" hangingPunct="1">
      <a:defRPr kumimoji="1" sz="2000" b="1" kern="1200">
        <a:solidFill>
          <a:schemeClr val="tx1"/>
        </a:solidFill>
        <a:latin typeface="Times New Roman" pitchFamily="18" charset="0"/>
        <a:ea typeface="宋体" pitchFamily="2" charset="-122"/>
        <a:cs typeface="+mn-cs"/>
      </a:defRPr>
    </a:lvl7pPr>
    <a:lvl8pPr marL="3200400" algn="l" defTabSz="914400" rtl="0" eaLnBrk="1" latinLnBrk="0" hangingPunct="1">
      <a:defRPr kumimoji="1" sz="2000" b="1" kern="1200">
        <a:solidFill>
          <a:schemeClr val="tx1"/>
        </a:solidFill>
        <a:latin typeface="Times New Roman" pitchFamily="18" charset="0"/>
        <a:ea typeface="宋体" pitchFamily="2" charset="-122"/>
        <a:cs typeface="+mn-cs"/>
      </a:defRPr>
    </a:lvl8pPr>
    <a:lvl9pPr marL="3657600" algn="l" defTabSz="914400" rtl="0" eaLnBrk="1" latinLnBrk="0" hangingPunct="1">
      <a:defRPr kumimoji="1" sz="2000" b="1" kern="1200">
        <a:solidFill>
          <a:schemeClr val="tx1"/>
        </a:solidFill>
        <a:latin typeface="Times New Roman" pitchFamily="18" charset="0"/>
        <a:ea typeface="宋体" pitchFamily="2" charset="-122"/>
        <a:cs typeface="+mn-cs"/>
      </a:defRPr>
    </a:lvl9pPr>
  </p:defaultTextStyle>
  <p:extLst>
    <p:ext uri="{521415D9-36F7-43E2-AB2F-B90AF26B5E84}">
      <p14:sectionLst xmlns:p14="http://schemas.microsoft.com/office/powerpoint/2010/main">
        <p14:section name="默认节" id="{642E8953-1C6D-4622-8368-5E376F0438A2}">
          <p14:sldIdLst>
            <p14:sldId id="258"/>
            <p14:sldId id="365"/>
            <p14:sldId id="259"/>
            <p14:sldId id="261"/>
            <p14:sldId id="264"/>
            <p14:sldId id="260"/>
            <p14:sldId id="265"/>
            <p14:sldId id="266"/>
            <p14:sldId id="267"/>
            <p14:sldId id="268"/>
            <p14:sldId id="269"/>
            <p14:sldId id="270"/>
            <p14:sldId id="271"/>
            <p14:sldId id="272"/>
            <p14:sldId id="273"/>
            <p14:sldId id="274"/>
            <p14:sldId id="275"/>
            <p14:sldId id="276"/>
            <p14:sldId id="277"/>
            <p14:sldId id="278"/>
            <p14:sldId id="279"/>
            <p14:sldId id="280"/>
            <p14:sldId id="281"/>
            <p14:sldId id="282"/>
            <p14:sldId id="283"/>
            <p14:sldId id="353"/>
            <p14:sldId id="352"/>
            <p14:sldId id="285"/>
            <p14:sldId id="286"/>
            <p14:sldId id="287"/>
            <p14:sldId id="288"/>
            <p14:sldId id="289"/>
            <p14:sldId id="290"/>
            <p14:sldId id="291"/>
            <p14:sldId id="292"/>
            <p14:sldId id="293"/>
            <p14:sldId id="294"/>
            <p14:sldId id="295"/>
            <p14:sldId id="296"/>
            <p14:sldId id="297"/>
            <p14:sldId id="350"/>
            <p14:sldId id="298"/>
            <p14:sldId id="299"/>
            <p14:sldId id="300"/>
            <p14:sldId id="301"/>
            <p14:sldId id="302"/>
            <p14:sldId id="303"/>
            <p14:sldId id="304"/>
            <p14:sldId id="305"/>
            <p14:sldId id="306"/>
            <p14:sldId id="307"/>
            <p14:sldId id="308"/>
            <p14:sldId id="309"/>
            <p14:sldId id="310"/>
            <p14:sldId id="311"/>
            <p14:sldId id="312"/>
            <p14:sldId id="313"/>
            <p14:sldId id="314"/>
            <p14:sldId id="315"/>
            <p14:sldId id="331"/>
            <p14:sldId id="332"/>
            <p14:sldId id="333"/>
            <p14:sldId id="334"/>
            <p14:sldId id="335"/>
            <p14:sldId id="336"/>
            <p14:sldId id="337"/>
            <p14:sldId id="338"/>
            <p14:sldId id="339"/>
            <p14:sldId id="340"/>
            <p14:sldId id="342"/>
            <p14:sldId id="343"/>
            <p14:sldId id="341"/>
            <p14:sldId id="344"/>
            <p14:sldId id="345"/>
            <p14:sldId id="346"/>
            <p14:sldId id="347"/>
            <p14:sldId id="316"/>
            <p14:sldId id="317"/>
            <p14:sldId id="318"/>
            <p14:sldId id="349"/>
            <p14:sldId id="319"/>
            <p14:sldId id="320"/>
            <p14:sldId id="321"/>
            <p14:sldId id="322"/>
            <p14:sldId id="323"/>
            <p14:sldId id="324"/>
            <p14:sldId id="325"/>
            <p14:sldId id="326"/>
            <p14:sldId id="327"/>
            <p14:sldId id="328"/>
            <p14:sldId id="329"/>
            <p14:sldId id="330"/>
            <p14:sldId id="354"/>
            <p14:sldId id="355"/>
            <p14:sldId id="356"/>
            <p14:sldId id="424"/>
            <p14:sldId id="425"/>
            <p14:sldId id="426"/>
            <p14:sldId id="427"/>
            <p14:sldId id="428"/>
            <p14:sldId id="429"/>
            <p14:sldId id="430"/>
            <p14:sldId id="431"/>
            <p14:sldId id="432"/>
            <p14:sldId id="394"/>
            <p14:sldId id="360"/>
            <p14:sldId id="361"/>
            <p14:sldId id="367"/>
            <p14:sldId id="368"/>
            <p14:sldId id="362"/>
            <p14:sldId id="363"/>
            <p14:sldId id="364"/>
            <p14:sldId id="366"/>
            <p14:sldId id="434"/>
            <p14:sldId id="435"/>
            <p14:sldId id="436"/>
            <p14:sldId id="443"/>
            <p14:sldId id="433"/>
            <p14:sldId id="437"/>
            <p14:sldId id="438"/>
            <p14:sldId id="439"/>
            <p14:sldId id="441"/>
            <p14:sldId id="442"/>
            <p14:sldId id="369"/>
            <p14:sldId id="370"/>
            <p14:sldId id="371"/>
            <p14:sldId id="372"/>
            <p14:sldId id="373"/>
            <p14:sldId id="374"/>
            <p14:sldId id="375"/>
            <p14:sldId id="376"/>
            <p14:sldId id="377"/>
            <p14:sldId id="378"/>
            <p14:sldId id="379"/>
            <p14:sldId id="380"/>
            <p14:sldId id="381"/>
            <p14:sldId id="382"/>
            <p14:sldId id="383"/>
            <p14:sldId id="384"/>
            <p14:sldId id="395"/>
            <p14:sldId id="396"/>
            <p14:sldId id="397"/>
            <p14:sldId id="385"/>
            <p14:sldId id="386"/>
            <p14:sldId id="387"/>
            <p14:sldId id="388"/>
            <p14:sldId id="389"/>
            <p14:sldId id="390"/>
            <p14:sldId id="391"/>
            <p14:sldId id="392"/>
            <p14:sldId id="393"/>
            <p14:sldId id="398"/>
            <p14:sldId id="399"/>
            <p14:sldId id="400"/>
            <p14:sldId id="401"/>
            <p14:sldId id="402"/>
            <p14:sldId id="403"/>
            <p14:sldId id="404"/>
            <p14:sldId id="405"/>
            <p14:sldId id="406"/>
            <p14:sldId id="415"/>
            <p14:sldId id="416"/>
            <p14:sldId id="417"/>
            <p14:sldId id="418"/>
            <p14:sldId id="412"/>
            <p14:sldId id="263"/>
            <p14:sldId id="444"/>
          </p14:sldIdLst>
        </p14:section>
        <p14:section name="无标题节" id="{09F5BF43-5D73-4201-9D5A-2EFF2C357BB2}">
          <p14:sldIdLst/>
        </p14:section>
      </p14:sectionLst>
    </p:ext>
    <p:ext uri="{EFAFB233-063F-42B5-8137-9DF3F51BA10A}">
      <p15:sldGuideLst xmlns:p15="http://schemas.microsoft.com/office/powerpoint/2012/main">
        <p15:guide id="1" orient="horz" pos="2160">
          <p15:clr>
            <a:srgbClr val="A4A3A4"/>
          </p15:clr>
        </p15:guide>
        <p15:guide id="2" pos="2880">
          <p15:clr>
            <a:srgbClr val="A4A3A4"/>
          </p15:clr>
        </p15:guide>
      </p15:sldGuideLst>
    </p:ext>
    <p:ext uri="{2D200454-40CA-4A62-9FC3-DE9A4176ACB9}">
      <p15:notesGuideLst xmlns:p15="http://schemas.microsoft.com/office/powerpoint/2012/main">
        <p15:guide id="1" orient="horz" pos="3224">
          <p15:clr>
            <a:srgbClr val="A4A3A4"/>
          </p15:clr>
        </p15:guide>
        <p15:guide id="2" pos="223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33CC"/>
    <a:srgbClr val="FF0000"/>
    <a:srgbClr val="003300"/>
    <a:srgbClr val="B3D002"/>
    <a:srgbClr val="BE2C14"/>
    <a:srgbClr val="AEBA18"/>
    <a:srgbClr val="1E86B4"/>
    <a:srgbClr val="FFCC66"/>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099" autoAdjust="0"/>
    <p:restoredTop sz="91161" autoAdjust="0"/>
  </p:normalViewPr>
  <p:slideViewPr>
    <p:cSldViewPr>
      <p:cViewPr varScale="1">
        <p:scale>
          <a:sx n="107" d="100"/>
          <a:sy n="107" d="100"/>
        </p:scale>
        <p:origin x="236" y="64"/>
      </p:cViewPr>
      <p:guideLst>
        <p:guide orient="horz" pos="2160"/>
        <p:guide pos="2880"/>
      </p:guideLst>
    </p:cSldViewPr>
  </p:slideViewPr>
  <p:outlineViewPr>
    <p:cViewPr>
      <p:scale>
        <a:sx n="33" d="100"/>
        <a:sy n="33" d="100"/>
      </p:scale>
      <p:origin x="0" y="0"/>
    </p:cViewPr>
  </p:outlineViewPr>
  <p:notesTextViewPr>
    <p:cViewPr>
      <p:scale>
        <a:sx n="3" d="2"/>
        <a:sy n="3" d="2"/>
      </p:scale>
      <p:origin x="0" y="0"/>
    </p:cViewPr>
  </p:notesTextViewPr>
  <p:sorterViewPr>
    <p:cViewPr>
      <p:scale>
        <a:sx n="66" d="100"/>
        <a:sy n="66" d="100"/>
      </p:scale>
      <p:origin x="0" y="5184"/>
    </p:cViewPr>
  </p:sorterViewPr>
  <p:notesViewPr>
    <p:cSldViewPr>
      <p:cViewPr varScale="1">
        <p:scale>
          <a:sx n="54" d="100"/>
          <a:sy n="54" d="100"/>
        </p:scale>
        <p:origin x="-2892" y="-84"/>
      </p:cViewPr>
      <p:guideLst>
        <p:guide orient="horz" pos="3224"/>
        <p:guide pos="2236"/>
      </p:guideLst>
    </p:cSldViewPr>
  </p:notesViewPr>
  <p:gridSpacing cx="72008" cy="72008"/>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38" Type="http://schemas.openxmlformats.org/officeDocument/2006/relationships/slide" Target="slides/slide137.xml"/><Relationship Id="rId159" Type="http://schemas.openxmlformats.org/officeDocument/2006/relationships/slide" Target="slides/slide158.xml"/><Relationship Id="rId170" Type="http://schemas.openxmlformats.org/officeDocument/2006/relationships/handoutMaster" Target="handoutMasters/handoutMaster1.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53" Type="http://schemas.openxmlformats.org/officeDocument/2006/relationships/slide" Target="slides/slide52.xml"/><Relationship Id="rId74" Type="http://schemas.openxmlformats.org/officeDocument/2006/relationships/slide" Target="slides/slide73.xml"/><Relationship Id="rId128" Type="http://schemas.openxmlformats.org/officeDocument/2006/relationships/slide" Target="slides/slide127.xml"/><Relationship Id="rId149" Type="http://schemas.openxmlformats.org/officeDocument/2006/relationships/slide" Target="slides/slide148.xml"/><Relationship Id="rId5" Type="http://schemas.openxmlformats.org/officeDocument/2006/relationships/slide" Target="slides/slide4.xml"/><Relationship Id="rId95" Type="http://schemas.openxmlformats.org/officeDocument/2006/relationships/slide" Target="slides/slide94.xml"/><Relationship Id="rId160" Type="http://schemas.openxmlformats.org/officeDocument/2006/relationships/slide" Target="slides/slide159.xml"/><Relationship Id="rId22" Type="http://schemas.openxmlformats.org/officeDocument/2006/relationships/slide" Target="slides/slide21.xml"/><Relationship Id="rId43" Type="http://schemas.openxmlformats.org/officeDocument/2006/relationships/slide" Target="slides/slide42.xml"/><Relationship Id="rId64" Type="http://schemas.openxmlformats.org/officeDocument/2006/relationships/slide" Target="slides/slide63.xml"/><Relationship Id="rId118" Type="http://schemas.openxmlformats.org/officeDocument/2006/relationships/slide" Target="slides/slide117.xml"/><Relationship Id="rId139" Type="http://schemas.openxmlformats.org/officeDocument/2006/relationships/slide" Target="slides/slide138.xml"/><Relationship Id="rId85" Type="http://schemas.openxmlformats.org/officeDocument/2006/relationships/slide" Target="slides/slide84.xml"/><Relationship Id="rId150" Type="http://schemas.openxmlformats.org/officeDocument/2006/relationships/slide" Target="slides/slide149.xml"/><Relationship Id="rId171" Type="http://schemas.openxmlformats.org/officeDocument/2006/relationships/presProps" Target="presProps.xml"/><Relationship Id="rId12" Type="http://schemas.openxmlformats.org/officeDocument/2006/relationships/slide" Target="slides/slide11.xml"/><Relationship Id="rId33" Type="http://schemas.openxmlformats.org/officeDocument/2006/relationships/slide" Target="slides/slide32.xml"/><Relationship Id="rId108" Type="http://schemas.openxmlformats.org/officeDocument/2006/relationships/slide" Target="slides/slide107.xml"/><Relationship Id="rId129" Type="http://schemas.openxmlformats.org/officeDocument/2006/relationships/slide" Target="slides/slide128.xml"/><Relationship Id="rId54" Type="http://schemas.openxmlformats.org/officeDocument/2006/relationships/slide" Target="slides/slide53.xml"/><Relationship Id="rId75" Type="http://schemas.openxmlformats.org/officeDocument/2006/relationships/slide" Target="slides/slide74.xml"/><Relationship Id="rId96" Type="http://schemas.openxmlformats.org/officeDocument/2006/relationships/slide" Target="slides/slide95.xml"/><Relationship Id="rId140" Type="http://schemas.openxmlformats.org/officeDocument/2006/relationships/slide" Target="slides/slide139.xml"/><Relationship Id="rId161" Type="http://schemas.openxmlformats.org/officeDocument/2006/relationships/slide" Target="slides/slide160.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slide" Target="slides/slide129.xml"/><Relationship Id="rId135" Type="http://schemas.openxmlformats.org/officeDocument/2006/relationships/slide" Target="slides/slide134.xml"/><Relationship Id="rId151" Type="http://schemas.openxmlformats.org/officeDocument/2006/relationships/slide" Target="slides/slide150.xml"/><Relationship Id="rId156" Type="http://schemas.openxmlformats.org/officeDocument/2006/relationships/slide" Target="slides/slide155.xml"/><Relationship Id="rId172" Type="http://schemas.openxmlformats.org/officeDocument/2006/relationships/viewProps" Target="viewProp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141" Type="http://schemas.openxmlformats.org/officeDocument/2006/relationships/slide" Target="slides/slide140.xml"/><Relationship Id="rId146" Type="http://schemas.openxmlformats.org/officeDocument/2006/relationships/slide" Target="slides/slide145.xml"/><Relationship Id="rId167" Type="http://schemas.openxmlformats.org/officeDocument/2006/relationships/slide" Target="slides/slide166.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162" Type="http://schemas.openxmlformats.org/officeDocument/2006/relationships/slide" Target="slides/slide16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slide" Target="slides/slide130.xml"/><Relationship Id="rId136" Type="http://schemas.openxmlformats.org/officeDocument/2006/relationships/slide" Target="slides/slide135.xml"/><Relationship Id="rId157" Type="http://schemas.openxmlformats.org/officeDocument/2006/relationships/slide" Target="slides/slide156.xml"/><Relationship Id="rId61" Type="http://schemas.openxmlformats.org/officeDocument/2006/relationships/slide" Target="slides/slide60.xml"/><Relationship Id="rId82" Type="http://schemas.openxmlformats.org/officeDocument/2006/relationships/slide" Target="slides/slide81.xml"/><Relationship Id="rId152" Type="http://schemas.openxmlformats.org/officeDocument/2006/relationships/slide" Target="slides/slide151.xml"/><Relationship Id="rId173" Type="http://schemas.openxmlformats.org/officeDocument/2006/relationships/theme" Target="theme/theme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147" Type="http://schemas.openxmlformats.org/officeDocument/2006/relationships/slide" Target="slides/slide146.xml"/><Relationship Id="rId168" Type="http://schemas.openxmlformats.org/officeDocument/2006/relationships/slide" Target="slides/slide167.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142" Type="http://schemas.openxmlformats.org/officeDocument/2006/relationships/slide" Target="slides/slide141.xml"/><Relationship Id="rId163" Type="http://schemas.openxmlformats.org/officeDocument/2006/relationships/slide" Target="slides/slide162.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137" Type="http://schemas.openxmlformats.org/officeDocument/2006/relationships/slide" Target="slides/slide136.xml"/><Relationship Id="rId158" Type="http://schemas.openxmlformats.org/officeDocument/2006/relationships/slide" Target="slides/slide157.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slide" Target="slides/slide131.xml"/><Relationship Id="rId153" Type="http://schemas.openxmlformats.org/officeDocument/2006/relationships/slide" Target="slides/slide152.xml"/><Relationship Id="rId174" Type="http://schemas.openxmlformats.org/officeDocument/2006/relationships/tableStyles" Target="tableStyles.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143" Type="http://schemas.openxmlformats.org/officeDocument/2006/relationships/slide" Target="slides/slide142.xml"/><Relationship Id="rId148" Type="http://schemas.openxmlformats.org/officeDocument/2006/relationships/slide" Target="slides/slide147.xml"/><Relationship Id="rId164" Type="http://schemas.openxmlformats.org/officeDocument/2006/relationships/slide" Target="slides/slide163.xml"/><Relationship Id="rId169" Type="http://schemas.openxmlformats.org/officeDocument/2006/relationships/notesMaster" Target="notesMasters/notesMaster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slide" Target="slides/slide132.xml"/><Relationship Id="rId154" Type="http://schemas.openxmlformats.org/officeDocument/2006/relationships/slide" Target="slides/slide153.xml"/><Relationship Id="rId16" Type="http://schemas.openxmlformats.org/officeDocument/2006/relationships/slide" Target="slides/slide15.xml"/><Relationship Id="rId37" Type="http://schemas.openxmlformats.org/officeDocument/2006/relationships/slide" Target="slides/slide36.xml"/><Relationship Id="rId58" Type="http://schemas.openxmlformats.org/officeDocument/2006/relationships/slide" Target="slides/slide57.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44" Type="http://schemas.openxmlformats.org/officeDocument/2006/relationships/slide" Target="slides/slide143.xml"/><Relationship Id="rId90" Type="http://schemas.openxmlformats.org/officeDocument/2006/relationships/slide" Target="slides/slide89.xml"/><Relationship Id="rId165" Type="http://schemas.openxmlformats.org/officeDocument/2006/relationships/slide" Target="slides/slide164.xml"/><Relationship Id="rId27" Type="http://schemas.openxmlformats.org/officeDocument/2006/relationships/slide" Target="slides/slide26.xml"/><Relationship Id="rId48" Type="http://schemas.openxmlformats.org/officeDocument/2006/relationships/slide" Target="slides/slide47.xml"/><Relationship Id="rId69" Type="http://schemas.openxmlformats.org/officeDocument/2006/relationships/slide" Target="slides/slide68.xml"/><Relationship Id="rId113" Type="http://schemas.openxmlformats.org/officeDocument/2006/relationships/slide" Target="slides/slide112.xml"/><Relationship Id="rId134" Type="http://schemas.openxmlformats.org/officeDocument/2006/relationships/slide" Target="slides/slide133.xml"/><Relationship Id="rId80" Type="http://schemas.openxmlformats.org/officeDocument/2006/relationships/slide" Target="slides/slide79.xml"/><Relationship Id="rId155" Type="http://schemas.openxmlformats.org/officeDocument/2006/relationships/slide" Target="slides/slide154.xml"/><Relationship Id="rId17" Type="http://schemas.openxmlformats.org/officeDocument/2006/relationships/slide" Target="slides/slide16.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24" Type="http://schemas.openxmlformats.org/officeDocument/2006/relationships/slide" Target="slides/slide123.xml"/><Relationship Id="rId70" Type="http://schemas.openxmlformats.org/officeDocument/2006/relationships/slide" Target="slides/slide69.xml"/><Relationship Id="rId91" Type="http://schemas.openxmlformats.org/officeDocument/2006/relationships/slide" Target="slides/slide90.xml"/><Relationship Id="rId145" Type="http://schemas.openxmlformats.org/officeDocument/2006/relationships/slide" Target="slides/slide144.xml"/><Relationship Id="rId166" Type="http://schemas.openxmlformats.org/officeDocument/2006/relationships/slide" Target="slides/slide165.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7650"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b="0">
                <a:effectLst/>
              </a:defRPr>
            </a:lvl1pPr>
          </a:lstStyle>
          <a:p>
            <a:pPr>
              <a:defRPr/>
            </a:pPr>
            <a:endParaRPr lang="en-US" altLang="zh-CN"/>
          </a:p>
        </p:txBody>
      </p:sp>
      <p:sp>
        <p:nvSpPr>
          <p:cNvPr id="27651" name="Rectangle 3"/>
          <p:cNvSpPr>
            <a:spLocks noGrp="1" noChangeArrowheads="1"/>
          </p:cNvSpPr>
          <p:nvPr>
            <p:ph type="dt" sz="quarter" idx="1"/>
          </p:nvPr>
        </p:nvSpPr>
        <p:spPr bwMode="auto">
          <a:xfrm>
            <a:off x="4021294"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b="0">
                <a:effectLst/>
              </a:defRPr>
            </a:lvl1pPr>
          </a:lstStyle>
          <a:p>
            <a:pPr>
              <a:defRPr/>
            </a:pPr>
            <a:endParaRPr lang="en-US" altLang="zh-CN"/>
          </a:p>
        </p:txBody>
      </p:sp>
      <p:sp>
        <p:nvSpPr>
          <p:cNvPr id="27652" name="Rectangle 4"/>
          <p:cNvSpPr>
            <a:spLocks noGrp="1" noChangeArrowheads="1"/>
          </p:cNvSpPr>
          <p:nvPr>
            <p:ph type="ftr" sz="quarter" idx="2"/>
          </p:nvPr>
        </p:nvSpPr>
        <p:spPr bwMode="auto">
          <a:xfrm>
            <a:off x="0"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b="0">
                <a:effectLst/>
              </a:defRPr>
            </a:lvl1pPr>
          </a:lstStyle>
          <a:p>
            <a:pPr>
              <a:defRPr/>
            </a:pPr>
            <a:endParaRPr lang="en-US" altLang="zh-CN"/>
          </a:p>
        </p:txBody>
      </p:sp>
      <p:sp>
        <p:nvSpPr>
          <p:cNvPr id="27653" name="Rectangle 5"/>
          <p:cNvSpPr>
            <a:spLocks noGrp="1" noChangeArrowheads="1"/>
          </p:cNvSpPr>
          <p:nvPr>
            <p:ph type="sldNum" sz="quarter" idx="3"/>
          </p:nvPr>
        </p:nvSpPr>
        <p:spPr bwMode="auto">
          <a:xfrm>
            <a:off x="4021294"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b="0">
                <a:effectLst/>
              </a:defRPr>
            </a:lvl1pPr>
          </a:lstStyle>
          <a:p>
            <a:pPr>
              <a:defRPr/>
            </a:pPr>
            <a:fld id="{0745331D-52D5-475F-88B7-D95CAD9E3FBC}" type="slidenum">
              <a:rPr lang="en-US" altLang="zh-CN"/>
              <a:pPr>
                <a:defRPr/>
              </a:pPr>
              <a:t>‹#›</a:t>
            </a:fld>
            <a:endParaRPr lang="en-US" altLang="zh-CN"/>
          </a:p>
        </p:txBody>
      </p:sp>
    </p:spTree>
    <p:extLst>
      <p:ext uri="{BB962C8B-B14F-4D97-AF65-F5344CB8AC3E}">
        <p14:creationId xmlns:p14="http://schemas.microsoft.com/office/powerpoint/2010/main" val="417706864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10946" name="Rectangle 2"/>
          <p:cNvSpPr>
            <a:spLocks noGrp="1" noChangeArrowheads="1"/>
          </p:cNvSpPr>
          <p:nvPr>
            <p:ph type="hdr" sz="quarter"/>
          </p:nvPr>
        </p:nvSpPr>
        <p:spPr bwMode="auto">
          <a:xfrm>
            <a:off x="0"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defRPr sz="1300" b="0">
                <a:effectLst/>
              </a:defRPr>
            </a:lvl1pPr>
          </a:lstStyle>
          <a:p>
            <a:pPr>
              <a:defRPr/>
            </a:pPr>
            <a:endParaRPr lang="en-US" altLang="zh-CN"/>
          </a:p>
        </p:txBody>
      </p:sp>
      <p:sp>
        <p:nvSpPr>
          <p:cNvPr id="210947" name="Rectangle 3"/>
          <p:cNvSpPr>
            <a:spLocks noGrp="1" noChangeArrowheads="1"/>
          </p:cNvSpPr>
          <p:nvPr>
            <p:ph type="dt" idx="1"/>
          </p:nvPr>
        </p:nvSpPr>
        <p:spPr bwMode="auto">
          <a:xfrm>
            <a:off x="4021294" y="0"/>
            <a:ext cx="3076363" cy="511731"/>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lvl1pPr algn="r">
              <a:defRPr sz="1300" b="0">
                <a:effectLst/>
              </a:defRPr>
            </a:lvl1pPr>
          </a:lstStyle>
          <a:p>
            <a:pPr>
              <a:defRPr/>
            </a:pPr>
            <a:endParaRPr lang="en-US" altLang="zh-CN"/>
          </a:p>
        </p:txBody>
      </p:sp>
      <p:sp>
        <p:nvSpPr>
          <p:cNvPr id="155652" name="Rectangle 4"/>
          <p:cNvSpPr>
            <a:spLocks noGrp="1" noRot="1" noChangeAspect="1" noChangeArrowheads="1" noTextEdit="1"/>
          </p:cNvSpPr>
          <p:nvPr>
            <p:ph type="sldImg" idx="2"/>
          </p:nvPr>
        </p:nvSpPr>
        <p:spPr bwMode="auto">
          <a:xfrm>
            <a:off x="992188" y="768350"/>
            <a:ext cx="5114925" cy="3836988"/>
          </a:xfrm>
          <a:prstGeom prst="rect">
            <a:avLst/>
          </a:prstGeom>
          <a:noFill/>
          <a:ln w="9525">
            <a:solidFill>
              <a:srgbClr val="000000"/>
            </a:solidFill>
            <a:miter lim="800000"/>
            <a:headEnd/>
            <a:tailEnd/>
          </a:ln>
        </p:spPr>
      </p:sp>
      <p:sp>
        <p:nvSpPr>
          <p:cNvPr id="210949" name="Rectangle 5"/>
          <p:cNvSpPr>
            <a:spLocks noGrp="1" noChangeArrowheads="1"/>
          </p:cNvSpPr>
          <p:nvPr>
            <p:ph type="body" sz="quarter" idx="3"/>
          </p:nvPr>
        </p:nvSpPr>
        <p:spPr bwMode="auto">
          <a:xfrm>
            <a:off x="709930" y="4861441"/>
            <a:ext cx="5679440" cy="4605576"/>
          </a:xfrm>
          <a:prstGeom prst="rect">
            <a:avLst/>
          </a:prstGeom>
          <a:noFill/>
          <a:ln w="9525">
            <a:noFill/>
            <a:miter lim="800000"/>
            <a:headEnd/>
            <a:tailEnd/>
          </a:ln>
          <a:effectLst/>
        </p:spPr>
        <p:txBody>
          <a:bodyPr vert="horz" wrap="square" lIns="99048" tIns="49524" rIns="99048" bIns="49524" numCol="1" anchor="t" anchorCtr="0" compatLnSpc="1">
            <a:prstTxWarp prst="textNoShape">
              <a:avLst/>
            </a:prstTxWarp>
          </a:bodyPr>
          <a:lstStyle/>
          <a:p>
            <a:pPr lvl="0"/>
            <a:r>
              <a:rPr lang="zh-CN" altLang="en-US" noProof="0"/>
              <a:t>单击此处编辑母版文本样式</a:t>
            </a:r>
          </a:p>
          <a:p>
            <a:pPr lvl="1"/>
            <a:r>
              <a:rPr lang="zh-CN" altLang="en-US" noProof="0"/>
              <a:t>第二级</a:t>
            </a:r>
          </a:p>
          <a:p>
            <a:pPr lvl="2"/>
            <a:r>
              <a:rPr lang="zh-CN" altLang="en-US" noProof="0"/>
              <a:t>第三级</a:t>
            </a:r>
          </a:p>
          <a:p>
            <a:pPr lvl="3"/>
            <a:r>
              <a:rPr lang="zh-CN" altLang="en-US" noProof="0"/>
              <a:t>第四级</a:t>
            </a:r>
          </a:p>
          <a:p>
            <a:pPr lvl="4"/>
            <a:r>
              <a:rPr lang="zh-CN" altLang="en-US" noProof="0"/>
              <a:t>第五级</a:t>
            </a:r>
          </a:p>
        </p:txBody>
      </p:sp>
      <p:sp>
        <p:nvSpPr>
          <p:cNvPr id="210950" name="Rectangle 6"/>
          <p:cNvSpPr>
            <a:spLocks noGrp="1" noChangeArrowheads="1"/>
          </p:cNvSpPr>
          <p:nvPr>
            <p:ph type="ftr" sz="quarter" idx="4"/>
          </p:nvPr>
        </p:nvSpPr>
        <p:spPr bwMode="auto">
          <a:xfrm>
            <a:off x="0"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defRPr sz="1300" b="0">
                <a:effectLst/>
              </a:defRPr>
            </a:lvl1pPr>
          </a:lstStyle>
          <a:p>
            <a:pPr>
              <a:defRPr/>
            </a:pPr>
            <a:endParaRPr lang="en-US" altLang="zh-CN"/>
          </a:p>
        </p:txBody>
      </p:sp>
      <p:sp>
        <p:nvSpPr>
          <p:cNvPr id="210951" name="Rectangle 7"/>
          <p:cNvSpPr>
            <a:spLocks noGrp="1" noChangeArrowheads="1"/>
          </p:cNvSpPr>
          <p:nvPr>
            <p:ph type="sldNum" sz="quarter" idx="5"/>
          </p:nvPr>
        </p:nvSpPr>
        <p:spPr bwMode="auto">
          <a:xfrm>
            <a:off x="4021294" y="9721106"/>
            <a:ext cx="3076363" cy="511731"/>
          </a:xfrm>
          <a:prstGeom prst="rect">
            <a:avLst/>
          </a:prstGeom>
          <a:noFill/>
          <a:ln w="9525">
            <a:noFill/>
            <a:miter lim="800000"/>
            <a:headEnd/>
            <a:tailEnd/>
          </a:ln>
          <a:effectLst/>
        </p:spPr>
        <p:txBody>
          <a:bodyPr vert="horz" wrap="square" lIns="99048" tIns="49524" rIns="99048" bIns="49524" numCol="1" anchor="b" anchorCtr="0" compatLnSpc="1">
            <a:prstTxWarp prst="textNoShape">
              <a:avLst/>
            </a:prstTxWarp>
          </a:bodyPr>
          <a:lstStyle>
            <a:lvl1pPr algn="r">
              <a:defRPr sz="1300" b="0">
                <a:effectLst/>
              </a:defRPr>
            </a:lvl1pPr>
          </a:lstStyle>
          <a:p>
            <a:pPr>
              <a:defRPr/>
            </a:pPr>
            <a:fld id="{11CB0440-E1CB-4F07-AE1C-D77F5C75DFF7}" type="slidenum">
              <a:rPr lang="en-US" altLang="zh-CN"/>
              <a:pPr>
                <a:defRPr/>
              </a:pPr>
              <a:t>‹#›</a:t>
            </a:fld>
            <a:endParaRPr lang="en-US" altLang="zh-CN"/>
          </a:p>
        </p:txBody>
      </p:sp>
    </p:spTree>
    <p:extLst>
      <p:ext uri="{BB962C8B-B14F-4D97-AF65-F5344CB8AC3E}">
        <p14:creationId xmlns:p14="http://schemas.microsoft.com/office/powerpoint/2010/main" val="3359797020"/>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1pPr>
    <a:lvl2pPr marL="4572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2pPr>
    <a:lvl3pPr marL="9144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3pPr>
    <a:lvl4pPr marL="13716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4pPr>
    <a:lvl5pPr marL="1828800" algn="l" rtl="0" eaLnBrk="0" fontAlgn="base" hangingPunct="0">
      <a:spcBef>
        <a:spcPct val="30000"/>
      </a:spcBef>
      <a:spcAft>
        <a:spcPct val="0"/>
      </a:spcAft>
      <a:defRPr kumimoji="1" sz="1200" kern="1200">
        <a:solidFill>
          <a:schemeClr val="tx1"/>
        </a:solidFill>
        <a:latin typeface="Times New Roman" pitchFamily="18" charset="0"/>
        <a:ea typeface="宋体" pitchFamily="2" charset="-122"/>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6674" name="Rectangle 7"/>
          <p:cNvSpPr>
            <a:spLocks noGrp="1" noChangeArrowheads="1"/>
          </p:cNvSpPr>
          <p:nvPr>
            <p:ph type="sldNum" sz="quarter" idx="5"/>
          </p:nvPr>
        </p:nvSpPr>
        <p:spPr>
          <a:noFill/>
        </p:spPr>
        <p:txBody>
          <a:bodyPr/>
          <a:lstStyle/>
          <a:p>
            <a:fld id="{07949640-D09A-4251-B159-16705444400A}" type="slidenum">
              <a:rPr lang="en-US" altLang="zh-CN" smtClean="0"/>
              <a:pPr/>
              <a:t>27</a:t>
            </a:fld>
            <a:endParaRPr lang="en-US" altLang="zh-CN"/>
          </a:p>
        </p:txBody>
      </p:sp>
      <p:sp>
        <p:nvSpPr>
          <p:cNvPr id="156675" name="Rectangle 2"/>
          <p:cNvSpPr>
            <a:spLocks noGrp="1" noRot="1" noChangeAspect="1" noChangeArrowheads="1" noTextEdit="1"/>
          </p:cNvSpPr>
          <p:nvPr>
            <p:ph type="sldImg"/>
          </p:nvPr>
        </p:nvSpPr>
        <p:spPr>
          <a:ln/>
        </p:spPr>
      </p:sp>
      <p:sp>
        <p:nvSpPr>
          <p:cNvPr id="156676" name="Rectangle 3"/>
          <p:cNvSpPr>
            <a:spLocks noGrp="1" noChangeArrowheads="1"/>
          </p:cNvSpPr>
          <p:nvPr>
            <p:ph type="body" idx="1"/>
          </p:nvPr>
        </p:nvSpPr>
        <p:spPr>
          <a:noFill/>
          <a:ln/>
        </p:spPr>
        <p:txBody>
          <a:bodyPr/>
          <a:lstStyle/>
          <a:p>
            <a:pPr eaLnBrk="1" hangingPunct="1"/>
            <a:r>
              <a:rPr lang="zh-CN" altLang="en-US" dirty="0"/>
              <a:t>（</a:t>
            </a:r>
            <a:r>
              <a:rPr lang="en-US" altLang="zh-CN" dirty="0"/>
              <a:t>1</a:t>
            </a:r>
            <a:r>
              <a:rPr lang="zh-CN" altLang="en-US" dirty="0"/>
              <a:t>）有复数根</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dirty="0"/>
              <a:t>线性连续系统的动态特性主要用传递函数来描述，在线性离散控制系统中，主要用脉冲传递函数来描述。</a:t>
            </a:r>
          </a:p>
        </p:txBody>
      </p:sp>
      <p:sp>
        <p:nvSpPr>
          <p:cNvPr id="4" name="灯片编号占位符 3"/>
          <p:cNvSpPr>
            <a:spLocks noGrp="1"/>
          </p:cNvSpPr>
          <p:nvPr>
            <p:ph type="sldNum" sz="quarter" idx="5"/>
          </p:nvPr>
        </p:nvSpPr>
        <p:spPr/>
        <p:txBody>
          <a:bodyPr/>
          <a:lstStyle/>
          <a:p>
            <a:pPr>
              <a:defRPr/>
            </a:pPr>
            <a:fld id="{11CB0440-E1CB-4F07-AE1C-D77F5C75DFF7}" type="slidenum">
              <a:rPr lang="en-US" altLang="zh-CN" smtClean="0"/>
              <a:pPr>
                <a:defRPr/>
              </a:pPr>
              <a:t>28</a:t>
            </a:fld>
            <a:endParaRPr lang="en-US" altLang="zh-CN"/>
          </a:p>
        </p:txBody>
      </p:sp>
    </p:spTree>
    <p:extLst>
      <p:ext uri="{BB962C8B-B14F-4D97-AF65-F5344CB8AC3E}">
        <p14:creationId xmlns:p14="http://schemas.microsoft.com/office/powerpoint/2010/main" val="1341990056"/>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11CB0440-E1CB-4F07-AE1C-D77F5C75DFF7}" type="slidenum">
              <a:rPr lang="en-US" altLang="zh-CN" smtClean="0"/>
              <a:pPr>
                <a:defRPr/>
              </a:pPr>
              <a:t>38</a:t>
            </a:fld>
            <a:endParaRPr lang="en-US" altLang="zh-CN"/>
          </a:p>
        </p:txBody>
      </p:sp>
    </p:spTree>
    <p:extLst>
      <p:ext uri="{BB962C8B-B14F-4D97-AF65-F5344CB8AC3E}">
        <p14:creationId xmlns:p14="http://schemas.microsoft.com/office/powerpoint/2010/main" val="144911310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nvPr>
        </p:nvSpPr>
        <p:spPr>
          <a:xfrm>
            <a:off x="685800" y="2130425"/>
            <a:ext cx="7772400" cy="1470025"/>
          </a:xfrm>
        </p:spPr>
        <p:txBody>
          <a:bodyPr/>
          <a:lstStyle/>
          <a:p>
            <a:r>
              <a:rPr lang="zh-CN" altLang="en-US"/>
              <a:t>单击此处编辑母版标题样式</a:t>
            </a:r>
          </a:p>
        </p:txBody>
      </p:sp>
      <p:sp>
        <p:nvSpPr>
          <p:cNvPr id="3" name="副标题 2"/>
          <p:cNvSpPr>
            <a:spLocks noGrp="1"/>
          </p:cNvSpPr>
          <p:nvPr>
            <p:ph type="subTitle" idx="1"/>
          </p:nvPr>
        </p:nvSpPr>
        <p:spPr>
          <a:xfrm>
            <a:off x="1371600" y="3886200"/>
            <a:ext cx="6400800" cy="1752600"/>
          </a:xfrm>
        </p:spPr>
        <p:txBody>
          <a:bodyPr/>
          <a:lstStyle>
            <a:lvl1pPr marL="0" indent="0" algn="ctr">
              <a:buNone/>
              <a:defRPr/>
            </a:lvl1pPr>
            <a:lvl2pPr marL="457200" indent="0" algn="ctr">
              <a:buNone/>
              <a:defRPr/>
            </a:lvl2pPr>
            <a:lvl3pPr marL="914400" indent="0" algn="ctr">
              <a:buNone/>
              <a:defRPr/>
            </a:lvl3pPr>
            <a:lvl4pPr marL="1371600" indent="0" algn="ctr">
              <a:buNone/>
              <a:defRPr/>
            </a:lvl4pPr>
            <a:lvl5pPr marL="1828800" indent="0" algn="ctr">
              <a:buNone/>
              <a:defRPr/>
            </a:lvl5pPr>
            <a:lvl6pPr marL="2286000" indent="0" algn="ctr">
              <a:buNone/>
              <a:defRPr/>
            </a:lvl6pPr>
            <a:lvl7pPr marL="2743200" indent="0" algn="ctr">
              <a:buNone/>
              <a:defRPr/>
            </a:lvl7pPr>
            <a:lvl8pPr marL="3200400" indent="0" algn="ctr">
              <a:buNone/>
              <a:defRPr/>
            </a:lvl8pPr>
            <a:lvl9pPr marL="3657600" indent="0" algn="ctr">
              <a:buNone/>
              <a:defRPr/>
            </a:lvl9pPr>
          </a:lstStyle>
          <a:p>
            <a:r>
              <a:rPr lang="zh-CN" altLang="en-US"/>
              <a:t>单击此处编辑母版副标题样式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01A8ECBB-B291-440A-A8AE-37973C77E993}" type="slidenum">
              <a:rPr lang="en-US" altLang="zh-CN"/>
              <a:pPr>
                <a:defRPr/>
              </a:pPr>
              <a:t>‹#›</a:t>
            </a:fld>
            <a:endParaRPr lang="en-US" altLang="zh-C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idx="1"/>
          </p:nvPr>
        </p:nvSpPr>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DD8BBC78-8BA9-4AF5-B575-D22839C0F950}" type="slidenum">
              <a:rPr lang="en-US" altLang="zh-CN"/>
              <a:pPr>
                <a:defRPr/>
              </a:pPr>
              <a:t>‹#›</a:t>
            </a:fld>
            <a:endParaRPr lang="en-US" altLang="zh-CN"/>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722313" y="4406900"/>
            <a:ext cx="7772400" cy="1362075"/>
          </a:xfr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722313" y="2906713"/>
            <a:ext cx="7772400" cy="1500187"/>
          </a:xfr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1088C73A-1D6C-4E78-8507-1C7395623ED2}" type="slidenum">
              <a:rPr lang="en-US" altLang="zh-CN"/>
              <a:pPr>
                <a:defRPr/>
              </a:pPr>
              <a:t>‹#›</a:t>
            </a:fld>
            <a:endParaRPr lang="en-US" altLang="zh-CN"/>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内容占位符 2"/>
          <p:cNvSpPr>
            <a:spLocks noGrp="1"/>
          </p:cNvSpPr>
          <p:nvPr>
            <p:ph sz="half" idx="1"/>
          </p:nvPr>
        </p:nvSpPr>
        <p:spPr>
          <a:xfrm>
            <a:off x="6858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4648200" y="1981200"/>
            <a:ext cx="3810000" cy="4114800"/>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AC90B239-6198-47E5-BD91-C820BB1BF851}" type="slidenum">
              <a:rPr lang="en-US" altLang="zh-CN"/>
              <a:pPr>
                <a:defRPr/>
              </a:pPr>
              <a:t>‹#›</a:t>
            </a:fld>
            <a:endParaRPr lang="en-US" altLang="zh-CN"/>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457200" y="274638"/>
            <a:ext cx="8229600" cy="1143000"/>
          </a:xfr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7"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8"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9" name="Rectangle 6"/>
          <p:cNvSpPr>
            <a:spLocks noGrp="1" noChangeArrowheads="1"/>
          </p:cNvSpPr>
          <p:nvPr>
            <p:ph type="sldNum" sz="quarter" idx="12"/>
          </p:nvPr>
        </p:nvSpPr>
        <p:spPr>
          <a:ln/>
        </p:spPr>
        <p:txBody>
          <a:bodyPr/>
          <a:lstStyle>
            <a:lvl1pPr>
              <a:defRPr/>
            </a:lvl1pPr>
          </a:lstStyle>
          <a:p>
            <a:pPr>
              <a:defRPr/>
            </a:pPr>
            <a:fld id="{4CBB05D8-8FF8-40C9-BD20-807C48B543F6}" type="slidenum">
              <a:rPr lang="en-US" altLang="zh-CN"/>
              <a:pPr>
                <a:defRPr/>
              </a:pPr>
              <a:t>‹#›</a:t>
            </a:fld>
            <a:endParaRPr lang="en-US" altLang="zh-CN"/>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4"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5" name="Rectangle 6"/>
          <p:cNvSpPr>
            <a:spLocks noGrp="1" noChangeArrowheads="1"/>
          </p:cNvSpPr>
          <p:nvPr>
            <p:ph type="sldNum" sz="quarter" idx="12"/>
          </p:nvPr>
        </p:nvSpPr>
        <p:spPr>
          <a:ln/>
        </p:spPr>
        <p:txBody>
          <a:bodyPr/>
          <a:lstStyle>
            <a:lvl1pPr>
              <a:defRPr/>
            </a:lvl1pPr>
          </a:lstStyle>
          <a:p>
            <a:pPr>
              <a:defRPr/>
            </a:pPr>
            <a:fld id="{E9BC417B-BB90-4AC1-A1FE-78BA63B89EA1}" type="slidenum">
              <a:rPr lang="en-US" altLang="zh-CN"/>
              <a:pPr>
                <a:defRPr/>
              </a:pPr>
              <a:t>‹#›</a:t>
            </a:fld>
            <a:endParaRPr lang="en-US" altLang="zh-CN"/>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3"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4" name="Rectangle 6"/>
          <p:cNvSpPr>
            <a:spLocks noGrp="1" noChangeArrowheads="1"/>
          </p:cNvSpPr>
          <p:nvPr>
            <p:ph type="sldNum" sz="quarter" idx="12"/>
          </p:nvPr>
        </p:nvSpPr>
        <p:spPr>
          <a:ln/>
        </p:spPr>
        <p:txBody>
          <a:bodyPr/>
          <a:lstStyle>
            <a:lvl1pPr>
              <a:defRPr/>
            </a:lvl1pPr>
          </a:lstStyle>
          <a:p>
            <a:pPr>
              <a:defRPr/>
            </a:pPr>
            <a:fld id="{2F713C1A-FCD3-4F9B-A0A9-375F0082AA02}" type="slidenum">
              <a:rPr lang="en-US" altLang="zh-CN"/>
              <a:pPr>
                <a:defRPr/>
              </a:pPr>
              <a:t>‹#›</a:t>
            </a:fld>
            <a:endParaRPr lang="en-US" altLang="zh-CN"/>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457200" y="273050"/>
            <a:ext cx="3008313" cy="1162050"/>
          </a:xfr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32298236-3D58-410B-BC8F-CDFC19A68357}" type="slidenum">
              <a:rPr lang="en-US" altLang="zh-CN"/>
              <a:pPr>
                <a:defRPr/>
              </a:pPr>
              <a:t>‹#›</a:t>
            </a:fld>
            <a:endParaRPr lang="en-US" altLang="zh-CN"/>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1792288" y="4800600"/>
            <a:ext cx="5486400" cy="566738"/>
          </a:xfr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
        <p:nvSpPr>
          <p:cNvPr id="5"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6"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7" name="Rectangle 6"/>
          <p:cNvSpPr>
            <a:spLocks noGrp="1" noChangeArrowheads="1"/>
          </p:cNvSpPr>
          <p:nvPr>
            <p:ph type="sldNum" sz="quarter" idx="12"/>
          </p:nvPr>
        </p:nvSpPr>
        <p:spPr>
          <a:ln/>
        </p:spPr>
        <p:txBody>
          <a:bodyPr/>
          <a:lstStyle>
            <a:lvl1pPr>
              <a:defRPr/>
            </a:lvl1pPr>
          </a:lstStyle>
          <a:p>
            <a:pPr>
              <a:defRPr/>
            </a:pPr>
            <a:fld id="{17F37494-3A79-472F-A9F2-94DAEB9DB0B8}" type="slidenum">
              <a:rPr lang="en-US" altLang="zh-CN"/>
              <a:pPr>
                <a:defRPr/>
              </a:pPr>
              <a:t>‹#›</a:t>
            </a:fld>
            <a:endParaRPr lang="en-US" altLang="zh-CN"/>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p:txBody>
          <a:bodyPr/>
          <a:lstStyle/>
          <a:p>
            <a:r>
              <a:rPr lang="zh-CN" altLang="en-US"/>
              <a:t>单击此处编辑母版标题样式</a:t>
            </a:r>
          </a:p>
        </p:txBody>
      </p:sp>
      <p:sp>
        <p:nvSpPr>
          <p:cNvPr id="3" name="竖排文字占位符 2"/>
          <p:cNvSpPr>
            <a:spLocks noGrp="1"/>
          </p:cNvSpPr>
          <p:nvPr>
            <p:ph type="body" orient="vert" idx="1"/>
          </p:nvPr>
        </p:nvSpPr>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8C4F62ED-71F0-418F-90D0-8B2940754E65}" type="slidenum">
              <a:rPr lang="en-US" altLang="zh-CN"/>
              <a:pPr>
                <a:defRPr/>
              </a:pPr>
              <a:t>‹#›</a:t>
            </a:fld>
            <a:endParaRPr lang="en-US" altLang="zh-CN"/>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6515100" y="609600"/>
            <a:ext cx="1943100" cy="5486400"/>
          </a:xfr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85800" y="609600"/>
            <a:ext cx="5676900" cy="5486400"/>
          </a:xfr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Rectangle 4"/>
          <p:cNvSpPr>
            <a:spLocks noGrp="1" noChangeArrowheads="1"/>
          </p:cNvSpPr>
          <p:nvPr>
            <p:ph type="dt" sz="half" idx="10"/>
          </p:nvPr>
        </p:nvSpPr>
        <p:spPr>
          <a:ln/>
        </p:spPr>
        <p:txBody>
          <a:bodyPr/>
          <a:lstStyle>
            <a:lvl1pPr>
              <a:defRPr/>
            </a:lvl1pPr>
          </a:lstStyle>
          <a:p>
            <a:pPr>
              <a:defRPr/>
            </a:pPr>
            <a:endParaRPr lang="en-US" altLang="zh-CN"/>
          </a:p>
        </p:txBody>
      </p:sp>
      <p:sp>
        <p:nvSpPr>
          <p:cNvPr id="5" name="Rectangle 5"/>
          <p:cNvSpPr>
            <a:spLocks noGrp="1" noChangeArrowheads="1"/>
          </p:cNvSpPr>
          <p:nvPr>
            <p:ph type="ftr" sz="quarter" idx="11"/>
          </p:nvPr>
        </p:nvSpPr>
        <p:spPr>
          <a:ln/>
        </p:spPr>
        <p:txBody>
          <a:bodyPr/>
          <a:lstStyle>
            <a:lvl1pPr>
              <a:defRPr/>
            </a:lvl1pPr>
          </a:lstStyle>
          <a:p>
            <a:pPr>
              <a:defRPr/>
            </a:pPr>
            <a:endParaRPr lang="en-US" altLang="zh-CN"/>
          </a:p>
        </p:txBody>
      </p:sp>
      <p:sp>
        <p:nvSpPr>
          <p:cNvPr id="6" name="Rectangle 6"/>
          <p:cNvSpPr>
            <a:spLocks noGrp="1" noChangeArrowheads="1"/>
          </p:cNvSpPr>
          <p:nvPr>
            <p:ph type="sldNum" sz="quarter" idx="12"/>
          </p:nvPr>
        </p:nvSpPr>
        <p:spPr>
          <a:ln/>
        </p:spPr>
        <p:txBody>
          <a:bodyPr/>
          <a:lstStyle>
            <a:lvl1pPr>
              <a:defRPr/>
            </a:lvl1pPr>
          </a:lstStyle>
          <a:p>
            <a:pPr>
              <a:defRPr/>
            </a:pPr>
            <a:fld id="{2BD332D1-09B7-4BF8-AA6B-831503867EC4}" type="slidenum">
              <a:rPr lang="en-US" altLang="zh-CN"/>
              <a:pPr>
                <a:defRPr/>
              </a:pPr>
              <a:t>‹#›</a:t>
            </a:fld>
            <a:endParaRPr lang="en-US" altLang="zh-CN"/>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e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7522" name="Rectangle 2"/>
          <p:cNvSpPr>
            <a:spLocks noGrp="1" noChangeArrowheads="1"/>
          </p:cNvSpPr>
          <p:nvPr>
            <p:ph type="title"/>
          </p:nvPr>
        </p:nvSpPr>
        <p:spPr bwMode="auto">
          <a:xfrm>
            <a:off x="685800" y="609600"/>
            <a:ext cx="7772400" cy="1143000"/>
          </a:xfrm>
          <a:prstGeom prst="rect">
            <a:avLst/>
          </a:prstGeom>
          <a:noFill/>
          <a:ln w="9525">
            <a:noFill/>
            <a:miter lim="800000"/>
            <a:headEnd/>
            <a:tailEnd/>
          </a:ln>
        </p:spPr>
        <p:txBody>
          <a:bodyPr vert="horz" wrap="square" lIns="91440" tIns="45720" rIns="91440" bIns="45720" numCol="1" anchor="ctr" anchorCtr="0" compatLnSpc="1">
            <a:prstTxWarp prst="textNoShape">
              <a:avLst/>
            </a:prstTxWarp>
          </a:bodyPr>
          <a:lstStyle/>
          <a:p>
            <a:pPr lvl="0"/>
            <a:r>
              <a:rPr lang="zh-CN" altLang="en-US"/>
              <a:t>单击此处编辑母版标题样式</a:t>
            </a:r>
          </a:p>
        </p:txBody>
      </p:sp>
      <p:sp>
        <p:nvSpPr>
          <p:cNvPr id="107523" name="Rectangle 3"/>
          <p:cNvSpPr>
            <a:spLocks noGrp="1" noChangeArrowheads="1"/>
          </p:cNvSpPr>
          <p:nvPr>
            <p:ph type="body" idx="1"/>
          </p:nvPr>
        </p:nvSpPr>
        <p:spPr bwMode="auto">
          <a:xfrm>
            <a:off x="685800" y="1981200"/>
            <a:ext cx="7772400" cy="4114800"/>
          </a:xfrm>
          <a:prstGeom prst="rect">
            <a:avLst/>
          </a:prstGeom>
          <a:noFill/>
          <a:ln w="9525">
            <a:noFill/>
            <a:miter lim="800000"/>
            <a:headEnd/>
            <a:tailEnd/>
          </a:ln>
        </p:spPr>
        <p:txBody>
          <a:bodyPr vert="horz" wrap="square" lIns="91440" tIns="45720" rIns="91440" bIns="45720" numCol="1" anchor="t" anchorCtr="0" compatLnSpc="1">
            <a:prstTxWarp prst="textNoShape">
              <a:avLst/>
            </a:prstTxWarp>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1028" name="Rectangle 4"/>
          <p:cNvSpPr>
            <a:spLocks noGrp="1" noChangeArrowheads="1"/>
          </p:cNvSpPr>
          <p:nvPr>
            <p:ph type="dt" sz="half" idx="2"/>
          </p:nvPr>
        </p:nvSpPr>
        <p:spPr bwMode="auto">
          <a:xfrm>
            <a:off x="6858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defRPr sz="1400" b="0">
                <a:effectLst/>
              </a:defRPr>
            </a:lvl1pPr>
          </a:lstStyle>
          <a:p>
            <a:pPr>
              <a:defRPr/>
            </a:pPr>
            <a:endParaRPr lang="en-US" altLang="zh-CN"/>
          </a:p>
        </p:txBody>
      </p:sp>
      <p:sp>
        <p:nvSpPr>
          <p:cNvPr id="1029" name="Rectangle 5"/>
          <p:cNvSpPr>
            <a:spLocks noGrp="1" noChangeArrowheads="1"/>
          </p:cNvSpPr>
          <p:nvPr>
            <p:ph type="ftr" sz="quarter" idx="3"/>
          </p:nvPr>
        </p:nvSpPr>
        <p:spPr bwMode="auto">
          <a:xfrm>
            <a:off x="3124200" y="6248400"/>
            <a:ext cx="28956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ctr">
              <a:defRPr sz="1400" b="0">
                <a:effectLst/>
              </a:defRPr>
            </a:lvl1pPr>
          </a:lstStyle>
          <a:p>
            <a:pPr>
              <a:defRPr/>
            </a:pPr>
            <a:endParaRPr lang="en-US" altLang="zh-CN"/>
          </a:p>
        </p:txBody>
      </p:sp>
      <p:sp>
        <p:nvSpPr>
          <p:cNvPr id="1030" name="Rectangle 6"/>
          <p:cNvSpPr>
            <a:spLocks noGrp="1" noChangeArrowheads="1"/>
          </p:cNvSpPr>
          <p:nvPr>
            <p:ph type="sldNum" sz="quarter" idx="4"/>
          </p:nvPr>
        </p:nvSpPr>
        <p:spPr bwMode="auto">
          <a:xfrm>
            <a:off x="6553200" y="6248400"/>
            <a:ext cx="1905000" cy="457200"/>
          </a:xfrm>
          <a:prstGeom prst="rect">
            <a:avLst/>
          </a:prstGeom>
          <a:noFill/>
          <a:ln w="9525">
            <a:noFill/>
            <a:miter lim="800000"/>
            <a:headEnd/>
            <a:tailEnd/>
          </a:ln>
          <a:effectLst/>
        </p:spPr>
        <p:txBody>
          <a:bodyPr vert="horz" wrap="square" lIns="91440" tIns="45720" rIns="91440" bIns="45720" numCol="1" anchor="t" anchorCtr="0" compatLnSpc="1">
            <a:prstTxWarp prst="textNoShape">
              <a:avLst/>
            </a:prstTxWarp>
          </a:bodyPr>
          <a:lstStyle>
            <a:lvl1pPr algn="r">
              <a:defRPr sz="1400" b="0">
                <a:effectLst/>
              </a:defRPr>
            </a:lvl1pPr>
          </a:lstStyle>
          <a:p>
            <a:pPr>
              <a:defRPr/>
            </a:pPr>
            <a:fld id="{F65BF347-C7DA-40F3-B195-492B568A3D6A}" type="slidenum">
              <a:rPr lang="en-US" altLang="zh-CN"/>
              <a:pPr>
                <a:defRPr/>
              </a:pPr>
              <a:t>‹#›</a:t>
            </a:fld>
            <a:endParaRPr lang="en-US" altLang="zh-CN"/>
          </a:p>
        </p:txBody>
      </p:sp>
      <p:pic>
        <p:nvPicPr>
          <p:cNvPr id="107527" name="Picture 8" descr="校徽"/>
          <p:cNvPicPr>
            <a:picLocks noChangeAspect="1" noChangeArrowheads="1"/>
          </p:cNvPicPr>
          <p:nvPr userDrawn="1"/>
        </p:nvPicPr>
        <p:blipFill>
          <a:blip r:embed="rId13" cstate="print">
            <a:lum bright="70000" contrast="70000"/>
          </a:blip>
          <a:srcRect/>
          <a:stretch>
            <a:fillRect/>
          </a:stretch>
        </p:blipFill>
        <p:spPr bwMode="auto">
          <a:xfrm>
            <a:off x="2555875" y="2205038"/>
            <a:ext cx="3743325" cy="3743325"/>
          </a:xfrm>
          <a:prstGeom prst="rect">
            <a:avLst/>
          </a:prstGeom>
          <a:noFill/>
          <a:ln w="9525">
            <a:noFill/>
            <a:miter lim="800000"/>
            <a:headEnd/>
            <a:tailEnd/>
          </a:ln>
        </p:spPr>
      </p:pic>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rtl="0" eaLnBrk="0" fontAlgn="base" hangingPunct="0">
        <a:spcBef>
          <a:spcPct val="0"/>
        </a:spcBef>
        <a:spcAft>
          <a:spcPct val="0"/>
        </a:spcAft>
        <a:defRPr kumimoji="1" sz="4400">
          <a:solidFill>
            <a:schemeClr val="tx2"/>
          </a:solidFill>
          <a:latin typeface="+mj-lt"/>
          <a:ea typeface="+mj-ea"/>
          <a:cs typeface="+mj-cs"/>
        </a:defRPr>
      </a:lvl1pPr>
      <a:lvl2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2pPr>
      <a:lvl3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3pPr>
      <a:lvl4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4pPr>
      <a:lvl5pPr algn="ctr" rtl="0" eaLnBrk="0" fontAlgn="base" hangingPunct="0">
        <a:spcBef>
          <a:spcPct val="0"/>
        </a:spcBef>
        <a:spcAft>
          <a:spcPct val="0"/>
        </a:spcAft>
        <a:defRPr kumimoji="1" sz="4400">
          <a:solidFill>
            <a:schemeClr val="tx2"/>
          </a:solidFill>
          <a:latin typeface="Times New Roman" pitchFamily="18" charset="0"/>
          <a:ea typeface="宋体" pitchFamily="2" charset="-122"/>
        </a:defRPr>
      </a:lvl5pPr>
      <a:lvl6pPr marL="457200" algn="ctr" rtl="0" fontAlgn="base">
        <a:spcBef>
          <a:spcPct val="0"/>
        </a:spcBef>
        <a:spcAft>
          <a:spcPct val="0"/>
        </a:spcAft>
        <a:defRPr kumimoji="1" sz="4400">
          <a:solidFill>
            <a:schemeClr val="tx2"/>
          </a:solidFill>
          <a:latin typeface="Times New Roman" pitchFamily="18" charset="0"/>
          <a:ea typeface="宋体" pitchFamily="2" charset="-122"/>
        </a:defRPr>
      </a:lvl6pPr>
      <a:lvl7pPr marL="914400" algn="ctr" rtl="0" fontAlgn="base">
        <a:spcBef>
          <a:spcPct val="0"/>
        </a:spcBef>
        <a:spcAft>
          <a:spcPct val="0"/>
        </a:spcAft>
        <a:defRPr kumimoji="1" sz="4400">
          <a:solidFill>
            <a:schemeClr val="tx2"/>
          </a:solidFill>
          <a:latin typeface="Times New Roman" pitchFamily="18" charset="0"/>
          <a:ea typeface="宋体" pitchFamily="2" charset="-122"/>
        </a:defRPr>
      </a:lvl7pPr>
      <a:lvl8pPr marL="1371600" algn="ctr" rtl="0" fontAlgn="base">
        <a:spcBef>
          <a:spcPct val="0"/>
        </a:spcBef>
        <a:spcAft>
          <a:spcPct val="0"/>
        </a:spcAft>
        <a:defRPr kumimoji="1" sz="4400">
          <a:solidFill>
            <a:schemeClr val="tx2"/>
          </a:solidFill>
          <a:latin typeface="Times New Roman" pitchFamily="18" charset="0"/>
          <a:ea typeface="宋体" pitchFamily="2" charset="-122"/>
        </a:defRPr>
      </a:lvl8pPr>
      <a:lvl9pPr marL="1828800" algn="ctr" rtl="0" fontAlgn="base">
        <a:spcBef>
          <a:spcPct val="0"/>
        </a:spcBef>
        <a:spcAft>
          <a:spcPct val="0"/>
        </a:spcAft>
        <a:defRPr kumimoji="1" sz="4400">
          <a:solidFill>
            <a:schemeClr val="tx2"/>
          </a:solidFill>
          <a:latin typeface="Times New Roman" pitchFamily="18" charset="0"/>
          <a:ea typeface="宋体" pitchFamily="2" charset="-122"/>
        </a:defRPr>
      </a:lvl9pPr>
    </p:titleStyle>
    <p:bodyStyle>
      <a:lvl1pPr marL="342900" indent="-342900" algn="l" rtl="0" eaLnBrk="0" fontAlgn="base" hangingPunct="0">
        <a:spcBef>
          <a:spcPct val="20000"/>
        </a:spcBef>
        <a:spcAft>
          <a:spcPct val="0"/>
        </a:spcAft>
        <a:buChar char="•"/>
        <a:defRPr kumimoji="1" sz="3200">
          <a:solidFill>
            <a:schemeClr val="tx1"/>
          </a:solidFill>
          <a:latin typeface="+mn-lt"/>
          <a:ea typeface="+mn-ea"/>
          <a:cs typeface="+mn-cs"/>
        </a:defRPr>
      </a:lvl1pPr>
      <a:lvl2pPr marL="742950" indent="-285750" algn="l" rtl="0" eaLnBrk="0" fontAlgn="base" hangingPunct="0">
        <a:spcBef>
          <a:spcPct val="20000"/>
        </a:spcBef>
        <a:spcAft>
          <a:spcPct val="0"/>
        </a:spcAft>
        <a:buChar char="–"/>
        <a:defRPr kumimoji="1" sz="2800">
          <a:solidFill>
            <a:schemeClr val="tx1"/>
          </a:solidFill>
          <a:latin typeface="+mn-lt"/>
          <a:ea typeface="+mn-ea"/>
        </a:defRPr>
      </a:lvl2pPr>
      <a:lvl3pPr marL="1143000" indent="-228600" algn="l" rtl="0" eaLnBrk="0" fontAlgn="base" hangingPunct="0">
        <a:spcBef>
          <a:spcPct val="20000"/>
        </a:spcBef>
        <a:spcAft>
          <a:spcPct val="0"/>
        </a:spcAft>
        <a:buChar char="•"/>
        <a:defRPr kumimoji="1" sz="2400">
          <a:solidFill>
            <a:schemeClr val="tx1"/>
          </a:solidFill>
          <a:latin typeface="+mn-lt"/>
          <a:ea typeface="+mn-ea"/>
        </a:defRPr>
      </a:lvl3pPr>
      <a:lvl4pPr marL="1600200" indent="-228600" algn="l" rtl="0" eaLnBrk="0" fontAlgn="base" hangingPunct="0">
        <a:spcBef>
          <a:spcPct val="20000"/>
        </a:spcBef>
        <a:spcAft>
          <a:spcPct val="0"/>
        </a:spcAft>
        <a:buChar char="–"/>
        <a:defRPr kumimoji="1" sz="2000">
          <a:solidFill>
            <a:schemeClr val="tx1"/>
          </a:solidFill>
          <a:latin typeface="+mn-lt"/>
          <a:ea typeface="+mn-ea"/>
        </a:defRPr>
      </a:lvl4pPr>
      <a:lvl5pPr marL="2057400" indent="-228600" algn="l" rtl="0" eaLnBrk="0" fontAlgn="base" hangingPunct="0">
        <a:spcBef>
          <a:spcPct val="20000"/>
        </a:spcBef>
        <a:spcAft>
          <a:spcPct val="0"/>
        </a:spcAft>
        <a:buChar char="»"/>
        <a:defRPr kumimoji="1" sz="2000">
          <a:solidFill>
            <a:schemeClr val="tx1"/>
          </a:solidFill>
          <a:latin typeface="+mn-lt"/>
          <a:ea typeface="+mn-ea"/>
        </a:defRPr>
      </a:lvl5pPr>
      <a:lvl6pPr marL="2514600" indent="-228600" algn="l" rtl="0" fontAlgn="base">
        <a:spcBef>
          <a:spcPct val="20000"/>
        </a:spcBef>
        <a:spcAft>
          <a:spcPct val="0"/>
        </a:spcAft>
        <a:buChar char="»"/>
        <a:defRPr kumimoji="1" sz="2000">
          <a:solidFill>
            <a:schemeClr val="tx1"/>
          </a:solidFill>
          <a:latin typeface="+mn-lt"/>
          <a:ea typeface="+mn-ea"/>
        </a:defRPr>
      </a:lvl6pPr>
      <a:lvl7pPr marL="2971800" indent="-228600" algn="l" rtl="0" fontAlgn="base">
        <a:spcBef>
          <a:spcPct val="20000"/>
        </a:spcBef>
        <a:spcAft>
          <a:spcPct val="0"/>
        </a:spcAft>
        <a:buChar char="»"/>
        <a:defRPr kumimoji="1" sz="2000">
          <a:solidFill>
            <a:schemeClr val="tx1"/>
          </a:solidFill>
          <a:latin typeface="+mn-lt"/>
          <a:ea typeface="+mn-ea"/>
        </a:defRPr>
      </a:lvl7pPr>
      <a:lvl8pPr marL="3429000" indent="-228600" algn="l" rtl="0" fontAlgn="base">
        <a:spcBef>
          <a:spcPct val="20000"/>
        </a:spcBef>
        <a:spcAft>
          <a:spcPct val="0"/>
        </a:spcAft>
        <a:buChar char="»"/>
        <a:defRPr kumimoji="1" sz="2000">
          <a:solidFill>
            <a:schemeClr val="tx1"/>
          </a:solidFill>
          <a:latin typeface="+mn-lt"/>
          <a:ea typeface="+mn-ea"/>
        </a:defRPr>
      </a:lvl8pPr>
      <a:lvl9pPr marL="3886200" indent="-228600" algn="l" rtl="0" fontAlgn="base">
        <a:spcBef>
          <a:spcPct val="20000"/>
        </a:spcBef>
        <a:spcAft>
          <a:spcPct val="0"/>
        </a:spcAft>
        <a:buChar char="»"/>
        <a:defRPr kumimoji="1" sz="2000">
          <a:solidFill>
            <a:schemeClr val="tx1"/>
          </a:solidFill>
          <a:latin typeface="+mn-lt"/>
          <a:ea typeface="+mn-ea"/>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6.xml"/></Relationships>
</file>

<file path=ppt/slides/_rels/slide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oleObject" Target="../embeddings/oleObject1.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wmf"/><Relationship Id="rId5" Type="http://schemas.openxmlformats.org/officeDocument/2006/relationships/oleObject" Target="../embeddings/oleObject2.bin"/><Relationship Id="rId4" Type="http://schemas.openxmlformats.org/officeDocument/2006/relationships/image" Target="../media/image5.wmf"/></Relationships>
</file>

<file path=ppt/slides/_rels/slide5.xml.rels><?xml version="1.0" encoding="UTF-8" standalone="yes"?>
<Relationships xmlns="http://schemas.openxmlformats.org/package/2006/relationships"><Relationship Id="rId8" Type="http://schemas.openxmlformats.org/officeDocument/2006/relationships/image" Target="../media/image9.wmf"/><Relationship Id="rId3" Type="http://schemas.openxmlformats.org/officeDocument/2006/relationships/oleObject" Target="../embeddings/oleObject3.bin"/><Relationship Id="rId7" Type="http://schemas.openxmlformats.org/officeDocument/2006/relationships/oleObject" Target="../embeddings/oleObject5.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8.wmf"/><Relationship Id="rId5" Type="http://schemas.openxmlformats.org/officeDocument/2006/relationships/oleObject" Target="../embeddings/oleObject4.bin"/><Relationship Id="rId10" Type="http://schemas.openxmlformats.org/officeDocument/2006/relationships/image" Target="../media/image10.wmf"/><Relationship Id="rId4" Type="http://schemas.openxmlformats.org/officeDocument/2006/relationships/image" Target="../media/image7.wmf"/><Relationship Id="rId9" Type="http://schemas.openxmlformats.org/officeDocument/2006/relationships/oleObject" Target="../embeddings/oleObject6.bin"/></Relationships>
</file>

<file path=ppt/slides/_rels/slide6.xml.rels><?xml version="1.0" encoding="UTF-8" standalone="yes"?>
<Relationships xmlns="http://schemas.openxmlformats.org/package/2006/relationships"><Relationship Id="rId8" Type="http://schemas.openxmlformats.org/officeDocument/2006/relationships/image" Target="../media/image13.wmf"/><Relationship Id="rId3" Type="http://schemas.openxmlformats.org/officeDocument/2006/relationships/oleObject" Target="../embeddings/oleObject7.bin"/><Relationship Id="rId7" Type="http://schemas.openxmlformats.org/officeDocument/2006/relationships/oleObject" Target="../embeddings/oleObject9.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2.wmf"/><Relationship Id="rId5" Type="http://schemas.openxmlformats.org/officeDocument/2006/relationships/oleObject" Target="../embeddings/oleObject8.bin"/><Relationship Id="rId4" Type="http://schemas.openxmlformats.org/officeDocument/2006/relationships/image" Target="../media/image11.wmf"/></Relationships>
</file>

<file path=ppt/slides/_rels/slide7.xml.rels><?xml version="1.0" encoding="UTF-8" standalone="yes"?>
<Relationships xmlns="http://schemas.openxmlformats.org/package/2006/relationships"><Relationship Id="rId3" Type="http://schemas.openxmlformats.org/officeDocument/2006/relationships/oleObject" Target="../embeddings/oleObject10.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4.wmf"/></Relationships>
</file>

<file path=ppt/slides/_rels/slide8.xml.rels><?xml version="1.0" encoding="UTF-8" standalone="yes"?>
<Relationships xmlns="http://schemas.openxmlformats.org/package/2006/relationships"><Relationship Id="rId8" Type="http://schemas.openxmlformats.org/officeDocument/2006/relationships/image" Target="../media/image17.wmf"/><Relationship Id="rId13" Type="http://schemas.openxmlformats.org/officeDocument/2006/relationships/oleObject" Target="../embeddings/oleObject16.bin"/><Relationship Id="rId3" Type="http://schemas.openxmlformats.org/officeDocument/2006/relationships/oleObject" Target="../embeddings/oleObject11.bin"/><Relationship Id="rId7" Type="http://schemas.openxmlformats.org/officeDocument/2006/relationships/oleObject" Target="../embeddings/oleObject13.bin"/><Relationship Id="rId12" Type="http://schemas.openxmlformats.org/officeDocument/2006/relationships/image" Target="../media/image19.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wmf"/><Relationship Id="rId11" Type="http://schemas.openxmlformats.org/officeDocument/2006/relationships/oleObject" Target="../embeddings/oleObject15.bin"/><Relationship Id="rId5" Type="http://schemas.openxmlformats.org/officeDocument/2006/relationships/oleObject" Target="../embeddings/oleObject12.bin"/><Relationship Id="rId10" Type="http://schemas.openxmlformats.org/officeDocument/2006/relationships/image" Target="../media/image18.wmf"/><Relationship Id="rId4" Type="http://schemas.openxmlformats.org/officeDocument/2006/relationships/image" Target="../media/image15.wmf"/><Relationship Id="rId9" Type="http://schemas.openxmlformats.org/officeDocument/2006/relationships/oleObject" Target="../embeddings/oleObject14.bin"/><Relationship Id="rId14" Type="http://schemas.openxmlformats.org/officeDocument/2006/relationships/image" Target="../media/image20.wmf"/></Relationships>
</file>

<file path=ppt/slides/_rels/slide9.xml.rels><?xml version="1.0" encoding="UTF-8" standalone="yes"?>
<Relationships xmlns="http://schemas.openxmlformats.org/package/2006/relationships"><Relationship Id="rId8" Type="http://schemas.openxmlformats.org/officeDocument/2006/relationships/image" Target="../media/image23.wmf"/><Relationship Id="rId3" Type="http://schemas.openxmlformats.org/officeDocument/2006/relationships/oleObject" Target="../embeddings/oleObject17.bin"/><Relationship Id="rId7" Type="http://schemas.openxmlformats.org/officeDocument/2006/relationships/oleObject" Target="../embeddings/oleObject19.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2.wmf"/><Relationship Id="rId5" Type="http://schemas.openxmlformats.org/officeDocument/2006/relationships/oleObject" Target="../embeddings/oleObject18.bin"/><Relationship Id="rId10" Type="http://schemas.openxmlformats.org/officeDocument/2006/relationships/image" Target="../media/image24.wmf"/><Relationship Id="rId4" Type="http://schemas.openxmlformats.org/officeDocument/2006/relationships/image" Target="../media/image21.wmf"/><Relationship Id="rId9" Type="http://schemas.openxmlformats.org/officeDocument/2006/relationships/oleObject" Target="../embeddings/oleObject20.bin"/></Relationships>
</file>

<file path=ppt/slides/_rels/slide10.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21.bin"/><Relationship Id="rId7" Type="http://schemas.openxmlformats.org/officeDocument/2006/relationships/oleObject" Target="../embeddings/oleObject23.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22.bin"/><Relationship Id="rId4" Type="http://schemas.openxmlformats.org/officeDocument/2006/relationships/image" Target="../media/image25.wmf"/></Relationships>
</file>

<file path=ppt/slides/_rels/slide11.xml.rels><?xml version="1.0" encoding="UTF-8" standalone="yes"?>
<Relationships xmlns="http://schemas.openxmlformats.org/package/2006/relationships"><Relationship Id="rId3" Type="http://schemas.openxmlformats.org/officeDocument/2006/relationships/oleObject" Target="../embeddings/oleObject2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9.wmf"/><Relationship Id="rId5" Type="http://schemas.openxmlformats.org/officeDocument/2006/relationships/oleObject" Target="../embeddings/oleObject25.bin"/><Relationship Id="rId4" Type="http://schemas.openxmlformats.org/officeDocument/2006/relationships/image" Target="../media/image28.wmf"/></Relationships>
</file>

<file path=ppt/slides/_rels/slide12.xml.rels><?xml version="1.0" encoding="UTF-8" standalone="yes"?>
<Relationships xmlns="http://schemas.openxmlformats.org/package/2006/relationships"><Relationship Id="rId8" Type="http://schemas.openxmlformats.org/officeDocument/2006/relationships/image" Target="../media/image32.wmf"/><Relationship Id="rId3" Type="http://schemas.openxmlformats.org/officeDocument/2006/relationships/oleObject" Target="../embeddings/oleObject26.bin"/><Relationship Id="rId7" Type="http://schemas.openxmlformats.org/officeDocument/2006/relationships/oleObject" Target="../embeddings/oleObject28.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1.wmf"/><Relationship Id="rId5" Type="http://schemas.openxmlformats.org/officeDocument/2006/relationships/oleObject" Target="../embeddings/oleObject27.bin"/><Relationship Id="rId4" Type="http://schemas.openxmlformats.org/officeDocument/2006/relationships/image" Target="../media/image30.wmf"/></Relationships>
</file>

<file path=ppt/slides/_rels/slide13.xml.rels><?xml version="1.0" encoding="UTF-8" standalone="yes"?>
<Relationships xmlns="http://schemas.openxmlformats.org/package/2006/relationships"><Relationship Id="rId3" Type="http://schemas.openxmlformats.org/officeDocument/2006/relationships/oleObject" Target="../embeddings/oleObject29.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4.wmf"/><Relationship Id="rId5" Type="http://schemas.openxmlformats.org/officeDocument/2006/relationships/oleObject" Target="../embeddings/oleObject30.bin"/><Relationship Id="rId4" Type="http://schemas.openxmlformats.org/officeDocument/2006/relationships/image" Target="../media/image33.wmf"/></Relationships>
</file>

<file path=ppt/slides/_rels/slide14.xml.rels><?xml version="1.0" encoding="UTF-8" standalone="yes"?>
<Relationships xmlns="http://schemas.openxmlformats.org/package/2006/relationships"><Relationship Id="rId8" Type="http://schemas.openxmlformats.org/officeDocument/2006/relationships/image" Target="../media/image27.wmf"/><Relationship Id="rId13" Type="http://schemas.openxmlformats.org/officeDocument/2006/relationships/oleObject" Target="../embeddings/oleObject36.bin"/><Relationship Id="rId3" Type="http://schemas.openxmlformats.org/officeDocument/2006/relationships/oleObject" Target="../embeddings/oleObject31.bin"/><Relationship Id="rId7" Type="http://schemas.openxmlformats.org/officeDocument/2006/relationships/oleObject" Target="../embeddings/oleObject33.bin"/><Relationship Id="rId12" Type="http://schemas.openxmlformats.org/officeDocument/2006/relationships/image" Target="../media/image36.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6.wmf"/><Relationship Id="rId11" Type="http://schemas.openxmlformats.org/officeDocument/2006/relationships/oleObject" Target="../embeddings/oleObject35.bin"/><Relationship Id="rId5" Type="http://schemas.openxmlformats.org/officeDocument/2006/relationships/oleObject" Target="../embeddings/oleObject32.bin"/><Relationship Id="rId10" Type="http://schemas.openxmlformats.org/officeDocument/2006/relationships/image" Target="../media/image35.wmf"/><Relationship Id="rId4" Type="http://schemas.openxmlformats.org/officeDocument/2006/relationships/image" Target="../media/image25.wmf"/><Relationship Id="rId9" Type="http://schemas.openxmlformats.org/officeDocument/2006/relationships/oleObject" Target="../embeddings/oleObject34.bin"/><Relationship Id="rId14" Type="http://schemas.openxmlformats.org/officeDocument/2006/relationships/image" Target="../media/image37.wmf"/></Relationships>
</file>

<file path=ppt/slides/_rels/slide15.xml.rels><?xml version="1.0" encoding="UTF-8" standalone="yes"?>
<Relationships xmlns="http://schemas.openxmlformats.org/package/2006/relationships"><Relationship Id="rId8" Type="http://schemas.openxmlformats.org/officeDocument/2006/relationships/image" Target="../media/image40.wmf"/><Relationship Id="rId3" Type="http://schemas.openxmlformats.org/officeDocument/2006/relationships/oleObject" Target="../embeddings/oleObject37.bin"/><Relationship Id="rId7" Type="http://schemas.openxmlformats.org/officeDocument/2006/relationships/oleObject" Target="../embeddings/oleObject39.bin"/><Relationship Id="rId12" Type="http://schemas.openxmlformats.org/officeDocument/2006/relationships/image" Target="../media/image42.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9.wmf"/><Relationship Id="rId11" Type="http://schemas.openxmlformats.org/officeDocument/2006/relationships/oleObject" Target="../embeddings/oleObject41.bin"/><Relationship Id="rId5" Type="http://schemas.openxmlformats.org/officeDocument/2006/relationships/oleObject" Target="../embeddings/oleObject38.bin"/><Relationship Id="rId10" Type="http://schemas.openxmlformats.org/officeDocument/2006/relationships/image" Target="../media/image41.wmf"/><Relationship Id="rId4" Type="http://schemas.openxmlformats.org/officeDocument/2006/relationships/image" Target="../media/image38.wmf"/><Relationship Id="rId9" Type="http://schemas.openxmlformats.org/officeDocument/2006/relationships/oleObject" Target="../embeddings/oleObject40.bin"/></Relationships>
</file>

<file path=ppt/slides/_rels/slide1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8" Type="http://schemas.openxmlformats.org/officeDocument/2006/relationships/image" Target="../media/image45.wmf"/><Relationship Id="rId13" Type="http://schemas.openxmlformats.org/officeDocument/2006/relationships/oleObject" Target="../embeddings/oleObject47.bin"/><Relationship Id="rId3" Type="http://schemas.openxmlformats.org/officeDocument/2006/relationships/oleObject" Target="../embeddings/oleObject42.bin"/><Relationship Id="rId7" Type="http://schemas.openxmlformats.org/officeDocument/2006/relationships/oleObject" Target="../embeddings/oleObject44.bin"/><Relationship Id="rId12" Type="http://schemas.openxmlformats.org/officeDocument/2006/relationships/image" Target="../media/image47.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44.wmf"/><Relationship Id="rId11" Type="http://schemas.openxmlformats.org/officeDocument/2006/relationships/oleObject" Target="../embeddings/oleObject46.bin"/><Relationship Id="rId5" Type="http://schemas.openxmlformats.org/officeDocument/2006/relationships/oleObject" Target="../embeddings/oleObject43.bin"/><Relationship Id="rId10" Type="http://schemas.openxmlformats.org/officeDocument/2006/relationships/image" Target="../media/image46.wmf"/><Relationship Id="rId4" Type="http://schemas.openxmlformats.org/officeDocument/2006/relationships/image" Target="../media/image43.wmf"/><Relationship Id="rId9" Type="http://schemas.openxmlformats.org/officeDocument/2006/relationships/oleObject" Target="../embeddings/oleObject45.bin"/><Relationship Id="rId14" Type="http://schemas.openxmlformats.org/officeDocument/2006/relationships/image" Target="../media/image48.wmf"/></Relationships>
</file>

<file path=ppt/slides/_rels/slide18.xml.rels><?xml version="1.0" encoding="UTF-8" standalone="yes"?>
<Relationships xmlns="http://schemas.openxmlformats.org/package/2006/relationships"><Relationship Id="rId8" Type="http://schemas.openxmlformats.org/officeDocument/2006/relationships/image" Target="../media/image51.wmf"/><Relationship Id="rId3" Type="http://schemas.openxmlformats.org/officeDocument/2006/relationships/oleObject" Target="../embeddings/oleObject48.bin"/><Relationship Id="rId7" Type="http://schemas.openxmlformats.org/officeDocument/2006/relationships/oleObject" Target="../embeddings/oleObject5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0.wmf"/><Relationship Id="rId5" Type="http://schemas.openxmlformats.org/officeDocument/2006/relationships/oleObject" Target="../embeddings/oleObject49.bin"/><Relationship Id="rId4" Type="http://schemas.openxmlformats.org/officeDocument/2006/relationships/image" Target="../media/image49.wmf"/></Relationships>
</file>

<file path=ppt/slides/_rels/slide19.xml.rels><?xml version="1.0" encoding="UTF-8" standalone="yes"?>
<Relationships xmlns="http://schemas.openxmlformats.org/package/2006/relationships"><Relationship Id="rId8" Type="http://schemas.openxmlformats.org/officeDocument/2006/relationships/image" Target="../media/image54.wmf"/><Relationship Id="rId3" Type="http://schemas.openxmlformats.org/officeDocument/2006/relationships/oleObject" Target="../embeddings/oleObject51.bin"/><Relationship Id="rId7" Type="http://schemas.openxmlformats.org/officeDocument/2006/relationships/oleObject" Target="../embeddings/oleObject53.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53.wmf"/><Relationship Id="rId5" Type="http://schemas.openxmlformats.org/officeDocument/2006/relationships/oleObject" Target="../embeddings/oleObject52.bin"/><Relationship Id="rId10" Type="http://schemas.openxmlformats.org/officeDocument/2006/relationships/image" Target="../media/image55.wmf"/><Relationship Id="rId4" Type="http://schemas.openxmlformats.org/officeDocument/2006/relationships/image" Target="../media/image52.wmf"/><Relationship Id="rId9" Type="http://schemas.openxmlformats.org/officeDocument/2006/relationships/oleObject" Target="../embeddings/oleObject54.bin"/></Relationships>
</file>

<file path=ppt/slides/_rels/slide20.xml.rels><?xml version="1.0" encoding="UTF-8" standalone="yes"?>
<Relationships xmlns="http://schemas.openxmlformats.org/package/2006/relationships"><Relationship Id="rId8" Type="http://schemas.openxmlformats.org/officeDocument/2006/relationships/image" Target="../media/image57.wmf"/><Relationship Id="rId13" Type="http://schemas.openxmlformats.org/officeDocument/2006/relationships/oleObject" Target="../embeddings/oleObject60.bin"/><Relationship Id="rId3" Type="http://schemas.openxmlformats.org/officeDocument/2006/relationships/oleObject" Target="../embeddings/oleObject55.bin"/><Relationship Id="rId7" Type="http://schemas.openxmlformats.org/officeDocument/2006/relationships/oleObject" Target="../embeddings/oleObject57.bin"/><Relationship Id="rId12" Type="http://schemas.openxmlformats.org/officeDocument/2006/relationships/image" Target="../media/image59.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44.wmf"/><Relationship Id="rId11" Type="http://schemas.openxmlformats.org/officeDocument/2006/relationships/oleObject" Target="../embeddings/oleObject59.bin"/><Relationship Id="rId5" Type="http://schemas.openxmlformats.org/officeDocument/2006/relationships/oleObject" Target="../embeddings/oleObject56.bin"/><Relationship Id="rId10" Type="http://schemas.openxmlformats.org/officeDocument/2006/relationships/image" Target="../media/image58.wmf"/><Relationship Id="rId4" Type="http://schemas.openxmlformats.org/officeDocument/2006/relationships/image" Target="../media/image56.wmf"/><Relationship Id="rId9" Type="http://schemas.openxmlformats.org/officeDocument/2006/relationships/oleObject" Target="../embeddings/oleObject58.bin"/><Relationship Id="rId14" Type="http://schemas.openxmlformats.org/officeDocument/2006/relationships/image" Target="../media/image60.wmf"/></Relationships>
</file>

<file path=ppt/slides/_rels/slide21.xml.rels><?xml version="1.0" encoding="UTF-8" standalone="yes"?>
<Relationships xmlns="http://schemas.openxmlformats.org/package/2006/relationships"><Relationship Id="rId8" Type="http://schemas.openxmlformats.org/officeDocument/2006/relationships/image" Target="../media/image63.wmf"/><Relationship Id="rId3" Type="http://schemas.openxmlformats.org/officeDocument/2006/relationships/oleObject" Target="../embeddings/oleObject61.bin"/><Relationship Id="rId7" Type="http://schemas.openxmlformats.org/officeDocument/2006/relationships/oleObject" Target="../embeddings/oleObject63.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2.wmf"/><Relationship Id="rId5" Type="http://schemas.openxmlformats.org/officeDocument/2006/relationships/oleObject" Target="../embeddings/oleObject62.bin"/><Relationship Id="rId4" Type="http://schemas.openxmlformats.org/officeDocument/2006/relationships/image" Target="../media/image61.wmf"/></Relationships>
</file>

<file path=ppt/slides/_rels/slide22.xml.rels><?xml version="1.0" encoding="UTF-8" standalone="yes"?>
<Relationships xmlns="http://schemas.openxmlformats.org/package/2006/relationships"><Relationship Id="rId8" Type="http://schemas.openxmlformats.org/officeDocument/2006/relationships/image" Target="../media/image27.wmf"/><Relationship Id="rId3" Type="http://schemas.openxmlformats.org/officeDocument/2006/relationships/oleObject" Target="../embeddings/oleObject64.bin"/><Relationship Id="rId7" Type="http://schemas.openxmlformats.org/officeDocument/2006/relationships/oleObject" Target="../embeddings/oleObject6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6.wmf"/><Relationship Id="rId5" Type="http://schemas.openxmlformats.org/officeDocument/2006/relationships/oleObject" Target="../embeddings/oleObject65.bin"/><Relationship Id="rId4" Type="http://schemas.openxmlformats.org/officeDocument/2006/relationships/image" Target="../media/image25.wmf"/></Relationships>
</file>

<file path=ppt/slides/_rels/slide23.xml.rels><?xml version="1.0" encoding="UTF-8" standalone="yes"?>
<Relationships xmlns="http://schemas.openxmlformats.org/package/2006/relationships"><Relationship Id="rId8" Type="http://schemas.openxmlformats.org/officeDocument/2006/relationships/image" Target="../media/image66.wmf"/><Relationship Id="rId3" Type="http://schemas.openxmlformats.org/officeDocument/2006/relationships/oleObject" Target="../embeddings/oleObject67.bin"/><Relationship Id="rId7" Type="http://schemas.openxmlformats.org/officeDocument/2006/relationships/oleObject" Target="../embeddings/oleObject69.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5.wmf"/><Relationship Id="rId5" Type="http://schemas.openxmlformats.org/officeDocument/2006/relationships/oleObject" Target="../embeddings/oleObject68.bin"/><Relationship Id="rId4" Type="http://schemas.openxmlformats.org/officeDocument/2006/relationships/image" Target="../media/image64.wmf"/></Relationships>
</file>

<file path=ppt/slides/_rels/slide24.xml.rels><?xml version="1.0" encoding="UTF-8" standalone="yes"?>
<Relationships xmlns="http://schemas.openxmlformats.org/package/2006/relationships"><Relationship Id="rId8" Type="http://schemas.openxmlformats.org/officeDocument/2006/relationships/image" Target="../media/image69.wmf"/><Relationship Id="rId3" Type="http://schemas.openxmlformats.org/officeDocument/2006/relationships/oleObject" Target="../embeddings/oleObject70.bin"/><Relationship Id="rId7" Type="http://schemas.openxmlformats.org/officeDocument/2006/relationships/oleObject" Target="../embeddings/oleObject7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68.wmf"/><Relationship Id="rId5" Type="http://schemas.openxmlformats.org/officeDocument/2006/relationships/oleObject" Target="../embeddings/oleObject71.bin"/><Relationship Id="rId4" Type="http://schemas.openxmlformats.org/officeDocument/2006/relationships/image" Target="../media/image67.wmf"/></Relationships>
</file>

<file path=ppt/slides/_rels/slide25.xml.rels><?xml version="1.0" encoding="UTF-8" standalone="yes"?>
<Relationships xmlns="http://schemas.openxmlformats.org/package/2006/relationships"><Relationship Id="rId8" Type="http://schemas.openxmlformats.org/officeDocument/2006/relationships/image" Target="../media/image72.wmf"/><Relationship Id="rId13" Type="http://schemas.openxmlformats.org/officeDocument/2006/relationships/oleObject" Target="../embeddings/oleObject78.bin"/><Relationship Id="rId18" Type="http://schemas.openxmlformats.org/officeDocument/2006/relationships/image" Target="../media/image77.wmf"/><Relationship Id="rId3" Type="http://schemas.openxmlformats.org/officeDocument/2006/relationships/oleObject" Target="../embeddings/oleObject73.bin"/><Relationship Id="rId7" Type="http://schemas.openxmlformats.org/officeDocument/2006/relationships/oleObject" Target="../embeddings/oleObject75.bin"/><Relationship Id="rId12" Type="http://schemas.openxmlformats.org/officeDocument/2006/relationships/image" Target="../media/image74.wmf"/><Relationship Id="rId17" Type="http://schemas.openxmlformats.org/officeDocument/2006/relationships/oleObject" Target="../embeddings/oleObject80.bin"/><Relationship Id="rId2" Type="http://schemas.openxmlformats.org/officeDocument/2006/relationships/image" Target="../media/image3.jpeg"/><Relationship Id="rId16" Type="http://schemas.openxmlformats.org/officeDocument/2006/relationships/image" Target="../media/image76.wmf"/><Relationship Id="rId20" Type="http://schemas.openxmlformats.org/officeDocument/2006/relationships/image" Target="../media/image78.wmf"/><Relationship Id="rId1" Type="http://schemas.openxmlformats.org/officeDocument/2006/relationships/slideLayout" Target="../slideLayouts/slideLayout7.xml"/><Relationship Id="rId6" Type="http://schemas.openxmlformats.org/officeDocument/2006/relationships/image" Target="../media/image71.wmf"/><Relationship Id="rId11" Type="http://schemas.openxmlformats.org/officeDocument/2006/relationships/oleObject" Target="../embeddings/oleObject77.bin"/><Relationship Id="rId5" Type="http://schemas.openxmlformats.org/officeDocument/2006/relationships/oleObject" Target="../embeddings/oleObject74.bin"/><Relationship Id="rId15" Type="http://schemas.openxmlformats.org/officeDocument/2006/relationships/oleObject" Target="../embeddings/oleObject79.bin"/><Relationship Id="rId10" Type="http://schemas.openxmlformats.org/officeDocument/2006/relationships/image" Target="../media/image73.wmf"/><Relationship Id="rId19" Type="http://schemas.openxmlformats.org/officeDocument/2006/relationships/oleObject" Target="../embeddings/oleObject81.bin"/><Relationship Id="rId4" Type="http://schemas.openxmlformats.org/officeDocument/2006/relationships/image" Target="../media/image70.wmf"/><Relationship Id="rId9" Type="http://schemas.openxmlformats.org/officeDocument/2006/relationships/oleObject" Target="../embeddings/oleObject76.bin"/><Relationship Id="rId14" Type="http://schemas.openxmlformats.org/officeDocument/2006/relationships/image" Target="../media/image75.wmf"/></Relationships>
</file>

<file path=ppt/slides/_rels/slide26.xml.rels><?xml version="1.0" encoding="UTF-8" standalone="yes"?>
<Relationships xmlns="http://schemas.openxmlformats.org/package/2006/relationships"><Relationship Id="rId8" Type="http://schemas.openxmlformats.org/officeDocument/2006/relationships/image" Target="../media/image81.wmf"/><Relationship Id="rId3" Type="http://schemas.openxmlformats.org/officeDocument/2006/relationships/oleObject" Target="../embeddings/oleObject82.bin"/><Relationship Id="rId7" Type="http://schemas.openxmlformats.org/officeDocument/2006/relationships/oleObject" Target="../embeddings/oleObject8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80.wmf"/><Relationship Id="rId5" Type="http://schemas.openxmlformats.org/officeDocument/2006/relationships/oleObject" Target="../embeddings/oleObject83.bin"/><Relationship Id="rId4" Type="http://schemas.openxmlformats.org/officeDocument/2006/relationships/image" Target="../media/image79.wmf"/></Relationships>
</file>

<file path=ppt/slides/_rels/slide27.xml.rels><?xml version="1.0" encoding="UTF-8" standalone="yes"?>
<Relationships xmlns="http://schemas.openxmlformats.org/package/2006/relationships"><Relationship Id="rId3" Type="http://schemas.openxmlformats.org/officeDocument/2006/relationships/image" Target="../media/image3.jpeg"/><Relationship Id="rId7" Type="http://schemas.openxmlformats.org/officeDocument/2006/relationships/image" Target="../media/image83.wmf"/><Relationship Id="rId2" Type="http://schemas.openxmlformats.org/officeDocument/2006/relationships/notesSlide" Target="../notesSlides/notesSlide1.xml"/><Relationship Id="rId1" Type="http://schemas.openxmlformats.org/officeDocument/2006/relationships/slideLayout" Target="../slideLayouts/slideLayout7.xml"/><Relationship Id="rId6" Type="http://schemas.openxmlformats.org/officeDocument/2006/relationships/oleObject" Target="../embeddings/oleObject86.bin"/><Relationship Id="rId5" Type="http://schemas.openxmlformats.org/officeDocument/2006/relationships/image" Target="../media/image82.wmf"/><Relationship Id="rId4" Type="http://schemas.openxmlformats.org/officeDocument/2006/relationships/oleObject" Target="../embeddings/oleObject85.bin"/></Relationships>
</file>

<file path=ppt/slides/_rels/slide2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7.xml"/><Relationship Id="rId5" Type="http://schemas.openxmlformats.org/officeDocument/2006/relationships/image" Target="../media/image84.wmf"/><Relationship Id="rId4" Type="http://schemas.openxmlformats.org/officeDocument/2006/relationships/oleObject" Target="../embeddings/oleObject87.bin"/></Relationships>
</file>

<file path=ppt/slides/_rels/slide29.xml.rels><?xml version="1.0" encoding="UTF-8" standalone="yes"?>
<Relationships xmlns="http://schemas.openxmlformats.org/package/2006/relationships"><Relationship Id="rId3" Type="http://schemas.openxmlformats.org/officeDocument/2006/relationships/image" Target="../media/image85.tmp"/><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8" Type="http://schemas.openxmlformats.org/officeDocument/2006/relationships/image" Target="../media/image88.wmf"/><Relationship Id="rId3" Type="http://schemas.openxmlformats.org/officeDocument/2006/relationships/oleObject" Target="../embeddings/oleObject88.bin"/><Relationship Id="rId7" Type="http://schemas.openxmlformats.org/officeDocument/2006/relationships/oleObject" Target="../embeddings/oleObject9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87.wmf"/><Relationship Id="rId5" Type="http://schemas.openxmlformats.org/officeDocument/2006/relationships/oleObject" Target="../embeddings/oleObject89.bin"/><Relationship Id="rId4" Type="http://schemas.openxmlformats.org/officeDocument/2006/relationships/image" Target="../media/image86.wmf"/></Relationships>
</file>

<file path=ppt/slides/_rels/slide31.xml.rels><?xml version="1.0" encoding="UTF-8" standalone="yes"?>
<Relationships xmlns="http://schemas.openxmlformats.org/package/2006/relationships"><Relationship Id="rId3" Type="http://schemas.openxmlformats.org/officeDocument/2006/relationships/image" Target="../media/image8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8" Type="http://schemas.openxmlformats.org/officeDocument/2006/relationships/image" Target="../media/image92.wmf"/><Relationship Id="rId13" Type="http://schemas.openxmlformats.org/officeDocument/2006/relationships/image" Target="../media/image94.wmf"/><Relationship Id="rId3" Type="http://schemas.openxmlformats.org/officeDocument/2006/relationships/oleObject" Target="../embeddings/oleObject91.bin"/><Relationship Id="rId7" Type="http://schemas.openxmlformats.org/officeDocument/2006/relationships/oleObject" Target="../embeddings/oleObject93.bin"/><Relationship Id="rId12" Type="http://schemas.openxmlformats.org/officeDocument/2006/relationships/oleObject" Target="../embeddings/oleObject9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91.wmf"/><Relationship Id="rId11" Type="http://schemas.openxmlformats.org/officeDocument/2006/relationships/image" Target="../media/image93.wmf"/><Relationship Id="rId5" Type="http://schemas.openxmlformats.org/officeDocument/2006/relationships/oleObject" Target="../embeddings/oleObject92.bin"/><Relationship Id="rId15" Type="http://schemas.openxmlformats.org/officeDocument/2006/relationships/image" Target="../media/image95.wmf"/><Relationship Id="rId10" Type="http://schemas.openxmlformats.org/officeDocument/2006/relationships/oleObject" Target="../embeddings/oleObject95.bin"/><Relationship Id="rId4" Type="http://schemas.openxmlformats.org/officeDocument/2006/relationships/image" Target="../media/image90.wmf"/><Relationship Id="rId9" Type="http://schemas.openxmlformats.org/officeDocument/2006/relationships/oleObject" Target="../embeddings/oleObject94.bin"/><Relationship Id="rId14" Type="http://schemas.openxmlformats.org/officeDocument/2006/relationships/oleObject" Target="../embeddings/oleObject97.bin"/></Relationships>
</file>

<file path=ppt/slides/_rels/slide33.xml.rels><?xml version="1.0" encoding="UTF-8" standalone="yes"?>
<Relationships xmlns="http://schemas.openxmlformats.org/package/2006/relationships"><Relationship Id="rId8" Type="http://schemas.openxmlformats.org/officeDocument/2006/relationships/image" Target="../media/image98.wmf"/><Relationship Id="rId3" Type="http://schemas.openxmlformats.org/officeDocument/2006/relationships/oleObject" Target="../embeddings/oleObject98.bin"/><Relationship Id="rId7" Type="http://schemas.openxmlformats.org/officeDocument/2006/relationships/oleObject" Target="../embeddings/oleObject100.bin"/><Relationship Id="rId12" Type="http://schemas.openxmlformats.org/officeDocument/2006/relationships/image" Target="../media/image100.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97.wmf"/><Relationship Id="rId11" Type="http://schemas.openxmlformats.org/officeDocument/2006/relationships/oleObject" Target="../embeddings/oleObject102.bin"/><Relationship Id="rId5" Type="http://schemas.openxmlformats.org/officeDocument/2006/relationships/oleObject" Target="../embeddings/oleObject99.bin"/><Relationship Id="rId10" Type="http://schemas.openxmlformats.org/officeDocument/2006/relationships/image" Target="../media/image99.wmf"/><Relationship Id="rId4" Type="http://schemas.openxmlformats.org/officeDocument/2006/relationships/image" Target="../media/image96.wmf"/><Relationship Id="rId9" Type="http://schemas.openxmlformats.org/officeDocument/2006/relationships/oleObject" Target="../embeddings/oleObject101.bin"/></Relationships>
</file>

<file path=ppt/slides/_rels/slide34.xml.rels><?xml version="1.0" encoding="UTF-8" standalone="yes"?>
<Relationships xmlns="http://schemas.openxmlformats.org/package/2006/relationships"><Relationship Id="rId8" Type="http://schemas.openxmlformats.org/officeDocument/2006/relationships/image" Target="../media/image103.wmf"/><Relationship Id="rId3" Type="http://schemas.openxmlformats.org/officeDocument/2006/relationships/oleObject" Target="../embeddings/oleObject103.bin"/><Relationship Id="rId7" Type="http://schemas.openxmlformats.org/officeDocument/2006/relationships/oleObject" Target="../embeddings/oleObject105.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02.wmf"/><Relationship Id="rId5" Type="http://schemas.openxmlformats.org/officeDocument/2006/relationships/oleObject" Target="../embeddings/oleObject104.bin"/><Relationship Id="rId10" Type="http://schemas.openxmlformats.org/officeDocument/2006/relationships/image" Target="../media/image104.wmf"/><Relationship Id="rId4" Type="http://schemas.openxmlformats.org/officeDocument/2006/relationships/image" Target="../media/image101.wmf"/><Relationship Id="rId9" Type="http://schemas.openxmlformats.org/officeDocument/2006/relationships/oleObject" Target="../embeddings/oleObject106.bin"/></Relationships>
</file>

<file path=ppt/slides/_rels/slide35.xml.rels><?xml version="1.0" encoding="UTF-8" standalone="yes"?>
<Relationships xmlns="http://schemas.openxmlformats.org/package/2006/relationships"><Relationship Id="rId8" Type="http://schemas.openxmlformats.org/officeDocument/2006/relationships/image" Target="../media/image107.wmf"/><Relationship Id="rId3" Type="http://schemas.openxmlformats.org/officeDocument/2006/relationships/oleObject" Target="../embeddings/oleObject107.bin"/><Relationship Id="rId7" Type="http://schemas.openxmlformats.org/officeDocument/2006/relationships/oleObject" Target="../embeddings/oleObject109.bin"/><Relationship Id="rId12" Type="http://schemas.openxmlformats.org/officeDocument/2006/relationships/image" Target="../media/image109.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06.wmf"/><Relationship Id="rId11" Type="http://schemas.openxmlformats.org/officeDocument/2006/relationships/oleObject" Target="../embeddings/oleObject111.bin"/><Relationship Id="rId5" Type="http://schemas.openxmlformats.org/officeDocument/2006/relationships/oleObject" Target="../embeddings/oleObject108.bin"/><Relationship Id="rId10" Type="http://schemas.openxmlformats.org/officeDocument/2006/relationships/image" Target="../media/image108.wmf"/><Relationship Id="rId4" Type="http://schemas.openxmlformats.org/officeDocument/2006/relationships/image" Target="../media/image105.wmf"/><Relationship Id="rId9" Type="http://schemas.openxmlformats.org/officeDocument/2006/relationships/oleObject" Target="../embeddings/oleObject110.bin"/></Relationships>
</file>

<file path=ppt/slides/_rels/slide36.xml.rels><?xml version="1.0" encoding="UTF-8" standalone="yes"?>
<Relationships xmlns="http://schemas.openxmlformats.org/package/2006/relationships"><Relationship Id="rId8" Type="http://schemas.openxmlformats.org/officeDocument/2006/relationships/image" Target="../media/image112.emf"/><Relationship Id="rId3" Type="http://schemas.openxmlformats.org/officeDocument/2006/relationships/oleObject" Target="../embeddings/oleObject112.bin"/><Relationship Id="rId7" Type="http://schemas.openxmlformats.org/officeDocument/2006/relationships/oleObject" Target="../embeddings/oleObject11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11.emf"/><Relationship Id="rId5" Type="http://schemas.openxmlformats.org/officeDocument/2006/relationships/oleObject" Target="../embeddings/oleObject113.bin"/><Relationship Id="rId4" Type="http://schemas.openxmlformats.org/officeDocument/2006/relationships/image" Target="../media/image110.emf"/></Relationships>
</file>

<file path=ppt/slides/_rels/slide37.xml.rels><?xml version="1.0" encoding="UTF-8" standalone="yes"?>
<Relationships xmlns="http://schemas.openxmlformats.org/package/2006/relationships"><Relationship Id="rId3" Type="http://schemas.openxmlformats.org/officeDocument/2006/relationships/oleObject" Target="../embeddings/oleObject115.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14.wmf"/><Relationship Id="rId5" Type="http://schemas.openxmlformats.org/officeDocument/2006/relationships/oleObject" Target="../embeddings/oleObject116.bin"/><Relationship Id="rId4" Type="http://schemas.openxmlformats.org/officeDocument/2006/relationships/image" Target="../media/image113.wmf"/></Relationships>
</file>

<file path=ppt/slides/_rels/slide38.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3" Type="http://schemas.openxmlformats.org/officeDocument/2006/relationships/image" Target="../media/image115.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16.wmf"/><Relationship Id="rId4" Type="http://schemas.openxmlformats.org/officeDocument/2006/relationships/oleObject" Target="../embeddings/oleObject117.bin"/></Relationships>
</file>

<file path=ppt/slides/_rels/slide4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3" Type="http://schemas.openxmlformats.org/officeDocument/2006/relationships/image" Target="../media/image117.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18.wmf"/><Relationship Id="rId4" Type="http://schemas.openxmlformats.org/officeDocument/2006/relationships/oleObject" Target="../embeddings/oleObject118.bin"/></Relationships>
</file>

<file path=ppt/slides/_rels/slide42.xml.rels><?xml version="1.0" encoding="UTF-8" standalone="yes"?>
<Relationships xmlns="http://schemas.openxmlformats.org/package/2006/relationships"><Relationship Id="rId8" Type="http://schemas.openxmlformats.org/officeDocument/2006/relationships/image" Target="../media/image121.wmf"/><Relationship Id="rId3" Type="http://schemas.openxmlformats.org/officeDocument/2006/relationships/oleObject" Target="../embeddings/oleObject119.bin"/><Relationship Id="rId7" Type="http://schemas.openxmlformats.org/officeDocument/2006/relationships/oleObject" Target="../embeddings/oleObject121.bin"/><Relationship Id="rId12" Type="http://schemas.openxmlformats.org/officeDocument/2006/relationships/image" Target="../media/image123.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20.wmf"/><Relationship Id="rId11" Type="http://schemas.openxmlformats.org/officeDocument/2006/relationships/oleObject" Target="../embeddings/oleObject123.bin"/><Relationship Id="rId5" Type="http://schemas.openxmlformats.org/officeDocument/2006/relationships/oleObject" Target="../embeddings/oleObject120.bin"/><Relationship Id="rId10" Type="http://schemas.openxmlformats.org/officeDocument/2006/relationships/image" Target="../media/image122.wmf"/><Relationship Id="rId4" Type="http://schemas.openxmlformats.org/officeDocument/2006/relationships/image" Target="../media/image119.wmf"/><Relationship Id="rId9" Type="http://schemas.openxmlformats.org/officeDocument/2006/relationships/oleObject" Target="../embeddings/oleObject122.bin"/></Relationships>
</file>

<file path=ppt/slides/_rels/slide43.xml.rels><?xml version="1.0" encoding="UTF-8" standalone="yes"?>
<Relationships xmlns="http://schemas.openxmlformats.org/package/2006/relationships"><Relationship Id="rId8" Type="http://schemas.openxmlformats.org/officeDocument/2006/relationships/image" Target="../media/image123.wmf"/><Relationship Id="rId3" Type="http://schemas.openxmlformats.org/officeDocument/2006/relationships/oleObject" Target="../embeddings/oleObject124.bin"/><Relationship Id="rId7" Type="http://schemas.openxmlformats.org/officeDocument/2006/relationships/oleObject" Target="../embeddings/oleObject12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25.wmf"/><Relationship Id="rId5" Type="http://schemas.openxmlformats.org/officeDocument/2006/relationships/oleObject" Target="../embeddings/oleObject125.bin"/><Relationship Id="rId4" Type="http://schemas.openxmlformats.org/officeDocument/2006/relationships/image" Target="../media/image124.wmf"/></Relationships>
</file>

<file path=ppt/slides/_rels/slide44.xml.rels><?xml version="1.0" encoding="UTF-8" standalone="yes"?>
<Relationships xmlns="http://schemas.openxmlformats.org/package/2006/relationships"><Relationship Id="rId3" Type="http://schemas.openxmlformats.org/officeDocument/2006/relationships/image" Target="../media/image126.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27.wmf"/><Relationship Id="rId4" Type="http://schemas.openxmlformats.org/officeDocument/2006/relationships/oleObject" Target="../embeddings/oleObject127.bin"/></Relationships>
</file>

<file path=ppt/slides/_rels/slide4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3" Type="http://schemas.openxmlformats.org/officeDocument/2006/relationships/oleObject" Target="../embeddings/oleObject128.bin"/><Relationship Id="rId7" Type="http://schemas.openxmlformats.org/officeDocument/2006/relationships/image" Target="../media/image130.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29.wmf"/><Relationship Id="rId5" Type="http://schemas.openxmlformats.org/officeDocument/2006/relationships/oleObject" Target="../embeddings/oleObject129.bin"/><Relationship Id="rId4" Type="http://schemas.openxmlformats.org/officeDocument/2006/relationships/image" Target="../media/image128.wmf"/></Relationships>
</file>

<file path=ppt/slides/_rels/slide47.xml.rels><?xml version="1.0" encoding="UTF-8" standalone="yes"?>
<Relationships xmlns="http://schemas.openxmlformats.org/package/2006/relationships"><Relationship Id="rId8" Type="http://schemas.openxmlformats.org/officeDocument/2006/relationships/image" Target="../media/image133.wmf"/><Relationship Id="rId3" Type="http://schemas.openxmlformats.org/officeDocument/2006/relationships/oleObject" Target="../embeddings/oleObject130.bin"/><Relationship Id="rId7" Type="http://schemas.openxmlformats.org/officeDocument/2006/relationships/oleObject" Target="../embeddings/oleObject13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2.wmf"/><Relationship Id="rId5" Type="http://schemas.openxmlformats.org/officeDocument/2006/relationships/oleObject" Target="../embeddings/oleObject131.bin"/><Relationship Id="rId10" Type="http://schemas.openxmlformats.org/officeDocument/2006/relationships/image" Target="../media/image134.wmf"/><Relationship Id="rId4" Type="http://schemas.openxmlformats.org/officeDocument/2006/relationships/image" Target="../media/image131.wmf"/><Relationship Id="rId9" Type="http://schemas.openxmlformats.org/officeDocument/2006/relationships/oleObject" Target="../embeddings/oleObject133.bin"/></Relationships>
</file>

<file path=ppt/slides/_rels/slide48.xml.rels><?xml version="1.0" encoding="UTF-8" standalone="yes"?>
<Relationships xmlns="http://schemas.openxmlformats.org/package/2006/relationships"><Relationship Id="rId3" Type="http://schemas.openxmlformats.org/officeDocument/2006/relationships/oleObject" Target="../embeddings/oleObject13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6.wmf"/><Relationship Id="rId5" Type="http://schemas.openxmlformats.org/officeDocument/2006/relationships/oleObject" Target="../embeddings/oleObject135.bin"/><Relationship Id="rId4" Type="http://schemas.openxmlformats.org/officeDocument/2006/relationships/image" Target="../media/image135.wmf"/></Relationships>
</file>

<file path=ppt/slides/_rels/slide49.xml.rels><?xml version="1.0" encoding="UTF-8" standalone="yes"?>
<Relationships xmlns="http://schemas.openxmlformats.org/package/2006/relationships"><Relationship Id="rId3" Type="http://schemas.openxmlformats.org/officeDocument/2006/relationships/image" Target="../media/image13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8" Type="http://schemas.openxmlformats.org/officeDocument/2006/relationships/image" Target="../media/image140.wmf"/><Relationship Id="rId3" Type="http://schemas.openxmlformats.org/officeDocument/2006/relationships/oleObject" Target="../embeddings/oleObject136.bin"/><Relationship Id="rId7" Type="http://schemas.openxmlformats.org/officeDocument/2006/relationships/oleObject" Target="../embeddings/oleObject138.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39.wmf"/><Relationship Id="rId5" Type="http://schemas.openxmlformats.org/officeDocument/2006/relationships/oleObject" Target="../embeddings/oleObject137.bin"/><Relationship Id="rId10" Type="http://schemas.openxmlformats.org/officeDocument/2006/relationships/image" Target="../media/image141.wmf"/><Relationship Id="rId4" Type="http://schemas.openxmlformats.org/officeDocument/2006/relationships/image" Target="../media/image138.wmf"/><Relationship Id="rId9" Type="http://schemas.openxmlformats.org/officeDocument/2006/relationships/oleObject" Target="../embeddings/oleObject139.bin"/></Relationships>
</file>

<file path=ppt/slides/_rels/slide51.xml.rels><?xml version="1.0" encoding="UTF-8" standalone="yes"?>
<Relationships xmlns="http://schemas.openxmlformats.org/package/2006/relationships"><Relationship Id="rId3" Type="http://schemas.openxmlformats.org/officeDocument/2006/relationships/oleObject" Target="../embeddings/oleObject14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43.wmf"/><Relationship Id="rId5" Type="http://schemas.openxmlformats.org/officeDocument/2006/relationships/oleObject" Target="../embeddings/oleObject141.bin"/><Relationship Id="rId4" Type="http://schemas.openxmlformats.org/officeDocument/2006/relationships/image" Target="../media/image142.wmf"/></Relationships>
</file>

<file path=ppt/slides/_rels/slide52.xml.rels><?xml version="1.0" encoding="UTF-8" standalone="yes"?>
<Relationships xmlns="http://schemas.openxmlformats.org/package/2006/relationships"><Relationship Id="rId3" Type="http://schemas.openxmlformats.org/officeDocument/2006/relationships/image" Target="../media/image144.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3.xml.rels><?xml version="1.0" encoding="UTF-8" standalone="yes"?>
<Relationships xmlns="http://schemas.openxmlformats.org/package/2006/relationships"><Relationship Id="rId3" Type="http://schemas.openxmlformats.org/officeDocument/2006/relationships/image" Target="../media/image14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4.xml.rels><?xml version="1.0" encoding="UTF-8" standalone="yes"?>
<Relationships xmlns="http://schemas.openxmlformats.org/package/2006/relationships"><Relationship Id="rId8" Type="http://schemas.openxmlformats.org/officeDocument/2006/relationships/image" Target="../media/image148.wmf"/><Relationship Id="rId3" Type="http://schemas.openxmlformats.org/officeDocument/2006/relationships/oleObject" Target="../embeddings/oleObject142.bin"/><Relationship Id="rId7" Type="http://schemas.openxmlformats.org/officeDocument/2006/relationships/oleObject" Target="../embeddings/oleObject14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47.wmf"/><Relationship Id="rId5" Type="http://schemas.openxmlformats.org/officeDocument/2006/relationships/oleObject" Target="../embeddings/oleObject143.bin"/><Relationship Id="rId4" Type="http://schemas.openxmlformats.org/officeDocument/2006/relationships/image" Target="../media/image146.wmf"/></Relationships>
</file>

<file path=ppt/slides/_rels/slide55.xml.rels><?xml version="1.0" encoding="UTF-8" standalone="yes"?>
<Relationships xmlns="http://schemas.openxmlformats.org/package/2006/relationships"><Relationship Id="rId3" Type="http://schemas.openxmlformats.org/officeDocument/2006/relationships/image" Target="../media/image14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7.xml.rels><?xml version="1.0" encoding="UTF-8" standalone="yes"?>
<Relationships xmlns="http://schemas.openxmlformats.org/package/2006/relationships"><Relationship Id="rId3" Type="http://schemas.openxmlformats.org/officeDocument/2006/relationships/image" Target="../media/image15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58.xml.rels><?xml version="1.0" encoding="UTF-8" standalone="yes"?>
<Relationships xmlns="http://schemas.openxmlformats.org/package/2006/relationships"><Relationship Id="rId8" Type="http://schemas.openxmlformats.org/officeDocument/2006/relationships/image" Target="../media/image153.wmf"/><Relationship Id="rId3" Type="http://schemas.openxmlformats.org/officeDocument/2006/relationships/oleObject" Target="../embeddings/oleObject145.bin"/><Relationship Id="rId7" Type="http://schemas.openxmlformats.org/officeDocument/2006/relationships/oleObject" Target="../embeddings/oleObject147.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52.wmf"/><Relationship Id="rId5" Type="http://schemas.openxmlformats.org/officeDocument/2006/relationships/oleObject" Target="../embeddings/oleObject146.bin"/><Relationship Id="rId4" Type="http://schemas.openxmlformats.org/officeDocument/2006/relationships/image" Target="../media/image151.wmf"/></Relationships>
</file>

<file path=ppt/slides/_rels/slide59.xml.rels><?xml version="1.0" encoding="UTF-8" standalone="yes"?>
<Relationships xmlns="http://schemas.openxmlformats.org/package/2006/relationships"><Relationship Id="rId8" Type="http://schemas.openxmlformats.org/officeDocument/2006/relationships/image" Target="../media/image156.wmf"/><Relationship Id="rId3" Type="http://schemas.openxmlformats.org/officeDocument/2006/relationships/oleObject" Target="../embeddings/oleObject148.bin"/><Relationship Id="rId7" Type="http://schemas.openxmlformats.org/officeDocument/2006/relationships/oleObject" Target="../embeddings/oleObject15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55.wmf"/><Relationship Id="rId5" Type="http://schemas.openxmlformats.org/officeDocument/2006/relationships/oleObject" Target="../embeddings/oleObject149.bin"/><Relationship Id="rId10" Type="http://schemas.openxmlformats.org/officeDocument/2006/relationships/image" Target="../media/image157.wmf"/><Relationship Id="rId4" Type="http://schemas.openxmlformats.org/officeDocument/2006/relationships/image" Target="../media/image154.wmf"/><Relationship Id="rId9" Type="http://schemas.openxmlformats.org/officeDocument/2006/relationships/oleObject" Target="../embeddings/oleObject151.bin"/></Relationships>
</file>

<file path=ppt/slides/_rels/slide60.xml.rels><?xml version="1.0" encoding="UTF-8" standalone="yes"?>
<Relationships xmlns="http://schemas.openxmlformats.org/package/2006/relationships"><Relationship Id="rId3" Type="http://schemas.openxmlformats.org/officeDocument/2006/relationships/oleObject" Target="../embeddings/oleObject152.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58.wmf"/></Relationships>
</file>

<file path=ppt/slides/_rels/slide61.xml.rels><?xml version="1.0" encoding="UTF-8" standalone="yes"?>
<Relationships xmlns="http://schemas.openxmlformats.org/package/2006/relationships"><Relationship Id="rId8" Type="http://schemas.openxmlformats.org/officeDocument/2006/relationships/image" Target="../media/image161.wmf"/><Relationship Id="rId3" Type="http://schemas.openxmlformats.org/officeDocument/2006/relationships/oleObject" Target="../embeddings/oleObject153.bin"/><Relationship Id="rId7" Type="http://schemas.openxmlformats.org/officeDocument/2006/relationships/oleObject" Target="../embeddings/oleObject155.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0.wmf"/><Relationship Id="rId5" Type="http://schemas.openxmlformats.org/officeDocument/2006/relationships/oleObject" Target="../embeddings/oleObject154.bin"/><Relationship Id="rId4" Type="http://schemas.openxmlformats.org/officeDocument/2006/relationships/image" Target="../media/image159.wmf"/></Relationships>
</file>

<file path=ppt/slides/_rels/slide62.xml.rels><?xml version="1.0" encoding="UTF-8" standalone="yes"?>
<Relationships xmlns="http://schemas.openxmlformats.org/package/2006/relationships"><Relationship Id="rId3" Type="http://schemas.openxmlformats.org/officeDocument/2006/relationships/oleObject" Target="../embeddings/oleObject15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3.wmf"/><Relationship Id="rId5" Type="http://schemas.openxmlformats.org/officeDocument/2006/relationships/oleObject" Target="../embeddings/oleObject157.bin"/><Relationship Id="rId4" Type="http://schemas.openxmlformats.org/officeDocument/2006/relationships/image" Target="../media/image162.wmf"/></Relationships>
</file>

<file path=ppt/slides/_rels/slide63.xml.rels><?xml version="1.0" encoding="UTF-8" standalone="yes"?>
<Relationships xmlns="http://schemas.openxmlformats.org/package/2006/relationships"><Relationship Id="rId8" Type="http://schemas.openxmlformats.org/officeDocument/2006/relationships/image" Target="../media/image166.wmf"/><Relationship Id="rId3" Type="http://schemas.openxmlformats.org/officeDocument/2006/relationships/oleObject" Target="../embeddings/oleObject158.bin"/><Relationship Id="rId7" Type="http://schemas.openxmlformats.org/officeDocument/2006/relationships/oleObject" Target="../embeddings/oleObject16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5.wmf"/><Relationship Id="rId5" Type="http://schemas.openxmlformats.org/officeDocument/2006/relationships/oleObject" Target="../embeddings/oleObject159.bin"/><Relationship Id="rId4" Type="http://schemas.openxmlformats.org/officeDocument/2006/relationships/image" Target="../media/image164.wmf"/></Relationships>
</file>

<file path=ppt/slides/_rels/slide64.xml.rels><?xml version="1.0" encoding="UTF-8" standalone="yes"?>
<Relationships xmlns="http://schemas.openxmlformats.org/package/2006/relationships"><Relationship Id="rId8" Type="http://schemas.openxmlformats.org/officeDocument/2006/relationships/image" Target="../media/image169.wmf"/><Relationship Id="rId3" Type="http://schemas.openxmlformats.org/officeDocument/2006/relationships/oleObject" Target="../embeddings/oleObject161.bin"/><Relationship Id="rId7" Type="http://schemas.openxmlformats.org/officeDocument/2006/relationships/oleObject" Target="../embeddings/oleObject163.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68.wmf"/><Relationship Id="rId5" Type="http://schemas.openxmlformats.org/officeDocument/2006/relationships/oleObject" Target="../embeddings/oleObject162.bin"/><Relationship Id="rId10" Type="http://schemas.openxmlformats.org/officeDocument/2006/relationships/image" Target="../media/image170.wmf"/><Relationship Id="rId4" Type="http://schemas.openxmlformats.org/officeDocument/2006/relationships/image" Target="../media/image167.wmf"/><Relationship Id="rId9" Type="http://schemas.openxmlformats.org/officeDocument/2006/relationships/oleObject" Target="../embeddings/oleObject164.bin"/></Relationships>
</file>

<file path=ppt/slides/_rels/slide65.xml.rels><?xml version="1.0" encoding="UTF-8" standalone="yes"?>
<Relationships xmlns="http://schemas.openxmlformats.org/package/2006/relationships"><Relationship Id="rId8" Type="http://schemas.openxmlformats.org/officeDocument/2006/relationships/image" Target="../media/image173.wmf"/><Relationship Id="rId13" Type="http://schemas.openxmlformats.org/officeDocument/2006/relationships/oleObject" Target="../embeddings/oleObject170.bin"/><Relationship Id="rId18" Type="http://schemas.openxmlformats.org/officeDocument/2006/relationships/oleObject" Target="../embeddings/oleObject172.bin"/><Relationship Id="rId3" Type="http://schemas.openxmlformats.org/officeDocument/2006/relationships/oleObject" Target="../embeddings/oleObject165.bin"/><Relationship Id="rId7" Type="http://schemas.openxmlformats.org/officeDocument/2006/relationships/oleObject" Target="../embeddings/oleObject167.bin"/><Relationship Id="rId12" Type="http://schemas.openxmlformats.org/officeDocument/2006/relationships/image" Target="../media/image175.wmf"/><Relationship Id="rId17" Type="http://schemas.openxmlformats.org/officeDocument/2006/relationships/image" Target="../media/image178.wmf"/><Relationship Id="rId2" Type="http://schemas.openxmlformats.org/officeDocument/2006/relationships/image" Target="../media/image3.jpeg"/><Relationship Id="rId16" Type="http://schemas.openxmlformats.org/officeDocument/2006/relationships/oleObject" Target="../embeddings/oleObject171.bin"/><Relationship Id="rId1" Type="http://schemas.openxmlformats.org/officeDocument/2006/relationships/slideLayout" Target="../slideLayouts/slideLayout7.xml"/><Relationship Id="rId6" Type="http://schemas.openxmlformats.org/officeDocument/2006/relationships/image" Target="../media/image172.wmf"/><Relationship Id="rId11" Type="http://schemas.openxmlformats.org/officeDocument/2006/relationships/oleObject" Target="../embeddings/oleObject169.bin"/><Relationship Id="rId5" Type="http://schemas.openxmlformats.org/officeDocument/2006/relationships/oleObject" Target="../embeddings/oleObject166.bin"/><Relationship Id="rId15" Type="http://schemas.openxmlformats.org/officeDocument/2006/relationships/image" Target="../media/image177.wmf"/><Relationship Id="rId10" Type="http://schemas.openxmlformats.org/officeDocument/2006/relationships/image" Target="../media/image174.wmf"/><Relationship Id="rId19" Type="http://schemas.openxmlformats.org/officeDocument/2006/relationships/image" Target="../media/image179.wmf"/><Relationship Id="rId4" Type="http://schemas.openxmlformats.org/officeDocument/2006/relationships/image" Target="../media/image171.wmf"/><Relationship Id="rId9" Type="http://schemas.openxmlformats.org/officeDocument/2006/relationships/oleObject" Target="../embeddings/oleObject168.bin"/><Relationship Id="rId14" Type="http://schemas.openxmlformats.org/officeDocument/2006/relationships/image" Target="../media/image176.wmf"/></Relationships>
</file>

<file path=ppt/slides/_rels/slide66.xml.rels><?xml version="1.0" encoding="UTF-8" standalone="yes"?>
<Relationships xmlns="http://schemas.openxmlformats.org/package/2006/relationships"><Relationship Id="rId3" Type="http://schemas.openxmlformats.org/officeDocument/2006/relationships/image" Target="../media/image180.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81.wmf"/><Relationship Id="rId4" Type="http://schemas.openxmlformats.org/officeDocument/2006/relationships/oleObject" Target="../embeddings/oleObject173.bin"/></Relationships>
</file>

<file path=ppt/slides/_rels/slide67.xml.rels><?xml version="1.0" encoding="UTF-8" standalone="yes"?>
<Relationships xmlns="http://schemas.openxmlformats.org/package/2006/relationships"><Relationship Id="rId3" Type="http://schemas.openxmlformats.org/officeDocument/2006/relationships/image" Target="../media/image18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8" Type="http://schemas.openxmlformats.org/officeDocument/2006/relationships/image" Target="../media/image185.wmf"/><Relationship Id="rId13" Type="http://schemas.openxmlformats.org/officeDocument/2006/relationships/oleObject" Target="../embeddings/oleObject179.bin"/><Relationship Id="rId18" Type="http://schemas.openxmlformats.org/officeDocument/2006/relationships/image" Target="../media/image190.wmf"/><Relationship Id="rId3" Type="http://schemas.openxmlformats.org/officeDocument/2006/relationships/oleObject" Target="../embeddings/oleObject174.bin"/><Relationship Id="rId7" Type="http://schemas.openxmlformats.org/officeDocument/2006/relationships/oleObject" Target="../embeddings/oleObject176.bin"/><Relationship Id="rId12" Type="http://schemas.openxmlformats.org/officeDocument/2006/relationships/image" Target="../media/image187.wmf"/><Relationship Id="rId17" Type="http://schemas.openxmlformats.org/officeDocument/2006/relationships/oleObject" Target="../embeddings/oleObject181.bin"/><Relationship Id="rId2" Type="http://schemas.openxmlformats.org/officeDocument/2006/relationships/image" Target="../media/image3.jpeg"/><Relationship Id="rId16" Type="http://schemas.openxmlformats.org/officeDocument/2006/relationships/image" Target="../media/image189.wmf"/><Relationship Id="rId20" Type="http://schemas.openxmlformats.org/officeDocument/2006/relationships/image" Target="../media/image191.wmf"/><Relationship Id="rId1" Type="http://schemas.openxmlformats.org/officeDocument/2006/relationships/slideLayout" Target="../slideLayouts/slideLayout7.xml"/><Relationship Id="rId6" Type="http://schemas.openxmlformats.org/officeDocument/2006/relationships/image" Target="../media/image184.wmf"/><Relationship Id="rId11" Type="http://schemas.openxmlformats.org/officeDocument/2006/relationships/oleObject" Target="../embeddings/oleObject178.bin"/><Relationship Id="rId5" Type="http://schemas.openxmlformats.org/officeDocument/2006/relationships/oleObject" Target="../embeddings/oleObject175.bin"/><Relationship Id="rId15" Type="http://schemas.openxmlformats.org/officeDocument/2006/relationships/oleObject" Target="../embeddings/oleObject180.bin"/><Relationship Id="rId10" Type="http://schemas.openxmlformats.org/officeDocument/2006/relationships/image" Target="../media/image186.wmf"/><Relationship Id="rId19" Type="http://schemas.openxmlformats.org/officeDocument/2006/relationships/oleObject" Target="../embeddings/oleObject182.bin"/><Relationship Id="rId4" Type="http://schemas.openxmlformats.org/officeDocument/2006/relationships/image" Target="../media/image183.wmf"/><Relationship Id="rId9" Type="http://schemas.openxmlformats.org/officeDocument/2006/relationships/oleObject" Target="../embeddings/oleObject177.bin"/><Relationship Id="rId14" Type="http://schemas.openxmlformats.org/officeDocument/2006/relationships/image" Target="../media/image188.wmf"/></Relationships>
</file>

<file path=ppt/slides/_rels/slide69.xml.rels><?xml version="1.0" encoding="UTF-8" standalone="yes"?>
<Relationships xmlns="http://schemas.openxmlformats.org/package/2006/relationships"><Relationship Id="rId8" Type="http://schemas.openxmlformats.org/officeDocument/2006/relationships/oleObject" Target="../embeddings/oleObject185.bin"/><Relationship Id="rId13" Type="http://schemas.openxmlformats.org/officeDocument/2006/relationships/image" Target="../media/image191.wmf"/><Relationship Id="rId3" Type="http://schemas.openxmlformats.org/officeDocument/2006/relationships/image" Target="../media/image192.png"/><Relationship Id="rId7" Type="http://schemas.openxmlformats.org/officeDocument/2006/relationships/image" Target="../media/image183.wmf"/><Relationship Id="rId12" Type="http://schemas.openxmlformats.org/officeDocument/2006/relationships/oleObject" Target="../embeddings/oleObject187.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184.bin"/><Relationship Id="rId11" Type="http://schemas.openxmlformats.org/officeDocument/2006/relationships/image" Target="../media/image190.wmf"/><Relationship Id="rId5" Type="http://schemas.openxmlformats.org/officeDocument/2006/relationships/image" Target="../media/image193.wmf"/><Relationship Id="rId10" Type="http://schemas.openxmlformats.org/officeDocument/2006/relationships/oleObject" Target="../embeddings/oleObject186.bin"/><Relationship Id="rId4" Type="http://schemas.openxmlformats.org/officeDocument/2006/relationships/oleObject" Target="../embeddings/oleObject183.bin"/><Relationship Id="rId9" Type="http://schemas.openxmlformats.org/officeDocument/2006/relationships/image" Target="../media/image184.wmf"/></Relationships>
</file>

<file path=ppt/slides/_rels/slide70.xml.rels><?xml version="1.0" encoding="UTF-8" standalone="yes"?>
<Relationships xmlns="http://schemas.openxmlformats.org/package/2006/relationships"><Relationship Id="rId3" Type="http://schemas.openxmlformats.org/officeDocument/2006/relationships/oleObject" Target="../embeddings/oleObject188.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194.emf"/></Relationships>
</file>

<file path=ppt/slides/_rels/slide71.xml.rels><?xml version="1.0" encoding="UTF-8" standalone="yes"?>
<Relationships xmlns="http://schemas.openxmlformats.org/package/2006/relationships"><Relationship Id="rId3" Type="http://schemas.openxmlformats.org/officeDocument/2006/relationships/oleObject" Target="../embeddings/oleObject189.bin"/><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196.png"/><Relationship Id="rId4" Type="http://schemas.openxmlformats.org/officeDocument/2006/relationships/image" Target="../media/image195.wmf"/></Relationships>
</file>

<file path=ppt/slides/_rels/slide72.xml.rels><?xml version="1.0" encoding="UTF-8" standalone="yes"?>
<Relationships xmlns="http://schemas.openxmlformats.org/package/2006/relationships"><Relationship Id="rId8" Type="http://schemas.openxmlformats.org/officeDocument/2006/relationships/image" Target="../media/image199.wmf"/><Relationship Id="rId3" Type="http://schemas.openxmlformats.org/officeDocument/2006/relationships/oleObject" Target="../embeddings/oleObject190.bin"/><Relationship Id="rId7" Type="http://schemas.openxmlformats.org/officeDocument/2006/relationships/oleObject" Target="../embeddings/oleObject19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198.wmf"/><Relationship Id="rId5" Type="http://schemas.openxmlformats.org/officeDocument/2006/relationships/oleObject" Target="../embeddings/oleObject191.bin"/><Relationship Id="rId10" Type="http://schemas.openxmlformats.org/officeDocument/2006/relationships/image" Target="../media/image200.wmf"/><Relationship Id="rId4" Type="http://schemas.openxmlformats.org/officeDocument/2006/relationships/image" Target="../media/image197.wmf"/><Relationship Id="rId9" Type="http://schemas.openxmlformats.org/officeDocument/2006/relationships/oleObject" Target="../embeddings/oleObject193.bin"/></Relationships>
</file>

<file path=ppt/slides/_rels/slide7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4.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75.xml.rels><?xml version="1.0" encoding="UTF-8" standalone="yes"?>
<Relationships xmlns="http://schemas.openxmlformats.org/package/2006/relationships"><Relationship Id="rId3" Type="http://schemas.openxmlformats.org/officeDocument/2006/relationships/oleObject" Target="../embeddings/oleObject19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3.wmf"/><Relationship Id="rId5" Type="http://schemas.openxmlformats.org/officeDocument/2006/relationships/oleObject" Target="../embeddings/oleObject195.bin"/><Relationship Id="rId4" Type="http://schemas.openxmlformats.org/officeDocument/2006/relationships/image" Target="../media/image202.wmf"/></Relationships>
</file>

<file path=ppt/slides/_rels/slide76.xml.rels><?xml version="1.0" encoding="UTF-8" standalone="yes"?>
<Relationships xmlns="http://schemas.openxmlformats.org/package/2006/relationships"><Relationship Id="rId8" Type="http://schemas.openxmlformats.org/officeDocument/2006/relationships/image" Target="../media/image206.wmf"/><Relationship Id="rId3" Type="http://schemas.openxmlformats.org/officeDocument/2006/relationships/oleObject" Target="../embeddings/oleObject196.bin"/><Relationship Id="rId7" Type="http://schemas.openxmlformats.org/officeDocument/2006/relationships/oleObject" Target="../embeddings/oleObject198.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5.wmf"/><Relationship Id="rId5" Type="http://schemas.openxmlformats.org/officeDocument/2006/relationships/oleObject" Target="../embeddings/oleObject197.bin"/><Relationship Id="rId4" Type="http://schemas.openxmlformats.org/officeDocument/2006/relationships/image" Target="../media/image204.wmf"/></Relationships>
</file>

<file path=ppt/slides/_rels/slide77.xml.rels><?xml version="1.0" encoding="UTF-8" standalone="yes"?>
<Relationships xmlns="http://schemas.openxmlformats.org/package/2006/relationships"><Relationship Id="rId8" Type="http://schemas.openxmlformats.org/officeDocument/2006/relationships/image" Target="../media/image209.wmf"/><Relationship Id="rId3" Type="http://schemas.openxmlformats.org/officeDocument/2006/relationships/oleObject" Target="../embeddings/oleObject199.bin"/><Relationship Id="rId7" Type="http://schemas.openxmlformats.org/officeDocument/2006/relationships/oleObject" Target="../embeddings/oleObject201.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8.wmf"/><Relationship Id="rId5" Type="http://schemas.openxmlformats.org/officeDocument/2006/relationships/oleObject" Target="../embeddings/oleObject200.bin"/><Relationship Id="rId4" Type="http://schemas.openxmlformats.org/officeDocument/2006/relationships/image" Target="../media/image207.wmf"/></Relationships>
</file>

<file path=ppt/slides/_rels/slide78.xml.rels><?xml version="1.0" encoding="UTF-8" standalone="yes"?>
<Relationships xmlns="http://schemas.openxmlformats.org/package/2006/relationships"><Relationship Id="rId8" Type="http://schemas.openxmlformats.org/officeDocument/2006/relationships/image" Target="../media/image212.wmf"/><Relationship Id="rId3" Type="http://schemas.openxmlformats.org/officeDocument/2006/relationships/oleObject" Target="../embeddings/oleObject202.bin"/><Relationship Id="rId7" Type="http://schemas.openxmlformats.org/officeDocument/2006/relationships/oleObject" Target="../embeddings/oleObject20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11.wmf"/><Relationship Id="rId5" Type="http://schemas.openxmlformats.org/officeDocument/2006/relationships/oleObject" Target="../embeddings/oleObject203.bin"/><Relationship Id="rId4" Type="http://schemas.openxmlformats.org/officeDocument/2006/relationships/image" Target="../media/image210.wmf"/></Relationships>
</file>

<file path=ppt/slides/_rels/slide79.xml.rels><?xml version="1.0" encoding="UTF-8" standalone="yes"?>
<Relationships xmlns="http://schemas.openxmlformats.org/package/2006/relationships"><Relationship Id="rId8" Type="http://schemas.openxmlformats.org/officeDocument/2006/relationships/image" Target="../media/image215.wmf"/><Relationship Id="rId3" Type="http://schemas.openxmlformats.org/officeDocument/2006/relationships/oleObject" Target="../embeddings/oleObject205.bin"/><Relationship Id="rId7" Type="http://schemas.openxmlformats.org/officeDocument/2006/relationships/oleObject" Target="../embeddings/oleObject207.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14.wmf"/><Relationship Id="rId5" Type="http://schemas.openxmlformats.org/officeDocument/2006/relationships/oleObject" Target="../embeddings/oleObject206.bin"/><Relationship Id="rId10" Type="http://schemas.openxmlformats.org/officeDocument/2006/relationships/image" Target="../media/image216.wmf"/><Relationship Id="rId4" Type="http://schemas.openxmlformats.org/officeDocument/2006/relationships/image" Target="../media/image213.wmf"/><Relationship Id="rId9" Type="http://schemas.openxmlformats.org/officeDocument/2006/relationships/oleObject" Target="../embeddings/oleObject208.bin"/></Relationships>
</file>

<file path=ppt/slides/_rels/slide8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2.xml.rels><?xml version="1.0" encoding="UTF-8" standalone="yes"?>
<Relationships xmlns="http://schemas.openxmlformats.org/package/2006/relationships"><Relationship Id="rId8" Type="http://schemas.openxmlformats.org/officeDocument/2006/relationships/image" Target="../media/image219.wmf"/><Relationship Id="rId3" Type="http://schemas.openxmlformats.org/officeDocument/2006/relationships/oleObject" Target="../embeddings/oleObject209.bin"/><Relationship Id="rId7" Type="http://schemas.openxmlformats.org/officeDocument/2006/relationships/oleObject" Target="../embeddings/oleObject211.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18.wmf"/><Relationship Id="rId5" Type="http://schemas.openxmlformats.org/officeDocument/2006/relationships/oleObject" Target="../embeddings/oleObject210.bin"/><Relationship Id="rId4" Type="http://schemas.openxmlformats.org/officeDocument/2006/relationships/image" Target="../media/image217.wmf"/></Relationships>
</file>

<file path=ppt/slides/_rels/slide83.xml.rels><?xml version="1.0" encoding="UTF-8" standalone="yes"?>
<Relationships xmlns="http://schemas.openxmlformats.org/package/2006/relationships"><Relationship Id="rId3" Type="http://schemas.openxmlformats.org/officeDocument/2006/relationships/image" Target="../media/image22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4.xml.rels><?xml version="1.0" encoding="UTF-8" standalone="yes"?>
<Relationships xmlns="http://schemas.openxmlformats.org/package/2006/relationships"><Relationship Id="rId3" Type="http://schemas.openxmlformats.org/officeDocument/2006/relationships/oleObject" Target="../embeddings/oleObject21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22.wmf"/><Relationship Id="rId5" Type="http://schemas.openxmlformats.org/officeDocument/2006/relationships/oleObject" Target="../embeddings/oleObject213.bin"/><Relationship Id="rId4" Type="http://schemas.openxmlformats.org/officeDocument/2006/relationships/image" Target="../media/image221.wmf"/></Relationships>
</file>

<file path=ppt/slides/_rels/slide85.xml.rels><?xml version="1.0" encoding="UTF-8" standalone="yes"?>
<Relationships xmlns="http://schemas.openxmlformats.org/package/2006/relationships"><Relationship Id="rId8" Type="http://schemas.openxmlformats.org/officeDocument/2006/relationships/image" Target="../media/image225.wmf"/><Relationship Id="rId13" Type="http://schemas.openxmlformats.org/officeDocument/2006/relationships/oleObject" Target="../embeddings/oleObject219.bin"/><Relationship Id="rId3" Type="http://schemas.openxmlformats.org/officeDocument/2006/relationships/oleObject" Target="../embeddings/oleObject214.bin"/><Relationship Id="rId7" Type="http://schemas.openxmlformats.org/officeDocument/2006/relationships/oleObject" Target="../embeddings/oleObject216.bin"/><Relationship Id="rId12" Type="http://schemas.openxmlformats.org/officeDocument/2006/relationships/image" Target="../media/image227.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24.wmf"/><Relationship Id="rId11" Type="http://schemas.openxmlformats.org/officeDocument/2006/relationships/oleObject" Target="../embeddings/oleObject218.bin"/><Relationship Id="rId5" Type="http://schemas.openxmlformats.org/officeDocument/2006/relationships/oleObject" Target="../embeddings/oleObject215.bin"/><Relationship Id="rId10" Type="http://schemas.openxmlformats.org/officeDocument/2006/relationships/image" Target="../media/image226.wmf"/><Relationship Id="rId4" Type="http://schemas.openxmlformats.org/officeDocument/2006/relationships/image" Target="../media/image223.wmf"/><Relationship Id="rId9" Type="http://schemas.openxmlformats.org/officeDocument/2006/relationships/oleObject" Target="../embeddings/oleObject217.bin"/><Relationship Id="rId14" Type="http://schemas.openxmlformats.org/officeDocument/2006/relationships/image" Target="../media/image228.wmf"/></Relationships>
</file>

<file path=ppt/slides/_rels/slide86.xml.rels><?xml version="1.0" encoding="UTF-8" standalone="yes"?>
<Relationships xmlns="http://schemas.openxmlformats.org/package/2006/relationships"><Relationship Id="rId3" Type="http://schemas.openxmlformats.org/officeDocument/2006/relationships/image" Target="../media/image22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88.xml.rels><?xml version="1.0" encoding="UTF-8" standalone="yes"?>
<Relationships xmlns="http://schemas.openxmlformats.org/package/2006/relationships"><Relationship Id="rId8" Type="http://schemas.openxmlformats.org/officeDocument/2006/relationships/image" Target="../media/image231.wmf"/><Relationship Id="rId3" Type="http://schemas.openxmlformats.org/officeDocument/2006/relationships/oleObject" Target="../embeddings/oleObject220.bin"/><Relationship Id="rId7" Type="http://schemas.openxmlformats.org/officeDocument/2006/relationships/oleObject" Target="../embeddings/oleObject22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07.wmf"/><Relationship Id="rId5" Type="http://schemas.openxmlformats.org/officeDocument/2006/relationships/oleObject" Target="../embeddings/oleObject221.bin"/><Relationship Id="rId4" Type="http://schemas.openxmlformats.org/officeDocument/2006/relationships/image" Target="../media/image230.wmf"/></Relationships>
</file>

<file path=ppt/slides/_rels/slide89.xml.rels><?xml version="1.0" encoding="UTF-8" standalone="yes"?>
<Relationships xmlns="http://schemas.openxmlformats.org/package/2006/relationships"><Relationship Id="rId3" Type="http://schemas.openxmlformats.org/officeDocument/2006/relationships/oleObject" Target="../embeddings/oleObject223.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32.wmf"/></Relationships>
</file>

<file path=ppt/slides/_rels/slide90.xml.rels><?xml version="1.0" encoding="UTF-8" standalone="yes"?>
<Relationships xmlns="http://schemas.openxmlformats.org/package/2006/relationships"><Relationship Id="rId3" Type="http://schemas.openxmlformats.org/officeDocument/2006/relationships/oleObject" Target="../embeddings/oleObject22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33.wmf"/><Relationship Id="rId5" Type="http://schemas.openxmlformats.org/officeDocument/2006/relationships/oleObject" Target="../embeddings/oleObject225.bin"/><Relationship Id="rId4" Type="http://schemas.openxmlformats.org/officeDocument/2006/relationships/image" Target="../media/image210.wmf"/></Relationships>
</file>

<file path=ppt/slides/_rels/slide91.xml.rels><?xml version="1.0" encoding="UTF-8" standalone="yes"?>
<Relationships xmlns="http://schemas.openxmlformats.org/package/2006/relationships"><Relationship Id="rId3" Type="http://schemas.openxmlformats.org/officeDocument/2006/relationships/oleObject" Target="../embeddings/oleObject226.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34.wmf"/></Relationships>
</file>

<file path=ppt/slides/_rels/slide92.xml.rels><?xml version="1.0" encoding="UTF-8" standalone="yes"?>
<Relationships xmlns="http://schemas.openxmlformats.org/package/2006/relationships"><Relationship Id="rId3" Type="http://schemas.openxmlformats.org/officeDocument/2006/relationships/oleObject" Target="../embeddings/oleObject227.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21.wmf"/></Relationships>
</file>

<file path=ppt/slides/_rels/slide9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94.xml.rels><?xml version="1.0" encoding="UTF-8" standalone="yes"?>
<Relationships xmlns="http://schemas.openxmlformats.org/package/2006/relationships"><Relationship Id="rId3" Type="http://schemas.openxmlformats.org/officeDocument/2006/relationships/oleObject" Target="../embeddings/oleObject228.bin"/><Relationship Id="rId7" Type="http://schemas.openxmlformats.org/officeDocument/2006/relationships/image" Target="../media/image237.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36.emf"/><Relationship Id="rId5" Type="http://schemas.openxmlformats.org/officeDocument/2006/relationships/oleObject" Target="../embeddings/oleObject229.bin"/><Relationship Id="rId4" Type="http://schemas.openxmlformats.org/officeDocument/2006/relationships/image" Target="../media/image235.wmf"/></Relationships>
</file>

<file path=ppt/slides/_rels/slide95.xml.rels><?xml version="1.0" encoding="UTF-8" standalone="yes"?>
<Relationships xmlns="http://schemas.openxmlformats.org/package/2006/relationships"><Relationship Id="rId3" Type="http://schemas.openxmlformats.org/officeDocument/2006/relationships/image" Target="../media/image238.emf"/><Relationship Id="rId7" Type="http://schemas.openxmlformats.org/officeDocument/2006/relationships/image" Target="../media/image236.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229.bin"/><Relationship Id="rId5" Type="http://schemas.openxmlformats.org/officeDocument/2006/relationships/image" Target="../media/image240.emf"/><Relationship Id="rId4" Type="http://schemas.openxmlformats.org/officeDocument/2006/relationships/image" Target="../media/image239.emf"/></Relationships>
</file>

<file path=ppt/slides/_rels/slide96.xml.rels><?xml version="1.0" encoding="UTF-8" standalone="yes"?>
<Relationships xmlns="http://schemas.openxmlformats.org/package/2006/relationships"><Relationship Id="rId3" Type="http://schemas.openxmlformats.org/officeDocument/2006/relationships/image" Target="../media/image239.emf"/><Relationship Id="rId7" Type="http://schemas.openxmlformats.org/officeDocument/2006/relationships/image" Target="../media/image236.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229.bin"/><Relationship Id="rId5" Type="http://schemas.openxmlformats.org/officeDocument/2006/relationships/image" Target="../media/image241.emf"/><Relationship Id="rId4" Type="http://schemas.openxmlformats.org/officeDocument/2006/relationships/image" Target="../media/image240.emf"/></Relationships>
</file>

<file path=ppt/slides/_rels/slide97.xml.rels><?xml version="1.0" encoding="UTF-8" standalone="yes"?>
<Relationships xmlns="http://schemas.openxmlformats.org/package/2006/relationships"><Relationship Id="rId3" Type="http://schemas.openxmlformats.org/officeDocument/2006/relationships/image" Target="../media/image239.emf"/><Relationship Id="rId7" Type="http://schemas.openxmlformats.org/officeDocument/2006/relationships/image" Target="../media/image236.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229.bin"/><Relationship Id="rId5" Type="http://schemas.openxmlformats.org/officeDocument/2006/relationships/image" Target="../media/image242.emf"/><Relationship Id="rId4" Type="http://schemas.openxmlformats.org/officeDocument/2006/relationships/image" Target="../media/image240.emf"/></Relationships>
</file>

<file path=ppt/slides/_rels/slide98.xml.rels><?xml version="1.0" encoding="UTF-8" standalone="yes"?>
<Relationships xmlns="http://schemas.openxmlformats.org/package/2006/relationships"><Relationship Id="rId3" Type="http://schemas.openxmlformats.org/officeDocument/2006/relationships/image" Target="../media/image243.emf"/><Relationship Id="rId7" Type="http://schemas.openxmlformats.org/officeDocument/2006/relationships/image" Target="../media/image236.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229.bin"/><Relationship Id="rId5" Type="http://schemas.openxmlformats.org/officeDocument/2006/relationships/image" Target="../media/image245.emf"/><Relationship Id="rId4" Type="http://schemas.openxmlformats.org/officeDocument/2006/relationships/image" Target="../media/image244.emf"/></Relationships>
</file>

<file path=ppt/slides/_rels/slide99.xml.rels><?xml version="1.0" encoding="UTF-8" standalone="yes"?>
<Relationships xmlns="http://schemas.openxmlformats.org/package/2006/relationships"><Relationship Id="rId8" Type="http://schemas.openxmlformats.org/officeDocument/2006/relationships/image" Target="../media/image236.emf"/><Relationship Id="rId3" Type="http://schemas.openxmlformats.org/officeDocument/2006/relationships/image" Target="../media/image244.emf"/><Relationship Id="rId7" Type="http://schemas.openxmlformats.org/officeDocument/2006/relationships/oleObject" Target="../embeddings/oleObject229.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46.emf"/><Relationship Id="rId5" Type="http://schemas.openxmlformats.org/officeDocument/2006/relationships/oleObject" Target="../embeddings/oleObject230.bin"/><Relationship Id="rId4" Type="http://schemas.openxmlformats.org/officeDocument/2006/relationships/image" Target="../media/image245.emf"/></Relationships>
</file>

<file path=ppt/slides/_rels/slide100.xml.rels><?xml version="1.0" encoding="UTF-8" standalone="yes"?>
<Relationships xmlns="http://schemas.openxmlformats.org/package/2006/relationships"><Relationship Id="rId3" Type="http://schemas.openxmlformats.org/officeDocument/2006/relationships/image" Target="../media/image244.emf"/><Relationship Id="rId7" Type="http://schemas.openxmlformats.org/officeDocument/2006/relationships/image" Target="../media/image236.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229.bin"/><Relationship Id="rId5" Type="http://schemas.openxmlformats.org/officeDocument/2006/relationships/image" Target="../media/image247.emf"/><Relationship Id="rId4" Type="http://schemas.openxmlformats.org/officeDocument/2006/relationships/image" Target="../media/image245.emf"/></Relationships>
</file>

<file path=ppt/slides/_rels/slide101.xml.rels><?xml version="1.0" encoding="UTF-8" standalone="yes"?>
<Relationships xmlns="http://schemas.openxmlformats.org/package/2006/relationships"><Relationship Id="rId3" Type="http://schemas.openxmlformats.org/officeDocument/2006/relationships/image" Target="../media/image248.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36.emf"/><Relationship Id="rId5" Type="http://schemas.openxmlformats.org/officeDocument/2006/relationships/oleObject" Target="../embeddings/oleObject229.bin"/><Relationship Id="rId4" Type="http://schemas.openxmlformats.org/officeDocument/2006/relationships/image" Target="../media/image249.emf"/></Relationships>
</file>

<file path=ppt/slides/_rels/slide102.xml.rels><?xml version="1.0" encoding="UTF-8" standalone="yes"?>
<Relationships xmlns="http://schemas.openxmlformats.org/package/2006/relationships"><Relationship Id="rId3" Type="http://schemas.openxmlformats.org/officeDocument/2006/relationships/image" Target="../media/image248.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36.emf"/><Relationship Id="rId5" Type="http://schemas.openxmlformats.org/officeDocument/2006/relationships/oleObject" Target="../embeddings/oleObject229.bin"/><Relationship Id="rId4" Type="http://schemas.openxmlformats.org/officeDocument/2006/relationships/image" Target="../media/image250.emf"/></Relationships>
</file>

<file path=ppt/slides/_rels/slide103.xml.rels><?xml version="1.0" encoding="UTF-8" standalone="yes"?>
<Relationships xmlns="http://schemas.openxmlformats.org/package/2006/relationships"><Relationship Id="rId3" Type="http://schemas.openxmlformats.org/officeDocument/2006/relationships/image" Target="../media/image248.e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36.emf"/><Relationship Id="rId5" Type="http://schemas.openxmlformats.org/officeDocument/2006/relationships/oleObject" Target="../embeddings/oleObject229.bin"/><Relationship Id="rId4" Type="http://schemas.openxmlformats.org/officeDocument/2006/relationships/image" Target="../media/image251.emf"/></Relationships>
</file>

<file path=ppt/slides/_rels/slide104.xml.rels><?xml version="1.0" encoding="UTF-8" standalone="yes"?>
<Relationships xmlns="http://schemas.openxmlformats.org/package/2006/relationships"><Relationship Id="rId3" Type="http://schemas.openxmlformats.org/officeDocument/2006/relationships/oleObject" Target="../embeddings/oleObject229.bin"/><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37.png"/><Relationship Id="rId4" Type="http://schemas.openxmlformats.org/officeDocument/2006/relationships/image" Target="../media/image236.emf"/></Relationships>
</file>

<file path=ppt/slides/_rels/slide10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06.xml.rels><?xml version="1.0" encoding="UTF-8" standalone="yes"?>
<Relationships xmlns="http://schemas.openxmlformats.org/package/2006/relationships"><Relationship Id="rId3" Type="http://schemas.openxmlformats.org/officeDocument/2006/relationships/oleObject" Target="../embeddings/oleObject231.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53.wmf"/><Relationship Id="rId5" Type="http://schemas.openxmlformats.org/officeDocument/2006/relationships/oleObject" Target="../embeddings/oleObject232.bin"/><Relationship Id="rId4" Type="http://schemas.openxmlformats.org/officeDocument/2006/relationships/image" Target="../media/image252.wmf"/></Relationships>
</file>

<file path=ppt/slides/_rels/slide107.xml.rels><?xml version="1.0" encoding="UTF-8" standalone="yes"?>
<Relationships xmlns="http://schemas.openxmlformats.org/package/2006/relationships"><Relationship Id="rId3" Type="http://schemas.openxmlformats.org/officeDocument/2006/relationships/oleObject" Target="../embeddings/oleObject233.bin"/><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55.wmf"/><Relationship Id="rId4" Type="http://schemas.openxmlformats.org/officeDocument/2006/relationships/image" Target="../media/image254.wmf"/></Relationships>
</file>

<file path=ppt/slides/_rels/slide108.xml.rels><?xml version="1.0" encoding="UTF-8" standalone="yes"?>
<Relationships xmlns="http://schemas.openxmlformats.org/package/2006/relationships"><Relationship Id="rId8" Type="http://schemas.openxmlformats.org/officeDocument/2006/relationships/image" Target="../media/image258.wmf"/><Relationship Id="rId3" Type="http://schemas.openxmlformats.org/officeDocument/2006/relationships/oleObject" Target="../embeddings/oleObject234.bin"/><Relationship Id="rId7" Type="http://schemas.openxmlformats.org/officeDocument/2006/relationships/oleObject" Target="../embeddings/oleObject23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57.wmf"/><Relationship Id="rId5" Type="http://schemas.openxmlformats.org/officeDocument/2006/relationships/oleObject" Target="../embeddings/oleObject235.bin"/><Relationship Id="rId10" Type="http://schemas.openxmlformats.org/officeDocument/2006/relationships/image" Target="../media/image259.wmf"/><Relationship Id="rId4" Type="http://schemas.openxmlformats.org/officeDocument/2006/relationships/image" Target="../media/image256.wmf"/><Relationship Id="rId9" Type="http://schemas.openxmlformats.org/officeDocument/2006/relationships/oleObject" Target="../embeddings/oleObject237.bin"/></Relationships>
</file>

<file path=ppt/slides/_rels/slide109.xml.rels><?xml version="1.0" encoding="UTF-8" standalone="yes"?>
<Relationships xmlns="http://schemas.openxmlformats.org/package/2006/relationships"><Relationship Id="rId8" Type="http://schemas.openxmlformats.org/officeDocument/2006/relationships/image" Target="../media/image262.wmf"/><Relationship Id="rId13" Type="http://schemas.openxmlformats.org/officeDocument/2006/relationships/oleObject" Target="../embeddings/oleObject243.bin"/><Relationship Id="rId3" Type="http://schemas.openxmlformats.org/officeDocument/2006/relationships/oleObject" Target="../embeddings/oleObject238.bin"/><Relationship Id="rId7" Type="http://schemas.openxmlformats.org/officeDocument/2006/relationships/oleObject" Target="../embeddings/oleObject240.bin"/><Relationship Id="rId12" Type="http://schemas.openxmlformats.org/officeDocument/2006/relationships/image" Target="../media/image264.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61.wmf"/><Relationship Id="rId11" Type="http://schemas.openxmlformats.org/officeDocument/2006/relationships/oleObject" Target="../embeddings/oleObject242.bin"/><Relationship Id="rId5" Type="http://schemas.openxmlformats.org/officeDocument/2006/relationships/oleObject" Target="../embeddings/oleObject239.bin"/><Relationship Id="rId10" Type="http://schemas.openxmlformats.org/officeDocument/2006/relationships/image" Target="../media/image263.wmf"/><Relationship Id="rId4" Type="http://schemas.openxmlformats.org/officeDocument/2006/relationships/image" Target="../media/image260.wmf"/><Relationship Id="rId9" Type="http://schemas.openxmlformats.org/officeDocument/2006/relationships/oleObject" Target="../embeddings/oleObject241.bin"/><Relationship Id="rId14" Type="http://schemas.openxmlformats.org/officeDocument/2006/relationships/image" Target="../media/image265.wmf"/></Relationships>
</file>

<file path=ppt/slides/_rels/slide110.xml.rels><?xml version="1.0" encoding="UTF-8" standalone="yes"?>
<Relationships xmlns="http://schemas.openxmlformats.org/package/2006/relationships"><Relationship Id="rId3" Type="http://schemas.openxmlformats.org/officeDocument/2006/relationships/oleObject" Target="../embeddings/oleObject24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67.wmf"/><Relationship Id="rId5" Type="http://schemas.openxmlformats.org/officeDocument/2006/relationships/oleObject" Target="../embeddings/oleObject245.bin"/><Relationship Id="rId4" Type="http://schemas.openxmlformats.org/officeDocument/2006/relationships/image" Target="../media/image266.wmf"/></Relationships>
</file>

<file path=ppt/slides/_rels/slide111.xml.rels><?xml version="1.0" encoding="UTF-8" standalone="yes"?>
<Relationships xmlns="http://schemas.openxmlformats.org/package/2006/relationships"><Relationship Id="rId3" Type="http://schemas.openxmlformats.org/officeDocument/2006/relationships/oleObject" Target="../embeddings/oleObject246.bin"/><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69.png"/><Relationship Id="rId4" Type="http://schemas.openxmlformats.org/officeDocument/2006/relationships/image" Target="../media/image268.wmf"/></Relationships>
</file>

<file path=ppt/slides/_rels/slide112.xml.rels><?xml version="1.0" encoding="UTF-8" standalone="yes"?>
<Relationships xmlns="http://schemas.openxmlformats.org/package/2006/relationships"><Relationship Id="rId3" Type="http://schemas.openxmlformats.org/officeDocument/2006/relationships/oleObject" Target="../embeddings/oleObject247.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270.wmf"/></Relationships>
</file>

<file path=ppt/slides/_rels/slide113.xml.rels><?xml version="1.0" encoding="UTF-8" standalone="yes"?>
<Relationships xmlns="http://schemas.openxmlformats.org/package/2006/relationships"><Relationship Id="rId8" Type="http://schemas.openxmlformats.org/officeDocument/2006/relationships/image" Target="../media/image273.wmf"/><Relationship Id="rId13" Type="http://schemas.openxmlformats.org/officeDocument/2006/relationships/oleObject" Target="../embeddings/oleObject253.bin"/><Relationship Id="rId3" Type="http://schemas.openxmlformats.org/officeDocument/2006/relationships/oleObject" Target="../embeddings/oleObject248.bin"/><Relationship Id="rId7" Type="http://schemas.openxmlformats.org/officeDocument/2006/relationships/oleObject" Target="../embeddings/oleObject250.bin"/><Relationship Id="rId12" Type="http://schemas.openxmlformats.org/officeDocument/2006/relationships/image" Target="../media/image275.wmf"/><Relationship Id="rId2" Type="http://schemas.openxmlformats.org/officeDocument/2006/relationships/image" Target="../media/image3.jpeg"/><Relationship Id="rId16" Type="http://schemas.openxmlformats.org/officeDocument/2006/relationships/image" Target="../media/image277.wmf"/><Relationship Id="rId1" Type="http://schemas.openxmlformats.org/officeDocument/2006/relationships/slideLayout" Target="../slideLayouts/slideLayout7.xml"/><Relationship Id="rId6" Type="http://schemas.openxmlformats.org/officeDocument/2006/relationships/image" Target="../media/image272.wmf"/><Relationship Id="rId11" Type="http://schemas.openxmlformats.org/officeDocument/2006/relationships/oleObject" Target="../embeddings/oleObject252.bin"/><Relationship Id="rId5" Type="http://schemas.openxmlformats.org/officeDocument/2006/relationships/oleObject" Target="../embeddings/oleObject249.bin"/><Relationship Id="rId15" Type="http://schemas.openxmlformats.org/officeDocument/2006/relationships/oleObject" Target="../embeddings/oleObject254.bin"/><Relationship Id="rId10" Type="http://schemas.openxmlformats.org/officeDocument/2006/relationships/image" Target="../media/image274.wmf"/><Relationship Id="rId4" Type="http://schemas.openxmlformats.org/officeDocument/2006/relationships/image" Target="../media/image271.wmf"/><Relationship Id="rId9" Type="http://schemas.openxmlformats.org/officeDocument/2006/relationships/oleObject" Target="../embeddings/oleObject251.bin"/><Relationship Id="rId14" Type="http://schemas.openxmlformats.org/officeDocument/2006/relationships/image" Target="../media/image276.wmf"/></Relationships>
</file>

<file path=ppt/slides/_rels/slide114.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278.wmf"/><Relationship Id="rId4" Type="http://schemas.openxmlformats.org/officeDocument/2006/relationships/oleObject" Target="../embeddings/oleObject255.bin"/></Relationships>
</file>

<file path=ppt/slides/_rels/slide115.xml.rels><?xml version="1.0" encoding="UTF-8" standalone="yes"?>
<Relationships xmlns="http://schemas.openxmlformats.org/package/2006/relationships"><Relationship Id="rId8" Type="http://schemas.openxmlformats.org/officeDocument/2006/relationships/image" Target="../media/image281.wmf"/><Relationship Id="rId3" Type="http://schemas.openxmlformats.org/officeDocument/2006/relationships/oleObject" Target="../embeddings/oleObject256.bin"/><Relationship Id="rId7" Type="http://schemas.openxmlformats.org/officeDocument/2006/relationships/oleObject" Target="../embeddings/oleObject258.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80.wmf"/><Relationship Id="rId5" Type="http://schemas.openxmlformats.org/officeDocument/2006/relationships/oleObject" Target="../embeddings/oleObject257.bin"/><Relationship Id="rId10" Type="http://schemas.openxmlformats.org/officeDocument/2006/relationships/image" Target="../media/image282.emf"/><Relationship Id="rId4" Type="http://schemas.openxmlformats.org/officeDocument/2006/relationships/image" Target="../media/image279.wmf"/><Relationship Id="rId9" Type="http://schemas.openxmlformats.org/officeDocument/2006/relationships/oleObject" Target="../embeddings/oleObject259.bin"/></Relationships>
</file>

<file path=ppt/slides/_rels/slide116.xml.rels><?xml version="1.0" encoding="UTF-8" standalone="yes"?>
<Relationships xmlns="http://schemas.openxmlformats.org/package/2006/relationships"><Relationship Id="rId8" Type="http://schemas.openxmlformats.org/officeDocument/2006/relationships/image" Target="../media/image284.emf"/><Relationship Id="rId13" Type="http://schemas.openxmlformats.org/officeDocument/2006/relationships/oleObject" Target="../embeddings/oleObject264.bin"/><Relationship Id="rId18" Type="http://schemas.openxmlformats.org/officeDocument/2006/relationships/image" Target="../media/image289.emf"/><Relationship Id="rId3" Type="http://schemas.openxmlformats.org/officeDocument/2006/relationships/oleObject" Target="../embeddings/oleObject259.bin"/><Relationship Id="rId7" Type="http://schemas.openxmlformats.org/officeDocument/2006/relationships/oleObject" Target="../embeddings/oleObject261.bin"/><Relationship Id="rId12" Type="http://schemas.openxmlformats.org/officeDocument/2006/relationships/image" Target="../media/image286.emf"/><Relationship Id="rId17" Type="http://schemas.openxmlformats.org/officeDocument/2006/relationships/oleObject" Target="../embeddings/oleObject266.bin"/><Relationship Id="rId2" Type="http://schemas.openxmlformats.org/officeDocument/2006/relationships/image" Target="../media/image3.jpeg"/><Relationship Id="rId16" Type="http://schemas.openxmlformats.org/officeDocument/2006/relationships/image" Target="../media/image288.wmf"/><Relationship Id="rId1" Type="http://schemas.openxmlformats.org/officeDocument/2006/relationships/slideLayout" Target="../slideLayouts/slideLayout7.xml"/><Relationship Id="rId6" Type="http://schemas.openxmlformats.org/officeDocument/2006/relationships/image" Target="../media/image283.emf"/><Relationship Id="rId11" Type="http://schemas.openxmlformats.org/officeDocument/2006/relationships/oleObject" Target="../embeddings/oleObject263.bin"/><Relationship Id="rId5" Type="http://schemas.openxmlformats.org/officeDocument/2006/relationships/oleObject" Target="../embeddings/oleObject260.bin"/><Relationship Id="rId15" Type="http://schemas.openxmlformats.org/officeDocument/2006/relationships/oleObject" Target="../embeddings/oleObject265.bin"/><Relationship Id="rId10" Type="http://schemas.openxmlformats.org/officeDocument/2006/relationships/image" Target="../media/image285.emf"/><Relationship Id="rId4" Type="http://schemas.openxmlformats.org/officeDocument/2006/relationships/image" Target="../media/image282.emf"/><Relationship Id="rId9" Type="http://schemas.openxmlformats.org/officeDocument/2006/relationships/oleObject" Target="../embeddings/oleObject262.bin"/><Relationship Id="rId14" Type="http://schemas.openxmlformats.org/officeDocument/2006/relationships/image" Target="../media/image287.emf"/></Relationships>
</file>

<file path=ppt/slides/_rels/slide117.xml.rels><?xml version="1.0" encoding="UTF-8" standalone="yes"?>
<Relationships xmlns="http://schemas.openxmlformats.org/package/2006/relationships"><Relationship Id="rId3" Type="http://schemas.openxmlformats.org/officeDocument/2006/relationships/image" Target="../media/image20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18.xml.rels><?xml version="1.0" encoding="UTF-8" standalone="yes"?>
<Relationships xmlns="http://schemas.openxmlformats.org/package/2006/relationships"><Relationship Id="rId3" Type="http://schemas.openxmlformats.org/officeDocument/2006/relationships/image" Target="../media/image201.png"/><Relationship Id="rId7" Type="http://schemas.openxmlformats.org/officeDocument/2006/relationships/image" Target="../media/image290.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267.bin"/><Relationship Id="rId5" Type="http://schemas.openxmlformats.org/officeDocument/2006/relationships/image" Target="../media/image202.wmf"/><Relationship Id="rId4" Type="http://schemas.openxmlformats.org/officeDocument/2006/relationships/oleObject" Target="../embeddings/oleObject194.bin"/></Relationships>
</file>

<file path=ppt/slides/_rels/slide119.xml.rels><?xml version="1.0" encoding="UTF-8" standalone="yes"?>
<Relationships xmlns="http://schemas.openxmlformats.org/package/2006/relationships"><Relationship Id="rId8" Type="http://schemas.openxmlformats.org/officeDocument/2006/relationships/image" Target="../media/image293.wmf"/><Relationship Id="rId3" Type="http://schemas.openxmlformats.org/officeDocument/2006/relationships/oleObject" Target="../embeddings/oleObject268.bin"/><Relationship Id="rId7" Type="http://schemas.openxmlformats.org/officeDocument/2006/relationships/oleObject" Target="../embeddings/oleObject27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92.wmf"/><Relationship Id="rId5" Type="http://schemas.openxmlformats.org/officeDocument/2006/relationships/oleObject" Target="../embeddings/oleObject269.bin"/><Relationship Id="rId10" Type="http://schemas.openxmlformats.org/officeDocument/2006/relationships/image" Target="../media/image294.wmf"/><Relationship Id="rId4" Type="http://schemas.openxmlformats.org/officeDocument/2006/relationships/image" Target="../media/image291.wmf"/><Relationship Id="rId9" Type="http://schemas.openxmlformats.org/officeDocument/2006/relationships/oleObject" Target="../embeddings/oleObject271.bin"/></Relationships>
</file>

<file path=ppt/slides/_rels/slide120.xml.rels><?xml version="1.0" encoding="UTF-8" standalone="yes"?>
<Relationships xmlns="http://schemas.openxmlformats.org/package/2006/relationships"><Relationship Id="rId8" Type="http://schemas.openxmlformats.org/officeDocument/2006/relationships/image" Target="../media/image297.wmf"/><Relationship Id="rId3" Type="http://schemas.openxmlformats.org/officeDocument/2006/relationships/oleObject" Target="../embeddings/oleObject272.bin"/><Relationship Id="rId7" Type="http://schemas.openxmlformats.org/officeDocument/2006/relationships/oleObject" Target="../embeddings/oleObject274.bin"/><Relationship Id="rId12" Type="http://schemas.openxmlformats.org/officeDocument/2006/relationships/image" Target="../media/image299.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296.wmf"/><Relationship Id="rId11" Type="http://schemas.openxmlformats.org/officeDocument/2006/relationships/oleObject" Target="../embeddings/oleObject276.bin"/><Relationship Id="rId5" Type="http://schemas.openxmlformats.org/officeDocument/2006/relationships/oleObject" Target="../embeddings/oleObject273.bin"/><Relationship Id="rId10" Type="http://schemas.openxmlformats.org/officeDocument/2006/relationships/image" Target="../media/image298.emf"/><Relationship Id="rId4" Type="http://schemas.openxmlformats.org/officeDocument/2006/relationships/image" Target="../media/image295.emf"/><Relationship Id="rId9" Type="http://schemas.openxmlformats.org/officeDocument/2006/relationships/oleObject" Target="../embeddings/oleObject275.bin"/></Relationships>
</file>

<file path=ppt/slides/_rels/slide121.xml.rels><?xml version="1.0" encoding="UTF-8" standalone="yes"?>
<Relationships xmlns="http://schemas.openxmlformats.org/package/2006/relationships"><Relationship Id="rId8" Type="http://schemas.openxmlformats.org/officeDocument/2006/relationships/image" Target="../media/image302.wmf"/><Relationship Id="rId13" Type="http://schemas.openxmlformats.org/officeDocument/2006/relationships/image" Target="../media/image255.wmf"/><Relationship Id="rId3" Type="http://schemas.openxmlformats.org/officeDocument/2006/relationships/oleObject" Target="../embeddings/oleObject277.bin"/><Relationship Id="rId7" Type="http://schemas.openxmlformats.org/officeDocument/2006/relationships/oleObject" Target="../embeddings/oleObject279.bin"/><Relationship Id="rId12" Type="http://schemas.openxmlformats.org/officeDocument/2006/relationships/image" Target="../media/image304.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01.wmf"/><Relationship Id="rId11" Type="http://schemas.openxmlformats.org/officeDocument/2006/relationships/oleObject" Target="../embeddings/oleObject281.bin"/><Relationship Id="rId5" Type="http://schemas.openxmlformats.org/officeDocument/2006/relationships/oleObject" Target="../embeddings/oleObject278.bin"/><Relationship Id="rId15" Type="http://schemas.openxmlformats.org/officeDocument/2006/relationships/image" Target="../media/image299.wmf"/><Relationship Id="rId10" Type="http://schemas.openxmlformats.org/officeDocument/2006/relationships/image" Target="../media/image303.wmf"/><Relationship Id="rId4" Type="http://schemas.openxmlformats.org/officeDocument/2006/relationships/image" Target="../media/image300.wmf"/><Relationship Id="rId9" Type="http://schemas.openxmlformats.org/officeDocument/2006/relationships/oleObject" Target="../embeddings/oleObject280.bin"/><Relationship Id="rId14" Type="http://schemas.openxmlformats.org/officeDocument/2006/relationships/oleObject" Target="../embeddings/oleObject276.bin"/></Relationships>
</file>

<file path=ppt/slides/_rels/slide122.xml.rels><?xml version="1.0" encoding="UTF-8" standalone="yes"?>
<Relationships xmlns="http://schemas.openxmlformats.org/package/2006/relationships"><Relationship Id="rId8" Type="http://schemas.openxmlformats.org/officeDocument/2006/relationships/image" Target="../media/image307.wmf"/><Relationship Id="rId3" Type="http://schemas.openxmlformats.org/officeDocument/2006/relationships/oleObject" Target="../embeddings/oleObject282.bin"/><Relationship Id="rId7" Type="http://schemas.openxmlformats.org/officeDocument/2006/relationships/oleObject" Target="../embeddings/oleObject28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06.wmf"/><Relationship Id="rId5" Type="http://schemas.openxmlformats.org/officeDocument/2006/relationships/oleObject" Target="../embeddings/oleObject283.bin"/><Relationship Id="rId10" Type="http://schemas.openxmlformats.org/officeDocument/2006/relationships/image" Target="../media/image308.wmf"/><Relationship Id="rId4" Type="http://schemas.openxmlformats.org/officeDocument/2006/relationships/image" Target="../media/image305.wmf"/><Relationship Id="rId9" Type="http://schemas.openxmlformats.org/officeDocument/2006/relationships/oleObject" Target="../embeddings/oleObject285.bin"/></Relationships>
</file>

<file path=ppt/slides/_rels/slide123.xml.rels><?xml version="1.0" encoding="UTF-8" standalone="yes"?>
<Relationships xmlns="http://schemas.openxmlformats.org/package/2006/relationships"><Relationship Id="rId8" Type="http://schemas.openxmlformats.org/officeDocument/2006/relationships/image" Target="../media/image311.wmf"/><Relationship Id="rId3" Type="http://schemas.openxmlformats.org/officeDocument/2006/relationships/oleObject" Target="../embeddings/oleObject286.bin"/><Relationship Id="rId7" Type="http://schemas.openxmlformats.org/officeDocument/2006/relationships/oleObject" Target="../embeddings/oleObject288.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10.wmf"/><Relationship Id="rId5" Type="http://schemas.openxmlformats.org/officeDocument/2006/relationships/oleObject" Target="../embeddings/oleObject287.bin"/><Relationship Id="rId10" Type="http://schemas.openxmlformats.org/officeDocument/2006/relationships/image" Target="../media/image308.wmf"/><Relationship Id="rId4" Type="http://schemas.openxmlformats.org/officeDocument/2006/relationships/image" Target="../media/image309.wmf"/><Relationship Id="rId9" Type="http://schemas.openxmlformats.org/officeDocument/2006/relationships/oleObject" Target="../embeddings/oleObject285.bin"/></Relationships>
</file>

<file path=ppt/slides/_rels/slide124.xml.rels><?xml version="1.0" encoding="UTF-8" standalone="yes"?>
<Relationships xmlns="http://schemas.openxmlformats.org/package/2006/relationships"><Relationship Id="rId3" Type="http://schemas.openxmlformats.org/officeDocument/2006/relationships/oleObject" Target="../embeddings/oleObject289.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312.wmf"/></Relationships>
</file>

<file path=ppt/slides/_rels/slide125.xml.rels><?xml version="1.0" encoding="UTF-8" standalone="yes"?>
<Relationships xmlns="http://schemas.openxmlformats.org/package/2006/relationships"><Relationship Id="rId8" Type="http://schemas.openxmlformats.org/officeDocument/2006/relationships/image" Target="../media/image315.wmf"/><Relationship Id="rId3" Type="http://schemas.openxmlformats.org/officeDocument/2006/relationships/oleObject" Target="../embeddings/oleObject290.bin"/><Relationship Id="rId7" Type="http://schemas.openxmlformats.org/officeDocument/2006/relationships/oleObject" Target="../embeddings/oleObject292.bin"/><Relationship Id="rId12" Type="http://schemas.openxmlformats.org/officeDocument/2006/relationships/image" Target="../media/image317.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14.wmf"/><Relationship Id="rId11" Type="http://schemas.openxmlformats.org/officeDocument/2006/relationships/oleObject" Target="../embeddings/oleObject294.bin"/><Relationship Id="rId5" Type="http://schemas.openxmlformats.org/officeDocument/2006/relationships/oleObject" Target="../embeddings/oleObject291.bin"/><Relationship Id="rId10" Type="http://schemas.openxmlformats.org/officeDocument/2006/relationships/image" Target="../media/image316.wmf"/><Relationship Id="rId4" Type="http://schemas.openxmlformats.org/officeDocument/2006/relationships/image" Target="../media/image313.wmf"/><Relationship Id="rId9" Type="http://schemas.openxmlformats.org/officeDocument/2006/relationships/oleObject" Target="../embeddings/oleObject293.bin"/></Relationships>
</file>

<file path=ppt/slides/_rels/slide126.xml.rels><?xml version="1.0" encoding="UTF-8" standalone="yes"?>
<Relationships xmlns="http://schemas.openxmlformats.org/package/2006/relationships"><Relationship Id="rId8" Type="http://schemas.openxmlformats.org/officeDocument/2006/relationships/image" Target="../media/image320.wmf"/><Relationship Id="rId3" Type="http://schemas.openxmlformats.org/officeDocument/2006/relationships/oleObject" Target="../embeddings/oleObject295.bin"/><Relationship Id="rId7" Type="http://schemas.openxmlformats.org/officeDocument/2006/relationships/oleObject" Target="../embeddings/oleObject297.bin"/><Relationship Id="rId12" Type="http://schemas.openxmlformats.org/officeDocument/2006/relationships/image" Target="../media/image317.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19.wmf"/><Relationship Id="rId11" Type="http://schemas.openxmlformats.org/officeDocument/2006/relationships/oleObject" Target="../embeddings/oleObject294.bin"/><Relationship Id="rId5" Type="http://schemas.openxmlformats.org/officeDocument/2006/relationships/oleObject" Target="../embeddings/oleObject296.bin"/><Relationship Id="rId10" Type="http://schemas.openxmlformats.org/officeDocument/2006/relationships/image" Target="../media/image316.wmf"/><Relationship Id="rId4" Type="http://schemas.openxmlformats.org/officeDocument/2006/relationships/image" Target="../media/image318.wmf"/><Relationship Id="rId9" Type="http://schemas.openxmlformats.org/officeDocument/2006/relationships/oleObject" Target="../embeddings/oleObject293.bin"/></Relationships>
</file>

<file path=ppt/slides/_rels/slide127.xml.rels><?xml version="1.0" encoding="UTF-8" standalone="yes"?>
<Relationships xmlns="http://schemas.openxmlformats.org/package/2006/relationships"><Relationship Id="rId8" Type="http://schemas.openxmlformats.org/officeDocument/2006/relationships/image" Target="../media/image323.wmf"/><Relationship Id="rId13" Type="http://schemas.openxmlformats.org/officeDocument/2006/relationships/oleObject" Target="../embeddings/oleObject293.bin"/><Relationship Id="rId3" Type="http://schemas.openxmlformats.org/officeDocument/2006/relationships/oleObject" Target="../embeddings/oleObject298.bin"/><Relationship Id="rId7" Type="http://schemas.openxmlformats.org/officeDocument/2006/relationships/oleObject" Target="../embeddings/oleObject300.bin"/><Relationship Id="rId12" Type="http://schemas.openxmlformats.org/officeDocument/2006/relationships/image" Target="../media/image325.wmf"/><Relationship Id="rId2" Type="http://schemas.openxmlformats.org/officeDocument/2006/relationships/image" Target="../media/image3.jpeg"/><Relationship Id="rId16" Type="http://schemas.openxmlformats.org/officeDocument/2006/relationships/image" Target="../media/image317.wmf"/><Relationship Id="rId1" Type="http://schemas.openxmlformats.org/officeDocument/2006/relationships/slideLayout" Target="../slideLayouts/slideLayout7.xml"/><Relationship Id="rId6" Type="http://schemas.openxmlformats.org/officeDocument/2006/relationships/image" Target="../media/image322.wmf"/><Relationship Id="rId11" Type="http://schemas.openxmlformats.org/officeDocument/2006/relationships/oleObject" Target="../embeddings/oleObject302.bin"/><Relationship Id="rId5" Type="http://schemas.openxmlformats.org/officeDocument/2006/relationships/oleObject" Target="../embeddings/oleObject299.bin"/><Relationship Id="rId15" Type="http://schemas.openxmlformats.org/officeDocument/2006/relationships/oleObject" Target="../embeddings/oleObject294.bin"/><Relationship Id="rId10" Type="http://schemas.openxmlformats.org/officeDocument/2006/relationships/image" Target="../media/image324.wmf"/><Relationship Id="rId4" Type="http://schemas.openxmlformats.org/officeDocument/2006/relationships/image" Target="../media/image321.wmf"/><Relationship Id="rId9" Type="http://schemas.openxmlformats.org/officeDocument/2006/relationships/oleObject" Target="../embeddings/oleObject301.bin"/><Relationship Id="rId14" Type="http://schemas.openxmlformats.org/officeDocument/2006/relationships/image" Target="../media/image316.wmf"/></Relationships>
</file>

<file path=ppt/slides/_rels/slide128.xml.rels><?xml version="1.0" encoding="UTF-8" standalone="yes"?>
<Relationships xmlns="http://schemas.openxmlformats.org/package/2006/relationships"><Relationship Id="rId3" Type="http://schemas.openxmlformats.org/officeDocument/2006/relationships/oleObject" Target="../embeddings/oleObject303.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326.wmf"/></Relationships>
</file>

<file path=ppt/slides/_rels/slide129.xml.rels><?xml version="1.0" encoding="UTF-8" standalone="yes"?>
<Relationships xmlns="http://schemas.openxmlformats.org/package/2006/relationships"><Relationship Id="rId3" Type="http://schemas.openxmlformats.org/officeDocument/2006/relationships/image" Target="../media/image32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0.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1.xml.rels><?xml version="1.0" encoding="UTF-8" standalone="yes"?>
<Relationships xmlns="http://schemas.openxmlformats.org/package/2006/relationships"><Relationship Id="rId8" Type="http://schemas.openxmlformats.org/officeDocument/2006/relationships/image" Target="../media/image330.wmf"/><Relationship Id="rId13" Type="http://schemas.openxmlformats.org/officeDocument/2006/relationships/image" Target="../media/image333.png"/><Relationship Id="rId3" Type="http://schemas.openxmlformats.org/officeDocument/2006/relationships/oleObject" Target="../embeddings/oleObject304.bin"/><Relationship Id="rId7" Type="http://schemas.openxmlformats.org/officeDocument/2006/relationships/oleObject" Target="../embeddings/oleObject306.bin"/><Relationship Id="rId12" Type="http://schemas.openxmlformats.org/officeDocument/2006/relationships/image" Target="../media/image332.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29.wmf"/><Relationship Id="rId11" Type="http://schemas.openxmlformats.org/officeDocument/2006/relationships/oleObject" Target="../embeddings/oleObject308.bin"/><Relationship Id="rId5" Type="http://schemas.openxmlformats.org/officeDocument/2006/relationships/oleObject" Target="../embeddings/oleObject305.bin"/><Relationship Id="rId10" Type="http://schemas.openxmlformats.org/officeDocument/2006/relationships/image" Target="../media/image331.wmf"/><Relationship Id="rId4" Type="http://schemas.openxmlformats.org/officeDocument/2006/relationships/image" Target="../media/image328.wmf"/><Relationship Id="rId9" Type="http://schemas.openxmlformats.org/officeDocument/2006/relationships/oleObject" Target="../embeddings/oleObject307.bin"/></Relationships>
</file>

<file path=ppt/slides/_rels/slide132.xml.rels><?xml version="1.0" encoding="UTF-8" standalone="yes"?>
<Relationships xmlns="http://schemas.openxmlformats.org/package/2006/relationships"><Relationship Id="rId8" Type="http://schemas.openxmlformats.org/officeDocument/2006/relationships/image" Target="../media/image336.wmf"/><Relationship Id="rId3" Type="http://schemas.openxmlformats.org/officeDocument/2006/relationships/oleObject" Target="../embeddings/oleObject309.bin"/><Relationship Id="rId7" Type="http://schemas.openxmlformats.org/officeDocument/2006/relationships/oleObject" Target="../embeddings/oleObject311.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35.wmf"/><Relationship Id="rId5" Type="http://schemas.openxmlformats.org/officeDocument/2006/relationships/oleObject" Target="../embeddings/oleObject310.bin"/><Relationship Id="rId4" Type="http://schemas.openxmlformats.org/officeDocument/2006/relationships/image" Target="../media/image334.wmf"/></Relationships>
</file>

<file path=ppt/slides/_rels/slide133.xml.rels><?xml version="1.0" encoding="UTF-8" standalone="yes"?>
<Relationships xmlns="http://schemas.openxmlformats.org/package/2006/relationships"><Relationship Id="rId3" Type="http://schemas.openxmlformats.org/officeDocument/2006/relationships/oleObject" Target="../embeddings/oleObject31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38.wmf"/><Relationship Id="rId5" Type="http://schemas.openxmlformats.org/officeDocument/2006/relationships/oleObject" Target="../embeddings/oleObject313.bin"/><Relationship Id="rId4" Type="http://schemas.openxmlformats.org/officeDocument/2006/relationships/image" Target="../media/image337.wmf"/></Relationships>
</file>

<file path=ppt/slides/_rels/slide134.xml.rels><?xml version="1.0" encoding="UTF-8" standalone="yes"?>
<Relationships xmlns="http://schemas.openxmlformats.org/package/2006/relationships"><Relationship Id="rId8" Type="http://schemas.openxmlformats.org/officeDocument/2006/relationships/image" Target="../media/image341.wmf"/><Relationship Id="rId3" Type="http://schemas.openxmlformats.org/officeDocument/2006/relationships/oleObject" Target="../embeddings/oleObject314.bin"/><Relationship Id="rId7" Type="http://schemas.openxmlformats.org/officeDocument/2006/relationships/oleObject" Target="../embeddings/oleObject31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40.wmf"/><Relationship Id="rId5" Type="http://schemas.openxmlformats.org/officeDocument/2006/relationships/oleObject" Target="../embeddings/oleObject315.bin"/><Relationship Id="rId4" Type="http://schemas.openxmlformats.org/officeDocument/2006/relationships/image" Target="../media/image339.wmf"/></Relationships>
</file>

<file path=ppt/slides/_rels/slide135.xml.rels><?xml version="1.0" encoding="UTF-8" standalone="yes"?>
<Relationships xmlns="http://schemas.openxmlformats.org/package/2006/relationships"><Relationship Id="rId3" Type="http://schemas.openxmlformats.org/officeDocument/2006/relationships/oleObject" Target="../embeddings/oleObject317.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43.wmf"/><Relationship Id="rId5" Type="http://schemas.openxmlformats.org/officeDocument/2006/relationships/oleObject" Target="../embeddings/oleObject318.bin"/><Relationship Id="rId4" Type="http://schemas.openxmlformats.org/officeDocument/2006/relationships/image" Target="../media/image342.wmf"/></Relationships>
</file>

<file path=ppt/slides/_rels/slide136.xml.rels><?xml version="1.0" encoding="UTF-8" standalone="yes"?>
<Relationships xmlns="http://schemas.openxmlformats.org/package/2006/relationships"><Relationship Id="rId3" Type="http://schemas.openxmlformats.org/officeDocument/2006/relationships/oleObject" Target="../embeddings/oleObject319.bin"/><Relationship Id="rId2" Type="http://schemas.openxmlformats.org/officeDocument/2006/relationships/image" Target="../media/image3.jpeg"/><Relationship Id="rId1" Type="http://schemas.openxmlformats.org/officeDocument/2006/relationships/slideLayout" Target="../slideLayouts/slideLayout7.xml"/><Relationship Id="rId4" Type="http://schemas.openxmlformats.org/officeDocument/2006/relationships/image" Target="../media/image344.wmf"/></Relationships>
</file>

<file path=ppt/slides/_rels/slide137.xml.rels><?xml version="1.0" encoding="UTF-8" standalone="yes"?>
<Relationships xmlns="http://schemas.openxmlformats.org/package/2006/relationships"><Relationship Id="rId3" Type="http://schemas.openxmlformats.org/officeDocument/2006/relationships/image" Target="../media/image34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38.xml.rels><?xml version="1.0" encoding="UTF-8" standalone="yes"?>
<Relationships xmlns="http://schemas.openxmlformats.org/package/2006/relationships"><Relationship Id="rId3" Type="http://schemas.openxmlformats.org/officeDocument/2006/relationships/oleObject" Target="../embeddings/oleObject320.bin"/><Relationship Id="rId7" Type="http://schemas.openxmlformats.org/officeDocument/2006/relationships/image" Target="../media/image348.png"/><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47.wmf"/><Relationship Id="rId5" Type="http://schemas.openxmlformats.org/officeDocument/2006/relationships/oleObject" Target="../embeddings/oleObject321.bin"/><Relationship Id="rId4" Type="http://schemas.openxmlformats.org/officeDocument/2006/relationships/image" Target="../media/image346.wmf"/></Relationships>
</file>

<file path=ppt/slides/_rels/slide139.xml.rels><?xml version="1.0" encoding="UTF-8" standalone="yes"?>
<Relationships xmlns="http://schemas.openxmlformats.org/package/2006/relationships"><Relationship Id="rId8" Type="http://schemas.openxmlformats.org/officeDocument/2006/relationships/image" Target="../media/image351.wmf"/><Relationship Id="rId3" Type="http://schemas.openxmlformats.org/officeDocument/2006/relationships/oleObject" Target="../embeddings/oleObject322.bin"/><Relationship Id="rId7" Type="http://schemas.openxmlformats.org/officeDocument/2006/relationships/oleObject" Target="../embeddings/oleObject324.bin"/><Relationship Id="rId12" Type="http://schemas.openxmlformats.org/officeDocument/2006/relationships/image" Target="../media/image353.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50.wmf"/><Relationship Id="rId11" Type="http://schemas.openxmlformats.org/officeDocument/2006/relationships/oleObject" Target="../embeddings/oleObject326.bin"/><Relationship Id="rId5" Type="http://schemas.openxmlformats.org/officeDocument/2006/relationships/oleObject" Target="../embeddings/oleObject323.bin"/><Relationship Id="rId10" Type="http://schemas.openxmlformats.org/officeDocument/2006/relationships/image" Target="../media/image352.wmf"/><Relationship Id="rId4" Type="http://schemas.openxmlformats.org/officeDocument/2006/relationships/image" Target="../media/image349.wmf"/><Relationship Id="rId9" Type="http://schemas.openxmlformats.org/officeDocument/2006/relationships/oleObject" Target="../embeddings/oleObject325.bin"/></Relationships>
</file>

<file path=ppt/slides/_rels/slide140.xml.rels><?xml version="1.0" encoding="UTF-8" standalone="yes"?>
<Relationships xmlns="http://schemas.openxmlformats.org/package/2006/relationships"><Relationship Id="rId8" Type="http://schemas.openxmlformats.org/officeDocument/2006/relationships/image" Target="../media/image353.wmf"/><Relationship Id="rId3" Type="http://schemas.openxmlformats.org/officeDocument/2006/relationships/oleObject" Target="../embeddings/oleObject327.bin"/><Relationship Id="rId7" Type="http://schemas.openxmlformats.org/officeDocument/2006/relationships/oleObject" Target="../embeddings/oleObject329.bin"/><Relationship Id="rId12" Type="http://schemas.openxmlformats.org/officeDocument/2006/relationships/image" Target="../media/image355.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52.wmf"/><Relationship Id="rId11" Type="http://schemas.openxmlformats.org/officeDocument/2006/relationships/oleObject" Target="../embeddings/oleObject331.bin"/><Relationship Id="rId5" Type="http://schemas.openxmlformats.org/officeDocument/2006/relationships/oleObject" Target="../embeddings/oleObject328.bin"/><Relationship Id="rId10" Type="http://schemas.openxmlformats.org/officeDocument/2006/relationships/image" Target="../media/image354.wmf"/><Relationship Id="rId4" Type="http://schemas.openxmlformats.org/officeDocument/2006/relationships/image" Target="../media/image351.wmf"/><Relationship Id="rId9" Type="http://schemas.openxmlformats.org/officeDocument/2006/relationships/oleObject" Target="../embeddings/oleObject330.bin"/></Relationships>
</file>

<file path=ppt/slides/_rels/slide141.xml.rels><?xml version="1.0" encoding="UTF-8" standalone="yes"?>
<Relationships xmlns="http://schemas.openxmlformats.org/package/2006/relationships"><Relationship Id="rId8" Type="http://schemas.openxmlformats.org/officeDocument/2006/relationships/image" Target="../media/image352.wmf"/><Relationship Id="rId3" Type="http://schemas.openxmlformats.org/officeDocument/2006/relationships/oleObject" Target="../embeddings/oleObject332.bin"/><Relationship Id="rId7" Type="http://schemas.openxmlformats.org/officeDocument/2006/relationships/oleObject" Target="../embeddings/oleObject33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51.wmf"/><Relationship Id="rId5" Type="http://schemas.openxmlformats.org/officeDocument/2006/relationships/oleObject" Target="../embeddings/oleObject333.bin"/><Relationship Id="rId10" Type="http://schemas.openxmlformats.org/officeDocument/2006/relationships/image" Target="../media/image353.wmf"/><Relationship Id="rId4" Type="http://schemas.openxmlformats.org/officeDocument/2006/relationships/image" Target="../media/image356.wmf"/><Relationship Id="rId9" Type="http://schemas.openxmlformats.org/officeDocument/2006/relationships/oleObject" Target="../embeddings/oleObject335.bin"/></Relationships>
</file>

<file path=ppt/slides/_rels/slide142.xml.rels><?xml version="1.0" encoding="UTF-8" standalone="yes"?>
<Relationships xmlns="http://schemas.openxmlformats.org/package/2006/relationships"><Relationship Id="rId3" Type="http://schemas.openxmlformats.org/officeDocument/2006/relationships/image" Target="../media/image357.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3.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4.xml.rels><?xml version="1.0" encoding="UTF-8" standalone="yes"?>
<Relationships xmlns="http://schemas.openxmlformats.org/package/2006/relationships"><Relationship Id="rId3" Type="http://schemas.openxmlformats.org/officeDocument/2006/relationships/image" Target="../media/image358.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5.xml.rels><?xml version="1.0" encoding="UTF-8" standalone="yes"?>
<Relationships xmlns="http://schemas.openxmlformats.org/package/2006/relationships"><Relationship Id="rId3" Type="http://schemas.openxmlformats.org/officeDocument/2006/relationships/image" Target="../media/image35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6.xml.rels><?xml version="1.0" encoding="UTF-8" standalone="yes"?>
<Relationships xmlns="http://schemas.openxmlformats.org/package/2006/relationships"><Relationship Id="rId3" Type="http://schemas.openxmlformats.org/officeDocument/2006/relationships/image" Target="../media/image360.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7.xml.rels><?xml version="1.0" encoding="UTF-8" standalone="yes"?>
<Relationships xmlns="http://schemas.openxmlformats.org/package/2006/relationships"><Relationship Id="rId3" Type="http://schemas.openxmlformats.org/officeDocument/2006/relationships/image" Target="../media/image361.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8.xml.rels><?xml version="1.0" encoding="UTF-8" standalone="yes"?>
<Relationships xmlns="http://schemas.openxmlformats.org/package/2006/relationships"><Relationship Id="rId3" Type="http://schemas.openxmlformats.org/officeDocument/2006/relationships/image" Target="../media/image36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4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0.xml.rels><?xml version="1.0" encoding="UTF-8" standalone="yes"?>
<Relationships xmlns="http://schemas.openxmlformats.org/package/2006/relationships"><Relationship Id="rId8" Type="http://schemas.openxmlformats.org/officeDocument/2006/relationships/image" Target="../media/image365.wmf"/><Relationship Id="rId3" Type="http://schemas.openxmlformats.org/officeDocument/2006/relationships/oleObject" Target="../embeddings/oleObject336.bin"/><Relationship Id="rId7" Type="http://schemas.openxmlformats.org/officeDocument/2006/relationships/oleObject" Target="../embeddings/oleObject338.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64.wmf"/><Relationship Id="rId5" Type="http://schemas.openxmlformats.org/officeDocument/2006/relationships/oleObject" Target="../embeddings/oleObject337.bin"/><Relationship Id="rId4" Type="http://schemas.openxmlformats.org/officeDocument/2006/relationships/image" Target="../media/image363.wmf"/></Relationships>
</file>

<file path=ppt/slides/_rels/slide151.xml.rels><?xml version="1.0" encoding="UTF-8" standalone="yes"?>
<Relationships xmlns="http://schemas.openxmlformats.org/package/2006/relationships"><Relationship Id="rId8" Type="http://schemas.openxmlformats.org/officeDocument/2006/relationships/image" Target="../media/image368.wmf"/><Relationship Id="rId3" Type="http://schemas.openxmlformats.org/officeDocument/2006/relationships/oleObject" Target="../embeddings/oleObject339.bin"/><Relationship Id="rId7" Type="http://schemas.openxmlformats.org/officeDocument/2006/relationships/oleObject" Target="../embeddings/oleObject341.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67.wmf"/><Relationship Id="rId5" Type="http://schemas.openxmlformats.org/officeDocument/2006/relationships/oleObject" Target="../embeddings/oleObject340.bin"/><Relationship Id="rId4" Type="http://schemas.openxmlformats.org/officeDocument/2006/relationships/image" Target="../media/image366.wmf"/></Relationships>
</file>

<file path=ppt/slides/_rels/slide15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3.xml.rels><?xml version="1.0" encoding="UTF-8" standalone="yes"?>
<Relationships xmlns="http://schemas.openxmlformats.org/package/2006/relationships"><Relationship Id="rId8" Type="http://schemas.openxmlformats.org/officeDocument/2006/relationships/image" Target="../media/image371.wmf"/><Relationship Id="rId3" Type="http://schemas.openxmlformats.org/officeDocument/2006/relationships/oleObject" Target="../embeddings/oleObject342.bin"/><Relationship Id="rId7" Type="http://schemas.openxmlformats.org/officeDocument/2006/relationships/oleObject" Target="../embeddings/oleObject344.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70.wmf"/><Relationship Id="rId5" Type="http://schemas.openxmlformats.org/officeDocument/2006/relationships/oleObject" Target="../embeddings/oleObject343.bin"/><Relationship Id="rId4" Type="http://schemas.openxmlformats.org/officeDocument/2006/relationships/image" Target="../media/image369.wmf"/></Relationships>
</file>

<file path=ppt/slides/_rels/slide154.xml.rels><?xml version="1.0" encoding="UTF-8" standalone="yes"?>
<Relationships xmlns="http://schemas.openxmlformats.org/package/2006/relationships"><Relationship Id="rId3" Type="http://schemas.openxmlformats.org/officeDocument/2006/relationships/image" Target="../media/image372.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5.xml.rels><?xml version="1.0" encoding="UTF-8" standalone="yes"?>
<Relationships xmlns="http://schemas.openxmlformats.org/package/2006/relationships"><Relationship Id="rId8" Type="http://schemas.openxmlformats.org/officeDocument/2006/relationships/image" Target="../media/image375.wmf"/><Relationship Id="rId3" Type="http://schemas.openxmlformats.org/officeDocument/2006/relationships/oleObject" Target="../embeddings/oleObject345.bin"/><Relationship Id="rId7" Type="http://schemas.openxmlformats.org/officeDocument/2006/relationships/oleObject" Target="../embeddings/oleObject347.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74.wmf"/><Relationship Id="rId5" Type="http://schemas.openxmlformats.org/officeDocument/2006/relationships/oleObject" Target="../embeddings/oleObject346.bin"/><Relationship Id="rId4" Type="http://schemas.openxmlformats.org/officeDocument/2006/relationships/image" Target="../media/image373.wmf"/></Relationships>
</file>

<file path=ppt/slides/_rels/slide156.xml.rels><?xml version="1.0" encoding="UTF-8" standalone="yes"?>
<Relationships xmlns="http://schemas.openxmlformats.org/package/2006/relationships"><Relationship Id="rId3" Type="http://schemas.openxmlformats.org/officeDocument/2006/relationships/oleObject" Target="../embeddings/oleObject348.bin"/><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oleObject" Target="../embeddings/oleObject349.bin"/><Relationship Id="rId4" Type="http://schemas.openxmlformats.org/officeDocument/2006/relationships/image" Target="../media/image376.wmf"/></Relationships>
</file>

<file path=ppt/slides/_rels/slide157.xml.rels><?xml version="1.0" encoding="UTF-8" standalone="yes"?>
<Relationships xmlns="http://schemas.openxmlformats.org/package/2006/relationships"><Relationship Id="rId3" Type="http://schemas.openxmlformats.org/officeDocument/2006/relationships/oleObject" Target="../embeddings/oleObject350.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78.wmf"/><Relationship Id="rId5" Type="http://schemas.openxmlformats.org/officeDocument/2006/relationships/oleObject" Target="../embeddings/oleObject351.bin"/><Relationship Id="rId4" Type="http://schemas.openxmlformats.org/officeDocument/2006/relationships/image" Target="../media/image377.wmf"/></Relationships>
</file>

<file path=ppt/slides/_rels/slide158.xml.rels><?xml version="1.0" encoding="UTF-8" standalone="yes"?>
<Relationships xmlns="http://schemas.openxmlformats.org/package/2006/relationships"><Relationship Id="rId3" Type="http://schemas.openxmlformats.org/officeDocument/2006/relationships/image" Target="../media/image379.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59.xml.rels><?xml version="1.0" encoding="UTF-8" standalone="yes"?>
<Relationships xmlns="http://schemas.openxmlformats.org/package/2006/relationships"><Relationship Id="rId3" Type="http://schemas.openxmlformats.org/officeDocument/2006/relationships/oleObject" Target="../embeddings/oleObject35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81.wmf"/><Relationship Id="rId5" Type="http://schemas.openxmlformats.org/officeDocument/2006/relationships/oleObject" Target="../embeddings/oleObject353.bin"/><Relationship Id="rId4" Type="http://schemas.openxmlformats.org/officeDocument/2006/relationships/image" Target="../media/image380.wmf"/></Relationships>
</file>

<file path=ppt/slides/_rels/slide160.xml.rels><?xml version="1.0" encoding="UTF-8" standalone="yes"?>
<Relationships xmlns="http://schemas.openxmlformats.org/package/2006/relationships"><Relationship Id="rId8" Type="http://schemas.openxmlformats.org/officeDocument/2006/relationships/image" Target="../media/image384.wmf"/><Relationship Id="rId3" Type="http://schemas.openxmlformats.org/officeDocument/2006/relationships/oleObject" Target="../embeddings/oleObject354.bin"/><Relationship Id="rId7" Type="http://schemas.openxmlformats.org/officeDocument/2006/relationships/oleObject" Target="../embeddings/oleObject356.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83.wmf"/><Relationship Id="rId5" Type="http://schemas.openxmlformats.org/officeDocument/2006/relationships/oleObject" Target="../embeddings/oleObject355.bin"/><Relationship Id="rId4" Type="http://schemas.openxmlformats.org/officeDocument/2006/relationships/image" Target="../media/image382.wmf"/></Relationships>
</file>

<file path=ppt/slides/_rels/slide161.xml.rels><?xml version="1.0" encoding="UTF-8" standalone="yes"?>
<Relationships xmlns="http://schemas.openxmlformats.org/package/2006/relationships"><Relationship Id="rId3" Type="http://schemas.openxmlformats.org/officeDocument/2006/relationships/image" Target="../media/image38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2.xml.rels><?xml version="1.0" encoding="UTF-8" standalone="yes"?>
<Relationships xmlns="http://schemas.openxmlformats.org/package/2006/relationships"><Relationship Id="rId8" Type="http://schemas.openxmlformats.org/officeDocument/2006/relationships/oleObject" Target="../embeddings/oleObject359.bin"/><Relationship Id="rId3" Type="http://schemas.openxmlformats.org/officeDocument/2006/relationships/image" Target="../media/image386.png"/><Relationship Id="rId7" Type="http://schemas.openxmlformats.org/officeDocument/2006/relationships/image" Target="../media/image388.wmf"/><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oleObject" Target="../embeddings/oleObject358.bin"/><Relationship Id="rId11" Type="http://schemas.openxmlformats.org/officeDocument/2006/relationships/image" Target="../media/image390.wmf"/><Relationship Id="rId5" Type="http://schemas.openxmlformats.org/officeDocument/2006/relationships/image" Target="../media/image387.wmf"/><Relationship Id="rId10" Type="http://schemas.openxmlformats.org/officeDocument/2006/relationships/oleObject" Target="../embeddings/oleObject360.bin"/><Relationship Id="rId4" Type="http://schemas.openxmlformats.org/officeDocument/2006/relationships/oleObject" Target="../embeddings/oleObject357.bin"/><Relationship Id="rId9" Type="http://schemas.openxmlformats.org/officeDocument/2006/relationships/image" Target="../media/image389.wmf"/></Relationships>
</file>

<file path=ppt/slides/_rels/slide163.xml.rels><?xml version="1.0" encoding="UTF-8" standalone="yes"?>
<Relationships xmlns="http://schemas.openxmlformats.org/package/2006/relationships"><Relationship Id="rId3" Type="http://schemas.openxmlformats.org/officeDocument/2006/relationships/image" Target="../media/image391.png"/><Relationship Id="rId2" Type="http://schemas.openxmlformats.org/officeDocument/2006/relationships/image" Target="../media/image3.jpeg"/><Relationship Id="rId1" Type="http://schemas.openxmlformats.org/officeDocument/2006/relationships/slideLayout" Target="../slideLayouts/slideLayout7.xml"/><Relationship Id="rId5" Type="http://schemas.openxmlformats.org/officeDocument/2006/relationships/image" Target="../media/image392.wmf"/><Relationship Id="rId4" Type="http://schemas.openxmlformats.org/officeDocument/2006/relationships/oleObject" Target="../embeddings/oleObject361.bin"/></Relationships>
</file>

<file path=ppt/slides/_rels/slide164.xml.rels><?xml version="1.0" encoding="UTF-8" standalone="yes"?>
<Relationships xmlns="http://schemas.openxmlformats.org/package/2006/relationships"><Relationship Id="rId3" Type="http://schemas.openxmlformats.org/officeDocument/2006/relationships/oleObject" Target="../embeddings/oleObject362.bin"/><Relationship Id="rId2" Type="http://schemas.openxmlformats.org/officeDocument/2006/relationships/image" Target="../media/image3.jpeg"/><Relationship Id="rId1" Type="http://schemas.openxmlformats.org/officeDocument/2006/relationships/slideLayout" Target="../slideLayouts/slideLayout7.xml"/><Relationship Id="rId6" Type="http://schemas.openxmlformats.org/officeDocument/2006/relationships/image" Target="../media/image394.wmf"/><Relationship Id="rId5" Type="http://schemas.openxmlformats.org/officeDocument/2006/relationships/oleObject" Target="../embeddings/oleObject363.bin"/><Relationship Id="rId4" Type="http://schemas.openxmlformats.org/officeDocument/2006/relationships/image" Target="../media/image393.wmf"/></Relationships>
</file>

<file path=ppt/slides/_rels/slide165.xml.rels><?xml version="1.0" encoding="UTF-8" standalone="yes"?>
<Relationships xmlns="http://schemas.openxmlformats.org/package/2006/relationships"><Relationship Id="rId3" Type="http://schemas.openxmlformats.org/officeDocument/2006/relationships/image" Target="../media/image395.png"/><Relationship Id="rId2" Type="http://schemas.openxmlformats.org/officeDocument/2006/relationships/image" Target="../media/image3.jpeg"/><Relationship Id="rId1" Type="http://schemas.openxmlformats.org/officeDocument/2006/relationships/slideLayout" Target="../slideLayouts/slideLayout7.xml"/></Relationships>
</file>

<file path=ppt/slides/_rels/slide16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67.xml.rels><?xml version="1.0" encoding="UTF-8" standalone="yes"?>
<Relationships xmlns="http://schemas.openxmlformats.org/package/2006/relationships"><Relationship Id="rId2" Type="http://schemas.openxmlformats.org/officeDocument/2006/relationships/image" Target="../media/image396.tmp"/><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098" name="Text Box 2"/>
          <p:cNvSpPr txBox="1">
            <a:spLocks noChangeArrowheads="1"/>
          </p:cNvSpPr>
          <p:nvPr/>
        </p:nvSpPr>
        <p:spPr bwMode="auto">
          <a:xfrm>
            <a:off x="1258888" y="1989138"/>
            <a:ext cx="6791325" cy="1555750"/>
          </a:xfrm>
          <a:prstGeom prst="rect">
            <a:avLst/>
          </a:prstGeom>
          <a:noFill/>
          <a:ln w="9525">
            <a:noFill/>
            <a:miter lim="800000"/>
            <a:headEnd/>
            <a:tailEnd/>
          </a:ln>
          <a:effectLst/>
        </p:spPr>
        <p:txBody>
          <a:bodyPr>
            <a:spAutoFit/>
          </a:bodyPr>
          <a:lstStyle/>
          <a:p>
            <a:pPr algn="ctr">
              <a:defRPr/>
            </a:pPr>
            <a:r>
              <a:rPr kumimoji="0" lang="zh-CN" altLang="en-US" sz="4800" dirty="0">
                <a:solidFill>
                  <a:srgbClr val="FF0000"/>
                </a:solidFill>
                <a:effectLst>
                  <a:outerShdw blurRad="38100" dist="38100" dir="2700000" algn="tl">
                    <a:srgbClr val="C0C0C0"/>
                  </a:outerShdw>
                </a:effectLst>
                <a:latin typeface="Arial" charset="0"/>
                <a:ea typeface="方正大黑简体" pitchFamily="2" charset="-122"/>
              </a:rPr>
              <a:t>第</a:t>
            </a:r>
            <a:r>
              <a:rPr kumimoji="0" lang="en-US" altLang="zh-CN" sz="4800" dirty="0">
                <a:solidFill>
                  <a:srgbClr val="FF0000"/>
                </a:solidFill>
                <a:effectLst>
                  <a:outerShdw blurRad="38100" dist="38100" dir="2700000" algn="tl">
                    <a:srgbClr val="C0C0C0"/>
                  </a:outerShdw>
                </a:effectLst>
                <a:latin typeface="Arial" charset="0"/>
                <a:ea typeface="方正大黑简体" pitchFamily="2" charset="-122"/>
              </a:rPr>
              <a:t>3</a:t>
            </a:r>
            <a:r>
              <a:rPr kumimoji="0" lang="zh-CN" altLang="en-US" sz="4800" dirty="0">
                <a:solidFill>
                  <a:srgbClr val="FF0000"/>
                </a:solidFill>
                <a:effectLst>
                  <a:outerShdw blurRad="38100" dist="38100" dir="2700000" algn="tl">
                    <a:srgbClr val="C0C0C0"/>
                  </a:outerShdw>
                </a:effectLst>
                <a:latin typeface="Arial" charset="0"/>
                <a:ea typeface="方正大黑简体" pitchFamily="2" charset="-122"/>
              </a:rPr>
              <a:t>章 计算机控制系统数学描述与性能分析 </a:t>
            </a:r>
          </a:p>
        </p:txBody>
      </p:sp>
      <p:sp>
        <p:nvSpPr>
          <p:cNvPr id="4100" name="Text Box 4"/>
          <p:cNvSpPr txBox="1">
            <a:spLocks noChangeArrowheads="1"/>
          </p:cNvSpPr>
          <p:nvPr/>
        </p:nvSpPr>
        <p:spPr bwMode="auto">
          <a:xfrm>
            <a:off x="2411413" y="5157788"/>
            <a:ext cx="4729162" cy="427037"/>
          </a:xfrm>
          <a:prstGeom prst="rect">
            <a:avLst/>
          </a:prstGeom>
          <a:noFill/>
          <a:ln w="9525">
            <a:noFill/>
            <a:miter lim="800000"/>
            <a:headEnd/>
            <a:tailEnd/>
          </a:ln>
          <a:effectLst/>
        </p:spPr>
        <p:txBody>
          <a:bodyPr>
            <a:spAutoFit/>
          </a:bodyPr>
          <a:lstStyle/>
          <a:p>
            <a:pPr algn="ctr">
              <a:defRPr/>
            </a:pPr>
            <a:r>
              <a:rPr kumimoji="0" lang="en-US" altLang="zh-CN" sz="2200" b="0" dirty="0">
                <a:effectLst>
                  <a:outerShdw blurRad="38100" dist="38100" dir="2700000" algn="tl">
                    <a:srgbClr val="C0C0C0"/>
                  </a:outerShdw>
                </a:effectLst>
                <a:latin typeface="Arial" charset="0"/>
                <a:ea typeface="黑体" pitchFamily="2" charset="-122"/>
              </a:rPr>
              <a:t>2025</a:t>
            </a:r>
            <a:r>
              <a:rPr kumimoji="0" lang="zh-CN" altLang="en-US" sz="2200" b="0" dirty="0">
                <a:effectLst>
                  <a:outerShdw blurRad="38100" dist="38100" dir="2700000" algn="tl">
                    <a:srgbClr val="C0C0C0"/>
                  </a:outerShdw>
                </a:effectLst>
                <a:latin typeface="Arial" charset="0"/>
                <a:ea typeface="黑体" pitchFamily="2" charset="-122"/>
              </a:rPr>
              <a:t>年</a:t>
            </a:r>
            <a:r>
              <a:rPr kumimoji="0" lang="en-US" altLang="zh-CN" sz="2200" b="0" dirty="0">
                <a:effectLst>
                  <a:outerShdw blurRad="38100" dist="38100" dir="2700000" algn="tl">
                    <a:srgbClr val="C0C0C0"/>
                  </a:outerShdw>
                </a:effectLst>
                <a:latin typeface="Arial" charset="0"/>
                <a:ea typeface="黑体" pitchFamily="2" charset="-122"/>
              </a:rPr>
              <a:t>3</a:t>
            </a:r>
            <a:r>
              <a:rPr kumimoji="0" lang="zh-CN" altLang="en-US" sz="2200" b="0" dirty="0">
                <a:effectLst>
                  <a:outerShdw blurRad="38100" dist="38100" dir="2700000" algn="tl">
                    <a:srgbClr val="C0C0C0"/>
                  </a:outerShdw>
                </a:effectLst>
                <a:latin typeface="Arial" charset="0"/>
                <a:ea typeface="黑体" pitchFamily="2" charset="-122"/>
              </a:rPr>
              <a:t>月</a:t>
            </a:r>
          </a:p>
        </p:txBody>
      </p:sp>
      <p:sp>
        <p:nvSpPr>
          <p:cNvPr id="4115" name="Rectangle 19"/>
          <p:cNvSpPr>
            <a:spLocks noGrp="1" noChangeArrowheads="1"/>
          </p:cNvSpPr>
          <p:nvPr>
            <p:ph type="title"/>
          </p:nvPr>
        </p:nvSpPr>
        <p:spPr/>
        <p:txBody>
          <a:bodyPr/>
          <a:lstStyle/>
          <a:p>
            <a:pPr algn="l" eaLnBrk="1" hangingPunct="1">
              <a:defRPr/>
            </a:pPr>
            <a:r>
              <a:rPr lang="zh-CN" altLang="en-US" sz="2400" b="1">
                <a:solidFill>
                  <a:schemeClr val="tx1"/>
                </a:solidFill>
                <a:effectLst>
                  <a:outerShdw blurRad="38100" dist="38100" dir="2700000" algn="tl">
                    <a:srgbClr val="C0C0C0"/>
                  </a:outerShdw>
                </a:effectLst>
              </a:rPr>
              <a:t>计算机控制系统</a:t>
            </a:r>
          </a:p>
        </p:txBody>
      </p:sp>
      <p:sp>
        <p:nvSpPr>
          <p:cNvPr id="2" name="Text Box 3">
            <a:extLst>
              <a:ext uri="{FF2B5EF4-FFF2-40B4-BE49-F238E27FC236}">
                <a16:creationId xmlns:a16="http://schemas.microsoft.com/office/drawing/2014/main" id="{FDB87F3D-18BF-A637-31C7-6102B5D971FD}"/>
              </a:ext>
            </a:extLst>
          </p:cNvPr>
          <p:cNvSpPr txBox="1">
            <a:spLocks noChangeArrowheads="1"/>
          </p:cNvSpPr>
          <p:nvPr/>
        </p:nvSpPr>
        <p:spPr bwMode="auto">
          <a:xfrm>
            <a:off x="1476375" y="4005263"/>
            <a:ext cx="6408738" cy="954107"/>
          </a:xfrm>
          <a:prstGeom prst="rect">
            <a:avLst/>
          </a:prstGeom>
          <a:noFill/>
          <a:ln w="9525">
            <a:noFill/>
            <a:miter lim="800000"/>
            <a:headEnd/>
            <a:tailEnd/>
          </a:ln>
          <a:effectLst/>
        </p:spPr>
        <p:txBody>
          <a:bodyPr>
            <a:spAutoFit/>
          </a:bodyPr>
          <a:lstStyle/>
          <a:p>
            <a:pPr algn="ctr" eaLnBrk="1" hangingPunct="1">
              <a:defRPr/>
            </a:pPr>
            <a:r>
              <a:rPr lang="zh-CN" altLang="en-US" sz="3200" dirty="0">
                <a:effectLst>
                  <a:outerShdw blurRad="38100" dist="38100" dir="2700000" algn="tl">
                    <a:srgbClr val="C0C0C0"/>
                  </a:outerShdw>
                </a:effectLst>
                <a:ea typeface="黑体" pitchFamily="2" charset="-122"/>
              </a:rPr>
              <a:t>信息学院</a:t>
            </a:r>
            <a:r>
              <a:rPr lang="en-US" altLang="zh-CN" sz="3200" dirty="0">
                <a:effectLst>
                  <a:outerShdw blurRad="38100" dist="38100" dir="2700000" algn="tl">
                    <a:srgbClr val="C0C0C0"/>
                  </a:outerShdw>
                </a:effectLst>
                <a:latin typeface="华文细黑"/>
                <a:ea typeface="黑体" pitchFamily="2" charset="-122"/>
              </a:rPr>
              <a:t>·</a:t>
            </a:r>
            <a:r>
              <a:rPr lang="zh-CN" altLang="en-US" sz="3200" dirty="0">
                <a:effectLst>
                  <a:outerShdw blurRad="38100" dist="38100" dir="2700000" algn="tl">
                    <a:srgbClr val="C0C0C0"/>
                  </a:outerShdw>
                </a:effectLst>
                <a:latin typeface="华文细黑"/>
                <a:ea typeface="黑体" pitchFamily="2" charset="-122"/>
              </a:rPr>
              <a:t>刘圆超</a:t>
            </a:r>
            <a:endParaRPr lang="zh-CN" altLang="en-US" sz="3200" dirty="0">
              <a:effectLst>
                <a:outerShdw blurRad="38100" dist="38100" dir="2700000" algn="tl">
                  <a:srgbClr val="C0C0C0"/>
                </a:outerShdw>
              </a:effectLst>
              <a:ea typeface="黑体" pitchFamily="2" charset="-122"/>
            </a:endParaRPr>
          </a:p>
          <a:p>
            <a:pPr algn="ctr" eaLnBrk="1" hangingPunct="1">
              <a:defRPr/>
            </a:pPr>
            <a:r>
              <a:rPr lang="en-US" altLang="zh-CN" sz="2400" dirty="0">
                <a:effectLst>
                  <a:outerShdw blurRad="38100" dist="38100" dir="2700000" algn="tl">
                    <a:srgbClr val="C0C0C0"/>
                  </a:outerShdw>
                </a:effectLst>
                <a:ea typeface="黑体" pitchFamily="2" charset="-122"/>
              </a:rPr>
              <a:t>liuyuanchao@ise.neu.edu.cn</a:t>
            </a:r>
          </a:p>
        </p:txBody>
      </p:sp>
    </p:spTree>
  </p:cSld>
  <p:clrMapOvr>
    <a:masterClrMapping/>
  </p:clrMapOvr>
  <p:transition>
    <p:split orient="vert"/>
  </p:transition>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4398" name="Text Box 14"/>
          <p:cNvSpPr txBox="1">
            <a:spLocks noChangeArrowheads="1"/>
          </p:cNvSpPr>
          <p:nvPr/>
        </p:nvSpPr>
        <p:spPr bwMode="auto">
          <a:xfrm>
            <a:off x="1547813" y="1196975"/>
            <a:ext cx="5937250" cy="579438"/>
          </a:xfrm>
          <a:prstGeom prst="rect">
            <a:avLst/>
          </a:prstGeom>
          <a:noFill/>
          <a:ln w="9525">
            <a:noFill/>
            <a:miter lim="800000"/>
            <a:headEnd/>
            <a:tailEnd/>
          </a:ln>
          <a:effectLst/>
        </p:spPr>
        <p:txBody>
          <a:bodyPr>
            <a:spAutoFit/>
          </a:bodyPr>
          <a:lstStyle/>
          <a:p>
            <a:pPr>
              <a:defRPr/>
            </a:pPr>
            <a:r>
              <a:rPr kumimoji="0" lang="zh-CN" altLang="en-US" sz="3200" dirty="0">
                <a:solidFill>
                  <a:srgbClr val="1E86B4"/>
                </a:solidFill>
                <a:effectLst>
                  <a:outerShdw blurRad="38100" dist="38100" dir="2700000" algn="tl">
                    <a:srgbClr val="C0C0C0"/>
                  </a:outerShdw>
                </a:effectLst>
                <a:latin typeface="Arial" charset="0"/>
                <a:ea typeface="方正大黑简体" pitchFamily="2" charset="-122"/>
              </a:rPr>
              <a:t>本章内容</a:t>
            </a:r>
            <a:r>
              <a:rPr kumimoji="0" lang="en-US" altLang="zh-CN" sz="3200" dirty="0">
                <a:solidFill>
                  <a:srgbClr val="1E86B4"/>
                </a:solidFill>
                <a:effectLst>
                  <a:outerShdw blurRad="38100" dist="38100" dir="2700000" algn="tl">
                    <a:srgbClr val="C0C0C0"/>
                  </a:outerShdw>
                </a:effectLst>
                <a:latin typeface="Arial" charset="0"/>
                <a:ea typeface="方正大黑简体" pitchFamily="2" charset="-122"/>
              </a:rPr>
              <a:t>:</a:t>
            </a:r>
          </a:p>
        </p:txBody>
      </p:sp>
      <p:sp>
        <p:nvSpPr>
          <p:cNvPr id="109571" name="Text Box 15"/>
          <p:cNvSpPr txBox="1">
            <a:spLocks noChangeArrowheads="1"/>
          </p:cNvSpPr>
          <p:nvPr/>
        </p:nvSpPr>
        <p:spPr bwMode="auto">
          <a:xfrm>
            <a:off x="1547813" y="1844675"/>
            <a:ext cx="6835775" cy="4092575"/>
          </a:xfrm>
          <a:prstGeom prst="rect">
            <a:avLst/>
          </a:prstGeom>
          <a:noFill/>
          <a:ln w="9525">
            <a:noFill/>
            <a:miter lim="800000"/>
            <a:headEnd/>
            <a:tailEnd/>
          </a:ln>
        </p:spPr>
        <p:txBody>
          <a:bodyPr>
            <a:spAutoFit/>
          </a:bodyPr>
          <a:lstStyle/>
          <a:p>
            <a:pPr>
              <a:lnSpc>
                <a:spcPct val="150000"/>
              </a:lnSpc>
              <a:buFont typeface="Wingdings" pitchFamily="2" charset="2"/>
              <a:buChar char="l"/>
            </a:pPr>
            <a:r>
              <a:rPr kumimoji="0" lang="en-US" altLang="zh-CN" sz="2500" dirty="0">
                <a:latin typeface="黑体" pitchFamily="2" charset="-122"/>
                <a:ea typeface="黑体" pitchFamily="2" charset="-122"/>
              </a:rPr>
              <a:t>   </a:t>
            </a:r>
            <a:r>
              <a:rPr kumimoji="0" lang="zh-CN" altLang="en-US" sz="2500" dirty="0">
                <a:latin typeface="黑体" pitchFamily="2" charset="-122"/>
                <a:ea typeface="黑体" pitchFamily="2" charset="-122"/>
              </a:rPr>
              <a:t>线性常系数差分方程</a:t>
            </a:r>
          </a:p>
          <a:p>
            <a:pPr>
              <a:lnSpc>
                <a:spcPct val="150000"/>
              </a:lnSpc>
              <a:buFont typeface="Wingdings" pitchFamily="2" charset="2"/>
              <a:buChar char="l"/>
            </a:pPr>
            <a:r>
              <a:rPr kumimoji="0" lang="zh-CN" altLang="en-US" sz="2500" dirty="0">
                <a:latin typeface="黑体" pitchFamily="2" charset="-122"/>
                <a:ea typeface="黑体" pitchFamily="2" charset="-122"/>
              </a:rPr>
              <a:t>   脉冲传递函数</a:t>
            </a:r>
          </a:p>
          <a:p>
            <a:pPr>
              <a:lnSpc>
                <a:spcPct val="150000"/>
              </a:lnSpc>
              <a:buFont typeface="Wingdings" pitchFamily="2" charset="2"/>
              <a:buChar char="l"/>
            </a:pPr>
            <a:r>
              <a:rPr kumimoji="0" lang="zh-CN" altLang="en-US" sz="2500" dirty="0">
                <a:latin typeface="黑体" pitchFamily="2" charset="-122"/>
                <a:ea typeface="黑体" pitchFamily="2" charset="-122"/>
              </a:rPr>
              <a:t>   </a:t>
            </a:r>
            <a:r>
              <a:rPr kumimoji="0" lang="zh-CN" altLang="en-US" sz="2500" dirty="0">
                <a:solidFill>
                  <a:srgbClr val="0000FF"/>
                </a:solidFill>
                <a:latin typeface="黑体" pitchFamily="2" charset="-122"/>
                <a:ea typeface="黑体" pitchFamily="2" charset="-122"/>
              </a:rPr>
              <a:t>计算机控制系统稳定性分析</a:t>
            </a:r>
          </a:p>
          <a:p>
            <a:pPr>
              <a:lnSpc>
                <a:spcPct val="150000"/>
              </a:lnSpc>
              <a:buFont typeface="Wingdings" pitchFamily="2" charset="2"/>
              <a:buChar char="l"/>
            </a:pPr>
            <a:r>
              <a:rPr kumimoji="0" lang="zh-CN" altLang="en-US" sz="2500" dirty="0">
                <a:solidFill>
                  <a:srgbClr val="0000FF"/>
                </a:solidFill>
                <a:latin typeface="黑体" pitchFamily="2" charset="-122"/>
                <a:ea typeface="黑体" pitchFamily="2" charset="-122"/>
              </a:rPr>
              <a:t>   计算机控制系统的代数稳定性判据</a:t>
            </a:r>
          </a:p>
          <a:p>
            <a:pPr>
              <a:lnSpc>
                <a:spcPct val="150000"/>
              </a:lnSpc>
              <a:buFont typeface="Wingdings" pitchFamily="2" charset="2"/>
              <a:buChar char="l"/>
            </a:pPr>
            <a:r>
              <a:rPr kumimoji="0" lang="zh-CN" altLang="en-US" sz="2500" dirty="0">
                <a:latin typeface="黑体" pitchFamily="2" charset="-122"/>
                <a:ea typeface="黑体" pitchFamily="2" charset="-122"/>
              </a:rPr>
              <a:t>   </a:t>
            </a:r>
            <a:r>
              <a:rPr kumimoji="0" lang="zh-CN" altLang="en-US" sz="2500" dirty="0">
                <a:solidFill>
                  <a:srgbClr val="0033CC"/>
                </a:solidFill>
                <a:latin typeface="黑体" pitchFamily="2" charset="-122"/>
                <a:ea typeface="黑体" pitchFamily="2" charset="-122"/>
              </a:rPr>
              <a:t>计算机控制系统稳态过程分析</a:t>
            </a:r>
            <a:endParaRPr kumimoji="0" lang="zh-CN" altLang="en-US" sz="2500" dirty="0">
              <a:solidFill>
                <a:srgbClr val="000000"/>
              </a:solidFill>
              <a:latin typeface="黑体" pitchFamily="2" charset="-122"/>
              <a:ea typeface="黑体" pitchFamily="2" charset="-122"/>
            </a:endParaRPr>
          </a:p>
          <a:p>
            <a:pPr>
              <a:lnSpc>
                <a:spcPct val="150000"/>
              </a:lnSpc>
              <a:buFont typeface="Wingdings" pitchFamily="2" charset="2"/>
              <a:buChar char="l"/>
            </a:pPr>
            <a:r>
              <a:rPr kumimoji="0" lang="zh-CN" altLang="en-US" sz="2500" dirty="0">
                <a:solidFill>
                  <a:srgbClr val="000000"/>
                </a:solidFill>
                <a:latin typeface="黑体" pitchFamily="2" charset="-122"/>
                <a:ea typeface="黑体" pitchFamily="2" charset="-122"/>
              </a:rPr>
              <a:t>   </a:t>
            </a:r>
            <a:r>
              <a:rPr kumimoji="0" lang="zh-CN" altLang="en-US" sz="2500" dirty="0">
                <a:solidFill>
                  <a:srgbClr val="0033CC"/>
                </a:solidFill>
              </a:rPr>
              <a:t>计算机控制系统暂态过程分析</a:t>
            </a:r>
            <a:r>
              <a:rPr kumimoji="0" lang="zh-CN" altLang="en-US" sz="2500" dirty="0">
                <a:solidFill>
                  <a:srgbClr val="0033CC"/>
                </a:solidFill>
                <a:latin typeface="黑体" pitchFamily="2" charset="-122"/>
                <a:ea typeface="黑体" pitchFamily="2" charset="-122"/>
              </a:rPr>
              <a:t>   </a:t>
            </a:r>
          </a:p>
          <a:p>
            <a:pPr>
              <a:lnSpc>
                <a:spcPct val="150000"/>
              </a:lnSpc>
              <a:buFont typeface="Wingdings" pitchFamily="2" charset="2"/>
              <a:buChar char="l"/>
            </a:pPr>
            <a:r>
              <a:rPr kumimoji="0" lang="zh-CN" altLang="en-US" sz="2500" dirty="0">
                <a:latin typeface="黑体" pitchFamily="2" charset="-122"/>
                <a:ea typeface="黑体" pitchFamily="2" charset="-122"/>
              </a:rPr>
              <a:t>   </a:t>
            </a:r>
            <a:r>
              <a:rPr kumimoji="0" lang="zh-CN" altLang="en-US" sz="2500" dirty="0">
                <a:solidFill>
                  <a:srgbClr val="BE2C14"/>
                </a:solidFill>
                <a:latin typeface="黑体" pitchFamily="2" charset="-122"/>
                <a:ea typeface="黑体" pitchFamily="2" charset="-122"/>
              </a:rPr>
              <a:t>计算机控制系统的频域特性分析</a:t>
            </a:r>
          </a:p>
        </p:txBody>
      </p:sp>
    </p:spTree>
  </p:cSld>
  <p:clrMapOvr>
    <a:masterClrMapping/>
  </p:clrMapOvr>
  <p:transition>
    <p:checker/>
  </p:transition>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155" name="Text Box 11"/>
          <p:cNvSpPr txBox="1">
            <a:spLocks noChangeArrowheads="1"/>
          </p:cNvSpPr>
          <p:nvPr/>
        </p:nvSpPr>
        <p:spPr bwMode="auto">
          <a:xfrm>
            <a:off x="827088" y="260350"/>
            <a:ext cx="7632700" cy="701675"/>
          </a:xfrm>
          <a:prstGeom prst="rect">
            <a:avLst/>
          </a:prstGeom>
          <a:noFill/>
          <a:ln w="9525">
            <a:noFill/>
            <a:miter lim="800000"/>
            <a:headEnd/>
            <a:tailEnd/>
          </a:ln>
          <a:effectLst/>
        </p:spPr>
        <p:txBody>
          <a:bodyPr>
            <a:spAutoFit/>
          </a:bodyPr>
          <a:lstStyle/>
          <a:p>
            <a:pPr>
              <a:defRPr/>
            </a:pPr>
            <a:r>
              <a:rPr kumimoji="0" lang="en-US" altLang="zh-CN" sz="4000">
                <a:solidFill>
                  <a:srgbClr val="FF0000"/>
                </a:solidFill>
                <a:effectLst>
                  <a:outerShdw blurRad="38100" dist="38100" dir="2700000" algn="tl">
                    <a:srgbClr val="C0C0C0"/>
                  </a:outerShdw>
                </a:effectLst>
                <a:latin typeface="Arial" charset="0"/>
                <a:ea typeface="方正大黑简体" pitchFamily="2" charset="-122"/>
              </a:rPr>
              <a:t>3.2 </a:t>
            </a:r>
            <a:r>
              <a:rPr kumimoji="0" lang="zh-CN" altLang="en-US" sz="4000">
                <a:solidFill>
                  <a:srgbClr val="FF0000"/>
                </a:solidFill>
                <a:effectLst>
                  <a:outerShdw blurRad="38100" dist="38100" dir="2700000" algn="tl">
                    <a:srgbClr val="C0C0C0"/>
                  </a:outerShdw>
                </a:effectLst>
                <a:latin typeface="Arial" charset="0"/>
                <a:ea typeface="方正大黑简体" pitchFamily="2" charset="-122"/>
              </a:rPr>
              <a:t>线性常系数差分方程</a:t>
            </a:r>
          </a:p>
        </p:txBody>
      </p:sp>
      <p:sp>
        <p:nvSpPr>
          <p:cNvPr id="6156" name="Rectangle 12"/>
          <p:cNvSpPr>
            <a:spLocks noChangeArrowheads="1"/>
          </p:cNvSpPr>
          <p:nvPr/>
        </p:nvSpPr>
        <p:spPr bwMode="auto">
          <a:xfrm>
            <a:off x="827088" y="1268413"/>
            <a:ext cx="6551612" cy="576262"/>
          </a:xfrm>
          <a:prstGeom prst="rect">
            <a:avLst/>
          </a:prstGeom>
          <a:noFill/>
          <a:ln w="9525">
            <a:noFill/>
            <a:miter lim="800000"/>
            <a:headEnd/>
            <a:tailEnd/>
          </a:ln>
          <a:effectLst/>
        </p:spPr>
        <p:txBody>
          <a:bodyPr anchor="ctr"/>
          <a:lstStyle/>
          <a:p>
            <a:pPr>
              <a:defRPr/>
            </a:pPr>
            <a:r>
              <a:rPr lang="en-US" altLang="zh-CN" sz="3400">
                <a:solidFill>
                  <a:srgbClr val="0033CC"/>
                </a:solidFill>
                <a:effectLst>
                  <a:outerShdw blurRad="38100" dist="38100" dir="2700000" algn="tl">
                    <a:srgbClr val="C0C0C0"/>
                  </a:outerShdw>
                </a:effectLst>
              </a:rPr>
              <a:t>3.2.1 </a:t>
            </a:r>
            <a:r>
              <a:rPr lang="zh-CN" altLang="en-US" sz="3400">
                <a:solidFill>
                  <a:srgbClr val="0033CC"/>
                </a:solidFill>
                <a:effectLst>
                  <a:outerShdw blurRad="38100" dist="38100" dir="2700000" algn="tl">
                    <a:srgbClr val="C0C0C0"/>
                  </a:outerShdw>
                </a:effectLst>
              </a:rPr>
              <a:t>离散系统</a:t>
            </a:r>
            <a:r>
              <a:rPr lang="zh-CN" altLang="en-US" sz="4400">
                <a:solidFill>
                  <a:srgbClr val="0033CC"/>
                </a:solidFill>
                <a:effectLst>
                  <a:outerShdw blurRad="38100" dist="38100" dir="2700000" algn="tl">
                    <a:srgbClr val="C0C0C0"/>
                  </a:outerShdw>
                </a:effectLst>
              </a:rPr>
              <a:t> </a:t>
            </a:r>
          </a:p>
        </p:txBody>
      </p:sp>
      <p:sp>
        <p:nvSpPr>
          <p:cNvPr id="6157" name="Text Box 13"/>
          <p:cNvSpPr txBox="1">
            <a:spLocks noChangeArrowheads="1"/>
          </p:cNvSpPr>
          <p:nvPr/>
        </p:nvSpPr>
        <p:spPr bwMode="auto">
          <a:xfrm>
            <a:off x="950913" y="1989138"/>
            <a:ext cx="7365503" cy="1430328"/>
          </a:xfrm>
          <a:prstGeom prst="rect">
            <a:avLst/>
          </a:prstGeom>
          <a:noFill/>
          <a:ln w="9525" algn="ctr">
            <a:noFill/>
            <a:miter lim="800000"/>
            <a:headEnd/>
            <a:tailEnd/>
          </a:ln>
          <a:effectLst/>
        </p:spPr>
        <p:txBody>
          <a:bodyPr wrap="square">
            <a:spAutoFit/>
          </a:bodyPr>
          <a:lstStyle/>
          <a:p>
            <a:pPr>
              <a:lnSpc>
                <a:spcPct val="125000"/>
              </a:lnSpc>
              <a:defRPr/>
            </a:pPr>
            <a:r>
              <a:rPr kumimoji="0" lang="zh-CN" altLang="en-US" sz="2400" dirty="0">
                <a:effectLst>
                  <a:outerShdw blurRad="38100" dist="38100" dir="2700000" algn="tl">
                    <a:srgbClr val="C0C0C0"/>
                  </a:outerShdw>
                </a:effectLst>
              </a:rPr>
              <a:t>离散时间系统（简称离散系统）就是输入和输出均为离散信号的物理系统。（为书写简便，把表示采样时刻离散时间</a:t>
            </a:r>
            <a:r>
              <a:rPr kumimoji="0" lang="en-US" altLang="zh-CN" sz="2400" i="1" dirty="0" err="1">
                <a:effectLst>
                  <a:outerShdw blurRad="38100" dist="38100" dir="2700000" algn="tl">
                    <a:srgbClr val="C0C0C0"/>
                  </a:outerShdw>
                </a:effectLst>
              </a:rPr>
              <a:t>kT</a:t>
            </a:r>
            <a:r>
              <a:rPr kumimoji="0" lang="zh-CN" altLang="en-US" sz="2400" dirty="0">
                <a:effectLst>
                  <a:outerShdw blurRad="38100" dist="38100" dir="2700000" algn="tl">
                    <a:srgbClr val="C0C0C0"/>
                  </a:outerShdw>
                </a:effectLst>
              </a:rPr>
              <a:t>缩写成</a:t>
            </a:r>
            <a:r>
              <a:rPr kumimoji="0" lang="en-US" altLang="zh-CN" sz="2400" i="1" dirty="0">
                <a:effectLst>
                  <a:outerShdw blurRad="38100" dist="38100" dir="2700000" algn="tl">
                    <a:srgbClr val="C0C0C0"/>
                  </a:outerShdw>
                </a:effectLst>
              </a:rPr>
              <a:t>k</a:t>
            </a:r>
            <a:r>
              <a:rPr kumimoji="0" lang="zh-CN" altLang="en-US" sz="2400" dirty="0">
                <a:effectLst>
                  <a:outerShdw blurRad="38100" dist="38100" dir="2700000" algn="tl">
                    <a:srgbClr val="C0C0C0"/>
                  </a:outerShdw>
                </a:effectLst>
              </a:rPr>
              <a:t>）</a:t>
            </a:r>
          </a:p>
        </p:txBody>
      </p:sp>
      <p:pic>
        <p:nvPicPr>
          <p:cNvPr id="110597" name="Picture 14"/>
          <p:cNvPicPr>
            <a:picLocks noChangeAspect="1" noChangeArrowheads="1"/>
          </p:cNvPicPr>
          <p:nvPr/>
        </p:nvPicPr>
        <p:blipFill>
          <a:blip r:embed="rId3" cstate="print"/>
          <a:srcRect/>
          <a:stretch>
            <a:fillRect/>
          </a:stretch>
        </p:blipFill>
        <p:spPr bwMode="auto">
          <a:xfrm>
            <a:off x="539552" y="3414639"/>
            <a:ext cx="8316912" cy="1946275"/>
          </a:xfrm>
          <a:prstGeom prst="rect">
            <a:avLst/>
          </a:prstGeom>
          <a:noFill/>
          <a:ln w="9525">
            <a:noFill/>
            <a:miter lim="800000"/>
            <a:headEnd/>
            <a:tailEnd/>
          </a:ln>
        </p:spPr>
      </p:pic>
      <p:sp>
        <p:nvSpPr>
          <p:cNvPr id="6159" name="Text Box 15"/>
          <p:cNvSpPr txBox="1">
            <a:spLocks noChangeArrowheads="1"/>
          </p:cNvSpPr>
          <p:nvPr/>
        </p:nvSpPr>
        <p:spPr bwMode="auto">
          <a:xfrm>
            <a:off x="3697573" y="5283171"/>
            <a:ext cx="1892225" cy="366713"/>
          </a:xfrm>
          <a:prstGeom prst="rect">
            <a:avLst/>
          </a:prstGeom>
          <a:noFill/>
          <a:ln w="9525" algn="ctr">
            <a:noFill/>
            <a:miter lim="800000"/>
            <a:headEnd/>
            <a:tailEnd/>
          </a:ln>
          <a:effectLst/>
        </p:spPr>
        <p:txBody>
          <a:bodyPr wrap="square">
            <a:spAutoFit/>
          </a:bodyPr>
          <a:lstStyle/>
          <a:p>
            <a:pPr>
              <a:defRPr/>
            </a:pPr>
            <a:r>
              <a:rPr kumimoji="0" lang="zh-CN" altLang="en-US" sz="1800" dirty="0">
                <a:effectLst>
                  <a:outerShdw blurRad="38100" dist="38100" dir="2700000" algn="tl">
                    <a:srgbClr val="C0C0C0"/>
                  </a:outerShdw>
                </a:effectLst>
              </a:rPr>
              <a:t>图</a:t>
            </a:r>
            <a:r>
              <a:rPr kumimoji="0" lang="en-US" altLang="zh-CN" sz="1800" dirty="0">
                <a:effectLst>
                  <a:outerShdw blurRad="38100" dist="38100" dir="2700000" algn="tl">
                    <a:srgbClr val="C0C0C0"/>
                  </a:outerShdw>
                </a:effectLst>
              </a:rPr>
              <a:t>3.1  </a:t>
            </a:r>
            <a:r>
              <a:rPr kumimoji="0" lang="zh-CN" altLang="en-US" sz="1800" dirty="0">
                <a:effectLst>
                  <a:outerShdw blurRad="38100" dist="38100" dir="2700000" algn="tl">
                    <a:srgbClr val="C0C0C0"/>
                  </a:outerShdw>
                </a:effectLst>
              </a:rPr>
              <a:t>离散系统</a:t>
            </a:r>
          </a:p>
        </p:txBody>
      </p:sp>
      <p:sp>
        <p:nvSpPr>
          <p:cNvPr id="2" name="Text Box 15">
            <a:extLst>
              <a:ext uri="{FF2B5EF4-FFF2-40B4-BE49-F238E27FC236}">
                <a16:creationId xmlns:a16="http://schemas.microsoft.com/office/drawing/2014/main" id="{98CD15BE-43D2-4C48-E00F-077D3942D277}"/>
              </a:ext>
            </a:extLst>
          </p:cNvPr>
          <p:cNvSpPr txBox="1">
            <a:spLocks noChangeArrowheads="1"/>
          </p:cNvSpPr>
          <p:nvPr/>
        </p:nvSpPr>
        <p:spPr bwMode="auto">
          <a:xfrm>
            <a:off x="1043608" y="5661248"/>
            <a:ext cx="5077045" cy="830997"/>
          </a:xfrm>
          <a:prstGeom prst="rect">
            <a:avLst/>
          </a:prstGeom>
          <a:noFill/>
          <a:ln w="9525" algn="ctr">
            <a:noFill/>
            <a:miter lim="800000"/>
            <a:headEnd/>
            <a:tailEnd/>
          </a:ln>
          <a:effectLst/>
        </p:spPr>
        <p:txBody>
          <a:bodyPr wrap="square">
            <a:spAutoFit/>
          </a:bodyPr>
          <a:lstStyle/>
          <a:p>
            <a:pPr>
              <a:defRPr/>
            </a:pPr>
            <a:r>
              <a:rPr kumimoji="0" lang="zh-CN" altLang="en-US" sz="2400" dirty="0">
                <a:effectLst>
                  <a:outerShdw blurRad="38100" dist="38100" dir="2700000" algn="tl">
                    <a:srgbClr val="C0C0C0"/>
                  </a:outerShdw>
                </a:effectLst>
              </a:rPr>
              <a:t>若</a:t>
            </a:r>
            <a:r>
              <a:rPr kumimoji="0" lang="en-US" altLang="zh-CN" sz="2400" i="1" dirty="0">
                <a:effectLst>
                  <a:outerShdw blurRad="38100" dist="38100" dir="2700000" algn="tl">
                    <a:srgbClr val="C0C0C0"/>
                  </a:outerShdw>
                </a:effectLst>
              </a:rPr>
              <a:t>D</a:t>
            </a:r>
            <a:r>
              <a:rPr kumimoji="0" lang="zh-CN" altLang="en-US" sz="2400" dirty="0">
                <a:effectLst>
                  <a:outerShdw blurRad="38100" dist="38100" dir="2700000" algn="tl">
                    <a:srgbClr val="C0C0C0"/>
                  </a:outerShdw>
                </a:effectLst>
              </a:rPr>
              <a:t>是确定的变换函数或映射，则有</a:t>
            </a:r>
            <a:r>
              <a:rPr kumimoji="0" lang="en-US" altLang="zh-CN" sz="2400" i="1" dirty="0">
                <a:effectLst>
                  <a:outerShdw blurRad="38100" dist="38100" dir="2700000" algn="tl">
                    <a:srgbClr val="C0C0C0"/>
                  </a:outerShdw>
                </a:effectLst>
              </a:rPr>
              <a:t>u</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k</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D</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e</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k</a:t>
            </a:r>
            <a:r>
              <a:rPr kumimoji="0" lang="en-US" altLang="zh-CN" sz="2400" dirty="0">
                <a:effectLst>
                  <a:outerShdw blurRad="38100" dist="38100" dir="2700000" algn="tl">
                    <a:srgbClr val="C0C0C0"/>
                  </a:outerShdw>
                </a:effectLst>
              </a:rPr>
              <a:t>)]</a:t>
            </a:r>
            <a:r>
              <a:rPr kumimoji="0" lang="zh-CN" altLang="en-US" sz="2400" dirty="0">
                <a:effectLst>
                  <a:outerShdw blurRad="38100" dist="38100" dir="2700000" algn="tl">
                    <a:srgbClr val="C0C0C0"/>
                  </a:outerShdw>
                </a:effectLst>
              </a:rPr>
              <a:t>。</a:t>
            </a:r>
          </a:p>
        </p:txBody>
      </p:sp>
    </p:spTree>
  </p:cSld>
  <p:clrMapOvr>
    <a:masterClrMapping/>
  </p:clrMapOvr>
  <p:transition>
    <p:checker/>
  </p:transition>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268" name="Text Box 76"/>
          <p:cNvSpPr txBox="1">
            <a:spLocks noChangeArrowheads="1"/>
          </p:cNvSpPr>
          <p:nvPr/>
        </p:nvSpPr>
        <p:spPr bwMode="auto">
          <a:xfrm>
            <a:off x="1042988" y="1844675"/>
            <a:ext cx="707707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线性离散系统：</a:t>
            </a:r>
            <a:r>
              <a:rPr kumimoji="0" lang="zh-CN" altLang="en-US" sz="2400">
                <a:effectLst>
                  <a:outerShdw blurRad="38100" dist="38100" dir="2700000" algn="tl">
                    <a:srgbClr val="C0C0C0"/>
                  </a:outerShdw>
                </a:effectLst>
              </a:rPr>
              <a:t>变换函数 </a:t>
            </a:r>
            <a:r>
              <a:rPr kumimoji="0" lang="en-US" altLang="zh-CN" sz="2400" i="1">
                <a:effectLst>
                  <a:outerShdw blurRad="38100" dist="38100" dir="2700000" algn="tl">
                    <a:srgbClr val="C0C0C0"/>
                  </a:outerShdw>
                </a:effectLst>
              </a:rPr>
              <a:t>D</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满足叠加原理。</a:t>
            </a:r>
          </a:p>
        </p:txBody>
      </p:sp>
      <p:sp>
        <p:nvSpPr>
          <p:cNvPr id="8269" name="Rectangle 77"/>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26" name="Object 78"/>
          <p:cNvGraphicFramePr>
            <a:graphicFrameLocks noChangeAspect="1"/>
          </p:cNvGraphicFramePr>
          <p:nvPr/>
        </p:nvGraphicFramePr>
        <p:xfrm>
          <a:off x="2935288" y="2997200"/>
          <a:ext cx="3024187" cy="514350"/>
        </p:xfrm>
        <a:graphic>
          <a:graphicData uri="http://schemas.openxmlformats.org/presentationml/2006/ole">
            <mc:AlternateContent xmlns:mc="http://schemas.openxmlformats.org/markup-compatibility/2006">
              <mc:Choice xmlns:v="urn:schemas-microsoft-com:vml" Requires="v">
                <p:oleObj name="Equation" r:id="rId3" imgW="1346200" imgH="228600" progId="Equation.DSMT4">
                  <p:embed/>
                </p:oleObj>
              </mc:Choice>
              <mc:Fallback>
                <p:oleObj name="Equation" r:id="rId3" imgW="1346200" imgH="2286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35288" y="2997200"/>
                        <a:ext cx="3024187"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71" name="Text Box 79"/>
          <p:cNvSpPr txBox="1">
            <a:spLocks noChangeArrowheads="1"/>
          </p:cNvSpPr>
          <p:nvPr/>
        </p:nvSpPr>
        <p:spPr bwMode="auto">
          <a:xfrm>
            <a:off x="1854200" y="2565400"/>
            <a:ext cx="19653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输入为：</a:t>
            </a:r>
          </a:p>
        </p:txBody>
      </p:sp>
      <p:sp>
        <p:nvSpPr>
          <p:cNvPr id="8272" name="Text Box 80"/>
          <p:cNvSpPr txBox="1">
            <a:spLocks noChangeArrowheads="1"/>
          </p:cNvSpPr>
          <p:nvPr/>
        </p:nvSpPr>
        <p:spPr bwMode="auto">
          <a:xfrm>
            <a:off x="1782763" y="3711575"/>
            <a:ext cx="1716087" cy="457200"/>
          </a:xfrm>
          <a:prstGeom prst="rect">
            <a:avLst/>
          </a:prstGeom>
          <a:noFill/>
          <a:ln w="9525" algn="ctr">
            <a:noFill/>
            <a:miter lim="800000"/>
            <a:headEnd/>
            <a:tailEnd/>
          </a:ln>
          <a:effectLst/>
        </p:spPr>
        <p:txBody>
          <a:bodyPr wrap="none">
            <a:spAutoFit/>
          </a:bodyPr>
          <a:lstStyle/>
          <a:p>
            <a:pPr>
              <a:defRPr/>
            </a:pPr>
            <a:r>
              <a:rPr kumimoji="0" lang="zh-CN" altLang="en-US" sz="2400">
                <a:effectLst>
                  <a:outerShdw blurRad="38100" dist="38100" dir="2700000" algn="tl">
                    <a:srgbClr val="C0C0C0"/>
                  </a:outerShdw>
                </a:effectLst>
              </a:rPr>
              <a:t>则输出为：</a:t>
            </a:r>
          </a:p>
        </p:txBody>
      </p:sp>
      <p:sp>
        <p:nvSpPr>
          <p:cNvPr id="8273" name="Rectangle 81"/>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27" name="Object 82"/>
          <p:cNvGraphicFramePr>
            <a:graphicFrameLocks noChangeAspect="1"/>
          </p:cNvGraphicFramePr>
          <p:nvPr/>
        </p:nvGraphicFramePr>
        <p:xfrm>
          <a:off x="2790825" y="4581525"/>
          <a:ext cx="4608513" cy="444500"/>
        </p:xfrm>
        <a:graphic>
          <a:graphicData uri="http://schemas.openxmlformats.org/presentationml/2006/ole">
            <mc:AlternateContent xmlns:mc="http://schemas.openxmlformats.org/markup-compatibility/2006">
              <mc:Choice xmlns:v="urn:schemas-microsoft-com:vml" Requires="v">
                <p:oleObj name="Equation" r:id="rId5" imgW="2374900" imgH="228600" progId="Equation.DSMT4">
                  <p:embed/>
                </p:oleObj>
              </mc:Choice>
              <mc:Fallback>
                <p:oleObj name="Equation" r:id="rId5" imgW="2374900" imgH="2286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90825" y="4581525"/>
                        <a:ext cx="4608513"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p:transition>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298" name="Rectangle 34"/>
          <p:cNvSpPr>
            <a:spLocks noChangeArrowheads="1"/>
          </p:cNvSpPr>
          <p:nvPr/>
        </p:nvSpPr>
        <p:spPr bwMode="auto">
          <a:xfrm>
            <a:off x="827088" y="1125538"/>
            <a:ext cx="6551612" cy="576262"/>
          </a:xfrm>
          <a:prstGeom prst="rect">
            <a:avLst/>
          </a:prstGeom>
          <a:noFill/>
          <a:ln w="9525">
            <a:noFill/>
            <a:miter lim="800000"/>
            <a:headEnd/>
            <a:tailEnd/>
          </a:ln>
          <a:effectLst/>
        </p:spPr>
        <p:txBody>
          <a:bodyPr anchor="ctr"/>
          <a:lstStyle/>
          <a:p>
            <a:pPr>
              <a:defRPr/>
            </a:pPr>
            <a:r>
              <a:rPr lang="en-US" altLang="zh-CN" sz="3400">
                <a:solidFill>
                  <a:srgbClr val="0033CC"/>
                </a:solidFill>
                <a:effectLst>
                  <a:outerShdw blurRad="38100" dist="38100" dir="2700000" algn="tl">
                    <a:srgbClr val="C0C0C0"/>
                  </a:outerShdw>
                </a:effectLst>
              </a:rPr>
              <a:t>3.2.2 </a:t>
            </a:r>
            <a:r>
              <a:rPr lang="zh-CN" altLang="en-US" sz="3400">
                <a:solidFill>
                  <a:srgbClr val="0033CC"/>
                </a:solidFill>
                <a:effectLst>
                  <a:outerShdw blurRad="38100" dist="38100" dir="2700000" algn="tl">
                    <a:srgbClr val="C0C0C0"/>
                  </a:outerShdw>
                </a:effectLst>
              </a:rPr>
              <a:t>差分方程</a:t>
            </a:r>
            <a:r>
              <a:rPr lang="zh-CN" altLang="en-US" sz="4400">
                <a:solidFill>
                  <a:srgbClr val="0033CC"/>
                </a:solidFill>
                <a:effectLst>
                  <a:outerShdw blurRad="38100" dist="38100" dir="2700000" algn="tl">
                    <a:srgbClr val="C0C0C0"/>
                  </a:outerShdw>
                </a:effectLst>
              </a:rPr>
              <a:t> </a:t>
            </a:r>
          </a:p>
        </p:txBody>
      </p:sp>
      <p:sp>
        <p:nvSpPr>
          <p:cNvPr id="11299" name="Text Box 35"/>
          <p:cNvSpPr txBox="1">
            <a:spLocks noChangeArrowheads="1"/>
          </p:cNvSpPr>
          <p:nvPr/>
        </p:nvSpPr>
        <p:spPr bwMode="auto">
          <a:xfrm>
            <a:off x="2412603" y="2817605"/>
            <a:ext cx="3745160" cy="506998"/>
          </a:xfrm>
          <a:prstGeom prst="rect">
            <a:avLst/>
          </a:prstGeom>
          <a:noFill/>
          <a:ln w="9525" algn="ctr">
            <a:noFill/>
            <a:miter lim="800000"/>
            <a:headEnd/>
            <a:tailEnd/>
          </a:ln>
          <a:effectLst/>
        </p:spPr>
        <p:txBody>
          <a:bodyPr wrap="square">
            <a:spAutoFit/>
          </a:bodyPr>
          <a:lstStyle/>
          <a:p>
            <a:pPr>
              <a:lnSpc>
                <a:spcPct val="125000"/>
              </a:lnSpc>
              <a:defRPr/>
            </a:pPr>
            <a:r>
              <a:rPr kumimoji="0" lang="en-US" altLang="zh-CN" sz="2400" i="1" dirty="0">
                <a:solidFill>
                  <a:srgbClr val="FF0000"/>
                </a:solidFill>
                <a:effectLst>
                  <a:outerShdw blurRad="38100" dist="38100" dir="2700000" algn="tl">
                    <a:srgbClr val="C0C0C0"/>
                  </a:outerShdw>
                </a:effectLst>
              </a:rPr>
              <a:t>n </a:t>
            </a:r>
            <a:r>
              <a:rPr kumimoji="0" lang="zh-CN" altLang="en-US" sz="2400" dirty="0">
                <a:solidFill>
                  <a:srgbClr val="FF0000"/>
                </a:solidFill>
                <a:effectLst>
                  <a:outerShdw blurRad="38100" dist="38100" dir="2700000" algn="tl">
                    <a:srgbClr val="C0C0C0"/>
                  </a:outerShdw>
                </a:effectLst>
              </a:rPr>
              <a:t>阶后向非齐次差分方程：</a:t>
            </a:r>
          </a:p>
        </p:txBody>
      </p:sp>
      <p:sp>
        <p:nvSpPr>
          <p:cNvPr id="11300" name="Rectangle 36"/>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50" name="Object 37"/>
          <p:cNvGraphicFramePr>
            <a:graphicFrameLocks noChangeAspect="1"/>
          </p:cNvGraphicFramePr>
          <p:nvPr>
            <p:extLst>
              <p:ext uri="{D42A27DB-BD31-4B8C-83A1-F6EECF244321}">
                <p14:modId xmlns:p14="http://schemas.microsoft.com/office/powerpoint/2010/main" val="2879298391"/>
              </p:ext>
            </p:extLst>
          </p:nvPr>
        </p:nvGraphicFramePr>
        <p:xfrm>
          <a:off x="1115616" y="3348917"/>
          <a:ext cx="5689600" cy="473075"/>
        </p:xfrm>
        <a:graphic>
          <a:graphicData uri="http://schemas.openxmlformats.org/presentationml/2006/ole">
            <mc:AlternateContent xmlns:mc="http://schemas.openxmlformats.org/markup-compatibility/2006">
              <mc:Choice xmlns:v="urn:schemas-microsoft-com:vml" Requires="v">
                <p:oleObj name="Equation" r:id="rId3" imgW="2755900" imgH="228600" progId="Equation.DSMT4">
                  <p:embed/>
                </p:oleObj>
              </mc:Choice>
              <mc:Fallback>
                <p:oleObj name="Equation" r:id="rId3" imgW="2755900" imgH="228600"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5616" y="3348917"/>
                        <a:ext cx="568960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02" name="Rectangle 38"/>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51" name="Object 39"/>
          <p:cNvGraphicFramePr>
            <a:graphicFrameLocks noChangeAspect="1"/>
          </p:cNvGraphicFramePr>
          <p:nvPr>
            <p:extLst>
              <p:ext uri="{D42A27DB-BD31-4B8C-83A1-F6EECF244321}">
                <p14:modId xmlns:p14="http://schemas.microsoft.com/office/powerpoint/2010/main" val="128391029"/>
              </p:ext>
            </p:extLst>
          </p:nvPr>
        </p:nvGraphicFramePr>
        <p:xfrm>
          <a:off x="2268141" y="3925180"/>
          <a:ext cx="6264275" cy="484187"/>
        </p:xfrm>
        <a:graphic>
          <a:graphicData uri="http://schemas.openxmlformats.org/presentationml/2006/ole">
            <mc:AlternateContent xmlns:mc="http://schemas.openxmlformats.org/markup-compatibility/2006">
              <mc:Choice xmlns:v="urn:schemas-microsoft-com:vml" Requires="v">
                <p:oleObj name="Equation" r:id="rId5" imgW="2959100" imgH="228600" progId="Equation.DSMT4">
                  <p:embed/>
                </p:oleObj>
              </mc:Choice>
              <mc:Fallback>
                <p:oleObj name="Equation" r:id="rId5" imgW="2959100" imgH="2286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8141" y="3925180"/>
                        <a:ext cx="6264275" cy="48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04" name="Rectangle 40"/>
          <p:cNvSpPr>
            <a:spLocks noChangeArrowheads="1"/>
          </p:cNvSpPr>
          <p:nvPr/>
        </p:nvSpPr>
        <p:spPr bwMode="auto">
          <a:xfrm>
            <a:off x="0" y="32004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52" name="Object 41"/>
          <p:cNvGraphicFramePr>
            <a:graphicFrameLocks noChangeAspect="1"/>
          </p:cNvGraphicFramePr>
          <p:nvPr>
            <p:extLst>
              <p:ext uri="{D42A27DB-BD31-4B8C-83A1-F6EECF244321}">
                <p14:modId xmlns:p14="http://schemas.microsoft.com/office/powerpoint/2010/main" val="1954667480"/>
              </p:ext>
            </p:extLst>
          </p:nvPr>
        </p:nvGraphicFramePr>
        <p:xfrm>
          <a:off x="2052241" y="4860217"/>
          <a:ext cx="4321175" cy="879475"/>
        </p:xfrm>
        <a:graphic>
          <a:graphicData uri="http://schemas.openxmlformats.org/presentationml/2006/ole">
            <mc:AlternateContent xmlns:mc="http://schemas.openxmlformats.org/markup-compatibility/2006">
              <mc:Choice xmlns:v="urn:schemas-microsoft-com:vml" Requires="v">
                <p:oleObj name="Equation" r:id="rId7" imgW="2184400" imgH="444500" progId="Equation.DSMT4">
                  <p:embed/>
                </p:oleObj>
              </mc:Choice>
              <mc:Fallback>
                <p:oleObj name="Equation" r:id="rId7" imgW="2184400" imgH="444500"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2241" y="4860217"/>
                        <a:ext cx="4321175" cy="879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306" name="Text Box 42"/>
          <p:cNvSpPr txBox="1">
            <a:spLocks noChangeArrowheads="1"/>
          </p:cNvSpPr>
          <p:nvPr/>
        </p:nvSpPr>
        <p:spPr bwMode="auto">
          <a:xfrm>
            <a:off x="1096566" y="4283955"/>
            <a:ext cx="13160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或：</a:t>
            </a:r>
          </a:p>
        </p:txBody>
      </p:sp>
      <p:sp>
        <p:nvSpPr>
          <p:cNvPr id="11307" name="Text Box 43"/>
          <p:cNvSpPr txBox="1">
            <a:spLocks noChangeArrowheads="1"/>
          </p:cNvSpPr>
          <p:nvPr/>
        </p:nvSpPr>
        <p:spPr bwMode="auto">
          <a:xfrm>
            <a:off x="1168003" y="6017505"/>
            <a:ext cx="19653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其中：</a:t>
            </a:r>
          </a:p>
        </p:txBody>
      </p:sp>
      <p:sp>
        <p:nvSpPr>
          <p:cNvPr id="11308" name="Rectangle 44"/>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53" name="Object 45"/>
          <p:cNvGraphicFramePr>
            <a:graphicFrameLocks noChangeAspect="1"/>
          </p:cNvGraphicFramePr>
          <p:nvPr>
            <p:extLst>
              <p:ext uri="{D42A27DB-BD31-4B8C-83A1-F6EECF244321}">
                <p14:modId xmlns:p14="http://schemas.microsoft.com/office/powerpoint/2010/main" val="1526931728"/>
              </p:ext>
            </p:extLst>
          </p:nvPr>
        </p:nvGraphicFramePr>
        <p:xfrm>
          <a:off x="2412603" y="5941305"/>
          <a:ext cx="1079500" cy="588962"/>
        </p:xfrm>
        <a:graphic>
          <a:graphicData uri="http://schemas.openxmlformats.org/presentationml/2006/ole">
            <mc:AlternateContent xmlns:mc="http://schemas.openxmlformats.org/markup-compatibility/2006">
              <mc:Choice xmlns:v="urn:schemas-microsoft-com:vml" Requires="v">
                <p:oleObj name="Equation" r:id="rId9" imgW="419100" imgH="228600" progId="Equation.DSMT4">
                  <p:embed/>
                </p:oleObj>
              </mc:Choice>
              <mc:Fallback>
                <p:oleObj name="Equation" r:id="rId9" imgW="419100" imgH="22860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2603" y="5941305"/>
                        <a:ext cx="1079500" cy="588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 Box 35">
            <a:extLst>
              <a:ext uri="{FF2B5EF4-FFF2-40B4-BE49-F238E27FC236}">
                <a16:creationId xmlns:a16="http://schemas.microsoft.com/office/drawing/2014/main" id="{62BD2567-3FEE-995B-90C5-41EC3761F51B}"/>
              </a:ext>
            </a:extLst>
          </p:cNvPr>
          <p:cNvSpPr txBox="1">
            <a:spLocks noChangeArrowheads="1"/>
          </p:cNvSpPr>
          <p:nvPr/>
        </p:nvSpPr>
        <p:spPr bwMode="auto">
          <a:xfrm>
            <a:off x="251520" y="1735936"/>
            <a:ext cx="8856984" cy="1430328"/>
          </a:xfrm>
          <a:prstGeom prst="rect">
            <a:avLst/>
          </a:prstGeom>
          <a:noFill/>
          <a:ln w="9525" algn="ctr">
            <a:noFill/>
            <a:miter lim="800000"/>
            <a:headEnd/>
            <a:tailEnd/>
          </a:ln>
          <a:effectLst/>
        </p:spPr>
        <p:txBody>
          <a:bodyPr wrap="square">
            <a:spAutoFit/>
          </a:bodyPr>
          <a:lstStyle/>
          <a:p>
            <a:pPr algn="just">
              <a:lnSpc>
                <a:spcPct val="125000"/>
              </a:lnSpc>
              <a:defRPr/>
            </a:pPr>
            <a:r>
              <a:rPr kumimoji="0" lang="zh-CN" altLang="en-US" sz="2400" dirty="0">
                <a:effectLst>
                  <a:outerShdw blurRad="38100" dist="38100" dir="2700000" algn="tl">
                    <a:srgbClr val="C0C0C0"/>
                  </a:outerShdw>
                </a:effectLst>
              </a:rPr>
              <a:t>系统的输出</a:t>
            </a:r>
            <a:r>
              <a:rPr kumimoji="0" lang="en-US" altLang="zh-CN" sz="2400" i="1" dirty="0">
                <a:effectLst>
                  <a:outerShdw blurRad="38100" dist="38100" dir="2700000" algn="tl">
                    <a:srgbClr val="C0C0C0"/>
                  </a:outerShdw>
                </a:effectLst>
              </a:rPr>
              <a:t>u(k)</a:t>
            </a:r>
            <a:r>
              <a:rPr kumimoji="0" lang="zh-CN" altLang="en-US" sz="2400" dirty="0">
                <a:effectLst>
                  <a:outerShdw blurRad="38100" dist="38100" dir="2700000" algn="tl">
                    <a:srgbClr val="C0C0C0"/>
                  </a:outerShdw>
                </a:effectLst>
              </a:rPr>
              <a:t>不仅与本时刻的输入</a:t>
            </a:r>
            <a:r>
              <a:rPr kumimoji="0" lang="en-US" altLang="zh-CN" sz="2400" i="1" dirty="0">
                <a:effectLst>
                  <a:outerShdw blurRad="38100" dist="38100" dir="2700000" algn="tl">
                    <a:srgbClr val="C0C0C0"/>
                  </a:outerShdw>
                </a:effectLst>
              </a:rPr>
              <a:t>e(k)</a:t>
            </a:r>
            <a:r>
              <a:rPr kumimoji="0" lang="zh-CN" altLang="en-US" sz="2400" dirty="0">
                <a:effectLst>
                  <a:outerShdw blurRad="38100" dist="38100" dir="2700000" algn="tl">
                    <a:srgbClr val="C0C0C0"/>
                  </a:outerShdw>
                </a:effectLst>
              </a:rPr>
              <a:t>相关，与过去时刻的输入序列</a:t>
            </a:r>
            <a:r>
              <a:rPr kumimoji="0" lang="en-US" altLang="zh-CN" sz="2400" i="1" dirty="0">
                <a:effectLst>
                  <a:outerShdw blurRad="38100" dist="38100" dir="2700000" algn="tl">
                    <a:srgbClr val="C0C0C0"/>
                  </a:outerShdw>
                </a:effectLst>
              </a:rPr>
              <a:t>e(k-1),e(k-2)...</a:t>
            </a:r>
            <a:r>
              <a:rPr kumimoji="0" lang="zh-CN" altLang="en-US" sz="2400" dirty="0">
                <a:effectLst>
                  <a:outerShdw blurRad="38100" dist="38100" dir="2700000" algn="tl">
                    <a:srgbClr val="C0C0C0"/>
                  </a:outerShdw>
                </a:effectLst>
              </a:rPr>
              <a:t>有关，还与以前时刻的输出值</a:t>
            </a:r>
            <a:r>
              <a:rPr kumimoji="0" lang="en-US" altLang="zh-CN" sz="2400" i="1" dirty="0">
                <a:effectLst>
                  <a:outerShdw blurRad="38100" dist="38100" dir="2700000" algn="tl">
                    <a:srgbClr val="C0C0C0"/>
                  </a:outerShdw>
                </a:effectLst>
              </a:rPr>
              <a:t>u(k-1),u(k-2)…</a:t>
            </a:r>
            <a:r>
              <a:rPr kumimoji="0" lang="zh-CN" altLang="en-US" sz="2400" dirty="0">
                <a:effectLst>
                  <a:outerShdw blurRad="38100" dist="38100" dir="2700000" algn="tl">
                    <a:srgbClr val="C0C0C0"/>
                  </a:outerShdw>
                </a:effectLst>
              </a:rPr>
              <a:t>有关。</a:t>
            </a:r>
          </a:p>
        </p:txBody>
      </p:sp>
    </p:spTree>
  </p:cSld>
  <p:clrMapOvr>
    <a:masterClrMapping/>
  </p:clrMapOvr>
  <p:transition>
    <p:checker/>
  </p:transition>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222" name="Text Box 54"/>
          <p:cNvSpPr txBox="1">
            <a:spLocks noChangeArrowheads="1"/>
          </p:cNvSpPr>
          <p:nvPr/>
        </p:nvSpPr>
        <p:spPr bwMode="auto">
          <a:xfrm>
            <a:off x="900113" y="1484313"/>
            <a:ext cx="7077075" cy="549275"/>
          </a:xfrm>
          <a:prstGeom prst="rect">
            <a:avLst/>
          </a:prstGeom>
          <a:noFill/>
          <a:ln w="9525" algn="ctr">
            <a:noFill/>
            <a:miter lim="800000"/>
            <a:headEnd/>
            <a:tailEnd/>
          </a:ln>
          <a:effectLst/>
        </p:spPr>
        <p:txBody>
          <a:bodyPr>
            <a:spAutoFit/>
          </a:bodyPr>
          <a:lstStyle/>
          <a:p>
            <a:pPr>
              <a:lnSpc>
                <a:spcPct val="125000"/>
              </a:lnSpc>
              <a:defRPr/>
            </a:pPr>
            <a:r>
              <a:rPr kumimoji="0" lang="en-US" altLang="zh-CN" sz="2400" i="1">
                <a:solidFill>
                  <a:srgbClr val="FF0000"/>
                </a:solidFill>
                <a:effectLst>
                  <a:outerShdw blurRad="38100" dist="38100" dir="2700000" algn="tl">
                    <a:srgbClr val="C0C0C0"/>
                  </a:outerShdw>
                </a:effectLst>
              </a:rPr>
              <a:t>n </a:t>
            </a:r>
            <a:r>
              <a:rPr kumimoji="0" lang="zh-CN" altLang="en-US" sz="2400">
                <a:solidFill>
                  <a:srgbClr val="FF0000"/>
                </a:solidFill>
                <a:effectLst>
                  <a:outerShdw blurRad="38100" dist="38100" dir="2700000" algn="tl">
                    <a:srgbClr val="C0C0C0"/>
                  </a:outerShdw>
                </a:effectLst>
              </a:rPr>
              <a:t>阶前向非齐次差分方程：</a:t>
            </a:r>
          </a:p>
        </p:txBody>
      </p:sp>
      <p:sp>
        <p:nvSpPr>
          <p:cNvPr id="7223" name="Rectangle 55"/>
          <p:cNvSpPr>
            <a:spLocks noChangeArrowheads="1"/>
          </p:cNvSpPr>
          <p:nvPr/>
        </p:nvSpPr>
        <p:spPr bwMode="auto">
          <a:xfrm>
            <a:off x="0" y="29543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074" name="Object 56"/>
          <p:cNvGraphicFramePr>
            <a:graphicFrameLocks noChangeAspect="1"/>
          </p:cNvGraphicFramePr>
          <p:nvPr/>
        </p:nvGraphicFramePr>
        <p:xfrm>
          <a:off x="1116013" y="2205038"/>
          <a:ext cx="6337300" cy="454025"/>
        </p:xfrm>
        <a:graphic>
          <a:graphicData uri="http://schemas.openxmlformats.org/presentationml/2006/ole">
            <mc:AlternateContent xmlns:mc="http://schemas.openxmlformats.org/markup-compatibility/2006">
              <mc:Choice xmlns:v="urn:schemas-microsoft-com:vml" Requires="v">
                <p:oleObj name="Equation" r:id="rId3" imgW="3187700" imgH="228600" progId="Equation.DSMT4">
                  <p:embed/>
                </p:oleObj>
              </mc:Choice>
              <mc:Fallback>
                <p:oleObj name="Equation" r:id="rId3" imgW="3187700" imgH="2286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2205038"/>
                        <a:ext cx="6337300"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25" name="Rectangle 57"/>
          <p:cNvSpPr>
            <a:spLocks noChangeArrowheads="1"/>
          </p:cNvSpPr>
          <p:nvPr/>
        </p:nvSpPr>
        <p:spPr bwMode="auto">
          <a:xfrm>
            <a:off x="0" y="29543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075" name="Object 58"/>
          <p:cNvGraphicFramePr>
            <a:graphicFrameLocks noChangeAspect="1"/>
          </p:cNvGraphicFramePr>
          <p:nvPr/>
        </p:nvGraphicFramePr>
        <p:xfrm>
          <a:off x="1835150" y="2708275"/>
          <a:ext cx="6911975" cy="457200"/>
        </p:xfrm>
        <a:graphic>
          <a:graphicData uri="http://schemas.openxmlformats.org/presentationml/2006/ole">
            <mc:AlternateContent xmlns:mc="http://schemas.openxmlformats.org/markup-compatibility/2006">
              <mc:Choice xmlns:v="urn:schemas-microsoft-com:vml" Requires="v">
                <p:oleObj name="Equation" r:id="rId5" imgW="3454400" imgH="228600" progId="Equation.DSMT4">
                  <p:embed/>
                </p:oleObj>
              </mc:Choice>
              <mc:Fallback>
                <p:oleObj name="Equation" r:id="rId5" imgW="3454400" imgH="2286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2708275"/>
                        <a:ext cx="691197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27" name="Text Box 59"/>
          <p:cNvSpPr txBox="1">
            <a:spLocks noChangeArrowheads="1"/>
          </p:cNvSpPr>
          <p:nvPr/>
        </p:nvSpPr>
        <p:spPr bwMode="auto">
          <a:xfrm>
            <a:off x="879475" y="3362325"/>
            <a:ext cx="15319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其中：</a:t>
            </a:r>
          </a:p>
        </p:txBody>
      </p:sp>
      <p:sp>
        <p:nvSpPr>
          <p:cNvPr id="7228" name="Rectangle 60"/>
          <p:cNvSpPr>
            <a:spLocks noChangeArrowheads="1"/>
          </p:cNvSpPr>
          <p:nvPr/>
        </p:nvSpPr>
        <p:spPr bwMode="auto">
          <a:xfrm>
            <a:off x="0" y="29876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076" name="Object 61"/>
          <p:cNvGraphicFramePr>
            <a:graphicFrameLocks noChangeAspect="1"/>
          </p:cNvGraphicFramePr>
          <p:nvPr/>
        </p:nvGraphicFramePr>
        <p:xfrm>
          <a:off x="2124075" y="3355975"/>
          <a:ext cx="1081088" cy="447675"/>
        </p:xfrm>
        <a:graphic>
          <a:graphicData uri="http://schemas.openxmlformats.org/presentationml/2006/ole">
            <mc:AlternateContent xmlns:mc="http://schemas.openxmlformats.org/markup-compatibility/2006">
              <mc:Choice xmlns:v="urn:schemas-microsoft-com:vml" Requires="v">
                <p:oleObj name="Equation" r:id="rId7" imgW="393359" imgH="164957" progId="Equation.DSMT4">
                  <p:embed/>
                </p:oleObj>
              </mc:Choice>
              <mc:Fallback>
                <p:oleObj name="Equation" r:id="rId7" imgW="393359" imgH="164957"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24075" y="3355975"/>
                        <a:ext cx="1081088" cy="447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30" name="Text Box 62"/>
          <p:cNvSpPr txBox="1">
            <a:spLocks noChangeArrowheads="1"/>
          </p:cNvSpPr>
          <p:nvPr/>
        </p:nvSpPr>
        <p:spPr bwMode="auto">
          <a:xfrm>
            <a:off x="3543300" y="3355975"/>
            <a:ext cx="4557713"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（满足因果关系的需要）</a:t>
            </a:r>
          </a:p>
        </p:txBody>
      </p:sp>
      <p:sp>
        <p:nvSpPr>
          <p:cNvPr id="7231" name="Text Box 63"/>
          <p:cNvSpPr txBox="1">
            <a:spLocks noChangeArrowheads="1"/>
          </p:cNvSpPr>
          <p:nvPr/>
        </p:nvSpPr>
        <p:spPr bwMode="auto">
          <a:xfrm>
            <a:off x="1042988" y="4221163"/>
            <a:ext cx="3313112" cy="549275"/>
          </a:xfrm>
          <a:prstGeom prst="rect">
            <a:avLst/>
          </a:prstGeom>
          <a:noFill/>
          <a:ln w="9525" algn="ctr">
            <a:noFill/>
            <a:miter lim="800000"/>
            <a:headEnd/>
            <a:tailEnd/>
          </a:ln>
          <a:effectLst/>
        </p:spPr>
        <p:txBody>
          <a:bodyPr>
            <a:spAutoFit/>
          </a:bodyPr>
          <a:lstStyle/>
          <a:p>
            <a:pPr>
              <a:lnSpc>
                <a:spcPct val="125000"/>
              </a:lnSpc>
              <a:defRPr/>
            </a:pPr>
            <a:r>
              <a:rPr kumimoji="0" lang="zh-CN" altLang="en-US" sz="2400">
                <a:solidFill>
                  <a:srgbClr val="FF0000"/>
                </a:solidFill>
                <a:effectLst>
                  <a:outerShdw blurRad="38100" dist="38100" dir="2700000" algn="tl">
                    <a:srgbClr val="C0C0C0"/>
                  </a:outerShdw>
                </a:effectLst>
              </a:rPr>
              <a:t>前向差分方程</a:t>
            </a:r>
          </a:p>
        </p:txBody>
      </p:sp>
      <p:sp>
        <p:nvSpPr>
          <p:cNvPr id="7232" name="AutoShape 64"/>
          <p:cNvSpPr>
            <a:spLocks noChangeArrowheads="1"/>
          </p:cNvSpPr>
          <p:nvPr/>
        </p:nvSpPr>
        <p:spPr bwMode="auto">
          <a:xfrm>
            <a:off x="3348038" y="4292600"/>
            <a:ext cx="2592387" cy="431800"/>
          </a:xfrm>
          <a:prstGeom prst="leftRightArrow">
            <a:avLst>
              <a:gd name="adj1" fmla="val 50000"/>
              <a:gd name="adj2" fmla="val 120074"/>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7233" name="Text Box 65"/>
          <p:cNvSpPr txBox="1">
            <a:spLocks noChangeArrowheads="1"/>
          </p:cNvSpPr>
          <p:nvPr/>
        </p:nvSpPr>
        <p:spPr bwMode="auto">
          <a:xfrm>
            <a:off x="6084888" y="4221163"/>
            <a:ext cx="2808287" cy="549275"/>
          </a:xfrm>
          <a:prstGeom prst="rect">
            <a:avLst/>
          </a:prstGeom>
          <a:noFill/>
          <a:ln w="9525" algn="ctr">
            <a:noFill/>
            <a:miter lim="800000"/>
            <a:headEnd/>
            <a:tailEnd/>
          </a:ln>
          <a:effectLst/>
        </p:spPr>
        <p:txBody>
          <a:bodyPr>
            <a:spAutoFit/>
          </a:bodyPr>
          <a:lstStyle/>
          <a:p>
            <a:pPr>
              <a:lnSpc>
                <a:spcPct val="125000"/>
              </a:lnSpc>
              <a:defRPr/>
            </a:pPr>
            <a:r>
              <a:rPr kumimoji="0" lang="zh-CN" altLang="en-US" sz="2400">
                <a:solidFill>
                  <a:srgbClr val="FF0000"/>
                </a:solidFill>
                <a:effectLst>
                  <a:outerShdw blurRad="38100" dist="38100" dir="2700000" algn="tl">
                    <a:srgbClr val="C0C0C0"/>
                  </a:outerShdw>
                </a:effectLst>
              </a:rPr>
              <a:t>后向差分方程</a:t>
            </a:r>
          </a:p>
        </p:txBody>
      </p:sp>
      <p:sp>
        <p:nvSpPr>
          <p:cNvPr id="7234" name="Text Box 66"/>
          <p:cNvSpPr txBox="1">
            <a:spLocks noChangeArrowheads="1"/>
          </p:cNvSpPr>
          <p:nvPr/>
        </p:nvSpPr>
        <p:spPr bwMode="auto">
          <a:xfrm>
            <a:off x="3779839" y="4868863"/>
            <a:ext cx="1728366" cy="400110"/>
          </a:xfrm>
          <a:prstGeom prst="rect">
            <a:avLst/>
          </a:prstGeom>
          <a:noFill/>
          <a:ln w="9525" algn="ctr">
            <a:noFill/>
            <a:miter lim="800000"/>
            <a:headEnd/>
            <a:tailEnd/>
          </a:ln>
          <a:effectLst/>
        </p:spPr>
        <p:txBody>
          <a:bodyPr wrap="square">
            <a:spAutoFit/>
          </a:bodyPr>
          <a:lstStyle/>
          <a:p>
            <a:pPr>
              <a:defRPr/>
            </a:pPr>
            <a:r>
              <a:rPr kumimoji="0" lang="zh-CN" altLang="en-US" dirty="0">
                <a:solidFill>
                  <a:srgbClr val="0000FF"/>
                </a:solidFill>
                <a:effectLst>
                  <a:outerShdw blurRad="38100" dist="38100" dir="2700000" algn="tl">
                    <a:srgbClr val="C0C0C0"/>
                  </a:outerShdw>
                </a:effectLst>
              </a:rPr>
              <a:t>初始条件为零</a:t>
            </a:r>
          </a:p>
        </p:txBody>
      </p:sp>
      <p:sp>
        <p:nvSpPr>
          <p:cNvPr id="2" name="Text Box 66">
            <a:extLst>
              <a:ext uri="{FF2B5EF4-FFF2-40B4-BE49-F238E27FC236}">
                <a16:creationId xmlns:a16="http://schemas.microsoft.com/office/drawing/2014/main" id="{85CA3730-2FB3-1B9E-444B-4457409FC6B0}"/>
              </a:ext>
            </a:extLst>
          </p:cNvPr>
          <p:cNvSpPr txBox="1">
            <a:spLocks noChangeArrowheads="1"/>
          </p:cNvSpPr>
          <p:nvPr/>
        </p:nvSpPr>
        <p:spPr bwMode="auto">
          <a:xfrm>
            <a:off x="1187624" y="4868863"/>
            <a:ext cx="1728366" cy="396875"/>
          </a:xfrm>
          <a:prstGeom prst="rect">
            <a:avLst/>
          </a:prstGeom>
          <a:noFill/>
          <a:ln w="9525" algn="ctr">
            <a:noFill/>
            <a:miter lim="800000"/>
            <a:headEnd/>
            <a:tailEnd/>
          </a:ln>
          <a:effectLst/>
        </p:spPr>
        <p:txBody>
          <a:bodyPr wrap="square">
            <a:spAutoFit/>
          </a:bodyPr>
          <a:lstStyle/>
          <a:p>
            <a:pPr>
              <a:defRPr/>
            </a:pPr>
            <a:r>
              <a:rPr kumimoji="0" lang="zh-CN" altLang="en-US" dirty="0">
                <a:solidFill>
                  <a:srgbClr val="0000FF"/>
                </a:solidFill>
                <a:effectLst>
                  <a:outerShdw blurRad="38100" dist="38100" dir="2700000" algn="tl">
                    <a:srgbClr val="C0C0C0"/>
                  </a:outerShdw>
                </a:effectLst>
              </a:rPr>
              <a:t>非零初始值</a:t>
            </a:r>
          </a:p>
        </p:txBody>
      </p:sp>
      <p:sp>
        <p:nvSpPr>
          <p:cNvPr id="3" name="Text Box 66">
            <a:extLst>
              <a:ext uri="{FF2B5EF4-FFF2-40B4-BE49-F238E27FC236}">
                <a16:creationId xmlns:a16="http://schemas.microsoft.com/office/drawing/2014/main" id="{DD70D2DE-E60A-6F88-B9CF-AEE980CEF0B9}"/>
              </a:ext>
            </a:extLst>
          </p:cNvPr>
          <p:cNvSpPr txBox="1">
            <a:spLocks noChangeArrowheads="1"/>
          </p:cNvSpPr>
          <p:nvPr/>
        </p:nvSpPr>
        <p:spPr bwMode="auto">
          <a:xfrm>
            <a:off x="6374034" y="4871169"/>
            <a:ext cx="1728366" cy="396875"/>
          </a:xfrm>
          <a:prstGeom prst="rect">
            <a:avLst/>
          </a:prstGeom>
          <a:noFill/>
          <a:ln w="9525" algn="ctr">
            <a:noFill/>
            <a:miter lim="800000"/>
            <a:headEnd/>
            <a:tailEnd/>
          </a:ln>
          <a:effectLst/>
        </p:spPr>
        <p:txBody>
          <a:bodyPr wrap="square">
            <a:spAutoFit/>
          </a:bodyPr>
          <a:lstStyle/>
          <a:p>
            <a:pPr>
              <a:defRPr/>
            </a:pPr>
            <a:r>
              <a:rPr kumimoji="0" lang="zh-CN" altLang="en-US" dirty="0">
                <a:solidFill>
                  <a:srgbClr val="0000FF"/>
                </a:solidFill>
                <a:effectLst>
                  <a:outerShdw blurRad="38100" dist="38100" dir="2700000" algn="tl">
                    <a:srgbClr val="C0C0C0"/>
                  </a:outerShdw>
                </a:effectLst>
              </a:rPr>
              <a:t>全零初始值</a:t>
            </a:r>
          </a:p>
        </p:txBody>
      </p:sp>
    </p:spTree>
  </p:cSld>
  <p:clrMapOvr>
    <a:masterClrMapping/>
  </p:clrMapOvr>
  <p:transition>
    <p:checker/>
  </p:transition>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2853" name="Rectangle 85"/>
          <p:cNvSpPr>
            <a:spLocks noChangeArrowheads="1"/>
          </p:cNvSpPr>
          <p:nvPr/>
        </p:nvSpPr>
        <p:spPr bwMode="auto">
          <a:xfrm>
            <a:off x="755650" y="1196975"/>
            <a:ext cx="6551613" cy="576263"/>
          </a:xfrm>
          <a:prstGeom prst="rect">
            <a:avLst/>
          </a:prstGeom>
          <a:noFill/>
          <a:ln w="9525">
            <a:noFill/>
            <a:miter lim="800000"/>
            <a:headEnd/>
            <a:tailEnd/>
          </a:ln>
          <a:effectLst/>
        </p:spPr>
        <p:txBody>
          <a:bodyPr anchor="ctr"/>
          <a:lstStyle/>
          <a:p>
            <a:pPr>
              <a:defRPr/>
            </a:pPr>
            <a:r>
              <a:rPr lang="en-US" altLang="zh-CN" sz="3400">
                <a:solidFill>
                  <a:srgbClr val="0033CC"/>
                </a:solidFill>
                <a:effectLst>
                  <a:outerShdw blurRad="38100" dist="38100" dir="2700000" algn="tl">
                    <a:srgbClr val="C0C0C0"/>
                  </a:outerShdw>
                </a:effectLst>
              </a:rPr>
              <a:t>3.2.3 </a:t>
            </a:r>
            <a:r>
              <a:rPr lang="zh-CN" altLang="en-US" sz="3400">
                <a:solidFill>
                  <a:srgbClr val="0033CC"/>
                </a:solidFill>
                <a:effectLst>
                  <a:outerShdw blurRad="38100" dist="38100" dir="2700000" algn="tl">
                    <a:srgbClr val="C0C0C0"/>
                  </a:outerShdw>
                </a:effectLst>
              </a:rPr>
              <a:t>差分方程求解</a:t>
            </a:r>
            <a:r>
              <a:rPr lang="zh-CN" altLang="en-US" sz="4400">
                <a:solidFill>
                  <a:srgbClr val="0033CC"/>
                </a:solidFill>
                <a:effectLst>
                  <a:outerShdw blurRad="38100" dist="38100" dir="2700000" algn="tl">
                    <a:srgbClr val="C0C0C0"/>
                  </a:outerShdw>
                </a:effectLst>
              </a:rPr>
              <a:t> </a:t>
            </a:r>
          </a:p>
        </p:txBody>
      </p:sp>
      <p:sp>
        <p:nvSpPr>
          <p:cNvPr id="4101" name="Text Box 86"/>
          <p:cNvSpPr txBox="1">
            <a:spLocks noChangeArrowheads="1"/>
          </p:cNvSpPr>
          <p:nvPr/>
        </p:nvSpPr>
        <p:spPr bwMode="auto">
          <a:xfrm>
            <a:off x="827088" y="2781300"/>
            <a:ext cx="3455987" cy="519113"/>
          </a:xfrm>
          <a:prstGeom prst="rect">
            <a:avLst/>
          </a:prstGeom>
          <a:noFill/>
          <a:ln w="9525" algn="ctr">
            <a:noFill/>
            <a:miter lim="800000"/>
            <a:headEnd/>
            <a:tailEnd/>
          </a:ln>
        </p:spPr>
        <p:txBody>
          <a:bodyPr>
            <a:spAutoFit/>
          </a:bodyPr>
          <a:lstStyle/>
          <a:p>
            <a:r>
              <a:rPr kumimoji="0" lang="en-US" altLang="zh-CN" sz="2800" u="sng">
                <a:solidFill>
                  <a:srgbClr val="FF0000"/>
                </a:solidFill>
              </a:rPr>
              <a:t>1) </a:t>
            </a:r>
            <a:r>
              <a:rPr kumimoji="0" lang="zh-CN" altLang="en-US" sz="2800" u="sng">
                <a:solidFill>
                  <a:srgbClr val="FF0000"/>
                </a:solidFill>
              </a:rPr>
              <a:t>迭代法求解</a:t>
            </a:r>
          </a:p>
        </p:txBody>
      </p:sp>
      <p:sp>
        <p:nvSpPr>
          <p:cNvPr id="32855" name="Text Box 87"/>
          <p:cNvSpPr txBox="1">
            <a:spLocks noChangeArrowheads="1"/>
          </p:cNvSpPr>
          <p:nvPr/>
        </p:nvSpPr>
        <p:spPr bwMode="auto">
          <a:xfrm>
            <a:off x="1403350" y="3470275"/>
            <a:ext cx="66246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适合于计算机求解，可以编制程序。</a:t>
            </a:r>
          </a:p>
        </p:txBody>
      </p:sp>
      <p:sp>
        <p:nvSpPr>
          <p:cNvPr id="32856" name="Text Box 88"/>
          <p:cNvSpPr txBox="1">
            <a:spLocks noChangeArrowheads="1"/>
          </p:cNvSpPr>
          <p:nvPr/>
        </p:nvSpPr>
        <p:spPr bwMode="auto">
          <a:xfrm>
            <a:off x="1023938" y="4360863"/>
            <a:ext cx="57086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一阶差分方程的迭代公式</a:t>
            </a:r>
          </a:p>
        </p:txBody>
      </p:sp>
      <p:graphicFrame>
        <p:nvGraphicFramePr>
          <p:cNvPr id="4098" name="Object 90"/>
          <p:cNvGraphicFramePr>
            <a:graphicFrameLocks noChangeAspect="1"/>
          </p:cNvGraphicFramePr>
          <p:nvPr/>
        </p:nvGraphicFramePr>
        <p:xfrm>
          <a:off x="2555875" y="4987925"/>
          <a:ext cx="3816350" cy="523875"/>
        </p:xfrm>
        <a:graphic>
          <a:graphicData uri="http://schemas.openxmlformats.org/presentationml/2006/ole">
            <mc:AlternateContent xmlns:mc="http://schemas.openxmlformats.org/markup-compatibility/2006">
              <mc:Choice xmlns:v="urn:schemas-microsoft-com:vml" Requires="v">
                <p:oleObj name="Equation" r:id="rId3" imgW="1459866" imgH="203112" progId="Equation.DSMT4">
                  <p:embed/>
                </p:oleObj>
              </mc:Choice>
              <mc:Fallback>
                <p:oleObj name="Equation" r:id="rId3" imgW="1459866" imgH="203112"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4987925"/>
                        <a:ext cx="3816350"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2859" name="Text Box 91"/>
          <p:cNvSpPr txBox="1">
            <a:spLocks noChangeArrowheads="1"/>
          </p:cNvSpPr>
          <p:nvPr/>
        </p:nvSpPr>
        <p:spPr bwMode="auto">
          <a:xfrm>
            <a:off x="1095375" y="5780088"/>
            <a:ext cx="2635250" cy="457200"/>
          </a:xfrm>
          <a:prstGeom prst="rect">
            <a:avLst/>
          </a:prstGeom>
          <a:noFill/>
          <a:ln w="9525" algn="ctr">
            <a:noFill/>
            <a:miter lim="800000"/>
            <a:headEnd/>
            <a:tailEnd/>
          </a:ln>
          <a:effectLst/>
        </p:spPr>
        <p:txBody>
          <a:bodyPr wrap="none">
            <a:spAutoFit/>
          </a:bodyPr>
          <a:lstStyle/>
          <a:p>
            <a:pPr>
              <a:defRPr/>
            </a:pPr>
            <a:r>
              <a:rPr kumimoji="0" lang="zh-CN" altLang="en-US" sz="2400">
                <a:effectLst>
                  <a:outerShdw blurRad="38100" dist="38100" dir="2700000" algn="tl">
                    <a:srgbClr val="C0C0C0"/>
                  </a:outerShdw>
                </a:effectLst>
              </a:rPr>
              <a:t>求差分方程的解。</a:t>
            </a:r>
          </a:p>
        </p:txBody>
      </p:sp>
      <p:sp>
        <p:nvSpPr>
          <p:cNvPr id="32860" name="Rectangle 92"/>
          <p:cNvSpPr>
            <a:spLocks noChangeArrowheads="1"/>
          </p:cNvSpPr>
          <p:nvPr/>
        </p:nvSpPr>
        <p:spPr bwMode="auto">
          <a:xfrm>
            <a:off x="2195513" y="2133600"/>
            <a:ext cx="4378325" cy="457200"/>
          </a:xfrm>
          <a:prstGeom prst="rect">
            <a:avLst/>
          </a:prstGeom>
          <a:noFill/>
          <a:ln w="9525">
            <a:noFill/>
            <a:miter lim="800000"/>
            <a:headEnd/>
            <a:tailEnd/>
          </a:ln>
          <a:effectLst/>
        </p:spPr>
        <p:txBody>
          <a:bodyPr wrap="none">
            <a:spAutoFit/>
          </a:bodyPr>
          <a:lstStyle/>
          <a:p>
            <a:pPr>
              <a:defRPr/>
            </a:pPr>
            <a:r>
              <a:rPr kumimoji="0" lang="zh-CN" altLang="en-US" sz="2400">
                <a:solidFill>
                  <a:srgbClr val="0000FF"/>
                </a:solidFill>
                <a:effectLst>
                  <a:outerShdw blurRad="38100" dist="38100" dir="2700000" algn="tl">
                    <a:srgbClr val="C0C0C0"/>
                  </a:outerShdw>
                </a:effectLst>
              </a:rPr>
              <a:t>迭代法、经典解法和 </a:t>
            </a:r>
            <a:r>
              <a:rPr kumimoji="0" lang="en-US" altLang="zh-CN" sz="2400">
                <a:solidFill>
                  <a:srgbClr val="0000FF"/>
                </a:solidFill>
                <a:effectLst>
                  <a:outerShdw blurRad="38100" dist="38100" dir="2700000" algn="tl">
                    <a:srgbClr val="C0C0C0"/>
                  </a:outerShdw>
                </a:effectLst>
              </a:rPr>
              <a:t>z</a:t>
            </a:r>
            <a:r>
              <a:rPr kumimoji="0" lang="zh-CN" altLang="en-US" sz="2400">
                <a:solidFill>
                  <a:srgbClr val="0000FF"/>
                </a:solidFill>
                <a:effectLst>
                  <a:outerShdw blurRad="38100" dist="38100" dir="2700000" algn="tl">
                    <a:srgbClr val="C0C0C0"/>
                  </a:outerShdw>
                </a:effectLst>
              </a:rPr>
              <a:t>变换解法</a:t>
            </a:r>
          </a:p>
        </p:txBody>
      </p:sp>
    </p:spTree>
  </p:cSld>
  <p:clrMapOvr>
    <a:masterClrMapping/>
  </p:clrMapOvr>
  <p:transition>
    <p:cover/>
  </p:transition>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3807" name="Text Box 15"/>
          <p:cNvSpPr txBox="1">
            <a:spLocks noChangeArrowheads="1"/>
          </p:cNvSpPr>
          <p:nvPr/>
        </p:nvSpPr>
        <p:spPr bwMode="auto">
          <a:xfrm>
            <a:off x="1023938" y="1936750"/>
            <a:ext cx="621188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设 </a:t>
            </a:r>
            <a:r>
              <a:rPr kumimoji="0" lang="en-US" altLang="zh-CN" sz="2400">
                <a:effectLst>
                  <a:outerShdw blurRad="38100" dist="38100" dir="2700000" algn="tl">
                    <a:srgbClr val="C0C0C0"/>
                  </a:outerShdw>
                </a:effectLst>
              </a:rPr>
              <a:t>u(0) </a:t>
            </a:r>
            <a:r>
              <a:rPr kumimoji="0" lang="zh-CN" altLang="en-US" sz="2400">
                <a:effectLst>
                  <a:outerShdw blurRad="38100" dist="38100" dir="2700000" algn="tl">
                    <a:srgbClr val="C0C0C0"/>
                  </a:outerShdw>
                </a:effectLst>
              </a:rPr>
              <a:t>是给定的边界条件，则</a:t>
            </a:r>
          </a:p>
        </p:txBody>
      </p:sp>
      <p:sp>
        <p:nvSpPr>
          <p:cNvPr id="33808" name="Rectangle 16"/>
          <p:cNvSpPr>
            <a:spLocks noChangeArrowheads="1"/>
          </p:cNvSpPr>
          <p:nvPr/>
        </p:nvSpPr>
        <p:spPr bwMode="auto">
          <a:xfrm>
            <a:off x="0" y="33385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122" name="Object 17"/>
          <p:cNvGraphicFramePr>
            <a:graphicFrameLocks noChangeAspect="1"/>
          </p:cNvGraphicFramePr>
          <p:nvPr/>
        </p:nvGraphicFramePr>
        <p:xfrm>
          <a:off x="1185863" y="2565400"/>
          <a:ext cx="865187" cy="444500"/>
        </p:xfrm>
        <a:graphic>
          <a:graphicData uri="http://schemas.openxmlformats.org/presentationml/2006/ole">
            <mc:AlternateContent xmlns:mc="http://schemas.openxmlformats.org/markup-compatibility/2006">
              <mc:Choice xmlns:v="urn:schemas-microsoft-com:vml" Requires="v">
                <p:oleObj name="Equation" r:id="rId3" imgW="355138" imgH="177569" progId="Equation.DSMT4">
                  <p:embed/>
                </p:oleObj>
              </mc:Choice>
              <mc:Fallback>
                <p:oleObj name="Equation" r:id="rId3" imgW="355138" imgH="177569" progId="Equation.DSMT4">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85863" y="2565400"/>
                        <a:ext cx="865187"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0" name="Rectangle 18"/>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123" name="Object 19"/>
          <p:cNvGraphicFramePr>
            <a:graphicFrameLocks noChangeAspect="1"/>
          </p:cNvGraphicFramePr>
          <p:nvPr/>
        </p:nvGraphicFramePr>
        <p:xfrm>
          <a:off x="2411413" y="2565400"/>
          <a:ext cx="3024187" cy="493713"/>
        </p:xfrm>
        <a:graphic>
          <a:graphicData uri="http://schemas.openxmlformats.org/presentationml/2006/ole">
            <mc:AlternateContent xmlns:mc="http://schemas.openxmlformats.org/markup-compatibility/2006">
              <mc:Choice xmlns:v="urn:schemas-microsoft-com:vml" Requires="v">
                <p:oleObj name="Equation" r:id="rId5" imgW="1231366" imgH="203112" progId="Equation.DSMT4">
                  <p:embed/>
                </p:oleObj>
              </mc:Choice>
              <mc:Fallback>
                <p:oleObj name="Equation" r:id="rId5" imgW="1231366" imgH="203112" progId="Equation.DSMT4">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11413" y="2565400"/>
                        <a:ext cx="3024187" cy="4937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2" name="Rectangle 20"/>
          <p:cNvSpPr>
            <a:spLocks noChangeArrowheads="1"/>
          </p:cNvSpPr>
          <p:nvPr/>
        </p:nvSpPr>
        <p:spPr bwMode="auto">
          <a:xfrm>
            <a:off x="0" y="33385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124" name="Object 21"/>
          <p:cNvGraphicFramePr>
            <a:graphicFrameLocks noChangeAspect="1"/>
          </p:cNvGraphicFramePr>
          <p:nvPr/>
        </p:nvGraphicFramePr>
        <p:xfrm>
          <a:off x="1185863" y="3284538"/>
          <a:ext cx="863600" cy="468312"/>
        </p:xfrm>
        <a:graphic>
          <a:graphicData uri="http://schemas.openxmlformats.org/presentationml/2006/ole">
            <mc:AlternateContent xmlns:mc="http://schemas.openxmlformats.org/markup-compatibility/2006">
              <mc:Choice xmlns:v="urn:schemas-microsoft-com:vml" Requires="v">
                <p:oleObj name="Equation" r:id="rId7" imgW="329914" imgH="177646" progId="Equation.DSMT4">
                  <p:embed/>
                </p:oleObj>
              </mc:Choice>
              <mc:Fallback>
                <p:oleObj name="Equation" r:id="rId7" imgW="329914" imgH="177646" progId="Equation.DSMT4">
                  <p:embed/>
                  <p:pic>
                    <p:nvPicPr>
                      <p:cNvPr id="0"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85863" y="3284538"/>
                        <a:ext cx="863600"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4" name="Rectangle 22"/>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125" name="Object 23"/>
          <p:cNvGraphicFramePr>
            <a:graphicFrameLocks noChangeAspect="1"/>
          </p:cNvGraphicFramePr>
          <p:nvPr/>
        </p:nvGraphicFramePr>
        <p:xfrm>
          <a:off x="2339975" y="3284538"/>
          <a:ext cx="5472113" cy="457200"/>
        </p:xfrm>
        <a:graphic>
          <a:graphicData uri="http://schemas.openxmlformats.org/presentationml/2006/ole">
            <mc:AlternateContent xmlns:mc="http://schemas.openxmlformats.org/markup-compatibility/2006">
              <mc:Choice xmlns:v="urn:schemas-microsoft-com:vml" Requires="v">
                <p:oleObj name="Equation" r:id="rId9" imgW="2730500" imgH="228600" progId="Equation.DSMT4">
                  <p:embed/>
                </p:oleObj>
              </mc:Choice>
              <mc:Fallback>
                <p:oleObj name="Equation" r:id="rId9" imgW="2730500" imgH="228600" progId="Equation.DSMT4">
                  <p:embed/>
                  <p:pic>
                    <p:nvPicPr>
                      <p:cNvPr id="0" name="Picture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39975" y="3284538"/>
                        <a:ext cx="5472113"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6" name="Rectangle 24"/>
          <p:cNvSpPr>
            <a:spLocks noChangeArrowheads="1"/>
          </p:cNvSpPr>
          <p:nvPr/>
        </p:nvSpPr>
        <p:spPr bwMode="auto">
          <a:xfrm>
            <a:off x="0" y="33385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126" name="Object 25"/>
          <p:cNvGraphicFramePr>
            <a:graphicFrameLocks noChangeAspect="1"/>
          </p:cNvGraphicFramePr>
          <p:nvPr/>
        </p:nvGraphicFramePr>
        <p:xfrm>
          <a:off x="1187450" y="4005263"/>
          <a:ext cx="792163" cy="406400"/>
        </p:xfrm>
        <a:graphic>
          <a:graphicData uri="http://schemas.openxmlformats.org/presentationml/2006/ole">
            <mc:AlternateContent xmlns:mc="http://schemas.openxmlformats.org/markup-compatibility/2006">
              <mc:Choice xmlns:v="urn:schemas-microsoft-com:vml" Requires="v">
                <p:oleObj name="Equation" r:id="rId11" imgW="355138" imgH="177569" progId="Equation.DSMT4">
                  <p:embed/>
                </p:oleObj>
              </mc:Choice>
              <mc:Fallback>
                <p:oleObj name="Equation" r:id="rId11" imgW="355138" imgH="177569" progId="Equation.DSMT4">
                  <p:embed/>
                  <p:pic>
                    <p:nvPicPr>
                      <p:cNvPr id="0" name="Picture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187450" y="4005263"/>
                        <a:ext cx="792163" cy="40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3818" name="Rectangle 26"/>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127" name="Object 27"/>
          <p:cNvGraphicFramePr>
            <a:graphicFrameLocks noChangeAspect="1"/>
          </p:cNvGraphicFramePr>
          <p:nvPr/>
        </p:nvGraphicFramePr>
        <p:xfrm>
          <a:off x="2339975" y="4005263"/>
          <a:ext cx="6624638" cy="449262"/>
        </p:xfrm>
        <a:graphic>
          <a:graphicData uri="http://schemas.openxmlformats.org/presentationml/2006/ole">
            <mc:AlternateContent xmlns:mc="http://schemas.openxmlformats.org/markup-compatibility/2006">
              <mc:Choice xmlns:v="urn:schemas-microsoft-com:vml" Requires="v">
                <p:oleObj name="Equation" r:id="rId13" imgW="3365500" imgH="228600" progId="Equation.DSMT4">
                  <p:embed/>
                </p:oleObj>
              </mc:Choice>
              <mc:Fallback>
                <p:oleObj name="Equation" r:id="rId13" imgW="3365500" imgH="228600" progId="Equation.DSMT4">
                  <p:embed/>
                  <p:pic>
                    <p:nvPicPr>
                      <p:cNvPr id="0"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39975" y="4005263"/>
                        <a:ext cx="6624638" cy="449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136" name="Text Box 28"/>
          <p:cNvSpPr txBox="1">
            <a:spLocks noChangeArrowheads="1"/>
          </p:cNvSpPr>
          <p:nvPr/>
        </p:nvSpPr>
        <p:spPr bwMode="auto">
          <a:xfrm>
            <a:off x="1311275" y="4619625"/>
            <a:ext cx="996950" cy="579438"/>
          </a:xfrm>
          <a:prstGeom prst="rect">
            <a:avLst/>
          </a:prstGeom>
          <a:noFill/>
          <a:ln w="9525" algn="ctr">
            <a:noFill/>
            <a:miter lim="800000"/>
            <a:headEnd/>
            <a:tailEnd/>
          </a:ln>
        </p:spPr>
        <p:txBody>
          <a:bodyPr wrap="none">
            <a:spAutoFit/>
          </a:bodyPr>
          <a:lstStyle/>
          <a:p>
            <a:r>
              <a:rPr kumimoji="0" lang="en-US" altLang="zh-CN" sz="3200" b="0">
                <a:latin typeface="宋体" pitchFamily="2" charset="-122"/>
              </a:rPr>
              <a:t>……</a:t>
            </a:r>
          </a:p>
        </p:txBody>
      </p:sp>
      <p:sp>
        <p:nvSpPr>
          <p:cNvPr id="33821" name="Rectangle 29"/>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cover/>
  </p:transition>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6146" name="Object 22"/>
          <p:cNvGraphicFramePr>
            <a:graphicFrameLocks noChangeAspect="1"/>
          </p:cNvGraphicFramePr>
          <p:nvPr/>
        </p:nvGraphicFramePr>
        <p:xfrm>
          <a:off x="971550" y="1844675"/>
          <a:ext cx="7704138" cy="460375"/>
        </p:xfrm>
        <a:graphic>
          <a:graphicData uri="http://schemas.openxmlformats.org/presentationml/2006/ole">
            <mc:AlternateContent xmlns:mc="http://schemas.openxmlformats.org/markup-compatibility/2006">
              <mc:Choice xmlns:v="urn:schemas-microsoft-com:vml" Requires="v">
                <p:oleObj name="Equation" r:id="rId3" imgW="3822700" imgH="228600" progId="Equation.DSMT4">
                  <p:embed/>
                </p:oleObj>
              </mc:Choice>
              <mc:Fallback>
                <p:oleObj name="Equation" r:id="rId3" imgW="3822700" imgH="228600"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971550" y="1844675"/>
                        <a:ext cx="7704138" cy="460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39" name="Rectangle 23"/>
          <p:cNvSpPr>
            <a:spLocks noChangeArrowheads="1"/>
          </p:cNvSpPr>
          <p:nvPr/>
        </p:nvSpPr>
        <p:spPr bwMode="auto">
          <a:xfrm>
            <a:off x="0" y="2844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147" name="Object 24"/>
          <p:cNvGraphicFramePr>
            <a:graphicFrameLocks noChangeAspect="1"/>
          </p:cNvGraphicFramePr>
          <p:nvPr/>
        </p:nvGraphicFramePr>
        <p:xfrm>
          <a:off x="1547813" y="2276475"/>
          <a:ext cx="3600450" cy="1050925"/>
        </p:xfrm>
        <a:graphic>
          <a:graphicData uri="http://schemas.openxmlformats.org/presentationml/2006/ole">
            <mc:AlternateContent xmlns:mc="http://schemas.openxmlformats.org/markup-compatibility/2006">
              <mc:Choice xmlns:v="urn:schemas-microsoft-com:vml" Requires="v">
                <p:oleObj name="Equation" r:id="rId5" imgW="1536033" imgH="444307" progId="Equation.DSMT4">
                  <p:embed/>
                </p:oleObj>
              </mc:Choice>
              <mc:Fallback>
                <p:oleObj name="Equation" r:id="rId5" imgW="1536033" imgH="444307"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47813" y="2276475"/>
                        <a:ext cx="3600450" cy="1050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4841" name="Line 25"/>
          <p:cNvSpPr>
            <a:spLocks noChangeShapeType="1"/>
          </p:cNvSpPr>
          <p:nvPr/>
        </p:nvSpPr>
        <p:spPr bwMode="auto">
          <a:xfrm>
            <a:off x="1835150" y="3355975"/>
            <a:ext cx="865188" cy="0"/>
          </a:xfrm>
          <a:prstGeom prst="line">
            <a:avLst/>
          </a:prstGeom>
          <a:noFill/>
          <a:ln w="9525">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4842" name="Text Box 26"/>
          <p:cNvSpPr txBox="1">
            <a:spLocks noChangeArrowheads="1"/>
          </p:cNvSpPr>
          <p:nvPr/>
        </p:nvSpPr>
        <p:spPr bwMode="auto">
          <a:xfrm>
            <a:off x="1042988" y="3573463"/>
            <a:ext cx="2808287" cy="366712"/>
          </a:xfrm>
          <a:prstGeom prst="rect">
            <a:avLst/>
          </a:prstGeom>
          <a:noFill/>
          <a:ln w="9525" algn="ctr">
            <a:noFill/>
            <a:miter lim="800000"/>
            <a:headEnd/>
            <a:tailEnd/>
          </a:ln>
          <a:effectLst/>
        </p:spPr>
        <p:txBody>
          <a:bodyPr>
            <a:spAutoFit/>
          </a:bodyPr>
          <a:lstStyle/>
          <a:p>
            <a:pPr>
              <a:defRPr/>
            </a:pPr>
            <a:r>
              <a:rPr kumimoji="0" lang="zh-CN" altLang="en-US" sz="1800">
                <a:solidFill>
                  <a:srgbClr val="FF0000"/>
                </a:solidFill>
                <a:effectLst>
                  <a:outerShdw blurRad="38100" dist="38100" dir="2700000" algn="tl">
                    <a:srgbClr val="C0C0C0"/>
                  </a:outerShdw>
                </a:effectLst>
              </a:rPr>
              <a:t>通解或自由变量</a:t>
            </a:r>
          </a:p>
        </p:txBody>
      </p:sp>
      <p:sp>
        <p:nvSpPr>
          <p:cNvPr id="34844" name="Line 28"/>
          <p:cNvSpPr>
            <a:spLocks noChangeShapeType="1"/>
          </p:cNvSpPr>
          <p:nvPr/>
        </p:nvSpPr>
        <p:spPr bwMode="auto">
          <a:xfrm>
            <a:off x="3132138" y="3355975"/>
            <a:ext cx="1944687" cy="0"/>
          </a:xfrm>
          <a:prstGeom prst="line">
            <a:avLst/>
          </a:prstGeom>
          <a:noFill/>
          <a:ln w="9525">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4845" name="Text Box 29"/>
          <p:cNvSpPr txBox="1">
            <a:spLocks noChangeArrowheads="1"/>
          </p:cNvSpPr>
          <p:nvPr/>
        </p:nvSpPr>
        <p:spPr bwMode="auto">
          <a:xfrm>
            <a:off x="3348038" y="3573463"/>
            <a:ext cx="2808287" cy="366712"/>
          </a:xfrm>
          <a:prstGeom prst="rect">
            <a:avLst/>
          </a:prstGeom>
          <a:noFill/>
          <a:ln w="9525" algn="ctr">
            <a:noFill/>
            <a:miter lim="800000"/>
            <a:headEnd/>
            <a:tailEnd/>
          </a:ln>
          <a:effectLst/>
        </p:spPr>
        <p:txBody>
          <a:bodyPr>
            <a:spAutoFit/>
          </a:bodyPr>
          <a:lstStyle/>
          <a:p>
            <a:pPr>
              <a:defRPr/>
            </a:pPr>
            <a:r>
              <a:rPr kumimoji="0" lang="zh-CN" altLang="en-US" sz="1800">
                <a:solidFill>
                  <a:srgbClr val="0000FF"/>
                </a:solidFill>
                <a:effectLst>
                  <a:outerShdw blurRad="38100" dist="38100" dir="2700000" algn="tl">
                    <a:srgbClr val="C0C0C0"/>
                  </a:outerShdw>
                </a:effectLst>
              </a:rPr>
              <a:t>特解或强制分量</a:t>
            </a:r>
          </a:p>
        </p:txBody>
      </p:sp>
      <p:sp>
        <p:nvSpPr>
          <p:cNvPr id="34846" name="Text Box 30"/>
          <p:cNvSpPr txBox="1">
            <a:spLocks noChangeArrowheads="1"/>
          </p:cNvSpPr>
          <p:nvPr/>
        </p:nvSpPr>
        <p:spPr bwMode="auto">
          <a:xfrm>
            <a:off x="1095375" y="4657725"/>
            <a:ext cx="74374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其中               为齐次方程                             的特征根。 </a:t>
            </a:r>
          </a:p>
        </p:txBody>
      </p:sp>
      <p:graphicFrame>
        <p:nvGraphicFramePr>
          <p:cNvPr id="6148" name="Object 31"/>
          <p:cNvGraphicFramePr>
            <a:graphicFrameLocks noChangeAspect="1"/>
          </p:cNvGraphicFramePr>
          <p:nvPr/>
        </p:nvGraphicFramePr>
        <p:xfrm>
          <a:off x="1979613" y="4724400"/>
          <a:ext cx="792162" cy="385763"/>
        </p:xfrm>
        <a:graphic>
          <a:graphicData uri="http://schemas.openxmlformats.org/presentationml/2006/ole">
            <mc:AlternateContent xmlns:mc="http://schemas.openxmlformats.org/markup-compatibility/2006">
              <mc:Choice xmlns:v="urn:schemas-microsoft-com:vml" Requires="v">
                <p:oleObj name="Equation" r:id="rId7" imgW="368140" imgH="177723" progId="Equation.DSMT4">
                  <p:embed/>
                </p:oleObj>
              </mc:Choice>
              <mc:Fallback>
                <p:oleObj name="Equation" r:id="rId7" imgW="368140" imgH="177723"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79613" y="4724400"/>
                        <a:ext cx="792162" cy="385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6149" name="Object 32"/>
          <p:cNvGraphicFramePr>
            <a:graphicFrameLocks noChangeAspect="1"/>
          </p:cNvGraphicFramePr>
          <p:nvPr/>
        </p:nvGraphicFramePr>
        <p:xfrm>
          <a:off x="4572000" y="4724400"/>
          <a:ext cx="2160588" cy="433388"/>
        </p:xfrm>
        <a:graphic>
          <a:graphicData uri="http://schemas.openxmlformats.org/presentationml/2006/ole">
            <mc:AlternateContent xmlns:mc="http://schemas.openxmlformats.org/markup-compatibility/2006">
              <mc:Choice xmlns:v="urn:schemas-microsoft-com:vml" Requires="v">
                <p:oleObj name="Equation" r:id="rId9" imgW="1002865" imgH="203112" progId="Equation.DSMT4">
                  <p:embed/>
                </p:oleObj>
              </mc:Choice>
              <mc:Fallback>
                <p:oleObj name="Equation" r:id="rId9" imgW="1002865" imgH="203112"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72000" y="4724400"/>
                        <a:ext cx="2160588" cy="433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p:transition>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5851" name="Text Box 11"/>
          <p:cNvSpPr txBox="1">
            <a:spLocks noChangeArrowheads="1"/>
          </p:cNvSpPr>
          <p:nvPr/>
        </p:nvSpPr>
        <p:spPr bwMode="auto">
          <a:xfrm>
            <a:off x="1547813" y="1700213"/>
            <a:ext cx="2540000" cy="641350"/>
          </a:xfrm>
          <a:prstGeom prst="rect">
            <a:avLst/>
          </a:prstGeom>
          <a:noFill/>
          <a:ln w="9525" algn="ctr">
            <a:noFill/>
            <a:miter lim="800000"/>
            <a:headEnd/>
            <a:tailEnd/>
          </a:ln>
          <a:effectLst/>
        </p:spPr>
        <p:txBody>
          <a:bodyPr>
            <a:spAutoFit/>
          </a:bodyPr>
          <a:lstStyle/>
          <a:p>
            <a:pPr>
              <a:defRPr/>
            </a:pPr>
            <a:r>
              <a:rPr kumimoji="0" lang="zh-CN" altLang="en-US" sz="3600">
                <a:solidFill>
                  <a:srgbClr val="0000FF"/>
                </a:solidFill>
                <a:effectLst>
                  <a:outerShdw blurRad="38100" dist="38100" dir="2700000" algn="tl">
                    <a:srgbClr val="C0C0C0"/>
                  </a:outerShdw>
                </a:effectLst>
              </a:rPr>
              <a:t>练习题：</a:t>
            </a:r>
          </a:p>
        </p:txBody>
      </p:sp>
      <p:sp>
        <p:nvSpPr>
          <p:cNvPr id="35852" name="Text Box 12"/>
          <p:cNvSpPr txBox="1">
            <a:spLocks noChangeArrowheads="1"/>
          </p:cNvSpPr>
          <p:nvPr/>
        </p:nvSpPr>
        <p:spPr bwMode="auto">
          <a:xfrm>
            <a:off x="1712913" y="2557463"/>
            <a:ext cx="4772025"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用迭代法求解如下差分方程</a:t>
            </a:r>
          </a:p>
        </p:txBody>
      </p:sp>
      <p:sp>
        <p:nvSpPr>
          <p:cNvPr id="35853" name="Rectangle 13"/>
          <p:cNvSpPr>
            <a:spLocks noChangeArrowheads="1"/>
          </p:cNvSpPr>
          <p:nvPr/>
        </p:nvSpPr>
        <p:spPr bwMode="auto">
          <a:xfrm>
            <a:off x="20638" y="29622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170" name="Object 14"/>
          <p:cNvGraphicFramePr>
            <a:graphicFrameLocks noChangeAspect="1"/>
          </p:cNvGraphicFramePr>
          <p:nvPr/>
        </p:nvGraphicFramePr>
        <p:xfrm>
          <a:off x="2647950" y="3133725"/>
          <a:ext cx="4608513" cy="474663"/>
        </p:xfrm>
        <a:graphic>
          <a:graphicData uri="http://schemas.openxmlformats.org/presentationml/2006/ole">
            <mc:AlternateContent xmlns:mc="http://schemas.openxmlformats.org/markup-compatibility/2006">
              <mc:Choice xmlns:v="urn:schemas-microsoft-com:vml" Requires="v">
                <p:oleObj name="Equation" r:id="rId3" imgW="1943100" imgH="203200" progId="Equation.DSMT4">
                  <p:embed/>
                </p:oleObj>
              </mc:Choice>
              <mc:Fallback>
                <p:oleObj name="Equation" r:id="rId3" imgW="1943100" imgH="2032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7950" y="3133725"/>
                        <a:ext cx="4608513"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55" name="Text Box 15"/>
          <p:cNvSpPr txBox="1">
            <a:spLocks noChangeArrowheads="1"/>
          </p:cNvSpPr>
          <p:nvPr/>
        </p:nvSpPr>
        <p:spPr bwMode="auto">
          <a:xfrm>
            <a:off x="1692275" y="3925888"/>
            <a:ext cx="362108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已知初始条件为</a:t>
            </a:r>
          </a:p>
        </p:txBody>
      </p:sp>
      <p:sp>
        <p:nvSpPr>
          <p:cNvPr id="35856" name="Rectangle 16"/>
          <p:cNvSpPr>
            <a:spLocks noChangeArrowheads="1"/>
          </p:cNvSpPr>
          <p:nvPr/>
        </p:nvSpPr>
        <p:spPr bwMode="auto">
          <a:xfrm>
            <a:off x="20638" y="29622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171" name="Object 17"/>
          <p:cNvGraphicFramePr>
            <a:graphicFrameLocks noChangeAspect="1"/>
          </p:cNvGraphicFramePr>
          <p:nvPr/>
        </p:nvGraphicFramePr>
        <p:xfrm>
          <a:off x="2647950" y="4502150"/>
          <a:ext cx="1081088" cy="444500"/>
        </p:xfrm>
        <a:graphic>
          <a:graphicData uri="http://schemas.openxmlformats.org/presentationml/2006/ole">
            <mc:AlternateContent xmlns:mc="http://schemas.openxmlformats.org/markup-compatibility/2006">
              <mc:Choice xmlns:v="urn:schemas-microsoft-com:vml" Requires="v">
                <p:oleObj name="Equation" r:id="rId5" imgW="482391" imgH="203112" progId="Equation.DSMT4">
                  <p:embed/>
                </p:oleObj>
              </mc:Choice>
              <mc:Fallback>
                <p:oleObj name="Equation" r:id="rId5" imgW="482391" imgH="203112"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7950" y="4502150"/>
                        <a:ext cx="1081088"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5858" name="Rectangle 18"/>
          <p:cNvSpPr>
            <a:spLocks noChangeArrowheads="1"/>
          </p:cNvSpPr>
          <p:nvPr/>
        </p:nvSpPr>
        <p:spPr bwMode="auto">
          <a:xfrm>
            <a:off x="20638" y="29622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172" name="Object 19"/>
          <p:cNvGraphicFramePr>
            <a:graphicFrameLocks noChangeAspect="1"/>
          </p:cNvGraphicFramePr>
          <p:nvPr/>
        </p:nvGraphicFramePr>
        <p:xfrm>
          <a:off x="4160838" y="4502150"/>
          <a:ext cx="1225550" cy="458788"/>
        </p:xfrm>
        <a:graphic>
          <a:graphicData uri="http://schemas.openxmlformats.org/presentationml/2006/ole">
            <mc:AlternateContent xmlns:mc="http://schemas.openxmlformats.org/markup-compatibility/2006">
              <mc:Choice xmlns:v="urn:schemas-microsoft-com:vml" Requires="v">
                <p:oleObj name="Equation" r:id="rId7" imgW="533169" imgH="203112" progId="Equation.DSMT4">
                  <p:embed/>
                </p:oleObj>
              </mc:Choice>
              <mc:Fallback>
                <p:oleObj name="Equation" r:id="rId7" imgW="533169" imgH="203112"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160838" y="4502150"/>
                        <a:ext cx="122555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ld"/>
  </p:transition>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197" name="Text Box 12"/>
          <p:cNvSpPr txBox="1">
            <a:spLocks noChangeArrowheads="1"/>
          </p:cNvSpPr>
          <p:nvPr/>
        </p:nvSpPr>
        <p:spPr bwMode="auto">
          <a:xfrm>
            <a:off x="900113" y="1484313"/>
            <a:ext cx="3529012" cy="519112"/>
          </a:xfrm>
          <a:prstGeom prst="rect">
            <a:avLst/>
          </a:prstGeom>
          <a:noFill/>
          <a:ln w="9525" algn="ctr">
            <a:noFill/>
            <a:miter lim="800000"/>
            <a:headEnd/>
            <a:tailEnd/>
          </a:ln>
        </p:spPr>
        <p:txBody>
          <a:bodyPr>
            <a:spAutoFit/>
          </a:bodyPr>
          <a:lstStyle/>
          <a:p>
            <a:r>
              <a:rPr kumimoji="0" lang="en-US" altLang="zh-CN" sz="2800" u="sng">
                <a:solidFill>
                  <a:srgbClr val="FF0000"/>
                </a:solidFill>
              </a:rPr>
              <a:t>2) </a:t>
            </a:r>
            <a:r>
              <a:rPr kumimoji="0" lang="zh-CN" altLang="en-US" sz="2800" u="sng">
                <a:solidFill>
                  <a:srgbClr val="FF0000"/>
                </a:solidFill>
              </a:rPr>
              <a:t>经典法求解</a:t>
            </a:r>
          </a:p>
        </p:txBody>
      </p:sp>
      <p:sp>
        <p:nvSpPr>
          <p:cNvPr id="36877" name="Text Box 13"/>
          <p:cNvSpPr txBox="1">
            <a:spLocks noChangeArrowheads="1"/>
          </p:cNvSpPr>
          <p:nvPr/>
        </p:nvSpPr>
        <p:spPr bwMode="auto">
          <a:xfrm>
            <a:off x="971550" y="2328863"/>
            <a:ext cx="72723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适合于</a:t>
            </a:r>
            <a:r>
              <a:rPr kumimoji="0" lang="zh-CN" altLang="en-US" sz="2400" u="sng">
                <a:solidFill>
                  <a:srgbClr val="0000FF"/>
                </a:solidFill>
                <a:effectLst>
                  <a:outerShdw blurRad="38100" dist="38100" dir="2700000" algn="tl">
                    <a:srgbClr val="C0C0C0"/>
                  </a:outerShdw>
                </a:effectLst>
              </a:rPr>
              <a:t>齐次差分方程</a:t>
            </a:r>
            <a:r>
              <a:rPr kumimoji="0" lang="zh-CN" altLang="en-US" sz="2400">
                <a:effectLst>
                  <a:outerShdw blurRad="38100" dist="38100" dir="2700000" algn="tl">
                    <a:srgbClr val="C0C0C0"/>
                  </a:outerShdw>
                </a:effectLst>
              </a:rPr>
              <a:t>，不适合非齐次差分方程。</a:t>
            </a:r>
          </a:p>
        </p:txBody>
      </p:sp>
      <p:sp>
        <p:nvSpPr>
          <p:cNvPr id="36878" name="Text Box 14"/>
          <p:cNvSpPr txBox="1">
            <a:spLocks noChangeArrowheads="1"/>
          </p:cNvSpPr>
          <p:nvPr/>
        </p:nvSpPr>
        <p:spPr bwMode="auto">
          <a:xfrm>
            <a:off x="1095375" y="3140075"/>
            <a:ext cx="3800475" cy="457200"/>
          </a:xfrm>
          <a:prstGeom prst="rect">
            <a:avLst/>
          </a:prstGeom>
          <a:noFill/>
          <a:ln w="9525" algn="ctr">
            <a:noFill/>
            <a:miter lim="800000"/>
            <a:headEnd/>
            <a:tailEnd/>
          </a:ln>
          <a:effectLst/>
        </p:spPr>
        <p:txBody>
          <a:bodyPr wrap="none">
            <a:spAutoFit/>
          </a:bodyPr>
          <a:lstStyle/>
          <a:p>
            <a:pPr>
              <a:defRPr/>
            </a:pPr>
            <a:r>
              <a:rPr kumimoji="0" lang="en-US" altLang="zh-CN" sz="2400" i="1">
                <a:effectLst>
                  <a:outerShdw blurRad="38100" dist="38100" dir="2700000" algn="tl">
                    <a:srgbClr val="C0C0C0"/>
                  </a:outerShdw>
                </a:effectLst>
              </a:rPr>
              <a:t>n</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阶线性齐次差分方程为：</a:t>
            </a:r>
          </a:p>
        </p:txBody>
      </p:sp>
      <p:sp>
        <p:nvSpPr>
          <p:cNvPr id="36879" name="Rectangle 15"/>
          <p:cNvSpPr>
            <a:spLocks noChangeArrowheads="1"/>
          </p:cNvSpPr>
          <p:nvPr/>
        </p:nvSpPr>
        <p:spPr bwMode="auto">
          <a:xfrm>
            <a:off x="0" y="29781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194" name="Object 16"/>
          <p:cNvGraphicFramePr>
            <a:graphicFrameLocks noChangeAspect="1"/>
          </p:cNvGraphicFramePr>
          <p:nvPr/>
        </p:nvGraphicFramePr>
        <p:xfrm>
          <a:off x="2700338" y="3697288"/>
          <a:ext cx="2808287" cy="936625"/>
        </p:xfrm>
        <a:graphic>
          <a:graphicData uri="http://schemas.openxmlformats.org/presentationml/2006/ole">
            <mc:AlternateContent xmlns:mc="http://schemas.openxmlformats.org/markup-compatibility/2006">
              <mc:Choice xmlns:v="urn:schemas-microsoft-com:vml" Requires="v">
                <p:oleObj name="Equation" r:id="rId3" imgW="1282700" imgH="431800" progId="Equation.DSMT4">
                  <p:embed/>
                </p:oleObj>
              </mc:Choice>
              <mc:Fallback>
                <p:oleObj name="Equation" r:id="rId3" imgW="1282700" imgH="4318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00338" y="3697288"/>
                        <a:ext cx="2808287" cy="936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1" name="Text Box 17"/>
          <p:cNvSpPr txBox="1">
            <a:spLocks noChangeArrowheads="1"/>
          </p:cNvSpPr>
          <p:nvPr/>
        </p:nvSpPr>
        <p:spPr bwMode="auto">
          <a:xfrm>
            <a:off x="1095375" y="4781550"/>
            <a:ext cx="12446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即</a:t>
            </a:r>
          </a:p>
        </p:txBody>
      </p:sp>
      <p:sp>
        <p:nvSpPr>
          <p:cNvPr id="36882" name="Rectangle 18"/>
          <p:cNvSpPr>
            <a:spLocks noChangeArrowheads="1"/>
          </p:cNvSpPr>
          <p:nvPr/>
        </p:nvSpPr>
        <p:spPr bwMode="auto">
          <a:xfrm>
            <a:off x="0" y="30781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195" name="Object 19"/>
          <p:cNvGraphicFramePr>
            <a:graphicFrameLocks noChangeAspect="1"/>
          </p:cNvGraphicFramePr>
          <p:nvPr/>
        </p:nvGraphicFramePr>
        <p:xfrm>
          <a:off x="1908175" y="4776788"/>
          <a:ext cx="6480175" cy="496887"/>
        </p:xfrm>
        <a:graphic>
          <a:graphicData uri="http://schemas.openxmlformats.org/presentationml/2006/ole">
            <mc:AlternateContent xmlns:mc="http://schemas.openxmlformats.org/markup-compatibility/2006">
              <mc:Choice xmlns:v="urn:schemas-microsoft-com:vml" Requires="v">
                <p:oleObj name="Equation" r:id="rId5" imgW="2984500" imgH="228600" progId="Equation.DSMT4">
                  <p:embed/>
                </p:oleObj>
              </mc:Choice>
              <mc:Fallback>
                <p:oleObj name="Equation" r:id="rId5" imgW="2984500" imgH="2286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08175" y="4776788"/>
                        <a:ext cx="6480175"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6884" name="Text Box 20"/>
          <p:cNvSpPr txBox="1">
            <a:spLocks noChangeArrowheads="1"/>
          </p:cNvSpPr>
          <p:nvPr/>
        </p:nvSpPr>
        <p:spPr bwMode="auto">
          <a:xfrm>
            <a:off x="7308850" y="5280025"/>
            <a:ext cx="1295400" cy="366713"/>
          </a:xfrm>
          <a:prstGeom prst="rect">
            <a:avLst/>
          </a:prstGeom>
          <a:noFill/>
          <a:ln w="9525" algn="ctr">
            <a:noFill/>
            <a:miter lim="800000"/>
            <a:headEnd/>
            <a:tailEnd/>
          </a:ln>
          <a:effectLst/>
        </p:spPr>
        <p:txBody>
          <a:bodyPr>
            <a:spAutoFit/>
          </a:bodyPr>
          <a:lstStyle/>
          <a:p>
            <a:pPr>
              <a:defRPr/>
            </a:pPr>
            <a:r>
              <a:rPr kumimoji="0" lang="zh-CN" altLang="en-US" sz="1800">
                <a:effectLst>
                  <a:outerShdw blurRad="38100" dist="38100" dir="2700000" algn="tl">
                    <a:srgbClr val="C0C0C0"/>
                  </a:outerShdw>
                </a:effectLst>
              </a:rPr>
              <a:t>（</a:t>
            </a:r>
            <a:r>
              <a:rPr kumimoji="0" lang="en-US" altLang="zh-CN" sz="1800">
                <a:effectLst>
                  <a:outerShdw blurRad="38100" dist="38100" dir="2700000" algn="tl">
                    <a:srgbClr val="C0C0C0"/>
                  </a:outerShdw>
                </a:effectLst>
              </a:rPr>
              <a:t>1</a:t>
            </a:r>
            <a:r>
              <a:rPr kumimoji="0" lang="zh-CN" altLang="en-US" sz="1800">
                <a:effectLst>
                  <a:outerShdw blurRad="38100" dist="38100" dir="2700000" algn="tl">
                    <a:srgbClr val="C0C0C0"/>
                  </a:outerShdw>
                </a:effectLst>
              </a:rPr>
              <a:t>）</a:t>
            </a:r>
          </a:p>
        </p:txBody>
      </p:sp>
    </p:spTree>
  </p:cSld>
  <p:clrMapOvr>
    <a:masterClrMapping/>
  </p:clrMapOvr>
  <p:transition>
    <p:cover dir="ld"/>
  </p:transition>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7936" name="Text Box 48"/>
          <p:cNvSpPr txBox="1">
            <a:spLocks noChangeArrowheads="1"/>
          </p:cNvSpPr>
          <p:nvPr/>
        </p:nvSpPr>
        <p:spPr bwMode="auto">
          <a:xfrm>
            <a:off x="1187450" y="1557338"/>
            <a:ext cx="6264870" cy="461665"/>
          </a:xfrm>
          <a:prstGeom prst="rect">
            <a:avLst/>
          </a:prstGeom>
          <a:noFill/>
          <a:ln w="9525" algn="ctr">
            <a:noFill/>
            <a:miter lim="800000"/>
            <a:headEnd/>
            <a:tailEnd/>
          </a:ln>
          <a:effectLst/>
        </p:spPr>
        <p:txBody>
          <a:bodyPr wrap="square">
            <a:spAutoFit/>
          </a:bodyPr>
          <a:lstStyle/>
          <a:p>
            <a:pPr>
              <a:defRPr/>
            </a:pPr>
            <a:r>
              <a:rPr kumimoji="0" lang="zh-CN" altLang="en-US" sz="2400" dirty="0">
                <a:effectLst>
                  <a:outerShdw blurRad="38100" dist="38100" dir="2700000" algn="tl">
                    <a:srgbClr val="C0C0C0"/>
                  </a:outerShdw>
                </a:effectLst>
              </a:rPr>
              <a:t>设其通解形式由                           的一些项组成</a:t>
            </a:r>
          </a:p>
        </p:txBody>
      </p:sp>
      <p:sp>
        <p:nvSpPr>
          <p:cNvPr id="37937" name="Rectangle 49"/>
          <p:cNvSpPr>
            <a:spLocks noChangeArrowheads="1"/>
          </p:cNvSpPr>
          <p:nvPr/>
        </p:nvSpPr>
        <p:spPr bwMode="auto">
          <a:xfrm>
            <a:off x="-71438" y="281146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218" name="Object 50"/>
          <p:cNvGraphicFramePr>
            <a:graphicFrameLocks noChangeAspect="1"/>
          </p:cNvGraphicFramePr>
          <p:nvPr>
            <p:extLst>
              <p:ext uri="{D42A27DB-BD31-4B8C-83A1-F6EECF244321}">
                <p14:modId xmlns:p14="http://schemas.microsoft.com/office/powerpoint/2010/main" val="1519737534"/>
              </p:ext>
            </p:extLst>
          </p:nvPr>
        </p:nvGraphicFramePr>
        <p:xfrm>
          <a:off x="3512344" y="1553628"/>
          <a:ext cx="1943100" cy="481012"/>
        </p:xfrm>
        <a:graphic>
          <a:graphicData uri="http://schemas.openxmlformats.org/presentationml/2006/ole">
            <mc:AlternateContent xmlns:mc="http://schemas.openxmlformats.org/markup-compatibility/2006">
              <mc:Choice xmlns:v="urn:schemas-microsoft-com:vml" Requires="v">
                <p:oleObj name="Equation" r:id="rId3" imgW="927100" imgH="228600" progId="Equation.DSMT4">
                  <p:embed/>
                </p:oleObj>
              </mc:Choice>
              <mc:Fallback>
                <p:oleObj name="Equation" r:id="rId3" imgW="927100" imgH="2286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512344" y="1553628"/>
                        <a:ext cx="1943100" cy="4810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39" name="Text Box 51"/>
          <p:cNvSpPr txBox="1">
            <a:spLocks noChangeArrowheads="1"/>
          </p:cNvSpPr>
          <p:nvPr/>
        </p:nvSpPr>
        <p:spPr bwMode="auto">
          <a:xfrm>
            <a:off x="1258888" y="2225675"/>
            <a:ext cx="47736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代入方程（</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），得到</a:t>
            </a:r>
          </a:p>
        </p:txBody>
      </p:sp>
      <p:sp>
        <p:nvSpPr>
          <p:cNvPr id="37940" name="Rectangle 52"/>
          <p:cNvSpPr>
            <a:spLocks noChangeArrowheads="1"/>
          </p:cNvSpPr>
          <p:nvPr/>
        </p:nvSpPr>
        <p:spPr bwMode="auto">
          <a:xfrm>
            <a:off x="-71438" y="2806700"/>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219" name="Object 53"/>
          <p:cNvGraphicFramePr>
            <a:graphicFrameLocks noChangeAspect="1"/>
          </p:cNvGraphicFramePr>
          <p:nvPr/>
        </p:nvGraphicFramePr>
        <p:xfrm>
          <a:off x="1927225" y="2781300"/>
          <a:ext cx="5113338" cy="484188"/>
        </p:xfrm>
        <a:graphic>
          <a:graphicData uri="http://schemas.openxmlformats.org/presentationml/2006/ole">
            <mc:AlternateContent xmlns:mc="http://schemas.openxmlformats.org/markup-compatibility/2006">
              <mc:Choice xmlns:v="urn:schemas-microsoft-com:vml" Requires="v">
                <p:oleObj name="Equation" r:id="rId5" imgW="2514600" imgH="241300" progId="Equation.DSMT4">
                  <p:embed/>
                </p:oleObj>
              </mc:Choice>
              <mc:Fallback>
                <p:oleObj name="Equation" r:id="rId5" imgW="2514600" imgH="2413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927225" y="2781300"/>
                        <a:ext cx="5113338" cy="484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42" name="Text Box 54"/>
          <p:cNvSpPr txBox="1">
            <a:spLocks noChangeArrowheads="1"/>
          </p:cNvSpPr>
          <p:nvPr/>
        </p:nvSpPr>
        <p:spPr bwMode="auto">
          <a:xfrm>
            <a:off x="1331913" y="3429000"/>
            <a:ext cx="12430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即</a:t>
            </a:r>
          </a:p>
        </p:txBody>
      </p:sp>
      <p:sp>
        <p:nvSpPr>
          <p:cNvPr id="37943" name="Rectangle 55"/>
          <p:cNvSpPr>
            <a:spLocks noChangeArrowheads="1"/>
          </p:cNvSpPr>
          <p:nvPr/>
        </p:nvSpPr>
        <p:spPr bwMode="auto">
          <a:xfrm>
            <a:off x="-71438" y="2806700"/>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220" name="Object 56"/>
          <p:cNvGraphicFramePr>
            <a:graphicFrameLocks noChangeAspect="1"/>
          </p:cNvGraphicFramePr>
          <p:nvPr/>
        </p:nvGraphicFramePr>
        <p:xfrm>
          <a:off x="2071688" y="3429000"/>
          <a:ext cx="4392612" cy="528638"/>
        </p:xfrm>
        <a:graphic>
          <a:graphicData uri="http://schemas.openxmlformats.org/presentationml/2006/ole">
            <mc:AlternateContent xmlns:mc="http://schemas.openxmlformats.org/markup-compatibility/2006">
              <mc:Choice xmlns:v="urn:schemas-microsoft-com:vml" Requires="v">
                <p:oleObj name="Equation" r:id="rId7" imgW="1981200" imgH="241300" progId="Equation.DSMT4">
                  <p:embed/>
                </p:oleObj>
              </mc:Choice>
              <mc:Fallback>
                <p:oleObj name="Equation" r:id="rId7" imgW="1981200" imgH="2413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71688" y="3429000"/>
                        <a:ext cx="4392612" cy="5286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7945" name="Text Box 57"/>
          <p:cNvSpPr txBox="1">
            <a:spLocks noChangeArrowheads="1"/>
          </p:cNvSpPr>
          <p:nvPr/>
        </p:nvSpPr>
        <p:spPr bwMode="auto">
          <a:xfrm>
            <a:off x="1350963" y="4078288"/>
            <a:ext cx="6605587" cy="1006475"/>
          </a:xfrm>
          <a:prstGeom prst="rect">
            <a:avLst/>
          </a:prstGeom>
          <a:noFill/>
          <a:ln w="9525" algn="ctr">
            <a:noFill/>
            <a:miter lim="800000"/>
            <a:headEnd/>
            <a:tailEnd/>
          </a:ln>
          <a:effectLst/>
        </p:spPr>
        <p:txBody>
          <a:bodyPr>
            <a:spAutoFit/>
          </a:bodyPr>
          <a:lstStyle/>
          <a:p>
            <a:pPr>
              <a:lnSpc>
                <a:spcPct val="125000"/>
              </a:lnSpc>
              <a:defRPr/>
            </a:pPr>
            <a:r>
              <a:rPr kumimoji="0" lang="zh-CN" altLang="en-US" sz="2400">
                <a:solidFill>
                  <a:srgbClr val="0000FF"/>
                </a:solidFill>
                <a:effectLst>
                  <a:outerShdw blurRad="38100" dist="38100" dir="2700000" algn="tl">
                    <a:srgbClr val="C0C0C0"/>
                  </a:outerShdw>
                </a:effectLst>
              </a:rPr>
              <a:t>方程（</a:t>
            </a:r>
            <a:r>
              <a:rPr kumimoji="0" lang="en-US" altLang="zh-CN" sz="2400">
                <a:solidFill>
                  <a:srgbClr val="0000FF"/>
                </a:solidFill>
                <a:effectLst>
                  <a:outerShdw blurRad="38100" dist="38100" dir="2700000" algn="tl">
                    <a:srgbClr val="C0C0C0"/>
                  </a:outerShdw>
                </a:effectLst>
              </a:rPr>
              <a:t>2</a:t>
            </a:r>
            <a:r>
              <a:rPr kumimoji="0" lang="zh-CN" altLang="en-US" sz="2400">
                <a:solidFill>
                  <a:srgbClr val="0000FF"/>
                </a:solidFill>
                <a:effectLst>
                  <a:outerShdw blurRad="38100" dist="38100" dir="2700000" algn="tl">
                    <a:srgbClr val="C0C0C0"/>
                  </a:outerShdw>
                </a:effectLst>
              </a:rPr>
              <a:t>）称为齐次方程（</a:t>
            </a:r>
            <a:r>
              <a:rPr kumimoji="0" lang="en-US" altLang="zh-CN" sz="2400">
                <a:solidFill>
                  <a:srgbClr val="0000FF"/>
                </a:solidFill>
                <a:effectLst>
                  <a:outerShdw blurRad="38100" dist="38100" dir="2700000" algn="tl">
                    <a:srgbClr val="C0C0C0"/>
                  </a:outerShdw>
                </a:effectLst>
              </a:rPr>
              <a:t>1</a:t>
            </a:r>
            <a:r>
              <a:rPr kumimoji="0" lang="zh-CN" altLang="en-US" sz="2400">
                <a:solidFill>
                  <a:srgbClr val="0000FF"/>
                </a:solidFill>
                <a:effectLst>
                  <a:outerShdw blurRad="38100" dist="38100" dir="2700000" algn="tl">
                    <a:srgbClr val="C0C0C0"/>
                  </a:outerShdw>
                </a:effectLst>
              </a:rPr>
              <a:t>）的特征方程，其根称为差分方程的特征根。</a:t>
            </a:r>
          </a:p>
        </p:txBody>
      </p:sp>
      <p:sp>
        <p:nvSpPr>
          <p:cNvPr id="37946" name="Text Box 58"/>
          <p:cNvSpPr txBox="1">
            <a:spLocks noChangeArrowheads="1"/>
          </p:cNvSpPr>
          <p:nvPr/>
        </p:nvSpPr>
        <p:spPr bwMode="auto">
          <a:xfrm>
            <a:off x="6967538" y="3573463"/>
            <a:ext cx="1368425" cy="366712"/>
          </a:xfrm>
          <a:prstGeom prst="rect">
            <a:avLst/>
          </a:prstGeom>
          <a:noFill/>
          <a:ln w="9525" algn="ctr">
            <a:noFill/>
            <a:miter lim="800000"/>
            <a:headEnd/>
            <a:tailEnd/>
          </a:ln>
          <a:effectLst/>
        </p:spPr>
        <p:txBody>
          <a:bodyPr>
            <a:spAutoFit/>
          </a:bodyPr>
          <a:lstStyle/>
          <a:p>
            <a:pPr>
              <a:defRPr/>
            </a:pPr>
            <a:r>
              <a:rPr kumimoji="0" lang="zh-CN" altLang="en-US" sz="1800">
                <a:effectLst>
                  <a:outerShdw blurRad="38100" dist="38100" dir="2700000" algn="tl">
                    <a:srgbClr val="C0C0C0"/>
                  </a:outerShdw>
                </a:effectLst>
              </a:rPr>
              <a:t>（</a:t>
            </a:r>
            <a:r>
              <a:rPr kumimoji="0" lang="en-US" altLang="zh-CN" sz="1800">
                <a:effectLst>
                  <a:outerShdw blurRad="38100" dist="38100" dir="2700000" algn="tl">
                    <a:srgbClr val="C0C0C0"/>
                  </a:outerShdw>
                </a:effectLst>
              </a:rPr>
              <a:t>2</a:t>
            </a:r>
            <a:r>
              <a:rPr kumimoji="0" lang="zh-CN" altLang="en-US" sz="1800">
                <a:effectLst>
                  <a:outerShdw blurRad="38100" dist="38100" dir="2700000" algn="tl">
                    <a:srgbClr val="C0C0C0"/>
                  </a:outerShdw>
                </a:effectLst>
              </a:rPr>
              <a:t>）</a:t>
            </a:r>
          </a:p>
        </p:txBody>
      </p:sp>
      <p:sp>
        <p:nvSpPr>
          <p:cNvPr id="37947" name="Rectangle 59"/>
          <p:cNvSpPr>
            <a:spLocks noChangeArrowheads="1"/>
          </p:cNvSpPr>
          <p:nvPr/>
        </p:nvSpPr>
        <p:spPr bwMode="auto">
          <a:xfrm>
            <a:off x="-71438" y="2711450"/>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cover dir="ld"/>
  </p:transition>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10242" name="Object 19"/>
          <p:cNvGraphicFramePr>
            <a:graphicFrameLocks noChangeAspect="1"/>
          </p:cNvGraphicFramePr>
          <p:nvPr/>
        </p:nvGraphicFramePr>
        <p:xfrm>
          <a:off x="3059113" y="2274888"/>
          <a:ext cx="4535487" cy="811212"/>
        </p:xfrm>
        <a:graphic>
          <a:graphicData uri="http://schemas.openxmlformats.org/presentationml/2006/ole">
            <mc:AlternateContent xmlns:mc="http://schemas.openxmlformats.org/markup-compatibility/2006">
              <mc:Choice xmlns:v="urn:schemas-microsoft-com:vml" Requires="v">
                <p:oleObj name="Equation" r:id="rId3" imgW="2400300" imgH="431800" progId="Equation.DSMT4">
                  <p:embed/>
                </p:oleObj>
              </mc:Choice>
              <mc:Fallback>
                <p:oleObj name="Equation" r:id="rId3" imgW="2400300" imgH="4318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059113" y="2274888"/>
                        <a:ext cx="4535487" cy="81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32" name="Text Box 20"/>
          <p:cNvSpPr txBox="1">
            <a:spLocks noChangeArrowheads="1"/>
          </p:cNvSpPr>
          <p:nvPr/>
        </p:nvSpPr>
        <p:spPr bwMode="auto">
          <a:xfrm>
            <a:off x="1403350" y="2419350"/>
            <a:ext cx="17478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通解为：</a:t>
            </a:r>
          </a:p>
        </p:txBody>
      </p:sp>
      <p:sp>
        <p:nvSpPr>
          <p:cNvPr id="38933" name="Text Box 21"/>
          <p:cNvSpPr txBox="1">
            <a:spLocks noChangeArrowheads="1"/>
          </p:cNvSpPr>
          <p:nvPr/>
        </p:nvSpPr>
        <p:spPr bwMode="auto">
          <a:xfrm>
            <a:off x="1187450" y="1700213"/>
            <a:ext cx="4195763"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当</a:t>
            </a:r>
            <a:r>
              <a:rPr kumimoji="0" lang="el-GR" altLang="zh-CN" sz="2400" i="1">
                <a:solidFill>
                  <a:srgbClr val="0000FF"/>
                </a:solidFill>
                <a:effectLst>
                  <a:outerShdw blurRad="38100" dist="38100" dir="2700000" algn="tl">
                    <a:srgbClr val="C0C0C0"/>
                  </a:outerShdw>
                </a:effectLst>
              </a:rPr>
              <a:t>λ</a:t>
            </a:r>
            <a:r>
              <a:rPr kumimoji="0" lang="zh-CN" altLang="en-US" sz="2400">
                <a:solidFill>
                  <a:srgbClr val="0000FF"/>
                </a:solidFill>
                <a:effectLst>
                  <a:outerShdw blurRad="38100" dist="38100" dir="2700000" algn="tl">
                    <a:srgbClr val="C0C0C0"/>
                  </a:outerShdw>
                </a:effectLst>
                <a:latin typeface="宋体" pitchFamily="2" charset="-122"/>
              </a:rPr>
              <a:t>无</a:t>
            </a:r>
            <a:r>
              <a:rPr kumimoji="0" lang="zh-CN" altLang="en-US" sz="2400">
                <a:solidFill>
                  <a:srgbClr val="0000FF"/>
                </a:solidFill>
                <a:effectLst>
                  <a:outerShdw blurRad="38100" dist="38100" dir="2700000" algn="tl">
                    <a:srgbClr val="C0C0C0"/>
                  </a:outerShdw>
                </a:effectLst>
              </a:rPr>
              <a:t>重根时：</a:t>
            </a:r>
          </a:p>
        </p:txBody>
      </p:sp>
      <p:sp>
        <p:nvSpPr>
          <p:cNvPr id="38934" name="Text Box 22"/>
          <p:cNvSpPr txBox="1">
            <a:spLocks noChangeArrowheads="1"/>
          </p:cNvSpPr>
          <p:nvPr/>
        </p:nvSpPr>
        <p:spPr bwMode="auto">
          <a:xfrm>
            <a:off x="1116013" y="3282950"/>
            <a:ext cx="6048375"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当</a:t>
            </a:r>
            <a:r>
              <a:rPr kumimoji="0" lang="el-GR" altLang="zh-CN" sz="2400" i="1">
                <a:solidFill>
                  <a:srgbClr val="FF0000"/>
                </a:solidFill>
                <a:effectLst>
                  <a:outerShdw blurRad="38100" dist="38100" dir="2700000" algn="tl">
                    <a:srgbClr val="C0C0C0"/>
                  </a:outerShdw>
                </a:effectLst>
              </a:rPr>
              <a:t>λ</a:t>
            </a:r>
            <a:r>
              <a:rPr kumimoji="0" lang="zh-CN" altLang="en-US" sz="2400">
                <a:solidFill>
                  <a:srgbClr val="FF0000"/>
                </a:solidFill>
                <a:effectLst>
                  <a:outerShdw blurRad="38100" dist="38100" dir="2700000" algn="tl">
                    <a:srgbClr val="C0C0C0"/>
                  </a:outerShdw>
                </a:effectLst>
              </a:rPr>
              <a:t>有重根时：</a:t>
            </a:r>
            <a:r>
              <a:rPr kumimoji="0" lang="en-US" altLang="zh-CN" sz="2400">
                <a:solidFill>
                  <a:srgbClr val="FF0000"/>
                </a:solidFill>
                <a:effectLst>
                  <a:outerShdw blurRad="38100" dist="38100" dir="2700000" algn="tl">
                    <a:srgbClr val="C0C0C0"/>
                  </a:outerShdw>
                </a:effectLst>
              </a:rPr>
              <a:t>(</a:t>
            </a:r>
            <a:r>
              <a:rPr kumimoji="0" lang="el-GR" altLang="zh-CN" sz="2400" i="1">
                <a:solidFill>
                  <a:srgbClr val="FF0000"/>
                </a:solidFill>
                <a:effectLst>
                  <a:outerShdw blurRad="38100" dist="38100" dir="2700000" algn="tl">
                    <a:srgbClr val="C0C0C0"/>
                  </a:outerShdw>
                </a:effectLst>
              </a:rPr>
              <a:t>λ</a:t>
            </a:r>
            <a:r>
              <a:rPr kumimoji="0" lang="en-US" altLang="zh-CN" sz="2400" baseline="-25000">
                <a:solidFill>
                  <a:srgbClr val="FF0000"/>
                </a:solidFill>
                <a:effectLst>
                  <a:outerShdw blurRad="38100" dist="38100" dir="2700000" algn="tl">
                    <a:srgbClr val="C0C0C0"/>
                  </a:outerShdw>
                </a:effectLst>
              </a:rPr>
              <a:t>1</a:t>
            </a:r>
            <a:r>
              <a:rPr kumimoji="0" lang="zh-CN" altLang="en-US" sz="2400">
                <a:solidFill>
                  <a:srgbClr val="FF0000"/>
                </a:solidFill>
                <a:effectLst>
                  <a:outerShdw blurRad="38100" dist="38100" dir="2700000" algn="tl">
                    <a:srgbClr val="C0C0C0"/>
                  </a:outerShdw>
                </a:effectLst>
              </a:rPr>
              <a:t>有</a:t>
            </a:r>
            <a:r>
              <a:rPr kumimoji="0" lang="en-US" altLang="zh-CN" sz="2400" i="1">
                <a:solidFill>
                  <a:srgbClr val="FF0000"/>
                </a:solidFill>
                <a:effectLst>
                  <a:outerShdw blurRad="38100" dist="38100" dir="2700000" algn="tl">
                    <a:srgbClr val="C0C0C0"/>
                  </a:outerShdw>
                </a:effectLst>
              </a:rPr>
              <a:t>m</a:t>
            </a:r>
            <a:r>
              <a:rPr kumimoji="0" lang="zh-CN" altLang="en-US" sz="2400">
                <a:solidFill>
                  <a:srgbClr val="FF0000"/>
                </a:solidFill>
                <a:effectLst>
                  <a:outerShdw blurRad="38100" dist="38100" dir="2700000" algn="tl">
                    <a:srgbClr val="C0C0C0"/>
                  </a:outerShdw>
                </a:effectLst>
              </a:rPr>
              <a:t>重根</a:t>
            </a:r>
            <a:r>
              <a:rPr kumimoji="0" lang="en-US" altLang="zh-CN" sz="2400">
                <a:solidFill>
                  <a:srgbClr val="FF0000"/>
                </a:solidFill>
                <a:effectLst>
                  <a:outerShdw blurRad="38100" dist="38100" dir="2700000" algn="tl">
                    <a:srgbClr val="C0C0C0"/>
                  </a:outerShdw>
                </a:effectLst>
              </a:rPr>
              <a:t>)</a:t>
            </a:r>
            <a:endParaRPr kumimoji="0" lang="zh-CN" altLang="el-GR" sz="2400">
              <a:solidFill>
                <a:srgbClr val="FF0000"/>
              </a:solidFill>
              <a:effectLst>
                <a:outerShdw blurRad="38100" dist="38100" dir="2700000" algn="tl">
                  <a:srgbClr val="C0C0C0"/>
                </a:outerShdw>
              </a:effectLst>
            </a:endParaRPr>
          </a:p>
        </p:txBody>
      </p:sp>
      <p:sp>
        <p:nvSpPr>
          <p:cNvPr id="38935" name="Rectangle 23"/>
          <p:cNvSpPr>
            <a:spLocks noChangeArrowheads="1"/>
          </p:cNvSpPr>
          <p:nvPr/>
        </p:nvSpPr>
        <p:spPr bwMode="auto">
          <a:xfrm>
            <a:off x="0" y="28765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243" name="Object 24"/>
          <p:cNvGraphicFramePr>
            <a:graphicFrameLocks noChangeAspect="1"/>
          </p:cNvGraphicFramePr>
          <p:nvPr/>
        </p:nvGraphicFramePr>
        <p:xfrm>
          <a:off x="1763713" y="4508500"/>
          <a:ext cx="6553200" cy="481013"/>
        </p:xfrm>
        <a:graphic>
          <a:graphicData uri="http://schemas.openxmlformats.org/presentationml/2006/ole">
            <mc:AlternateContent xmlns:mc="http://schemas.openxmlformats.org/markup-compatibility/2006">
              <mc:Choice xmlns:v="urn:schemas-microsoft-com:vml" Requires="v">
                <p:oleObj name="Equation" r:id="rId5" imgW="3251200" imgH="241300" progId="Equation.DSMT4">
                  <p:embed/>
                </p:oleObj>
              </mc:Choice>
              <mc:Fallback>
                <p:oleObj name="Equation" r:id="rId5" imgW="3251200" imgH="2413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4508500"/>
                        <a:ext cx="6553200" cy="4810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8937" name="Text Box 25"/>
          <p:cNvSpPr txBox="1">
            <a:spLocks noChangeArrowheads="1"/>
          </p:cNvSpPr>
          <p:nvPr/>
        </p:nvSpPr>
        <p:spPr bwMode="auto">
          <a:xfrm>
            <a:off x="1331913" y="3787775"/>
            <a:ext cx="17478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通解为：</a:t>
            </a:r>
          </a:p>
        </p:txBody>
      </p:sp>
      <p:sp>
        <p:nvSpPr>
          <p:cNvPr id="38938" name="Text Box 26"/>
          <p:cNvSpPr txBox="1">
            <a:spLocks noChangeArrowheads="1"/>
          </p:cNvSpPr>
          <p:nvPr/>
        </p:nvSpPr>
        <p:spPr bwMode="auto">
          <a:xfrm>
            <a:off x="1116013" y="5156200"/>
            <a:ext cx="4843462" cy="457200"/>
          </a:xfrm>
          <a:prstGeom prst="rect">
            <a:avLst/>
          </a:prstGeom>
          <a:noFill/>
          <a:ln w="9525" algn="ctr">
            <a:noFill/>
            <a:miter lim="800000"/>
            <a:headEnd/>
            <a:tailEnd/>
          </a:ln>
          <a:effectLst/>
        </p:spPr>
        <p:txBody>
          <a:bodyPr>
            <a:spAutoFit/>
          </a:bodyPr>
          <a:lstStyle/>
          <a:p>
            <a:pPr>
              <a:defRPr/>
            </a:pPr>
            <a:r>
              <a:rPr kumimoji="0" lang="zh-CN" altLang="en-US" sz="2400">
                <a:solidFill>
                  <a:srgbClr val="1E86B4"/>
                </a:solidFill>
                <a:effectLst>
                  <a:outerShdw blurRad="38100" dist="38100" dir="2700000" algn="tl">
                    <a:srgbClr val="C0C0C0"/>
                  </a:outerShdw>
                </a:effectLst>
              </a:rPr>
              <a:t>其中系数</a:t>
            </a:r>
            <a:r>
              <a:rPr kumimoji="0" lang="en-US" altLang="zh-CN" sz="2400" i="1">
                <a:solidFill>
                  <a:srgbClr val="1E86B4"/>
                </a:solidFill>
                <a:effectLst>
                  <a:outerShdw blurRad="38100" dist="38100" dir="2700000" algn="tl">
                    <a:srgbClr val="C0C0C0"/>
                  </a:outerShdw>
                </a:effectLst>
              </a:rPr>
              <a:t>c</a:t>
            </a:r>
            <a:r>
              <a:rPr kumimoji="0" lang="en-US" altLang="zh-CN" sz="2400" i="1" baseline="-25000">
                <a:solidFill>
                  <a:srgbClr val="1E86B4"/>
                </a:solidFill>
                <a:effectLst>
                  <a:outerShdw blurRad="38100" dist="38100" dir="2700000" algn="tl">
                    <a:srgbClr val="C0C0C0"/>
                  </a:outerShdw>
                </a:effectLst>
              </a:rPr>
              <a:t>i</a:t>
            </a:r>
            <a:r>
              <a:rPr kumimoji="0" lang="zh-CN" altLang="en-US" sz="2400">
                <a:solidFill>
                  <a:srgbClr val="1E86B4"/>
                </a:solidFill>
                <a:effectLst>
                  <a:outerShdw blurRad="38100" dist="38100" dir="2700000" algn="tl">
                    <a:srgbClr val="C0C0C0"/>
                  </a:outerShdw>
                </a:effectLst>
              </a:rPr>
              <a:t>由初始条件确定。</a:t>
            </a:r>
          </a:p>
        </p:txBody>
      </p:sp>
    </p:spTree>
  </p:cSld>
  <p:clrMapOvr>
    <a:masterClrMapping/>
  </p:clrMapOvr>
  <p:transition>
    <p:cover dir="ld"/>
  </p:transition>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9954" name="Text Box 18"/>
          <p:cNvSpPr txBox="1">
            <a:spLocks noChangeArrowheads="1"/>
          </p:cNvSpPr>
          <p:nvPr/>
        </p:nvSpPr>
        <p:spPr bwMode="auto">
          <a:xfrm>
            <a:off x="1187450" y="1557338"/>
            <a:ext cx="604837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3.3</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用经典法求解如下差分方程</a:t>
            </a:r>
          </a:p>
        </p:txBody>
      </p:sp>
      <p:graphicFrame>
        <p:nvGraphicFramePr>
          <p:cNvPr id="11266" name="Object 19"/>
          <p:cNvGraphicFramePr>
            <a:graphicFrameLocks noChangeAspect="1"/>
          </p:cNvGraphicFramePr>
          <p:nvPr/>
        </p:nvGraphicFramePr>
        <p:xfrm>
          <a:off x="2195513" y="2206625"/>
          <a:ext cx="4608512" cy="474663"/>
        </p:xfrm>
        <a:graphic>
          <a:graphicData uri="http://schemas.openxmlformats.org/presentationml/2006/ole">
            <mc:AlternateContent xmlns:mc="http://schemas.openxmlformats.org/markup-compatibility/2006">
              <mc:Choice xmlns:v="urn:schemas-microsoft-com:vml" Requires="v">
                <p:oleObj name="Equation" r:id="rId3" imgW="1943100" imgH="203200" progId="Equation.DSMT4">
                  <p:embed/>
                </p:oleObj>
              </mc:Choice>
              <mc:Fallback>
                <p:oleObj name="Equation" r:id="rId3" imgW="1943100" imgH="203200" progId="Equation.DSMT4">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195513" y="2206625"/>
                        <a:ext cx="460851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56" name="Text Box 20"/>
          <p:cNvSpPr txBox="1">
            <a:spLocks noChangeArrowheads="1"/>
          </p:cNvSpPr>
          <p:nvPr/>
        </p:nvSpPr>
        <p:spPr bwMode="auto">
          <a:xfrm>
            <a:off x="1258888" y="2709863"/>
            <a:ext cx="36210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已知初始条件为</a:t>
            </a:r>
          </a:p>
        </p:txBody>
      </p:sp>
      <p:graphicFrame>
        <p:nvGraphicFramePr>
          <p:cNvPr id="11267" name="Object 21"/>
          <p:cNvGraphicFramePr>
            <a:graphicFrameLocks noChangeAspect="1"/>
          </p:cNvGraphicFramePr>
          <p:nvPr/>
        </p:nvGraphicFramePr>
        <p:xfrm>
          <a:off x="3708400" y="2782888"/>
          <a:ext cx="1081088" cy="444500"/>
        </p:xfrm>
        <a:graphic>
          <a:graphicData uri="http://schemas.openxmlformats.org/presentationml/2006/ole">
            <mc:AlternateContent xmlns:mc="http://schemas.openxmlformats.org/markup-compatibility/2006">
              <mc:Choice xmlns:v="urn:schemas-microsoft-com:vml" Requires="v">
                <p:oleObj name="Equation" r:id="rId5" imgW="482391" imgH="203112" progId="Equation.DSMT4">
                  <p:embed/>
                </p:oleObj>
              </mc:Choice>
              <mc:Fallback>
                <p:oleObj name="Equation" r:id="rId5" imgW="482391" imgH="203112" progId="Equation.DSMT4">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08400" y="2782888"/>
                        <a:ext cx="1081088"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1268" name="Object 22"/>
          <p:cNvGraphicFramePr>
            <a:graphicFrameLocks noChangeAspect="1"/>
          </p:cNvGraphicFramePr>
          <p:nvPr/>
        </p:nvGraphicFramePr>
        <p:xfrm>
          <a:off x="5148263" y="2782888"/>
          <a:ext cx="1225550" cy="458787"/>
        </p:xfrm>
        <a:graphic>
          <a:graphicData uri="http://schemas.openxmlformats.org/presentationml/2006/ole">
            <mc:AlternateContent xmlns:mc="http://schemas.openxmlformats.org/markup-compatibility/2006">
              <mc:Choice xmlns:v="urn:schemas-microsoft-com:vml" Requires="v">
                <p:oleObj name="Equation" r:id="rId7" imgW="533169" imgH="203112" progId="Equation.DSMT4">
                  <p:embed/>
                </p:oleObj>
              </mc:Choice>
              <mc:Fallback>
                <p:oleObj name="Equation" r:id="rId7" imgW="533169" imgH="203112" progId="Equation.DSMT4">
                  <p:embed/>
                  <p:pic>
                    <p:nvPicPr>
                      <p:cNvPr id="0"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2782888"/>
                        <a:ext cx="1225550"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59" name="Text Box 23"/>
          <p:cNvSpPr txBox="1">
            <a:spLocks noChangeArrowheads="1"/>
          </p:cNvSpPr>
          <p:nvPr/>
        </p:nvSpPr>
        <p:spPr bwMode="auto">
          <a:xfrm>
            <a:off x="1239838" y="3378200"/>
            <a:ext cx="54927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特征方程为：</a:t>
            </a:r>
          </a:p>
        </p:txBody>
      </p:sp>
      <p:sp>
        <p:nvSpPr>
          <p:cNvPr id="39960" name="Rectangle 24"/>
          <p:cNvSpPr>
            <a:spLocks noChangeArrowheads="1"/>
          </p:cNvSpPr>
          <p:nvPr/>
        </p:nvSpPr>
        <p:spPr bwMode="auto">
          <a:xfrm>
            <a:off x="0" y="29702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1269" name="Object 25"/>
          <p:cNvGraphicFramePr>
            <a:graphicFrameLocks noChangeAspect="1"/>
          </p:cNvGraphicFramePr>
          <p:nvPr/>
        </p:nvGraphicFramePr>
        <p:xfrm>
          <a:off x="2627313" y="3862388"/>
          <a:ext cx="2663825" cy="533400"/>
        </p:xfrm>
        <a:graphic>
          <a:graphicData uri="http://schemas.openxmlformats.org/presentationml/2006/ole">
            <mc:AlternateContent xmlns:mc="http://schemas.openxmlformats.org/markup-compatibility/2006">
              <mc:Choice xmlns:v="urn:schemas-microsoft-com:vml" Requires="v">
                <p:oleObj name="Equation" r:id="rId9" imgW="1002865" imgH="203112" progId="Equation.DSMT4">
                  <p:embed/>
                </p:oleObj>
              </mc:Choice>
              <mc:Fallback>
                <p:oleObj name="Equation" r:id="rId9" imgW="1002865" imgH="203112" progId="Equation.DSMT4">
                  <p:embed/>
                  <p:pic>
                    <p:nvPicPr>
                      <p:cNvPr id="0" name="Picture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627313" y="3862388"/>
                        <a:ext cx="2663825" cy="533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62" name="Text Box 26"/>
          <p:cNvSpPr txBox="1">
            <a:spLocks noChangeArrowheads="1"/>
          </p:cNvSpPr>
          <p:nvPr/>
        </p:nvSpPr>
        <p:spPr bwMode="auto">
          <a:xfrm>
            <a:off x="1887538" y="4587875"/>
            <a:ext cx="43402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解得特征根为：</a:t>
            </a:r>
          </a:p>
        </p:txBody>
      </p:sp>
      <p:sp>
        <p:nvSpPr>
          <p:cNvPr id="39963" name="Rectangle 27"/>
          <p:cNvSpPr>
            <a:spLocks noChangeArrowheads="1"/>
          </p:cNvSpPr>
          <p:nvPr/>
        </p:nvSpPr>
        <p:spPr bwMode="auto">
          <a:xfrm>
            <a:off x="0" y="29559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1270" name="Object 28"/>
          <p:cNvGraphicFramePr>
            <a:graphicFrameLocks noChangeAspect="1"/>
          </p:cNvGraphicFramePr>
          <p:nvPr/>
        </p:nvGraphicFramePr>
        <p:xfrm>
          <a:off x="2700338" y="5157788"/>
          <a:ext cx="935037" cy="547687"/>
        </p:xfrm>
        <a:graphic>
          <a:graphicData uri="http://schemas.openxmlformats.org/presentationml/2006/ole">
            <mc:AlternateContent xmlns:mc="http://schemas.openxmlformats.org/markup-compatibility/2006">
              <mc:Choice xmlns:v="urn:schemas-microsoft-com:vml" Requires="v">
                <p:oleObj name="Equation" r:id="rId11" imgW="393529" imgH="228501" progId="Equation.DSMT4">
                  <p:embed/>
                </p:oleObj>
              </mc:Choice>
              <mc:Fallback>
                <p:oleObj name="Equation" r:id="rId11" imgW="393529" imgH="228501" progId="Equation.DSMT4">
                  <p:embed/>
                  <p:pic>
                    <p:nvPicPr>
                      <p:cNvPr id="0" name="Picture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700338" y="5157788"/>
                        <a:ext cx="935037" cy="547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9965" name="Rectangle 29"/>
          <p:cNvSpPr>
            <a:spLocks noChangeArrowheads="1"/>
          </p:cNvSpPr>
          <p:nvPr/>
        </p:nvSpPr>
        <p:spPr bwMode="auto">
          <a:xfrm>
            <a:off x="0" y="29559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1271" name="Object 30"/>
          <p:cNvGraphicFramePr>
            <a:graphicFrameLocks noChangeAspect="1"/>
          </p:cNvGraphicFramePr>
          <p:nvPr/>
        </p:nvGraphicFramePr>
        <p:xfrm>
          <a:off x="4140200" y="5157788"/>
          <a:ext cx="1008063" cy="549275"/>
        </p:xfrm>
        <a:graphic>
          <a:graphicData uri="http://schemas.openxmlformats.org/presentationml/2006/ole">
            <mc:AlternateContent xmlns:mc="http://schemas.openxmlformats.org/markup-compatibility/2006">
              <mc:Choice xmlns:v="urn:schemas-microsoft-com:vml" Requires="v">
                <p:oleObj name="Equation" r:id="rId13" imgW="419100" imgH="228600" progId="Equation.DSMT4">
                  <p:embed/>
                </p:oleObj>
              </mc:Choice>
              <mc:Fallback>
                <p:oleObj name="Equation" r:id="rId13" imgW="419100" imgH="228600" progId="Equation.DSMT4">
                  <p:embed/>
                  <p:pic>
                    <p:nvPicPr>
                      <p:cNvPr id="0"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4140200" y="5157788"/>
                        <a:ext cx="1008063"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p:transition>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1155" name="Rectangle 195"/>
          <p:cNvSpPr>
            <a:spLocks noChangeArrowheads="1"/>
          </p:cNvSpPr>
          <p:nvPr/>
        </p:nvSpPr>
        <p:spPr bwMode="auto">
          <a:xfrm>
            <a:off x="-52388" y="285591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2290" name="Object 196"/>
          <p:cNvGraphicFramePr>
            <a:graphicFrameLocks noChangeAspect="1"/>
          </p:cNvGraphicFramePr>
          <p:nvPr/>
        </p:nvGraphicFramePr>
        <p:xfrm>
          <a:off x="2216150" y="1966913"/>
          <a:ext cx="4175125" cy="512762"/>
        </p:xfrm>
        <a:graphic>
          <a:graphicData uri="http://schemas.openxmlformats.org/presentationml/2006/ole">
            <mc:AlternateContent xmlns:mc="http://schemas.openxmlformats.org/markup-compatibility/2006">
              <mc:Choice xmlns:v="urn:schemas-microsoft-com:vml" Requires="v">
                <p:oleObj name="Equation" r:id="rId3" imgW="1930400" imgH="241300" progId="Equation.DSMT4">
                  <p:embed/>
                </p:oleObj>
              </mc:Choice>
              <mc:Fallback>
                <p:oleObj name="Equation" r:id="rId3" imgW="1930400" imgH="241300" progId="Equation.DSMT4">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150" y="1966913"/>
                        <a:ext cx="4175125"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57" name="Text Box 197"/>
          <p:cNvSpPr txBox="1">
            <a:spLocks noChangeArrowheads="1"/>
          </p:cNvSpPr>
          <p:nvPr/>
        </p:nvSpPr>
        <p:spPr bwMode="auto">
          <a:xfrm>
            <a:off x="1042988" y="1412875"/>
            <a:ext cx="47720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于是齐次方程通解 为：</a:t>
            </a:r>
          </a:p>
        </p:txBody>
      </p:sp>
      <p:sp>
        <p:nvSpPr>
          <p:cNvPr id="41158" name="Text Box 198"/>
          <p:cNvSpPr txBox="1">
            <a:spLocks noChangeArrowheads="1"/>
          </p:cNvSpPr>
          <p:nvPr/>
        </p:nvSpPr>
        <p:spPr bwMode="auto">
          <a:xfrm>
            <a:off x="1135063" y="2541588"/>
            <a:ext cx="3567112" cy="457200"/>
          </a:xfrm>
          <a:prstGeom prst="rect">
            <a:avLst/>
          </a:prstGeom>
          <a:noFill/>
          <a:ln w="9525" algn="ctr">
            <a:noFill/>
            <a:miter lim="800000"/>
            <a:headEnd/>
            <a:tailEnd/>
          </a:ln>
          <a:effectLst/>
        </p:spPr>
        <p:txBody>
          <a:bodyPr wrap="none">
            <a:spAutoFit/>
          </a:bodyPr>
          <a:lstStyle/>
          <a:p>
            <a:pPr>
              <a:defRPr/>
            </a:pPr>
            <a:r>
              <a:rPr kumimoji="0" lang="zh-CN" altLang="en-US" sz="2400">
                <a:effectLst>
                  <a:outerShdw blurRad="38100" dist="38100" dir="2700000" algn="tl">
                    <a:srgbClr val="C0C0C0"/>
                  </a:outerShdw>
                </a:effectLst>
              </a:rPr>
              <a:t>由初始条件确定 </a:t>
            </a:r>
            <a:r>
              <a:rPr kumimoji="0" lang="en-US" altLang="zh-CN" sz="2400" i="1">
                <a:effectLst>
                  <a:outerShdw blurRad="38100" dist="38100" dir="2700000" algn="tl">
                    <a:srgbClr val="C0C0C0"/>
                  </a:outerShdw>
                </a:effectLst>
              </a:rPr>
              <a:t>c</a:t>
            </a:r>
            <a:r>
              <a:rPr kumimoji="0" lang="en-US" altLang="zh-CN" sz="2400" baseline="-25000">
                <a:effectLst>
                  <a:outerShdw blurRad="38100" dist="38100" dir="2700000" algn="tl">
                    <a:srgbClr val="C0C0C0"/>
                  </a:outerShdw>
                </a:effectLst>
              </a:rPr>
              <a:t>1</a:t>
            </a:r>
            <a:r>
              <a:rPr kumimoji="0" lang="zh-CN" altLang="en-US" sz="2400">
                <a:effectLst>
                  <a:outerShdw blurRad="38100" dist="38100" dir="2700000" algn="tl">
                    <a:srgbClr val="C0C0C0"/>
                  </a:outerShdw>
                </a:effectLst>
              </a:rPr>
              <a:t>和</a:t>
            </a:r>
            <a:r>
              <a:rPr kumimoji="0" lang="en-US" altLang="zh-CN" sz="2400" i="1">
                <a:effectLst>
                  <a:outerShdw blurRad="38100" dist="38100" dir="2700000" algn="tl">
                    <a:srgbClr val="C0C0C0"/>
                  </a:outerShdw>
                </a:effectLst>
              </a:rPr>
              <a:t>c</a:t>
            </a:r>
            <a:r>
              <a:rPr kumimoji="0" lang="en-US" altLang="zh-CN" sz="2400" baseline="-25000">
                <a:effectLst>
                  <a:outerShdw blurRad="38100" dist="38100" dir="2700000" algn="tl">
                    <a:srgbClr val="C0C0C0"/>
                  </a:outerShdw>
                </a:effectLst>
              </a:rPr>
              <a:t>2</a:t>
            </a:r>
            <a:r>
              <a:rPr kumimoji="0" lang="zh-CN" altLang="en-US" sz="2400">
                <a:effectLst>
                  <a:outerShdw blurRad="38100" dist="38100" dir="2700000" algn="tl">
                    <a:srgbClr val="C0C0C0"/>
                  </a:outerShdw>
                </a:effectLst>
              </a:rPr>
              <a:t>： </a:t>
            </a:r>
          </a:p>
        </p:txBody>
      </p:sp>
      <p:sp>
        <p:nvSpPr>
          <p:cNvPr id="41159" name="Rectangle 199"/>
          <p:cNvSpPr>
            <a:spLocks noChangeArrowheads="1"/>
          </p:cNvSpPr>
          <p:nvPr/>
        </p:nvSpPr>
        <p:spPr bwMode="auto">
          <a:xfrm>
            <a:off x="-52388" y="2732088"/>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2291" name="Object 200"/>
          <p:cNvGraphicFramePr>
            <a:graphicFrameLocks noChangeAspect="1"/>
          </p:cNvGraphicFramePr>
          <p:nvPr/>
        </p:nvGraphicFramePr>
        <p:xfrm>
          <a:off x="2719388" y="3117850"/>
          <a:ext cx="2592387" cy="1041400"/>
        </p:xfrm>
        <a:graphic>
          <a:graphicData uri="http://schemas.openxmlformats.org/presentationml/2006/ole">
            <mc:AlternateContent xmlns:mc="http://schemas.openxmlformats.org/markup-compatibility/2006">
              <mc:Choice xmlns:v="urn:schemas-microsoft-com:vml" Requires="v">
                <p:oleObj name="Equation" r:id="rId5" imgW="1206500" imgH="482600" progId="Equation.DSMT4">
                  <p:embed/>
                </p:oleObj>
              </mc:Choice>
              <mc:Fallback>
                <p:oleObj name="Equation" r:id="rId5" imgW="1206500" imgH="482600" progId="Equation.DSMT4">
                  <p:embed/>
                  <p:pic>
                    <p:nvPicPr>
                      <p:cNvPr id="0"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719388" y="3117850"/>
                        <a:ext cx="2592387" cy="1041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1" name="Text Box 201"/>
          <p:cNvSpPr txBox="1">
            <a:spLocks noChangeArrowheads="1"/>
          </p:cNvSpPr>
          <p:nvPr/>
        </p:nvSpPr>
        <p:spPr bwMode="auto">
          <a:xfrm>
            <a:off x="1279525" y="4270375"/>
            <a:ext cx="20875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从而得到：</a:t>
            </a:r>
          </a:p>
        </p:txBody>
      </p:sp>
      <p:sp>
        <p:nvSpPr>
          <p:cNvPr id="41162" name="Rectangle 202"/>
          <p:cNvSpPr>
            <a:spLocks noChangeArrowheads="1"/>
          </p:cNvSpPr>
          <p:nvPr/>
        </p:nvSpPr>
        <p:spPr bwMode="auto">
          <a:xfrm>
            <a:off x="-52388" y="277971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2292" name="Object 203"/>
          <p:cNvGraphicFramePr>
            <a:graphicFrameLocks noChangeAspect="1"/>
          </p:cNvGraphicFramePr>
          <p:nvPr/>
        </p:nvGraphicFramePr>
        <p:xfrm>
          <a:off x="3079750" y="4125913"/>
          <a:ext cx="863600" cy="693737"/>
        </p:xfrm>
        <a:graphic>
          <a:graphicData uri="http://schemas.openxmlformats.org/presentationml/2006/ole">
            <mc:AlternateContent xmlns:mc="http://schemas.openxmlformats.org/markup-compatibility/2006">
              <mc:Choice xmlns:v="urn:schemas-microsoft-com:vml" Requires="v">
                <p:oleObj name="Equation" r:id="rId7" imgW="482391" imgH="393529" progId="Equation.DSMT4">
                  <p:embed/>
                </p:oleObj>
              </mc:Choice>
              <mc:Fallback>
                <p:oleObj name="Equation" r:id="rId7" imgW="482391" imgH="393529" progId="Equation.DSMT4">
                  <p:embed/>
                  <p:pic>
                    <p:nvPicPr>
                      <p:cNvPr id="0" name="Picture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079750" y="4125913"/>
                        <a:ext cx="863600" cy="693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4" name="Rectangle 204"/>
          <p:cNvSpPr>
            <a:spLocks noChangeArrowheads="1"/>
          </p:cNvSpPr>
          <p:nvPr/>
        </p:nvSpPr>
        <p:spPr bwMode="auto">
          <a:xfrm>
            <a:off x="-52388" y="277971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2293" name="Object 205"/>
          <p:cNvGraphicFramePr>
            <a:graphicFrameLocks noChangeAspect="1"/>
          </p:cNvGraphicFramePr>
          <p:nvPr/>
        </p:nvGraphicFramePr>
        <p:xfrm>
          <a:off x="4303713" y="4125913"/>
          <a:ext cx="792162" cy="738187"/>
        </p:xfrm>
        <a:graphic>
          <a:graphicData uri="http://schemas.openxmlformats.org/presentationml/2006/ole">
            <mc:AlternateContent xmlns:mc="http://schemas.openxmlformats.org/markup-compatibility/2006">
              <mc:Choice xmlns:v="urn:schemas-microsoft-com:vml" Requires="v">
                <p:oleObj name="Equation" r:id="rId9" imgW="418918" imgH="393529" progId="Equation.DSMT4">
                  <p:embed/>
                </p:oleObj>
              </mc:Choice>
              <mc:Fallback>
                <p:oleObj name="Equation" r:id="rId9" imgW="418918" imgH="393529" progId="Equation.DSMT4">
                  <p:embed/>
                  <p:pic>
                    <p:nvPicPr>
                      <p:cNvPr id="0"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303713" y="4125913"/>
                        <a:ext cx="792162" cy="738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1166" name="Text Box 206"/>
          <p:cNvSpPr txBox="1">
            <a:spLocks noChangeArrowheads="1"/>
          </p:cNvSpPr>
          <p:nvPr/>
        </p:nvSpPr>
        <p:spPr bwMode="auto">
          <a:xfrm>
            <a:off x="1279525" y="4918075"/>
            <a:ext cx="369252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所以差分方程的通解为：</a:t>
            </a:r>
          </a:p>
        </p:txBody>
      </p:sp>
      <p:sp>
        <p:nvSpPr>
          <p:cNvPr id="41167" name="Rectangle 207"/>
          <p:cNvSpPr>
            <a:spLocks noChangeArrowheads="1"/>
          </p:cNvSpPr>
          <p:nvPr/>
        </p:nvSpPr>
        <p:spPr bwMode="auto">
          <a:xfrm>
            <a:off x="-52388" y="277971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2294" name="Object 208"/>
          <p:cNvGraphicFramePr>
            <a:graphicFrameLocks noChangeAspect="1"/>
          </p:cNvGraphicFramePr>
          <p:nvPr/>
        </p:nvGraphicFramePr>
        <p:xfrm>
          <a:off x="5095875" y="4775200"/>
          <a:ext cx="2663825" cy="742950"/>
        </p:xfrm>
        <a:graphic>
          <a:graphicData uri="http://schemas.openxmlformats.org/presentationml/2006/ole">
            <mc:AlternateContent xmlns:mc="http://schemas.openxmlformats.org/markup-compatibility/2006">
              <mc:Choice xmlns:v="urn:schemas-microsoft-com:vml" Requires="v">
                <p:oleObj name="Equation" r:id="rId11" imgW="1396394" imgH="393529" progId="Equation.DSMT4">
                  <p:embed/>
                </p:oleObj>
              </mc:Choice>
              <mc:Fallback>
                <p:oleObj name="Equation" r:id="rId11" imgW="1396394" imgH="393529" progId="Equation.DSMT4">
                  <p:embed/>
                  <p:pic>
                    <p:nvPicPr>
                      <p:cNvPr id="0" name="Picture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5095875" y="4775200"/>
                        <a:ext cx="2663825" cy="742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p:transition>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1618" name="Text Box 14"/>
          <p:cNvSpPr txBox="1">
            <a:spLocks noChangeArrowheads="1"/>
          </p:cNvSpPr>
          <p:nvPr/>
        </p:nvSpPr>
        <p:spPr bwMode="auto">
          <a:xfrm>
            <a:off x="971550" y="1670050"/>
            <a:ext cx="4248150" cy="519113"/>
          </a:xfrm>
          <a:prstGeom prst="rect">
            <a:avLst/>
          </a:prstGeom>
          <a:noFill/>
          <a:ln w="9525" algn="ctr">
            <a:noFill/>
            <a:miter lim="800000"/>
            <a:headEnd/>
            <a:tailEnd/>
          </a:ln>
        </p:spPr>
        <p:txBody>
          <a:bodyPr>
            <a:spAutoFit/>
          </a:bodyPr>
          <a:lstStyle/>
          <a:p>
            <a:r>
              <a:rPr kumimoji="0" lang="en-US" altLang="zh-CN" sz="2800" u="sng">
                <a:solidFill>
                  <a:srgbClr val="FF0000"/>
                </a:solidFill>
              </a:rPr>
              <a:t>3)</a:t>
            </a:r>
            <a:r>
              <a:rPr kumimoji="0" lang="en-US" altLang="zh-CN" sz="2800" i="1" u="sng">
                <a:solidFill>
                  <a:srgbClr val="FF0000"/>
                </a:solidFill>
              </a:rPr>
              <a:t> z </a:t>
            </a:r>
            <a:r>
              <a:rPr kumimoji="0" lang="zh-CN" altLang="en-US" sz="2800" u="sng">
                <a:solidFill>
                  <a:srgbClr val="FF0000"/>
                </a:solidFill>
              </a:rPr>
              <a:t>变换法求解</a:t>
            </a:r>
          </a:p>
        </p:txBody>
      </p:sp>
      <p:sp>
        <p:nvSpPr>
          <p:cNvPr id="41999" name="Text Box 15"/>
          <p:cNvSpPr txBox="1">
            <a:spLocks noChangeArrowheads="1"/>
          </p:cNvSpPr>
          <p:nvPr/>
        </p:nvSpPr>
        <p:spPr bwMode="auto">
          <a:xfrm>
            <a:off x="971550" y="2276475"/>
            <a:ext cx="7129463" cy="2282825"/>
          </a:xfrm>
          <a:prstGeom prst="rect">
            <a:avLst/>
          </a:prstGeom>
          <a:noFill/>
          <a:ln w="9525" algn="ctr">
            <a:noFill/>
            <a:miter lim="800000"/>
            <a:headEnd/>
            <a:tailEnd/>
          </a:ln>
          <a:effectLst/>
        </p:spPr>
        <p:txBody>
          <a:bodyPr>
            <a:spAutoFit/>
          </a:bodyPr>
          <a:lstStyle/>
          <a:p>
            <a:pPr>
              <a:lnSpc>
                <a:spcPct val="150000"/>
              </a:lnSpc>
              <a:defRPr/>
            </a:pPr>
            <a:r>
              <a:rPr kumimoji="0" lang="zh-CN" altLang="en-US" sz="2400">
                <a:effectLst>
                  <a:outerShdw blurRad="38100" dist="38100" dir="2700000" algn="tl">
                    <a:srgbClr val="C0C0C0"/>
                  </a:outerShdw>
                </a:effectLst>
              </a:rPr>
              <a:t>步骤：</a:t>
            </a:r>
          </a:p>
          <a:p>
            <a:pPr>
              <a:lnSpc>
                <a:spcPct val="150000"/>
              </a:lnSpc>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）对差分方程求</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变换，得到函数的</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变换表达式如</a:t>
            </a:r>
            <a:r>
              <a:rPr kumimoji="0" lang="en-US" altLang="zh-CN" sz="2400" i="1">
                <a:effectLst>
                  <a:outerShdw blurRad="38100" dist="38100" dir="2700000" algn="tl">
                    <a:srgbClr val="C0C0C0"/>
                  </a:outerShdw>
                </a:effectLst>
              </a:rPr>
              <a:t>F</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z</a:t>
            </a:r>
            <a:r>
              <a:rPr kumimoji="0" lang="en-US" altLang="zh-CN" sz="2400">
                <a:effectLst>
                  <a:outerShdw blurRad="38100" dist="38100" dir="2700000" algn="tl">
                    <a:srgbClr val="C0C0C0"/>
                  </a:outerShdw>
                </a:effectLst>
              </a:rPr>
              <a:t>)</a:t>
            </a:r>
            <a:r>
              <a:rPr kumimoji="0" lang="zh-CN" altLang="en-US" sz="2400">
                <a:effectLst>
                  <a:outerShdw blurRad="38100" dist="38100" dir="2700000" algn="tl">
                    <a:srgbClr val="C0C0C0"/>
                  </a:outerShdw>
                </a:effectLst>
              </a:rPr>
              <a:t>；</a:t>
            </a:r>
          </a:p>
          <a:p>
            <a:pPr>
              <a:lnSpc>
                <a:spcPct val="150000"/>
              </a:lnSpc>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）通过</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反变换求出采样函数 </a:t>
            </a:r>
            <a:r>
              <a:rPr kumimoji="0" lang="en-US" altLang="zh-CN" sz="2400" i="1">
                <a:effectLst>
                  <a:outerShdw blurRad="38100" dist="38100" dir="2700000" algn="tl">
                    <a:srgbClr val="C0C0C0"/>
                  </a:outerShdw>
                </a:effectLst>
              </a:rPr>
              <a:t>f</a:t>
            </a:r>
            <a:r>
              <a:rPr kumimoji="0" lang="en-US" altLang="zh-CN" sz="2400" baseline="30000">
                <a:effectLst>
                  <a:outerShdw blurRad="38100" dist="38100" dir="2700000" algn="tl">
                    <a:srgbClr val="C0C0C0"/>
                  </a:outerShdw>
                </a:effectLst>
              </a:rPr>
              <a:t>*</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a:t>
            </a:r>
            <a:r>
              <a:rPr kumimoji="0" lang="zh-CN" altLang="en-US" sz="2400">
                <a:effectLst>
                  <a:outerShdw blurRad="38100" dist="38100" dir="2700000" algn="tl">
                    <a:srgbClr val="C0C0C0"/>
                  </a:outerShdw>
                </a:effectLst>
              </a:rPr>
              <a:t>。</a:t>
            </a:r>
          </a:p>
        </p:txBody>
      </p:sp>
    </p:spTree>
  </p:cSld>
  <p:clrMapOvr>
    <a:masterClrMapping/>
  </p:clrMapOvr>
  <p:transition>
    <p:comb/>
  </p:transition>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3048" name="Text Box 40"/>
          <p:cNvSpPr txBox="1">
            <a:spLocks noChangeArrowheads="1"/>
          </p:cNvSpPr>
          <p:nvPr/>
        </p:nvSpPr>
        <p:spPr bwMode="auto">
          <a:xfrm>
            <a:off x="1116013" y="1628775"/>
            <a:ext cx="56880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3.4</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求解齐次差分方程</a:t>
            </a:r>
          </a:p>
        </p:txBody>
      </p:sp>
      <p:graphicFrame>
        <p:nvGraphicFramePr>
          <p:cNvPr id="13314" name="Object 41"/>
          <p:cNvGraphicFramePr>
            <a:graphicFrameLocks noChangeAspect="1"/>
          </p:cNvGraphicFramePr>
          <p:nvPr/>
        </p:nvGraphicFramePr>
        <p:xfrm>
          <a:off x="2411413" y="2135188"/>
          <a:ext cx="4608512" cy="468312"/>
        </p:xfrm>
        <a:graphic>
          <a:graphicData uri="http://schemas.openxmlformats.org/presentationml/2006/ole">
            <mc:AlternateContent xmlns:mc="http://schemas.openxmlformats.org/markup-compatibility/2006">
              <mc:Choice xmlns:v="urn:schemas-microsoft-com:vml" Requires="v">
                <p:oleObj name="Equation" r:id="rId3" imgW="1968500" imgH="203200" progId="Equation.DSMT4">
                  <p:embed/>
                </p:oleObj>
              </mc:Choice>
              <mc:Fallback>
                <p:oleObj name="Equation" r:id="rId3" imgW="1968500" imgH="203200" progId="Equation.DSMT4">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135188"/>
                        <a:ext cx="4608512"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50" name="Text Box 42"/>
          <p:cNvSpPr txBox="1">
            <a:spLocks noChangeArrowheads="1"/>
          </p:cNvSpPr>
          <p:nvPr/>
        </p:nvSpPr>
        <p:spPr bwMode="auto">
          <a:xfrm>
            <a:off x="1166813" y="2638425"/>
            <a:ext cx="27574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初始条件：</a:t>
            </a:r>
          </a:p>
        </p:txBody>
      </p:sp>
      <p:sp>
        <p:nvSpPr>
          <p:cNvPr id="43051" name="Rectangle 43"/>
          <p:cNvSpPr>
            <a:spLocks noChangeArrowheads="1"/>
          </p:cNvSpPr>
          <p:nvPr/>
        </p:nvSpPr>
        <p:spPr bwMode="auto">
          <a:xfrm>
            <a:off x="0" y="31146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3315" name="Object 44"/>
          <p:cNvGraphicFramePr>
            <a:graphicFrameLocks noChangeAspect="1"/>
          </p:cNvGraphicFramePr>
          <p:nvPr/>
        </p:nvGraphicFramePr>
        <p:xfrm>
          <a:off x="2843213" y="2709863"/>
          <a:ext cx="1081087" cy="384175"/>
        </p:xfrm>
        <a:graphic>
          <a:graphicData uri="http://schemas.openxmlformats.org/presentationml/2006/ole">
            <mc:AlternateContent xmlns:mc="http://schemas.openxmlformats.org/markup-compatibility/2006">
              <mc:Choice xmlns:v="urn:schemas-microsoft-com:vml" Requires="v">
                <p:oleObj name="Equation" r:id="rId5" imgW="558558" imgH="203112" progId="Equation.DSMT4">
                  <p:embed/>
                </p:oleObj>
              </mc:Choice>
              <mc:Fallback>
                <p:oleObj name="Equation" r:id="rId5" imgW="558558" imgH="203112" progId="Equation.DSMT4">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2709863"/>
                        <a:ext cx="1081087"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53" name="Rectangle 45"/>
          <p:cNvSpPr>
            <a:spLocks noChangeArrowheads="1"/>
          </p:cNvSpPr>
          <p:nvPr/>
        </p:nvSpPr>
        <p:spPr bwMode="auto">
          <a:xfrm>
            <a:off x="0" y="31146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3316" name="Object 46"/>
          <p:cNvGraphicFramePr>
            <a:graphicFrameLocks noChangeAspect="1"/>
          </p:cNvGraphicFramePr>
          <p:nvPr/>
        </p:nvGraphicFramePr>
        <p:xfrm>
          <a:off x="4211638" y="2709863"/>
          <a:ext cx="936625" cy="371475"/>
        </p:xfrm>
        <a:graphic>
          <a:graphicData uri="http://schemas.openxmlformats.org/presentationml/2006/ole">
            <mc:AlternateContent xmlns:mc="http://schemas.openxmlformats.org/markup-compatibility/2006">
              <mc:Choice xmlns:v="urn:schemas-microsoft-com:vml" Requires="v">
                <p:oleObj name="Equation" r:id="rId7" imgW="507780" imgH="203112" progId="Equation.DSMT4">
                  <p:embed/>
                </p:oleObj>
              </mc:Choice>
              <mc:Fallback>
                <p:oleObj name="Equation" r:id="rId7" imgW="507780" imgH="203112" progId="Equation.DSMT4">
                  <p:embed/>
                  <p:pic>
                    <p:nvPicPr>
                      <p:cNvPr id="0"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211638" y="2709863"/>
                        <a:ext cx="936625"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55" name="Text Box 47"/>
          <p:cNvSpPr txBox="1">
            <a:spLocks noChangeArrowheads="1"/>
          </p:cNvSpPr>
          <p:nvPr/>
        </p:nvSpPr>
        <p:spPr bwMode="auto">
          <a:xfrm>
            <a:off x="1239838" y="3235325"/>
            <a:ext cx="50609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由</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变换超前定理得到</a:t>
            </a:r>
          </a:p>
        </p:txBody>
      </p:sp>
      <p:sp>
        <p:nvSpPr>
          <p:cNvPr id="43056" name="Rectangle 48"/>
          <p:cNvSpPr>
            <a:spLocks noChangeArrowheads="1"/>
          </p:cNvSpPr>
          <p:nvPr/>
        </p:nvSpPr>
        <p:spPr bwMode="auto">
          <a:xfrm>
            <a:off x="0" y="31146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3317" name="Object 49"/>
          <p:cNvGraphicFramePr>
            <a:graphicFrameLocks noChangeAspect="1"/>
          </p:cNvGraphicFramePr>
          <p:nvPr/>
        </p:nvGraphicFramePr>
        <p:xfrm>
          <a:off x="2916238" y="3790950"/>
          <a:ext cx="2232025" cy="454025"/>
        </p:xfrm>
        <a:graphic>
          <a:graphicData uri="http://schemas.openxmlformats.org/presentationml/2006/ole">
            <mc:AlternateContent xmlns:mc="http://schemas.openxmlformats.org/markup-compatibility/2006">
              <mc:Choice xmlns:v="urn:schemas-microsoft-com:vml" Requires="v">
                <p:oleObj name="Equation" r:id="rId9" imgW="977476" imgH="203112" progId="Equation.DSMT4">
                  <p:embed/>
                </p:oleObj>
              </mc:Choice>
              <mc:Fallback>
                <p:oleObj name="Equation" r:id="rId9" imgW="977476" imgH="203112" progId="Equation.DSMT4">
                  <p:embed/>
                  <p:pic>
                    <p:nvPicPr>
                      <p:cNvPr id="0" name="Picture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6238" y="3790950"/>
                        <a:ext cx="2232025"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58" name="Rectangle 50"/>
          <p:cNvSpPr>
            <a:spLocks noChangeArrowheads="1"/>
          </p:cNvSpPr>
          <p:nvPr/>
        </p:nvSpPr>
        <p:spPr bwMode="auto">
          <a:xfrm>
            <a:off x="0" y="31146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3318" name="Object 51"/>
          <p:cNvGraphicFramePr>
            <a:graphicFrameLocks noChangeAspect="1"/>
          </p:cNvGraphicFramePr>
          <p:nvPr/>
        </p:nvGraphicFramePr>
        <p:xfrm>
          <a:off x="2843213" y="4438650"/>
          <a:ext cx="3600450" cy="427038"/>
        </p:xfrm>
        <a:graphic>
          <a:graphicData uri="http://schemas.openxmlformats.org/presentationml/2006/ole">
            <mc:AlternateContent xmlns:mc="http://schemas.openxmlformats.org/markup-compatibility/2006">
              <mc:Choice xmlns:v="urn:schemas-microsoft-com:vml" Requires="v">
                <p:oleObj name="Equation" r:id="rId11" imgW="1688367" imgH="203112" progId="Equation.DSMT4">
                  <p:embed/>
                </p:oleObj>
              </mc:Choice>
              <mc:Fallback>
                <p:oleObj name="Equation" r:id="rId11" imgW="1688367" imgH="203112" progId="Equation.DSMT4">
                  <p:embed/>
                  <p:pic>
                    <p:nvPicPr>
                      <p:cNvPr id="0" name="Picture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4438650"/>
                        <a:ext cx="3600450" cy="4270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3060" name="Rectangle 52"/>
          <p:cNvSpPr>
            <a:spLocks noChangeArrowheads="1"/>
          </p:cNvSpPr>
          <p:nvPr/>
        </p:nvSpPr>
        <p:spPr bwMode="auto">
          <a:xfrm>
            <a:off x="0" y="31003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3319" name="Object 53"/>
          <p:cNvGraphicFramePr>
            <a:graphicFrameLocks noChangeAspect="1"/>
          </p:cNvGraphicFramePr>
          <p:nvPr/>
        </p:nvGraphicFramePr>
        <p:xfrm>
          <a:off x="2843213" y="5086350"/>
          <a:ext cx="4608512" cy="455613"/>
        </p:xfrm>
        <a:graphic>
          <a:graphicData uri="http://schemas.openxmlformats.org/presentationml/2006/ole">
            <mc:AlternateContent xmlns:mc="http://schemas.openxmlformats.org/markup-compatibility/2006">
              <mc:Choice xmlns:v="urn:schemas-microsoft-com:vml" Requires="v">
                <p:oleObj name="Equation" r:id="rId13" imgW="2311400" imgH="228600" progId="Equation.DSMT4">
                  <p:embed/>
                </p:oleObj>
              </mc:Choice>
              <mc:Fallback>
                <p:oleObj name="Equation" r:id="rId13" imgW="2311400" imgH="228600" progId="Equation.DSMT4">
                  <p:embed/>
                  <p:pic>
                    <p:nvPicPr>
                      <p:cNvPr id="0"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843213" y="5086350"/>
                        <a:ext cx="4608512" cy="4556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p:transition>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4050" name="Text Box 18"/>
          <p:cNvSpPr txBox="1">
            <a:spLocks noChangeArrowheads="1"/>
          </p:cNvSpPr>
          <p:nvPr/>
        </p:nvSpPr>
        <p:spPr bwMode="auto">
          <a:xfrm>
            <a:off x="1042988" y="1628775"/>
            <a:ext cx="290036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于是得到：</a:t>
            </a:r>
          </a:p>
        </p:txBody>
      </p:sp>
      <p:sp>
        <p:nvSpPr>
          <p:cNvPr id="44051" name="Rectangle 19"/>
          <p:cNvSpPr>
            <a:spLocks noChangeArrowheads="1"/>
          </p:cNvSpPr>
          <p:nvPr/>
        </p:nvSpPr>
        <p:spPr bwMode="auto">
          <a:xfrm>
            <a:off x="19050" y="30686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4338" name="Object 20"/>
          <p:cNvGraphicFramePr>
            <a:graphicFrameLocks noChangeAspect="1"/>
          </p:cNvGraphicFramePr>
          <p:nvPr/>
        </p:nvGraphicFramePr>
        <p:xfrm>
          <a:off x="1277938" y="2205038"/>
          <a:ext cx="6553200" cy="457200"/>
        </p:xfrm>
        <a:graphic>
          <a:graphicData uri="http://schemas.openxmlformats.org/presentationml/2006/ole">
            <mc:AlternateContent xmlns:mc="http://schemas.openxmlformats.org/markup-compatibility/2006">
              <mc:Choice xmlns:v="urn:schemas-microsoft-com:vml" Requires="v">
                <p:oleObj name="Equation" r:id="rId3" imgW="3276600" imgH="228600" progId="Equation.DSMT4">
                  <p:embed/>
                </p:oleObj>
              </mc:Choice>
              <mc:Fallback>
                <p:oleObj name="Equation" r:id="rId3" imgW="3276600" imgH="2286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7938" y="2205038"/>
                        <a:ext cx="6553200"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53" name="Text Box 21"/>
          <p:cNvSpPr txBox="1">
            <a:spLocks noChangeArrowheads="1"/>
          </p:cNvSpPr>
          <p:nvPr/>
        </p:nvSpPr>
        <p:spPr bwMode="auto">
          <a:xfrm>
            <a:off x="1114425" y="2924175"/>
            <a:ext cx="383698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代入初始条件得：</a:t>
            </a:r>
          </a:p>
        </p:txBody>
      </p:sp>
      <p:sp>
        <p:nvSpPr>
          <p:cNvPr id="44054" name="Rectangle 22"/>
          <p:cNvSpPr>
            <a:spLocks noChangeArrowheads="1"/>
          </p:cNvSpPr>
          <p:nvPr/>
        </p:nvSpPr>
        <p:spPr bwMode="auto">
          <a:xfrm>
            <a:off x="19050" y="3098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4339" name="Object 23"/>
          <p:cNvGraphicFramePr>
            <a:graphicFrameLocks noChangeAspect="1"/>
          </p:cNvGraphicFramePr>
          <p:nvPr/>
        </p:nvGraphicFramePr>
        <p:xfrm>
          <a:off x="2143125" y="3500438"/>
          <a:ext cx="4105275" cy="473075"/>
        </p:xfrm>
        <a:graphic>
          <a:graphicData uri="http://schemas.openxmlformats.org/presentationml/2006/ole">
            <mc:AlternateContent xmlns:mc="http://schemas.openxmlformats.org/markup-compatibility/2006">
              <mc:Choice xmlns:v="urn:schemas-microsoft-com:vml" Requires="v">
                <p:oleObj name="Equation" r:id="rId5" imgW="1981200" imgH="228600" progId="Equation.DSMT4">
                  <p:embed/>
                </p:oleObj>
              </mc:Choice>
              <mc:Fallback>
                <p:oleObj name="Equation" r:id="rId5" imgW="1981200" imgH="2286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43125" y="3500438"/>
                        <a:ext cx="4105275"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4056" name="Text Box 24"/>
          <p:cNvSpPr txBox="1">
            <a:spLocks noChangeArrowheads="1"/>
          </p:cNvSpPr>
          <p:nvPr/>
        </p:nvSpPr>
        <p:spPr bwMode="auto">
          <a:xfrm>
            <a:off x="1185863" y="4148138"/>
            <a:ext cx="29733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整理后得：</a:t>
            </a:r>
          </a:p>
        </p:txBody>
      </p:sp>
      <p:sp>
        <p:nvSpPr>
          <p:cNvPr id="44057" name="Rectangle 25"/>
          <p:cNvSpPr>
            <a:spLocks noChangeArrowheads="1"/>
          </p:cNvSpPr>
          <p:nvPr/>
        </p:nvSpPr>
        <p:spPr bwMode="auto">
          <a:xfrm>
            <a:off x="19050" y="30035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4340" name="Object 26"/>
          <p:cNvGraphicFramePr>
            <a:graphicFrameLocks noChangeAspect="1"/>
          </p:cNvGraphicFramePr>
          <p:nvPr/>
        </p:nvGraphicFramePr>
        <p:xfrm>
          <a:off x="3151188" y="4437063"/>
          <a:ext cx="2879725" cy="952500"/>
        </p:xfrm>
        <a:graphic>
          <a:graphicData uri="http://schemas.openxmlformats.org/presentationml/2006/ole">
            <mc:AlternateContent xmlns:mc="http://schemas.openxmlformats.org/markup-compatibility/2006">
              <mc:Choice xmlns:v="urn:schemas-microsoft-com:vml" Requires="v">
                <p:oleObj name="Equation" r:id="rId7" imgW="1270000" imgH="419100" progId="Equation.DSMT4">
                  <p:embed/>
                </p:oleObj>
              </mc:Choice>
              <mc:Fallback>
                <p:oleObj name="Equation" r:id="rId7" imgW="1270000" imgH="4191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51188" y="4437063"/>
                        <a:ext cx="2879725" cy="952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5104" name="Text Box 48"/>
          <p:cNvSpPr txBox="1">
            <a:spLocks noChangeArrowheads="1"/>
          </p:cNvSpPr>
          <p:nvPr/>
        </p:nvSpPr>
        <p:spPr bwMode="auto">
          <a:xfrm>
            <a:off x="1166813" y="1844675"/>
            <a:ext cx="50609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利用部分分式法可化成：</a:t>
            </a:r>
          </a:p>
        </p:txBody>
      </p:sp>
      <p:sp>
        <p:nvSpPr>
          <p:cNvPr id="45105" name="Rectangle 49"/>
          <p:cNvSpPr>
            <a:spLocks noChangeArrowheads="1"/>
          </p:cNvSpPr>
          <p:nvPr/>
        </p:nvSpPr>
        <p:spPr bwMode="auto">
          <a:xfrm>
            <a:off x="0" y="32337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5362" name="Object 50"/>
          <p:cNvGraphicFramePr>
            <a:graphicFrameLocks noChangeAspect="1"/>
          </p:cNvGraphicFramePr>
          <p:nvPr/>
        </p:nvGraphicFramePr>
        <p:xfrm>
          <a:off x="2987675" y="2420938"/>
          <a:ext cx="2376488" cy="762000"/>
        </p:xfrm>
        <a:graphic>
          <a:graphicData uri="http://schemas.openxmlformats.org/presentationml/2006/ole">
            <mc:AlternateContent xmlns:mc="http://schemas.openxmlformats.org/markup-compatibility/2006">
              <mc:Choice xmlns:v="urn:schemas-microsoft-com:vml" Requires="v">
                <p:oleObj name="Equation" r:id="rId3" imgW="1218671" imgH="393529" progId="Equation.DSMT4">
                  <p:embed/>
                </p:oleObj>
              </mc:Choice>
              <mc:Fallback>
                <p:oleObj name="Equation" r:id="rId3" imgW="1218671" imgH="393529"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87675" y="2420938"/>
                        <a:ext cx="2376488"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107" name="Text Box 51"/>
          <p:cNvSpPr txBox="1">
            <a:spLocks noChangeArrowheads="1"/>
          </p:cNvSpPr>
          <p:nvPr/>
        </p:nvSpPr>
        <p:spPr bwMode="auto">
          <a:xfrm>
            <a:off x="1239838" y="3305175"/>
            <a:ext cx="376396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查</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变换表得：</a:t>
            </a:r>
          </a:p>
        </p:txBody>
      </p:sp>
      <p:sp>
        <p:nvSpPr>
          <p:cNvPr id="45108" name="Rectangle 52"/>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5363" name="Object 53"/>
          <p:cNvGraphicFramePr>
            <a:graphicFrameLocks noChangeAspect="1"/>
          </p:cNvGraphicFramePr>
          <p:nvPr/>
        </p:nvGraphicFramePr>
        <p:xfrm>
          <a:off x="2195513" y="3860800"/>
          <a:ext cx="2592387" cy="468313"/>
        </p:xfrm>
        <a:graphic>
          <a:graphicData uri="http://schemas.openxmlformats.org/presentationml/2006/ole">
            <mc:AlternateContent xmlns:mc="http://schemas.openxmlformats.org/markup-compatibility/2006">
              <mc:Choice xmlns:v="urn:schemas-microsoft-com:vml" Requires="v">
                <p:oleObj name="Equation" r:id="rId5" imgW="1270000" imgH="228600" progId="Equation.DSMT4">
                  <p:embed/>
                </p:oleObj>
              </mc:Choice>
              <mc:Fallback>
                <p:oleObj name="Equation" r:id="rId5" imgW="1270000" imgH="2286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3860800"/>
                        <a:ext cx="2592387"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110" name="Rectangle 54"/>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5364" name="Object 55"/>
          <p:cNvGraphicFramePr>
            <a:graphicFrameLocks noChangeAspect="1"/>
          </p:cNvGraphicFramePr>
          <p:nvPr/>
        </p:nvGraphicFramePr>
        <p:xfrm>
          <a:off x="5148263" y="3933825"/>
          <a:ext cx="1800225" cy="411163"/>
        </p:xfrm>
        <a:graphic>
          <a:graphicData uri="http://schemas.openxmlformats.org/presentationml/2006/ole">
            <mc:AlternateContent xmlns:mc="http://schemas.openxmlformats.org/markup-compatibility/2006">
              <mc:Choice xmlns:v="urn:schemas-microsoft-com:vml" Requires="v">
                <p:oleObj name="Equation" r:id="rId7" imgW="876300" imgH="203200" progId="Equation.DSMT4">
                  <p:embed/>
                </p:oleObj>
              </mc:Choice>
              <mc:Fallback>
                <p:oleObj name="Equation" r:id="rId7" imgW="876300" imgH="203200"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148263" y="3933825"/>
                        <a:ext cx="1800225"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5112" name="Rectangle 56"/>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5365" name="Object 57"/>
          <p:cNvGraphicFramePr>
            <a:graphicFrameLocks noChangeAspect="1"/>
          </p:cNvGraphicFramePr>
          <p:nvPr/>
        </p:nvGraphicFramePr>
        <p:xfrm>
          <a:off x="2195513" y="4652963"/>
          <a:ext cx="4608512" cy="928687"/>
        </p:xfrm>
        <a:graphic>
          <a:graphicData uri="http://schemas.openxmlformats.org/presentationml/2006/ole">
            <mc:AlternateContent xmlns:mc="http://schemas.openxmlformats.org/markup-compatibility/2006">
              <mc:Choice xmlns:v="urn:schemas-microsoft-com:vml" Requires="v">
                <p:oleObj name="Equation" r:id="rId9" imgW="2120900" imgH="431800" progId="Equation.DSMT4">
                  <p:embed/>
                </p:oleObj>
              </mc:Choice>
              <mc:Fallback>
                <p:oleObj name="Equation" r:id="rId9" imgW="2120900" imgH="43180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95513" y="4652963"/>
                        <a:ext cx="4608512" cy="9286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6099" name="Text Box 19"/>
          <p:cNvSpPr txBox="1">
            <a:spLocks noChangeArrowheads="1"/>
          </p:cNvSpPr>
          <p:nvPr/>
        </p:nvSpPr>
        <p:spPr bwMode="auto">
          <a:xfrm>
            <a:off x="1116013" y="1557338"/>
            <a:ext cx="6140450" cy="457200"/>
          </a:xfrm>
          <a:prstGeom prst="rect">
            <a:avLst/>
          </a:prstGeom>
          <a:noFill/>
          <a:ln w="9525" algn="ctr">
            <a:noFill/>
            <a:miter lim="800000"/>
            <a:headEnd/>
            <a:tailEnd/>
          </a:ln>
          <a:effectLst/>
        </p:spPr>
        <p:txBody>
          <a:bodyPr>
            <a:spAutoFit/>
          </a:bodyPr>
          <a:lstStyle/>
          <a:p>
            <a:pPr>
              <a:defRPr/>
            </a:pPr>
            <a:r>
              <a:rPr kumimoji="0" lang="en-US" altLang="zh-CN" sz="2400">
                <a:solidFill>
                  <a:srgbClr val="0000FF"/>
                </a:solidFill>
                <a:effectLst>
                  <a:outerShdw blurRad="38100" dist="38100" dir="2700000" algn="tl">
                    <a:srgbClr val="C0C0C0"/>
                  </a:outerShdw>
                </a:effectLst>
              </a:rPr>
              <a:t> </a:t>
            </a: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3.5 </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求解下列非齐次差分方程</a:t>
            </a:r>
          </a:p>
        </p:txBody>
      </p:sp>
      <p:graphicFrame>
        <p:nvGraphicFramePr>
          <p:cNvPr id="16386" name="Object 20"/>
          <p:cNvGraphicFramePr>
            <a:graphicFrameLocks noChangeAspect="1"/>
          </p:cNvGraphicFramePr>
          <p:nvPr/>
        </p:nvGraphicFramePr>
        <p:xfrm>
          <a:off x="2216150" y="2112963"/>
          <a:ext cx="5256213" cy="490537"/>
        </p:xfrm>
        <a:graphic>
          <a:graphicData uri="http://schemas.openxmlformats.org/presentationml/2006/ole">
            <mc:AlternateContent xmlns:mc="http://schemas.openxmlformats.org/markup-compatibility/2006">
              <mc:Choice xmlns:v="urn:schemas-microsoft-com:vml" Requires="v">
                <p:oleObj name="Equation" r:id="rId3" imgW="2146300" imgH="203200" progId="Equation.DSMT4">
                  <p:embed/>
                </p:oleObj>
              </mc:Choice>
              <mc:Fallback>
                <p:oleObj name="Equation" r:id="rId3" imgW="2146300" imgH="203200" progId="Equation.DSMT4">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16150" y="2112963"/>
                        <a:ext cx="5256213" cy="490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01" name="Text Box 21"/>
          <p:cNvSpPr txBox="1">
            <a:spLocks noChangeArrowheads="1"/>
          </p:cNvSpPr>
          <p:nvPr/>
        </p:nvSpPr>
        <p:spPr bwMode="auto">
          <a:xfrm>
            <a:off x="1260475" y="2687638"/>
            <a:ext cx="28273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初始条件：</a:t>
            </a:r>
          </a:p>
        </p:txBody>
      </p:sp>
      <p:graphicFrame>
        <p:nvGraphicFramePr>
          <p:cNvPr id="16387" name="Object 22"/>
          <p:cNvGraphicFramePr>
            <a:graphicFrameLocks noChangeAspect="1"/>
          </p:cNvGraphicFramePr>
          <p:nvPr/>
        </p:nvGraphicFramePr>
        <p:xfrm>
          <a:off x="2863850" y="2760663"/>
          <a:ext cx="1081088" cy="384175"/>
        </p:xfrm>
        <a:graphic>
          <a:graphicData uri="http://schemas.openxmlformats.org/presentationml/2006/ole">
            <mc:AlternateContent xmlns:mc="http://schemas.openxmlformats.org/markup-compatibility/2006">
              <mc:Choice xmlns:v="urn:schemas-microsoft-com:vml" Requires="v">
                <p:oleObj name="Equation" r:id="rId5" imgW="558558" imgH="203112" progId="Equation.DSMT4">
                  <p:embed/>
                </p:oleObj>
              </mc:Choice>
              <mc:Fallback>
                <p:oleObj name="Equation" r:id="rId5" imgW="558558" imgH="203112" progId="Equation.DSMT4">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63850" y="2760663"/>
                        <a:ext cx="1081088"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6388" name="Object 23"/>
          <p:cNvGraphicFramePr>
            <a:graphicFrameLocks noChangeAspect="1"/>
          </p:cNvGraphicFramePr>
          <p:nvPr>
            <p:extLst>
              <p:ext uri="{D42A27DB-BD31-4B8C-83A1-F6EECF244321}">
                <p14:modId xmlns:p14="http://schemas.microsoft.com/office/powerpoint/2010/main" val="2832809465"/>
              </p:ext>
            </p:extLst>
          </p:nvPr>
        </p:nvGraphicFramePr>
        <p:xfrm>
          <a:off x="4208463" y="2760663"/>
          <a:ext cx="984250" cy="371475"/>
        </p:xfrm>
        <a:graphic>
          <a:graphicData uri="http://schemas.openxmlformats.org/presentationml/2006/ole">
            <mc:AlternateContent xmlns:mc="http://schemas.openxmlformats.org/markup-compatibility/2006">
              <mc:Choice xmlns:v="urn:schemas-microsoft-com:vml" Requires="v">
                <p:oleObj name="Equation" r:id="rId7" imgW="533160" imgH="203040" progId="Equation.DSMT4">
                  <p:embed/>
                </p:oleObj>
              </mc:Choice>
              <mc:Fallback>
                <p:oleObj name="Equation" r:id="rId7" imgW="533160" imgH="203040" progId="Equation.DSMT4">
                  <p:embed/>
                  <p:pic>
                    <p:nvPicPr>
                      <p:cNvPr id="0" name="Picture 46"/>
                      <p:cNvPicPr>
                        <a:picLocks noChangeAspect="1" noChangeArrowheads="1"/>
                      </p:cNvPicPr>
                      <p:nvPr/>
                    </p:nvPicPr>
                    <p:blipFill>
                      <a:blip r:embed="rId8"/>
                      <a:srcRect/>
                      <a:stretch>
                        <a:fillRect/>
                      </a:stretch>
                    </p:blipFill>
                    <p:spPr bwMode="auto">
                      <a:xfrm>
                        <a:off x="4208463" y="2760663"/>
                        <a:ext cx="984250" cy="371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04" name="Text Box 24"/>
          <p:cNvSpPr txBox="1">
            <a:spLocks noChangeArrowheads="1"/>
          </p:cNvSpPr>
          <p:nvPr/>
        </p:nvSpPr>
        <p:spPr bwMode="auto">
          <a:xfrm>
            <a:off x="1331913" y="3336925"/>
            <a:ext cx="25400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输入条件：</a:t>
            </a:r>
          </a:p>
        </p:txBody>
      </p:sp>
      <p:sp>
        <p:nvSpPr>
          <p:cNvPr id="46105" name="Rectangle 25"/>
          <p:cNvSpPr>
            <a:spLocks noChangeArrowheads="1"/>
          </p:cNvSpPr>
          <p:nvPr/>
        </p:nvSpPr>
        <p:spPr bwMode="auto">
          <a:xfrm>
            <a:off x="20638" y="29638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6389" name="Object 26"/>
          <p:cNvGraphicFramePr>
            <a:graphicFrameLocks noChangeAspect="1"/>
          </p:cNvGraphicFramePr>
          <p:nvPr/>
        </p:nvGraphicFramePr>
        <p:xfrm>
          <a:off x="3079750" y="3121025"/>
          <a:ext cx="2305050" cy="865188"/>
        </p:xfrm>
        <a:graphic>
          <a:graphicData uri="http://schemas.openxmlformats.org/presentationml/2006/ole">
            <mc:AlternateContent xmlns:mc="http://schemas.openxmlformats.org/markup-compatibility/2006">
              <mc:Choice xmlns:v="urn:schemas-microsoft-com:vml" Requires="v">
                <p:oleObj name="Equation" r:id="rId9" imgW="1219200" imgH="457200" progId="Equation.DSMT4">
                  <p:embed/>
                </p:oleObj>
              </mc:Choice>
              <mc:Fallback>
                <p:oleObj name="Equation" r:id="rId9" imgW="1219200" imgH="457200" progId="Equation.DSMT4">
                  <p:embed/>
                  <p:pic>
                    <p:nvPicPr>
                      <p:cNvPr id="0" name="Picture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079750" y="3121025"/>
                        <a:ext cx="2305050" cy="865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07" name="Text Box 27"/>
          <p:cNvSpPr txBox="1">
            <a:spLocks noChangeArrowheads="1"/>
          </p:cNvSpPr>
          <p:nvPr/>
        </p:nvSpPr>
        <p:spPr bwMode="auto">
          <a:xfrm>
            <a:off x="1331913" y="4127500"/>
            <a:ext cx="146050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p>
        </p:txBody>
      </p:sp>
      <p:sp>
        <p:nvSpPr>
          <p:cNvPr id="46108" name="Rectangle 28"/>
          <p:cNvSpPr>
            <a:spLocks noChangeArrowheads="1"/>
          </p:cNvSpPr>
          <p:nvPr/>
        </p:nvSpPr>
        <p:spPr bwMode="auto">
          <a:xfrm>
            <a:off x="20638" y="30924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6390" name="Object 29"/>
          <p:cNvGraphicFramePr>
            <a:graphicFrameLocks noChangeAspect="1"/>
          </p:cNvGraphicFramePr>
          <p:nvPr/>
        </p:nvGraphicFramePr>
        <p:xfrm>
          <a:off x="2144713" y="4200525"/>
          <a:ext cx="1511300" cy="417513"/>
        </p:xfrm>
        <a:graphic>
          <a:graphicData uri="http://schemas.openxmlformats.org/presentationml/2006/ole">
            <mc:AlternateContent xmlns:mc="http://schemas.openxmlformats.org/markup-compatibility/2006">
              <mc:Choice xmlns:v="urn:schemas-microsoft-com:vml" Requires="v">
                <p:oleObj name="Equation" r:id="rId11" imgW="723586" imgH="203112" progId="Equation.DSMT4">
                  <p:embed/>
                </p:oleObj>
              </mc:Choice>
              <mc:Fallback>
                <p:oleObj name="Equation" r:id="rId11" imgW="723586" imgH="203112" progId="Equation.DSMT4">
                  <p:embed/>
                  <p:pic>
                    <p:nvPicPr>
                      <p:cNvPr id="0" name="Picture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44713" y="4200525"/>
                        <a:ext cx="151130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6110" name="Text Box 30"/>
          <p:cNvSpPr txBox="1">
            <a:spLocks noChangeArrowheads="1"/>
          </p:cNvSpPr>
          <p:nvPr/>
        </p:nvSpPr>
        <p:spPr bwMode="auto">
          <a:xfrm>
            <a:off x="3871913" y="4129088"/>
            <a:ext cx="48244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求</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变换并代入初始条件得到：</a:t>
            </a:r>
          </a:p>
        </p:txBody>
      </p:sp>
      <p:sp>
        <p:nvSpPr>
          <p:cNvPr id="46111" name="Rectangle 31"/>
          <p:cNvSpPr>
            <a:spLocks noChangeArrowheads="1"/>
          </p:cNvSpPr>
          <p:nvPr/>
        </p:nvSpPr>
        <p:spPr bwMode="auto">
          <a:xfrm>
            <a:off x="20638" y="30781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6391" name="Object 32"/>
          <p:cNvGraphicFramePr>
            <a:graphicFrameLocks noChangeAspect="1"/>
          </p:cNvGraphicFramePr>
          <p:nvPr/>
        </p:nvGraphicFramePr>
        <p:xfrm>
          <a:off x="2505075" y="4776788"/>
          <a:ext cx="3816350" cy="500062"/>
        </p:xfrm>
        <a:graphic>
          <a:graphicData uri="http://schemas.openxmlformats.org/presentationml/2006/ole">
            <mc:AlternateContent xmlns:mc="http://schemas.openxmlformats.org/markup-compatibility/2006">
              <mc:Choice xmlns:v="urn:schemas-microsoft-com:vml" Requires="v">
                <p:oleObj name="Equation" r:id="rId13" imgW="1739900" imgH="228600" progId="Equation.DSMT4">
                  <p:embed/>
                </p:oleObj>
              </mc:Choice>
              <mc:Fallback>
                <p:oleObj name="Equation" r:id="rId13" imgW="1739900" imgH="228600" progId="Equation.DSMT4">
                  <p:embed/>
                  <p:pic>
                    <p:nvPicPr>
                      <p:cNvPr id="0"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505075" y="4776788"/>
                        <a:ext cx="3816350" cy="500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17410" name="Object 22"/>
          <p:cNvGraphicFramePr>
            <a:graphicFrameLocks noChangeAspect="1"/>
          </p:cNvGraphicFramePr>
          <p:nvPr/>
        </p:nvGraphicFramePr>
        <p:xfrm>
          <a:off x="2432050" y="1989138"/>
          <a:ext cx="4037013" cy="790575"/>
        </p:xfrm>
        <a:graphic>
          <a:graphicData uri="http://schemas.openxmlformats.org/presentationml/2006/ole">
            <mc:AlternateContent xmlns:mc="http://schemas.openxmlformats.org/markup-compatibility/2006">
              <mc:Choice xmlns:v="urn:schemas-microsoft-com:vml" Requires="v">
                <p:oleObj name="Equation" r:id="rId3" imgW="2146300" imgH="419100" progId="Equation.DSMT4">
                  <p:embed/>
                </p:oleObj>
              </mc:Choice>
              <mc:Fallback>
                <p:oleObj name="Equation" r:id="rId3" imgW="2146300" imgH="4191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050" y="1989138"/>
                        <a:ext cx="4037013" cy="790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27" name="Rectangle 23"/>
          <p:cNvSpPr>
            <a:spLocks noChangeArrowheads="1"/>
          </p:cNvSpPr>
          <p:nvPr/>
        </p:nvSpPr>
        <p:spPr bwMode="auto">
          <a:xfrm>
            <a:off x="20638" y="28082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47128" name="Text Box 24"/>
          <p:cNvSpPr txBox="1">
            <a:spLocks noChangeArrowheads="1"/>
          </p:cNvSpPr>
          <p:nvPr/>
        </p:nvSpPr>
        <p:spPr bwMode="auto">
          <a:xfrm>
            <a:off x="900113" y="1484313"/>
            <a:ext cx="25400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整理得到：</a:t>
            </a:r>
          </a:p>
        </p:txBody>
      </p:sp>
      <p:sp>
        <p:nvSpPr>
          <p:cNvPr id="47129" name="Text Box 25"/>
          <p:cNvSpPr txBox="1">
            <a:spLocks noChangeArrowheads="1"/>
          </p:cNvSpPr>
          <p:nvPr/>
        </p:nvSpPr>
        <p:spPr bwMode="auto">
          <a:xfrm>
            <a:off x="992188" y="2925763"/>
            <a:ext cx="61404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应用留数法直接进行</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反变换，得到</a:t>
            </a:r>
          </a:p>
        </p:txBody>
      </p:sp>
      <p:sp>
        <p:nvSpPr>
          <p:cNvPr id="47130" name="Rectangle 26"/>
          <p:cNvSpPr>
            <a:spLocks noChangeArrowheads="1"/>
          </p:cNvSpPr>
          <p:nvPr/>
        </p:nvSpPr>
        <p:spPr bwMode="auto">
          <a:xfrm>
            <a:off x="20638" y="29797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7411" name="Object 27"/>
          <p:cNvGraphicFramePr>
            <a:graphicFrameLocks noChangeAspect="1"/>
          </p:cNvGraphicFramePr>
          <p:nvPr/>
        </p:nvGraphicFramePr>
        <p:xfrm>
          <a:off x="1423988" y="3429000"/>
          <a:ext cx="7200900" cy="1265238"/>
        </p:xfrm>
        <a:graphic>
          <a:graphicData uri="http://schemas.openxmlformats.org/presentationml/2006/ole">
            <mc:AlternateContent xmlns:mc="http://schemas.openxmlformats.org/markup-compatibility/2006">
              <mc:Choice xmlns:v="urn:schemas-microsoft-com:vml" Requires="v">
                <p:oleObj name="Equation" r:id="rId5" imgW="4025900" imgH="711200" progId="Equation.DSMT4">
                  <p:embed/>
                </p:oleObj>
              </mc:Choice>
              <mc:Fallback>
                <p:oleObj name="Equation" r:id="rId5" imgW="4025900" imgH="7112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23988" y="3429000"/>
                        <a:ext cx="7200900" cy="1265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7132" name="Text Box 28"/>
          <p:cNvSpPr txBox="1">
            <a:spLocks noChangeArrowheads="1"/>
          </p:cNvSpPr>
          <p:nvPr/>
        </p:nvSpPr>
        <p:spPr bwMode="auto">
          <a:xfrm>
            <a:off x="1044575" y="4940300"/>
            <a:ext cx="30432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于是得到：</a:t>
            </a:r>
          </a:p>
        </p:txBody>
      </p:sp>
      <p:sp>
        <p:nvSpPr>
          <p:cNvPr id="47133" name="Rectangle 29"/>
          <p:cNvSpPr>
            <a:spLocks noChangeArrowheads="1"/>
          </p:cNvSpPr>
          <p:nvPr/>
        </p:nvSpPr>
        <p:spPr bwMode="auto">
          <a:xfrm>
            <a:off x="20638" y="29987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7412" name="Object 30"/>
          <p:cNvGraphicFramePr>
            <a:graphicFrameLocks noChangeAspect="1"/>
          </p:cNvGraphicFramePr>
          <p:nvPr/>
        </p:nvGraphicFramePr>
        <p:xfrm>
          <a:off x="2936875" y="4797425"/>
          <a:ext cx="3960813" cy="968375"/>
        </p:xfrm>
        <a:graphic>
          <a:graphicData uri="http://schemas.openxmlformats.org/presentationml/2006/ole">
            <mc:AlternateContent xmlns:mc="http://schemas.openxmlformats.org/markup-compatibility/2006">
              <mc:Choice xmlns:v="urn:schemas-microsoft-com:vml" Requires="v">
                <p:oleObj name="Equation" r:id="rId7" imgW="1752600" imgH="431800" progId="Equation.DSMT4">
                  <p:embed/>
                </p:oleObj>
              </mc:Choice>
              <mc:Fallback>
                <p:oleObj name="Equation" r:id="rId7" imgW="1752600" imgH="4318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6875" y="4797425"/>
                        <a:ext cx="3960813" cy="968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8144" name="Text Box 16"/>
          <p:cNvSpPr txBox="1">
            <a:spLocks noChangeArrowheads="1"/>
          </p:cNvSpPr>
          <p:nvPr/>
        </p:nvSpPr>
        <p:spPr bwMode="auto">
          <a:xfrm>
            <a:off x="1403350" y="1989138"/>
            <a:ext cx="477202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3.6  </a:t>
            </a:r>
            <a:r>
              <a:rPr kumimoji="0" lang="zh-CN" altLang="en-US" sz="2400">
                <a:effectLst>
                  <a:outerShdw blurRad="38100" dist="38100" dir="2700000" algn="tl">
                    <a:srgbClr val="C0C0C0"/>
                  </a:outerShdw>
                </a:effectLst>
              </a:rPr>
              <a:t>用</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变换求解如下差分方程</a:t>
            </a:r>
          </a:p>
        </p:txBody>
      </p:sp>
      <p:graphicFrame>
        <p:nvGraphicFramePr>
          <p:cNvPr id="18434" name="Object 17"/>
          <p:cNvGraphicFramePr>
            <a:graphicFrameLocks noChangeAspect="1"/>
          </p:cNvGraphicFramePr>
          <p:nvPr/>
        </p:nvGraphicFramePr>
        <p:xfrm>
          <a:off x="2338388" y="2565400"/>
          <a:ext cx="4608512" cy="474663"/>
        </p:xfrm>
        <a:graphic>
          <a:graphicData uri="http://schemas.openxmlformats.org/presentationml/2006/ole">
            <mc:AlternateContent xmlns:mc="http://schemas.openxmlformats.org/markup-compatibility/2006">
              <mc:Choice xmlns:v="urn:schemas-microsoft-com:vml" Requires="v">
                <p:oleObj name="Equation" r:id="rId3" imgW="1943100" imgH="203200" progId="Equation.DSMT4">
                  <p:embed/>
                </p:oleObj>
              </mc:Choice>
              <mc:Fallback>
                <p:oleObj name="Equation" r:id="rId3" imgW="1943100" imgH="2032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8388" y="2565400"/>
                        <a:ext cx="4608512"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8146" name="Text Box 18"/>
          <p:cNvSpPr txBox="1">
            <a:spLocks noChangeArrowheads="1"/>
          </p:cNvSpPr>
          <p:nvPr/>
        </p:nvSpPr>
        <p:spPr bwMode="auto">
          <a:xfrm>
            <a:off x="1382713" y="3357563"/>
            <a:ext cx="36210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已知初始条件为</a:t>
            </a:r>
          </a:p>
        </p:txBody>
      </p:sp>
      <p:graphicFrame>
        <p:nvGraphicFramePr>
          <p:cNvPr id="18435" name="Object 19"/>
          <p:cNvGraphicFramePr>
            <a:graphicFrameLocks noChangeAspect="1"/>
          </p:cNvGraphicFramePr>
          <p:nvPr/>
        </p:nvGraphicFramePr>
        <p:xfrm>
          <a:off x="2338388" y="3933825"/>
          <a:ext cx="1081087" cy="444500"/>
        </p:xfrm>
        <a:graphic>
          <a:graphicData uri="http://schemas.openxmlformats.org/presentationml/2006/ole">
            <mc:AlternateContent xmlns:mc="http://schemas.openxmlformats.org/markup-compatibility/2006">
              <mc:Choice xmlns:v="urn:schemas-microsoft-com:vml" Requires="v">
                <p:oleObj name="Equation" r:id="rId5" imgW="482391" imgH="203112" progId="Equation.DSMT4">
                  <p:embed/>
                </p:oleObj>
              </mc:Choice>
              <mc:Fallback>
                <p:oleObj name="Equation" r:id="rId5" imgW="482391" imgH="203112"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8388" y="3933825"/>
                        <a:ext cx="1081087" cy="444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8436" name="Object 20"/>
          <p:cNvGraphicFramePr>
            <a:graphicFrameLocks noChangeAspect="1"/>
          </p:cNvGraphicFramePr>
          <p:nvPr/>
        </p:nvGraphicFramePr>
        <p:xfrm>
          <a:off x="3851275" y="3933825"/>
          <a:ext cx="1225550" cy="458788"/>
        </p:xfrm>
        <a:graphic>
          <a:graphicData uri="http://schemas.openxmlformats.org/presentationml/2006/ole">
            <mc:AlternateContent xmlns:mc="http://schemas.openxmlformats.org/markup-compatibility/2006">
              <mc:Choice xmlns:v="urn:schemas-microsoft-com:vml" Requires="v">
                <p:oleObj name="Equation" r:id="rId7" imgW="533169" imgH="203112" progId="Equation.DSMT4">
                  <p:embed/>
                </p:oleObj>
              </mc:Choice>
              <mc:Fallback>
                <p:oleObj name="Equation" r:id="rId7" imgW="533169" imgH="203112"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851275" y="3933825"/>
                        <a:ext cx="122555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rd"/>
  </p:transition>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49188" name="Rectangle 36"/>
          <p:cNvSpPr>
            <a:spLocks noChangeArrowheads="1"/>
          </p:cNvSpPr>
          <p:nvPr/>
        </p:nvSpPr>
        <p:spPr bwMode="auto">
          <a:xfrm>
            <a:off x="971550" y="3068638"/>
            <a:ext cx="6985000" cy="2016125"/>
          </a:xfrm>
          <a:prstGeom prst="rect">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9189" name="Text Box 37"/>
          <p:cNvSpPr txBox="1">
            <a:spLocks noChangeArrowheads="1"/>
          </p:cNvSpPr>
          <p:nvPr/>
        </p:nvSpPr>
        <p:spPr bwMode="auto">
          <a:xfrm>
            <a:off x="1095375" y="1720850"/>
            <a:ext cx="4413250" cy="519113"/>
          </a:xfrm>
          <a:prstGeom prst="rect">
            <a:avLst/>
          </a:prstGeom>
          <a:noFill/>
          <a:ln w="9525" algn="ctr">
            <a:noFill/>
            <a:miter lim="800000"/>
            <a:headEnd/>
            <a:tailEnd/>
          </a:ln>
          <a:effectLst/>
        </p:spPr>
        <p:txBody>
          <a:bodyPr>
            <a:spAutoFit/>
          </a:bodyPr>
          <a:lstStyle/>
          <a:p>
            <a:pPr>
              <a:defRPr/>
            </a:pPr>
            <a:r>
              <a:rPr kumimoji="0" lang="en-US" altLang="zh-CN" sz="2800" i="1">
                <a:solidFill>
                  <a:srgbClr val="FF0000"/>
                </a:solidFill>
                <a:effectLst>
                  <a:outerShdw blurRad="38100" dist="38100" dir="2700000" algn="tl">
                    <a:srgbClr val="C0C0C0"/>
                  </a:outerShdw>
                </a:effectLst>
              </a:rPr>
              <a:t>z </a:t>
            </a:r>
            <a:r>
              <a:rPr kumimoji="0" lang="zh-CN" altLang="en-US" sz="2800">
                <a:solidFill>
                  <a:srgbClr val="FF0000"/>
                </a:solidFill>
                <a:effectLst>
                  <a:outerShdw blurRad="38100" dist="38100" dir="2700000" algn="tl">
                    <a:srgbClr val="C0C0C0"/>
                  </a:outerShdw>
                </a:effectLst>
              </a:rPr>
              <a:t>变换滞后定理：</a:t>
            </a:r>
          </a:p>
        </p:txBody>
      </p:sp>
      <p:sp>
        <p:nvSpPr>
          <p:cNvPr id="49190" name="Text Box 38"/>
          <p:cNvSpPr txBox="1">
            <a:spLocks noChangeArrowheads="1"/>
          </p:cNvSpPr>
          <p:nvPr/>
        </p:nvSpPr>
        <p:spPr bwMode="auto">
          <a:xfrm>
            <a:off x="1166813" y="2297113"/>
            <a:ext cx="45577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如果</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&lt;0</a:t>
            </a:r>
            <a:r>
              <a:rPr kumimoji="0" lang="zh-CN" altLang="en-US" sz="2400">
                <a:effectLst>
                  <a:outerShdw blurRad="38100" dist="38100" dir="2700000" algn="tl">
                    <a:srgbClr val="C0C0C0"/>
                  </a:outerShdw>
                </a:effectLst>
              </a:rPr>
              <a:t>时，</a:t>
            </a:r>
            <a:r>
              <a:rPr kumimoji="0" lang="en-US" altLang="zh-CN" sz="2400" i="1">
                <a:effectLst>
                  <a:outerShdw blurRad="38100" dist="38100" dir="2700000" algn="tl">
                    <a:srgbClr val="C0C0C0"/>
                  </a:outerShdw>
                </a:effectLst>
              </a:rPr>
              <a:t>f</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)=0</a:t>
            </a:r>
            <a:r>
              <a:rPr kumimoji="0" lang="zh-CN" altLang="en-US" sz="2400">
                <a:effectLst>
                  <a:outerShdw blurRad="38100" dist="38100" dir="2700000" algn="tl">
                    <a:srgbClr val="C0C0C0"/>
                  </a:outerShdw>
                </a:effectLst>
              </a:rPr>
              <a:t>，则</a:t>
            </a:r>
          </a:p>
        </p:txBody>
      </p:sp>
      <p:sp>
        <p:nvSpPr>
          <p:cNvPr id="49191" name="Rectangle 39"/>
          <p:cNvSpPr>
            <a:spLocks noChangeArrowheads="1"/>
          </p:cNvSpPr>
          <p:nvPr/>
        </p:nvSpPr>
        <p:spPr bwMode="auto">
          <a:xfrm>
            <a:off x="0" y="33004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9458" name="Object 40"/>
          <p:cNvGraphicFramePr>
            <a:graphicFrameLocks noChangeAspect="1"/>
          </p:cNvGraphicFramePr>
          <p:nvPr/>
        </p:nvGraphicFramePr>
        <p:xfrm>
          <a:off x="4643438" y="2276475"/>
          <a:ext cx="2808287" cy="488950"/>
        </p:xfrm>
        <a:graphic>
          <a:graphicData uri="http://schemas.openxmlformats.org/presentationml/2006/ole">
            <mc:AlternateContent xmlns:mc="http://schemas.openxmlformats.org/markup-compatibility/2006">
              <mc:Choice xmlns:v="urn:schemas-microsoft-com:vml" Requires="v">
                <p:oleObj name="Equation" r:id="rId3" imgW="1473200" imgH="254000" progId="Equation.DSMT4">
                  <p:embed/>
                </p:oleObj>
              </mc:Choice>
              <mc:Fallback>
                <p:oleObj name="Equation" r:id="rId3" imgW="1473200" imgH="2540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2276475"/>
                        <a:ext cx="280828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9193" name="Text Box 41"/>
          <p:cNvSpPr txBox="1">
            <a:spLocks noChangeArrowheads="1"/>
          </p:cNvSpPr>
          <p:nvPr/>
        </p:nvSpPr>
        <p:spPr bwMode="auto">
          <a:xfrm>
            <a:off x="1187450" y="3213100"/>
            <a:ext cx="455771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如果</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&lt;0</a:t>
            </a:r>
            <a:r>
              <a:rPr kumimoji="0" lang="zh-CN" altLang="en-US" sz="2400">
                <a:effectLst>
                  <a:outerShdw blurRad="38100" dist="38100" dir="2700000" algn="tl">
                    <a:srgbClr val="C0C0C0"/>
                  </a:outerShdw>
                </a:effectLst>
              </a:rPr>
              <a:t>时，              ，则</a:t>
            </a:r>
          </a:p>
        </p:txBody>
      </p:sp>
      <p:graphicFrame>
        <p:nvGraphicFramePr>
          <p:cNvPr id="19459" name="Object 42"/>
          <p:cNvGraphicFramePr>
            <a:graphicFrameLocks noChangeAspect="1"/>
          </p:cNvGraphicFramePr>
          <p:nvPr/>
        </p:nvGraphicFramePr>
        <p:xfrm>
          <a:off x="2843213" y="3284538"/>
          <a:ext cx="1017587" cy="392112"/>
        </p:xfrm>
        <a:graphic>
          <a:graphicData uri="http://schemas.openxmlformats.org/presentationml/2006/ole">
            <mc:AlternateContent xmlns:mc="http://schemas.openxmlformats.org/markup-compatibility/2006">
              <mc:Choice xmlns:v="urn:schemas-microsoft-com:vml" Requires="v">
                <p:oleObj name="Equation" r:id="rId5" imgW="533169" imgH="203112" progId="Equation.DSMT4">
                  <p:embed/>
                </p:oleObj>
              </mc:Choice>
              <mc:Fallback>
                <p:oleObj name="Equation" r:id="rId5" imgW="533169" imgH="203112"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3284538"/>
                        <a:ext cx="1017587"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19460" name="Object 43"/>
          <p:cNvGraphicFramePr>
            <a:graphicFrameLocks noChangeAspect="1"/>
          </p:cNvGraphicFramePr>
          <p:nvPr/>
        </p:nvGraphicFramePr>
        <p:xfrm>
          <a:off x="1692275" y="3860800"/>
          <a:ext cx="4986338" cy="855663"/>
        </p:xfrm>
        <a:graphic>
          <a:graphicData uri="http://schemas.openxmlformats.org/presentationml/2006/ole">
            <mc:AlternateContent xmlns:mc="http://schemas.openxmlformats.org/markup-compatibility/2006">
              <mc:Choice xmlns:v="urn:schemas-microsoft-com:vml" Requires="v">
                <p:oleObj name="Equation" r:id="rId7" imgW="2616200" imgH="444500" progId="Equation.DSMT4">
                  <p:embed/>
                </p:oleObj>
              </mc:Choice>
              <mc:Fallback>
                <p:oleObj name="Equation" r:id="rId7" imgW="2616200" imgH="4445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3860800"/>
                        <a:ext cx="4986338" cy="855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rd"/>
  </p:transition>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0194" name="Text Box 18"/>
          <p:cNvSpPr txBox="1">
            <a:spLocks noChangeArrowheads="1"/>
          </p:cNvSpPr>
          <p:nvPr/>
        </p:nvSpPr>
        <p:spPr bwMode="auto">
          <a:xfrm>
            <a:off x="1116013" y="1916113"/>
            <a:ext cx="59039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由</a:t>
            </a:r>
            <a:r>
              <a:rPr kumimoji="0" lang="en-US" altLang="zh-CN" sz="2400" i="1">
                <a:effectLst>
                  <a:outerShdw blurRad="38100" dist="38100" dir="2700000" algn="tl">
                    <a:srgbClr val="C0C0C0"/>
                  </a:outerShdw>
                </a:effectLst>
              </a:rPr>
              <a:t>z</a:t>
            </a:r>
            <a:r>
              <a:rPr kumimoji="0" lang="zh-CN" altLang="en-US" sz="2400">
                <a:effectLst>
                  <a:outerShdw blurRad="38100" dist="38100" dir="2700000" algn="tl">
                    <a:srgbClr val="C0C0C0"/>
                  </a:outerShdw>
                </a:effectLst>
              </a:rPr>
              <a:t>变换滞后定理得到：</a:t>
            </a:r>
          </a:p>
        </p:txBody>
      </p:sp>
      <p:sp>
        <p:nvSpPr>
          <p:cNvPr id="50195" name="Rectangle 19"/>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482" name="Object 20"/>
          <p:cNvGraphicFramePr>
            <a:graphicFrameLocks noChangeAspect="1"/>
          </p:cNvGraphicFramePr>
          <p:nvPr/>
        </p:nvGraphicFramePr>
        <p:xfrm>
          <a:off x="2555875" y="2565400"/>
          <a:ext cx="2087563" cy="438150"/>
        </p:xfrm>
        <a:graphic>
          <a:graphicData uri="http://schemas.openxmlformats.org/presentationml/2006/ole">
            <mc:AlternateContent xmlns:mc="http://schemas.openxmlformats.org/markup-compatibility/2006">
              <mc:Choice xmlns:v="urn:schemas-microsoft-com:vml" Requires="v">
                <p:oleObj name="Equation" r:id="rId3" imgW="952087" imgH="203112" progId="Equation.DSMT4">
                  <p:embed/>
                </p:oleObj>
              </mc:Choice>
              <mc:Fallback>
                <p:oleObj name="Equation" r:id="rId3" imgW="952087" imgH="203112"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565400"/>
                        <a:ext cx="2087563"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7" name="Rectangle 21"/>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483" name="Object 22"/>
          <p:cNvGraphicFramePr>
            <a:graphicFrameLocks noChangeAspect="1"/>
          </p:cNvGraphicFramePr>
          <p:nvPr/>
        </p:nvGraphicFramePr>
        <p:xfrm>
          <a:off x="2555875" y="3141663"/>
          <a:ext cx="3889375" cy="498475"/>
        </p:xfrm>
        <a:graphic>
          <a:graphicData uri="http://schemas.openxmlformats.org/presentationml/2006/ole">
            <mc:AlternateContent xmlns:mc="http://schemas.openxmlformats.org/markup-compatibility/2006">
              <mc:Choice xmlns:v="urn:schemas-microsoft-com:vml" Requires="v">
                <p:oleObj name="Equation" r:id="rId5" imgW="1778000" imgH="228600" progId="Equation.DSMT4">
                  <p:embed/>
                </p:oleObj>
              </mc:Choice>
              <mc:Fallback>
                <p:oleObj name="Equation" r:id="rId5" imgW="1778000" imgH="2286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5875" y="3141663"/>
                        <a:ext cx="3889375"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199" name="Rectangle 23"/>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0484" name="Object 24"/>
          <p:cNvGraphicFramePr>
            <a:graphicFrameLocks noChangeAspect="1"/>
          </p:cNvGraphicFramePr>
          <p:nvPr/>
        </p:nvGraphicFramePr>
        <p:xfrm>
          <a:off x="2555875" y="3860800"/>
          <a:ext cx="5473700" cy="508000"/>
        </p:xfrm>
        <a:graphic>
          <a:graphicData uri="http://schemas.openxmlformats.org/presentationml/2006/ole">
            <mc:AlternateContent xmlns:mc="http://schemas.openxmlformats.org/markup-compatibility/2006">
              <mc:Choice xmlns:v="urn:schemas-microsoft-com:vml" Requires="v">
                <p:oleObj name="Equation" r:id="rId7" imgW="2463800" imgH="228600" progId="Equation.DSMT4">
                  <p:embed/>
                </p:oleObj>
              </mc:Choice>
              <mc:Fallback>
                <p:oleObj name="Equation" r:id="rId7" imgW="2463800" imgH="2286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3860800"/>
                        <a:ext cx="5473700"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0201" name="Text Box 25"/>
          <p:cNvSpPr txBox="1">
            <a:spLocks noChangeArrowheads="1"/>
          </p:cNvSpPr>
          <p:nvPr/>
        </p:nvSpPr>
        <p:spPr bwMode="auto">
          <a:xfrm>
            <a:off x="1239838" y="4745038"/>
            <a:ext cx="70770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式中的</a:t>
            </a:r>
            <a:r>
              <a:rPr kumimoji="0" lang="en-US" altLang="zh-CN" sz="2400" i="1">
                <a:solidFill>
                  <a:srgbClr val="FF0000"/>
                </a:solidFill>
                <a:effectLst>
                  <a:outerShdw blurRad="38100" dist="38100" dir="2700000" algn="tl">
                    <a:srgbClr val="C0C0C0"/>
                  </a:outerShdw>
                </a:effectLst>
              </a:rPr>
              <a:t>u</a:t>
            </a:r>
            <a:r>
              <a:rPr kumimoji="0" lang="en-US" altLang="zh-CN" sz="2400">
                <a:solidFill>
                  <a:srgbClr val="FF0000"/>
                </a:solidFill>
                <a:effectLst>
                  <a:outerShdw blurRad="38100" dist="38100" dir="2700000" algn="tl">
                    <a:srgbClr val="C0C0C0"/>
                  </a:outerShdw>
                </a:effectLst>
              </a:rPr>
              <a:t>(-1)</a:t>
            </a:r>
            <a:r>
              <a:rPr kumimoji="0" lang="zh-CN" altLang="en-US" sz="2400">
                <a:solidFill>
                  <a:srgbClr val="FF0000"/>
                </a:solidFill>
                <a:effectLst>
                  <a:outerShdw blurRad="38100" dist="38100" dir="2700000" algn="tl">
                    <a:srgbClr val="C0C0C0"/>
                  </a:outerShdw>
                </a:effectLst>
              </a:rPr>
              <a:t>，</a:t>
            </a:r>
            <a:r>
              <a:rPr kumimoji="0" lang="en-US" altLang="zh-CN" sz="2400" i="1">
                <a:solidFill>
                  <a:srgbClr val="FF0000"/>
                </a:solidFill>
                <a:effectLst>
                  <a:outerShdw blurRad="38100" dist="38100" dir="2700000" algn="tl">
                    <a:srgbClr val="C0C0C0"/>
                  </a:outerShdw>
                </a:effectLst>
              </a:rPr>
              <a:t>u</a:t>
            </a:r>
            <a:r>
              <a:rPr kumimoji="0" lang="en-US" altLang="zh-CN" sz="2400">
                <a:solidFill>
                  <a:srgbClr val="FF0000"/>
                </a:solidFill>
                <a:effectLst>
                  <a:outerShdw blurRad="38100" dist="38100" dir="2700000" algn="tl">
                    <a:srgbClr val="C0C0C0"/>
                  </a:outerShdw>
                </a:effectLst>
              </a:rPr>
              <a:t>(-2)</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可由原式和初始条件解出。</a:t>
            </a:r>
          </a:p>
        </p:txBody>
      </p:sp>
    </p:spTree>
  </p:cSld>
  <p:clrMapOvr>
    <a:masterClrMapping/>
  </p:clrMapOvr>
  <p:transition>
    <p:cover dir="rd"/>
  </p:transition>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21506" name="Object 11"/>
          <p:cNvGraphicFramePr>
            <a:graphicFrameLocks noChangeAspect="1"/>
          </p:cNvGraphicFramePr>
          <p:nvPr/>
        </p:nvGraphicFramePr>
        <p:xfrm>
          <a:off x="1690688" y="1412875"/>
          <a:ext cx="720725" cy="369888"/>
        </p:xfrm>
        <a:graphic>
          <a:graphicData uri="http://schemas.openxmlformats.org/presentationml/2006/ole">
            <mc:AlternateContent xmlns:mc="http://schemas.openxmlformats.org/markup-compatibility/2006">
              <mc:Choice xmlns:v="urn:schemas-microsoft-com:vml" Requires="v">
                <p:oleObj name="Equation" r:id="rId3" imgW="355138" imgH="177569" progId="Equation.DSMT4">
                  <p:embed/>
                </p:oleObj>
              </mc:Choice>
              <mc:Fallback>
                <p:oleObj name="Equation" r:id="rId3" imgW="355138" imgH="177569" progId="Equation.DSMT4">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0688" y="1412875"/>
                        <a:ext cx="720725" cy="369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7" name="Object 12"/>
          <p:cNvGraphicFramePr>
            <a:graphicFrameLocks noChangeAspect="1"/>
          </p:cNvGraphicFramePr>
          <p:nvPr/>
        </p:nvGraphicFramePr>
        <p:xfrm>
          <a:off x="2843213" y="1412875"/>
          <a:ext cx="3384550" cy="452438"/>
        </p:xfrm>
        <a:graphic>
          <a:graphicData uri="http://schemas.openxmlformats.org/presentationml/2006/ole">
            <mc:AlternateContent xmlns:mc="http://schemas.openxmlformats.org/markup-compatibility/2006">
              <mc:Choice xmlns:v="urn:schemas-microsoft-com:vml" Requires="v">
                <p:oleObj name="Equation" r:id="rId5" imgW="1497950" imgH="203112" progId="Equation.DSMT4">
                  <p:embed/>
                </p:oleObj>
              </mc:Choice>
              <mc:Fallback>
                <p:oleObj name="Equation" r:id="rId5" imgW="1497950" imgH="203112" progId="Equation.DSMT4">
                  <p:embed/>
                  <p:pic>
                    <p:nvPicPr>
                      <p:cNvPr id="0" name="Picture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1412875"/>
                        <a:ext cx="3384550" cy="4524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8" name="Object 13"/>
          <p:cNvGraphicFramePr>
            <a:graphicFrameLocks noChangeAspect="1"/>
          </p:cNvGraphicFramePr>
          <p:nvPr/>
        </p:nvGraphicFramePr>
        <p:xfrm>
          <a:off x="2771775" y="1916113"/>
          <a:ext cx="4103688" cy="762000"/>
        </p:xfrm>
        <a:graphic>
          <a:graphicData uri="http://schemas.openxmlformats.org/presentationml/2006/ole">
            <mc:AlternateContent xmlns:mc="http://schemas.openxmlformats.org/markup-compatibility/2006">
              <mc:Choice xmlns:v="urn:schemas-microsoft-com:vml" Requires="v">
                <p:oleObj name="Equation" r:id="rId7" imgW="2108200" imgH="393700" progId="Equation.DSMT4">
                  <p:embed/>
                </p:oleObj>
              </mc:Choice>
              <mc:Fallback>
                <p:oleObj name="Equation" r:id="rId7" imgW="2108200" imgH="393700" progId="Equation.DSMT4">
                  <p:embed/>
                  <p:pic>
                    <p:nvPicPr>
                      <p:cNvPr id="0" name="Picture 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1775" y="1916113"/>
                        <a:ext cx="4103688" cy="762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09" name="Object 14"/>
          <p:cNvGraphicFramePr>
            <a:graphicFrameLocks noChangeAspect="1"/>
          </p:cNvGraphicFramePr>
          <p:nvPr/>
        </p:nvGraphicFramePr>
        <p:xfrm>
          <a:off x="1763713" y="2781300"/>
          <a:ext cx="719137" cy="390525"/>
        </p:xfrm>
        <a:graphic>
          <a:graphicData uri="http://schemas.openxmlformats.org/presentationml/2006/ole">
            <mc:AlternateContent xmlns:mc="http://schemas.openxmlformats.org/markup-compatibility/2006">
              <mc:Choice xmlns:v="urn:schemas-microsoft-com:vml" Requires="v">
                <p:oleObj name="Equation" r:id="rId9" imgW="329914" imgH="177646" progId="Equation.DSMT4">
                  <p:embed/>
                </p:oleObj>
              </mc:Choice>
              <mc:Fallback>
                <p:oleObj name="Equation" r:id="rId9" imgW="329914" imgH="177646" progId="Equation.DSMT4">
                  <p:embed/>
                  <p:pic>
                    <p:nvPicPr>
                      <p:cNvPr id="0" name="Picture 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63713" y="2781300"/>
                        <a:ext cx="719137" cy="3905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0" name="Object 15"/>
          <p:cNvGraphicFramePr>
            <a:graphicFrameLocks noChangeAspect="1"/>
          </p:cNvGraphicFramePr>
          <p:nvPr/>
        </p:nvGraphicFramePr>
        <p:xfrm>
          <a:off x="2843213" y="2781300"/>
          <a:ext cx="3600450" cy="458788"/>
        </p:xfrm>
        <a:graphic>
          <a:graphicData uri="http://schemas.openxmlformats.org/presentationml/2006/ole">
            <mc:AlternateContent xmlns:mc="http://schemas.openxmlformats.org/markup-compatibility/2006">
              <mc:Choice xmlns:v="urn:schemas-microsoft-com:vml" Requires="v">
                <p:oleObj name="Equation" r:id="rId11" imgW="1574800" imgH="203200" progId="Equation.DSMT4">
                  <p:embed/>
                </p:oleObj>
              </mc:Choice>
              <mc:Fallback>
                <p:oleObj name="Equation" r:id="rId11" imgW="1574800" imgH="203200" progId="Equation.DSMT4">
                  <p:embed/>
                  <p:pic>
                    <p:nvPicPr>
                      <p:cNvPr id="0" name="Picture 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43213" y="2781300"/>
                        <a:ext cx="360045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1" name="Object 16"/>
          <p:cNvGraphicFramePr>
            <a:graphicFrameLocks noChangeAspect="1"/>
          </p:cNvGraphicFramePr>
          <p:nvPr/>
        </p:nvGraphicFramePr>
        <p:xfrm>
          <a:off x="1763713" y="4221163"/>
          <a:ext cx="719137" cy="369887"/>
        </p:xfrm>
        <a:graphic>
          <a:graphicData uri="http://schemas.openxmlformats.org/presentationml/2006/ole">
            <mc:AlternateContent xmlns:mc="http://schemas.openxmlformats.org/markup-compatibility/2006">
              <mc:Choice xmlns:v="urn:schemas-microsoft-com:vml" Requires="v">
                <p:oleObj name="Equation" r:id="rId13" imgW="355138" imgH="177569" progId="Equation.DSMT4">
                  <p:embed/>
                </p:oleObj>
              </mc:Choice>
              <mc:Fallback>
                <p:oleObj name="Equation" r:id="rId13" imgW="355138" imgH="177569" progId="Equation.DSMT4">
                  <p:embed/>
                  <p:pic>
                    <p:nvPicPr>
                      <p:cNvPr id="0" name="Picture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763713" y="4221163"/>
                        <a:ext cx="719137" cy="369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2" name="Object 17"/>
          <p:cNvGraphicFramePr>
            <a:graphicFrameLocks noChangeAspect="1"/>
          </p:cNvGraphicFramePr>
          <p:nvPr/>
        </p:nvGraphicFramePr>
        <p:xfrm>
          <a:off x="2916238" y="3357563"/>
          <a:ext cx="3095625" cy="769937"/>
        </p:xfrm>
        <a:graphic>
          <a:graphicData uri="http://schemas.openxmlformats.org/presentationml/2006/ole">
            <mc:AlternateContent xmlns:mc="http://schemas.openxmlformats.org/markup-compatibility/2006">
              <mc:Choice xmlns:v="urn:schemas-microsoft-com:vml" Requires="v">
                <p:oleObj name="Equation" r:id="rId15" imgW="1574800" imgH="393700" progId="Equation.DSMT4">
                  <p:embed/>
                </p:oleObj>
              </mc:Choice>
              <mc:Fallback>
                <p:oleObj name="Equation" r:id="rId15" imgW="1574800" imgH="393700" progId="Equation.DSMT4">
                  <p:embed/>
                  <p:pic>
                    <p:nvPicPr>
                      <p:cNvPr id="0" name="Picture 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2916238" y="3357563"/>
                        <a:ext cx="3095625" cy="7699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3" name="Object 18"/>
          <p:cNvGraphicFramePr>
            <a:graphicFrameLocks noChangeAspect="1"/>
          </p:cNvGraphicFramePr>
          <p:nvPr/>
        </p:nvGraphicFramePr>
        <p:xfrm>
          <a:off x="2843213" y="4221163"/>
          <a:ext cx="3887787" cy="461962"/>
        </p:xfrm>
        <a:graphic>
          <a:graphicData uri="http://schemas.openxmlformats.org/presentationml/2006/ole">
            <mc:AlternateContent xmlns:mc="http://schemas.openxmlformats.org/markup-compatibility/2006">
              <mc:Choice xmlns:v="urn:schemas-microsoft-com:vml" Requires="v">
                <p:oleObj name="Equation" r:id="rId17" imgW="1688367" imgH="203112" progId="Equation.DSMT4">
                  <p:embed/>
                </p:oleObj>
              </mc:Choice>
              <mc:Fallback>
                <p:oleObj name="Equation" r:id="rId17" imgW="1688367" imgH="203112" progId="Equation.DSMT4">
                  <p:embed/>
                  <p:pic>
                    <p:nvPicPr>
                      <p:cNvPr id="0" name="Picture 7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2843213" y="4221163"/>
                        <a:ext cx="3887787" cy="4619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1514" name="Object 19"/>
          <p:cNvGraphicFramePr>
            <a:graphicFrameLocks noChangeAspect="1"/>
          </p:cNvGraphicFramePr>
          <p:nvPr/>
        </p:nvGraphicFramePr>
        <p:xfrm>
          <a:off x="2843213" y="4797425"/>
          <a:ext cx="3167062" cy="701675"/>
        </p:xfrm>
        <a:graphic>
          <a:graphicData uri="http://schemas.openxmlformats.org/presentationml/2006/ole">
            <mc:AlternateContent xmlns:mc="http://schemas.openxmlformats.org/markup-compatibility/2006">
              <mc:Choice xmlns:v="urn:schemas-microsoft-com:vml" Requires="v">
                <p:oleObj name="Equation" r:id="rId19" imgW="1765300" imgH="393700" progId="Equation.DSMT4">
                  <p:embed/>
                </p:oleObj>
              </mc:Choice>
              <mc:Fallback>
                <p:oleObj name="Equation" r:id="rId19" imgW="1765300" imgH="393700" progId="Equation.DSMT4">
                  <p:embed/>
                  <p:pic>
                    <p:nvPicPr>
                      <p:cNvPr id="0" name="Picture 7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843213" y="4797425"/>
                        <a:ext cx="3167062" cy="701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rd"/>
  </p:transition>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25963" name="Text Box 11"/>
          <p:cNvSpPr txBox="1">
            <a:spLocks noChangeArrowheads="1"/>
          </p:cNvSpPr>
          <p:nvPr/>
        </p:nvSpPr>
        <p:spPr bwMode="auto">
          <a:xfrm>
            <a:off x="971550" y="1484313"/>
            <a:ext cx="297338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于是得到：</a:t>
            </a:r>
          </a:p>
        </p:txBody>
      </p:sp>
      <p:sp>
        <p:nvSpPr>
          <p:cNvPr id="125964" name="Rectangle 12"/>
          <p:cNvSpPr>
            <a:spLocks noChangeArrowheads="1"/>
          </p:cNvSpPr>
          <p:nvPr/>
        </p:nvSpPr>
        <p:spPr bwMode="auto">
          <a:xfrm>
            <a:off x="20638" y="3098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2530" name="Object 13"/>
          <p:cNvGraphicFramePr>
            <a:graphicFrameLocks noChangeAspect="1"/>
          </p:cNvGraphicFramePr>
          <p:nvPr/>
        </p:nvGraphicFramePr>
        <p:xfrm>
          <a:off x="1208088" y="2060575"/>
          <a:ext cx="7200900" cy="439738"/>
        </p:xfrm>
        <a:graphic>
          <a:graphicData uri="http://schemas.openxmlformats.org/presentationml/2006/ole">
            <mc:AlternateContent xmlns:mc="http://schemas.openxmlformats.org/markup-compatibility/2006">
              <mc:Choice xmlns:v="urn:schemas-microsoft-com:vml" Requires="v">
                <p:oleObj name="Equation" r:id="rId3" imgW="3746500" imgH="228600" progId="Equation.DSMT4">
                  <p:embed/>
                </p:oleObj>
              </mc:Choice>
              <mc:Fallback>
                <p:oleObj name="Equation" r:id="rId3" imgW="3746500" imgH="2286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08088" y="2060575"/>
                        <a:ext cx="7200900" cy="4397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6" name="Text Box 14"/>
          <p:cNvSpPr txBox="1">
            <a:spLocks noChangeArrowheads="1"/>
          </p:cNvSpPr>
          <p:nvPr/>
        </p:nvSpPr>
        <p:spPr bwMode="auto">
          <a:xfrm>
            <a:off x="1044575" y="2565400"/>
            <a:ext cx="43402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代入初始条件整理得：</a:t>
            </a:r>
          </a:p>
        </p:txBody>
      </p:sp>
      <p:sp>
        <p:nvSpPr>
          <p:cNvPr id="125967" name="Rectangle 15"/>
          <p:cNvSpPr>
            <a:spLocks noChangeArrowheads="1"/>
          </p:cNvSpPr>
          <p:nvPr/>
        </p:nvSpPr>
        <p:spPr bwMode="auto">
          <a:xfrm>
            <a:off x="20638" y="29892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2531" name="Object 16"/>
          <p:cNvGraphicFramePr>
            <a:graphicFrameLocks noChangeAspect="1"/>
          </p:cNvGraphicFramePr>
          <p:nvPr/>
        </p:nvGraphicFramePr>
        <p:xfrm>
          <a:off x="2647950" y="3068638"/>
          <a:ext cx="3168650" cy="881062"/>
        </p:xfrm>
        <a:graphic>
          <a:graphicData uri="http://schemas.openxmlformats.org/presentationml/2006/ole">
            <mc:AlternateContent xmlns:mc="http://schemas.openxmlformats.org/markup-compatibility/2006">
              <mc:Choice xmlns:v="urn:schemas-microsoft-com:vml" Requires="v">
                <p:oleObj name="Equation" r:id="rId5" imgW="1612900" imgH="444500" progId="Equation.DSMT4">
                  <p:embed/>
                </p:oleObj>
              </mc:Choice>
              <mc:Fallback>
                <p:oleObj name="Equation" r:id="rId5" imgW="1612900" imgH="4445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647950" y="3068638"/>
                        <a:ext cx="3168650" cy="881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5969" name="Text Box 17"/>
          <p:cNvSpPr txBox="1">
            <a:spLocks noChangeArrowheads="1"/>
          </p:cNvSpPr>
          <p:nvPr/>
        </p:nvSpPr>
        <p:spPr bwMode="auto">
          <a:xfrm>
            <a:off x="1116013" y="4025900"/>
            <a:ext cx="72215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利用部分分式法进行</a:t>
            </a:r>
            <a:r>
              <a:rPr kumimoji="0" lang="en-US" altLang="zh-CN" sz="2400">
                <a:effectLst>
                  <a:outerShdw blurRad="38100" dist="38100" dir="2700000" algn="tl">
                    <a:srgbClr val="C0C0C0"/>
                  </a:outerShdw>
                </a:effectLst>
              </a:rPr>
              <a:t>z</a:t>
            </a:r>
            <a:r>
              <a:rPr kumimoji="0" lang="zh-CN" altLang="en-US" sz="2400">
                <a:effectLst>
                  <a:outerShdw blurRad="38100" dist="38100" dir="2700000" algn="tl">
                    <a:srgbClr val="C0C0C0"/>
                  </a:outerShdw>
                </a:effectLst>
              </a:rPr>
              <a:t>反变换，最终得到：</a:t>
            </a:r>
          </a:p>
        </p:txBody>
      </p:sp>
      <p:sp>
        <p:nvSpPr>
          <p:cNvPr id="125970" name="Rectangle 18"/>
          <p:cNvSpPr>
            <a:spLocks noChangeArrowheads="1"/>
          </p:cNvSpPr>
          <p:nvPr/>
        </p:nvSpPr>
        <p:spPr bwMode="auto">
          <a:xfrm>
            <a:off x="20638" y="29987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22532" name="Object 19"/>
          <p:cNvGraphicFramePr>
            <a:graphicFrameLocks noChangeAspect="1"/>
          </p:cNvGraphicFramePr>
          <p:nvPr/>
        </p:nvGraphicFramePr>
        <p:xfrm>
          <a:off x="2360613" y="4652963"/>
          <a:ext cx="4752975" cy="909637"/>
        </p:xfrm>
        <a:graphic>
          <a:graphicData uri="http://schemas.openxmlformats.org/presentationml/2006/ole">
            <mc:AlternateContent xmlns:mc="http://schemas.openxmlformats.org/markup-compatibility/2006">
              <mc:Choice xmlns:v="urn:schemas-microsoft-com:vml" Requires="v">
                <p:oleObj name="Equation" r:id="rId7" imgW="2235200" imgH="431800" progId="Equation.DSMT4">
                  <p:embed/>
                </p:oleObj>
              </mc:Choice>
              <mc:Fallback>
                <p:oleObj name="Equation" r:id="rId7" imgW="2235200" imgH="4318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60613" y="4652963"/>
                        <a:ext cx="4752975" cy="909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124938" name="Text Box 10"/>
          <p:cNvSpPr txBox="1">
            <a:spLocks noChangeArrowheads="1"/>
          </p:cNvSpPr>
          <p:nvPr/>
        </p:nvSpPr>
        <p:spPr bwMode="auto">
          <a:xfrm>
            <a:off x="1042988" y="2708275"/>
            <a:ext cx="5761037" cy="457200"/>
          </a:xfrm>
          <a:prstGeom prst="rect">
            <a:avLst/>
          </a:prstGeom>
          <a:noFill/>
          <a:ln w="9525">
            <a:noFill/>
            <a:miter lim="800000"/>
            <a:headEnd/>
            <a:tailEnd/>
          </a:ln>
          <a:effectLst/>
        </p:spPr>
        <p:txBody>
          <a:bodyPr>
            <a:spAutoFit/>
          </a:bodyPr>
          <a:lstStyle/>
          <a:p>
            <a:pPr>
              <a:spcBef>
                <a:spcPct val="50000"/>
              </a:spcBef>
              <a:defRPr/>
            </a:pPr>
            <a:r>
              <a:rPr kumimoji="0" lang="zh-CN" altLang="en-US" sz="2400" dirty="0">
                <a:effectLst>
                  <a:outerShdw blurRad="38100" dist="38100" dir="2700000" algn="tl">
                    <a:srgbClr val="C0C0C0"/>
                  </a:outerShdw>
                </a:effectLst>
              </a:rPr>
              <a:t>用</a:t>
            </a:r>
            <a:r>
              <a:rPr kumimoji="0" lang="en-US" altLang="zh-CN" sz="2400" i="1" dirty="0">
                <a:effectLst>
                  <a:outerShdw blurRad="38100" dist="38100" dir="2700000" algn="tl">
                    <a:srgbClr val="C0C0C0"/>
                  </a:outerShdw>
                </a:effectLst>
              </a:rPr>
              <a:t>z</a:t>
            </a:r>
            <a:r>
              <a:rPr kumimoji="0" lang="zh-CN" altLang="en-US" sz="2400" dirty="0">
                <a:effectLst>
                  <a:outerShdw blurRad="38100" dist="38100" dir="2700000" algn="tl">
                    <a:srgbClr val="C0C0C0"/>
                  </a:outerShdw>
                </a:effectLst>
              </a:rPr>
              <a:t>变换方法求解下列差分方程：</a:t>
            </a:r>
          </a:p>
        </p:txBody>
      </p:sp>
      <p:graphicFrame>
        <p:nvGraphicFramePr>
          <p:cNvPr id="23554" name="Object 11"/>
          <p:cNvGraphicFramePr>
            <a:graphicFrameLocks noChangeAspect="1"/>
          </p:cNvGraphicFramePr>
          <p:nvPr/>
        </p:nvGraphicFramePr>
        <p:xfrm>
          <a:off x="1547813" y="4652963"/>
          <a:ext cx="5400675" cy="490537"/>
        </p:xfrm>
        <a:graphic>
          <a:graphicData uri="http://schemas.openxmlformats.org/presentationml/2006/ole">
            <mc:AlternateContent xmlns:mc="http://schemas.openxmlformats.org/markup-compatibility/2006">
              <mc:Choice xmlns:v="urn:schemas-microsoft-com:vml" Requires="v">
                <p:oleObj name="Equation" r:id="rId4" imgW="2235200" imgH="203200" progId="Equation.DSMT4">
                  <p:embed/>
                </p:oleObj>
              </mc:Choice>
              <mc:Fallback>
                <p:oleObj name="Equation" r:id="rId4" imgW="2235200" imgH="203200" progId="Equation.DSMT4">
                  <p:embed/>
                  <p:pic>
                    <p:nvPicPr>
                      <p:cNvPr id="0" name="Picture 16"/>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547813" y="4652963"/>
                        <a:ext cx="5400675" cy="490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3555" name="Object 12"/>
          <p:cNvGraphicFramePr>
            <a:graphicFrameLocks noChangeAspect="1"/>
          </p:cNvGraphicFramePr>
          <p:nvPr>
            <p:extLst>
              <p:ext uri="{D42A27DB-BD31-4B8C-83A1-F6EECF244321}">
                <p14:modId xmlns:p14="http://schemas.microsoft.com/office/powerpoint/2010/main" val="1284835525"/>
              </p:ext>
            </p:extLst>
          </p:nvPr>
        </p:nvGraphicFramePr>
        <p:xfrm>
          <a:off x="1533525" y="3284538"/>
          <a:ext cx="5573713" cy="1030287"/>
        </p:xfrm>
        <a:graphic>
          <a:graphicData uri="http://schemas.openxmlformats.org/presentationml/2006/ole">
            <mc:AlternateContent xmlns:mc="http://schemas.openxmlformats.org/markup-compatibility/2006">
              <mc:Choice xmlns:v="urn:schemas-microsoft-com:vml" Requires="v">
                <p:oleObj name="Equation" r:id="rId6" imgW="2336760" imgH="431640" progId="Equation.DSMT4">
                  <p:embed/>
                </p:oleObj>
              </mc:Choice>
              <mc:Fallback>
                <p:oleObj name="Equation" r:id="rId6" imgW="2336760" imgH="431640" progId="Equation.DSMT4">
                  <p:embed/>
                  <p:pic>
                    <p:nvPicPr>
                      <p:cNvPr id="0" name="Picture 17"/>
                      <p:cNvPicPr>
                        <a:picLocks noChangeAspect="1" noChangeArrowheads="1"/>
                      </p:cNvPicPr>
                      <p:nvPr/>
                    </p:nvPicPr>
                    <p:blipFill>
                      <a:blip r:embed="rId7"/>
                      <a:srcRect/>
                      <a:stretch>
                        <a:fillRect/>
                      </a:stretch>
                    </p:blipFill>
                    <p:spPr bwMode="auto">
                      <a:xfrm>
                        <a:off x="1533525" y="3284538"/>
                        <a:ext cx="5573713" cy="1030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24941" name="Text Box 13"/>
          <p:cNvSpPr txBox="1">
            <a:spLocks noChangeArrowheads="1"/>
          </p:cNvSpPr>
          <p:nvPr/>
        </p:nvSpPr>
        <p:spPr bwMode="auto">
          <a:xfrm>
            <a:off x="1116013" y="1700213"/>
            <a:ext cx="2540000" cy="641350"/>
          </a:xfrm>
          <a:prstGeom prst="rect">
            <a:avLst/>
          </a:prstGeom>
          <a:noFill/>
          <a:ln w="9525" algn="ctr">
            <a:noFill/>
            <a:miter lim="800000"/>
            <a:headEnd/>
            <a:tailEnd/>
          </a:ln>
          <a:effectLst/>
        </p:spPr>
        <p:txBody>
          <a:bodyPr>
            <a:spAutoFit/>
          </a:bodyPr>
          <a:lstStyle/>
          <a:p>
            <a:pPr>
              <a:defRPr/>
            </a:pPr>
            <a:r>
              <a:rPr kumimoji="0" lang="zh-CN" altLang="en-US" sz="3600">
                <a:solidFill>
                  <a:srgbClr val="0000FF"/>
                </a:solidFill>
                <a:effectLst>
                  <a:outerShdw blurRad="38100" dist="38100" dir="2700000" algn="tl">
                    <a:srgbClr val="C0C0C0"/>
                  </a:outerShdw>
                </a:effectLst>
              </a:rPr>
              <a:t>练习题：</a:t>
            </a:r>
          </a:p>
        </p:txBody>
      </p:sp>
    </p:spTree>
  </p:cSld>
  <p:clrMapOvr>
    <a:masterClrMapping/>
  </p:clrMapOvr>
  <p:transition>
    <p:cover dir="ld"/>
  </p:transition>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53282" name="Text Box 34"/>
          <p:cNvSpPr txBox="1">
            <a:spLocks noChangeArrowheads="1"/>
          </p:cNvSpPr>
          <p:nvPr/>
        </p:nvSpPr>
        <p:spPr bwMode="auto">
          <a:xfrm>
            <a:off x="611188" y="260350"/>
            <a:ext cx="7632700" cy="701675"/>
          </a:xfrm>
          <a:prstGeom prst="rect">
            <a:avLst/>
          </a:prstGeom>
          <a:noFill/>
          <a:ln w="9525">
            <a:noFill/>
            <a:miter lim="800000"/>
            <a:headEnd/>
            <a:tailEnd/>
          </a:ln>
          <a:effectLst/>
        </p:spPr>
        <p:txBody>
          <a:bodyPr>
            <a:spAutoFit/>
          </a:bodyPr>
          <a:lstStyle/>
          <a:p>
            <a:pPr>
              <a:defRPr/>
            </a:pPr>
            <a:r>
              <a:rPr kumimoji="0" lang="en-US" altLang="zh-CN" sz="4000">
                <a:solidFill>
                  <a:srgbClr val="FF0000"/>
                </a:solidFill>
                <a:effectLst>
                  <a:outerShdw blurRad="38100" dist="38100" dir="2700000" algn="tl">
                    <a:srgbClr val="C0C0C0"/>
                  </a:outerShdw>
                </a:effectLst>
                <a:latin typeface="Arial" charset="0"/>
                <a:ea typeface="方正大黑简体" pitchFamily="2" charset="-122"/>
              </a:rPr>
              <a:t>3.3 </a:t>
            </a:r>
            <a:r>
              <a:rPr kumimoji="0" lang="zh-CN" altLang="en-US" sz="4000">
                <a:solidFill>
                  <a:srgbClr val="FF0000"/>
                </a:solidFill>
                <a:effectLst>
                  <a:outerShdw blurRad="38100" dist="38100" dir="2700000" algn="tl">
                    <a:srgbClr val="C0C0C0"/>
                  </a:outerShdw>
                </a:effectLst>
                <a:latin typeface="Arial" charset="0"/>
                <a:ea typeface="方正大黑简体" pitchFamily="2" charset="-122"/>
              </a:rPr>
              <a:t>脉冲传递函数</a:t>
            </a:r>
          </a:p>
        </p:txBody>
      </p:sp>
      <p:sp>
        <p:nvSpPr>
          <p:cNvPr id="53283" name="Text Box 35"/>
          <p:cNvSpPr txBox="1">
            <a:spLocks noChangeArrowheads="1"/>
          </p:cNvSpPr>
          <p:nvPr/>
        </p:nvSpPr>
        <p:spPr bwMode="auto">
          <a:xfrm>
            <a:off x="827584" y="2439670"/>
            <a:ext cx="5421313" cy="519112"/>
          </a:xfrm>
          <a:prstGeom prst="rect">
            <a:avLst/>
          </a:prstGeom>
          <a:noFill/>
          <a:ln w="9525" algn="ctr">
            <a:noFill/>
            <a:miter lim="800000"/>
            <a:headEnd/>
            <a:tailEnd/>
          </a:ln>
          <a:effectLst/>
        </p:spPr>
        <p:txBody>
          <a:bodyPr>
            <a:spAutoFit/>
          </a:bodyPr>
          <a:lstStyle/>
          <a:p>
            <a:pPr>
              <a:defRPr/>
            </a:pPr>
            <a:r>
              <a:rPr kumimoji="0" lang="en-US" altLang="zh-CN" sz="2800" dirty="0">
                <a:solidFill>
                  <a:srgbClr val="0000FF"/>
                </a:solidFill>
                <a:effectLst>
                  <a:outerShdw blurRad="38100" dist="38100" dir="2700000" algn="tl">
                    <a:srgbClr val="C0C0C0"/>
                  </a:outerShdw>
                </a:effectLst>
              </a:rPr>
              <a:t>3.3.1 </a:t>
            </a:r>
            <a:r>
              <a:rPr kumimoji="0" lang="zh-CN" altLang="en-US" sz="2800" dirty="0">
                <a:solidFill>
                  <a:srgbClr val="0000FF"/>
                </a:solidFill>
                <a:effectLst>
                  <a:outerShdw blurRad="38100" dist="38100" dir="2700000" algn="tl">
                    <a:srgbClr val="C0C0C0"/>
                  </a:outerShdw>
                </a:effectLst>
              </a:rPr>
              <a:t>脉冲传递函数的定义</a:t>
            </a:r>
          </a:p>
        </p:txBody>
      </p:sp>
      <p:sp>
        <p:nvSpPr>
          <p:cNvPr id="24582" name="Rectangle 36"/>
          <p:cNvSpPr>
            <a:spLocks noChangeArrowheads="1"/>
          </p:cNvSpPr>
          <p:nvPr/>
        </p:nvSpPr>
        <p:spPr bwMode="auto">
          <a:xfrm>
            <a:off x="426191" y="2457200"/>
            <a:ext cx="8104188" cy="2808287"/>
          </a:xfrm>
          <a:prstGeom prst="rect">
            <a:avLst/>
          </a:prstGeom>
          <a:noFill/>
          <a:ln w="9525">
            <a:noFill/>
            <a:miter lim="800000"/>
            <a:headEnd/>
            <a:tailEnd/>
          </a:ln>
        </p:spPr>
        <p:txBody>
          <a:bodyPr/>
          <a:lstStyle/>
          <a:p>
            <a:pPr marL="342900" indent="-342900">
              <a:spcBef>
                <a:spcPct val="20000"/>
              </a:spcBef>
            </a:pPr>
            <a:r>
              <a:rPr lang="en-US" altLang="zh-CN" sz="2600" b="0">
                <a:solidFill>
                  <a:srgbClr val="0000FF"/>
                </a:solidFill>
              </a:rPr>
              <a:t>        </a:t>
            </a:r>
          </a:p>
        </p:txBody>
      </p:sp>
      <p:sp>
        <p:nvSpPr>
          <p:cNvPr id="53285" name="Text Box 37"/>
          <p:cNvSpPr txBox="1">
            <a:spLocks noChangeArrowheads="1"/>
          </p:cNvSpPr>
          <p:nvPr/>
        </p:nvSpPr>
        <p:spPr bwMode="auto">
          <a:xfrm>
            <a:off x="981866" y="2980147"/>
            <a:ext cx="7437438" cy="2815322"/>
          </a:xfrm>
          <a:prstGeom prst="rect">
            <a:avLst/>
          </a:prstGeom>
          <a:noFill/>
          <a:ln w="9525" algn="ctr">
            <a:noFill/>
            <a:miter lim="800000"/>
            <a:headEnd/>
            <a:tailEnd/>
          </a:ln>
          <a:effectLst/>
        </p:spPr>
        <p:txBody>
          <a:bodyPr>
            <a:spAutoFit/>
          </a:bodyPr>
          <a:lstStyle/>
          <a:p>
            <a:pPr algn="just">
              <a:lnSpc>
                <a:spcPct val="125000"/>
              </a:lnSpc>
              <a:defRPr/>
            </a:pPr>
            <a:r>
              <a:rPr kumimoji="0" lang="zh-CN" altLang="en-US" sz="2400" dirty="0">
                <a:effectLst>
                  <a:outerShdw blurRad="38100" dist="38100" dir="2700000" algn="tl">
                    <a:srgbClr val="C0C0C0"/>
                  </a:outerShdw>
                </a:effectLst>
              </a:rPr>
              <a:t>       线性离散控制系统，在零初始条件下，一个系统（或环节）</a:t>
            </a:r>
            <a:r>
              <a:rPr kumimoji="0" lang="zh-CN" altLang="en-US" sz="2400" dirty="0">
                <a:solidFill>
                  <a:srgbClr val="FF0000"/>
                </a:solidFill>
                <a:effectLst>
                  <a:outerShdw blurRad="38100" dist="38100" dir="2700000" algn="tl">
                    <a:srgbClr val="C0C0C0"/>
                  </a:outerShdw>
                </a:effectLst>
              </a:rPr>
              <a:t>输出脉冲序列的</a:t>
            </a:r>
            <a:r>
              <a:rPr kumimoji="0" lang="en-US" altLang="zh-CN" sz="2400" i="1" dirty="0">
                <a:solidFill>
                  <a:srgbClr val="FF0000"/>
                </a:solidFill>
                <a:effectLst>
                  <a:outerShdw blurRad="38100" dist="38100" dir="2700000" algn="tl">
                    <a:srgbClr val="C0C0C0"/>
                  </a:outerShdw>
                </a:effectLst>
              </a:rPr>
              <a:t>z</a:t>
            </a:r>
            <a:r>
              <a:rPr kumimoji="0" lang="zh-CN" altLang="en-US" sz="2400" dirty="0">
                <a:solidFill>
                  <a:srgbClr val="FF0000"/>
                </a:solidFill>
                <a:effectLst>
                  <a:outerShdw blurRad="38100" dist="38100" dir="2700000" algn="tl">
                    <a:srgbClr val="C0C0C0"/>
                  </a:outerShdw>
                </a:effectLst>
              </a:rPr>
              <a:t>变换</a:t>
            </a:r>
            <a:r>
              <a:rPr kumimoji="0" lang="zh-CN" altLang="en-US" sz="2400" dirty="0">
                <a:effectLst>
                  <a:outerShdw blurRad="38100" dist="38100" dir="2700000" algn="tl">
                    <a:srgbClr val="C0C0C0"/>
                  </a:outerShdw>
                </a:effectLst>
              </a:rPr>
              <a:t>与</a:t>
            </a:r>
            <a:r>
              <a:rPr kumimoji="0" lang="zh-CN" altLang="en-US" sz="2400" dirty="0">
                <a:solidFill>
                  <a:srgbClr val="FF0000"/>
                </a:solidFill>
                <a:effectLst>
                  <a:outerShdw blurRad="38100" dist="38100" dir="2700000" algn="tl">
                    <a:srgbClr val="C0C0C0"/>
                  </a:outerShdw>
                </a:effectLst>
              </a:rPr>
              <a:t>输入脉冲序列的</a:t>
            </a:r>
            <a:r>
              <a:rPr kumimoji="0" lang="en-US" altLang="zh-CN" sz="2400" i="1" dirty="0">
                <a:solidFill>
                  <a:srgbClr val="FF0000"/>
                </a:solidFill>
                <a:effectLst>
                  <a:outerShdw blurRad="38100" dist="38100" dir="2700000" algn="tl">
                    <a:srgbClr val="C0C0C0"/>
                  </a:outerShdw>
                </a:effectLst>
              </a:rPr>
              <a:t>z</a:t>
            </a:r>
            <a:r>
              <a:rPr kumimoji="0" lang="zh-CN" altLang="en-US" sz="2400" dirty="0">
                <a:solidFill>
                  <a:srgbClr val="FF0000"/>
                </a:solidFill>
                <a:effectLst>
                  <a:outerShdw blurRad="38100" dist="38100" dir="2700000" algn="tl">
                    <a:srgbClr val="C0C0C0"/>
                  </a:outerShdw>
                </a:effectLst>
              </a:rPr>
              <a:t>变换</a:t>
            </a:r>
            <a:r>
              <a:rPr kumimoji="0" lang="zh-CN" altLang="en-US" sz="2400" dirty="0">
                <a:effectLst>
                  <a:outerShdw blurRad="38100" dist="38100" dir="2700000" algn="tl">
                    <a:srgbClr val="C0C0C0"/>
                  </a:outerShdw>
                </a:effectLst>
              </a:rPr>
              <a:t>之比，被定义为该系统（或环节）的</a:t>
            </a:r>
            <a:r>
              <a:rPr kumimoji="0" lang="zh-CN" altLang="en-US" sz="2400" dirty="0">
                <a:solidFill>
                  <a:srgbClr val="0033CC"/>
                </a:solidFill>
                <a:effectLst>
                  <a:outerShdw blurRad="38100" dist="38100" dir="2700000" algn="tl">
                    <a:srgbClr val="C0C0C0"/>
                  </a:outerShdw>
                </a:effectLst>
              </a:rPr>
              <a:t>脉冲传递函数</a:t>
            </a:r>
            <a:r>
              <a:rPr kumimoji="0" lang="zh-CN" altLang="en-US" sz="2400" dirty="0">
                <a:effectLst>
                  <a:outerShdw blurRad="38100" dist="38100" dir="2700000" algn="tl">
                    <a:srgbClr val="C0C0C0"/>
                  </a:outerShdw>
                </a:effectLst>
              </a:rPr>
              <a:t>。</a:t>
            </a:r>
          </a:p>
          <a:p>
            <a:pPr>
              <a:lnSpc>
                <a:spcPct val="125000"/>
              </a:lnSpc>
              <a:defRPr/>
            </a:pPr>
            <a:endParaRPr kumimoji="0" lang="zh-CN" altLang="en-US" sz="2400" dirty="0">
              <a:effectLst>
                <a:outerShdw blurRad="38100" dist="38100" dir="2700000" algn="tl">
                  <a:srgbClr val="C0C0C0"/>
                </a:outerShdw>
              </a:effectLst>
            </a:endParaRPr>
          </a:p>
          <a:p>
            <a:pPr>
              <a:lnSpc>
                <a:spcPct val="125000"/>
              </a:lnSpc>
              <a:defRPr/>
            </a:pPr>
            <a:r>
              <a:rPr kumimoji="0" lang="zh-CN" altLang="en-US" sz="2400" dirty="0">
                <a:effectLst>
                  <a:outerShdw blurRad="38100" dist="38100" dir="2700000" algn="tl">
                    <a:srgbClr val="C0C0C0"/>
                  </a:outerShdw>
                </a:effectLst>
              </a:rPr>
              <a:t>用公式表示：</a:t>
            </a:r>
          </a:p>
        </p:txBody>
      </p:sp>
      <p:graphicFrame>
        <p:nvGraphicFramePr>
          <p:cNvPr id="24578" name="Object 38"/>
          <p:cNvGraphicFramePr>
            <a:graphicFrameLocks noChangeAspect="1"/>
          </p:cNvGraphicFramePr>
          <p:nvPr>
            <p:extLst>
              <p:ext uri="{D42A27DB-BD31-4B8C-83A1-F6EECF244321}">
                <p14:modId xmlns:p14="http://schemas.microsoft.com/office/powerpoint/2010/main" val="4264473816"/>
              </p:ext>
            </p:extLst>
          </p:nvPr>
        </p:nvGraphicFramePr>
        <p:xfrm>
          <a:off x="2915816" y="5153456"/>
          <a:ext cx="5126038" cy="890588"/>
        </p:xfrm>
        <a:graphic>
          <a:graphicData uri="http://schemas.openxmlformats.org/presentationml/2006/ole">
            <mc:AlternateContent xmlns:mc="http://schemas.openxmlformats.org/markup-compatibility/2006">
              <mc:Choice xmlns:v="urn:schemas-microsoft-com:vml" Requires="v">
                <p:oleObj name="Equation" r:id="rId4" imgW="2463800" imgH="431800" progId="Equation.DSMT4">
                  <p:embed/>
                </p:oleObj>
              </mc:Choice>
              <mc:Fallback>
                <p:oleObj name="Equation" r:id="rId4" imgW="2463800" imgH="43180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5816" y="5153456"/>
                        <a:ext cx="5126038" cy="8905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3" name="文本框 2">
            <a:extLst>
              <a:ext uri="{FF2B5EF4-FFF2-40B4-BE49-F238E27FC236}">
                <a16:creationId xmlns:a16="http://schemas.microsoft.com/office/drawing/2014/main" id="{72E97C90-71F3-1DBF-1B15-E561006CCF41}"/>
              </a:ext>
            </a:extLst>
          </p:cNvPr>
          <p:cNvSpPr txBox="1"/>
          <p:nvPr/>
        </p:nvSpPr>
        <p:spPr>
          <a:xfrm>
            <a:off x="796157" y="1259250"/>
            <a:ext cx="7720392" cy="830997"/>
          </a:xfrm>
          <a:prstGeom prst="rect">
            <a:avLst/>
          </a:prstGeom>
          <a:solidFill>
            <a:schemeClr val="bg1">
              <a:lumMod val="85000"/>
            </a:schemeClr>
          </a:solidFill>
        </p:spPr>
        <p:txBody>
          <a:bodyPr wrap="square">
            <a:spAutoFit/>
          </a:bodyPr>
          <a:lstStyle/>
          <a:p>
            <a:r>
              <a:rPr lang="zh-CN" altLang="en-US" sz="2400" dirty="0">
                <a:effectLst>
                  <a:outerShdw blurRad="38100" dist="38100" dir="2700000" algn="tl">
                    <a:srgbClr val="000000">
                      <a:alpha val="43137"/>
                    </a:srgbClr>
                  </a:outerShdw>
                </a:effectLst>
              </a:rPr>
              <a:t>线性连续系统的动态特性主要用传递函数来描述，在线性</a:t>
            </a:r>
            <a:r>
              <a:rPr lang="zh-CN" altLang="en-US" sz="2400" dirty="0">
                <a:solidFill>
                  <a:srgbClr val="0033CC"/>
                </a:solidFill>
                <a:effectLst>
                  <a:outerShdw blurRad="38100" dist="38100" dir="2700000" algn="tl">
                    <a:srgbClr val="000000">
                      <a:alpha val="43137"/>
                    </a:srgbClr>
                  </a:outerShdw>
                </a:effectLst>
              </a:rPr>
              <a:t>离散控制系统</a:t>
            </a:r>
            <a:r>
              <a:rPr lang="zh-CN" altLang="en-US" sz="2400" dirty="0">
                <a:effectLst>
                  <a:outerShdw blurRad="38100" dist="38100" dir="2700000" algn="tl">
                    <a:srgbClr val="000000">
                      <a:alpha val="43137"/>
                    </a:srgbClr>
                  </a:outerShdw>
                </a:effectLst>
              </a:rPr>
              <a:t>中，主要用</a:t>
            </a:r>
            <a:r>
              <a:rPr lang="zh-CN" altLang="en-US" sz="2400" dirty="0">
                <a:solidFill>
                  <a:srgbClr val="FF0000"/>
                </a:solidFill>
                <a:effectLst>
                  <a:outerShdw blurRad="38100" dist="38100" dir="2700000" algn="tl">
                    <a:srgbClr val="000000">
                      <a:alpha val="43137"/>
                    </a:srgbClr>
                  </a:outerShdw>
                </a:effectLst>
              </a:rPr>
              <a:t>脉冲传递函数</a:t>
            </a:r>
            <a:r>
              <a:rPr lang="zh-CN" altLang="en-US" sz="2400" dirty="0">
                <a:effectLst>
                  <a:outerShdw blurRad="38100" dist="38100" dir="2700000" algn="tl">
                    <a:srgbClr val="000000">
                      <a:alpha val="43137"/>
                    </a:srgbClr>
                  </a:outerShdw>
                </a:effectLst>
              </a:rPr>
              <a:t>来描述。</a:t>
            </a:r>
          </a:p>
        </p:txBody>
      </p:sp>
    </p:spTree>
  </p:cSld>
  <p:clrMapOvr>
    <a:masterClrMapping/>
  </p:clrMapOvr>
  <p:transition>
    <p:cover dir="ld"/>
  </p:transition>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4297" name="Text Box 25"/>
          <p:cNvSpPr txBox="1">
            <a:spLocks noChangeArrowheads="1"/>
          </p:cNvSpPr>
          <p:nvPr/>
        </p:nvSpPr>
        <p:spPr bwMode="auto">
          <a:xfrm>
            <a:off x="611560" y="1124744"/>
            <a:ext cx="5349875" cy="519112"/>
          </a:xfrm>
          <a:prstGeom prst="rect">
            <a:avLst/>
          </a:prstGeom>
          <a:noFill/>
          <a:ln w="9525" algn="ctr">
            <a:noFill/>
            <a:miter lim="800000"/>
            <a:headEnd/>
            <a:tailEnd/>
          </a:ln>
          <a:effectLst/>
        </p:spPr>
        <p:txBody>
          <a:bodyPr>
            <a:spAutoFit/>
          </a:bodyPr>
          <a:lstStyle/>
          <a:p>
            <a:pPr>
              <a:defRPr/>
            </a:pPr>
            <a:r>
              <a:rPr kumimoji="0" lang="en-US" altLang="zh-CN" sz="2800" dirty="0">
                <a:solidFill>
                  <a:srgbClr val="0000FF"/>
                </a:solidFill>
                <a:effectLst>
                  <a:outerShdw blurRad="38100" dist="38100" dir="2700000" algn="tl">
                    <a:srgbClr val="C0C0C0"/>
                  </a:outerShdw>
                </a:effectLst>
              </a:rPr>
              <a:t>3.3.2 </a:t>
            </a:r>
            <a:r>
              <a:rPr kumimoji="0" lang="zh-CN" altLang="en-US" sz="2800" dirty="0">
                <a:solidFill>
                  <a:srgbClr val="0000FF"/>
                </a:solidFill>
                <a:effectLst>
                  <a:outerShdw blurRad="38100" dist="38100" dir="2700000" algn="tl">
                    <a:srgbClr val="C0C0C0"/>
                  </a:outerShdw>
                </a:effectLst>
              </a:rPr>
              <a:t>脉冲传递函数的推导 </a:t>
            </a:r>
          </a:p>
        </p:txBody>
      </p:sp>
      <p:sp>
        <p:nvSpPr>
          <p:cNvPr id="54298" name="Rectangle 26"/>
          <p:cNvSpPr>
            <a:spLocks noChangeArrowheads="1"/>
          </p:cNvSpPr>
          <p:nvPr/>
        </p:nvSpPr>
        <p:spPr bwMode="auto">
          <a:xfrm>
            <a:off x="1187624" y="1844824"/>
            <a:ext cx="7315200" cy="2448272"/>
          </a:xfrm>
          <a:prstGeom prst="rect">
            <a:avLst/>
          </a:prstGeom>
          <a:noFill/>
          <a:ln w="9525">
            <a:noFill/>
            <a:miter lim="800000"/>
            <a:headEnd/>
            <a:tailEnd/>
          </a:ln>
          <a:effectLst/>
        </p:spPr>
        <p:txBody>
          <a:bodyPr/>
          <a:lstStyle/>
          <a:p>
            <a:pPr marL="609600" indent="-609600">
              <a:lnSpc>
                <a:spcPct val="125000"/>
              </a:lnSpc>
              <a:spcBef>
                <a:spcPct val="20000"/>
              </a:spcBef>
              <a:defRPr/>
            </a:pPr>
            <a:r>
              <a:rPr lang="zh-CN" altLang="en-US" sz="2600" dirty="0">
                <a:solidFill>
                  <a:srgbClr val="BE2C14"/>
                </a:solidFill>
                <a:effectLst>
                  <a:outerShdw blurRad="38100" dist="38100" dir="2700000" algn="tl">
                    <a:srgbClr val="C0C0C0"/>
                  </a:outerShdw>
                </a:effectLst>
              </a:rPr>
              <a:t>脉冲传递函数的推导的方法：</a:t>
            </a:r>
            <a:r>
              <a:rPr lang="zh-CN" altLang="en-US" sz="2600" dirty="0">
                <a:effectLst>
                  <a:outerShdw blurRad="38100" dist="38100" dir="2700000" algn="tl">
                    <a:srgbClr val="C0C0C0"/>
                  </a:outerShdw>
                </a:effectLst>
              </a:rPr>
              <a:t> </a:t>
            </a:r>
          </a:p>
          <a:p>
            <a:pPr marL="609600" indent="-609600">
              <a:lnSpc>
                <a:spcPct val="125000"/>
              </a:lnSpc>
              <a:spcBef>
                <a:spcPct val="20000"/>
              </a:spcBef>
              <a:buFont typeface="Wingdings" pitchFamily="2" charset="2"/>
              <a:buChar char="l"/>
              <a:defRPr/>
            </a:pPr>
            <a:r>
              <a:rPr lang="zh-CN" altLang="en-US" sz="2600" dirty="0">
                <a:effectLst>
                  <a:outerShdw blurRad="38100" dist="38100" dir="2700000" algn="tl">
                    <a:srgbClr val="C0C0C0"/>
                  </a:outerShdw>
                </a:effectLst>
              </a:rPr>
              <a:t>由单位脉冲响应推出脉冲传递函数</a:t>
            </a:r>
            <a:r>
              <a:rPr lang="en-US" altLang="zh-CN" sz="2600" i="1" dirty="0">
                <a:effectLst>
                  <a:outerShdw blurRad="38100" dist="38100" dir="2700000" algn="tl">
                    <a:srgbClr val="C0C0C0"/>
                  </a:outerShdw>
                </a:effectLst>
              </a:rPr>
              <a:t>W</a:t>
            </a:r>
            <a:r>
              <a:rPr lang="en-US" altLang="zh-CN" sz="2600" dirty="0">
                <a:effectLst>
                  <a:outerShdw blurRad="38100" dist="38100" dir="2700000" algn="tl">
                    <a:srgbClr val="C0C0C0"/>
                  </a:outerShdw>
                </a:effectLst>
              </a:rPr>
              <a:t>(</a:t>
            </a:r>
            <a:r>
              <a:rPr lang="en-US" altLang="zh-CN" sz="2600" i="1" dirty="0">
                <a:effectLst>
                  <a:outerShdw blurRad="38100" dist="38100" dir="2700000" algn="tl">
                    <a:srgbClr val="C0C0C0"/>
                  </a:outerShdw>
                </a:effectLst>
              </a:rPr>
              <a:t>z</a:t>
            </a:r>
            <a:r>
              <a:rPr lang="en-US" altLang="zh-CN" sz="2600" dirty="0">
                <a:effectLst>
                  <a:outerShdw blurRad="38100" dist="38100" dir="2700000" algn="tl">
                    <a:srgbClr val="C0C0C0"/>
                  </a:outerShdw>
                </a:effectLst>
              </a:rPr>
              <a:t>)</a:t>
            </a:r>
          </a:p>
          <a:p>
            <a:pPr marL="609600" indent="-609600">
              <a:lnSpc>
                <a:spcPct val="125000"/>
              </a:lnSpc>
              <a:spcBef>
                <a:spcPct val="20000"/>
              </a:spcBef>
              <a:buFont typeface="Wingdings" pitchFamily="2" charset="2"/>
              <a:buChar char="l"/>
              <a:defRPr/>
            </a:pPr>
            <a:r>
              <a:rPr lang="zh-CN" altLang="en-US" sz="2600" dirty="0">
                <a:effectLst>
                  <a:outerShdw blurRad="38100" dist="38100" dir="2700000" algn="tl">
                    <a:srgbClr val="C0C0C0"/>
                  </a:outerShdw>
                </a:effectLst>
              </a:rPr>
              <a:t>由拉氏变换求出</a:t>
            </a:r>
            <a:r>
              <a:rPr lang="en-US" altLang="zh-CN" sz="2600" i="1" dirty="0">
                <a:effectLst>
                  <a:outerShdw blurRad="38100" dist="38100" dir="2700000" algn="tl">
                    <a:srgbClr val="C0C0C0"/>
                  </a:outerShdw>
                </a:effectLst>
              </a:rPr>
              <a:t>W</a:t>
            </a:r>
            <a:r>
              <a:rPr lang="en-US" altLang="zh-CN" sz="2600" dirty="0">
                <a:effectLst>
                  <a:outerShdw blurRad="38100" dist="38100" dir="2700000" algn="tl">
                    <a:srgbClr val="C0C0C0"/>
                  </a:outerShdw>
                </a:effectLst>
              </a:rPr>
              <a:t>(</a:t>
            </a:r>
            <a:r>
              <a:rPr lang="en-US" altLang="zh-CN" sz="2600" i="1" dirty="0">
                <a:effectLst>
                  <a:outerShdw blurRad="38100" dist="38100" dir="2700000" algn="tl">
                    <a:srgbClr val="C0C0C0"/>
                  </a:outerShdw>
                </a:effectLst>
              </a:rPr>
              <a:t>z</a:t>
            </a:r>
            <a:r>
              <a:rPr lang="en-US" altLang="zh-CN" sz="2600" dirty="0">
                <a:effectLst>
                  <a:outerShdw blurRad="38100" dist="38100" dir="2700000" algn="tl">
                    <a:srgbClr val="C0C0C0"/>
                  </a:outerShdw>
                </a:effectLst>
              </a:rPr>
              <a:t>)</a:t>
            </a:r>
          </a:p>
          <a:p>
            <a:pPr marL="609600" indent="-609600">
              <a:lnSpc>
                <a:spcPct val="125000"/>
              </a:lnSpc>
              <a:spcBef>
                <a:spcPct val="20000"/>
              </a:spcBef>
              <a:buFont typeface="Wingdings" pitchFamily="2" charset="2"/>
              <a:buChar char="l"/>
              <a:defRPr/>
            </a:pPr>
            <a:r>
              <a:rPr lang="zh-CN" altLang="en-US" sz="2600" dirty="0">
                <a:effectLst>
                  <a:outerShdw blurRad="38100" dist="38100" dir="2700000" algn="tl">
                    <a:srgbClr val="C0C0C0"/>
                  </a:outerShdw>
                </a:effectLst>
              </a:rPr>
              <a:t>由差分方程求出</a:t>
            </a:r>
            <a:r>
              <a:rPr lang="en-US" altLang="zh-CN" sz="2600" i="1" dirty="0">
                <a:effectLst>
                  <a:outerShdw blurRad="38100" dist="38100" dir="2700000" algn="tl">
                    <a:srgbClr val="C0C0C0"/>
                  </a:outerShdw>
                </a:effectLst>
              </a:rPr>
              <a:t>W</a:t>
            </a:r>
            <a:r>
              <a:rPr lang="en-US" altLang="zh-CN" sz="2600" dirty="0">
                <a:effectLst>
                  <a:outerShdw blurRad="38100" dist="38100" dir="2700000" algn="tl">
                    <a:srgbClr val="C0C0C0"/>
                  </a:outerShdw>
                </a:effectLst>
              </a:rPr>
              <a:t>(</a:t>
            </a:r>
            <a:r>
              <a:rPr lang="en-US" altLang="zh-CN" sz="2600" i="1" dirty="0">
                <a:effectLst>
                  <a:outerShdw blurRad="38100" dist="38100" dir="2700000" algn="tl">
                    <a:srgbClr val="C0C0C0"/>
                  </a:outerShdw>
                </a:effectLst>
              </a:rPr>
              <a:t>z</a:t>
            </a:r>
            <a:r>
              <a:rPr lang="en-US" altLang="zh-CN" sz="2600" dirty="0">
                <a:effectLst>
                  <a:outerShdw blurRad="38100" dist="38100" dir="2700000" algn="tl">
                    <a:srgbClr val="C0C0C0"/>
                  </a:outerShdw>
                </a:effectLst>
              </a:rPr>
              <a:t>)</a:t>
            </a:r>
          </a:p>
        </p:txBody>
      </p:sp>
      <p:pic>
        <p:nvPicPr>
          <p:cNvPr id="3" name="图片 2">
            <a:extLst>
              <a:ext uri="{FF2B5EF4-FFF2-40B4-BE49-F238E27FC236}">
                <a16:creationId xmlns:a16="http://schemas.microsoft.com/office/drawing/2014/main" id="{482E8AD6-646F-C5D7-342F-D496185CEBE7}"/>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5576" y="4221088"/>
            <a:ext cx="7632848" cy="1847490"/>
          </a:xfrm>
          <a:prstGeom prst="rect">
            <a:avLst/>
          </a:prstGeom>
        </p:spPr>
      </p:pic>
    </p:spTree>
  </p:cSld>
  <p:clrMapOvr>
    <a:masterClrMapping/>
  </p:clrMapOvr>
  <p:transition>
    <p:cover dir="ld"/>
  </p:transition>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5321" name="Text Box 25"/>
          <p:cNvSpPr txBox="1">
            <a:spLocks noChangeArrowheads="1"/>
          </p:cNvSpPr>
          <p:nvPr/>
        </p:nvSpPr>
        <p:spPr bwMode="auto">
          <a:xfrm>
            <a:off x="806450" y="2276475"/>
            <a:ext cx="7508875" cy="1920875"/>
          </a:xfrm>
          <a:prstGeom prst="rect">
            <a:avLst/>
          </a:prstGeom>
          <a:noFill/>
          <a:ln w="9525" algn="ctr">
            <a:noFill/>
            <a:miter lim="800000"/>
            <a:headEnd/>
            <a:tailEnd/>
          </a:ln>
          <a:effectLst/>
        </p:spPr>
        <p:txBody>
          <a:bodyPr>
            <a:spAutoFit/>
          </a:bodyPr>
          <a:lstStyle/>
          <a:p>
            <a:pPr>
              <a:lnSpc>
                <a:spcPct val="125000"/>
              </a:lnSpc>
              <a:defRPr/>
            </a:pP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由单位脉冲响应推出脉冲传递函数，可以从概念上掌握脉冲传递函数的物理意义。</a:t>
            </a:r>
          </a:p>
          <a:p>
            <a:pPr>
              <a:lnSpc>
                <a:spcPct val="125000"/>
              </a:lnSpc>
              <a:defRPr/>
            </a:pPr>
            <a:r>
              <a:rPr kumimoji="0" lang="zh-CN" altLang="en-US" sz="2400" dirty="0">
                <a:effectLst>
                  <a:outerShdw blurRad="38100" dist="38100" dir="2700000" algn="tl">
                    <a:srgbClr val="C0C0C0"/>
                  </a:outerShdw>
                </a:effectLst>
              </a:rPr>
              <a:t>     当输入信号          被采样后，脉冲序列为            ，</a:t>
            </a:r>
          </a:p>
          <a:p>
            <a:pPr>
              <a:lnSpc>
                <a:spcPct val="125000"/>
              </a:lnSpc>
              <a:defRPr/>
            </a:pPr>
            <a:r>
              <a:rPr kumimoji="0" lang="zh-CN" altLang="en-US" sz="2400" dirty="0">
                <a:effectLst>
                  <a:outerShdw blurRad="38100" dist="38100" dir="2700000" algn="tl">
                    <a:srgbClr val="C0C0C0"/>
                  </a:outerShdw>
                </a:effectLst>
              </a:rPr>
              <a:t>它可表示为</a:t>
            </a:r>
            <a:r>
              <a:rPr kumimoji="0" lang="en-US" altLang="zh-CN" sz="2400" dirty="0">
                <a:effectLst>
                  <a:outerShdw blurRad="38100" dist="38100" dir="2700000" algn="tl">
                    <a:srgbClr val="C0C0C0"/>
                  </a:outerShdw>
                </a:effectLst>
              </a:rPr>
              <a:t>:</a:t>
            </a:r>
          </a:p>
        </p:txBody>
      </p:sp>
      <p:sp>
        <p:nvSpPr>
          <p:cNvPr id="55322" name="Text Box 26"/>
          <p:cNvSpPr txBox="1">
            <a:spLocks noChangeArrowheads="1"/>
          </p:cNvSpPr>
          <p:nvPr/>
        </p:nvSpPr>
        <p:spPr bwMode="auto">
          <a:xfrm>
            <a:off x="755650" y="1628775"/>
            <a:ext cx="6264275" cy="457200"/>
          </a:xfrm>
          <a:prstGeom prst="rect">
            <a:avLst/>
          </a:prstGeom>
          <a:noFill/>
          <a:ln w="9525" algn="ctr">
            <a:noFill/>
            <a:miter lim="800000"/>
            <a:headEnd/>
            <a:tailEnd/>
          </a:ln>
          <a:effectLst/>
        </p:spPr>
        <p:txBody>
          <a:bodyPr>
            <a:spAutoFit/>
          </a:bodyPr>
          <a:lstStyle/>
          <a:p>
            <a:pPr>
              <a:defRPr/>
            </a:pPr>
            <a:r>
              <a:rPr kumimoji="0" lang="en-US" altLang="zh-CN" sz="2400" u="sng">
                <a:solidFill>
                  <a:srgbClr val="FF0000"/>
                </a:solidFill>
                <a:effectLst>
                  <a:outerShdw blurRad="38100" dist="38100" dir="2700000" algn="tl">
                    <a:srgbClr val="C0C0C0"/>
                  </a:outerShdw>
                </a:effectLst>
              </a:rPr>
              <a:t>1) </a:t>
            </a:r>
            <a:r>
              <a:rPr kumimoji="0" lang="zh-CN" altLang="en-US" sz="2400" u="sng">
                <a:solidFill>
                  <a:srgbClr val="FF0000"/>
                </a:solidFill>
                <a:effectLst>
                  <a:outerShdw blurRad="38100" dist="38100" dir="2700000" algn="tl">
                    <a:srgbClr val="C0C0C0"/>
                  </a:outerShdw>
                </a:effectLst>
              </a:rPr>
              <a:t>由单位脉冲响应推出脉冲传递函数</a:t>
            </a:r>
          </a:p>
        </p:txBody>
      </p:sp>
      <p:graphicFrame>
        <p:nvGraphicFramePr>
          <p:cNvPr id="25602" name="Object 27"/>
          <p:cNvGraphicFramePr>
            <a:graphicFrameLocks noChangeAspect="1"/>
          </p:cNvGraphicFramePr>
          <p:nvPr>
            <p:extLst>
              <p:ext uri="{D42A27DB-BD31-4B8C-83A1-F6EECF244321}">
                <p14:modId xmlns:p14="http://schemas.microsoft.com/office/powerpoint/2010/main" val="2258120396"/>
              </p:ext>
            </p:extLst>
          </p:nvPr>
        </p:nvGraphicFramePr>
        <p:xfrm>
          <a:off x="2843808" y="3216886"/>
          <a:ext cx="714375" cy="509587"/>
        </p:xfrm>
        <a:graphic>
          <a:graphicData uri="http://schemas.openxmlformats.org/presentationml/2006/ole">
            <mc:AlternateContent xmlns:mc="http://schemas.openxmlformats.org/markup-compatibility/2006">
              <mc:Choice xmlns:v="urn:schemas-microsoft-com:vml" Requires="v">
                <p:oleObj r:id="rId3" imgW="279279" imgH="203112" progId="Equation.3">
                  <p:embed/>
                </p:oleObj>
              </mc:Choice>
              <mc:Fallback>
                <p:oleObj r:id="rId3" imgW="279279" imgH="203112"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808" y="3216886"/>
                        <a:ext cx="714375" cy="509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3" name="Object 28"/>
          <p:cNvGraphicFramePr>
            <a:graphicFrameLocks noChangeAspect="1"/>
          </p:cNvGraphicFramePr>
          <p:nvPr>
            <p:extLst>
              <p:ext uri="{D42A27DB-BD31-4B8C-83A1-F6EECF244321}">
                <p14:modId xmlns:p14="http://schemas.microsoft.com/office/powerpoint/2010/main" val="2462053239"/>
              </p:ext>
            </p:extLst>
          </p:nvPr>
        </p:nvGraphicFramePr>
        <p:xfrm>
          <a:off x="6660232" y="3211511"/>
          <a:ext cx="815975" cy="534988"/>
        </p:xfrm>
        <a:graphic>
          <a:graphicData uri="http://schemas.openxmlformats.org/presentationml/2006/ole">
            <mc:AlternateContent xmlns:mc="http://schemas.openxmlformats.org/markup-compatibility/2006">
              <mc:Choice xmlns:v="urn:schemas-microsoft-com:vml" Requires="v">
                <p:oleObj r:id="rId5" imgW="342751" imgH="228501" progId="Equation.3">
                  <p:embed/>
                </p:oleObj>
              </mc:Choice>
              <mc:Fallback>
                <p:oleObj r:id="rId5" imgW="342751" imgH="228501" progId="Equation.3">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60232" y="3211511"/>
                        <a:ext cx="815975" cy="5349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5604" name="Object 29"/>
          <p:cNvGraphicFramePr>
            <a:graphicFrameLocks noChangeAspect="1"/>
          </p:cNvGraphicFramePr>
          <p:nvPr/>
        </p:nvGraphicFramePr>
        <p:xfrm>
          <a:off x="682625" y="4437063"/>
          <a:ext cx="7726363" cy="490537"/>
        </p:xfrm>
        <a:graphic>
          <a:graphicData uri="http://schemas.openxmlformats.org/presentationml/2006/ole">
            <mc:AlternateContent xmlns:mc="http://schemas.openxmlformats.org/markup-compatibility/2006">
              <mc:Choice xmlns:v="urn:schemas-microsoft-com:vml" Requires="v">
                <p:oleObj name="Equation" r:id="rId7" imgW="3543300" imgH="228600" progId="Equation.DSMT4">
                  <p:embed/>
                </p:oleObj>
              </mc:Choice>
              <mc:Fallback>
                <p:oleObj name="Equation" r:id="rId7" imgW="3543300" imgH="2286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2625" y="4437063"/>
                        <a:ext cx="7726363" cy="4905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ld"/>
  </p:transition>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6337" name="Text Box 17"/>
          <p:cNvSpPr txBox="1">
            <a:spLocks noChangeArrowheads="1"/>
          </p:cNvSpPr>
          <p:nvPr/>
        </p:nvSpPr>
        <p:spPr bwMode="auto">
          <a:xfrm>
            <a:off x="900113" y="1557338"/>
            <a:ext cx="7416800" cy="1006475"/>
          </a:xfrm>
          <a:prstGeom prst="rect">
            <a:avLst/>
          </a:prstGeom>
          <a:noFill/>
          <a:ln w="9525" algn="ctr">
            <a:noFill/>
            <a:miter lim="800000"/>
            <a:headEnd/>
            <a:tailEnd/>
          </a:ln>
          <a:effectLst/>
        </p:spPr>
        <p:txBody>
          <a:bodyPr>
            <a:spAutoFit/>
          </a:bodyPr>
          <a:lstStyle/>
          <a:p>
            <a:pPr>
              <a:lnSpc>
                <a:spcPct val="125000"/>
              </a:lnSpc>
              <a:defRPr/>
            </a:pPr>
            <a:r>
              <a:rPr kumimoji="0" lang="zh-CN" altLang="en-US" sz="2400" dirty="0">
                <a:effectLst>
                  <a:outerShdw blurRad="38100" dist="38100" dir="2700000" algn="tl">
                    <a:srgbClr val="C0C0C0"/>
                  </a:outerShdw>
                </a:effectLst>
              </a:rPr>
              <a:t>这一系列脉冲作用于连续系统（或环节）</a:t>
            </a:r>
            <a:r>
              <a:rPr kumimoji="0" lang="en-US" altLang="zh-CN" sz="2400" i="1" dirty="0">
                <a:effectLst>
                  <a:outerShdw blurRad="38100" dist="38100" dir="2700000" algn="tl">
                    <a:srgbClr val="C0C0C0"/>
                  </a:outerShdw>
                </a:effectLst>
              </a:rPr>
              <a:t>W</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s</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时，该</a:t>
            </a:r>
          </a:p>
          <a:p>
            <a:pPr>
              <a:lnSpc>
                <a:spcPct val="125000"/>
              </a:lnSpc>
              <a:defRPr/>
            </a:pPr>
            <a:r>
              <a:rPr kumimoji="0" lang="zh-CN" altLang="en-US" sz="2400" dirty="0">
                <a:effectLst>
                  <a:outerShdw blurRad="38100" dist="38100" dir="2700000" algn="tl">
                    <a:srgbClr val="C0C0C0"/>
                  </a:outerShdw>
                </a:effectLst>
              </a:rPr>
              <a:t>系统（或环节）输出等于各脉冲响应之和，如图： </a:t>
            </a:r>
          </a:p>
        </p:txBody>
      </p:sp>
      <p:pic>
        <p:nvPicPr>
          <p:cNvPr id="113667" name="Picture 18"/>
          <p:cNvPicPr>
            <a:picLocks noChangeAspect="1" noChangeArrowheads="1"/>
          </p:cNvPicPr>
          <p:nvPr/>
        </p:nvPicPr>
        <p:blipFill>
          <a:blip r:embed="rId3" cstate="print"/>
          <a:srcRect/>
          <a:stretch>
            <a:fillRect/>
          </a:stretch>
        </p:blipFill>
        <p:spPr bwMode="auto">
          <a:xfrm>
            <a:off x="684213" y="3116263"/>
            <a:ext cx="7848600" cy="2355850"/>
          </a:xfrm>
          <a:prstGeom prst="rect">
            <a:avLst/>
          </a:prstGeom>
          <a:noFill/>
          <a:ln w="9525">
            <a:noFill/>
            <a:miter lim="800000"/>
            <a:headEnd/>
            <a:tailEnd/>
          </a:ln>
        </p:spPr>
      </p:pic>
    </p:spTree>
  </p:cSld>
  <p:clrMapOvr>
    <a:masterClrMapping/>
  </p:clrMapOvr>
  <p:transition>
    <p:push dir="r"/>
  </p:transition>
</p:sld>
</file>

<file path=ppt/slides/slide3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7392" name="Rectangle 48"/>
          <p:cNvSpPr>
            <a:spLocks noChangeArrowheads="1"/>
          </p:cNvSpPr>
          <p:nvPr/>
        </p:nvSpPr>
        <p:spPr bwMode="auto">
          <a:xfrm>
            <a:off x="684213" y="1484313"/>
            <a:ext cx="7772400" cy="4114800"/>
          </a:xfrm>
          <a:prstGeom prst="rect">
            <a:avLst/>
          </a:prstGeom>
          <a:noFill/>
          <a:ln w="9525">
            <a:noFill/>
            <a:miter lim="800000"/>
            <a:headEnd/>
            <a:tailEnd/>
          </a:ln>
          <a:effectLst/>
        </p:spPr>
        <p:txBody>
          <a:bodyPr/>
          <a:lstStyle/>
          <a:p>
            <a:pPr marL="342900" indent="-342900">
              <a:spcBef>
                <a:spcPct val="20000"/>
              </a:spcBef>
              <a:defRPr/>
            </a:pPr>
            <a:r>
              <a:rPr lang="en-US" altLang="zh-CN" sz="2600" dirty="0">
                <a:effectLst>
                  <a:outerShdw blurRad="38100" dist="38100" dir="2700000" algn="tl">
                    <a:srgbClr val="C0C0C0"/>
                  </a:outerShdw>
                </a:effectLst>
              </a:rPr>
              <a:t>     </a:t>
            </a:r>
            <a:r>
              <a:rPr lang="zh-CN" altLang="en-US" sz="2600" dirty="0">
                <a:effectLst>
                  <a:outerShdw blurRad="38100" dist="38100" dir="2700000" algn="tl">
                    <a:srgbClr val="C0C0C0"/>
                  </a:outerShdw>
                </a:effectLst>
              </a:rPr>
              <a:t>如在                  时间间隔内，作用于           的输</a:t>
            </a:r>
          </a:p>
          <a:p>
            <a:pPr marL="342900" indent="-342900">
              <a:spcBef>
                <a:spcPct val="20000"/>
              </a:spcBef>
              <a:defRPr/>
            </a:pPr>
            <a:r>
              <a:rPr lang="zh-CN" altLang="en-US" sz="2600" dirty="0">
                <a:effectLst>
                  <a:outerShdw blurRad="38100" dist="38100" dir="2700000" algn="tl">
                    <a:srgbClr val="C0C0C0"/>
                  </a:outerShdw>
                </a:effectLst>
              </a:rPr>
              <a:t>入脉冲为             ，则          的输出响应为：</a:t>
            </a:r>
          </a:p>
          <a:p>
            <a:pPr marL="342900" indent="-342900">
              <a:spcBef>
                <a:spcPct val="20000"/>
              </a:spcBef>
              <a:defRPr/>
            </a:pPr>
            <a:endParaRPr lang="zh-CN" altLang="en-US" sz="2600" dirty="0">
              <a:effectLst>
                <a:outerShdw blurRad="38100" dist="38100" dir="2700000" algn="tl">
                  <a:srgbClr val="C0C0C0"/>
                </a:outerShdw>
              </a:effectLst>
            </a:endParaRPr>
          </a:p>
          <a:p>
            <a:pPr marL="342900" indent="-342900">
              <a:spcBef>
                <a:spcPct val="20000"/>
              </a:spcBef>
              <a:defRPr/>
            </a:pPr>
            <a:endParaRPr lang="zh-CN" altLang="en-US" sz="2600" dirty="0">
              <a:effectLst>
                <a:outerShdw blurRad="38100" dist="38100" dir="2700000" algn="tl">
                  <a:srgbClr val="C0C0C0"/>
                </a:outerShdw>
              </a:effectLst>
            </a:endParaRPr>
          </a:p>
          <a:p>
            <a:pPr marL="342900" indent="-342900">
              <a:spcBef>
                <a:spcPct val="20000"/>
              </a:spcBef>
              <a:defRPr/>
            </a:pPr>
            <a:r>
              <a:rPr lang="zh-CN" altLang="en-US" sz="2600" dirty="0">
                <a:effectLst>
                  <a:outerShdw blurRad="38100" dist="38100" dir="2700000" algn="tl">
                    <a:srgbClr val="C0C0C0"/>
                  </a:outerShdw>
                </a:effectLst>
              </a:rPr>
              <a:t>式中：       为系统（或环节）的单位脉冲响应，满</a:t>
            </a:r>
          </a:p>
          <a:p>
            <a:pPr marL="342900" indent="-342900">
              <a:spcBef>
                <a:spcPct val="20000"/>
              </a:spcBef>
              <a:defRPr/>
            </a:pPr>
            <a:r>
              <a:rPr lang="zh-CN" altLang="en-US" sz="2600" dirty="0">
                <a:effectLst>
                  <a:outerShdw blurRad="38100" dist="38100" dir="2700000" algn="tl">
                    <a:srgbClr val="C0C0C0"/>
                  </a:outerShdw>
                </a:effectLst>
              </a:rPr>
              <a:t>足如下关系 ：</a:t>
            </a:r>
          </a:p>
        </p:txBody>
      </p:sp>
      <p:graphicFrame>
        <p:nvGraphicFramePr>
          <p:cNvPr id="26626" name="Object 49"/>
          <p:cNvGraphicFramePr>
            <a:graphicFrameLocks noChangeAspect="1"/>
          </p:cNvGraphicFramePr>
          <p:nvPr/>
        </p:nvGraphicFramePr>
        <p:xfrm>
          <a:off x="1908175" y="1557338"/>
          <a:ext cx="1325563" cy="412750"/>
        </p:xfrm>
        <a:graphic>
          <a:graphicData uri="http://schemas.openxmlformats.org/presentationml/2006/ole">
            <mc:AlternateContent xmlns:mc="http://schemas.openxmlformats.org/markup-compatibility/2006">
              <mc:Choice xmlns:v="urn:schemas-microsoft-com:vml" Requires="v">
                <p:oleObj r:id="rId3" imgW="583693" imgH="177646" progId="Equation.3">
                  <p:embed/>
                </p:oleObj>
              </mc:Choice>
              <mc:Fallback>
                <p:oleObj r:id="rId3" imgW="583693" imgH="177646" progId="Equation.3">
                  <p:embed/>
                  <p:pic>
                    <p:nvPicPr>
                      <p:cNvPr id="0" name="Picture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1557338"/>
                        <a:ext cx="1325563" cy="412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7" name="Object 50"/>
          <p:cNvGraphicFramePr>
            <a:graphicFrameLocks noChangeAspect="1"/>
          </p:cNvGraphicFramePr>
          <p:nvPr/>
        </p:nvGraphicFramePr>
        <p:xfrm>
          <a:off x="6432550" y="1571625"/>
          <a:ext cx="760413" cy="431800"/>
        </p:xfrm>
        <a:graphic>
          <a:graphicData uri="http://schemas.openxmlformats.org/presentationml/2006/ole">
            <mc:AlternateContent xmlns:mc="http://schemas.openxmlformats.org/markup-compatibility/2006">
              <mc:Choice xmlns:v="urn:schemas-microsoft-com:vml" Requires="v">
                <p:oleObj r:id="rId5" imgW="355292" imgH="203024" progId="Equation.3">
                  <p:embed/>
                </p:oleObj>
              </mc:Choice>
              <mc:Fallback>
                <p:oleObj r:id="rId5" imgW="355292" imgH="203024" progId="Equation.3">
                  <p:embed/>
                  <p:pic>
                    <p:nvPicPr>
                      <p:cNvPr id="0"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432550" y="1571625"/>
                        <a:ext cx="760413"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8" name="Object 51"/>
          <p:cNvGraphicFramePr>
            <a:graphicFrameLocks noChangeAspect="1"/>
          </p:cNvGraphicFramePr>
          <p:nvPr/>
        </p:nvGraphicFramePr>
        <p:xfrm>
          <a:off x="2195513" y="1989138"/>
          <a:ext cx="898525" cy="438150"/>
        </p:xfrm>
        <a:graphic>
          <a:graphicData uri="http://schemas.openxmlformats.org/presentationml/2006/ole">
            <mc:AlternateContent xmlns:mc="http://schemas.openxmlformats.org/markup-compatibility/2006">
              <mc:Choice xmlns:v="urn:schemas-microsoft-com:vml" Requires="v">
                <p:oleObj r:id="rId7" imgW="406048" imgH="203024" progId="Equation.3">
                  <p:embed/>
                </p:oleObj>
              </mc:Choice>
              <mc:Fallback>
                <p:oleObj r:id="rId7" imgW="406048" imgH="203024" progId="Equation.3">
                  <p:embed/>
                  <p:pic>
                    <p:nvPicPr>
                      <p:cNvPr id="0" name="Picture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195513" y="1989138"/>
                        <a:ext cx="898525"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29" name="Object 52"/>
          <p:cNvGraphicFramePr>
            <a:graphicFrameLocks noChangeAspect="1"/>
          </p:cNvGraphicFramePr>
          <p:nvPr/>
        </p:nvGraphicFramePr>
        <p:xfrm>
          <a:off x="3851275" y="1989138"/>
          <a:ext cx="784225" cy="446087"/>
        </p:xfrm>
        <a:graphic>
          <a:graphicData uri="http://schemas.openxmlformats.org/presentationml/2006/ole">
            <mc:AlternateContent xmlns:mc="http://schemas.openxmlformats.org/markup-compatibility/2006">
              <mc:Choice xmlns:v="urn:schemas-microsoft-com:vml" Requires="v">
                <p:oleObj r:id="rId9" imgW="355292" imgH="203024" progId="Equation.3">
                  <p:embed/>
                </p:oleObj>
              </mc:Choice>
              <mc:Fallback>
                <p:oleObj r:id="rId9" imgW="355292" imgH="203024" progId="Equation.3">
                  <p:embed/>
                  <p:pic>
                    <p:nvPicPr>
                      <p:cNvPr id="0" name="Picture 5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275" y="1989138"/>
                        <a:ext cx="784225" cy="4460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0" name="Object 53"/>
          <p:cNvGraphicFramePr>
            <a:graphicFrameLocks noChangeAspect="1"/>
          </p:cNvGraphicFramePr>
          <p:nvPr/>
        </p:nvGraphicFramePr>
        <p:xfrm>
          <a:off x="2627313" y="2708275"/>
          <a:ext cx="2701925" cy="508000"/>
        </p:xfrm>
        <a:graphic>
          <a:graphicData uri="http://schemas.openxmlformats.org/presentationml/2006/ole">
            <mc:AlternateContent xmlns:mc="http://schemas.openxmlformats.org/markup-compatibility/2006">
              <mc:Choice xmlns:v="urn:schemas-microsoft-com:vml" Requires="v">
                <p:oleObj r:id="rId10" imgW="1066337" imgH="203112" progId="Equation.3">
                  <p:embed/>
                </p:oleObj>
              </mc:Choice>
              <mc:Fallback>
                <p:oleObj r:id="rId10" imgW="1066337" imgH="203112" progId="Equation.3">
                  <p:embed/>
                  <p:pic>
                    <p:nvPicPr>
                      <p:cNvPr id="0" name="Picture 55"/>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2627313" y="2708275"/>
                        <a:ext cx="2701925"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1" name="Object 54"/>
          <p:cNvGraphicFramePr>
            <a:graphicFrameLocks noChangeAspect="1"/>
          </p:cNvGraphicFramePr>
          <p:nvPr/>
        </p:nvGraphicFramePr>
        <p:xfrm>
          <a:off x="1619250" y="3429000"/>
          <a:ext cx="739775" cy="500063"/>
        </p:xfrm>
        <a:graphic>
          <a:graphicData uri="http://schemas.openxmlformats.org/presentationml/2006/ole">
            <mc:AlternateContent xmlns:mc="http://schemas.openxmlformats.org/markup-compatibility/2006">
              <mc:Choice xmlns:v="urn:schemas-microsoft-com:vml" Requires="v">
                <p:oleObj r:id="rId12" imgW="291973" imgH="203112" progId="Equation.3">
                  <p:embed/>
                </p:oleObj>
              </mc:Choice>
              <mc:Fallback>
                <p:oleObj r:id="rId12" imgW="291973" imgH="203112" progId="Equation.3">
                  <p:embed/>
                  <p:pic>
                    <p:nvPicPr>
                      <p:cNvPr id="0" name="Picture 56"/>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1619250" y="3429000"/>
                        <a:ext cx="739775" cy="500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6632" name="Object 55"/>
          <p:cNvGraphicFramePr>
            <a:graphicFrameLocks noChangeAspect="1"/>
          </p:cNvGraphicFramePr>
          <p:nvPr/>
        </p:nvGraphicFramePr>
        <p:xfrm>
          <a:off x="2843213" y="4365625"/>
          <a:ext cx="3008312" cy="1136650"/>
        </p:xfrm>
        <a:graphic>
          <a:graphicData uri="http://schemas.openxmlformats.org/presentationml/2006/ole">
            <mc:AlternateContent xmlns:mc="http://schemas.openxmlformats.org/markup-compatibility/2006">
              <mc:Choice xmlns:v="urn:schemas-microsoft-com:vml" Requires="v">
                <p:oleObj r:id="rId14" imgW="1206500" imgH="457200" progId="Equation.3">
                  <p:embed/>
                </p:oleObj>
              </mc:Choice>
              <mc:Fallback>
                <p:oleObj r:id="rId14" imgW="1206500" imgH="457200" progId="Equation.3">
                  <p:embed/>
                  <p:pic>
                    <p:nvPicPr>
                      <p:cNvPr id="0" name="Picture 57"/>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2843213" y="4365625"/>
                        <a:ext cx="3008312" cy="1136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r"/>
  </p:transition>
</p:sld>
</file>

<file path=ppt/slides/slide3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8394" name="Rectangle 26"/>
          <p:cNvSpPr>
            <a:spLocks noChangeArrowheads="1"/>
          </p:cNvSpPr>
          <p:nvPr/>
        </p:nvSpPr>
        <p:spPr bwMode="auto">
          <a:xfrm>
            <a:off x="539750" y="1412875"/>
            <a:ext cx="8064698" cy="4086225"/>
          </a:xfrm>
          <a:prstGeom prst="rect">
            <a:avLst/>
          </a:prstGeom>
          <a:noFill/>
          <a:ln w="9525">
            <a:noFill/>
            <a:miter lim="800000"/>
            <a:headEnd/>
            <a:tailEnd/>
          </a:ln>
          <a:effectLst/>
        </p:spPr>
        <p:txBody>
          <a:bodyPr/>
          <a:lstStyle/>
          <a:p>
            <a:pPr marL="342900" indent="-342900" algn="just">
              <a:spcBef>
                <a:spcPct val="20000"/>
              </a:spcBef>
              <a:defRPr/>
            </a:pPr>
            <a:r>
              <a:rPr lang="en-US" altLang="zh-CN" sz="2600" dirty="0">
                <a:effectLst>
                  <a:outerShdw blurRad="38100" dist="38100" dir="2700000" algn="tl">
                    <a:srgbClr val="C0C0C0"/>
                  </a:outerShdw>
                </a:effectLst>
              </a:rPr>
              <a:t>       </a:t>
            </a:r>
            <a:r>
              <a:rPr lang="zh-CN" altLang="en-US" sz="2600" dirty="0">
                <a:effectLst>
                  <a:outerShdw blurRad="38100" dist="38100" dir="2700000" algn="tl">
                    <a:srgbClr val="C0C0C0"/>
                  </a:outerShdw>
                </a:effectLst>
              </a:rPr>
              <a:t>在                   时间间隔内，系统是在两个输入脉</a:t>
            </a:r>
          </a:p>
          <a:p>
            <a:pPr marL="342900" indent="-342900" algn="just">
              <a:spcBef>
                <a:spcPct val="20000"/>
              </a:spcBef>
              <a:defRPr/>
            </a:pPr>
            <a:r>
              <a:rPr lang="zh-CN" altLang="en-US" sz="2600" dirty="0">
                <a:effectLst>
                  <a:outerShdw blurRad="38100" dist="38100" dir="2700000" algn="tl">
                    <a:srgbClr val="C0C0C0"/>
                  </a:outerShdw>
                </a:effectLst>
              </a:rPr>
              <a:t>冲作用下：一个是          时的脉冲作用，它产生的</a:t>
            </a:r>
          </a:p>
          <a:p>
            <a:pPr marL="342900" indent="-342900" algn="just">
              <a:spcBef>
                <a:spcPct val="20000"/>
              </a:spcBef>
              <a:defRPr/>
            </a:pPr>
            <a:r>
              <a:rPr lang="zh-CN" altLang="en-US" sz="2600" dirty="0">
                <a:effectLst>
                  <a:outerShdw blurRad="38100" dist="38100" dir="2700000" algn="tl">
                    <a:srgbClr val="C0C0C0"/>
                  </a:outerShdw>
                </a:effectLst>
              </a:rPr>
              <a:t>脉冲响应依然存在；</a:t>
            </a:r>
          </a:p>
          <a:p>
            <a:pPr marL="342900" indent="-342900" algn="just">
              <a:spcBef>
                <a:spcPct val="20000"/>
              </a:spcBef>
              <a:defRPr/>
            </a:pPr>
            <a:r>
              <a:rPr lang="zh-CN" altLang="en-US" sz="2600" dirty="0">
                <a:effectLst>
                  <a:outerShdw blurRad="38100" dist="38100" dir="2700000" algn="tl">
                    <a:srgbClr val="C0C0C0"/>
                  </a:outerShdw>
                </a:effectLst>
              </a:rPr>
              <a:t>      另一个是          时的脉冲作用，所以在此区间的脉冲响应为：</a:t>
            </a:r>
          </a:p>
          <a:p>
            <a:pPr marL="342900" indent="-342900" algn="just">
              <a:spcBef>
                <a:spcPct val="20000"/>
              </a:spcBef>
              <a:defRPr/>
            </a:pPr>
            <a:endParaRPr lang="zh-CN" altLang="en-US" sz="2600" dirty="0">
              <a:effectLst>
                <a:outerShdw blurRad="38100" dist="38100" dir="2700000" algn="tl">
                  <a:srgbClr val="C0C0C0"/>
                </a:outerShdw>
              </a:effectLst>
            </a:endParaRPr>
          </a:p>
          <a:p>
            <a:pPr marL="342900" indent="-342900" algn="just">
              <a:spcBef>
                <a:spcPct val="20000"/>
              </a:spcBef>
              <a:defRPr/>
            </a:pPr>
            <a:endParaRPr lang="zh-CN" altLang="en-US" sz="2600" dirty="0">
              <a:effectLst>
                <a:outerShdw blurRad="38100" dist="38100" dir="2700000" algn="tl">
                  <a:srgbClr val="C0C0C0"/>
                </a:outerShdw>
              </a:effectLst>
            </a:endParaRPr>
          </a:p>
          <a:p>
            <a:pPr marL="342900" indent="-342900" algn="just">
              <a:spcBef>
                <a:spcPct val="20000"/>
              </a:spcBef>
              <a:defRPr/>
            </a:pPr>
            <a:endParaRPr lang="zh-CN" altLang="en-US" sz="1400" dirty="0">
              <a:effectLst>
                <a:outerShdw blurRad="38100" dist="38100" dir="2700000" algn="tl">
                  <a:srgbClr val="C0C0C0"/>
                </a:outerShdw>
              </a:effectLst>
            </a:endParaRPr>
          </a:p>
          <a:p>
            <a:pPr marL="342900" indent="-342900" algn="just">
              <a:spcBef>
                <a:spcPct val="20000"/>
              </a:spcBef>
              <a:defRPr/>
            </a:pPr>
            <a:r>
              <a:rPr lang="zh-CN" altLang="en-US" sz="2600" dirty="0">
                <a:effectLst>
                  <a:outerShdw blurRad="38100" dist="38100" dir="2700000" algn="tl">
                    <a:srgbClr val="C0C0C0"/>
                  </a:outerShdw>
                </a:effectLst>
              </a:rPr>
              <a:t>式中：       </a:t>
            </a:r>
          </a:p>
        </p:txBody>
      </p:sp>
      <p:graphicFrame>
        <p:nvGraphicFramePr>
          <p:cNvPr id="27650" name="Object 27"/>
          <p:cNvGraphicFramePr>
            <a:graphicFrameLocks noChangeAspect="1"/>
          </p:cNvGraphicFramePr>
          <p:nvPr/>
        </p:nvGraphicFramePr>
        <p:xfrm>
          <a:off x="1619250" y="1484313"/>
          <a:ext cx="1468438" cy="387350"/>
        </p:xfrm>
        <a:graphic>
          <a:graphicData uri="http://schemas.openxmlformats.org/presentationml/2006/ole">
            <mc:AlternateContent xmlns:mc="http://schemas.openxmlformats.org/markup-compatibility/2006">
              <mc:Choice xmlns:v="urn:schemas-microsoft-com:vml" Requires="v">
                <p:oleObj r:id="rId3" imgW="685502" imgH="177723" progId="Equation.3">
                  <p:embed/>
                </p:oleObj>
              </mc:Choice>
              <mc:Fallback>
                <p:oleObj r:id="rId3" imgW="685502" imgH="177723" progId="Equation.3">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1484313"/>
                        <a:ext cx="1468438" cy="387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1" name="Object 28"/>
          <p:cNvGraphicFramePr>
            <a:graphicFrameLocks noChangeAspect="1"/>
          </p:cNvGraphicFramePr>
          <p:nvPr/>
        </p:nvGraphicFramePr>
        <p:xfrm>
          <a:off x="3324225" y="1909763"/>
          <a:ext cx="739775" cy="401637"/>
        </p:xfrm>
        <a:graphic>
          <a:graphicData uri="http://schemas.openxmlformats.org/presentationml/2006/ole">
            <mc:AlternateContent xmlns:mc="http://schemas.openxmlformats.org/markup-compatibility/2006">
              <mc:Choice xmlns:v="urn:schemas-microsoft-com:vml" Requires="v">
                <p:oleObj r:id="rId5" imgW="329914" imgH="177646" progId="Equation.3">
                  <p:embed/>
                </p:oleObj>
              </mc:Choice>
              <mc:Fallback>
                <p:oleObj r:id="rId5" imgW="329914" imgH="177646" progId="Equation.3">
                  <p:embed/>
                  <p:pic>
                    <p:nvPicPr>
                      <p:cNvPr id="0"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324225" y="1909763"/>
                        <a:ext cx="739775" cy="401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2" name="Object 29"/>
          <p:cNvGraphicFramePr>
            <a:graphicFrameLocks noChangeAspect="1"/>
          </p:cNvGraphicFramePr>
          <p:nvPr/>
        </p:nvGraphicFramePr>
        <p:xfrm>
          <a:off x="1692275" y="3876675"/>
          <a:ext cx="5143500" cy="519113"/>
        </p:xfrm>
        <a:graphic>
          <a:graphicData uri="http://schemas.openxmlformats.org/presentationml/2006/ole">
            <mc:AlternateContent xmlns:mc="http://schemas.openxmlformats.org/markup-compatibility/2006">
              <mc:Choice xmlns:v="urn:schemas-microsoft-com:vml" Requires="v">
                <p:oleObj r:id="rId7" imgW="1981200" imgH="203200" progId="Equation.3">
                  <p:embed/>
                </p:oleObj>
              </mc:Choice>
              <mc:Fallback>
                <p:oleObj r:id="rId7" imgW="1981200" imgH="203200" progId="Equation.3">
                  <p:embed/>
                  <p:pic>
                    <p:nvPicPr>
                      <p:cNvPr id="0" name="Picture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692275" y="3876675"/>
                        <a:ext cx="5143500"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3" name="Object 30"/>
          <p:cNvGraphicFramePr>
            <a:graphicFrameLocks noChangeAspect="1"/>
          </p:cNvGraphicFramePr>
          <p:nvPr/>
        </p:nvGraphicFramePr>
        <p:xfrm>
          <a:off x="2555875" y="4740275"/>
          <a:ext cx="3209925" cy="993775"/>
        </p:xfrm>
        <a:graphic>
          <a:graphicData uri="http://schemas.openxmlformats.org/presentationml/2006/ole">
            <mc:AlternateContent xmlns:mc="http://schemas.openxmlformats.org/markup-compatibility/2006">
              <mc:Choice xmlns:v="urn:schemas-microsoft-com:vml" Requires="v">
                <p:oleObj r:id="rId9" imgW="1473200" imgH="457200" progId="Equation.3">
                  <p:embed/>
                </p:oleObj>
              </mc:Choice>
              <mc:Fallback>
                <p:oleObj r:id="rId9" imgW="1473200" imgH="457200" progId="Equation.3">
                  <p:embed/>
                  <p:pic>
                    <p:nvPicPr>
                      <p:cNvPr id="0"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555875" y="4740275"/>
                        <a:ext cx="3209925" cy="993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7654" name="Object 31"/>
          <p:cNvGraphicFramePr>
            <a:graphicFrameLocks noChangeAspect="1"/>
          </p:cNvGraphicFramePr>
          <p:nvPr>
            <p:extLst>
              <p:ext uri="{D42A27DB-BD31-4B8C-83A1-F6EECF244321}">
                <p14:modId xmlns:p14="http://schemas.microsoft.com/office/powerpoint/2010/main" val="2629398996"/>
              </p:ext>
            </p:extLst>
          </p:nvPr>
        </p:nvGraphicFramePr>
        <p:xfrm>
          <a:off x="2647547" y="2909887"/>
          <a:ext cx="709612" cy="368300"/>
        </p:xfrm>
        <a:graphic>
          <a:graphicData uri="http://schemas.openxmlformats.org/presentationml/2006/ole">
            <mc:AlternateContent xmlns:mc="http://schemas.openxmlformats.org/markup-compatibility/2006">
              <mc:Choice xmlns:v="urn:schemas-microsoft-com:vml" Requires="v">
                <p:oleObj name="Equation" r:id="rId11" imgW="342603" imgH="177646" progId="Equation.DSMT4">
                  <p:embed/>
                </p:oleObj>
              </mc:Choice>
              <mc:Fallback>
                <p:oleObj name="Equation" r:id="rId11" imgW="342603" imgH="177646" progId="Equation.DSMT4">
                  <p:embed/>
                  <p:pic>
                    <p:nvPicPr>
                      <p:cNvPr id="0" name="Picture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647547" y="2909887"/>
                        <a:ext cx="709612" cy="368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r"/>
  </p:transition>
</p:sld>
</file>

<file path=ppt/slides/slide3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59455" name="Text Box 63"/>
          <p:cNvSpPr txBox="1">
            <a:spLocks noChangeArrowheads="1"/>
          </p:cNvSpPr>
          <p:nvPr/>
        </p:nvSpPr>
        <p:spPr bwMode="auto">
          <a:xfrm>
            <a:off x="900113" y="1557338"/>
            <a:ext cx="7508875" cy="3292475"/>
          </a:xfrm>
          <a:prstGeom prst="rect">
            <a:avLst/>
          </a:prstGeom>
          <a:noFill/>
          <a:ln w="9525" algn="ctr">
            <a:noFill/>
            <a:miter lim="800000"/>
            <a:headEnd/>
            <a:tailEnd/>
          </a:ln>
          <a:effectLst/>
        </p:spPr>
        <p:txBody>
          <a:bodyPr>
            <a:spAutoFit/>
          </a:bodyPr>
          <a:lstStyle/>
          <a:p>
            <a:pPr>
              <a:lnSpc>
                <a:spcPct val="125000"/>
              </a:lnSpc>
              <a:defRPr/>
            </a:pP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所以当系统或环节的输入为一系列脉冲时，输出应为各个脉冲响应之和。</a:t>
            </a:r>
          </a:p>
          <a:p>
            <a:pPr>
              <a:lnSpc>
                <a:spcPct val="125000"/>
              </a:lnSpc>
              <a:defRPr/>
            </a:pPr>
            <a:r>
              <a:rPr kumimoji="0" lang="zh-CN" altLang="en-US" sz="2400">
                <a:effectLst>
                  <a:outerShdw blurRad="38100" dist="38100" dir="2700000" algn="tl">
                    <a:srgbClr val="C0C0C0"/>
                  </a:outerShdw>
                </a:effectLst>
              </a:rPr>
              <a:t>    在               时刻，输出的脉冲值是 </a:t>
            </a:r>
            <a:r>
              <a:rPr kumimoji="0" lang="en-US" altLang="zh-CN" sz="2400" i="1">
                <a:effectLst>
                  <a:outerShdw blurRad="38100" dist="38100" dir="2700000" algn="tl">
                    <a:srgbClr val="C0C0C0"/>
                  </a:outerShdw>
                </a:effectLst>
              </a:rPr>
              <a:t>kT </a:t>
            </a:r>
            <a:r>
              <a:rPr kumimoji="0" lang="zh-CN" altLang="en-US" sz="2400">
                <a:effectLst>
                  <a:outerShdw blurRad="38100" dist="38100" dir="2700000" algn="tl">
                    <a:srgbClr val="C0C0C0"/>
                  </a:outerShdw>
                </a:effectLst>
              </a:rPr>
              <a:t>时刻和 </a:t>
            </a:r>
            <a:r>
              <a:rPr kumimoji="0" lang="en-US" altLang="zh-CN" sz="2400" i="1">
                <a:effectLst>
                  <a:outerShdw blurRad="38100" dist="38100" dir="2700000" algn="tl">
                    <a:srgbClr val="C0C0C0"/>
                  </a:outerShdw>
                </a:effectLst>
              </a:rPr>
              <a:t>kT</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时刻以前的所有输入脉冲在该时刻脉冲响应的总和，故：</a:t>
            </a:r>
          </a:p>
          <a:p>
            <a:pPr>
              <a:lnSpc>
                <a:spcPct val="125000"/>
              </a:lnSpc>
              <a:defRPr/>
            </a:pPr>
            <a:endParaRPr kumimoji="0" lang="zh-CN" altLang="en-US" sz="2400">
              <a:effectLst>
                <a:outerShdw blurRad="38100" dist="38100" dir="2700000" algn="tl">
                  <a:srgbClr val="C0C0C0"/>
                </a:outerShdw>
              </a:effectLst>
            </a:endParaRPr>
          </a:p>
          <a:p>
            <a:pPr>
              <a:lnSpc>
                <a:spcPct val="125000"/>
              </a:lnSpc>
              <a:defRPr/>
            </a:pPr>
            <a:endParaRPr kumimoji="0" lang="zh-CN" altLang="en-US" sz="2400">
              <a:effectLst>
                <a:outerShdw blurRad="38100" dist="38100" dir="2700000" algn="tl">
                  <a:srgbClr val="C0C0C0"/>
                </a:outerShdw>
              </a:effectLst>
            </a:endParaRPr>
          </a:p>
          <a:p>
            <a:pPr>
              <a:lnSpc>
                <a:spcPct val="125000"/>
              </a:lnSpc>
              <a:defRPr/>
            </a:pPr>
            <a:r>
              <a:rPr kumimoji="0" lang="zh-CN" altLang="en-US" sz="2400">
                <a:effectLst>
                  <a:outerShdw blurRad="38100" dist="38100" dir="2700000" algn="tl">
                    <a:srgbClr val="C0C0C0"/>
                  </a:outerShdw>
                </a:effectLst>
              </a:rPr>
              <a:t>由卷积定理可得：</a:t>
            </a:r>
          </a:p>
        </p:txBody>
      </p:sp>
      <p:graphicFrame>
        <p:nvGraphicFramePr>
          <p:cNvPr id="28674" name="Object 64"/>
          <p:cNvGraphicFramePr>
            <a:graphicFrameLocks noChangeAspect="1"/>
          </p:cNvGraphicFramePr>
          <p:nvPr/>
        </p:nvGraphicFramePr>
        <p:xfrm>
          <a:off x="1692275" y="2565400"/>
          <a:ext cx="981075" cy="414338"/>
        </p:xfrm>
        <a:graphic>
          <a:graphicData uri="http://schemas.openxmlformats.org/presentationml/2006/ole">
            <mc:AlternateContent xmlns:mc="http://schemas.openxmlformats.org/markup-compatibility/2006">
              <mc:Choice xmlns:v="urn:schemas-microsoft-com:vml" Requires="v">
                <p:oleObj r:id="rId3" imgW="431425" imgH="177646" progId="Equation.3">
                  <p:embed/>
                </p:oleObj>
              </mc:Choice>
              <mc:Fallback>
                <p:oleObj r:id="rId3" imgW="431425" imgH="177646" progId="Equation.3">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2565400"/>
                        <a:ext cx="981075" cy="414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5" name="Object 65"/>
          <p:cNvGraphicFramePr>
            <a:graphicFrameLocks noChangeAspect="1"/>
          </p:cNvGraphicFramePr>
          <p:nvPr/>
        </p:nvGraphicFramePr>
        <p:xfrm>
          <a:off x="2360613" y="3429000"/>
          <a:ext cx="4110037" cy="1011238"/>
        </p:xfrm>
        <a:graphic>
          <a:graphicData uri="http://schemas.openxmlformats.org/presentationml/2006/ole">
            <mc:AlternateContent xmlns:mc="http://schemas.openxmlformats.org/markup-compatibility/2006">
              <mc:Choice xmlns:v="urn:schemas-microsoft-com:vml" Requires="v">
                <p:oleObj r:id="rId5" imgW="1739900" imgH="431800" progId="Equation.3">
                  <p:embed/>
                </p:oleObj>
              </mc:Choice>
              <mc:Fallback>
                <p:oleObj r:id="rId5" imgW="1739900" imgH="431800" progId="Equation.3">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60613" y="3429000"/>
                        <a:ext cx="4110037" cy="1011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8676" name="Object 66"/>
          <p:cNvGraphicFramePr>
            <a:graphicFrameLocks noChangeAspect="1"/>
          </p:cNvGraphicFramePr>
          <p:nvPr/>
        </p:nvGraphicFramePr>
        <p:xfrm>
          <a:off x="1196975" y="5119688"/>
          <a:ext cx="2652713" cy="476250"/>
        </p:xfrm>
        <a:graphic>
          <a:graphicData uri="http://schemas.openxmlformats.org/presentationml/2006/ole">
            <mc:AlternateContent xmlns:mc="http://schemas.openxmlformats.org/markup-compatibility/2006">
              <mc:Choice xmlns:v="urn:schemas-microsoft-com:vml" Requires="v">
                <p:oleObj r:id="rId7" imgW="1117115" imgH="203112" progId="Equation.3">
                  <p:embed/>
                </p:oleObj>
              </mc:Choice>
              <mc:Fallback>
                <p:oleObj r:id="rId7" imgW="1117115" imgH="203112" progId="Equation.3">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96975" y="5119688"/>
                        <a:ext cx="2652713"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9459" name="AutoShape 67"/>
          <p:cNvSpPr>
            <a:spLocks noChangeArrowheads="1"/>
          </p:cNvSpPr>
          <p:nvPr/>
        </p:nvSpPr>
        <p:spPr bwMode="auto">
          <a:xfrm>
            <a:off x="4152900" y="5322888"/>
            <a:ext cx="884238" cy="16033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66"/>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59460" name="Text Box 68"/>
          <p:cNvSpPr txBox="1">
            <a:spLocks noChangeArrowheads="1"/>
          </p:cNvSpPr>
          <p:nvPr/>
        </p:nvSpPr>
        <p:spPr bwMode="auto">
          <a:xfrm>
            <a:off x="4135438" y="4886325"/>
            <a:ext cx="1204912" cy="457200"/>
          </a:xfrm>
          <a:prstGeom prst="rect">
            <a:avLst/>
          </a:prstGeom>
          <a:noFill/>
          <a:ln w="9525">
            <a:noFill/>
            <a:miter lim="800000"/>
            <a:headEnd/>
            <a:tailEnd/>
          </a:ln>
          <a:effectLst/>
        </p:spPr>
        <p:txBody>
          <a:bodyPr>
            <a:spAutoFit/>
          </a:bodyPr>
          <a:lstStyle/>
          <a:p>
            <a:pPr eaLnBrk="0" hangingPunct="0">
              <a:spcBef>
                <a:spcPct val="50000"/>
              </a:spcBef>
              <a:defRPr/>
            </a:pPr>
            <a:r>
              <a:rPr kumimoji="0" lang="zh-CN" altLang="en-US" sz="2400">
                <a:solidFill>
                  <a:srgbClr val="0000FF"/>
                </a:solidFill>
                <a:effectLst>
                  <a:outerShdw blurRad="38100" dist="38100" dir="2700000" algn="tl">
                    <a:srgbClr val="C0C0C0"/>
                  </a:outerShdw>
                </a:effectLst>
                <a:ea typeface="宋体-方正超大字符集" pitchFamily="65" charset="-122"/>
              </a:rPr>
              <a:t>整理</a:t>
            </a:r>
          </a:p>
        </p:txBody>
      </p:sp>
      <p:graphicFrame>
        <p:nvGraphicFramePr>
          <p:cNvPr id="28677" name="Object 69"/>
          <p:cNvGraphicFramePr>
            <a:graphicFrameLocks noChangeAspect="1"/>
          </p:cNvGraphicFramePr>
          <p:nvPr/>
        </p:nvGraphicFramePr>
        <p:xfrm>
          <a:off x="5457825" y="4797425"/>
          <a:ext cx="2128838" cy="1028700"/>
        </p:xfrm>
        <a:graphic>
          <a:graphicData uri="http://schemas.openxmlformats.org/presentationml/2006/ole">
            <mc:AlternateContent xmlns:mc="http://schemas.openxmlformats.org/markup-compatibility/2006">
              <mc:Choice xmlns:v="urn:schemas-microsoft-com:vml" Requires="v">
                <p:oleObj r:id="rId9" imgW="863225" imgH="418918" progId="Equation.3">
                  <p:embed/>
                </p:oleObj>
              </mc:Choice>
              <mc:Fallback>
                <p:oleObj r:id="rId9" imgW="863225" imgH="418918" progId="Equation.3">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457825" y="4797425"/>
                        <a:ext cx="2128838" cy="1028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r"/>
  </p:transition>
</p:sld>
</file>

<file path=ppt/slides/slide3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0449" name="Rectangle 33"/>
          <p:cNvSpPr>
            <a:spLocks noChangeArrowheads="1"/>
          </p:cNvSpPr>
          <p:nvPr/>
        </p:nvSpPr>
        <p:spPr bwMode="auto">
          <a:xfrm>
            <a:off x="1187450" y="1052513"/>
            <a:ext cx="6053138" cy="619125"/>
          </a:xfrm>
          <a:prstGeom prst="rect">
            <a:avLst/>
          </a:prstGeom>
          <a:noFill/>
          <a:ln w="9525">
            <a:noFill/>
            <a:miter lim="800000"/>
            <a:headEnd/>
            <a:tailEnd/>
          </a:ln>
          <a:effectLst/>
        </p:spPr>
        <p:txBody>
          <a:bodyPr/>
          <a:lstStyle/>
          <a:p>
            <a:pPr marL="609600" indent="-609600">
              <a:spcBef>
                <a:spcPct val="20000"/>
              </a:spcBef>
              <a:defRPr/>
            </a:pPr>
            <a:r>
              <a:rPr lang="en-US" altLang="zh-CN" sz="2600" u="sng">
                <a:solidFill>
                  <a:srgbClr val="FF0000"/>
                </a:solidFill>
                <a:effectLst>
                  <a:outerShdw blurRad="38100" dist="38100" dir="2700000" algn="tl">
                    <a:srgbClr val="C0C0C0"/>
                  </a:outerShdw>
                </a:effectLst>
              </a:rPr>
              <a:t> 2) </a:t>
            </a:r>
            <a:r>
              <a:rPr lang="zh-CN" altLang="en-US" sz="2600" u="sng">
                <a:solidFill>
                  <a:srgbClr val="FF0000"/>
                </a:solidFill>
                <a:effectLst>
                  <a:outerShdw blurRad="38100" dist="38100" dir="2700000" algn="tl">
                    <a:srgbClr val="C0C0C0"/>
                  </a:outerShdw>
                </a:effectLst>
              </a:rPr>
              <a:t>由拉氏变换求出  </a:t>
            </a:r>
            <a:r>
              <a:rPr lang="en-US" altLang="zh-CN" sz="2600" i="1" u="sng">
                <a:solidFill>
                  <a:srgbClr val="FF0000"/>
                </a:solidFill>
                <a:effectLst>
                  <a:outerShdw blurRad="38100" dist="38100" dir="2700000" algn="tl">
                    <a:srgbClr val="C0C0C0"/>
                  </a:outerShdw>
                </a:effectLst>
              </a:rPr>
              <a:t>W</a:t>
            </a:r>
            <a:r>
              <a:rPr lang="en-US" altLang="zh-CN" sz="2600" u="sng">
                <a:solidFill>
                  <a:srgbClr val="FF0000"/>
                </a:solidFill>
                <a:effectLst>
                  <a:outerShdw blurRad="38100" dist="38100" dir="2700000" algn="tl">
                    <a:srgbClr val="C0C0C0"/>
                  </a:outerShdw>
                </a:effectLst>
              </a:rPr>
              <a:t>(</a:t>
            </a:r>
            <a:r>
              <a:rPr lang="en-US" altLang="zh-CN" sz="2600" i="1" u="sng">
                <a:solidFill>
                  <a:srgbClr val="FF0000"/>
                </a:solidFill>
                <a:effectLst>
                  <a:outerShdw blurRad="38100" dist="38100" dir="2700000" algn="tl">
                    <a:srgbClr val="C0C0C0"/>
                  </a:outerShdw>
                </a:effectLst>
              </a:rPr>
              <a:t>z</a:t>
            </a:r>
            <a:r>
              <a:rPr lang="en-US" altLang="zh-CN" sz="2600" u="sng">
                <a:solidFill>
                  <a:srgbClr val="FF0000"/>
                </a:solidFill>
                <a:effectLst>
                  <a:outerShdw blurRad="38100" dist="38100" dir="2700000" algn="tl">
                    <a:srgbClr val="C0C0C0"/>
                  </a:outerShdw>
                </a:effectLst>
              </a:rPr>
              <a:t>)            </a:t>
            </a:r>
          </a:p>
        </p:txBody>
      </p:sp>
      <p:graphicFrame>
        <p:nvGraphicFramePr>
          <p:cNvPr id="29698" name="Object 34"/>
          <p:cNvGraphicFramePr>
            <a:graphicFrameLocks noChangeAspect="1"/>
          </p:cNvGraphicFramePr>
          <p:nvPr/>
        </p:nvGraphicFramePr>
        <p:xfrm>
          <a:off x="2555776" y="1628800"/>
          <a:ext cx="2619375" cy="523875"/>
        </p:xfrm>
        <a:graphic>
          <a:graphicData uri="http://schemas.openxmlformats.org/presentationml/2006/ole">
            <mc:AlternateContent xmlns:mc="http://schemas.openxmlformats.org/markup-compatibility/2006">
              <mc:Choice xmlns:v="urn:schemas-microsoft-com:vml" Requires="v">
                <p:oleObj name="Equation" r:id="rId3" imgW="1143000" imgH="228600" progId="Equation.DSMT4">
                  <p:embed/>
                </p:oleObj>
              </mc:Choice>
              <mc:Fallback>
                <p:oleObj name="Equation" r:id="rId3" imgW="1143000" imgH="228600" progId="Equation.DSMT4">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776" y="1628800"/>
                        <a:ext cx="2619375" cy="523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0452" name="AutoShape 36"/>
          <p:cNvSpPr>
            <a:spLocks noChangeArrowheads="1"/>
          </p:cNvSpPr>
          <p:nvPr/>
        </p:nvSpPr>
        <p:spPr bwMode="auto">
          <a:xfrm>
            <a:off x="5580112" y="3140968"/>
            <a:ext cx="433387" cy="863724"/>
          </a:xfrm>
          <a:prstGeom prst="curvedLeftArrow">
            <a:avLst>
              <a:gd name="adj1" fmla="val 43150"/>
              <a:gd name="adj2" fmla="val 86301"/>
              <a:gd name="adj3" fmla="val 33333"/>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29699" name="Object 37"/>
          <p:cNvGraphicFramePr>
            <a:graphicFrameLocks noChangeAspect="1"/>
          </p:cNvGraphicFramePr>
          <p:nvPr/>
        </p:nvGraphicFramePr>
        <p:xfrm>
          <a:off x="2431530" y="3645024"/>
          <a:ext cx="2592387" cy="1490663"/>
        </p:xfrm>
        <a:graphic>
          <a:graphicData uri="http://schemas.openxmlformats.org/presentationml/2006/ole">
            <mc:AlternateContent xmlns:mc="http://schemas.openxmlformats.org/markup-compatibility/2006">
              <mc:Choice xmlns:v="urn:schemas-microsoft-com:vml" Requires="v">
                <p:oleObj name="Equation" r:id="rId5" imgW="1104421" imgH="634725" progId="Equation.DSMT4">
                  <p:embed/>
                </p:oleObj>
              </mc:Choice>
              <mc:Fallback>
                <p:oleObj name="Equation" r:id="rId5" imgW="1104421" imgH="634725" progId="Equation.DSMT4">
                  <p:embed/>
                  <p:pic>
                    <p:nvPicPr>
                      <p:cNvPr id="0"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31530" y="3645024"/>
                        <a:ext cx="2592387" cy="1490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54" name="Text Box 38"/>
          <p:cNvSpPr txBox="1">
            <a:spLocks noChangeArrowheads="1"/>
          </p:cNvSpPr>
          <p:nvPr/>
        </p:nvSpPr>
        <p:spPr bwMode="auto">
          <a:xfrm>
            <a:off x="899592" y="4364162"/>
            <a:ext cx="13160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即：</a:t>
            </a:r>
          </a:p>
        </p:txBody>
      </p:sp>
      <p:sp>
        <p:nvSpPr>
          <p:cNvPr id="60455" name="Rectangle 39"/>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60456" name="Text Box 40"/>
          <p:cNvSpPr txBox="1">
            <a:spLocks noChangeArrowheads="1"/>
          </p:cNvSpPr>
          <p:nvPr/>
        </p:nvSpPr>
        <p:spPr bwMode="auto">
          <a:xfrm>
            <a:off x="1712392" y="5445100"/>
            <a:ext cx="1531938" cy="519112"/>
          </a:xfrm>
          <a:prstGeom prst="rect">
            <a:avLst/>
          </a:prstGeom>
          <a:noFill/>
          <a:ln w="9525" algn="ctr">
            <a:noFill/>
            <a:miter lim="800000"/>
            <a:headEnd/>
            <a:tailEnd/>
          </a:ln>
          <a:effectLst/>
        </p:spPr>
        <p:txBody>
          <a:bodyPr>
            <a:spAutoFit/>
          </a:bodyPr>
          <a:lstStyle/>
          <a:p>
            <a:pPr>
              <a:defRPr/>
            </a:pPr>
            <a:r>
              <a:rPr kumimoji="0" lang="en-US" altLang="zh-CN" sz="2800" i="1">
                <a:solidFill>
                  <a:srgbClr val="FF3300"/>
                </a:solidFill>
                <a:effectLst>
                  <a:outerShdw blurRad="38100" dist="38100" dir="2700000" algn="tl">
                    <a:srgbClr val="C0C0C0"/>
                  </a:outerShdw>
                </a:effectLst>
              </a:rPr>
              <a:t>W</a:t>
            </a:r>
            <a:r>
              <a:rPr kumimoji="0" lang="en-US" altLang="zh-CN" sz="2800">
                <a:solidFill>
                  <a:srgbClr val="FF3300"/>
                </a:solidFill>
                <a:effectLst>
                  <a:outerShdw blurRad="38100" dist="38100" dir="2700000" algn="tl">
                    <a:srgbClr val="C0C0C0"/>
                  </a:outerShdw>
                </a:effectLst>
              </a:rPr>
              <a:t>(</a:t>
            </a:r>
            <a:r>
              <a:rPr kumimoji="0" lang="en-US" altLang="zh-CN" sz="2800" i="1">
                <a:solidFill>
                  <a:srgbClr val="FF3300"/>
                </a:solidFill>
                <a:effectLst>
                  <a:outerShdw blurRad="38100" dist="38100" dir="2700000" algn="tl">
                    <a:srgbClr val="C0C0C0"/>
                  </a:outerShdw>
                </a:effectLst>
              </a:rPr>
              <a:t>s</a:t>
            </a:r>
            <a:r>
              <a:rPr kumimoji="0" lang="en-US" altLang="zh-CN" sz="2800">
                <a:solidFill>
                  <a:srgbClr val="FF3300"/>
                </a:solidFill>
                <a:effectLst>
                  <a:outerShdw blurRad="38100" dist="38100" dir="2700000" algn="tl">
                    <a:srgbClr val="C0C0C0"/>
                  </a:outerShdw>
                </a:effectLst>
              </a:rPr>
              <a:t>)</a:t>
            </a:r>
          </a:p>
        </p:txBody>
      </p:sp>
      <p:sp>
        <p:nvSpPr>
          <p:cNvPr id="60457" name="AutoShape 41"/>
          <p:cNvSpPr>
            <a:spLocks noChangeArrowheads="1"/>
          </p:cNvSpPr>
          <p:nvPr/>
        </p:nvSpPr>
        <p:spPr bwMode="auto">
          <a:xfrm>
            <a:off x="2647430" y="5516537"/>
            <a:ext cx="3240087" cy="504825"/>
          </a:xfrm>
          <a:prstGeom prst="rightArrow">
            <a:avLst>
              <a:gd name="adj1" fmla="val 50000"/>
              <a:gd name="adj2" fmla="val 160456"/>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60458" name="Text Box 42"/>
          <p:cNvSpPr txBox="1">
            <a:spLocks noChangeArrowheads="1"/>
          </p:cNvSpPr>
          <p:nvPr/>
        </p:nvSpPr>
        <p:spPr bwMode="auto">
          <a:xfrm>
            <a:off x="6031980" y="5517232"/>
            <a:ext cx="1531937" cy="519113"/>
          </a:xfrm>
          <a:prstGeom prst="rect">
            <a:avLst/>
          </a:prstGeom>
          <a:noFill/>
          <a:ln w="9525" algn="ctr">
            <a:noFill/>
            <a:miter lim="800000"/>
            <a:headEnd/>
            <a:tailEnd/>
          </a:ln>
          <a:effectLst/>
        </p:spPr>
        <p:txBody>
          <a:bodyPr>
            <a:spAutoFit/>
          </a:bodyPr>
          <a:lstStyle/>
          <a:p>
            <a:pPr>
              <a:defRPr/>
            </a:pPr>
            <a:r>
              <a:rPr kumimoji="0" lang="en-US" altLang="zh-CN" sz="2800" i="1" dirty="0">
                <a:solidFill>
                  <a:srgbClr val="FF3300"/>
                </a:solidFill>
                <a:effectLst>
                  <a:outerShdw blurRad="38100" dist="38100" dir="2700000" algn="tl">
                    <a:srgbClr val="C0C0C0"/>
                  </a:outerShdw>
                </a:effectLst>
              </a:rPr>
              <a:t>W</a:t>
            </a:r>
            <a:r>
              <a:rPr kumimoji="0" lang="en-US" altLang="zh-CN" sz="2800" dirty="0">
                <a:solidFill>
                  <a:srgbClr val="FF3300"/>
                </a:solidFill>
                <a:effectLst>
                  <a:outerShdw blurRad="38100" dist="38100" dir="2700000" algn="tl">
                    <a:srgbClr val="C0C0C0"/>
                  </a:outerShdw>
                </a:effectLst>
              </a:rPr>
              <a:t>(</a:t>
            </a:r>
            <a:r>
              <a:rPr kumimoji="0" lang="en-US" altLang="zh-CN" sz="2800" i="1" dirty="0">
                <a:solidFill>
                  <a:srgbClr val="FF3300"/>
                </a:solidFill>
                <a:effectLst>
                  <a:outerShdw blurRad="38100" dist="38100" dir="2700000" algn="tl">
                    <a:srgbClr val="C0C0C0"/>
                  </a:outerShdw>
                </a:effectLst>
              </a:rPr>
              <a:t>z</a:t>
            </a:r>
            <a:r>
              <a:rPr kumimoji="0" lang="en-US" altLang="zh-CN" sz="2800" dirty="0">
                <a:solidFill>
                  <a:srgbClr val="FF3300"/>
                </a:solidFill>
                <a:effectLst>
                  <a:outerShdw blurRad="38100" dist="38100" dir="2700000" algn="tl">
                    <a:srgbClr val="C0C0C0"/>
                  </a:outerShdw>
                </a:effectLst>
              </a:rPr>
              <a:t>)</a:t>
            </a:r>
          </a:p>
        </p:txBody>
      </p:sp>
      <p:sp>
        <p:nvSpPr>
          <p:cNvPr id="60459" name="Text Box 43"/>
          <p:cNvSpPr txBox="1">
            <a:spLocks noChangeArrowheads="1"/>
          </p:cNvSpPr>
          <p:nvPr/>
        </p:nvSpPr>
        <p:spPr bwMode="auto">
          <a:xfrm>
            <a:off x="2720455" y="5229200"/>
            <a:ext cx="2327275" cy="396875"/>
          </a:xfrm>
          <a:prstGeom prst="rect">
            <a:avLst/>
          </a:prstGeom>
          <a:noFill/>
          <a:ln w="9525" algn="ctr">
            <a:noFill/>
            <a:miter lim="800000"/>
            <a:headEnd/>
            <a:tailEnd/>
          </a:ln>
          <a:effectLst/>
        </p:spPr>
        <p:txBody>
          <a:bodyPr wrap="none">
            <a:spAutoFit/>
          </a:bodyPr>
          <a:lstStyle/>
          <a:p>
            <a:pPr>
              <a:defRPr/>
            </a:pPr>
            <a:r>
              <a:rPr kumimoji="0" lang="en-US" altLang="zh-CN" i="1">
                <a:solidFill>
                  <a:srgbClr val="0000FF"/>
                </a:solidFill>
                <a:effectLst>
                  <a:outerShdw blurRad="38100" dist="38100" dir="2700000" algn="tl">
                    <a:srgbClr val="C0C0C0"/>
                  </a:outerShdw>
                </a:effectLst>
              </a:rPr>
              <a:t>z</a:t>
            </a:r>
            <a:r>
              <a:rPr kumimoji="0" lang="zh-CN" altLang="en-US">
                <a:solidFill>
                  <a:srgbClr val="0000FF"/>
                </a:solidFill>
                <a:effectLst>
                  <a:outerShdw blurRad="38100" dist="38100" dir="2700000" algn="tl">
                    <a:srgbClr val="C0C0C0"/>
                  </a:outerShdw>
                </a:effectLst>
              </a:rPr>
              <a:t>变换的部分分式法</a:t>
            </a:r>
          </a:p>
        </p:txBody>
      </p:sp>
      <p:sp>
        <p:nvSpPr>
          <p:cNvPr id="60460" name="Text Box 44"/>
          <p:cNvSpPr txBox="1">
            <a:spLocks noChangeArrowheads="1"/>
          </p:cNvSpPr>
          <p:nvPr/>
        </p:nvSpPr>
        <p:spPr bwMode="auto">
          <a:xfrm>
            <a:off x="3152255" y="5948337"/>
            <a:ext cx="1462087" cy="396875"/>
          </a:xfrm>
          <a:prstGeom prst="rect">
            <a:avLst/>
          </a:prstGeom>
          <a:noFill/>
          <a:ln w="9525" algn="ctr">
            <a:noFill/>
            <a:miter lim="800000"/>
            <a:headEnd/>
            <a:tailEnd/>
          </a:ln>
          <a:effectLst/>
        </p:spPr>
        <p:txBody>
          <a:bodyPr wrap="none">
            <a:spAutoFit/>
          </a:bodyPr>
          <a:lstStyle/>
          <a:p>
            <a:pPr>
              <a:defRPr/>
            </a:pPr>
            <a:r>
              <a:rPr kumimoji="0" lang="zh-CN" altLang="en-US">
                <a:solidFill>
                  <a:srgbClr val="0000FF"/>
                </a:solidFill>
                <a:effectLst>
                  <a:outerShdw blurRad="38100" dist="38100" dir="2700000" algn="tl">
                    <a:srgbClr val="C0C0C0"/>
                  </a:outerShdw>
                </a:effectLst>
              </a:rPr>
              <a:t>留数计算法</a:t>
            </a:r>
          </a:p>
        </p:txBody>
      </p:sp>
      <p:graphicFrame>
        <p:nvGraphicFramePr>
          <p:cNvPr id="29700" name="Object 53"/>
          <p:cNvGraphicFramePr>
            <a:graphicFrameLocks noChangeAspect="1"/>
          </p:cNvGraphicFramePr>
          <p:nvPr/>
        </p:nvGraphicFramePr>
        <p:xfrm>
          <a:off x="6046788" y="1556792"/>
          <a:ext cx="2629668" cy="700885"/>
        </p:xfrm>
        <a:graphic>
          <a:graphicData uri="http://schemas.openxmlformats.org/presentationml/2006/ole">
            <mc:AlternateContent xmlns:mc="http://schemas.openxmlformats.org/markup-compatibility/2006">
              <mc:Choice xmlns:v="urn:schemas-microsoft-com:vml" Requires="v">
                <p:oleObj name="Equation" r:id="rId7" imgW="1612900" imgH="431800" progId="Equation.DSMT4">
                  <p:embed/>
                </p:oleObj>
              </mc:Choice>
              <mc:Fallback>
                <p:oleObj name="Equation" r:id="rId7" imgW="1612900" imgH="431800" progId="Equation.DSMT4">
                  <p:embed/>
                  <p:pic>
                    <p:nvPicPr>
                      <p:cNvPr id="0" name="Picture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046788" y="1556792"/>
                        <a:ext cx="2629668" cy="700885"/>
                      </a:xfrm>
                      <a:prstGeom prst="rect">
                        <a:avLst/>
                      </a:prstGeom>
                      <a:solidFill>
                        <a:srgbClr val="CCFFCC"/>
                      </a:solidFill>
                    </p:spPr>
                  </p:pic>
                </p:oleObj>
              </mc:Fallback>
            </mc:AlternateContent>
          </a:graphicData>
        </a:graphic>
      </p:graphicFrame>
      <p:graphicFrame>
        <p:nvGraphicFramePr>
          <p:cNvPr id="15" name="Object 53"/>
          <p:cNvGraphicFramePr>
            <a:graphicFrameLocks noChangeAspect="1"/>
          </p:cNvGraphicFramePr>
          <p:nvPr/>
        </p:nvGraphicFramePr>
        <p:xfrm>
          <a:off x="1403648" y="2204864"/>
          <a:ext cx="6232843" cy="720080"/>
        </p:xfrm>
        <a:graphic>
          <a:graphicData uri="http://schemas.openxmlformats.org/presentationml/2006/ole">
            <mc:AlternateContent xmlns:mc="http://schemas.openxmlformats.org/markup-compatibility/2006">
              <mc:Choice xmlns:v="urn:schemas-microsoft-com:vml" Requires="v">
                <p:oleObj name="Equation" r:id="rId9" imgW="3721100" imgH="431800" progId="Equation.DSMT4">
                  <p:embed/>
                </p:oleObj>
              </mc:Choice>
              <mc:Fallback>
                <p:oleObj name="Equation" r:id="rId9" imgW="3721100" imgH="431800" progId="Equation.DSMT4">
                  <p:embed/>
                  <p:pic>
                    <p:nvPicPr>
                      <p:cNvPr id="0"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03648" y="2204864"/>
                        <a:ext cx="6232843" cy="720080"/>
                      </a:xfrm>
                      <a:prstGeom prst="rect">
                        <a:avLst/>
                      </a:prstGeom>
                      <a:solidFill>
                        <a:srgbClr val="FFFF99"/>
                      </a:solidFill>
                    </p:spPr>
                  </p:pic>
                </p:oleObj>
              </mc:Fallback>
            </mc:AlternateContent>
          </a:graphicData>
        </a:graphic>
      </p:graphicFrame>
      <p:graphicFrame>
        <p:nvGraphicFramePr>
          <p:cNvPr id="29702" name="Object 6"/>
          <p:cNvGraphicFramePr>
            <a:graphicFrameLocks noChangeAspect="1"/>
          </p:cNvGraphicFramePr>
          <p:nvPr/>
        </p:nvGraphicFramePr>
        <p:xfrm>
          <a:off x="2231740" y="3056384"/>
          <a:ext cx="2841476" cy="516632"/>
        </p:xfrm>
        <a:graphic>
          <a:graphicData uri="http://schemas.openxmlformats.org/presentationml/2006/ole">
            <mc:AlternateContent xmlns:mc="http://schemas.openxmlformats.org/markup-compatibility/2006">
              <mc:Choice xmlns:v="urn:schemas-microsoft-com:vml" Requires="v">
                <p:oleObj name="Equation" r:id="rId11" imgW="1257300" imgH="228600" progId="Equation.DSMT4">
                  <p:embed/>
                </p:oleObj>
              </mc:Choice>
              <mc:Fallback>
                <p:oleObj name="Equation" r:id="rId11" imgW="1257300" imgH="228600" progId="Equation.DSMT4">
                  <p:embed/>
                  <p:pic>
                    <p:nvPicPr>
                      <p:cNvPr id="0" name="Picture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231740" y="3056384"/>
                        <a:ext cx="2841476" cy="51663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60451" name="AutoShape 35"/>
          <p:cNvSpPr>
            <a:spLocks noChangeArrowheads="1"/>
          </p:cNvSpPr>
          <p:nvPr/>
        </p:nvSpPr>
        <p:spPr bwMode="auto">
          <a:xfrm>
            <a:off x="5292080" y="1700808"/>
            <a:ext cx="648345" cy="1800200"/>
          </a:xfrm>
          <a:prstGeom prst="curvedLeftArrow">
            <a:avLst>
              <a:gd name="adj1" fmla="val 43965"/>
              <a:gd name="adj2" fmla="val 87930"/>
              <a:gd name="adj3" fmla="val 33333"/>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circle/>
  </p:transition>
</p:sld>
</file>

<file path=ppt/slides/slide3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1457" name="Rectangle 17"/>
          <p:cNvSpPr>
            <a:spLocks noChangeArrowheads="1"/>
          </p:cNvSpPr>
          <p:nvPr/>
        </p:nvSpPr>
        <p:spPr bwMode="auto">
          <a:xfrm>
            <a:off x="1116013" y="1268413"/>
            <a:ext cx="5040312" cy="690562"/>
          </a:xfrm>
          <a:prstGeom prst="rect">
            <a:avLst/>
          </a:prstGeom>
          <a:noFill/>
          <a:ln w="9525">
            <a:noFill/>
            <a:miter lim="800000"/>
            <a:headEnd/>
            <a:tailEnd/>
          </a:ln>
          <a:effectLst/>
        </p:spPr>
        <p:txBody>
          <a:bodyPr/>
          <a:lstStyle/>
          <a:p>
            <a:pPr marL="609600" indent="-609600">
              <a:spcBef>
                <a:spcPct val="20000"/>
              </a:spcBef>
              <a:defRPr/>
            </a:pPr>
            <a:r>
              <a:rPr lang="en-US" altLang="zh-CN" sz="2800" u="sng" dirty="0">
                <a:solidFill>
                  <a:srgbClr val="FF0000"/>
                </a:solidFill>
                <a:effectLst>
                  <a:outerShdw blurRad="38100" dist="38100" dir="2700000" algn="tl">
                    <a:srgbClr val="C0C0C0"/>
                  </a:outerShdw>
                </a:effectLst>
              </a:rPr>
              <a:t>3) </a:t>
            </a:r>
            <a:r>
              <a:rPr lang="zh-CN" altLang="en-US" sz="2800" u="sng" dirty="0">
                <a:solidFill>
                  <a:srgbClr val="FF0000"/>
                </a:solidFill>
                <a:effectLst>
                  <a:outerShdw blurRad="38100" dist="38100" dir="2700000" algn="tl">
                    <a:srgbClr val="C0C0C0"/>
                  </a:outerShdw>
                </a:effectLst>
              </a:rPr>
              <a:t>由差分方程求出 </a:t>
            </a:r>
            <a:r>
              <a:rPr lang="en-US" altLang="zh-CN" sz="2800" i="1" u="sng" dirty="0">
                <a:solidFill>
                  <a:srgbClr val="FF0000"/>
                </a:solidFill>
                <a:effectLst>
                  <a:outerShdw blurRad="38100" dist="38100" dir="2700000" algn="tl">
                    <a:srgbClr val="C0C0C0"/>
                  </a:outerShdw>
                </a:effectLst>
              </a:rPr>
              <a:t>W</a:t>
            </a:r>
            <a:r>
              <a:rPr lang="en-US" altLang="zh-CN" sz="2800" u="sng" dirty="0">
                <a:solidFill>
                  <a:srgbClr val="FF0000"/>
                </a:solidFill>
                <a:effectLst>
                  <a:outerShdw blurRad="38100" dist="38100" dir="2700000" algn="tl">
                    <a:srgbClr val="C0C0C0"/>
                  </a:outerShdw>
                </a:effectLst>
              </a:rPr>
              <a:t>(</a:t>
            </a:r>
            <a:r>
              <a:rPr lang="en-US" altLang="zh-CN" sz="2800" i="1" u="sng" dirty="0">
                <a:solidFill>
                  <a:srgbClr val="FF0000"/>
                </a:solidFill>
                <a:effectLst>
                  <a:outerShdw blurRad="38100" dist="38100" dir="2700000" algn="tl">
                    <a:srgbClr val="C0C0C0"/>
                  </a:outerShdw>
                </a:effectLst>
              </a:rPr>
              <a:t>z</a:t>
            </a:r>
            <a:r>
              <a:rPr lang="en-US" altLang="zh-CN" sz="2800" u="sng" dirty="0">
                <a:solidFill>
                  <a:srgbClr val="FF0000"/>
                </a:solidFill>
                <a:effectLst>
                  <a:outerShdw blurRad="38100" dist="38100" dir="2700000" algn="tl">
                    <a:srgbClr val="C0C0C0"/>
                  </a:outerShdw>
                </a:effectLst>
              </a:rPr>
              <a:t>)</a:t>
            </a:r>
          </a:p>
        </p:txBody>
      </p:sp>
      <p:graphicFrame>
        <p:nvGraphicFramePr>
          <p:cNvPr id="30722" name="Object 18"/>
          <p:cNvGraphicFramePr>
            <a:graphicFrameLocks noChangeAspect="1"/>
          </p:cNvGraphicFramePr>
          <p:nvPr/>
        </p:nvGraphicFramePr>
        <p:xfrm>
          <a:off x="1908175" y="2276475"/>
          <a:ext cx="6048375" cy="854075"/>
        </p:xfrm>
        <a:graphic>
          <a:graphicData uri="http://schemas.openxmlformats.org/presentationml/2006/ole">
            <mc:AlternateContent xmlns:mc="http://schemas.openxmlformats.org/markup-compatibility/2006">
              <mc:Choice xmlns:v="urn:schemas-microsoft-com:vml" Requires="v">
                <p:oleObj name="Equation" r:id="rId3" imgW="117489600" imgH="16574400" progId="Equation.DSMT4">
                  <p:embed/>
                </p:oleObj>
              </mc:Choice>
              <mc:Fallback>
                <p:oleObj name="Equation" r:id="rId3" imgW="117489600" imgH="165744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8175" y="2276475"/>
                        <a:ext cx="6048375" cy="854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3" name="Object 19"/>
          <p:cNvGraphicFramePr>
            <a:graphicFrameLocks noChangeAspect="1"/>
          </p:cNvGraphicFramePr>
          <p:nvPr/>
        </p:nvGraphicFramePr>
        <p:xfrm>
          <a:off x="1835150" y="3357563"/>
          <a:ext cx="6034088" cy="860425"/>
        </p:xfrm>
        <a:graphic>
          <a:graphicData uri="http://schemas.openxmlformats.org/presentationml/2006/ole">
            <mc:AlternateContent xmlns:mc="http://schemas.openxmlformats.org/markup-compatibility/2006">
              <mc:Choice xmlns:v="urn:schemas-microsoft-com:vml" Requires="v">
                <p:oleObj name="Equation" r:id="rId5" imgW="123019200" imgH="17496000" progId="Equation.DSMT4">
                  <p:embed/>
                </p:oleObj>
              </mc:Choice>
              <mc:Fallback>
                <p:oleObj name="Equation" r:id="rId5" imgW="123019200" imgH="174960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835150" y="3357563"/>
                        <a:ext cx="6034088" cy="860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0724" name="Object 20"/>
          <p:cNvGraphicFramePr>
            <a:graphicFrameLocks noChangeAspect="1"/>
          </p:cNvGraphicFramePr>
          <p:nvPr/>
        </p:nvGraphicFramePr>
        <p:xfrm>
          <a:off x="2051050" y="4437063"/>
          <a:ext cx="5046663" cy="992187"/>
        </p:xfrm>
        <a:graphic>
          <a:graphicData uri="http://schemas.openxmlformats.org/presentationml/2006/ole">
            <mc:AlternateContent xmlns:mc="http://schemas.openxmlformats.org/markup-compatibility/2006">
              <mc:Choice xmlns:v="urn:schemas-microsoft-com:vml" Requires="v">
                <p:oleObj name="Equation" r:id="rId7" imgW="84312000" imgH="16574400" progId="Equation.DSMT4">
                  <p:embed/>
                </p:oleObj>
              </mc:Choice>
              <mc:Fallback>
                <p:oleObj name="Equation" r:id="rId7" imgW="84312000" imgH="165744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4437063"/>
                        <a:ext cx="5046663" cy="992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1461" name="AutoShape 21"/>
          <p:cNvSpPr>
            <a:spLocks noChangeArrowheads="1"/>
          </p:cNvSpPr>
          <p:nvPr/>
        </p:nvSpPr>
        <p:spPr bwMode="auto">
          <a:xfrm>
            <a:off x="1323676" y="2420936"/>
            <a:ext cx="431800" cy="1296987"/>
          </a:xfrm>
          <a:prstGeom prst="curvedRightArrow">
            <a:avLst>
              <a:gd name="adj1" fmla="val 60074"/>
              <a:gd name="adj2" fmla="val 120147"/>
              <a:gd name="adj3" fmla="val 33333"/>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2" name="Rectangle 17">
            <a:extLst>
              <a:ext uri="{FF2B5EF4-FFF2-40B4-BE49-F238E27FC236}">
                <a16:creationId xmlns:a16="http://schemas.microsoft.com/office/drawing/2014/main" id="{B9523835-D635-6E5A-FEF0-8A45C26BD7C9}"/>
              </a:ext>
            </a:extLst>
          </p:cNvPr>
          <p:cNvSpPr>
            <a:spLocks noChangeArrowheads="1"/>
          </p:cNvSpPr>
          <p:nvPr/>
        </p:nvSpPr>
        <p:spPr bwMode="auto">
          <a:xfrm>
            <a:off x="136582" y="2668934"/>
            <a:ext cx="1166947" cy="923231"/>
          </a:xfrm>
          <a:prstGeom prst="rect">
            <a:avLst/>
          </a:prstGeom>
          <a:noFill/>
          <a:ln w="9525">
            <a:noFill/>
            <a:miter lim="800000"/>
            <a:headEnd/>
            <a:tailEnd/>
          </a:ln>
          <a:effectLst/>
        </p:spPr>
        <p:txBody>
          <a:bodyPr/>
          <a:lstStyle/>
          <a:p>
            <a:pPr algn="ctr">
              <a:spcBef>
                <a:spcPct val="20000"/>
              </a:spcBef>
              <a:defRPr/>
            </a:pPr>
            <a:r>
              <a:rPr lang="zh-CN" altLang="en-US" sz="2400" b="0" dirty="0">
                <a:solidFill>
                  <a:srgbClr val="0033CC"/>
                </a:solidFill>
              </a:rPr>
              <a:t>零初始条件下</a:t>
            </a:r>
            <a:endParaRPr lang="en-US" altLang="zh-CN" sz="2400" b="0" dirty="0">
              <a:solidFill>
                <a:srgbClr val="0033CC"/>
              </a:solidFill>
            </a:endParaRPr>
          </a:p>
        </p:txBody>
      </p:sp>
    </p:spTree>
  </p:cSld>
  <p:clrMapOvr>
    <a:masterClrMapping/>
  </p:clrMapOvr>
  <p:transition>
    <p:circle/>
  </p:transition>
</p:sld>
</file>

<file path=ppt/slides/slide3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2479" name="Text Box 15"/>
          <p:cNvSpPr txBox="1">
            <a:spLocks noChangeArrowheads="1"/>
          </p:cNvSpPr>
          <p:nvPr/>
        </p:nvSpPr>
        <p:spPr bwMode="auto">
          <a:xfrm>
            <a:off x="1547813" y="2420938"/>
            <a:ext cx="6624637" cy="519112"/>
          </a:xfrm>
          <a:prstGeom prst="rect">
            <a:avLst/>
          </a:prstGeom>
          <a:noFill/>
          <a:ln w="9525">
            <a:noFill/>
            <a:miter lim="800000"/>
            <a:headEnd/>
            <a:tailEnd/>
          </a:ln>
          <a:effectLst/>
        </p:spPr>
        <p:txBody>
          <a:bodyPr>
            <a:spAutoFit/>
          </a:bodyPr>
          <a:lstStyle/>
          <a:p>
            <a:pPr>
              <a:spcBef>
                <a:spcPct val="50000"/>
              </a:spcBef>
              <a:defRPr/>
            </a:pPr>
            <a:r>
              <a:rPr kumimoji="0" lang="zh-CN" altLang="en-US" sz="2800">
                <a:effectLst>
                  <a:outerShdw blurRad="38100" dist="38100" dir="2700000" algn="tl">
                    <a:srgbClr val="C0C0C0"/>
                  </a:outerShdw>
                </a:effectLst>
              </a:rPr>
              <a:t>求下列系统的脉冲传递函数</a:t>
            </a:r>
            <a:r>
              <a:rPr kumimoji="0" lang="en-US" altLang="zh-CN" sz="2800" i="1">
                <a:effectLst>
                  <a:outerShdw blurRad="38100" dist="38100" dir="2700000" algn="tl">
                    <a:srgbClr val="C0C0C0"/>
                  </a:outerShdw>
                </a:effectLst>
              </a:rPr>
              <a:t>W</a:t>
            </a:r>
            <a:r>
              <a:rPr kumimoji="0" lang="en-US" altLang="zh-CN" sz="2800">
                <a:effectLst>
                  <a:outerShdw blurRad="38100" dist="38100" dir="2700000" algn="tl">
                    <a:srgbClr val="C0C0C0"/>
                  </a:outerShdw>
                </a:effectLst>
              </a:rPr>
              <a:t>(</a:t>
            </a:r>
            <a:r>
              <a:rPr kumimoji="0" lang="en-US" altLang="zh-CN" sz="2800" i="1">
                <a:effectLst>
                  <a:outerShdw blurRad="38100" dist="38100" dir="2700000" algn="tl">
                    <a:srgbClr val="C0C0C0"/>
                  </a:outerShdw>
                </a:effectLst>
              </a:rPr>
              <a:t>z</a:t>
            </a:r>
            <a:r>
              <a:rPr kumimoji="0" lang="en-US" altLang="zh-CN" sz="2800">
                <a:effectLst>
                  <a:outerShdw blurRad="38100" dist="38100" dir="2700000" algn="tl">
                    <a:srgbClr val="C0C0C0"/>
                  </a:outerShdw>
                </a:effectLst>
              </a:rPr>
              <a:t>)</a:t>
            </a:r>
            <a:r>
              <a:rPr kumimoji="0" lang="zh-CN" altLang="en-US" sz="2800">
                <a:effectLst>
                  <a:outerShdw blurRad="38100" dist="38100" dir="2700000" algn="tl">
                    <a:srgbClr val="C0C0C0"/>
                  </a:outerShdw>
                </a:effectLst>
              </a:rPr>
              <a:t>：</a:t>
            </a:r>
          </a:p>
        </p:txBody>
      </p:sp>
      <p:sp>
        <p:nvSpPr>
          <p:cNvPr id="62480" name="Text Box 16"/>
          <p:cNvSpPr txBox="1">
            <a:spLocks noChangeArrowheads="1"/>
          </p:cNvSpPr>
          <p:nvPr/>
        </p:nvSpPr>
        <p:spPr bwMode="auto">
          <a:xfrm>
            <a:off x="1692275" y="3284538"/>
            <a:ext cx="1079500" cy="519112"/>
          </a:xfrm>
          <a:prstGeom prst="rect">
            <a:avLst/>
          </a:prstGeom>
          <a:noFill/>
          <a:ln w="9525">
            <a:noFill/>
            <a:miter lim="800000"/>
            <a:headEnd/>
            <a:tailEnd/>
          </a:ln>
          <a:effectLst/>
        </p:spPr>
        <p:txBody>
          <a:bodyPr>
            <a:spAutoFit/>
          </a:bodyPr>
          <a:lstStyle/>
          <a:p>
            <a:pPr>
              <a:spcBef>
                <a:spcPct val="50000"/>
              </a:spcBef>
              <a:defRPr/>
            </a:pPr>
            <a:r>
              <a:rPr kumimoji="0" lang="en-US" altLang="zh-CN" sz="2800">
                <a:effectLst>
                  <a:outerShdw blurRad="38100" dist="38100" dir="2700000" algn="tl">
                    <a:srgbClr val="C0C0C0"/>
                  </a:outerShdw>
                </a:effectLst>
              </a:rPr>
              <a:t>(1)</a:t>
            </a:r>
          </a:p>
        </p:txBody>
      </p:sp>
      <p:graphicFrame>
        <p:nvGraphicFramePr>
          <p:cNvPr id="31746" name="Object 17"/>
          <p:cNvGraphicFramePr>
            <a:graphicFrameLocks noChangeAspect="1"/>
          </p:cNvGraphicFramePr>
          <p:nvPr/>
        </p:nvGraphicFramePr>
        <p:xfrm>
          <a:off x="2555875" y="3213100"/>
          <a:ext cx="2133600" cy="842963"/>
        </p:xfrm>
        <a:graphic>
          <a:graphicData uri="http://schemas.openxmlformats.org/presentationml/2006/ole">
            <mc:AlternateContent xmlns:mc="http://schemas.openxmlformats.org/markup-compatibility/2006">
              <mc:Choice xmlns:v="urn:schemas-microsoft-com:vml" Requires="v">
                <p:oleObj name="Equation" r:id="rId3" imgW="1091726" imgH="431613" progId="Equation.DSMT4">
                  <p:embed/>
                </p:oleObj>
              </mc:Choice>
              <mc:Fallback>
                <p:oleObj name="Equation" r:id="rId3" imgW="1091726" imgH="431613"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3213100"/>
                        <a:ext cx="2133600" cy="842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2" name="Text Box 18"/>
          <p:cNvSpPr txBox="1">
            <a:spLocks noChangeArrowheads="1"/>
          </p:cNvSpPr>
          <p:nvPr/>
        </p:nvSpPr>
        <p:spPr bwMode="auto">
          <a:xfrm>
            <a:off x="1690688" y="4554538"/>
            <a:ext cx="1154112" cy="519112"/>
          </a:xfrm>
          <a:prstGeom prst="rect">
            <a:avLst/>
          </a:prstGeom>
          <a:noFill/>
          <a:ln w="9525">
            <a:noFill/>
            <a:miter lim="800000"/>
            <a:headEnd/>
            <a:tailEnd/>
          </a:ln>
          <a:effectLst/>
        </p:spPr>
        <p:txBody>
          <a:bodyPr>
            <a:spAutoFit/>
          </a:bodyPr>
          <a:lstStyle/>
          <a:p>
            <a:pPr>
              <a:spcBef>
                <a:spcPct val="50000"/>
              </a:spcBef>
              <a:defRPr/>
            </a:pPr>
            <a:r>
              <a:rPr kumimoji="0" lang="en-US" altLang="zh-CN" sz="2800">
                <a:effectLst>
                  <a:outerShdw blurRad="38100" dist="38100" dir="2700000" algn="tl">
                    <a:srgbClr val="C0C0C0"/>
                  </a:outerShdw>
                </a:effectLst>
              </a:rPr>
              <a:t>(2)</a:t>
            </a:r>
          </a:p>
        </p:txBody>
      </p:sp>
      <p:graphicFrame>
        <p:nvGraphicFramePr>
          <p:cNvPr id="31747" name="Object 19"/>
          <p:cNvGraphicFramePr>
            <a:graphicFrameLocks noChangeAspect="1"/>
          </p:cNvGraphicFramePr>
          <p:nvPr/>
        </p:nvGraphicFramePr>
        <p:xfrm>
          <a:off x="2554288" y="4424363"/>
          <a:ext cx="2952750" cy="866775"/>
        </p:xfrm>
        <a:graphic>
          <a:graphicData uri="http://schemas.openxmlformats.org/presentationml/2006/ole">
            <mc:AlternateContent xmlns:mc="http://schemas.openxmlformats.org/markup-compatibility/2006">
              <mc:Choice xmlns:v="urn:schemas-microsoft-com:vml" Requires="v">
                <p:oleObj name="Equation" r:id="rId5" imgW="1511300" imgH="444500" progId="Equation.DSMT4">
                  <p:embed/>
                </p:oleObj>
              </mc:Choice>
              <mc:Fallback>
                <p:oleObj name="Equation" r:id="rId5" imgW="1511300" imgH="4445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554288" y="4424363"/>
                        <a:ext cx="2952750" cy="866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2484" name="Text Box 20"/>
          <p:cNvSpPr txBox="1">
            <a:spLocks noChangeArrowheads="1"/>
          </p:cNvSpPr>
          <p:nvPr/>
        </p:nvSpPr>
        <p:spPr bwMode="auto">
          <a:xfrm>
            <a:off x="1476375" y="1412875"/>
            <a:ext cx="2540000" cy="641350"/>
          </a:xfrm>
          <a:prstGeom prst="rect">
            <a:avLst/>
          </a:prstGeom>
          <a:noFill/>
          <a:ln w="9525" algn="ctr">
            <a:noFill/>
            <a:miter lim="800000"/>
            <a:headEnd/>
            <a:tailEnd/>
          </a:ln>
          <a:effectLst/>
        </p:spPr>
        <p:txBody>
          <a:bodyPr>
            <a:spAutoFit/>
          </a:bodyPr>
          <a:lstStyle/>
          <a:p>
            <a:pPr>
              <a:defRPr/>
            </a:pPr>
            <a:r>
              <a:rPr kumimoji="0" lang="zh-CN" altLang="en-US" sz="3600">
                <a:solidFill>
                  <a:srgbClr val="0000FF"/>
                </a:solidFill>
                <a:effectLst>
                  <a:outerShdw blurRad="38100" dist="38100" dir="2700000" algn="tl">
                    <a:srgbClr val="C0C0C0"/>
                  </a:outerShdw>
                </a:effectLst>
              </a:rPr>
              <a:t>练习题：</a:t>
            </a:r>
          </a:p>
        </p:txBody>
      </p:sp>
    </p:spTree>
  </p:cSld>
  <p:clrMapOvr>
    <a:masterClrMapping/>
  </p:clrMapOvr>
  <p:transition>
    <p:circle/>
  </p:transition>
</p:sld>
</file>

<file path=ppt/slides/slide38.xml><?xml version="1.0" encoding="utf-8"?>
<p:sld xmlns:a="http://schemas.openxmlformats.org/drawingml/2006/main" xmlns:r="http://schemas.openxmlformats.org/officeDocument/2006/relationships" xmlns:p="http://schemas.openxmlformats.org/presentationml/2006/main">
  <p:cSld>
    <p:bg>
      <p:bgPr>
        <a:blipFill dpi="0" rotWithShape="0">
          <a:blip r:embed="rId3" cstate="print"/>
          <a:srcRect/>
          <a:stretch>
            <a:fillRect/>
          </a:stretch>
        </a:blipFill>
        <a:effectLst/>
      </p:bgPr>
    </p:bg>
    <p:spTree>
      <p:nvGrpSpPr>
        <p:cNvPr id="1" name=""/>
        <p:cNvGrpSpPr/>
        <p:nvPr/>
      </p:nvGrpSpPr>
      <p:grpSpPr>
        <a:xfrm>
          <a:off x="0" y="0"/>
          <a:ext cx="0" cy="0"/>
          <a:chOff x="0" y="0"/>
          <a:chExt cx="0" cy="0"/>
        </a:xfrm>
      </p:grpSpPr>
      <p:sp>
        <p:nvSpPr>
          <p:cNvPr id="63498" name="Text Box 10"/>
          <p:cNvSpPr txBox="1">
            <a:spLocks noChangeArrowheads="1"/>
          </p:cNvSpPr>
          <p:nvPr/>
        </p:nvSpPr>
        <p:spPr bwMode="auto">
          <a:xfrm>
            <a:off x="971550" y="1196975"/>
            <a:ext cx="6284913" cy="519113"/>
          </a:xfrm>
          <a:prstGeom prst="rect">
            <a:avLst/>
          </a:prstGeom>
          <a:noFill/>
          <a:ln w="9525" algn="ctr">
            <a:noFill/>
            <a:miter lim="800000"/>
            <a:headEnd/>
            <a:tailEnd/>
          </a:ln>
          <a:effectLst/>
        </p:spPr>
        <p:txBody>
          <a:bodyPr>
            <a:spAutoFit/>
          </a:bodyPr>
          <a:lstStyle/>
          <a:p>
            <a:pPr>
              <a:defRPr/>
            </a:pPr>
            <a:r>
              <a:rPr kumimoji="0" lang="en-US" altLang="zh-CN" sz="2800" dirty="0">
                <a:solidFill>
                  <a:srgbClr val="0000FF"/>
                </a:solidFill>
                <a:effectLst>
                  <a:outerShdw blurRad="38100" dist="38100" dir="2700000" algn="tl">
                    <a:srgbClr val="C0C0C0"/>
                  </a:outerShdw>
                </a:effectLst>
              </a:rPr>
              <a:t>3.3.3 </a:t>
            </a:r>
            <a:r>
              <a:rPr kumimoji="0" lang="zh-CN" altLang="en-US" sz="2800" dirty="0">
                <a:solidFill>
                  <a:srgbClr val="0000FF"/>
                </a:solidFill>
                <a:effectLst>
                  <a:outerShdw blurRad="38100" dist="38100" dir="2700000" algn="tl">
                    <a:srgbClr val="C0C0C0"/>
                  </a:outerShdw>
                </a:effectLst>
              </a:rPr>
              <a:t>离散系统的方框图分析 </a:t>
            </a:r>
          </a:p>
        </p:txBody>
      </p:sp>
      <p:sp>
        <p:nvSpPr>
          <p:cNvPr id="63499" name="Text Box 11"/>
          <p:cNvSpPr txBox="1">
            <a:spLocks noChangeArrowheads="1"/>
          </p:cNvSpPr>
          <p:nvPr/>
        </p:nvSpPr>
        <p:spPr bwMode="auto">
          <a:xfrm>
            <a:off x="920750" y="2090738"/>
            <a:ext cx="5903913" cy="519112"/>
          </a:xfrm>
          <a:prstGeom prst="rect">
            <a:avLst/>
          </a:prstGeom>
          <a:noFill/>
          <a:ln w="9525" algn="ctr">
            <a:noFill/>
            <a:miter lim="800000"/>
            <a:headEnd/>
            <a:tailEnd/>
          </a:ln>
          <a:effectLst/>
        </p:spPr>
        <p:txBody>
          <a:bodyPr>
            <a:spAutoFit/>
          </a:bodyPr>
          <a:lstStyle/>
          <a:p>
            <a:pPr>
              <a:defRPr/>
            </a:pPr>
            <a:r>
              <a:rPr kumimoji="0" lang="zh-CN" altLang="en-US" sz="2800" dirty="0">
                <a:solidFill>
                  <a:srgbClr val="FF0000"/>
                </a:solidFill>
                <a:effectLst>
                  <a:outerShdw blurRad="38100" dist="38100" dir="2700000" algn="tl">
                    <a:srgbClr val="C0C0C0"/>
                  </a:outerShdw>
                </a:effectLst>
              </a:rPr>
              <a:t>（一）串联环节的脉冲传递函数</a:t>
            </a:r>
          </a:p>
        </p:txBody>
      </p:sp>
      <p:sp>
        <p:nvSpPr>
          <p:cNvPr id="63500" name="Text Box 12"/>
          <p:cNvSpPr txBox="1">
            <a:spLocks noChangeArrowheads="1"/>
          </p:cNvSpPr>
          <p:nvPr/>
        </p:nvSpPr>
        <p:spPr bwMode="auto">
          <a:xfrm>
            <a:off x="992188" y="3098800"/>
            <a:ext cx="6140450" cy="549275"/>
          </a:xfrm>
          <a:prstGeom prst="rect">
            <a:avLst/>
          </a:prstGeom>
          <a:noFill/>
          <a:ln w="9525" algn="ctr">
            <a:noFill/>
            <a:miter lim="800000"/>
            <a:headEnd/>
            <a:tailEnd/>
          </a:ln>
          <a:effectLst/>
        </p:spPr>
        <p:txBody>
          <a:bodyPr>
            <a:spAutoFit/>
          </a:bodyPr>
          <a:lstStyle/>
          <a:p>
            <a:pPr>
              <a:lnSpc>
                <a:spcPct val="125000"/>
              </a:lnSpc>
              <a:defRPr/>
            </a:pPr>
            <a:r>
              <a:rPr kumimoji="0" lang="zh-CN" altLang="en-US" sz="2400" dirty="0">
                <a:solidFill>
                  <a:srgbClr val="0000FF"/>
                </a:solidFill>
                <a:effectLst>
                  <a:outerShdw blurRad="38100" dist="38100" dir="2700000" algn="tl">
                    <a:srgbClr val="C0C0C0"/>
                  </a:outerShdw>
                </a:effectLst>
              </a:rPr>
              <a:t>串联各环节间有采样开关的情况：</a:t>
            </a:r>
          </a:p>
        </p:txBody>
      </p:sp>
      <p:sp>
        <p:nvSpPr>
          <p:cNvPr id="63501" name="Text Box 13"/>
          <p:cNvSpPr txBox="1">
            <a:spLocks noChangeArrowheads="1"/>
          </p:cNvSpPr>
          <p:nvPr/>
        </p:nvSpPr>
        <p:spPr bwMode="auto">
          <a:xfrm>
            <a:off x="1084263" y="3746500"/>
            <a:ext cx="7232153" cy="1006475"/>
          </a:xfrm>
          <a:prstGeom prst="rect">
            <a:avLst/>
          </a:prstGeom>
          <a:noFill/>
          <a:ln w="9525" algn="ctr">
            <a:noFill/>
            <a:miter lim="800000"/>
            <a:headEnd/>
            <a:tailEnd/>
          </a:ln>
          <a:effectLst/>
        </p:spPr>
        <p:txBody>
          <a:bodyPr wrap="square">
            <a:spAutoFit/>
          </a:bodyPr>
          <a:lstStyle/>
          <a:p>
            <a:pPr>
              <a:lnSpc>
                <a:spcPct val="125000"/>
              </a:lnSpc>
              <a:defRPr/>
            </a:pPr>
            <a:r>
              <a:rPr kumimoji="0" lang="zh-CN" altLang="en-US" sz="2400" dirty="0">
                <a:effectLst>
                  <a:outerShdw blurRad="38100" dist="38100" dir="2700000" algn="tl">
                    <a:srgbClr val="C0C0C0"/>
                  </a:outerShdw>
                </a:effectLst>
              </a:rPr>
              <a:t>求法：中间有采样开关的串联环节，其脉冲传递函</a:t>
            </a:r>
          </a:p>
          <a:p>
            <a:pPr>
              <a:lnSpc>
                <a:spcPct val="125000"/>
              </a:lnSpc>
              <a:defRPr/>
            </a:pPr>
            <a:r>
              <a:rPr kumimoji="0" lang="zh-CN" altLang="en-US" sz="2400" dirty="0">
                <a:effectLst>
                  <a:outerShdw blurRad="38100" dist="38100" dir="2700000" algn="tl">
                    <a:srgbClr val="C0C0C0"/>
                  </a:outerShdw>
                </a:effectLst>
              </a:rPr>
              <a:t>数等于各环节脉冲传递函数的乘积。</a:t>
            </a:r>
          </a:p>
        </p:txBody>
      </p:sp>
    </p:spTree>
  </p:cSld>
  <p:clrMapOvr>
    <a:masterClrMapping/>
  </p:clrMapOvr>
  <p:transition>
    <p:circle/>
  </p:transition>
</p:sld>
</file>

<file path=ppt/slides/slide3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32772" name="Picture 26"/>
          <p:cNvPicPr>
            <a:picLocks noChangeAspect="1" noChangeArrowheads="1"/>
          </p:cNvPicPr>
          <p:nvPr/>
        </p:nvPicPr>
        <p:blipFill>
          <a:blip r:embed="rId3" cstate="print"/>
          <a:srcRect/>
          <a:stretch>
            <a:fillRect/>
          </a:stretch>
        </p:blipFill>
        <p:spPr bwMode="auto">
          <a:xfrm>
            <a:off x="827088" y="1989138"/>
            <a:ext cx="7632700" cy="1801812"/>
          </a:xfrm>
          <a:prstGeom prst="rect">
            <a:avLst/>
          </a:prstGeom>
          <a:noFill/>
          <a:ln w="9525">
            <a:noFill/>
            <a:miter lim="800000"/>
            <a:headEnd/>
            <a:tailEnd/>
          </a:ln>
        </p:spPr>
      </p:pic>
      <p:sp>
        <p:nvSpPr>
          <p:cNvPr id="64539" name="Rectangle 27"/>
          <p:cNvSpPr>
            <a:spLocks noChangeArrowheads="1"/>
          </p:cNvSpPr>
          <p:nvPr/>
        </p:nvSpPr>
        <p:spPr bwMode="auto">
          <a:xfrm>
            <a:off x="0" y="32194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2770" name="Object 28"/>
          <p:cNvGraphicFramePr>
            <a:graphicFrameLocks noChangeAspect="1"/>
          </p:cNvGraphicFramePr>
          <p:nvPr/>
        </p:nvGraphicFramePr>
        <p:xfrm>
          <a:off x="2916238" y="4365625"/>
          <a:ext cx="3313112" cy="831850"/>
        </p:xfrm>
        <a:graphic>
          <a:graphicData uri="http://schemas.openxmlformats.org/presentationml/2006/ole">
            <mc:AlternateContent xmlns:mc="http://schemas.openxmlformats.org/markup-compatibility/2006">
              <mc:Choice xmlns:v="urn:schemas-microsoft-com:vml" Requires="v">
                <p:oleObj name="Equation" r:id="rId4" imgW="1663700" imgH="419100" progId="Equation.DSMT4">
                  <p:embed/>
                </p:oleObj>
              </mc:Choice>
              <mc:Fallback>
                <p:oleObj name="Equation" r:id="rId4" imgW="1663700" imgH="41910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916238" y="4365625"/>
                        <a:ext cx="3313112" cy="831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trips/>
  </p:transition>
</p:sld>
</file>

<file path=ppt/slides/slide4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5548" name="Text Box 12"/>
          <p:cNvSpPr txBox="1">
            <a:spLocks noChangeArrowheads="1"/>
          </p:cNvSpPr>
          <p:nvPr/>
        </p:nvSpPr>
        <p:spPr bwMode="auto">
          <a:xfrm>
            <a:off x="684213" y="2133600"/>
            <a:ext cx="75803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串联各环节间没有采样开关的情况：</a:t>
            </a:r>
          </a:p>
        </p:txBody>
      </p:sp>
      <p:sp>
        <p:nvSpPr>
          <p:cNvPr id="65549" name="Text Box 13"/>
          <p:cNvSpPr txBox="1">
            <a:spLocks noChangeArrowheads="1"/>
          </p:cNvSpPr>
          <p:nvPr/>
        </p:nvSpPr>
        <p:spPr bwMode="auto">
          <a:xfrm>
            <a:off x="735013" y="2924175"/>
            <a:ext cx="7508875" cy="1006475"/>
          </a:xfrm>
          <a:prstGeom prst="rect">
            <a:avLst/>
          </a:prstGeom>
          <a:noFill/>
          <a:ln w="9525" algn="ctr">
            <a:noFill/>
            <a:miter lim="800000"/>
            <a:headEnd/>
            <a:tailEnd/>
          </a:ln>
          <a:effectLst/>
        </p:spPr>
        <p:txBody>
          <a:bodyPr>
            <a:spAutoFit/>
          </a:bodyPr>
          <a:lstStyle/>
          <a:p>
            <a:pPr>
              <a:lnSpc>
                <a:spcPct val="125000"/>
              </a:lnSpc>
              <a:defRPr/>
            </a:pPr>
            <a:r>
              <a:rPr kumimoji="0" lang="zh-CN" altLang="en-US" sz="2400">
                <a:effectLst>
                  <a:outerShdw blurRad="38100" dist="38100" dir="2700000" algn="tl">
                    <a:srgbClr val="C0C0C0"/>
                  </a:outerShdw>
                </a:effectLst>
              </a:rPr>
              <a:t>求法：中间没有采样开关时，其总的传递函数等于各环节传递函数乘后再取 </a:t>
            </a:r>
            <a:r>
              <a:rPr kumimoji="0" lang="en-US" altLang="zh-CN" sz="2400" i="1">
                <a:effectLst>
                  <a:outerShdw blurRad="38100" dist="38100" dir="2700000" algn="tl">
                    <a:srgbClr val="C0C0C0"/>
                  </a:outerShdw>
                </a:effectLst>
              </a:rPr>
              <a:t>z</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变换。</a:t>
            </a:r>
          </a:p>
        </p:txBody>
      </p:sp>
    </p:spTree>
  </p:cSld>
  <p:clrMapOvr>
    <a:masterClrMapping/>
  </p:clrMapOvr>
  <p:transition>
    <p:strips/>
  </p:transition>
</p:sld>
</file>

<file path=ppt/slides/slide4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33796" name="Picture 19"/>
          <p:cNvPicPr>
            <a:picLocks noChangeAspect="1" noChangeArrowheads="1"/>
          </p:cNvPicPr>
          <p:nvPr/>
        </p:nvPicPr>
        <p:blipFill>
          <a:blip r:embed="rId3" cstate="print"/>
          <a:srcRect/>
          <a:stretch>
            <a:fillRect/>
          </a:stretch>
        </p:blipFill>
        <p:spPr bwMode="auto">
          <a:xfrm>
            <a:off x="539750" y="1989138"/>
            <a:ext cx="7777163" cy="1831975"/>
          </a:xfrm>
          <a:prstGeom prst="rect">
            <a:avLst/>
          </a:prstGeom>
          <a:noFill/>
          <a:ln w="9525">
            <a:noFill/>
            <a:miter lim="800000"/>
            <a:headEnd/>
            <a:tailEnd/>
          </a:ln>
        </p:spPr>
      </p:pic>
      <p:sp>
        <p:nvSpPr>
          <p:cNvPr id="122900" name="Rectangle 20"/>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3794" name="Object 21"/>
          <p:cNvGraphicFramePr>
            <a:graphicFrameLocks noChangeAspect="1"/>
          </p:cNvGraphicFramePr>
          <p:nvPr/>
        </p:nvGraphicFramePr>
        <p:xfrm>
          <a:off x="1979613" y="4365625"/>
          <a:ext cx="5040312" cy="569913"/>
        </p:xfrm>
        <a:graphic>
          <a:graphicData uri="http://schemas.openxmlformats.org/presentationml/2006/ole">
            <mc:AlternateContent xmlns:mc="http://schemas.openxmlformats.org/markup-compatibility/2006">
              <mc:Choice xmlns:v="urn:schemas-microsoft-com:vml" Requires="v">
                <p:oleObj name="Equation" r:id="rId4" imgW="2019300" imgH="228600" progId="Equation.DSMT4">
                  <p:embed/>
                </p:oleObj>
              </mc:Choice>
              <mc:Fallback>
                <p:oleObj name="Equation" r:id="rId4" imgW="2019300" imgH="228600" progId="Equation.DSMT4">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979613" y="4365625"/>
                        <a:ext cx="5040312" cy="569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fade/>
  </p:transition>
</p:sld>
</file>

<file path=ppt/slides/slide4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6604" name="Text Box 44"/>
          <p:cNvSpPr txBox="1">
            <a:spLocks noChangeArrowheads="1"/>
          </p:cNvSpPr>
          <p:nvPr/>
        </p:nvSpPr>
        <p:spPr bwMode="auto">
          <a:xfrm>
            <a:off x="827088" y="1557338"/>
            <a:ext cx="7221537" cy="1735137"/>
          </a:xfrm>
          <a:prstGeom prst="rect">
            <a:avLst/>
          </a:prstGeom>
          <a:noFill/>
          <a:ln w="9525" algn="ctr">
            <a:noFill/>
            <a:miter lim="800000"/>
            <a:headEnd/>
            <a:tailEnd/>
          </a:ln>
          <a:effectLst/>
        </p:spPr>
        <p:txBody>
          <a:bodyPr>
            <a:spAutoFit/>
          </a:bodyPr>
          <a:lstStyle/>
          <a:p>
            <a:pPr>
              <a:lnSpc>
                <a:spcPct val="150000"/>
              </a:lnSpc>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3.7</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已知                                      ，试求中间有采样开关和没有采样开关时的</a:t>
            </a:r>
          </a:p>
          <a:p>
            <a:pPr>
              <a:lnSpc>
                <a:spcPct val="150000"/>
              </a:lnSpc>
              <a:defRPr/>
            </a:pPr>
            <a:endParaRPr kumimoji="0" lang="en-US" altLang="zh-CN" sz="2400">
              <a:effectLst>
                <a:outerShdw blurRad="38100" dist="38100" dir="2700000" algn="tl">
                  <a:srgbClr val="C0C0C0"/>
                </a:outerShdw>
              </a:effectLst>
            </a:endParaRPr>
          </a:p>
        </p:txBody>
      </p:sp>
      <p:graphicFrame>
        <p:nvGraphicFramePr>
          <p:cNvPr id="34818" name="Object 45"/>
          <p:cNvGraphicFramePr>
            <a:graphicFrameLocks noChangeAspect="1"/>
          </p:cNvGraphicFramePr>
          <p:nvPr/>
        </p:nvGraphicFramePr>
        <p:xfrm>
          <a:off x="2432050" y="1557338"/>
          <a:ext cx="2913063" cy="728662"/>
        </p:xfrm>
        <a:graphic>
          <a:graphicData uri="http://schemas.openxmlformats.org/presentationml/2006/ole">
            <mc:AlternateContent xmlns:mc="http://schemas.openxmlformats.org/markup-compatibility/2006">
              <mc:Choice xmlns:v="urn:schemas-microsoft-com:vml" Requires="v">
                <p:oleObj r:id="rId3" imgW="1562100" imgH="393700" progId="Equation.3">
                  <p:embed/>
                </p:oleObj>
              </mc:Choice>
              <mc:Fallback>
                <p:oleObj r:id="rId3" imgW="1562100" imgH="393700" progId="Equation.3">
                  <p:embed/>
                  <p:pic>
                    <p:nvPicPr>
                      <p:cNvPr id="0" name="Picture 3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2050" y="1557338"/>
                        <a:ext cx="2913063" cy="728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4819" name="Object 46"/>
          <p:cNvGraphicFramePr>
            <a:graphicFrameLocks noChangeAspect="1"/>
          </p:cNvGraphicFramePr>
          <p:nvPr/>
        </p:nvGraphicFramePr>
        <p:xfrm>
          <a:off x="4448175" y="2349500"/>
          <a:ext cx="774700" cy="417513"/>
        </p:xfrm>
        <a:graphic>
          <a:graphicData uri="http://schemas.openxmlformats.org/presentationml/2006/ole">
            <mc:AlternateContent xmlns:mc="http://schemas.openxmlformats.org/markup-compatibility/2006">
              <mc:Choice xmlns:v="urn:schemas-microsoft-com:vml" Requires="v">
                <p:oleObj r:id="rId5" imgW="368140" imgH="203112" progId="Equation.3">
                  <p:embed/>
                </p:oleObj>
              </mc:Choice>
              <mc:Fallback>
                <p:oleObj r:id="rId5" imgW="368140" imgH="203112" progId="Equation.3">
                  <p:embed/>
                  <p:pic>
                    <p:nvPicPr>
                      <p:cNvPr id="0" name="Picture 3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448175" y="2349500"/>
                        <a:ext cx="774700" cy="4175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07" name="Text Box 47"/>
          <p:cNvSpPr txBox="1">
            <a:spLocks noChangeArrowheads="1"/>
          </p:cNvSpPr>
          <p:nvPr/>
        </p:nvSpPr>
        <p:spPr bwMode="auto">
          <a:xfrm>
            <a:off x="900113" y="2852738"/>
            <a:ext cx="3554412" cy="457200"/>
          </a:xfrm>
          <a:prstGeom prst="rect">
            <a:avLst/>
          </a:prstGeom>
          <a:noFill/>
          <a:ln w="9525" algn="ctr">
            <a:noFill/>
            <a:miter lim="800000"/>
            <a:headEnd/>
            <a:tailEnd/>
          </a:ln>
          <a:effectLst/>
        </p:spPr>
        <p:txBody>
          <a:bodyPr wrap="none">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中间有采样开关时：</a:t>
            </a:r>
          </a:p>
        </p:txBody>
      </p:sp>
      <p:sp>
        <p:nvSpPr>
          <p:cNvPr id="66608" name="Rectangle 48"/>
          <p:cNvSpPr>
            <a:spLocks noChangeArrowheads="1"/>
          </p:cNvSpPr>
          <p:nvPr/>
        </p:nvSpPr>
        <p:spPr bwMode="auto">
          <a:xfrm>
            <a:off x="-339725" y="27828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4820" name="Object 49"/>
          <p:cNvGraphicFramePr>
            <a:graphicFrameLocks noChangeAspect="1"/>
          </p:cNvGraphicFramePr>
          <p:nvPr/>
        </p:nvGraphicFramePr>
        <p:xfrm>
          <a:off x="1711325" y="3502025"/>
          <a:ext cx="2519363" cy="760413"/>
        </p:xfrm>
        <a:graphic>
          <a:graphicData uri="http://schemas.openxmlformats.org/presentationml/2006/ole">
            <mc:AlternateContent xmlns:mc="http://schemas.openxmlformats.org/markup-compatibility/2006">
              <mc:Choice xmlns:v="urn:schemas-microsoft-com:vml" Requires="v">
                <p:oleObj name="Equation" r:id="rId7" imgW="1422400" imgH="431800" progId="Equation.DSMT4">
                  <p:embed/>
                </p:oleObj>
              </mc:Choice>
              <mc:Fallback>
                <p:oleObj name="Equation" r:id="rId7" imgW="1422400" imgH="431800" progId="Equation.DSMT4">
                  <p:embed/>
                  <p:pic>
                    <p:nvPicPr>
                      <p:cNvPr id="0" name="Picture 39"/>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1325" y="3502025"/>
                        <a:ext cx="2519363" cy="760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10" name="Rectangle 50"/>
          <p:cNvSpPr>
            <a:spLocks noChangeArrowheads="1"/>
          </p:cNvSpPr>
          <p:nvPr/>
        </p:nvSpPr>
        <p:spPr bwMode="auto">
          <a:xfrm>
            <a:off x="-339725" y="27828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4821" name="Object 51"/>
          <p:cNvGraphicFramePr>
            <a:graphicFrameLocks noChangeAspect="1"/>
          </p:cNvGraphicFramePr>
          <p:nvPr/>
        </p:nvGraphicFramePr>
        <p:xfrm>
          <a:off x="4519613" y="3429000"/>
          <a:ext cx="3600450" cy="814388"/>
        </p:xfrm>
        <a:graphic>
          <a:graphicData uri="http://schemas.openxmlformats.org/presentationml/2006/ole">
            <mc:AlternateContent xmlns:mc="http://schemas.openxmlformats.org/markup-compatibility/2006">
              <mc:Choice xmlns:v="urn:schemas-microsoft-com:vml" Requires="v">
                <p:oleObj name="Equation" r:id="rId9" imgW="1892300" imgH="431800" progId="Equation.DSMT4">
                  <p:embed/>
                </p:oleObj>
              </mc:Choice>
              <mc:Fallback>
                <p:oleObj name="Equation" r:id="rId9" imgW="1892300" imgH="431800" progId="Equation.DSMT4">
                  <p:embed/>
                  <p:pic>
                    <p:nvPicPr>
                      <p:cNvPr id="0" name="Picture 40"/>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4519613" y="3429000"/>
                        <a:ext cx="3600450" cy="814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6612" name="Rectangle 52"/>
          <p:cNvSpPr>
            <a:spLocks noChangeArrowheads="1"/>
          </p:cNvSpPr>
          <p:nvPr/>
        </p:nvSpPr>
        <p:spPr bwMode="auto">
          <a:xfrm>
            <a:off x="-339725" y="27876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34822" name="Object 53"/>
          <p:cNvGraphicFramePr>
            <a:graphicFrameLocks noChangeAspect="1"/>
          </p:cNvGraphicFramePr>
          <p:nvPr/>
        </p:nvGraphicFramePr>
        <p:xfrm>
          <a:off x="1711325" y="4581525"/>
          <a:ext cx="4752975" cy="781050"/>
        </p:xfrm>
        <a:graphic>
          <a:graphicData uri="http://schemas.openxmlformats.org/presentationml/2006/ole">
            <mc:AlternateContent xmlns:mc="http://schemas.openxmlformats.org/markup-compatibility/2006">
              <mc:Choice xmlns:v="urn:schemas-microsoft-com:vml" Requires="v">
                <p:oleObj name="Equation" r:id="rId11" imgW="2552700" imgH="419100" progId="Equation.DSMT4">
                  <p:embed/>
                </p:oleObj>
              </mc:Choice>
              <mc:Fallback>
                <p:oleObj name="Equation" r:id="rId11" imgW="2552700" imgH="419100" progId="Equation.DSMT4">
                  <p:embed/>
                  <p:pic>
                    <p:nvPicPr>
                      <p:cNvPr id="0" name="Picture 4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711325" y="4581525"/>
                        <a:ext cx="4752975" cy="781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strips/>
  </p:transition>
</p:sld>
</file>

<file path=ppt/slides/slide4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35842" name="Object 15"/>
          <p:cNvGraphicFramePr>
            <a:graphicFrameLocks noChangeAspect="1"/>
          </p:cNvGraphicFramePr>
          <p:nvPr/>
        </p:nvGraphicFramePr>
        <p:xfrm>
          <a:off x="1116013" y="3036491"/>
          <a:ext cx="4111625" cy="711200"/>
        </p:xfrm>
        <a:graphic>
          <a:graphicData uri="http://schemas.openxmlformats.org/presentationml/2006/ole">
            <mc:AlternateContent xmlns:mc="http://schemas.openxmlformats.org/markup-compatibility/2006">
              <mc:Choice xmlns:v="urn:schemas-microsoft-com:vml" Requires="v">
                <p:oleObj name="Equation" r:id="rId3" imgW="2260600" imgH="393700" progId="Equation.3">
                  <p:embed/>
                </p:oleObj>
              </mc:Choice>
              <mc:Fallback>
                <p:oleObj name="Equation" r:id="rId3" imgW="2260600" imgH="393700" progId="Equation.3">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116013" y="3036491"/>
                        <a:ext cx="4111625"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5843" name="Object 16"/>
          <p:cNvGraphicFramePr>
            <a:graphicFrameLocks noChangeAspect="1"/>
          </p:cNvGraphicFramePr>
          <p:nvPr/>
        </p:nvGraphicFramePr>
        <p:xfrm>
          <a:off x="5346700" y="2988866"/>
          <a:ext cx="2486025" cy="811212"/>
        </p:xfrm>
        <a:graphic>
          <a:graphicData uri="http://schemas.openxmlformats.org/presentationml/2006/ole">
            <mc:AlternateContent xmlns:mc="http://schemas.openxmlformats.org/markup-compatibility/2006">
              <mc:Choice xmlns:v="urn:schemas-microsoft-com:vml" Requires="v">
                <p:oleObj name="Equation" r:id="rId5" imgW="1358310" imgH="444307" progId="Equation.DSMT4">
                  <p:embed/>
                </p:oleObj>
              </mc:Choice>
              <mc:Fallback>
                <p:oleObj name="Equation" r:id="rId5" imgW="1358310" imgH="444307"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46700" y="2988866"/>
                        <a:ext cx="2486025" cy="81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7601" name="AutoShape 17"/>
          <p:cNvSpPr>
            <a:spLocks noChangeArrowheads="1"/>
          </p:cNvSpPr>
          <p:nvPr/>
        </p:nvSpPr>
        <p:spPr bwMode="auto">
          <a:xfrm>
            <a:off x="6588125" y="1307703"/>
            <a:ext cx="1663700" cy="933450"/>
          </a:xfrm>
          <a:prstGeom prst="wedgeRectCallout">
            <a:avLst>
              <a:gd name="adj1" fmla="val -72806"/>
              <a:gd name="adj2" fmla="val 140134"/>
            </a:avLst>
          </a:prstGeom>
          <a:solidFill>
            <a:schemeClr val="bg1"/>
          </a:solidFill>
          <a:ln w="9525">
            <a:solidFill>
              <a:srgbClr val="0000FF"/>
            </a:solidFill>
            <a:miter lim="800000"/>
            <a:headEnd/>
            <a:tailEnd/>
          </a:ln>
          <a:effectLst/>
        </p:spPr>
        <p:txBody>
          <a:bodyPr/>
          <a:lstStyle/>
          <a:p>
            <a:pPr eaLnBrk="0" hangingPunct="0">
              <a:defRPr/>
            </a:pPr>
            <a:r>
              <a:rPr kumimoji="0" lang="zh-CN" altLang="en-US" sz="1800">
                <a:solidFill>
                  <a:srgbClr val="1E86B4"/>
                </a:solidFill>
                <a:effectLst>
                  <a:outerShdw blurRad="38100" dist="38100" dir="2700000" algn="tl">
                    <a:srgbClr val="C0C0C0"/>
                  </a:outerShdw>
                </a:effectLst>
              </a:rPr>
              <a:t>二者脉冲传递函数不同但极点相同</a:t>
            </a:r>
          </a:p>
        </p:txBody>
      </p:sp>
      <p:sp>
        <p:nvSpPr>
          <p:cNvPr id="67602" name="Text Box 18"/>
          <p:cNvSpPr txBox="1">
            <a:spLocks noChangeArrowheads="1"/>
          </p:cNvSpPr>
          <p:nvPr/>
        </p:nvSpPr>
        <p:spPr bwMode="auto">
          <a:xfrm>
            <a:off x="1116013" y="2099866"/>
            <a:ext cx="49164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中间没有采样开关时：</a:t>
            </a:r>
          </a:p>
        </p:txBody>
      </p:sp>
      <p:graphicFrame>
        <p:nvGraphicFramePr>
          <p:cNvPr id="35844" name="Object 53"/>
          <p:cNvGraphicFramePr>
            <a:graphicFrameLocks noChangeAspect="1"/>
          </p:cNvGraphicFramePr>
          <p:nvPr/>
        </p:nvGraphicFramePr>
        <p:xfrm>
          <a:off x="2915816" y="4304134"/>
          <a:ext cx="4752975" cy="781050"/>
        </p:xfrm>
        <a:graphic>
          <a:graphicData uri="http://schemas.openxmlformats.org/presentationml/2006/ole">
            <mc:AlternateContent xmlns:mc="http://schemas.openxmlformats.org/markup-compatibility/2006">
              <mc:Choice xmlns:v="urn:schemas-microsoft-com:vml" Requires="v">
                <p:oleObj name="Equation" r:id="rId7" imgW="2552700" imgH="419100" progId="Equation.DSMT4">
                  <p:embed/>
                </p:oleObj>
              </mc:Choice>
              <mc:Fallback>
                <p:oleObj name="Equation" r:id="rId7" imgW="2552700" imgH="4191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5816" y="4304134"/>
                        <a:ext cx="4752975" cy="781050"/>
                      </a:xfrm>
                      <a:prstGeom prst="rect">
                        <a:avLst/>
                      </a:prstGeom>
                      <a:solidFill>
                        <a:srgbClr val="CCFFFF"/>
                      </a:solidFill>
                    </p:spPr>
                  </p:pic>
                </p:oleObj>
              </mc:Fallback>
            </mc:AlternateContent>
          </a:graphicData>
        </a:graphic>
      </p:graphicFrame>
    </p:spTree>
  </p:cSld>
  <p:clrMapOvr>
    <a:masterClrMapping/>
  </p:clrMapOvr>
  <p:transition>
    <p:strips/>
  </p:transition>
</p:sld>
</file>

<file path=ppt/slides/slide4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8652" name="Text Box 44"/>
          <p:cNvSpPr txBox="1">
            <a:spLocks noChangeArrowheads="1"/>
          </p:cNvSpPr>
          <p:nvPr/>
        </p:nvSpPr>
        <p:spPr bwMode="auto">
          <a:xfrm>
            <a:off x="900113" y="1557338"/>
            <a:ext cx="5903912" cy="519112"/>
          </a:xfrm>
          <a:prstGeom prst="rect">
            <a:avLst/>
          </a:prstGeom>
          <a:noFill/>
          <a:ln w="9525" algn="ctr">
            <a:noFill/>
            <a:miter lim="800000"/>
            <a:headEnd/>
            <a:tailEnd/>
          </a:ln>
          <a:effectLst/>
        </p:spPr>
        <p:txBody>
          <a:bodyPr>
            <a:spAutoFit/>
          </a:bodyPr>
          <a:lstStyle/>
          <a:p>
            <a:pPr>
              <a:defRPr/>
            </a:pPr>
            <a:r>
              <a:rPr kumimoji="0" lang="zh-CN" altLang="en-US" sz="2800">
                <a:solidFill>
                  <a:srgbClr val="FF0000"/>
                </a:solidFill>
                <a:effectLst>
                  <a:outerShdw blurRad="38100" dist="38100" dir="2700000" algn="tl">
                    <a:srgbClr val="C0C0C0"/>
                  </a:outerShdw>
                </a:effectLst>
              </a:rPr>
              <a:t>（二）并联环节的脉冲传递函数</a:t>
            </a:r>
          </a:p>
        </p:txBody>
      </p:sp>
      <p:pic>
        <p:nvPicPr>
          <p:cNvPr id="36869" name="Picture 45"/>
          <p:cNvPicPr>
            <a:picLocks noChangeAspect="1" noChangeArrowheads="1"/>
          </p:cNvPicPr>
          <p:nvPr/>
        </p:nvPicPr>
        <p:blipFill>
          <a:blip r:embed="rId3" cstate="print"/>
          <a:srcRect/>
          <a:stretch>
            <a:fillRect/>
          </a:stretch>
        </p:blipFill>
        <p:spPr bwMode="auto">
          <a:xfrm>
            <a:off x="395288" y="3933825"/>
            <a:ext cx="8281987" cy="1731963"/>
          </a:xfrm>
          <a:prstGeom prst="rect">
            <a:avLst/>
          </a:prstGeom>
          <a:noFill/>
          <a:ln w="9525">
            <a:noFill/>
            <a:miter lim="800000"/>
            <a:headEnd/>
            <a:tailEnd/>
          </a:ln>
        </p:spPr>
      </p:pic>
      <p:graphicFrame>
        <p:nvGraphicFramePr>
          <p:cNvPr id="36866" name="Object 46"/>
          <p:cNvGraphicFramePr>
            <a:graphicFrameLocks noChangeAspect="1"/>
          </p:cNvGraphicFramePr>
          <p:nvPr/>
        </p:nvGraphicFramePr>
        <p:xfrm>
          <a:off x="827088" y="3070225"/>
          <a:ext cx="7150100" cy="557213"/>
        </p:xfrm>
        <a:graphic>
          <a:graphicData uri="http://schemas.openxmlformats.org/presentationml/2006/ole">
            <mc:AlternateContent xmlns:mc="http://schemas.openxmlformats.org/markup-compatibility/2006">
              <mc:Choice xmlns:v="urn:schemas-microsoft-com:vml" Requires="v">
                <p:oleObj r:id="rId4" imgW="2768600" imgH="215900" progId="Equation.3">
                  <p:embed/>
                </p:oleObj>
              </mc:Choice>
              <mc:Fallback>
                <p:oleObj r:id="rId4" imgW="2768600" imgH="215900" progId="Equation.3">
                  <p:embed/>
                  <p:pic>
                    <p:nvPicPr>
                      <p:cNvPr id="0" name="Picture 9"/>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27088" y="3070225"/>
                        <a:ext cx="7150100"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68655" name="Rectangle 47"/>
          <p:cNvSpPr>
            <a:spLocks noChangeArrowheads="1"/>
          </p:cNvSpPr>
          <p:nvPr/>
        </p:nvSpPr>
        <p:spPr bwMode="auto">
          <a:xfrm>
            <a:off x="684213" y="2278063"/>
            <a:ext cx="6513512" cy="647700"/>
          </a:xfrm>
          <a:prstGeom prst="rect">
            <a:avLst/>
          </a:prstGeom>
          <a:noFill/>
          <a:ln w="9525">
            <a:noFill/>
            <a:miter lim="800000"/>
            <a:headEnd/>
            <a:tailEnd/>
          </a:ln>
          <a:effectLst/>
        </p:spPr>
        <p:txBody>
          <a:bodyPr/>
          <a:lstStyle/>
          <a:p>
            <a:pPr marL="342900" indent="-342900">
              <a:spcBef>
                <a:spcPct val="20000"/>
              </a:spcBef>
              <a:defRPr/>
            </a:pPr>
            <a:r>
              <a:rPr lang="en-US" altLang="zh-CN" sz="2800">
                <a:effectLst>
                  <a:outerShdw blurRad="38100" dist="38100" dir="2700000" algn="tl">
                    <a:srgbClr val="C0C0C0"/>
                  </a:outerShdw>
                </a:effectLst>
              </a:rPr>
              <a:t> </a:t>
            </a:r>
            <a:r>
              <a:rPr lang="zh-CN" altLang="en-US" sz="2800">
                <a:effectLst>
                  <a:outerShdw blurRad="38100" dist="38100" dir="2700000" algn="tl">
                    <a:srgbClr val="C0C0C0"/>
                  </a:outerShdw>
                </a:effectLst>
              </a:rPr>
              <a:t>两个并联环节的情况：</a:t>
            </a:r>
          </a:p>
        </p:txBody>
      </p:sp>
    </p:spTree>
  </p:cSld>
  <p:clrMapOvr>
    <a:masterClrMapping/>
  </p:clrMapOvr>
  <p:transition>
    <p:comb dir="vert"/>
  </p:transition>
</p:sld>
</file>

<file path=ppt/slides/slide4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69641" name="Text Box 9"/>
          <p:cNvSpPr txBox="1">
            <a:spLocks noChangeArrowheads="1"/>
          </p:cNvSpPr>
          <p:nvPr/>
        </p:nvSpPr>
        <p:spPr bwMode="auto">
          <a:xfrm>
            <a:off x="900113" y="1412875"/>
            <a:ext cx="7704137" cy="519113"/>
          </a:xfrm>
          <a:prstGeom prst="rect">
            <a:avLst/>
          </a:prstGeom>
          <a:noFill/>
          <a:ln w="9525" algn="ctr">
            <a:noFill/>
            <a:miter lim="800000"/>
            <a:headEnd/>
            <a:tailEnd/>
          </a:ln>
          <a:effectLst/>
        </p:spPr>
        <p:txBody>
          <a:bodyPr>
            <a:spAutoFit/>
          </a:bodyPr>
          <a:lstStyle/>
          <a:p>
            <a:pPr>
              <a:defRPr/>
            </a:pPr>
            <a:r>
              <a:rPr kumimoji="0" lang="zh-CN" altLang="en-US" sz="2800">
                <a:solidFill>
                  <a:srgbClr val="FF0000"/>
                </a:solidFill>
                <a:effectLst>
                  <a:outerShdw blurRad="38100" dist="38100" dir="2700000" algn="tl">
                    <a:srgbClr val="C0C0C0"/>
                  </a:outerShdw>
                </a:effectLst>
              </a:rPr>
              <a:t>（三）反馈连接环节的脉冲传递函数</a:t>
            </a:r>
          </a:p>
        </p:txBody>
      </p:sp>
      <p:sp>
        <p:nvSpPr>
          <p:cNvPr id="69642" name="Text Box 10"/>
          <p:cNvSpPr txBox="1">
            <a:spLocks noChangeArrowheads="1"/>
          </p:cNvSpPr>
          <p:nvPr/>
        </p:nvSpPr>
        <p:spPr bwMode="auto">
          <a:xfrm>
            <a:off x="900113" y="2133600"/>
            <a:ext cx="7561262" cy="3292475"/>
          </a:xfrm>
          <a:prstGeom prst="rect">
            <a:avLst/>
          </a:prstGeom>
          <a:noFill/>
          <a:ln w="9525" algn="ctr">
            <a:noFill/>
            <a:miter lim="800000"/>
            <a:headEnd/>
            <a:tailEnd/>
          </a:ln>
          <a:effectLst/>
        </p:spPr>
        <p:txBody>
          <a:bodyPr>
            <a:spAutoFit/>
          </a:bodyPr>
          <a:lstStyle/>
          <a:p>
            <a:pPr>
              <a:lnSpc>
                <a:spcPct val="125000"/>
              </a:lnSpc>
              <a:defRPr/>
            </a:pP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当系统中各环节通过反馈形成闭环连接时，闭环系统脉冲传递函数的求取，同样也必须注意到在闭环的各个通道，以及各环节之间是否有采样开关。</a:t>
            </a:r>
          </a:p>
          <a:p>
            <a:pPr>
              <a:lnSpc>
                <a:spcPct val="125000"/>
              </a:lnSpc>
              <a:defRPr/>
            </a:pPr>
            <a:r>
              <a:rPr kumimoji="0" lang="zh-CN" altLang="en-US" sz="2400" dirty="0">
                <a:effectLst>
                  <a:outerShdw blurRad="38100" dist="38100" dir="2700000" algn="tl">
                    <a:srgbClr val="C0C0C0"/>
                  </a:outerShdw>
                </a:effectLst>
              </a:rPr>
              <a:t>        几种典型闭环系统的脉冲传递函数：</a:t>
            </a:r>
          </a:p>
          <a:p>
            <a:pPr>
              <a:lnSpc>
                <a:spcPct val="125000"/>
              </a:lnSpc>
              <a:defRPr/>
            </a:pPr>
            <a:r>
              <a:rPr kumimoji="0" lang="zh-CN" altLang="en-US" sz="2400" dirty="0">
                <a:effectLst>
                  <a:outerShdw blurRad="38100" dist="38100" dir="2700000" algn="tl">
                    <a:srgbClr val="C0C0C0"/>
                  </a:outerShdw>
                </a:effectLst>
              </a:rPr>
              <a:t>          （</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 误差离散系统 </a:t>
            </a:r>
          </a:p>
          <a:p>
            <a:pPr>
              <a:lnSpc>
                <a:spcPct val="125000"/>
              </a:lnSpc>
              <a:defRPr/>
            </a:pPr>
            <a:r>
              <a:rPr kumimoji="0" lang="zh-CN" altLang="en-US" sz="2400" dirty="0">
                <a:effectLst>
                  <a:outerShdw blurRad="38100" dist="38100" dir="2700000" algn="tl">
                    <a:srgbClr val="C0C0C0"/>
                  </a:outerShdw>
                </a:effectLst>
              </a:rPr>
              <a:t>          （</a:t>
            </a:r>
            <a:r>
              <a:rPr kumimoji="0" lang="en-US" altLang="zh-CN" sz="2400" dirty="0">
                <a:effectLst>
                  <a:outerShdw blurRad="38100" dist="38100" dir="2700000" algn="tl">
                    <a:srgbClr val="C0C0C0"/>
                  </a:outerShdw>
                </a:effectLst>
              </a:rPr>
              <a:t>2</a:t>
            </a:r>
            <a:r>
              <a:rPr kumimoji="0" lang="zh-CN" altLang="en-US" sz="2400" dirty="0">
                <a:effectLst>
                  <a:outerShdw blurRad="38100" dist="38100" dir="2700000" algn="tl">
                    <a:srgbClr val="C0C0C0"/>
                  </a:outerShdw>
                </a:effectLst>
              </a:rPr>
              <a:t>）具有数字校正装置的闭环离散系统 </a:t>
            </a:r>
          </a:p>
          <a:p>
            <a:pPr>
              <a:lnSpc>
                <a:spcPct val="125000"/>
              </a:lnSpc>
              <a:defRPr/>
            </a:pPr>
            <a:r>
              <a:rPr kumimoji="0" lang="zh-CN" altLang="en-US" sz="2400" dirty="0">
                <a:effectLst>
                  <a:outerShdw blurRad="38100" dist="38100" dir="2700000" algn="tl">
                    <a:srgbClr val="C0C0C0"/>
                  </a:outerShdw>
                </a:effectLst>
              </a:rPr>
              <a:t>          （</a:t>
            </a:r>
            <a:r>
              <a:rPr kumimoji="0" lang="en-US" altLang="zh-CN" sz="2400" dirty="0">
                <a:effectLst>
                  <a:outerShdw blurRad="38100" dist="38100" dir="2700000" algn="tl">
                    <a:srgbClr val="C0C0C0"/>
                  </a:outerShdw>
                </a:effectLst>
              </a:rPr>
              <a:t>3</a:t>
            </a:r>
            <a:r>
              <a:rPr kumimoji="0" lang="zh-CN" altLang="en-US" sz="2400" dirty="0">
                <a:effectLst>
                  <a:outerShdw blurRad="38100" dist="38100" dir="2700000" algn="tl">
                    <a:srgbClr val="C0C0C0"/>
                  </a:outerShdw>
                </a:effectLst>
              </a:rPr>
              <a:t>）具有干扰的离散系统</a:t>
            </a:r>
          </a:p>
        </p:txBody>
      </p:sp>
    </p:spTree>
  </p:cSld>
  <p:clrMapOvr>
    <a:masterClrMapping/>
  </p:clrMapOvr>
  <p:transition>
    <p:comb dir="vert"/>
  </p:transition>
</p:sld>
</file>

<file path=ppt/slides/slide4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0697" name="Rectangle 41"/>
          <p:cNvSpPr>
            <a:spLocks noChangeArrowheads="1"/>
          </p:cNvSpPr>
          <p:nvPr/>
        </p:nvSpPr>
        <p:spPr bwMode="auto">
          <a:xfrm>
            <a:off x="1331913" y="1341438"/>
            <a:ext cx="3421062" cy="431800"/>
          </a:xfrm>
          <a:prstGeom prst="rect">
            <a:avLst/>
          </a:prstGeom>
          <a:noFill/>
          <a:ln w="9525">
            <a:noFill/>
            <a:miter lim="800000"/>
            <a:headEnd/>
            <a:tailEnd/>
          </a:ln>
          <a:effectLst/>
        </p:spPr>
        <p:txBody>
          <a:bodyPr anchor="b"/>
          <a:lstStyle/>
          <a:p>
            <a:pPr>
              <a:defRPr/>
            </a:pPr>
            <a:r>
              <a:rPr lang="zh-CN" altLang="en-US" sz="2800" u="sng">
                <a:solidFill>
                  <a:srgbClr val="0000FF"/>
                </a:solidFill>
                <a:effectLst>
                  <a:outerShdw blurRad="38100" dist="38100" dir="2700000" algn="tl">
                    <a:srgbClr val="C0C0C0"/>
                  </a:outerShdw>
                </a:effectLst>
              </a:rPr>
              <a:t>误差离散系统</a:t>
            </a:r>
          </a:p>
        </p:txBody>
      </p:sp>
      <p:sp>
        <p:nvSpPr>
          <p:cNvPr id="70698" name="Rectangle 42"/>
          <p:cNvSpPr>
            <a:spLocks noChangeArrowheads="1"/>
          </p:cNvSpPr>
          <p:nvPr/>
        </p:nvSpPr>
        <p:spPr bwMode="auto">
          <a:xfrm>
            <a:off x="981075" y="2133600"/>
            <a:ext cx="7335838" cy="1152525"/>
          </a:xfrm>
          <a:prstGeom prst="rect">
            <a:avLst/>
          </a:prstGeom>
          <a:noFill/>
          <a:ln w="9525">
            <a:noFill/>
            <a:miter lim="800000"/>
            <a:headEnd/>
            <a:tailEnd/>
          </a:ln>
          <a:effectLst/>
        </p:spPr>
        <p:txBody>
          <a:bodyPr/>
          <a:lstStyle/>
          <a:p>
            <a:pPr marL="342900" indent="-342900">
              <a:lnSpc>
                <a:spcPct val="125000"/>
              </a:lnSpc>
              <a:spcBef>
                <a:spcPct val="20000"/>
              </a:spcBef>
              <a:defRPr/>
            </a:pPr>
            <a:r>
              <a:rPr lang="en-US" altLang="zh-CN" sz="2400">
                <a:effectLst>
                  <a:outerShdw blurRad="38100" dist="38100" dir="2700000" algn="tl">
                    <a:srgbClr val="C0C0C0"/>
                  </a:outerShdw>
                </a:effectLst>
              </a:rPr>
              <a:t>      </a:t>
            </a:r>
            <a:r>
              <a:rPr lang="zh-CN" altLang="en-US" sz="2400">
                <a:effectLst>
                  <a:outerShdw blurRad="38100" dist="38100" dir="2700000" algn="tl">
                    <a:srgbClr val="C0C0C0"/>
                  </a:outerShdw>
                </a:effectLst>
              </a:rPr>
              <a:t>具有负反馈的线性离散系统</a:t>
            </a:r>
            <a:r>
              <a:rPr lang="en-US" altLang="zh-CN" sz="2400">
                <a:effectLst>
                  <a:outerShdw blurRad="38100" dist="38100" dir="2700000" algn="tl">
                    <a:srgbClr val="C0C0C0"/>
                  </a:outerShdw>
                </a:effectLst>
              </a:rPr>
              <a:t>,            </a:t>
            </a:r>
            <a:r>
              <a:rPr lang="zh-CN" altLang="en-US" sz="2400">
                <a:effectLst>
                  <a:outerShdw blurRad="38100" dist="38100" dir="2700000" algn="tl">
                    <a:srgbClr val="C0C0C0"/>
                  </a:outerShdw>
                </a:effectLst>
              </a:rPr>
              <a:t>与       </a:t>
            </a:r>
          </a:p>
          <a:p>
            <a:pPr marL="342900" indent="-342900">
              <a:lnSpc>
                <a:spcPct val="125000"/>
              </a:lnSpc>
              <a:spcBef>
                <a:spcPct val="20000"/>
              </a:spcBef>
              <a:defRPr/>
            </a:pPr>
            <a:r>
              <a:rPr lang="zh-CN" altLang="en-US" sz="2400">
                <a:effectLst>
                  <a:outerShdw blurRad="38100" dist="38100" dir="2700000" algn="tl">
                    <a:srgbClr val="C0C0C0"/>
                  </a:outerShdw>
                </a:effectLst>
              </a:rPr>
              <a:t>分别表示正向通道与反馈通道的传递函数。</a:t>
            </a:r>
          </a:p>
        </p:txBody>
      </p:sp>
      <p:graphicFrame>
        <p:nvGraphicFramePr>
          <p:cNvPr id="37890" name="Object 43"/>
          <p:cNvGraphicFramePr>
            <a:graphicFrameLocks noChangeAspect="1"/>
          </p:cNvGraphicFramePr>
          <p:nvPr/>
        </p:nvGraphicFramePr>
        <p:xfrm>
          <a:off x="5508625" y="2222500"/>
          <a:ext cx="657225" cy="425450"/>
        </p:xfrm>
        <a:graphic>
          <a:graphicData uri="http://schemas.openxmlformats.org/presentationml/2006/ole">
            <mc:AlternateContent xmlns:mc="http://schemas.openxmlformats.org/markup-compatibility/2006">
              <mc:Choice xmlns:v="urn:schemas-microsoft-com:vml" Requires="v">
                <p:oleObj name="Equation" r:id="rId3" imgW="355292" imgH="203024" progId="Equation.DSMT4">
                  <p:embed/>
                </p:oleObj>
              </mc:Choice>
              <mc:Fallback>
                <p:oleObj name="Equation" r:id="rId3" imgW="355292" imgH="203024"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508625" y="2222500"/>
                        <a:ext cx="657225" cy="4254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7891" name="Object 44"/>
          <p:cNvGraphicFramePr>
            <a:graphicFrameLocks noChangeAspect="1"/>
          </p:cNvGraphicFramePr>
          <p:nvPr/>
        </p:nvGraphicFramePr>
        <p:xfrm>
          <a:off x="6600825" y="2236788"/>
          <a:ext cx="668338" cy="422275"/>
        </p:xfrm>
        <a:graphic>
          <a:graphicData uri="http://schemas.openxmlformats.org/presentationml/2006/ole">
            <mc:AlternateContent xmlns:mc="http://schemas.openxmlformats.org/markup-compatibility/2006">
              <mc:Choice xmlns:v="urn:schemas-microsoft-com:vml" Requires="v">
                <p:oleObj name="公式" r:id="rId5" imgW="355292" imgH="203024" progId="Equation.3">
                  <p:embed/>
                </p:oleObj>
              </mc:Choice>
              <mc:Fallback>
                <p:oleObj name="公式" r:id="rId5" imgW="355292" imgH="203024" progId="Equation.3">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600825" y="2236788"/>
                        <a:ext cx="668338"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37895" name="Picture 45"/>
          <p:cNvPicPr>
            <a:picLocks noChangeAspect="1" noChangeArrowheads="1"/>
          </p:cNvPicPr>
          <p:nvPr/>
        </p:nvPicPr>
        <p:blipFill>
          <a:blip r:embed="rId7" cstate="print"/>
          <a:srcRect/>
          <a:stretch>
            <a:fillRect/>
          </a:stretch>
        </p:blipFill>
        <p:spPr bwMode="auto">
          <a:xfrm>
            <a:off x="1619250" y="3213100"/>
            <a:ext cx="6191250" cy="2433638"/>
          </a:xfrm>
          <a:prstGeom prst="rect">
            <a:avLst/>
          </a:prstGeom>
          <a:noFill/>
          <a:ln w="9525">
            <a:noFill/>
            <a:miter lim="800000"/>
            <a:headEnd/>
            <a:tailEnd/>
          </a:ln>
        </p:spPr>
      </p:pic>
    </p:spTree>
  </p:cSld>
  <p:clrMapOvr>
    <a:masterClrMapping/>
  </p:clrMapOvr>
  <p:transition>
    <p:comb dir="vert"/>
  </p:transition>
</p:sld>
</file>

<file path=ppt/slides/slide4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1738" name="AutoShape 58"/>
          <p:cNvSpPr>
            <a:spLocks noChangeArrowheads="1"/>
          </p:cNvSpPr>
          <p:nvPr/>
        </p:nvSpPr>
        <p:spPr bwMode="auto">
          <a:xfrm>
            <a:off x="4559300" y="4675188"/>
            <a:ext cx="1044575" cy="1746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8920" name="Text Box 59"/>
          <p:cNvSpPr txBox="1">
            <a:spLocks noChangeArrowheads="1"/>
          </p:cNvSpPr>
          <p:nvPr/>
        </p:nvSpPr>
        <p:spPr bwMode="auto">
          <a:xfrm>
            <a:off x="4554538" y="4354513"/>
            <a:ext cx="855662" cy="396875"/>
          </a:xfrm>
          <a:prstGeom prst="rect">
            <a:avLst/>
          </a:prstGeom>
          <a:noFill/>
          <a:ln w="9525">
            <a:noFill/>
            <a:miter lim="800000"/>
            <a:headEnd/>
            <a:tailEnd/>
          </a:ln>
        </p:spPr>
        <p:txBody>
          <a:bodyPr>
            <a:spAutoFit/>
          </a:bodyPr>
          <a:lstStyle/>
          <a:p>
            <a:pPr eaLnBrk="0" hangingPunct="0">
              <a:spcBef>
                <a:spcPct val="50000"/>
              </a:spcBef>
            </a:pPr>
            <a:r>
              <a:rPr kumimoji="0" lang="en-US" altLang="zh-CN" b="0" i="1">
                <a:solidFill>
                  <a:srgbClr val="0000FF"/>
                </a:solidFill>
              </a:rPr>
              <a:t>z</a:t>
            </a:r>
            <a:r>
              <a:rPr kumimoji="0" lang="zh-CN" altLang="en-US" b="0">
                <a:solidFill>
                  <a:srgbClr val="0000FF"/>
                </a:solidFill>
                <a:latin typeface="Arial" charset="0"/>
              </a:rPr>
              <a:t>变换</a:t>
            </a:r>
          </a:p>
        </p:txBody>
      </p:sp>
      <p:graphicFrame>
        <p:nvGraphicFramePr>
          <p:cNvPr id="38914" name="Object 60"/>
          <p:cNvGraphicFramePr>
            <a:graphicFrameLocks noChangeAspect="1"/>
          </p:cNvGraphicFramePr>
          <p:nvPr/>
        </p:nvGraphicFramePr>
        <p:xfrm>
          <a:off x="5759450" y="4556125"/>
          <a:ext cx="3025775" cy="441325"/>
        </p:xfrm>
        <a:graphic>
          <a:graphicData uri="http://schemas.openxmlformats.org/presentationml/2006/ole">
            <mc:AlternateContent xmlns:mc="http://schemas.openxmlformats.org/markup-compatibility/2006">
              <mc:Choice xmlns:v="urn:schemas-microsoft-com:vml" Requires="v">
                <p:oleObj name="Equation" r:id="rId3" imgW="1612900" imgH="203200" progId="Equation.DSMT4">
                  <p:embed/>
                </p:oleObj>
              </mc:Choice>
              <mc:Fallback>
                <p:oleObj name="Equation" r:id="rId3" imgW="1612900" imgH="203200"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759450" y="4556125"/>
                        <a:ext cx="3025775"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38921" name="Group 61"/>
          <p:cNvGrpSpPr>
            <a:grpSpLocks/>
          </p:cNvGrpSpPr>
          <p:nvPr/>
        </p:nvGrpSpPr>
        <p:grpSpPr bwMode="auto">
          <a:xfrm>
            <a:off x="1704975" y="2636838"/>
            <a:ext cx="5824538" cy="622300"/>
            <a:chOff x="529" y="1591"/>
            <a:chExt cx="3669" cy="392"/>
          </a:xfrm>
        </p:grpSpPr>
        <p:graphicFrame>
          <p:nvGraphicFramePr>
            <p:cNvPr id="38916" name="Object 62"/>
            <p:cNvGraphicFramePr>
              <a:graphicFrameLocks noChangeAspect="1"/>
            </p:cNvGraphicFramePr>
            <p:nvPr/>
          </p:nvGraphicFramePr>
          <p:xfrm>
            <a:off x="529" y="1683"/>
            <a:ext cx="1400" cy="285"/>
          </p:xfrm>
          <a:graphic>
            <a:graphicData uri="http://schemas.openxmlformats.org/presentationml/2006/ole">
              <mc:AlternateContent xmlns:mc="http://schemas.openxmlformats.org/markup-compatibility/2006">
                <mc:Choice xmlns:v="urn:schemas-microsoft-com:vml" Requires="v">
                  <p:oleObj name="Equation" r:id="rId5" imgW="1117600" imgH="228600" progId="Equation.DSMT4">
                    <p:embed/>
                  </p:oleObj>
                </mc:Choice>
                <mc:Fallback>
                  <p:oleObj name="Equation" r:id="rId5" imgW="1117600" imgH="2286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9" y="1683"/>
                          <a:ext cx="1400"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1743" name="AutoShape 63"/>
            <p:cNvSpPr>
              <a:spLocks noChangeArrowheads="1"/>
            </p:cNvSpPr>
            <p:nvPr/>
          </p:nvSpPr>
          <p:spPr bwMode="auto">
            <a:xfrm>
              <a:off x="2046" y="1810"/>
              <a:ext cx="658" cy="11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38925" name="Text Box 64"/>
            <p:cNvSpPr txBox="1">
              <a:spLocks noChangeArrowheads="1"/>
            </p:cNvSpPr>
            <p:nvPr/>
          </p:nvSpPr>
          <p:spPr bwMode="auto">
            <a:xfrm>
              <a:off x="2046" y="1591"/>
              <a:ext cx="539" cy="250"/>
            </a:xfrm>
            <a:prstGeom prst="rect">
              <a:avLst/>
            </a:prstGeom>
            <a:noFill/>
            <a:ln w="9525">
              <a:noFill/>
              <a:miter lim="800000"/>
              <a:headEnd/>
              <a:tailEnd/>
            </a:ln>
          </p:spPr>
          <p:txBody>
            <a:bodyPr>
              <a:spAutoFit/>
            </a:bodyPr>
            <a:lstStyle/>
            <a:p>
              <a:pPr eaLnBrk="0" hangingPunct="0">
                <a:spcBef>
                  <a:spcPct val="50000"/>
                </a:spcBef>
              </a:pPr>
              <a:r>
                <a:rPr kumimoji="0" lang="en-US" altLang="zh-CN" b="0" i="1">
                  <a:solidFill>
                    <a:srgbClr val="0000FF"/>
                  </a:solidFill>
                </a:rPr>
                <a:t>z</a:t>
              </a:r>
              <a:r>
                <a:rPr kumimoji="0" lang="zh-CN" altLang="en-US" b="0">
                  <a:solidFill>
                    <a:srgbClr val="0000FF"/>
                  </a:solidFill>
                  <a:latin typeface="Arial" charset="0"/>
                </a:rPr>
                <a:t>变换</a:t>
              </a:r>
            </a:p>
          </p:txBody>
        </p:sp>
        <p:graphicFrame>
          <p:nvGraphicFramePr>
            <p:cNvPr id="38917" name="Object 65"/>
            <p:cNvGraphicFramePr>
              <a:graphicFrameLocks noChangeAspect="1"/>
            </p:cNvGraphicFramePr>
            <p:nvPr/>
          </p:nvGraphicFramePr>
          <p:xfrm>
            <a:off x="2847" y="1725"/>
            <a:ext cx="1351" cy="258"/>
          </p:xfrm>
          <a:graphic>
            <a:graphicData uri="http://schemas.openxmlformats.org/presentationml/2006/ole">
              <mc:AlternateContent xmlns:mc="http://schemas.openxmlformats.org/markup-compatibility/2006">
                <mc:Choice xmlns:v="urn:schemas-microsoft-com:vml" Requires="v">
                  <p:oleObj name="Equation" r:id="rId7" imgW="1079032" imgH="203112" progId="Equation.DSMT4">
                    <p:embed/>
                  </p:oleObj>
                </mc:Choice>
                <mc:Fallback>
                  <p:oleObj name="Equation" r:id="rId7" imgW="1079032" imgH="203112"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847" y="1725"/>
                          <a:ext cx="1351"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1746" name="Text Box 66"/>
          <p:cNvSpPr txBox="1">
            <a:spLocks noChangeArrowheads="1"/>
          </p:cNvSpPr>
          <p:nvPr/>
        </p:nvSpPr>
        <p:spPr bwMode="auto">
          <a:xfrm>
            <a:off x="900113" y="1989138"/>
            <a:ext cx="50609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输出函数的拉氏变换为：</a:t>
            </a:r>
          </a:p>
        </p:txBody>
      </p:sp>
      <p:sp>
        <p:nvSpPr>
          <p:cNvPr id="71747" name="Text Box 67"/>
          <p:cNvSpPr txBox="1">
            <a:spLocks noChangeArrowheads="1"/>
          </p:cNvSpPr>
          <p:nvPr/>
        </p:nvSpPr>
        <p:spPr bwMode="auto">
          <a:xfrm>
            <a:off x="950913" y="3644900"/>
            <a:ext cx="54927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误差信号的拉氏变换为：</a:t>
            </a:r>
          </a:p>
        </p:txBody>
      </p:sp>
      <p:graphicFrame>
        <p:nvGraphicFramePr>
          <p:cNvPr id="38915" name="Object 68"/>
          <p:cNvGraphicFramePr>
            <a:graphicFrameLocks noChangeAspect="1"/>
          </p:cNvGraphicFramePr>
          <p:nvPr/>
        </p:nvGraphicFramePr>
        <p:xfrm>
          <a:off x="900113" y="4437063"/>
          <a:ext cx="3478212" cy="496887"/>
        </p:xfrm>
        <a:graphic>
          <a:graphicData uri="http://schemas.openxmlformats.org/presentationml/2006/ole">
            <mc:AlternateContent xmlns:mc="http://schemas.openxmlformats.org/markup-compatibility/2006">
              <mc:Choice xmlns:v="urn:schemas-microsoft-com:vml" Requires="v">
                <p:oleObj name="Equation" r:id="rId9" imgW="1854200" imgH="228600" progId="Equation.DSMT4">
                  <p:embed/>
                </p:oleObj>
              </mc:Choice>
              <mc:Fallback>
                <p:oleObj name="Equation" r:id="rId9" imgW="1854200" imgH="22860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900113" y="4437063"/>
                        <a:ext cx="3478212" cy="4968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dir="vert"/>
  </p:transition>
</p:sld>
</file>

<file path=ppt/slides/slide4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39938" name="Object 11"/>
          <p:cNvGraphicFramePr>
            <a:graphicFrameLocks noChangeAspect="1"/>
          </p:cNvGraphicFramePr>
          <p:nvPr>
            <p:extLst>
              <p:ext uri="{D42A27DB-BD31-4B8C-83A1-F6EECF244321}">
                <p14:modId xmlns:p14="http://schemas.microsoft.com/office/powerpoint/2010/main" val="3858744109"/>
              </p:ext>
            </p:extLst>
          </p:nvPr>
        </p:nvGraphicFramePr>
        <p:xfrm>
          <a:off x="1871663" y="2492375"/>
          <a:ext cx="4783137" cy="863600"/>
        </p:xfrm>
        <a:graphic>
          <a:graphicData uri="http://schemas.openxmlformats.org/presentationml/2006/ole">
            <mc:AlternateContent xmlns:mc="http://schemas.openxmlformats.org/markup-compatibility/2006">
              <mc:Choice xmlns:v="urn:schemas-microsoft-com:vml" Requires="v">
                <p:oleObj name="Equation" r:id="rId3" imgW="2374560" imgH="431640" progId="Equation.DSMT4">
                  <p:embed/>
                </p:oleObj>
              </mc:Choice>
              <mc:Fallback>
                <p:oleObj name="Equation" r:id="rId3" imgW="2374560" imgH="431640" progId="Equation.DSMT4">
                  <p:embed/>
                  <p:pic>
                    <p:nvPicPr>
                      <p:cNvPr id="0" name="Picture 16"/>
                      <p:cNvPicPr>
                        <a:picLocks noChangeAspect="1" noChangeArrowheads="1"/>
                      </p:cNvPicPr>
                      <p:nvPr/>
                    </p:nvPicPr>
                    <p:blipFill>
                      <a:blip r:embed="rId4"/>
                      <a:srcRect/>
                      <a:stretch>
                        <a:fillRect/>
                      </a:stretch>
                    </p:blipFill>
                    <p:spPr bwMode="auto">
                      <a:xfrm>
                        <a:off x="1871663" y="2492375"/>
                        <a:ext cx="4783137" cy="863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39939" name="Object 12"/>
          <p:cNvGraphicFramePr>
            <a:graphicFrameLocks noChangeAspect="1"/>
          </p:cNvGraphicFramePr>
          <p:nvPr/>
        </p:nvGraphicFramePr>
        <p:xfrm>
          <a:off x="2484438" y="4292600"/>
          <a:ext cx="3367087" cy="858838"/>
        </p:xfrm>
        <a:graphic>
          <a:graphicData uri="http://schemas.openxmlformats.org/presentationml/2006/ole">
            <mc:AlternateContent xmlns:mc="http://schemas.openxmlformats.org/markup-compatibility/2006">
              <mc:Choice xmlns:v="urn:schemas-microsoft-com:vml" Requires="v">
                <p:oleObj name="Equation" r:id="rId5" imgW="1651000" imgH="419100" progId="Equation.DSMT4">
                  <p:embed/>
                </p:oleObj>
              </mc:Choice>
              <mc:Fallback>
                <p:oleObj name="Equation" r:id="rId5" imgW="1651000" imgH="4191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4292600"/>
                        <a:ext cx="3367087" cy="858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2717" name="Text Box 13"/>
          <p:cNvSpPr txBox="1">
            <a:spLocks noChangeArrowheads="1"/>
          </p:cNvSpPr>
          <p:nvPr/>
        </p:nvSpPr>
        <p:spPr bwMode="auto">
          <a:xfrm>
            <a:off x="1455738" y="1773238"/>
            <a:ext cx="49879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误差脉冲传递函数为：</a:t>
            </a:r>
          </a:p>
        </p:txBody>
      </p:sp>
      <p:sp>
        <p:nvSpPr>
          <p:cNvPr id="72718" name="Text Box 14"/>
          <p:cNvSpPr txBox="1">
            <a:spLocks noChangeArrowheads="1"/>
          </p:cNvSpPr>
          <p:nvPr/>
        </p:nvSpPr>
        <p:spPr bwMode="auto">
          <a:xfrm>
            <a:off x="1543050" y="3690938"/>
            <a:ext cx="470058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闭环脉冲传递函数为：</a:t>
            </a:r>
          </a:p>
        </p:txBody>
      </p:sp>
    </p:spTree>
  </p:cSld>
  <p:clrMapOvr>
    <a:masterClrMapping/>
  </p:clrMapOvr>
  <p:transition>
    <p:checker dir="vert"/>
  </p:transition>
</p:sld>
</file>

<file path=ppt/slides/slide4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3790" name="Text Box 62"/>
          <p:cNvSpPr txBox="1">
            <a:spLocks noChangeArrowheads="1"/>
          </p:cNvSpPr>
          <p:nvPr/>
        </p:nvSpPr>
        <p:spPr bwMode="auto">
          <a:xfrm>
            <a:off x="900113" y="1268413"/>
            <a:ext cx="6696075" cy="519112"/>
          </a:xfrm>
          <a:prstGeom prst="rect">
            <a:avLst/>
          </a:prstGeom>
          <a:noFill/>
          <a:ln w="9525" algn="ctr">
            <a:noFill/>
            <a:miter lim="800000"/>
            <a:headEnd/>
            <a:tailEnd/>
          </a:ln>
          <a:effectLst/>
        </p:spPr>
        <p:txBody>
          <a:bodyPr>
            <a:spAutoFit/>
          </a:bodyPr>
          <a:lstStyle/>
          <a:p>
            <a:pPr>
              <a:defRPr/>
            </a:pPr>
            <a:r>
              <a:rPr kumimoji="0" lang="zh-CN" altLang="en-US" sz="2800" u="sng">
                <a:solidFill>
                  <a:srgbClr val="0000FF"/>
                </a:solidFill>
                <a:effectLst>
                  <a:outerShdw blurRad="38100" dist="38100" dir="2700000" algn="tl">
                    <a:srgbClr val="C0C0C0"/>
                  </a:outerShdw>
                </a:effectLst>
              </a:rPr>
              <a:t>具有数字校正装置的闭环离散系统</a:t>
            </a:r>
          </a:p>
        </p:txBody>
      </p:sp>
      <p:sp>
        <p:nvSpPr>
          <p:cNvPr id="73791" name="Text Box 63"/>
          <p:cNvSpPr txBox="1">
            <a:spLocks noChangeArrowheads="1"/>
          </p:cNvSpPr>
          <p:nvPr/>
        </p:nvSpPr>
        <p:spPr bwMode="auto">
          <a:xfrm>
            <a:off x="971550" y="1987550"/>
            <a:ext cx="7364413" cy="1406525"/>
          </a:xfrm>
          <a:prstGeom prst="rect">
            <a:avLst/>
          </a:prstGeom>
          <a:noFill/>
          <a:ln w="9525" algn="ctr">
            <a:noFill/>
            <a:miter lim="800000"/>
            <a:headEnd/>
            <a:tailEnd/>
          </a:ln>
          <a:effectLst/>
        </p:spPr>
        <p:txBody>
          <a:bodyPr>
            <a:spAutoFit/>
          </a:bodyPr>
          <a:lstStyle/>
          <a:p>
            <a:pPr algn="just">
              <a:lnSpc>
                <a:spcPct val="120000"/>
              </a:lnSpc>
              <a:defRPr/>
            </a:pP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该系统的正向通道中，有脉冲传递函数为</a:t>
            </a:r>
            <a:r>
              <a:rPr kumimoji="0" lang="en-US" altLang="zh-CN" sz="2400" i="1" dirty="0">
                <a:effectLst>
                  <a:outerShdw blurRad="38100" dist="38100" dir="2700000" algn="tl">
                    <a:srgbClr val="C0C0C0"/>
                  </a:outerShdw>
                </a:effectLst>
              </a:rPr>
              <a:t>D</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z</a:t>
            </a:r>
            <a:r>
              <a:rPr kumimoji="0" lang="en-US" altLang="zh-CN" sz="2400" dirty="0">
                <a:effectLst>
                  <a:outerShdw blurRad="38100" dist="38100" dir="2700000" algn="tl">
                    <a:srgbClr val="C0C0C0"/>
                  </a:outerShdw>
                </a:effectLst>
              </a:rPr>
              <a:t>)</a:t>
            </a:r>
            <a:r>
              <a:rPr kumimoji="0" lang="zh-CN" altLang="en-US" sz="2400" dirty="0">
                <a:effectLst>
                  <a:outerShdw blurRad="38100" dist="38100" dir="2700000" algn="tl">
                    <a:srgbClr val="C0C0C0"/>
                  </a:outerShdw>
                </a:effectLst>
              </a:rPr>
              <a:t>的数字校正装置，可由计算机软件来实现，其作用与连续系统中的串联校正装置相同。如下图所示： </a:t>
            </a:r>
          </a:p>
        </p:txBody>
      </p:sp>
      <p:pic>
        <p:nvPicPr>
          <p:cNvPr id="117764" name="Picture 64"/>
          <p:cNvPicPr>
            <a:picLocks noChangeAspect="1" noChangeArrowheads="1"/>
          </p:cNvPicPr>
          <p:nvPr/>
        </p:nvPicPr>
        <p:blipFill>
          <a:blip r:embed="rId3" cstate="print"/>
          <a:srcRect/>
          <a:stretch>
            <a:fillRect/>
          </a:stretch>
        </p:blipFill>
        <p:spPr bwMode="auto">
          <a:xfrm>
            <a:off x="900113" y="3357563"/>
            <a:ext cx="7559675" cy="2570162"/>
          </a:xfrm>
          <a:prstGeom prst="rect">
            <a:avLst/>
          </a:prstGeom>
          <a:noFill/>
          <a:ln w="9525">
            <a:noFill/>
            <a:miter lim="800000"/>
            <a:headEnd/>
            <a:tailEnd/>
          </a:ln>
        </p:spPr>
      </p:pic>
    </p:spTree>
  </p:cSld>
  <p:clrMapOvr>
    <a:masterClrMapping/>
  </p:clrMapOvr>
  <p:transition>
    <p:checker dir="vert"/>
  </p:transition>
</p:sld>
</file>

<file path=ppt/slides/slide5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4778" name="Text Box 26"/>
          <p:cNvSpPr txBox="1">
            <a:spLocks noChangeArrowheads="1"/>
          </p:cNvSpPr>
          <p:nvPr/>
        </p:nvSpPr>
        <p:spPr bwMode="auto">
          <a:xfrm>
            <a:off x="879475" y="1844675"/>
            <a:ext cx="48450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输出函数的拉氏变换为：</a:t>
            </a:r>
          </a:p>
        </p:txBody>
      </p:sp>
      <p:grpSp>
        <p:nvGrpSpPr>
          <p:cNvPr id="40968" name="Group 27"/>
          <p:cNvGrpSpPr>
            <a:grpSpLocks/>
          </p:cNvGrpSpPr>
          <p:nvPr/>
        </p:nvGrpSpPr>
        <p:grpSpPr bwMode="auto">
          <a:xfrm>
            <a:off x="1116013" y="2492375"/>
            <a:ext cx="6789737" cy="647700"/>
            <a:chOff x="567" y="845"/>
            <a:chExt cx="4277" cy="408"/>
          </a:xfrm>
        </p:grpSpPr>
        <p:graphicFrame>
          <p:nvGraphicFramePr>
            <p:cNvPr id="40964" name="Object 28"/>
            <p:cNvGraphicFramePr>
              <a:graphicFrameLocks noChangeAspect="1"/>
            </p:cNvGraphicFramePr>
            <p:nvPr/>
          </p:nvGraphicFramePr>
          <p:xfrm>
            <a:off x="567" y="968"/>
            <a:ext cx="1846" cy="285"/>
          </p:xfrm>
          <a:graphic>
            <a:graphicData uri="http://schemas.openxmlformats.org/presentationml/2006/ole">
              <mc:AlternateContent xmlns:mc="http://schemas.openxmlformats.org/markup-compatibility/2006">
                <mc:Choice xmlns:v="urn:schemas-microsoft-com:vml" Requires="v">
                  <p:oleObj name="Equation" r:id="rId3" imgW="1473200" imgH="228600" progId="Equation.DSMT4">
                    <p:embed/>
                  </p:oleObj>
                </mc:Choice>
                <mc:Fallback>
                  <p:oleObj name="Equation" r:id="rId3" imgW="1473200" imgH="228600"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 y="968"/>
                          <a:ext cx="1846" cy="28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4781" name="AutoShape 29"/>
            <p:cNvSpPr>
              <a:spLocks noChangeArrowheads="1"/>
            </p:cNvSpPr>
            <p:nvPr/>
          </p:nvSpPr>
          <p:spPr bwMode="auto">
            <a:xfrm>
              <a:off x="2500" y="1064"/>
              <a:ext cx="658" cy="11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0973" name="Text Box 30"/>
            <p:cNvSpPr txBox="1">
              <a:spLocks noChangeArrowheads="1"/>
            </p:cNvSpPr>
            <p:nvPr/>
          </p:nvSpPr>
          <p:spPr bwMode="auto">
            <a:xfrm>
              <a:off x="2500" y="845"/>
              <a:ext cx="539" cy="250"/>
            </a:xfrm>
            <a:prstGeom prst="rect">
              <a:avLst/>
            </a:prstGeom>
            <a:noFill/>
            <a:ln w="9525">
              <a:noFill/>
              <a:miter lim="800000"/>
              <a:headEnd/>
              <a:tailEnd/>
            </a:ln>
          </p:spPr>
          <p:txBody>
            <a:bodyPr>
              <a:spAutoFit/>
            </a:bodyPr>
            <a:lstStyle/>
            <a:p>
              <a:pPr eaLnBrk="0" hangingPunct="0">
                <a:spcBef>
                  <a:spcPct val="50000"/>
                </a:spcBef>
              </a:pPr>
              <a:r>
                <a:rPr kumimoji="0" lang="en-US" altLang="zh-CN" b="0" i="1" dirty="0">
                  <a:solidFill>
                    <a:srgbClr val="0000FF"/>
                  </a:solidFill>
                </a:rPr>
                <a:t>z</a:t>
              </a:r>
              <a:r>
                <a:rPr kumimoji="0" lang="zh-CN" altLang="en-US" b="0" dirty="0">
                  <a:solidFill>
                    <a:srgbClr val="0000FF"/>
                  </a:solidFill>
                  <a:latin typeface="Arial" charset="0"/>
                </a:rPr>
                <a:t>变换</a:t>
              </a:r>
            </a:p>
          </p:txBody>
        </p:sp>
        <p:graphicFrame>
          <p:nvGraphicFramePr>
            <p:cNvPr id="40965" name="Object 31"/>
            <p:cNvGraphicFramePr>
              <a:graphicFrameLocks noChangeAspect="1"/>
            </p:cNvGraphicFramePr>
            <p:nvPr/>
          </p:nvGraphicFramePr>
          <p:xfrm>
            <a:off x="3111" y="979"/>
            <a:ext cx="1733" cy="258"/>
          </p:xfrm>
          <a:graphic>
            <a:graphicData uri="http://schemas.openxmlformats.org/presentationml/2006/ole">
              <mc:AlternateContent xmlns:mc="http://schemas.openxmlformats.org/markup-compatibility/2006">
                <mc:Choice xmlns:v="urn:schemas-microsoft-com:vml" Requires="v">
                  <p:oleObj name="Equation" r:id="rId5" imgW="1384300" imgH="203200" progId="Equation.DSMT4">
                    <p:embed/>
                  </p:oleObj>
                </mc:Choice>
                <mc:Fallback>
                  <p:oleObj name="Equation" r:id="rId5" imgW="1384300" imgH="2032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11" y="979"/>
                          <a:ext cx="1733" cy="25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74784" name="Text Box 32"/>
          <p:cNvSpPr txBox="1">
            <a:spLocks noChangeArrowheads="1"/>
          </p:cNvSpPr>
          <p:nvPr/>
        </p:nvSpPr>
        <p:spPr bwMode="auto">
          <a:xfrm>
            <a:off x="1023938" y="3573463"/>
            <a:ext cx="50609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误差信号的拉氏变换为：</a:t>
            </a:r>
          </a:p>
        </p:txBody>
      </p:sp>
      <p:sp>
        <p:nvSpPr>
          <p:cNvPr id="74785" name="AutoShape 33"/>
          <p:cNvSpPr>
            <a:spLocks noChangeArrowheads="1"/>
          </p:cNvSpPr>
          <p:nvPr/>
        </p:nvSpPr>
        <p:spPr bwMode="auto">
          <a:xfrm>
            <a:off x="4316413" y="4559300"/>
            <a:ext cx="1044575" cy="174625"/>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rgbClr val="FFFF00"/>
          </a:solidFill>
          <a:ln w="9525">
            <a:solidFill>
              <a:srgbClr val="FF9900"/>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40971" name="Text Box 34"/>
          <p:cNvSpPr txBox="1">
            <a:spLocks noChangeArrowheads="1"/>
          </p:cNvSpPr>
          <p:nvPr/>
        </p:nvSpPr>
        <p:spPr bwMode="auto">
          <a:xfrm>
            <a:off x="4311651" y="4238625"/>
            <a:ext cx="980430" cy="396875"/>
          </a:xfrm>
          <a:prstGeom prst="rect">
            <a:avLst/>
          </a:prstGeom>
          <a:noFill/>
          <a:ln w="9525">
            <a:noFill/>
            <a:miter lim="800000"/>
            <a:headEnd/>
            <a:tailEnd/>
          </a:ln>
        </p:spPr>
        <p:txBody>
          <a:bodyPr wrap="square">
            <a:spAutoFit/>
          </a:bodyPr>
          <a:lstStyle/>
          <a:p>
            <a:pPr eaLnBrk="0" hangingPunct="0">
              <a:spcBef>
                <a:spcPct val="50000"/>
              </a:spcBef>
            </a:pPr>
            <a:r>
              <a:rPr kumimoji="0" lang="en-US" altLang="zh-CN" b="0" i="1" dirty="0">
                <a:solidFill>
                  <a:srgbClr val="0000FF"/>
                </a:solidFill>
              </a:rPr>
              <a:t>z</a:t>
            </a:r>
            <a:r>
              <a:rPr kumimoji="0" lang="zh-CN" altLang="en-US" b="0" dirty="0">
                <a:solidFill>
                  <a:srgbClr val="0000FF"/>
                </a:solidFill>
                <a:latin typeface="Arial" charset="0"/>
              </a:rPr>
              <a:t>变换</a:t>
            </a:r>
          </a:p>
        </p:txBody>
      </p:sp>
      <p:graphicFrame>
        <p:nvGraphicFramePr>
          <p:cNvPr id="40962" name="Object 35"/>
          <p:cNvGraphicFramePr>
            <a:graphicFrameLocks noChangeAspect="1"/>
          </p:cNvGraphicFramePr>
          <p:nvPr/>
        </p:nvGraphicFramePr>
        <p:xfrm>
          <a:off x="5327650" y="4437063"/>
          <a:ext cx="3598863" cy="441325"/>
        </p:xfrm>
        <a:graphic>
          <a:graphicData uri="http://schemas.openxmlformats.org/presentationml/2006/ole">
            <mc:AlternateContent xmlns:mc="http://schemas.openxmlformats.org/markup-compatibility/2006">
              <mc:Choice xmlns:v="urn:schemas-microsoft-com:vml" Requires="v">
                <p:oleObj name="Equation" r:id="rId7" imgW="1916868" imgH="203112" progId="Equation.DSMT4">
                  <p:embed/>
                </p:oleObj>
              </mc:Choice>
              <mc:Fallback>
                <p:oleObj name="Equation" r:id="rId7" imgW="1916868" imgH="203112"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27650" y="4437063"/>
                        <a:ext cx="3598863" cy="4413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0963" name="Object 36"/>
          <p:cNvGraphicFramePr>
            <a:graphicFrameLocks noChangeAspect="1"/>
          </p:cNvGraphicFramePr>
          <p:nvPr/>
        </p:nvGraphicFramePr>
        <p:xfrm>
          <a:off x="179388" y="4365625"/>
          <a:ext cx="4122737" cy="496888"/>
        </p:xfrm>
        <a:graphic>
          <a:graphicData uri="http://schemas.openxmlformats.org/presentationml/2006/ole">
            <mc:AlternateContent xmlns:mc="http://schemas.openxmlformats.org/markup-compatibility/2006">
              <mc:Choice xmlns:v="urn:schemas-microsoft-com:vml" Requires="v">
                <p:oleObj name="Equation" r:id="rId9" imgW="2197100" imgH="228600" progId="Equation.DSMT4">
                  <p:embed/>
                </p:oleObj>
              </mc:Choice>
              <mc:Fallback>
                <p:oleObj name="Equation" r:id="rId9" imgW="2197100" imgH="22860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9388" y="4365625"/>
                        <a:ext cx="4122737" cy="4968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hecker dir="vert"/>
  </p:transition>
</p:sld>
</file>

<file path=ppt/slides/slide5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5817" name="Text Box 41"/>
          <p:cNvSpPr txBox="1">
            <a:spLocks noChangeArrowheads="1"/>
          </p:cNvSpPr>
          <p:nvPr/>
        </p:nvSpPr>
        <p:spPr bwMode="auto">
          <a:xfrm>
            <a:off x="1023938" y="1844675"/>
            <a:ext cx="53482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误差脉冲传递函数为：</a:t>
            </a:r>
          </a:p>
        </p:txBody>
      </p:sp>
      <p:sp>
        <p:nvSpPr>
          <p:cNvPr id="75818" name="Rectangle 42"/>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1986" name="Object 43"/>
          <p:cNvGraphicFramePr>
            <a:graphicFrameLocks noChangeAspect="1"/>
          </p:cNvGraphicFramePr>
          <p:nvPr/>
        </p:nvGraphicFramePr>
        <p:xfrm>
          <a:off x="1835150" y="2420938"/>
          <a:ext cx="5903913" cy="944562"/>
        </p:xfrm>
        <a:graphic>
          <a:graphicData uri="http://schemas.openxmlformats.org/presentationml/2006/ole">
            <mc:AlternateContent xmlns:mc="http://schemas.openxmlformats.org/markup-compatibility/2006">
              <mc:Choice xmlns:v="urn:schemas-microsoft-com:vml" Requires="v">
                <p:oleObj name="Equation" r:id="rId3" imgW="2679700" imgH="431800" progId="Equation.DSMT4">
                  <p:embed/>
                </p:oleObj>
              </mc:Choice>
              <mc:Fallback>
                <p:oleObj name="Equation" r:id="rId3" imgW="2679700" imgH="4318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835150" y="2420938"/>
                        <a:ext cx="5903913" cy="944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5820" name="Text Box 44"/>
          <p:cNvSpPr txBox="1">
            <a:spLocks noChangeArrowheads="1"/>
          </p:cNvSpPr>
          <p:nvPr/>
        </p:nvSpPr>
        <p:spPr bwMode="auto">
          <a:xfrm>
            <a:off x="1095375" y="3500438"/>
            <a:ext cx="470058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闭环脉冲传递函数为：</a:t>
            </a:r>
          </a:p>
        </p:txBody>
      </p:sp>
      <p:sp>
        <p:nvSpPr>
          <p:cNvPr id="75821" name="Rectangle 45"/>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1987" name="Object 46"/>
          <p:cNvGraphicFramePr>
            <a:graphicFrameLocks noChangeAspect="1"/>
          </p:cNvGraphicFramePr>
          <p:nvPr/>
        </p:nvGraphicFramePr>
        <p:xfrm>
          <a:off x="1619250" y="4292600"/>
          <a:ext cx="6264275" cy="974725"/>
        </p:xfrm>
        <a:graphic>
          <a:graphicData uri="http://schemas.openxmlformats.org/presentationml/2006/ole">
            <mc:AlternateContent xmlns:mc="http://schemas.openxmlformats.org/markup-compatibility/2006">
              <mc:Choice xmlns:v="urn:schemas-microsoft-com:vml" Requires="v">
                <p:oleObj name="Equation" r:id="rId5" imgW="2755900" imgH="431800" progId="Equation.DSMT4">
                  <p:embed/>
                </p:oleObj>
              </mc:Choice>
              <mc:Fallback>
                <p:oleObj name="Equation" r:id="rId5" imgW="2755900" imgH="4318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619250" y="4292600"/>
                        <a:ext cx="6264275" cy="974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hecker dir="vert"/>
  </p:transition>
</p:sld>
</file>

<file path=ppt/slides/slide5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6811" name="Text Box 11"/>
          <p:cNvSpPr txBox="1">
            <a:spLocks noChangeArrowheads="1"/>
          </p:cNvSpPr>
          <p:nvPr/>
        </p:nvSpPr>
        <p:spPr bwMode="auto">
          <a:xfrm>
            <a:off x="900113" y="1268413"/>
            <a:ext cx="5997575" cy="519112"/>
          </a:xfrm>
          <a:prstGeom prst="rect">
            <a:avLst/>
          </a:prstGeom>
          <a:noFill/>
          <a:ln w="9525" algn="ctr">
            <a:noFill/>
            <a:miter lim="800000"/>
            <a:headEnd/>
            <a:tailEnd/>
          </a:ln>
          <a:effectLst/>
        </p:spPr>
        <p:txBody>
          <a:bodyPr>
            <a:spAutoFit/>
          </a:bodyPr>
          <a:lstStyle/>
          <a:p>
            <a:pPr>
              <a:defRPr/>
            </a:pPr>
            <a:r>
              <a:rPr kumimoji="0" lang="zh-CN" altLang="en-US" sz="2800" u="sng">
                <a:solidFill>
                  <a:srgbClr val="0000FF"/>
                </a:solidFill>
                <a:effectLst>
                  <a:outerShdw blurRad="38100" dist="38100" dir="2700000" algn="tl">
                    <a:srgbClr val="C0C0C0"/>
                  </a:outerShdw>
                </a:effectLst>
              </a:rPr>
              <a:t>具有干扰的离散系统</a:t>
            </a:r>
          </a:p>
        </p:txBody>
      </p:sp>
      <p:sp>
        <p:nvSpPr>
          <p:cNvPr id="76812" name="Text Box 12"/>
          <p:cNvSpPr txBox="1">
            <a:spLocks noChangeArrowheads="1"/>
          </p:cNvSpPr>
          <p:nvPr/>
        </p:nvSpPr>
        <p:spPr bwMode="auto">
          <a:xfrm>
            <a:off x="971550" y="1916113"/>
            <a:ext cx="7292975" cy="1406525"/>
          </a:xfrm>
          <a:prstGeom prst="rect">
            <a:avLst/>
          </a:prstGeom>
          <a:noFill/>
          <a:ln w="9525" algn="ctr">
            <a:noFill/>
            <a:miter lim="800000"/>
            <a:headEnd/>
            <a:tailEnd/>
          </a:ln>
          <a:effectLst/>
        </p:spPr>
        <p:txBody>
          <a:bodyPr>
            <a:spAutoFit/>
          </a:bodyPr>
          <a:lstStyle/>
          <a:p>
            <a:pPr>
              <a:lnSpc>
                <a:spcPct val="120000"/>
              </a:lnSpc>
              <a:defRPr/>
            </a:pP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该系统连续部分的扰动输入信号 </a:t>
            </a:r>
            <a:r>
              <a:rPr kumimoji="0" lang="en-US" altLang="zh-CN" sz="2400" i="1">
                <a:effectLst>
                  <a:outerShdw blurRad="38100" dist="38100" dir="2700000" algn="tl">
                    <a:srgbClr val="C0C0C0"/>
                  </a:outerShdw>
                </a:effectLst>
              </a:rPr>
              <a:t>N</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s</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，对输出量的影响常是衡量系统性能的一个重要指标。分析方法与连续系统一样。系统结构如下图：</a:t>
            </a:r>
          </a:p>
        </p:txBody>
      </p:sp>
      <p:pic>
        <p:nvPicPr>
          <p:cNvPr id="118788" name="Picture 13"/>
          <p:cNvPicPr>
            <a:picLocks noChangeAspect="1" noChangeArrowheads="1"/>
          </p:cNvPicPr>
          <p:nvPr/>
        </p:nvPicPr>
        <p:blipFill>
          <a:blip r:embed="rId3" cstate="print"/>
          <a:srcRect/>
          <a:stretch>
            <a:fillRect/>
          </a:stretch>
        </p:blipFill>
        <p:spPr bwMode="auto">
          <a:xfrm>
            <a:off x="971550" y="3500438"/>
            <a:ext cx="7488238" cy="2105025"/>
          </a:xfrm>
          <a:prstGeom prst="rect">
            <a:avLst/>
          </a:prstGeom>
          <a:noFill/>
          <a:ln w="9525">
            <a:noFill/>
            <a:miter lim="800000"/>
            <a:headEnd/>
            <a:tailEnd/>
          </a:ln>
        </p:spPr>
      </p:pic>
      <p:sp>
        <p:nvSpPr>
          <p:cNvPr id="76814" name="Text Box 14"/>
          <p:cNvSpPr txBox="1">
            <a:spLocks noChangeArrowheads="1"/>
          </p:cNvSpPr>
          <p:nvPr/>
        </p:nvSpPr>
        <p:spPr bwMode="auto">
          <a:xfrm>
            <a:off x="2627313" y="5638800"/>
            <a:ext cx="4608512"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3.9 </a:t>
            </a:r>
            <a:r>
              <a:rPr kumimoji="0" lang="zh-CN" altLang="en-US">
                <a:effectLst>
                  <a:outerShdw blurRad="38100" dist="38100" dir="2700000" algn="tl">
                    <a:srgbClr val="C0C0C0"/>
                  </a:outerShdw>
                </a:effectLst>
              </a:rPr>
              <a:t>扰动输入时离散系统结构图</a:t>
            </a:r>
          </a:p>
        </p:txBody>
      </p:sp>
    </p:spTree>
  </p:cSld>
  <p:clrMapOvr>
    <a:masterClrMapping/>
  </p:clrMapOvr>
  <p:transition>
    <p:cover dir="r"/>
  </p:transition>
</p:sld>
</file>

<file path=ppt/slides/slide5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7862" name="Text Box 38"/>
          <p:cNvSpPr txBox="1">
            <a:spLocks noChangeArrowheads="1"/>
          </p:cNvSpPr>
          <p:nvPr/>
        </p:nvSpPr>
        <p:spPr bwMode="auto">
          <a:xfrm>
            <a:off x="684213" y="1916113"/>
            <a:ext cx="7869237" cy="9683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effectLst>
                  <a:outerShdw blurRad="38100" dist="38100" dir="2700000" algn="tl">
                    <a:srgbClr val="C0C0C0"/>
                  </a:outerShdw>
                </a:effectLst>
              </a:rPr>
              <a:t>为了求输出与扰动之间的关系，首先将图</a:t>
            </a:r>
            <a:r>
              <a:rPr kumimoji="0" lang="en-US" altLang="zh-CN" sz="2400">
                <a:effectLst>
                  <a:outerShdw blurRad="38100" dist="38100" dir="2700000" algn="tl">
                    <a:srgbClr val="C0C0C0"/>
                  </a:outerShdw>
                </a:effectLst>
              </a:rPr>
              <a:t>3.9</a:t>
            </a:r>
            <a:r>
              <a:rPr kumimoji="0" lang="zh-CN" altLang="en-US" sz="2400">
                <a:effectLst>
                  <a:outerShdw blurRad="38100" dist="38100" dir="2700000" algn="tl">
                    <a:srgbClr val="C0C0C0"/>
                  </a:outerShdw>
                </a:effectLst>
              </a:rPr>
              <a:t>变换为图</a:t>
            </a:r>
            <a:r>
              <a:rPr kumimoji="0" lang="en-US" altLang="zh-CN" sz="2400">
                <a:effectLst>
                  <a:outerShdw blurRad="38100" dist="38100" dir="2700000" algn="tl">
                    <a:srgbClr val="C0C0C0"/>
                  </a:outerShdw>
                </a:effectLst>
              </a:rPr>
              <a:t>3.10</a:t>
            </a:r>
            <a:r>
              <a:rPr kumimoji="0" lang="zh-CN" altLang="en-US" sz="2400">
                <a:effectLst>
                  <a:outerShdw blurRad="38100" dist="38100" dir="2700000" algn="tl">
                    <a:srgbClr val="C0C0C0"/>
                  </a:outerShdw>
                </a:effectLst>
              </a:rPr>
              <a:t>（认为</a:t>
            </a:r>
            <a:r>
              <a:rPr kumimoji="0" lang="en-US" altLang="zh-CN" sz="2400" i="1">
                <a:effectLst>
                  <a:outerShdw blurRad="38100" dist="38100" dir="2700000" algn="tl">
                    <a:srgbClr val="C0C0C0"/>
                  </a:outerShdw>
                </a:effectLst>
              </a:rPr>
              <a:t>R</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s</a:t>
            </a:r>
            <a:r>
              <a:rPr kumimoji="0" lang="en-US" altLang="zh-CN" sz="2400">
                <a:effectLst>
                  <a:outerShdw blurRad="38100" dist="38100" dir="2700000" algn="tl">
                    <a:srgbClr val="C0C0C0"/>
                  </a:outerShdw>
                </a:effectLst>
              </a:rPr>
              <a:t>)=0</a:t>
            </a:r>
            <a:r>
              <a:rPr kumimoji="0" lang="zh-CN" altLang="en-US" sz="2400">
                <a:effectLst>
                  <a:outerShdw blurRad="38100" dist="38100" dir="2700000" algn="tl">
                    <a:srgbClr val="C0C0C0"/>
                  </a:outerShdw>
                </a:effectLst>
              </a:rPr>
              <a:t>）。</a:t>
            </a:r>
          </a:p>
        </p:txBody>
      </p:sp>
      <p:pic>
        <p:nvPicPr>
          <p:cNvPr id="119811" name="Picture 39"/>
          <p:cNvPicPr>
            <a:picLocks noChangeAspect="1" noChangeArrowheads="1"/>
          </p:cNvPicPr>
          <p:nvPr/>
        </p:nvPicPr>
        <p:blipFill>
          <a:blip r:embed="rId3" cstate="print"/>
          <a:srcRect/>
          <a:stretch>
            <a:fillRect/>
          </a:stretch>
        </p:blipFill>
        <p:spPr bwMode="auto">
          <a:xfrm>
            <a:off x="1403350" y="2924175"/>
            <a:ext cx="6624638" cy="2184400"/>
          </a:xfrm>
          <a:prstGeom prst="rect">
            <a:avLst/>
          </a:prstGeom>
          <a:noFill/>
          <a:ln w="9525">
            <a:noFill/>
            <a:miter lim="800000"/>
            <a:headEnd/>
            <a:tailEnd/>
          </a:ln>
        </p:spPr>
      </p:pic>
      <p:sp>
        <p:nvSpPr>
          <p:cNvPr id="77864" name="Text Box 40"/>
          <p:cNvSpPr txBox="1">
            <a:spLocks noChangeArrowheads="1"/>
          </p:cNvSpPr>
          <p:nvPr/>
        </p:nvSpPr>
        <p:spPr bwMode="auto">
          <a:xfrm>
            <a:off x="2679700" y="5226050"/>
            <a:ext cx="5276850"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3.10 </a:t>
            </a:r>
            <a:r>
              <a:rPr kumimoji="0" lang="zh-CN" altLang="en-US">
                <a:effectLst>
                  <a:outerShdw blurRad="38100" dist="38100" dir="2700000" algn="tl">
                    <a:srgbClr val="C0C0C0"/>
                  </a:outerShdw>
                </a:effectLst>
              </a:rPr>
              <a:t>扰动输入时的等效结构图</a:t>
            </a:r>
          </a:p>
        </p:txBody>
      </p:sp>
    </p:spTree>
  </p:cSld>
  <p:clrMapOvr>
    <a:masterClrMapping/>
  </p:clrMapOvr>
  <p:transition>
    <p:cover dir="r"/>
  </p:transition>
</p:sld>
</file>

<file path=ppt/slides/slide5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78864" name="Text Box 16"/>
          <p:cNvSpPr txBox="1">
            <a:spLocks noChangeArrowheads="1"/>
          </p:cNvSpPr>
          <p:nvPr/>
        </p:nvSpPr>
        <p:spPr bwMode="auto">
          <a:xfrm>
            <a:off x="1187450" y="1557338"/>
            <a:ext cx="6429375"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由图</a:t>
            </a:r>
            <a:r>
              <a:rPr kumimoji="0" lang="en-US" altLang="zh-CN" sz="2400" dirty="0">
                <a:effectLst>
                  <a:outerShdw blurRad="38100" dist="38100" dir="2700000" algn="tl">
                    <a:srgbClr val="C0C0C0"/>
                  </a:outerShdw>
                </a:effectLst>
              </a:rPr>
              <a:t>3.10</a:t>
            </a:r>
            <a:r>
              <a:rPr kumimoji="0" lang="zh-CN" altLang="en-US" sz="2400" dirty="0">
                <a:effectLst>
                  <a:outerShdw blurRad="38100" dist="38100" dir="2700000" algn="tl">
                    <a:srgbClr val="C0C0C0"/>
                  </a:outerShdw>
                </a:effectLst>
              </a:rPr>
              <a:t>得到输出信号的拉氏变换式为</a:t>
            </a:r>
            <a:r>
              <a:rPr kumimoji="0" lang="en-US" altLang="zh-CN" sz="2400" dirty="0">
                <a:effectLst>
                  <a:outerShdw blurRad="38100" dist="38100" dir="2700000" algn="tl">
                    <a:srgbClr val="C0C0C0"/>
                  </a:outerShdw>
                </a:effectLst>
              </a:rPr>
              <a:t>:</a:t>
            </a:r>
          </a:p>
        </p:txBody>
      </p:sp>
      <p:sp>
        <p:nvSpPr>
          <p:cNvPr id="78865" name="Rectangle 17"/>
          <p:cNvSpPr>
            <a:spLocks noChangeArrowheads="1"/>
          </p:cNvSpPr>
          <p:nvPr/>
        </p:nvSpPr>
        <p:spPr bwMode="auto">
          <a:xfrm>
            <a:off x="20638" y="24971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3010" name="Object 18"/>
          <p:cNvGraphicFramePr>
            <a:graphicFrameLocks noChangeAspect="1"/>
          </p:cNvGraphicFramePr>
          <p:nvPr/>
        </p:nvGraphicFramePr>
        <p:xfrm>
          <a:off x="776288" y="2328863"/>
          <a:ext cx="7885112" cy="479425"/>
        </p:xfrm>
        <a:graphic>
          <a:graphicData uri="http://schemas.openxmlformats.org/presentationml/2006/ole">
            <mc:AlternateContent xmlns:mc="http://schemas.openxmlformats.org/markup-compatibility/2006">
              <mc:Choice xmlns:v="urn:schemas-microsoft-com:vml" Requires="v">
                <p:oleObj name="Equation" r:id="rId3" imgW="3911600" imgH="241300" progId="Equation.DSMT4">
                  <p:embed/>
                </p:oleObj>
              </mc:Choice>
              <mc:Fallback>
                <p:oleObj name="Equation" r:id="rId3" imgW="3911600" imgH="2413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76288" y="2328863"/>
                        <a:ext cx="7885112" cy="479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67" name="Text Box 19"/>
          <p:cNvSpPr txBox="1">
            <a:spLocks noChangeArrowheads="1"/>
          </p:cNvSpPr>
          <p:nvPr/>
        </p:nvSpPr>
        <p:spPr bwMode="auto">
          <a:xfrm>
            <a:off x="1116013" y="2997200"/>
            <a:ext cx="3116262" cy="457200"/>
          </a:xfrm>
          <a:prstGeom prst="rect">
            <a:avLst/>
          </a:prstGeom>
          <a:noFill/>
          <a:ln w="9525" algn="ctr">
            <a:noFill/>
            <a:miter lim="800000"/>
            <a:headEnd/>
            <a:tailEnd/>
          </a:ln>
          <a:effectLst/>
        </p:spPr>
        <p:txBody>
          <a:bodyPr>
            <a:spAutoFit/>
          </a:bodyPr>
          <a:lstStyle/>
          <a:p>
            <a:pPr>
              <a:defRPr/>
            </a:pPr>
            <a:r>
              <a:rPr kumimoji="0" lang="en-US" altLang="zh-CN" sz="2400" i="1">
                <a:effectLst>
                  <a:outerShdw blurRad="38100" dist="38100" dir="2700000" algn="tl">
                    <a:srgbClr val="C0C0C0"/>
                  </a:outerShdw>
                </a:effectLst>
              </a:rPr>
              <a:t>z</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变换式为：</a:t>
            </a:r>
          </a:p>
        </p:txBody>
      </p:sp>
      <p:sp>
        <p:nvSpPr>
          <p:cNvPr id="78868" name="Rectangle 20"/>
          <p:cNvSpPr>
            <a:spLocks noChangeArrowheads="1"/>
          </p:cNvSpPr>
          <p:nvPr/>
        </p:nvSpPr>
        <p:spPr bwMode="auto">
          <a:xfrm>
            <a:off x="20638" y="25019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3011" name="Object 21"/>
          <p:cNvGraphicFramePr>
            <a:graphicFrameLocks noChangeAspect="1"/>
          </p:cNvGraphicFramePr>
          <p:nvPr/>
        </p:nvGraphicFramePr>
        <p:xfrm>
          <a:off x="2000250" y="3479800"/>
          <a:ext cx="4537075" cy="557213"/>
        </p:xfrm>
        <a:graphic>
          <a:graphicData uri="http://schemas.openxmlformats.org/presentationml/2006/ole">
            <mc:AlternateContent xmlns:mc="http://schemas.openxmlformats.org/markup-compatibility/2006">
              <mc:Choice xmlns:v="urn:schemas-microsoft-com:vml" Requires="v">
                <p:oleObj name="Equation" r:id="rId5" imgW="1854200" imgH="228600" progId="Equation.DSMT4">
                  <p:embed/>
                </p:oleObj>
              </mc:Choice>
              <mc:Fallback>
                <p:oleObj name="Equation" r:id="rId5" imgW="1854200" imgH="2286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00250" y="3479800"/>
                        <a:ext cx="4537075" cy="557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70" name="Text Box 22"/>
          <p:cNvSpPr txBox="1">
            <a:spLocks noChangeArrowheads="1"/>
          </p:cNvSpPr>
          <p:nvPr/>
        </p:nvSpPr>
        <p:spPr bwMode="auto">
          <a:xfrm>
            <a:off x="1116013" y="4056063"/>
            <a:ext cx="17478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所以</a:t>
            </a:r>
          </a:p>
        </p:txBody>
      </p:sp>
      <p:graphicFrame>
        <p:nvGraphicFramePr>
          <p:cNvPr id="43012" name="Object 23"/>
          <p:cNvGraphicFramePr>
            <a:graphicFrameLocks noChangeAspect="1"/>
          </p:cNvGraphicFramePr>
          <p:nvPr/>
        </p:nvGraphicFramePr>
        <p:xfrm>
          <a:off x="2501900" y="4186238"/>
          <a:ext cx="3028950" cy="1112837"/>
        </p:xfrm>
        <a:graphic>
          <a:graphicData uri="http://schemas.openxmlformats.org/presentationml/2006/ole">
            <mc:AlternateContent xmlns:mc="http://schemas.openxmlformats.org/markup-compatibility/2006">
              <mc:Choice xmlns:v="urn:schemas-microsoft-com:vml" Requires="v">
                <p:oleObj r:id="rId7" imgW="1218671" imgH="444307" progId="Equation.3">
                  <p:embed/>
                </p:oleObj>
              </mc:Choice>
              <mc:Fallback>
                <p:oleObj r:id="rId7" imgW="1218671" imgH="444307" progId="Equation.3">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01900" y="4186238"/>
                        <a:ext cx="3028950" cy="11128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78872" name="AutoShape 24"/>
          <p:cNvSpPr>
            <a:spLocks noChangeArrowheads="1"/>
          </p:cNvSpPr>
          <p:nvPr/>
        </p:nvSpPr>
        <p:spPr bwMode="auto">
          <a:xfrm>
            <a:off x="5961063" y="4057650"/>
            <a:ext cx="2376487" cy="1601788"/>
          </a:xfrm>
          <a:prstGeom prst="wedgeRectCallout">
            <a:avLst>
              <a:gd name="adj1" fmla="val -63495"/>
              <a:gd name="adj2" fmla="val -20764"/>
            </a:avLst>
          </a:prstGeom>
          <a:solidFill>
            <a:schemeClr val="bg1"/>
          </a:solidFill>
          <a:ln w="9525" algn="ctr">
            <a:solidFill>
              <a:srgbClr val="FF6600"/>
            </a:solidFill>
            <a:miter lim="800000"/>
            <a:headEnd/>
            <a:tailEnd/>
          </a:ln>
          <a:effectLst/>
        </p:spPr>
        <p:txBody>
          <a:bodyPr anchor="ctr"/>
          <a:lstStyle/>
          <a:p>
            <a:pPr eaLnBrk="0" hangingPunct="0">
              <a:defRPr/>
            </a:pPr>
            <a:r>
              <a:rPr kumimoji="0" lang="zh-CN" altLang="en-US">
                <a:solidFill>
                  <a:srgbClr val="1E86B4"/>
                </a:solidFill>
                <a:effectLst>
                  <a:outerShdw blurRad="38100" dist="38100" dir="2700000" algn="tl">
                    <a:srgbClr val="C0C0C0"/>
                  </a:outerShdw>
                </a:effectLst>
                <a:latin typeface="Arial" charset="0"/>
              </a:rPr>
              <a:t>注意采样开关的位置，位置不同，所得闭环脉冲传递函数就不相同。</a:t>
            </a:r>
            <a:r>
              <a:rPr kumimoji="0" lang="zh-CN" altLang="en-US" u="sng">
                <a:solidFill>
                  <a:srgbClr val="1E86B4"/>
                </a:solidFill>
                <a:effectLst>
                  <a:outerShdw blurRad="38100" dist="38100" dir="2700000" algn="tl">
                    <a:srgbClr val="C0C0C0"/>
                  </a:outerShdw>
                </a:effectLst>
                <a:latin typeface="Arial" charset="0"/>
              </a:rPr>
              <a:t> </a:t>
            </a:r>
          </a:p>
        </p:txBody>
      </p:sp>
    </p:spTree>
  </p:cSld>
  <p:clrMapOvr>
    <a:masterClrMapping/>
  </p:clrMapOvr>
  <p:transition>
    <p:cover dir="r"/>
  </p:transition>
</p:sld>
</file>

<file path=ppt/slides/slide5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20834" name="Picture 25"/>
          <p:cNvPicPr>
            <a:picLocks noChangeAspect="1" noChangeArrowheads="1"/>
          </p:cNvPicPr>
          <p:nvPr/>
        </p:nvPicPr>
        <p:blipFill>
          <a:blip r:embed="rId3" cstate="print"/>
          <a:srcRect/>
          <a:stretch>
            <a:fillRect/>
          </a:stretch>
        </p:blipFill>
        <p:spPr bwMode="auto">
          <a:xfrm>
            <a:off x="1476375" y="115888"/>
            <a:ext cx="6119813" cy="6062662"/>
          </a:xfrm>
          <a:prstGeom prst="rect">
            <a:avLst/>
          </a:prstGeom>
          <a:noFill/>
          <a:ln w="9525">
            <a:noFill/>
            <a:miter lim="800000"/>
            <a:headEnd/>
            <a:tailEnd/>
          </a:ln>
        </p:spPr>
      </p:pic>
      <p:sp>
        <p:nvSpPr>
          <p:cNvPr id="79898" name="Text Box 26"/>
          <p:cNvSpPr txBox="1">
            <a:spLocks noChangeArrowheads="1"/>
          </p:cNvSpPr>
          <p:nvPr/>
        </p:nvSpPr>
        <p:spPr bwMode="auto">
          <a:xfrm>
            <a:off x="2484438" y="6127750"/>
            <a:ext cx="4700587" cy="396875"/>
          </a:xfrm>
          <a:prstGeom prst="rect">
            <a:avLst/>
          </a:prstGeom>
          <a:noFill/>
          <a:ln w="9525">
            <a:noFill/>
            <a:miter lim="800000"/>
            <a:headEnd/>
            <a:tailEnd/>
          </a:ln>
          <a:effectLst/>
        </p:spPr>
        <p:txBody>
          <a:bodyPr>
            <a:spAutoFit/>
          </a:bodyPr>
          <a:lstStyle/>
          <a:p>
            <a:pPr>
              <a:defRPr/>
            </a:pPr>
            <a:r>
              <a:rPr lang="zh-CN" altLang="en-US">
                <a:solidFill>
                  <a:srgbClr val="0033CC"/>
                </a:solidFill>
                <a:effectLst>
                  <a:outerShdw blurRad="38100" dist="38100" dir="2700000" algn="tl">
                    <a:srgbClr val="C0C0C0"/>
                  </a:outerShdw>
                </a:effectLst>
              </a:rPr>
              <a:t>表</a:t>
            </a:r>
            <a:r>
              <a:rPr lang="en-US" altLang="zh-CN">
                <a:solidFill>
                  <a:srgbClr val="0033CC"/>
                </a:solidFill>
                <a:effectLst>
                  <a:outerShdw blurRad="38100" dist="38100" dir="2700000" algn="tl">
                    <a:srgbClr val="C0C0C0"/>
                  </a:outerShdw>
                </a:effectLst>
              </a:rPr>
              <a:t>3.1  </a:t>
            </a:r>
            <a:r>
              <a:rPr lang="zh-CN" altLang="en-US">
                <a:solidFill>
                  <a:srgbClr val="0033CC"/>
                </a:solidFill>
                <a:effectLst>
                  <a:outerShdw blurRad="38100" dist="38100" dir="2700000" algn="tl">
                    <a:srgbClr val="C0C0C0"/>
                  </a:outerShdw>
                </a:effectLst>
              </a:rPr>
              <a:t>几种采样系统</a:t>
            </a:r>
            <a:r>
              <a:rPr lang="en-US" altLang="zh-CN" i="1">
                <a:solidFill>
                  <a:srgbClr val="0033CC"/>
                </a:solidFill>
                <a:effectLst>
                  <a:outerShdw blurRad="38100" dist="38100" dir="2700000" algn="tl">
                    <a:srgbClr val="C0C0C0"/>
                  </a:outerShdw>
                </a:effectLst>
              </a:rPr>
              <a:t>z </a:t>
            </a:r>
            <a:r>
              <a:rPr lang="zh-CN" altLang="en-US">
                <a:solidFill>
                  <a:srgbClr val="0033CC"/>
                </a:solidFill>
                <a:effectLst>
                  <a:outerShdw blurRad="38100" dist="38100" dir="2700000" algn="tl">
                    <a:srgbClr val="C0C0C0"/>
                  </a:outerShdw>
                </a:effectLst>
              </a:rPr>
              <a:t>变换</a:t>
            </a:r>
          </a:p>
        </p:txBody>
      </p:sp>
    </p:spTree>
  </p:cSld>
  <p:clrMapOvr>
    <a:masterClrMapping/>
  </p:clrMapOvr>
  <p:transition>
    <p:cover dir="r"/>
  </p:transition>
</p:sld>
</file>

<file path=ppt/slides/slide5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0966" name="Text Box 70"/>
          <p:cNvSpPr txBox="1">
            <a:spLocks noChangeArrowheads="1"/>
          </p:cNvSpPr>
          <p:nvPr/>
        </p:nvSpPr>
        <p:spPr bwMode="auto">
          <a:xfrm>
            <a:off x="1384300" y="1989138"/>
            <a:ext cx="2971800" cy="579437"/>
          </a:xfrm>
          <a:prstGeom prst="rect">
            <a:avLst/>
          </a:prstGeom>
          <a:noFill/>
          <a:ln w="9525" algn="ctr">
            <a:noFill/>
            <a:miter lim="800000"/>
            <a:headEnd/>
            <a:tailEnd/>
          </a:ln>
          <a:effectLst/>
        </p:spPr>
        <p:txBody>
          <a:bodyPr>
            <a:spAutoFit/>
          </a:bodyPr>
          <a:lstStyle/>
          <a:p>
            <a:pPr>
              <a:defRPr/>
            </a:pPr>
            <a:r>
              <a:rPr kumimoji="0" lang="zh-CN" altLang="en-US" sz="3200">
                <a:solidFill>
                  <a:srgbClr val="0000FF"/>
                </a:solidFill>
                <a:effectLst>
                  <a:outerShdw blurRad="38100" dist="38100" dir="2700000" algn="tl">
                    <a:srgbClr val="C0C0C0"/>
                  </a:outerShdw>
                </a:effectLst>
              </a:rPr>
              <a:t>练习题：</a:t>
            </a:r>
          </a:p>
        </p:txBody>
      </p:sp>
      <p:sp>
        <p:nvSpPr>
          <p:cNvPr id="80967" name="Text Box 71"/>
          <p:cNvSpPr txBox="1">
            <a:spLocks noChangeArrowheads="1"/>
          </p:cNvSpPr>
          <p:nvPr/>
        </p:nvSpPr>
        <p:spPr bwMode="auto">
          <a:xfrm>
            <a:off x="2285206" y="3405398"/>
            <a:ext cx="4573588" cy="457200"/>
          </a:xfrm>
          <a:prstGeom prst="rect">
            <a:avLst/>
          </a:prstGeom>
          <a:noFill/>
          <a:ln w="9525" algn="ctr">
            <a:noFill/>
            <a:miter lim="800000"/>
            <a:headEnd/>
            <a:tailEnd/>
          </a:ln>
          <a:effectLst/>
        </p:spPr>
        <p:txBody>
          <a:bodyPr wrap="none">
            <a:spAutoFit/>
          </a:bodyPr>
          <a:lstStyle/>
          <a:p>
            <a:pPr>
              <a:defRPr/>
            </a:pPr>
            <a:r>
              <a:rPr kumimoji="0" lang="en-US" altLang="zh-CN" sz="2400" dirty="0">
                <a:effectLst>
                  <a:outerShdw blurRad="38100" dist="38100" dir="2700000" algn="tl">
                    <a:srgbClr val="C0C0C0"/>
                  </a:outerShdw>
                </a:effectLst>
              </a:rPr>
              <a:t>P104  3.4  </a:t>
            </a: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2</a:t>
            </a: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3</a:t>
            </a: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4</a:t>
            </a:r>
            <a:r>
              <a:rPr kumimoji="0" lang="zh-CN" altLang="en-US" sz="2400" dirty="0">
                <a:effectLst>
                  <a:outerShdw blurRad="38100" dist="38100" dir="2700000" algn="tl">
                    <a:srgbClr val="C0C0C0"/>
                  </a:outerShdw>
                </a:effectLst>
              </a:rPr>
              <a:t>）</a:t>
            </a:r>
          </a:p>
        </p:txBody>
      </p:sp>
    </p:spTree>
  </p:cSld>
  <p:clrMapOvr>
    <a:masterClrMapping/>
  </p:clrMapOvr>
  <p:transition>
    <p:fade/>
  </p:transition>
</p:sld>
</file>

<file path=ppt/slides/slide5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1932" name="Text Box 12"/>
          <p:cNvSpPr txBox="1">
            <a:spLocks noChangeArrowheads="1"/>
          </p:cNvSpPr>
          <p:nvPr/>
        </p:nvSpPr>
        <p:spPr bwMode="auto">
          <a:xfrm>
            <a:off x="971550" y="1196975"/>
            <a:ext cx="7056438"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3.3.4 </a:t>
            </a:r>
            <a:r>
              <a:rPr kumimoji="0" lang="zh-CN" altLang="en-US" sz="2800">
                <a:solidFill>
                  <a:srgbClr val="0000FF"/>
                </a:solidFill>
                <a:effectLst>
                  <a:outerShdw blurRad="38100" dist="38100" dir="2700000" algn="tl">
                    <a:srgbClr val="C0C0C0"/>
                  </a:outerShdw>
                </a:effectLst>
              </a:rPr>
              <a:t>计算机控制系统的脉冲传递函数</a:t>
            </a:r>
          </a:p>
        </p:txBody>
      </p:sp>
      <p:sp>
        <p:nvSpPr>
          <p:cNvPr id="81933" name="Text Box 13"/>
          <p:cNvSpPr txBox="1">
            <a:spLocks noChangeArrowheads="1"/>
          </p:cNvSpPr>
          <p:nvPr/>
        </p:nvSpPr>
        <p:spPr bwMode="auto">
          <a:xfrm>
            <a:off x="971550" y="1773238"/>
            <a:ext cx="7366000" cy="1406525"/>
          </a:xfrm>
          <a:prstGeom prst="rect">
            <a:avLst/>
          </a:prstGeom>
          <a:noFill/>
          <a:ln w="9525" algn="ctr">
            <a:noFill/>
            <a:miter lim="800000"/>
            <a:headEnd/>
            <a:tailEnd/>
          </a:ln>
          <a:effectLst/>
        </p:spPr>
        <p:txBody>
          <a:bodyPr>
            <a:spAutoFit/>
          </a:bodyPr>
          <a:lstStyle/>
          <a:p>
            <a:pPr>
              <a:lnSpc>
                <a:spcPct val="120000"/>
              </a:lnSpc>
              <a:defRPr/>
            </a:pPr>
            <a:r>
              <a:rPr kumimoji="0" lang="zh-CN" altLang="en-US" sz="2400" dirty="0">
                <a:effectLst>
                  <a:outerShdw blurRad="38100" dist="38100" dir="2700000" algn="tl">
                    <a:srgbClr val="C0C0C0"/>
                  </a:outerShdw>
                </a:effectLst>
              </a:rPr>
              <a:t>计算机控制系统是由数字计算机部分和连续对象部分构成的闭环控制系统，典型的计算机控制系统通常如图</a:t>
            </a:r>
            <a:r>
              <a:rPr kumimoji="0" lang="en-US" altLang="zh-CN" sz="2400" dirty="0">
                <a:effectLst>
                  <a:outerShdw blurRad="38100" dist="38100" dir="2700000" algn="tl">
                    <a:srgbClr val="C0C0C0"/>
                  </a:outerShdw>
                </a:effectLst>
              </a:rPr>
              <a:t>3.11</a:t>
            </a:r>
            <a:r>
              <a:rPr kumimoji="0" lang="zh-CN" altLang="en-US" sz="2400" dirty="0">
                <a:effectLst>
                  <a:outerShdw blurRad="38100" dist="38100" dir="2700000" algn="tl">
                    <a:srgbClr val="C0C0C0"/>
                  </a:outerShdw>
                </a:effectLst>
              </a:rPr>
              <a:t>所示，为单位反馈的闭环控制系统。</a:t>
            </a:r>
          </a:p>
        </p:txBody>
      </p:sp>
      <p:pic>
        <p:nvPicPr>
          <p:cNvPr id="122884" name="Picture 14"/>
          <p:cNvPicPr>
            <a:picLocks noChangeAspect="1" noChangeArrowheads="1"/>
          </p:cNvPicPr>
          <p:nvPr/>
        </p:nvPicPr>
        <p:blipFill>
          <a:blip r:embed="rId3" cstate="print"/>
          <a:srcRect/>
          <a:stretch>
            <a:fillRect/>
          </a:stretch>
        </p:blipFill>
        <p:spPr bwMode="auto">
          <a:xfrm>
            <a:off x="827088" y="3357563"/>
            <a:ext cx="7561262" cy="2205037"/>
          </a:xfrm>
          <a:prstGeom prst="rect">
            <a:avLst/>
          </a:prstGeom>
          <a:noFill/>
          <a:ln w="9525">
            <a:noFill/>
            <a:miter lim="800000"/>
            <a:headEnd/>
            <a:tailEnd/>
          </a:ln>
        </p:spPr>
      </p:pic>
      <p:sp>
        <p:nvSpPr>
          <p:cNvPr id="81935" name="Text Box 15"/>
          <p:cNvSpPr txBox="1">
            <a:spLocks noChangeArrowheads="1"/>
          </p:cNvSpPr>
          <p:nvPr/>
        </p:nvSpPr>
        <p:spPr bwMode="auto">
          <a:xfrm>
            <a:off x="2987675" y="5589588"/>
            <a:ext cx="4918075"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3.11 </a:t>
            </a:r>
            <a:r>
              <a:rPr kumimoji="0" lang="zh-CN" altLang="en-US">
                <a:effectLst>
                  <a:outerShdw blurRad="38100" dist="38100" dir="2700000" algn="tl">
                    <a:srgbClr val="C0C0C0"/>
                  </a:outerShdw>
                </a:effectLst>
              </a:rPr>
              <a:t>计算机控制系统结构图</a:t>
            </a:r>
          </a:p>
        </p:txBody>
      </p:sp>
    </p:spTree>
  </p:cSld>
  <p:clrMapOvr>
    <a:masterClrMapping/>
  </p:clrMapOvr>
  <p:transition>
    <p:fade/>
  </p:transition>
</p:sld>
</file>

<file path=ppt/slides/slide5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2959" name="Text Box 15"/>
          <p:cNvSpPr txBox="1">
            <a:spLocks noChangeArrowheads="1"/>
          </p:cNvSpPr>
          <p:nvPr/>
        </p:nvSpPr>
        <p:spPr bwMode="auto">
          <a:xfrm>
            <a:off x="1042988" y="1412875"/>
            <a:ext cx="541972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数字部分的脉冲传递函数：</a:t>
            </a:r>
          </a:p>
        </p:txBody>
      </p:sp>
      <p:sp>
        <p:nvSpPr>
          <p:cNvPr id="82960" name="Rectangle 16"/>
          <p:cNvSpPr>
            <a:spLocks noChangeArrowheads="1"/>
          </p:cNvSpPr>
          <p:nvPr/>
        </p:nvSpPr>
        <p:spPr bwMode="auto">
          <a:xfrm>
            <a:off x="19050" y="28400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4034" name="Object 17"/>
          <p:cNvGraphicFramePr>
            <a:graphicFrameLocks noChangeAspect="1"/>
          </p:cNvGraphicFramePr>
          <p:nvPr/>
        </p:nvGraphicFramePr>
        <p:xfrm>
          <a:off x="2359025" y="1916113"/>
          <a:ext cx="3671888" cy="923925"/>
        </p:xfrm>
        <a:graphic>
          <a:graphicData uri="http://schemas.openxmlformats.org/presentationml/2006/ole">
            <mc:AlternateContent xmlns:mc="http://schemas.openxmlformats.org/markup-compatibility/2006">
              <mc:Choice xmlns:v="urn:schemas-microsoft-com:vml" Requires="v">
                <p:oleObj name="Equation" r:id="rId3" imgW="1816100" imgH="457200" progId="Equation.DSMT4">
                  <p:embed/>
                </p:oleObj>
              </mc:Choice>
              <mc:Fallback>
                <p:oleObj name="Equation" r:id="rId3" imgW="1816100" imgH="4572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59025" y="1916113"/>
                        <a:ext cx="3671888" cy="923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62" name="Text Box 18"/>
          <p:cNvSpPr txBox="1">
            <a:spLocks noChangeArrowheads="1"/>
          </p:cNvSpPr>
          <p:nvPr/>
        </p:nvSpPr>
        <p:spPr bwMode="auto">
          <a:xfrm>
            <a:off x="1114425" y="3140075"/>
            <a:ext cx="57086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连续部分的脉冲传递函数：</a:t>
            </a:r>
          </a:p>
        </p:txBody>
      </p:sp>
      <p:sp>
        <p:nvSpPr>
          <p:cNvPr id="82963" name="Rectangle 19"/>
          <p:cNvSpPr>
            <a:spLocks noChangeArrowheads="1"/>
          </p:cNvSpPr>
          <p:nvPr/>
        </p:nvSpPr>
        <p:spPr bwMode="auto">
          <a:xfrm>
            <a:off x="19050" y="28590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4035" name="Object 20"/>
          <p:cNvGraphicFramePr>
            <a:graphicFrameLocks noChangeAspect="1"/>
          </p:cNvGraphicFramePr>
          <p:nvPr/>
        </p:nvGraphicFramePr>
        <p:xfrm>
          <a:off x="2287588" y="3644900"/>
          <a:ext cx="3816350" cy="733425"/>
        </p:xfrm>
        <a:graphic>
          <a:graphicData uri="http://schemas.openxmlformats.org/presentationml/2006/ole">
            <mc:AlternateContent xmlns:mc="http://schemas.openxmlformats.org/markup-compatibility/2006">
              <mc:Choice xmlns:v="urn:schemas-microsoft-com:vml" Requires="v">
                <p:oleObj name="Equation" r:id="rId5" imgW="2184400" imgH="419100" progId="Equation.DSMT4">
                  <p:embed/>
                </p:oleObj>
              </mc:Choice>
              <mc:Fallback>
                <p:oleObj name="Equation" r:id="rId5" imgW="2184400" imgH="4191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7588" y="3644900"/>
                        <a:ext cx="3816350" cy="733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65" name="Rectangle 21"/>
          <p:cNvSpPr>
            <a:spLocks noChangeArrowheads="1"/>
          </p:cNvSpPr>
          <p:nvPr/>
        </p:nvSpPr>
        <p:spPr bwMode="auto">
          <a:xfrm>
            <a:off x="19050" y="28257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4036" name="Object 22"/>
          <p:cNvGraphicFramePr>
            <a:graphicFrameLocks noChangeAspect="1"/>
          </p:cNvGraphicFramePr>
          <p:nvPr/>
        </p:nvGraphicFramePr>
        <p:xfrm>
          <a:off x="1331913" y="4652963"/>
          <a:ext cx="7159625" cy="785812"/>
        </p:xfrm>
        <a:graphic>
          <a:graphicData uri="http://schemas.openxmlformats.org/presentationml/2006/ole">
            <mc:AlternateContent xmlns:mc="http://schemas.openxmlformats.org/markup-compatibility/2006">
              <mc:Choice xmlns:v="urn:schemas-microsoft-com:vml" Requires="v">
                <p:oleObj name="Equation" r:id="rId7" imgW="4419600" imgH="482600" progId="Equation.DSMT4">
                  <p:embed/>
                </p:oleObj>
              </mc:Choice>
              <mc:Fallback>
                <p:oleObj name="Equation" r:id="rId7" imgW="4419600" imgH="4826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331913" y="4652963"/>
                        <a:ext cx="7159625"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2967" name="Text Box 23"/>
          <p:cNvSpPr txBox="1">
            <a:spLocks noChangeArrowheads="1"/>
          </p:cNvSpPr>
          <p:nvPr/>
        </p:nvSpPr>
        <p:spPr bwMode="auto">
          <a:xfrm>
            <a:off x="466725" y="4724400"/>
            <a:ext cx="18923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即：</a:t>
            </a:r>
          </a:p>
        </p:txBody>
      </p:sp>
    </p:spTree>
  </p:cSld>
  <p:clrMapOvr>
    <a:masterClrMapping/>
  </p:clrMapOvr>
  <p:transition>
    <p:fade/>
  </p:transition>
</p:sld>
</file>

<file path=ppt/slides/slide5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3984" name="Rectangle 16"/>
          <p:cNvSpPr>
            <a:spLocks noChangeArrowheads="1"/>
          </p:cNvSpPr>
          <p:nvPr/>
        </p:nvSpPr>
        <p:spPr bwMode="auto">
          <a:xfrm>
            <a:off x="6372225" y="4078288"/>
            <a:ext cx="2520950" cy="576262"/>
          </a:xfrm>
          <a:prstGeom prst="rect">
            <a:avLst/>
          </a:prstGeom>
          <a:solidFill>
            <a:srgbClr val="FFCC99"/>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3985" name="Text Box 17"/>
          <p:cNvSpPr txBox="1">
            <a:spLocks noChangeArrowheads="1"/>
          </p:cNvSpPr>
          <p:nvPr/>
        </p:nvSpPr>
        <p:spPr bwMode="auto">
          <a:xfrm>
            <a:off x="827088" y="1557338"/>
            <a:ext cx="72199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计算机控制系统的开环脉冲传递函数：</a:t>
            </a:r>
          </a:p>
        </p:txBody>
      </p:sp>
      <p:graphicFrame>
        <p:nvGraphicFramePr>
          <p:cNvPr id="45058" name="Object 18"/>
          <p:cNvGraphicFramePr>
            <a:graphicFrameLocks noChangeAspect="1"/>
          </p:cNvGraphicFramePr>
          <p:nvPr/>
        </p:nvGraphicFramePr>
        <p:xfrm>
          <a:off x="2843213" y="2089150"/>
          <a:ext cx="2520950" cy="468313"/>
        </p:xfrm>
        <a:graphic>
          <a:graphicData uri="http://schemas.openxmlformats.org/presentationml/2006/ole">
            <mc:AlternateContent xmlns:mc="http://schemas.openxmlformats.org/markup-compatibility/2006">
              <mc:Choice xmlns:v="urn:schemas-microsoft-com:vml" Requires="v">
                <p:oleObj name="Equation" r:id="rId3" imgW="1231366" imgH="228501" progId="Equation.DSMT4">
                  <p:embed/>
                </p:oleObj>
              </mc:Choice>
              <mc:Fallback>
                <p:oleObj name="Equation" r:id="rId3" imgW="1231366" imgH="228501"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089150"/>
                        <a:ext cx="2520950"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87" name="Text Box 19"/>
          <p:cNvSpPr txBox="1">
            <a:spLocks noChangeArrowheads="1"/>
          </p:cNvSpPr>
          <p:nvPr/>
        </p:nvSpPr>
        <p:spPr bwMode="auto">
          <a:xfrm>
            <a:off x="879475" y="2636838"/>
            <a:ext cx="5348288"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闭环系统的脉冲传递函数为：</a:t>
            </a:r>
          </a:p>
        </p:txBody>
      </p:sp>
      <p:sp>
        <p:nvSpPr>
          <p:cNvPr id="83988" name="Rectangle 20"/>
          <p:cNvSpPr>
            <a:spLocks noChangeArrowheads="1"/>
          </p:cNvSpPr>
          <p:nvPr/>
        </p:nvSpPr>
        <p:spPr bwMode="auto">
          <a:xfrm>
            <a:off x="0" y="29273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5059" name="Object 21"/>
          <p:cNvGraphicFramePr>
            <a:graphicFrameLocks noChangeAspect="1"/>
          </p:cNvGraphicFramePr>
          <p:nvPr/>
        </p:nvGraphicFramePr>
        <p:xfrm>
          <a:off x="2195513" y="3141663"/>
          <a:ext cx="4824412" cy="785812"/>
        </p:xfrm>
        <a:graphic>
          <a:graphicData uri="http://schemas.openxmlformats.org/presentationml/2006/ole">
            <mc:AlternateContent xmlns:mc="http://schemas.openxmlformats.org/markup-compatibility/2006">
              <mc:Choice xmlns:v="urn:schemas-microsoft-com:vml" Requires="v">
                <p:oleObj name="Equation" r:id="rId5" imgW="2628900" imgH="431800" progId="Equation.DSMT4">
                  <p:embed/>
                </p:oleObj>
              </mc:Choice>
              <mc:Fallback>
                <p:oleObj name="Equation" r:id="rId5" imgW="2628900" imgH="4318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3141663"/>
                        <a:ext cx="4824412"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90" name="Line 22"/>
          <p:cNvSpPr>
            <a:spLocks noChangeShapeType="1"/>
          </p:cNvSpPr>
          <p:nvPr/>
        </p:nvSpPr>
        <p:spPr bwMode="auto">
          <a:xfrm>
            <a:off x="3995738" y="4005263"/>
            <a:ext cx="1584325" cy="0"/>
          </a:xfrm>
          <a:prstGeom prst="line">
            <a:avLst/>
          </a:prstGeom>
          <a:noFill/>
          <a:ln w="9525">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3991" name="Text Box 23"/>
          <p:cNvSpPr txBox="1">
            <a:spLocks noChangeArrowheads="1"/>
          </p:cNvSpPr>
          <p:nvPr/>
        </p:nvSpPr>
        <p:spPr bwMode="auto">
          <a:xfrm>
            <a:off x="4140200" y="4005263"/>
            <a:ext cx="2540000" cy="396875"/>
          </a:xfrm>
          <a:prstGeom prst="rect">
            <a:avLst/>
          </a:prstGeom>
          <a:noFill/>
          <a:ln w="9525" algn="ctr">
            <a:noFill/>
            <a:miter lim="800000"/>
            <a:headEnd/>
            <a:tailEnd/>
          </a:ln>
          <a:effectLst/>
        </p:spPr>
        <p:txBody>
          <a:bodyPr>
            <a:spAutoFit/>
          </a:bodyPr>
          <a:lstStyle/>
          <a:p>
            <a:pPr>
              <a:defRPr/>
            </a:pPr>
            <a:r>
              <a:rPr kumimoji="0" lang="zh-CN" altLang="en-US">
                <a:solidFill>
                  <a:srgbClr val="FF0000"/>
                </a:solidFill>
                <a:effectLst>
                  <a:outerShdw blurRad="38100" dist="38100" dir="2700000" algn="tl">
                    <a:srgbClr val="C0C0C0"/>
                  </a:outerShdw>
                </a:effectLst>
              </a:rPr>
              <a:t>特征方程</a:t>
            </a:r>
          </a:p>
        </p:txBody>
      </p:sp>
      <p:sp>
        <p:nvSpPr>
          <p:cNvPr id="83992" name="Text Box 24"/>
          <p:cNvSpPr txBox="1">
            <a:spLocks noChangeArrowheads="1"/>
          </p:cNvSpPr>
          <p:nvPr/>
        </p:nvSpPr>
        <p:spPr bwMode="auto">
          <a:xfrm>
            <a:off x="950913" y="4437063"/>
            <a:ext cx="678973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闭环系统的误差脉冲传递函数为：</a:t>
            </a:r>
          </a:p>
        </p:txBody>
      </p:sp>
      <p:sp>
        <p:nvSpPr>
          <p:cNvPr id="83993" name="Rectangle 25"/>
          <p:cNvSpPr>
            <a:spLocks noChangeArrowheads="1"/>
          </p:cNvSpPr>
          <p:nvPr/>
        </p:nvSpPr>
        <p:spPr bwMode="auto">
          <a:xfrm>
            <a:off x="0" y="29273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5060" name="Object 26"/>
          <p:cNvGraphicFramePr>
            <a:graphicFrameLocks noChangeAspect="1"/>
          </p:cNvGraphicFramePr>
          <p:nvPr/>
        </p:nvGraphicFramePr>
        <p:xfrm>
          <a:off x="2051050" y="5013325"/>
          <a:ext cx="5040313" cy="825500"/>
        </p:xfrm>
        <a:graphic>
          <a:graphicData uri="http://schemas.openxmlformats.org/presentationml/2006/ole">
            <mc:AlternateContent xmlns:mc="http://schemas.openxmlformats.org/markup-compatibility/2006">
              <mc:Choice xmlns:v="urn:schemas-microsoft-com:vml" Requires="v">
                <p:oleObj name="Equation" r:id="rId7" imgW="2616200" imgH="431800" progId="Equation.DSMT4">
                  <p:embed/>
                </p:oleObj>
              </mc:Choice>
              <mc:Fallback>
                <p:oleObj name="Equation" r:id="rId7" imgW="2616200" imgH="431800"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5013325"/>
                        <a:ext cx="5040313"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95" name="Rectangle 27"/>
          <p:cNvSpPr>
            <a:spLocks noChangeArrowheads="1"/>
          </p:cNvSpPr>
          <p:nvPr/>
        </p:nvSpPr>
        <p:spPr bwMode="auto">
          <a:xfrm>
            <a:off x="0" y="30273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45061" name="Object 28"/>
          <p:cNvGraphicFramePr>
            <a:graphicFrameLocks noChangeAspect="1"/>
          </p:cNvGraphicFramePr>
          <p:nvPr/>
        </p:nvGraphicFramePr>
        <p:xfrm>
          <a:off x="6516688" y="4149725"/>
          <a:ext cx="2266950" cy="473075"/>
        </p:xfrm>
        <a:graphic>
          <a:graphicData uri="http://schemas.openxmlformats.org/presentationml/2006/ole">
            <mc:AlternateContent xmlns:mc="http://schemas.openxmlformats.org/markup-compatibility/2006">
              <mc:Choice xmlns:v="urn:schemas-microsoft-com:vml" Requires="v">
                <p:oleObj name="Equation" r:id="rId9" imgW="1091726" imgH="228501" progId="Equation.DSMT4">
                  <p:embed/>
                </p:oleObj>
              </mc:Choice>
              <mc:Fallback>
                <p:oleObj name="Equation" r:id="rId9" imgW="1091726" imgH="228501"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516688" y="4149725"/>
                        <a:ext cx="2266950"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3997" name="AutoShape 29"/>
          <p:cNvSpPr>
            <a:spLocks noChangeArrowheads="1"/>
          </p:cNvSpPr>
          <p:nvPr/>
        </p:nvSpPr>
        <p:spPr bwMode="auto">
          <a:xfrm>
            <a:off x="7235825" y="4654550"/>
            <a:ext cx="576263" cy="792163"/>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3998" name="AutoShape 30"/>
          <p:cNvSpPr>
            <a:spLocks noChangeArrowheads="1"/>
          </p:cNvSpPr>
          <p:nvPr/>
        </p:nvSpPr>
        <p:spPr bwMode="auto">
          <a:xfrm flipV="1">
            <a:off x="7235825" y="3286125"/>
            <a:ext cx="576263" cy="792163"/>
          </a:xfrm>
          <a:custGeom>
            <a:avLst/>
            <a:gdLst>
              <a:gd name="G0" fmla="+- 9257 0 0"/>
              <a:gd name="G1" fmla="+- 18514 0 0"/>
              <a:gd name="G2" fmla="+- 7200 0 0"/>
              <a:gd name="G3" fmla="*/ 9257 1 2"/>
              <a:gd name="G4" fmla="+- G3 10800 0"/>
              <a:gd name="G5" fmla="+- 21600 9257 18514"/>
              <a:gd name="G6" fmla="+- 18514 7200 0"/>
              <a:gd name="G7" fmla="*/ G6 1 2"/>
              <a:gd name="G8" fmla="*/ 18514 2 1"/>
              <a:gd name="G9" fmla="+- G8 0 21600"/>
              <a:gd name="G10" fmla="*/ 21600 G0 G1"/>
              <a:gd name="G11" fmla="*/ 21600 G4 G1"/>
              <a:gd name="G12" fmla="*/ 21600 G5 G1"/>
              <a:gd name="G13" fmla="*/ 21600 G7 G1"/>
              <a:gd name="G14" fmla="*/ 18514 1 2"/>
              <a:gd name="G15" fmla="+- G5 0 G4"/>
              <a:gd name="G16" fmla="+- G0 0 G4"/>
              <a:gd name="G17" fmla="*/ G2 G15 G16"/>
              <a:gd name="T0" fmla="*/ 15429 w 21600"/>
              <a:gd name="T1" fmla="*/ 0 h 21600"/>
              <a:gd name="T2" fmla="*/ 9257 w 21600"/>
              <a:gd name="T3" fmla="*/ 7200 h 21600"/>
              <a:gd name="T4" fmla="*/ 0 w 21600"/>
              <a:gd name="T5" fmla="*/ 18001 h 21600"/>
              <a:gd name="T6" fmla="*/ 9257 w 21600"/>
              <a:gd name="T7" fmla="*/ 21600 h 21600"/>
              <a:gd name="T8" fmla="*/ 18514 w 21600"/>
              <a:gd name="T9" fmla="*/ 15000 h 21600"/>
              <a:gd name="T10" fmla="*/ 21600 w 21600"/>
              <a:gd name="T11" fmla="*/ 7200 h 21600"/>
              <a:gd name="T12" fmla="*/ 17694720 60000 65536"/>
              <a:gd name="T13" fmla="*/ 11796480 60000 65536"/>
              <a:gd name="T14" fmla="*/ 11796480 60000 65536"/>
              <a:gd name="T15" fmla="*/ 5898240 60000 65536"/>
              <a:gd name="T16" fmla="*/ 0 60000 65536"/>
              <a:gd name="T17" fmla="*/ 0 60000 65536"/>
              <a:gd name="T18" fmla="*/ 0 w 21600"/>
              <a:gd name="T19" fmla="*/ G12 h 21600"/>
              <a:gd name="T20" fmla="*/ G1 w 21600"/>
              <a:gd name="T21" fmla="*/ 21600 h 21600"/>
            </a:gdLst>
            <a:ahLst/>
            <a:cxnLst>
              <a:cxn ang="T12">
                <a:pos x="T0" y="T1"/>
              </a:cxn>
              <a:cxn ang="T13">
                <a:pos x="T2" y="T3"/>
              </a:cxn>
              <a:cxn ang="T14">
                <a:pos x="T4" y="T5"/>
              </a:cxn>
              <a:cxn ang="T15">
                <a:pos x="T6" y="T7"/>
              </a:cxn>
              <a:cxn ang="T16">
                <a:pos x="T8" y="T9"/>
              </a:cxn>
              <a:cxn ang="T17">
                <a:pos x="T10" y="T11"/>
              </a:cxn>
            </a:cxnLst>
            <a:rect l="T18" t="T19" r="T20" b="T21"/>
            <a:pathLst>
              <a:path w="21600" h="21600">
                <a:moveTo>
                  <a:pt x="15429" y="0"/>
                </a:moveTo>
                <a:lnTo>
                  <a:pt x="9257" y="7200"/>
                </a:lnTo>
                <a:lnTo>
                  <a:pt x="12343" y="7200"/>
                </a:lnTo>
                <a:lnTo>
                  <a:pt x="12343" y="14400"/>
                </a:lnTo>
                <a:lnTo>
                  <a:pt x="0" y="14400"/>
                </a:lnTo>
                <a:lnTo>
                  <a:pt x="0" y="21600"/>
                </a:lnTo>
                <a:lnTo>
                  <a:pt x="18514" y="21600"/>
                </a:lnTo>
                <a:lnTo>
                  <a:pt x="18514" y="7200"/>
                </a:lnTo>
                <a:lnTo>
                  <a:pt x="21600" y="7200"/>
                </a:lnTo>
                <a:close/>
              </a:path>
            </a:pathLst>
          </a:cu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fade/>
  </p:transition>
</p:sld>
</file>

<file path=ppt/slides/slide6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0370" name="Text Box 18"/>
          <p:cNvSpPr txBox="1">
            <a:spLocks noChangeArrowheads="1"/>
          </p:cNvSpPr>
          <p:nvPr/>
        </p:nvSpPr>
        <p:spPr bwMode="auto">
          <a:xfrm>
            <a:off x="611188" y="188913"/>
            <a:ext cx="8281987" cy="701675"/>
          </a:xfrm>
          <a:prstGeom prst="rect">
            <a:avLst/>
          </a:prstGeom>
          <a:noFill/>
          <a:ln w="9525">
            <a:noFill/>
            <a:miter lim="800000"/>
            <a:headEnd/>
            <a:tailEnd/>
          </a:ln>
          <a:effectLst/>
        </p:spPr>
        <p:txBody>
          <a:bodyPr>
            <a:spAutoFit/>
          </a:bodyPr>
          <a:lstStyle/>
          <a:p>
            <a:pPr>
              <a:defRPr/>
            </a:pPr>
            <a:r>
              <a:rPr kumimoji="0" lang="en-US" altLang="zh-CN" sz="4000">
                <a:solidFill>
                  <a:srgbClr val="FF0000"/>
                </a:solidFill>
                <a:effectLst>
                  <a:outerShdw blurRad="38100" dist="38100" dir="2700000" algn="tl">
                    <a:srgbClr val="C0C0C0"/>
                  </a:outerShdw>
                </a:effectLst>
                <a:latin typeface="Arial" charset="0"/>
                <a:ea typeface="方正大黑简体" pitchFamily="2" charset="-122"/>
              </a:rPr>
              <a:t>3.4 </a:t>
            </a:r>
            <a:r>
              <a:rPr kumimoji="0" lang="zh-CN" altLang="en-US" sz="4000">
                <a:solidFill>
                  <a:srgbClr val="FF0000"/>
                </a:solidFill>
                <a:effectLst>
                  <a:outerShdw blurRad="38100" dist="38100" dir="2700000" algn="tl">
                    <a:srgbClr val="C0C0C0"/>
                  </a:outerShdw>
                </a:effectLst>
                <a:latin typeface="Arial" charset="0"/>
                <a:ea typeface="方正大黑简体" pitchFamily="2" charset="-122"/>
              </a:rPr>
              <a:t>计算机控制系统稳定性分析</a:t>
            </a:r>
          </a:p>
        </p:txBody>
      </p:sp>
      <p:sp>
        <p:nvSpPr>
          <p:cNvPr id="100371" name="Text Box 19"/>
          <p:cNvSpPr txBox="1">
            <a:spLocks noChangeArrowheads="1"/>
          </p:cNvSpPr>
          <p:nvPr/>
        </p:nvSpPr>
        <p:spPr bwMode="auto">
          <a:xfrm>
            <a:off x="1311275" y="2636912"/>
            <a:ext cx="3260725" cy="579438"/>
          </a:xfrm>
          <a:prstGeom prst="rect">
            <a:avLst/>
          </a:prstGeom>
          <a:noFill/>
          <a:ln w="9525" algn="ctr">
            <a:noFill/>
            <a:miter lim="800000"/>
            <a:headEnd/>
            <a:tailEnd/>
          </a:ln>
          <a:effectLst/>
        </p:spPr>
        <p:txBody>
          <a:bodyPr>
            <a:spAutoFit/>
          </a:bodyPr>
          <a:lstStyle/>
          <a:p>
            <a:pPr>
              <a:defRPr/>
            </a:pPr>
            <a:r>
              <a:rPr kumimoji="0" lang="zh-CN" altLang="en-US" sz="3200" dirty="0">
                <a:solidFill>
                  <a:srgbClr val="0000FF"/>
                </a:solidFill>
                <a:effectLst>
                  <a:outerShdw blurRad="38100" dist="38100" dir="2700000" algn="tl">
                    <a:srgbClr val="C0C0C0"/>
                  </a:outerShdw>
                </a:effectLst>
              </a:rPr>
              <a:t>分析策略：</a:t>
            </a:r>
          </a:p>
        </p:txBody>
      </p:sp>
      <p:sp>
        <p:nvSpPr>
          <p:cNvPr id="100372" name="Text Box 20"/>
          <p:cNvSpPr txBox="1">
            <a:spLocks noChangeArrowheads="1"/>
          </p:cNvSpPr>
          <p:nvPr/>
        </p:nvSpPr>
        <p:spPr bwMode="auto">
          <a:xfrm>
            <a:off x="1384300" y="4097412"/>
            <a:ext cx="3187700" cy="457200"/>
          </a:xfrm>
          <a:prstGeom prst="rect">
            <a:avLst/>
          </a:prstGeom>
          <a:noFill/>
          <a:ln w="9525" algn="ctr">
            <a:noFill/>
            <a:miter lim="800000"/>
            <a:headEnd/>
            <a:tailEnd/>
          </a:ln>
          <a:effectLst/>
        </p:spPr>
        <p:txBody>
          <a:bodyPr>
            <a:spAutoFit/>
          </a:bodyPr>
          <a:lstStyle/>
          <a:p>
            <a:pPr>
              <a:defRPr/>
            </a:pPr>
            <a:r>
              <a:rPr kumimoji="0" lang="en-US" altLang="zh-CN" sz="2400" i="1">
                <a:solidFill>
                  <a:srgbClr val="BE2C14"/>
                </a:solidFill>
                <a:effectLst>
                  <a:outerShdw blurRad="38100" dist="38100" dir="2700000" algn="tl">
                    <a:srgbClr val="C0C0C0"/>
                  </a:outerShdw>
                </a:effectLst>
              </a:rPr>
              <a:t>s</a:t>
            </a:r>
            <a:r>
              <a:rPr kumimoji="0" lang="zh-CN" altLang="en-US" sz="2400">
                <a:solidFill>
                  <a:srgbClr val="BE2C14"/>
                </a:solidFill>
                <a:effectLst>
                  <a:outerShdw blurRad="38100" dist="38100" dir="2700000" algn="tl">
                    <a:srgbClr val="C0C0C0"/>
                  </a:outerShdw>
                </a:effectLst>
              </a:rPr>
              <a:t>平面上稳定性分析</a:t>
            </a:r>
          </a:p>
        </p:txBody>
      </p:sp>
      <p:sp>
        <p:nvSpPr>
          <p:cNvPr id="100373" name="AutoShape 21"/>
          <p:cNvSpPr>
            <a:spLocks noChangeArrowheads="1"/>
          </p:cNvSpPr>
          <p:nvPr/>
        </p:nvSpPr>
        <p:spPr bwMode="auto">
          <a:xfrm>
            <a:off x="4284663" y="4076775"/>
            <a:ext cx="1008062" cy="504825"/>
          </a:xfrm>
          <a:prstGeom prst="rightArrow">
            <a:avLst>
              <a:gd name="adj1" fmla="val 50000"/>
              <a:gd name="adj2" fmla="val 49921"/>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0374" name="Text Box 22"/>
          <p:cNvSpPr txBox="1">
            <a:spLocks noChangeArrowheads="1"/>
          </p:cNvSpPr>
          <p:nvPr/>
        </p:nvSpPr>
        <p:spPr bwMode="auto">
          <a:xfrm>
            <a:off x="5343525" y="4097412"/>
            <a:ext cx="3260725" cy="457200"/>
          </a:xfrm>
          <a:prstGeom prst="rect">
            <a:avLst/>
          </a:prstGeom>
          <a:noFill/>
          <a:ln w="9525" algn="ctr">
            <a:noFill/>
            <a:miter lim="800000"/>
            <a:headEnd/>
            <a:tailEnd/>
          </a:ln>
          <a:effectLst/>
        </p:spPr>
        <p:txBody>
          <a:bodyPr>
            <a:spAutoFit/>
          </a:bodyPr>
          <a:lstStyle/>
          <a:p>
            <a:pPr>
              <a:defRPr/>
            </a:pPr>
            <a:r>
              <a:rPr kumimoji="0" lang="en-US" altLang="zh-CN" sz="2400" i="1">
                <a:solidFill>
                  <a:srgbClr val="0000FF"/>
                </a:solidFill>
                <a:effectLst>
                  <a:outerShdw blurRad="38100" dist="38100" dir="2700000" algn="tl">
                    <a:srgbClr val="C0C0C0"/>
                  </a:outerShdw>
                </a:effectLst>
              </a:rPr>
              <a:t>z</a:t>
            </a:r>
            <a:r>
              <a:rPr kumimoji="0" lang="zh-CN" altLang="en-US" sz="2400">
                <a:solidFill>
                  <a:srgbClr val="0000FF"/>
                </a:solidFill>
                <a:effectLst>
                  <a:outerShdw blurRad="38100" dist="38100" dir="2700000" algn="tl">
                    <a:srgbClr val="C0C0C0"/>
                  </a:outerShdw>
                </a:effectLst>
              </a:rPr>
              <a:t>平面上稳定性分析</a:t>
            </a:r>
          </a:p>
        </p:txBody>
      </p:sp>
      <p:sp>
        <p:nvSpPr>
          <p:cNvPr id="100375" name="Text Box 23"/>
          <p:cNvSpPr txBox="1">
            <a:spLocks noChangeArrowheads="1"/>
          </p:cNvSpPr>
          <p:nvPr/>
        </p:nvSpPr>
        <p:spPr bwMode="auto">
          <a:xfrm>
            <a:off x="4356100" y="3644975"/>
            <a:ext cx="1079500" cy="396875"/>
          </a:xfrm>
          <a:prstGeom prst="rect">
            <a:avLst/>
          </a:prstGeom>
          <a:noFill/>
          <a:ln w="9525" algn="ctr">
            <a:noFill/>
            <a:miter lim="800000"/>
            <a:headEnd/>
            <a:tailEnd/>
          </a:ln>
          <a:effectLst/>
        </p:spPr>
        <p:txBody>
          <a:bodyPr>
            <a:spAutoFit/>
          </a:bodyPr>
          <a:lstStyle/>
          <a:p>
            <a:pPr>
              <a:defRPr/>
            </a:pPr>
            <a:r>
              <a:rPr kumimoji="0" lang="zh-CN" altLang="en-US" dirty="0">
                <a:effectLst>
                  <a:outerShdw blurRad="38100" dist="38100" dir="2700000" algn="tl">
                    <a:srgbClr val="C0C0C0"/>
                  </a:outerShdw>
                </a:effectLst>
              </a:rPr>
              <a:t>映射</a:t>
            </a:r>
          </a:p>
        </p:txBody>
      </p:sp>
      <p:graphicFrame>
        <p:nvGraphicFramePr>
          <p:cNvPr id="46082" name="Object 24"/>
          <p:cNvGraphicFramePr>
            <a:graphicFrameLocks noChangeAspect="1"/>
          </p:cNvGraphicFramePr>
          <p:nvPr>
            <p:extLst>
              <p:ext uri="{D42A27DB-BD31-4B8C-83A1-F6EECF244321}">
                <p14:modId xmlns:p14="http://schemas.microsoft.com/office/powerpoint/2010/main" val="2529107643"/>
              </p:ext>
            </p:extLst>
          </p:nvPr>
        </p:nvGraphicFramePr>
        <p:xfrm>
          <a:off x="4211638" y="4580012"/>
          <a:ext cx="1076325" cy="492125"/>
        </p:xfrm>
        <a:graphic>
          <a:graphicData uri="http://schemas.openxmlformats.org/presentationml/2006/ole">
            <mc:AlternateContent xmlns:mc="http://schemas.openxmlformats.org/markup-compatibility/2006">
              <mc:Choice xmlns:v="urn:schemas-microsoft-com:vml" Requires="v">
                <p:oleObj name="Equation" r:id="rId3" imgW="444307" imgH="203112" progId="Equation.DSMT4">
                  <p:embed/>
                </p:oleObj>
              </mc:Choice>
              <mc:Fallback>
                <p:oleObj name="Equation" r:id="rId3" imgW="444307" imgH="203112"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211638" y="4580012"/>
                        <a:ext cx="1076325"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 Box 19">
            <a:extLst>
              <a:ext uri="{FF2B5EF4-FFF2-40B4-BE49-F238E27FC236}">
                <a16:creationId xmlns:a16="http://schemas.microsoft.com/office/drawing/2014/main" id="{FE45EC0D-3452-005E-08A0-FDB170B35629}"/>
              </a:ext>
            </a:extLst>
          </p:cNvPr>
          <p:cNvSpPr txBox="1">
            <a:spLocks noChangeArrowheads="1"/>
          </p:cNvSpPr>
          <p:nvPr/>
        </p:nvSpPr>
        <p:spPr bwMode="auto">
          <a:xfrm>
            <a:off x="1842216" y="1558582"/>
            <a:ext cx="5815167" cy="461665"/>
          </a:xfrm>
          <a:prstGeom prst="rect">
            <a:avLst/>
          </a:prstGeom>
          <a:solidFill>
            <a:schemeClr val="bg1">
              <a:lumMod val="85000"/>
            </a:schemeClr>
          </a:solidFill>
          <a:ln w="9525" algn="ctr">
            <a:noFill/>
            <a:miter lim="800000"/>
            <a:headEnd/>
            <a:tailEnd/>
          </a:ln>
          <a:effectLst/>
        </p:spPr>
        <p:txBody>
          <a:bodyPr wrap="square">
            <a:spAutoFit/>
          </a:bodyPr>
          <a:lstStyle/>
          <a:p>
            <a:pPr>
              <a:defRPr/>
            </a:pPr>
            <a:r>
              <a:rPr kumimoji="0" lang="zh-CN" altLang="en-US" sz="2400" dirty="0">
                <a:solidFill>
                  <a:srgbClr val="C00000"/>
                </a:solidFill>
                <a:effectLst>
                  <a:outerShdw blurRad="38100" dist="38100" dir="2700000" algn="tl">
                    <a:srgbClr val="C0C0C0"/>
                  </a:outerShdw>
                </a:effectLst>
              </a:rPr>
              <a:t>稳定性是计算机控制系统首要考虑的问题</a:t>
            </a:r>
          </a:p>
        </p:txBody>
      </p:sp>
    </p:spTree>
  </p:cSld>
  <p:clrMapOvr>
    <a:masterClrMapping/>
  </p:clrMapOvr>
  <p:transition>
    <p:zoom/>
  </p:transition>
</p:sld>
</file>

<file path=ppt/slides/slide6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7547" name="Text Box 27"/>
          <p:cNvSpPr txBox="1">
            <a:spLocks noChangeArrowheads="1"/>
          </p:cNvSpPr>
          <p:nvPr/>
        </p:nvSpPr>
        <p:spPr bwMode="auto">
          <a:xfrm>
            <a:off x="684213" y="1439863"/>
            <a:ext cx="5040312"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solidFill>
                  <a:srgbClr val="0000FF"/>
                </a:solidFill>
                <a:effectLst>
                  <a:outerShdw blurRad="38100" dist="38100" dir="2700000" algn="tl">
                    <a:srgbClr val="C0C0C0"/>
                  </a:outerShdw>
                </a:effectLst>
              </a:rPr>
              <a:t>连续系统闭环传递函数为：</a:t>
            </a:r>
          </a:p>
        </p:txBody>
      </p:sp>
      <p:graphicFrame>
        <p:nvGraphicFramePr>
          <p:cNvPr id="47106" name="Object 28"/>
          <p:cNvGraphicFramePr>
            <a:graphicFrameLocks noChangeAspect="1"/>
          </p:cNvGraphicFramePr>
          <p:nvPr/>
        </p:nvGraphicFramePr>
        <p:xfrm>
          <a:off x="1336675" y="2016125"/>
          <a:ext cx="6551613" cy="1008063"/>
        </p:xfrm>
        <a:graphic>
          <a:graphicData uri="http://schemas.openxmlformats.org/presentationml/2006/ole">
            <mc:AlternateContent xmlns:mc="http://schemas.openxmlformats.org/markup-compatibility/2006">
              <mc:Choice xmlns:v="urn:schemas-microsoft-com:vml" Requires="v">
                <p:oleObj name="Equation" r:id="rId3" imgW="2286000" imgH="457200" progId="Equation.DSMT4">
                  <p:embed/>
                </p:oleObj>
              </mc:Choice>
              <mc:Fallback>
                <p:oleObj name="Equation" r:id="rId3" imgW="2286000" imgH="4572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336675" y="2016125"/>
                        <a:ext cx="6551613" cy="10080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49" name="Text Box 29"/>
          <p:cNvSpPr txBox="1">
            <a:spLocks noChangeArrowheads="1"/>
          </p:cNvSpPr>
          <p:nvPr/>
        </p:nvSpPr>
        <p:spPr bwMode="auto">
          <a:xfrm>
            <a:off x="627063" y="3197225"/>
            <a:ext cx="2016125"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rPr>
              <a:t>假设</a:t>
            </a:r>
          </a:p>
        </p:txBody>
      </p:sp>
      <p:graphicFrame>
        <p:nvGraphicFramePr>
          <p:cNvPr id="47107" name="Object 30"/>
          <p:cNvGraphicFramePr>
            <a:graphicFrameLocks noChangeAspect="1"/>
          </p:cNvGraphicFramePr>
          <p:nvPr/>
        </p:nvGraphicFramePr>
        <p:xfrm>
          <a:off x="1403350" y="3240088"/>
          <a:ext cx="1454150" cy="474662"/>
        </p:xfrm>
        <a:graphic>
          <a:graphicData uri="http://schemas.openxmlformats.org/presentationml/2006/ole">
            <mc:AlternateContent xmlns:mc="http://schemas.openxmlformats.org/markup-compatibility/2006">
              <mc:Choice xmlns:v="urn:schemas-microsoft-com:vml" Requires="v">
                <p:oleObj name="Equation" r:id="rId5" imgW="622030" imgH="203112" progId="Equation.DSMT4">
                  <p:embed/>
                </p:oleObj>
              </mc:Choice>
              <mc:Fallback>
                <p:oleObj name="Equation" r:id="rId5" imgW="622030" imgH="203112"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03350" y="3240088"/>
                        <a:ext cx="1454150" cy="47466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7108" name="Object 31"/>
          <p:cNvGraphicFramePr>
            <a:graphicFrameLocks noChangeAspect="1"/>
          </p:cNvGraphicFramePr>
          <p:nvPr/>
        </p:nvGraphicFramePr>
        <p:xfrm>
          <a:off x="1403350" y="3671888"/>
          <a:ext cx="7024688" cy="2016125"/>
        </p:xfrm>
        <a:graphic>
          <a:graphicData uri="http://schemas.openxmlformats.org/presentationml/2006/ole">
            <mc:AlternateContent xmlns:mc="http://schemas.openxmlformats.org/markup-compatibility/2006">
              <mc:Choice xmlns:v="urn:schemas-microsoft-com:vml" Requires="v">
                <p:oleObj name="Equation" r:id="rId7" imgW="2451100" imgH="914400" progId="Equation.DSMT4">
                  <p:embed/>
                </p:oleObj>
              </mc:Choice>
              <mc:Fallback>
                <p:oleObj name="Equation" r:id="rId7" imgW="2451100" imgH="9144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03350" y="3671888"/>
                        <a:ext cx="7024688" cy="201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7552" name="Text Box 32"/>
          <p:cNvSpPr txBox="1">
            <a:spLocks noChangeArrowheads="1"/>
          </p:cNvSpPr>
          <p:nvPr/>
        </p:nvSpPr>
        <p:spPr bwMode="auto">
          <a:xfrm>
            <a:off x="611188" y="404813"/>
            <a:ext cx="6481762" cy="579437"/>
          </a:xfrm>
          <a:prstGeom prst="rect">
            <a:avLst/>
          </a:prstGeom>
          <a:noFill/>
          <a:ln w="9525" algn="ctr">
            <a:noFill/>
            <a:miter lim="800000"/>
            <a:headEnd/>
            <a:tailEnd/>
          </a:ln>
          <a:effectLst/>
        </p:spPr>
        <p:txBody>
          <a:bodyPr>
            <a:spAutoFit/>
          </a:bodyPr>
          <a:lstStyle/>
          <a:p>
            <a:pPr>
              <a:defRPr/>
            </a:pPr>
            <a:r>
              <a:rPr kumimoji="0" lang="en-US" altLang="zh-CN" sz="3200">
                <a:solidFill>
                  <a:srgbClr val="0000FF"/>
                </a:solidFill>
                <a:effectLst>
                  <a:outerShdw blurRad="38100" dist="38100" dir="2700000" algn="tl">
                    <a:srgbClr val="C0C0C0"/>
                  </a:outerShdw>
                </a:effectLst>
              </a:rPr>
              <a:t>3.4.1 </a:t>
            </a:r>
            <a:r>
              <a:rPr kumimoji="0" lang="zh-CN" altLang="en-US" sz="3200">
                <a:solidFill>
                  <a:srgbClr val="0000FF"/>
                </a:solidFill>
                <a:effectLst>
                  <a:outerShdw blurRad="38100" dist="38100" dir="2700000" algn="tl">
                    <a:srgbClr val="C0C0C0"/>
                  </a:outerShdw>
                </a:effectLst>
              </a:rPr>
              <a:t>离散系统的稳定性条件</a:t>
            </a:r>
          </a:p>
        </p:txBody>
      </p:sp>
    </p:spTree>
  </p:cSld>
  <p:clrMapOvr>
    <a:masterClrMapping/>
  </p:clrMapOvr>
  <p:transition>
    <p:zoom/>
  </p:transition>
</p:sld>
</file>

<file path=ppt/slides/slide6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48130" name="Object 26"/>
          <p:cNvGraphicFramePr>
            <a:graphicFrameLocks noChangeAspect="1"/>
          </p:cNvGraphicFramePr>
          <p:nvPr/>
        </p:nvGraphicFramePr>
        <p:xfrm>
          <a:off x="1476375" y="1484313"/>
          <a:ext cx="6329363" cy="1773237"/>
        </p:xfrm>
        <a:graphic>
          <a:graphicData uri="http://schemas.openxmlformats.org/presentationml/2006/ole">
            <mc:AlternateContent xmlns:mc="http://schemas.openxmlformats.org/markup-compatibility/2006">
              <mc:Choice xmlns:v="urn:schemas-microsoft-com:vml" Requires="v">
                <p:oleObj name="Equation" r:id="rId3" imgW="2451100" imgH="685800" progId="Equation.DSMT4">
                  <p:embed/>
                </p:oleObj>
              </mc:Choice>
              <mc:Fallback>
                <p:oleObj name="Equation" r:id="rId3" imgW="2451100" imgH="6858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1484313"/>
                        <a:ext cx="6329363" cy="1773237"/>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23" name="Text Box 27"/>
          <p:cNvSpPr txBox="1">
            <a:spLocks noChangeArrowheads="1"/>
          </p:cNvSpPr>
          <p:nvPr/>
        </p:nvSpPr>
        <p:spPr bwMode="auto">
          <a:xfrm>
            <a:off x="828675" y="3573463"/>
            <a:ext cx="2160588" cy="457200"/>
          </a:xfrm>
          <a:prstGeom prst="rect">
            <a:avLst/>
          </a:prstGeom>
          <a:noFill/>
          <a:ln w="9525">
            <a:noFill/>
            <a:miter lim="800000"/>
            <a:headEnd/>
            <a:tailEnd/>
          </a:ln>
          <a:effectLst/>
        </p:spPr>
        <p:txBody>
          <a:bodyPr>
            <a:spAutoFit/>
          </a:bodyPr>
          <a:lstStyle/>
          <a:p>
            <a:pPr>
              <a:spcBef>
                <a:spcPct val="50000"/>
              </a:spcBef>
              <a:defRPr/>
            </a:pPr>
            <a:r>
              <a:rPr kumimoji="0" lang="zh-CN" altLang="en-US" sz="2400" dirty="0">
                <a:effectLst>
                  <a:outerShdw blurRad="38100" dist="38100" dir="2700000" algn="tl">
                    <a:srgbClr val="C0C0C0"/>
                  </a:outerShdw>
                </a:effectLst>
                <a:latin typeface="Tahoma" pitchFamily="34" charset="0"/>
              </a:rPr>
              <a:t>若系统稳定</a:t>
            </a:r>
          </a:p>
        </p:txBody>
      </p:sp>
      <p:graphicFrame>
        <p:nvGraphicFramePr>
          <p:cNvPr id="48131" name="Object 28"/>
          <p:cNvGraphicFramePr>
            <a:graphicFrameLocks noChangeAspect="1"/>
          </p:cNvGraphicFramePr>
          <p:nvPr/>
        </p:nvGraphicFramePr>
        <p:xfrm>
          <a:off x="2916238" y="3213100"/>
          <a:ext cx="4321175" cy="1120775"/>
        </p:xfrm>
        <a:graphic>
          <a:graphicData uri="http://schemas.openxmlformats.org/presentationml/2006/ole">
            <mc:AlternateContent xmlns:mc="http://schemas.openxmlformats.org/markup-compatibility/2006">
              <mc:Choice xmlns:v="urn:schemas-microsoft-com:vml" Requires="v">
                <p:oleObj name="Equation" r:id="rId5" imgW="1663700" imgH="431800" progId="Equation.DSMT4">
                  <p:embed/>
                </p:oleObj>
              </mc:Choice>
              <mc:Fallback>
                <p:oleObj name="Equation" r:id="rId5" imgW="1663700" imgH="4318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916238" y="3213100"/>
                        <a:ext cx="4321175" cy="112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6525" name="Text Box 29"/>
          <p:cNvSpPr txBox="1">
            <a:spLocks noChangeArrowheads="1"/>
          </p:cNvSpPr>
          <p:nvPr/>
        </p:nvSpPr>
        <p:spPr bwMode="auto">
          <a:xfrm>
            <a:off x="950913" y="4364038"/>
            <a:ext cx="2108200" cy="519112"/>
          </a:xfrm>
          <a:prstGeom prst="rect">
            <a:avLst/>
          </a:prstGeom>
          <a:noFill/>
          <a:ln w="9525" algn="ctr">
            <a:noFill/>
            <a:miter lim="800000"/>
            <a:headEnd/>
            <a:tailEnd/>
          </a:ln>
          <a:effectLst/>
        </p:spPr>
        <p:txBody>
          <a:bodyPr>
            <a:spAutoFit/>
          </a:bodyPr>
          <a:lstStyle/>
          <a:p>
            <a:pPr>
              <a:defRPr/>
            </a:pPr>
            <a:r>
              <a:rPr kumimoji="0" lang="zh-CN" altLang="en-US" sz="2800">
                <a:solidFill>
                  <a:srgbClr val="FF0000"/>
                </a:solidFill>
                <a:effectLst>
                  <a:outerShdw blurRad="38100" dist="38100" dir="2700000" algn="tl">
                    <a:srgbClr val="C0C0C0"/>
                  </a:outerShdw>
                </a:effectLst>
              </a:rPr>
              <a:t>结论：</a:t>
            </a:r>
          </a:p>
        </p:txBody>
      </p:sp>
      <p:sp>
        <p:nvSpPr>
          <p:cNvPr id="106526" name="Text Box 30"/>
          <p:cNvSpPr txBox="1">
            <a:spLocks noChangeArrowheads="1"/>
          </p:cNvSpPr>
          <p:nvPr/>
        </p:nvSpPr>
        <p:spPr bwMode="auto">
          <a:xfrm>
            <a:off x="900113" y="4940300"/>
            <a:ext cx="7942262" cy="457200"/>
          </a:xfrm>
          <a:prstGeom prst="rect">
            <a:avLst/>
          </a:prstGeom>
          <a:noFill/>
          <a:ln w="9525" algn="ctr">
            <a:noFill/>
            <a:miter lim="800000"/>
            <a:headEnd/>
            <a:tailEnd/>
          </a:ln>
          <a:effectLst/>
        </p:spPr>
        <p:txBody>
          <a:bodyPr>
            <a:spAutoFit/>
          </a:bodyPr>
          <a:lstStyle/>
          <a:p>
            <a:pPr>
              <a:defRPr/>
            </a:pPr>
            <a:r>
              <a:rPr kumimoji="0" lang="zh-CN" altLang="en-US" sz="2400" dirty="0">
                <a:solidFill>
                  <a:srgbClr val="0000FF"/>
                </a:solidFill>
                <a:effectLst>
                  <a:outerShdw blurRad="38100" dist="38100" dir="2700000" algn="tl">
                    <a:srgbClr val="C0C0C0"/>
                  </a:outerShdw>
                </a:effectLst>
              </a:rPr>
              <a:t>极点具有负实部，即极点均分布在</a:t>
            </a:r>
            <a:r>
              <a:rPr kumimoji="0" lang="en-US" altLang="zh-CN" sz="2400" i="1" dirty="0">
                <a:solidFill>
                  <a:srgbClr val="0000FF"/>
                </a:solidFill>
                <a:effectLst>
                  <a:outerShdw blurRad="38100" dist="38100" dir="2700000" algn="tl">
                    <a:srgbClr val="C0C0C0"/>
                  </a:outerShdw>
                </a:effectLst>
              </a:rPr>
              <a:t>s</a:t>
            </a:r>
            <a:r>
              <a:rPr kumimoji="0" lang="zh-CN" altLang="en-US" sz="2400" dirty="0">
                <a:solidFill>
                  <a:srgbClr val="0000FF"/>
                </a:solidFill>
                <a:effectLst>
                  <a:outerShdw blurRad="38100" dist="38100" dir="2700000" algn="tl">
                    <a:srgbClr val="C0C0C0"/>
                  </a:outerShdw>
                </a:effectLst>
              </a:rPr>
              <a:t>平面的左半平面。</a:t>
            </a:r>
          </a:p>
        </p:txBody>
      </p:sp>
    </p:spTree>
  </p:cSld>
  <p:clrMapOvr>
    <a:masterClrMapping/>
  </p:clrMapOvr>
  <p:transition>
    <p:zoom/>
  </p:transition>
</p:sld>
</file>

<file path=ppt/slides/slide6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1417" name="Text Box 41"/>
          <p:cNvSpPr txBox="1">
            <a:spLocks noChangeArrowheads="1"/>
          </p:cNvSpPr>
          <p:nvPr/>
        </p:nvSpPr>
        <p:spPr bwMode="auto">
          <a:xfrm>
            <a:off x="827088" y="1341438"/>
            <a:ext cx="5472112"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solidFill>
                  <a:srgbClr val="0000FF"/>
                </a:solidFill>
                <a:effectLst>
                  <a:outerShdw blurRad="38100" dist="38100" dir="2700000" algn="tl">
                    <a:srgbClr val="C0C0C0"/>
                  </a:outerShdw>
                </a:effectLst>
                <a:latin typeface="Tahoma" pitchFamily="34" charset="0"/>
              </a:rPr>
              <a:t>离散系统闭环传递函数为：</a:t>
            </a:r>
          </a:p>
        </p:txBody>
      </p:sp>
      <p:graphicFrame>
        <p:nvGraphicFramePr>
          <p:cNvPr id="49154" name="Object 42"/>
          <p:cNvGraphicFramePr>
            <a:graphicFrameLocks noChangeAspect="1"/>
          </p:cNvGraphicFramePr>
          <p:nvPr/>
        </p:nvGraphicFramePr>
        <p:xfrm>
          <a:off x="863600" y="1846263"/>
          <a:ext cx="6697663" cy="1008062"/>
        </p:xfrm>
        <a:graphic>
          <a:graphicData uri="http://schemas.openxmlformats.org/presentationml/2006/ole">
            <mc:AlternateContent xmlns:mc="http://schemas.openxmlformats.org/markup-compatibility/2006">
              <mc:Choice xmlns:v="urn:schemas-microsoft-com:vml" Requires="v">
                <p:oleObj name="Equation" r:id="rId3" imgW="2336800" imgH="457200" progId="Equation.DSMT4">
                  <p:embed/>
                </p:oleObj>
              </mc:Choice>
              <mc:Fallback>
                <p:oleObj name="Equation" r:id="rId3" imgW="2336800" imgH="4572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63600" y="1846263"/>
                        <a:ext cx="6697663"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1419" name="Text Box 43"/>
          <p:cNvSpPr txBox="1">
            <a:spLocks noChangeArrowheads="1"/>
          </p:cNvSpPr>
          <p:nvPr/>
        </p:nvSpPr>
        <p:spPr bwMode="auto">
          <a:xfrm>
            <a:off x="1001713" y="3027363"/>
            <a:ext cx="2016125"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latin typeface="Tahoma" pitchFamily="34" charset="0"/>
              </a:rPr>
              <a:t>假设</a:t>
            </a:r>
          </a:p>
        </p:txBody>
      </p:sp>
      <p:graphicFrame>
        <p:nvGraphicFramePr>
          <p:cNvPr id="49155" name="Object 44"/>
          <p:cNvGraphicFramePr>
            <a:graphicFrameLocks noChangeAspect="1"/>
          </p:cNvGraphicFramePr>
          <p:nvPr/>
        </p:nvGraphicFramePr>
        <p:xfrm>
          <a:off x="1778000" y="3070225"/>
          <a:ext cx="1454150" cy="474663"/>
        </p:xfrm>
        <a:graphic>
          <a:graphicData uri="http://schemas.openxmlformats.org/presentationml/2006/ole">
            <mc:AlternateContent xmlns:mc="http://schemas.openxmlformats.org/markup-compatibility/2006">
              <mc:Choice xmlns:v="urn:schemas-microsoft-com:vml" Requires="v">
                <p:oleObj name="Equation" r:id="rId5" imgW="622030" imgH="203112" progId="Equation.DSMT4">
                  <p:embed/>
                </p:oleObj>
              </mc:Choice>
              <mc:Fallback>
                <p:oleObj name="Equation" r:id="rId5" imgW="622030" imgH="203112"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78000" y="3070225"/>
                        <a:ext cx="1454150" cy="47466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49156" name="Object 45"/>
          <p:cNvGraphicFramePr>
            <a:graphicFrameLocks noChangeAspect="1"/>
          </p:cNvGraphicFramePr>
          <p:nvPr/>
        </p:nvGraphicFramePr>
        <p:xfrm>
          <a:off x="719138" y="3575050"/>
          <a:ext cx="7534275" cy="2016125"/>
        </p:xfrm>
        <a:graphic>
          <a:graphicData uri="http://schemas.openxmlformats.org/presentationml/2006/ole">
            <mc:AlternateContent xmlns:mc="http://schemas.openxmlformats.org/markup-compatibility/2006">
              <mc:Choice xmlns:v="urn:schemas-microsoft-com:vml" Requires="v">
                <p:oleObj name="Equation" r:id="rId7" imgW="2628900" imgH="914400" progId="Equation.DSMT4">
                  <p:embed/>
                </p:oleObj>
              </mc:Choice>
              <mc:Fallback>
                <p:oleObj name="Equation" r:id="rId7" imgW="2628900" imgH="9144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19138" y="3575050"/>
                        <a:ext cx="7534275" cy="2016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p:transition>
</p:sld>
</file>

<file path=ppt/slides/slide6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50178" name="Object 54"/>
          <p:cNvGraphicFramePr>
            <a:graphicFrameLocks noChangeAspect="1"/>
          </p:cNvGraphicFramePr>
          <p:nvPr/>
        </p:nvGraphicFramePr>
        <p:xfrm>
          <a:off x="4787900" y="1557338"/>
          <a:ext cx="3379788" cy="1009650"/>
        </p:xfrm>
        <a:graphic>
          <a:graphicData uri="http://schemas.openxmlformats.org/presentationml/2006/ole">
            <mc:AlternateContent xmlns:mc="http://schemas.openxmlformats.org/markup-compatibility/2006">
              <mc:Choice xmlns:v="urn:schemas-microsoft-com:vml" Requires="v">
                <p:oleObj name="Equation" r:id="rId3" imgW="1447800" imgH="431800" progId="Equation.DSMT4">
                  <p:embed/>
                </p:oleObj>
              </mc:Choice>
              <mc:Fallback>
                <p:oleObj name="Equation" r:id="rId3" imgW="1447800" imgH="431800"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87900" y="1557338"/>
                        <a:ext cx="3379788" cy="10096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527" name="Text Box 55"/>
          <p:cNvSpPr txBox="1">
            <a:spLocks noChangeArrowheads="1"/>
          </p:cNvSpPr>
          <p:nvPr/>
        </p:nvSpPr>
        <p:spPr bwMode="auto">
          <a:xfrm>
            <a:off x="744538" y="3070225"/>
            <a:ext cx="2160587"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latin typeface="Tahoma" pitchFamily="34" charset="0"/>
              </a:rPr>
              <a:t>若系统稳定</a:t>
            </a:r>
          </a:p>
        </p:txBody>
      </p:sp>
      <p:graphicFrame>
        <p:nvGraphicFramePr>
          <p:cNvPr id="50179" name="Object 56"/>
          <p:cNvGraphicFramePr>
            <a:graphicFrameLocks noChangeAspect="1"/>
          </p:cNvGraphicFramePr>
          <p:nvPr/>
        </p:nvGraphicFramePr>
        <p:xfrm>
          <a:off x="2843213" y="2781300"/>
          <a:ext cx="4157662" cy="1120775"/>
        </p:xfrm>
        <a:graphic>
          <a:graphicData uri="http://schemas.openxmlformats.org/presentationml/2006/ole">
            <mc:AlternateContent xmlns:mc="http://schemas.openxmlformats.org/markup-compatibility/2006">
              <mc:Choice xmlns:v="urn:schemas-microsoft-com:vml" Requires="v">
                <p:oleObj name="Equation" r:id="rId5" imgW="1600200" imgH="431800" progId="Equation.DSMT4">
                  <p:embed/>
                </p:oleObj>
              </mc:Choice>
              <mc:Fallback>
                <p:oleObj name="Equation" r:id="rId5" imgW="1600200" imgH="4318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843213" y="2781300"/>
                        <a:ext cx="4157662" cy="11207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graphicFrame>
        <p:nvGraphicFramePr>
          <p:cNvPr id="50180" name="Object 57"/>
          <p:cNvGraphicFramePr>
            <a:graphicFrameLocks noChangeAspect="1"/>
          </p:cNvGraphicFramePr>
          <p:nvPr/>
        </p:nvGraphicFramePr>
        <p:xfrm>
          <a:off x="755650" y="1557338"/>
          <a:ext cx="3556000" cy="989012"/>
        </p:xfrm>
        <a:graphic>
          <a:graphicData uri="http://schemas.openxmlformats.org/presentationml/2006/ole">
            <mc:AlternateContent xmlns:mc="http://schemas.openxmlformats.org/markup-compatibility/2006">
              <mc:Choice xmlns:v="urn:schemas-microsoft-com:vml" Requires="v">
                <p:oleObj name="Equation" r:id="rId7" imgW="1600200" imgH="444500" progId="Equation.DSMT4">
                  <p:embed/>
                </p:oleObj>
              </mc:Choice>
              <mc:Fallback>
                <p:oleObj name="Equation" r:id="rId7" imgW="1600200" imgH="444500"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755650" y="1557338"/>
                        <a:ext cx="3556000" cy="9890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oleObj>
              </mc:Fallback>
            </mc:AlternateContent>
          </a:graphicData>
        </a:graphic>
      </p:graphicFrame>
      <p:sp>
        <p:nvSpPr>
          <p:cNvPr id="105530" name="Text Box 58"/>
          <p:cNvSpPr txBox="1">
            <a:spLocks noChangeArrowheads="1"/>
          </p:cNvSpPr>
          <p:nvPr/>
        </p:nvSpPr>
        <p:spPr bwMode="auto">
          <a:xfrm>
            <a:off x="1331913" y="4005263"/>
            <a:ext cx="2160587" cy="519112"/>
          </a:xfrm>
          <a:prstGeom prst="rect">
            <a:avLst/>
          </a:prstGeom>
          <a:noFill/>
          <a:ln w="9525" algn="ctr">
            <a:noFill/>
            <a:miter lim="800000"/>
            <a:headEnd/>
            <a:tailEnd/>
          </a:ln>
          <a:effectLst/>
        </p:spPr>
        <p:txBody>
          <a:bodyPr>
            <a:spAutoFit/>
          </a:bodyPr>
          <a:lstStyle/>
          <a:p>
            <a:pPr>
              <a:defRPr/>
            </a:pPr>
            <a:r>
              <a:rPr kumimoji="0" lang="zh-CN" altLang="en-US" sz="2800">
                <a:solidFill>
                  <a:srgbClr val="FF0000"/>
                </a:solidFill>
                <a:effectLst>
                  <a:outerShdw blurRad="38100" dist="38100" dir="2700000" algn="tl">
                    <a:srgbClr val="C0C0C0"/>
                  </a:outerShdw>
                </a:effectLst>
              </a:rPr>
              <a:t>结论：</a:t>
            </a:r>
          </a:p>
        </p:txBody>
      </p:sp>
      <p:sp>
        <p:nvSpPr>
          <p:cNvPr id="105531" name="Rectangle 59"/>
          <p:cNvSpPr>
            <a:spLocks noChangeArrowheads="1"/>
          </p:cNvSpPr>
          <p:nvPr/>
        </p:nvSpPr>
        <p:spPr bwMode="auto">
          <a:xfrm>
            <a:off x="0" y="3098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0181" name="Object 60"/>
          <p:cNvGraphicFramePr>
            <a:graphicFrameLocks noChangeAspect="1"/>
          </p:cNvGraphicFramePr>
          <p:nvPr/>
        </p:nvGraphicFramePr>
        <p:xfrm>
          <a:off x="2916238" y="4076700"/>
          <a:ext cx="936625" cy="511175"/>
        </p:xfrm>
        <a:graphic>
          <a:graphicData uri="http://schemas.openxmlformats.org/presentationml/2006/ole">
            <mc:AlternateContent xmlns:mc="http://schemas.openxmlformats.org/markup-compatibility/2006">
              <mc:Choice xmlns:v="urn:schemas-microsoft-com:vml" Requires="v">
                <p:oleObj name="Equation" r:id="rId9" imgW="419100" imgH="228600" progId="Equation.DSMT4">
                  <p:embed/>
                </p:oleObj>
              </mc:Choice>
              <mc:Fallback>
                <p:oleObj name="Equation" r:id="rId9" imgW="419100" imgH="22860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916238" y="4076700"/>
                        <a:ext cx="93662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5533" name="Text Box 61"/>
          <p:cNvSpPr txBox="1">
            <a:spLocks noChangeArrowheads="1"/>
          </p:cNvSpPr>
          <p:nvPr/>
        </p:nvSpPr>
        <p:spPr bwMode="auto">
          <a:xfrm>
            <a:off x="1095375" y="4745038"/>
            <a:ext cx="7653338" cy="822325"/>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即：闭环脉冲传递函数的全部极点位于</a:t>
            </a:r>
            <a:r>
              <a:rPr kumimoji="0" lang="en-US" altLang="zh-CN" sz="2400" i="1">
                <a:solidFill>
                  <a:srgbClr val="0000FF"/>
                </a:solidFill>
                <a:effectLst>
                  <a:outerShdw blurRad="38100" dist="38100" dir="2700000" algn="tl">
                    <a:srgbClr val="C0C0C0"/>
                  </a:outerShdw>
                </a:effectLst>
              </a:rPr>
              <a:t>z</a:t>
            </a:r>
            <a:r>
              <a:rPr kumimoji="0" lang="zh-CN" altLang="en-US" sz="2400">
                <a:solidFill>
                  <a:srgbClr val="0000FF"/>
                </a:solidFill>
                <a:effectLst>
                  <a:outerShdw blurRad="38100" dist="38100" dir="2700000" algn="tl">
                    <a:srgbClr val="C0C0C0"/>
                  </a:outerShdw>
                </a:effectLst>
              </a:rPr>
              <a:t>平面上以原点为圆心的单位圆内。</a:t>
            </a:r>
          </a:p>
        </p:txBody>
      </p:sp>
    </p:spTree>
  </p:cSld>
  <p:clrMapOvr>
    <a:masterClrMapping/>
  </p:clrMapOvr>
  <p:transition>
    <p:zoom dir="in"/>
  </p:transition>
</p:sld>
</file>

<file path=ppt/slides/slide6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4499" name="Text Box 51"/>
          <p:cNvSpPr txBox="1">
            <a:spLocks noChangeArrowheads="1"/>
          </p:cNvSpPr>
          <p:nvPr/>
        </p:nvSpPr>
        <p:spPr bwMode="auto">
          <a:xfrm>
            <a:off x="684213" y="404813"/>
            <a:ext cx="6769100" cy="579437"/>
          </a:xfrm>
          <a:prstGeom prst="rect">
            <a:avLst/>
          </a:prstGeom>
          <a:noFill/>
          <a:ln w="9525" algn="ctr">
            <a:noFill/>
            <a:miter lim="800000"/>
            <a:headEnd/>
            <a:tailEnd/>
          </a:ln>
          <a:effectLst/>
        </p:spPr>
        <p:txBody>
          <a:bodyPr>
            <a:spAutoFit/>
          </a:bodyPr>
          <a:lstStyle/>
          <a:p>
            <a:pPr>
              <a:defRPr/>
            </a:pPr>
            <a:r>
              <a:rPr kumimoji="0" lang="en-US" altLang="zh-CN" sz="3200">
                <a:solidFill>
                  <a:srgbClr val="0000FF"/>
                </a:solidFill>
                <a:effectLst>
                  <a:outerShdw blurRad="38100" dist="38100" dir="2700000" algn="tl">
                    <a:srgbClr val="C0C0C0"/>
                  </a:outerShdw>
                </a:effectLst>
              </a:rPr>
              <a:t>3.4.2 </a:t>
            </a:r>
            <a:r>
              <a:rPr kumimoji="0" lang="en-US" altLang="zh-CN" sz="3200" i="1">
                <a:solidFill>
                  <a:srgbClr val="0000FF"/>
                </a:solidFill>
                <a:effectLst>
                  <a:outerShdw blurRad="38100" dist="38100" dir="2700000" algn="tl">
                    <a:srgbClr val="C0C0C0"/>
                  </a:outerShdw>
                </a:effectLst>
              </a:rPr>
              <a:t>s</a:t>
            </a:r>
            <a:r>
              <a:rPr kumimoji="0" lang="zh-CN" altLang="en-US" sz="3200">
                <a:solidFill>
                  <a:srgbClr val="0000FF"/>
                </a:solidFill>
                <a:effectLst>
                  <a:outerShdw blurRad="38100" dist="38100" dir="2700000" algn="tl">
                    <a:srgbClr val="C0C0C0"/>
                  </a:outerShdw>
                </a:effectLst>
              </a:rPr>
              <a:t>平面与</a:t>
            </a:r>
            <a:r>
              <a:rPr kumimoji="0" lang="en-US" altLang="zh-CN" sz="3200" i="1">
                <a:solidFill>
                  <a:srgbClr val="0000FF"/>
                </a:solidFill>
                <a:effectLst>
                  <a:outerShdw blurRad="38100" dist="38100" dir="2700000" algn="tl">
                    <a:srgbClr val="C0C0C0"/>
                  </a:outerShdw>
                </a:effectLst>
              </a:rPr>
              <a:t>z</a:t>
            </a:r>
            <a:r>
              <a:rPr kumimoji="0" lang="zh-CN" altLang="en-US" sz="3200">
                <a:solidFill>
                  <a:srgbClr val="0000FF"/>
                </a:solidFill>
                <a:effectLst>
                  <a:outerShdw blurRad="38100" dist="38100" dir="2700000" algn="tl">
                    <a:srgbClr val="C0C0C0"/>
                  </a:outerShdw>
                </a:effectLst>
              </a:rPr>
              <a:t>平面的映射分析</a:t>
            </a:r>
          </a:p>
        </p:txBody>
      </p:sp>
      <p:sp>
        <p:nvSpPr>
          <p:cNvPr id="104500" name="Text Box 52"/>
          <p:cNvSpPr txBox="1">
            <a:spLocks noChangeArrowheads="1"/>
          </p:cNvSpPr>
          <p:nvPr/>
        </p:nvSpPr>
        <p:spPr bwMode="auto">
          <a:xfrm>
            <a:off x="757238" y="1800225"/>
            <a:ext cx="7580312" cy="2353658"/>
          </a:xfrm>
          <a:prstGeom prst="rect">
            <a:avLst/>
          </a:prstGeom>
          <a:noFill/>
          <a:ln w="9525" algn="ctr">
            <a:noFill/>
            <a:miter lim="800000"/>
            <a:headEnd/>
            <a:tailEnd/>
          </a:ln>
          <a:effectLst/>
        </p:spPr>
        <p:txBody>
          <a:bodyPr>
            <a:spAutoFit/>
          </a:bodyPr>
          <a:lstStyle/>
          <a:p>
            <a:pPr algn="just">
              <a:lnSpc>
                <a:spcPct val="125000"/>
              </a:lnSpc>
              <a:defRPr/>
            </a:pP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复变量 </a:t>
            </a:r>
            <a:r>
              <a:rPr kumimoji="0" lang="en-US" altLang="zh-CN" sz="2400" i="1" dirty="0">
                <a:effectLst>
                  <a:outerShdw blurRad="38100" dist="38100" dir="2700000" algn="tl">
                    <a:srgbClr val="C0C0C0"/>
                  </a:outerShdw>
                </a:effectLst>
              </a:rPr>
              <a:t>s</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与 </a:t>
            </a:r>
            <a:r>
              <a:rPr kumimoji="0" lang="en-US" altLang="zh-CN" sz="2400" i="1" dirty="0">
                <a:effectLst>
                  <a:outerShdw blurRad="38100" dist="38100" dir="2700000" algn="tl">
                    <a:srgbClr val="C0C0C0"/>
                  </a:outerShdw>
                </a:effectLst>
              </a:rPr>
              <a:t>z</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的关系为：           ，</a:t>
            </a:r>
            <a:r>
              <a:rPr kumimoji="0" lang="en-US" altLang="zh-CN" sz="2400" i="1" dirty="0">
                <a:effectLst>
                  <a:outerShdw blurRad="38100" dist="38100" dir="2700000" algn="tl">
                    <a:srgbClr val="C0C0C0"/>
                  </a:outerShdw>
                </a:effectLst>
              </a:rPr>
              <a:t>T</a:t>
            </a:r>
            <a:r>
              <a:rPr kumimoji="0" lang="zh-CN" altLang="en-US" sz="2400" dirty="0">
                <a:effectLst>
                  <a:outerShdw blurRad="38100" dist="38100" dir="2700000" algn="tl">
                    <a:srgbClr val="C0C0C0"/>
                  </a:outerShdw>
                </a:effectLst>
              </a:rPr>
              <a:t>为采样周期。</a:t>
            </a:r>
          </a:p>
          <a:p>
            <a:pPr algn="just">
              <a:lnSpc>
                <a:spcPct val="125000"/>
              </a:lnSpc>
              <a:defRPr/>
            </a:pPr>
            <a:r>
              <a:rPr kumimoji="0" lang="zh-CN" altLang="en-US" sz="2400" dirty="0">
                <a:effectLst>
                  <a:outerShdw blurRad="38100" dist="38100" dir="2700000" algn="tl">
                    <a:srgbClr val="C0C0C0"/>
                  </a:outerShdw>
                </a:effectLst>
              </a:rPr>
              <a:t>     当                        时，                                         ，其幅</a:t>
            </a:r>
          </a:p>
          <a:p>
            <a:pPr algn="just">
              <a:lnSpc>
                <a:spcPct val="125000"/>
              </a:lnSpc>
              <a:defRPr/>
            </a:pPr>
            <a:r>
              <a:rPr kumimoji="0" lang="zh-CN" altLang="en-US" sz="2400" dirty="0">
                <a:effectLst>
                  <a:outerShdw blurRad="38100" dist="38100" dir="2700000" algn="tl">
                    <a:srgbClr val="C0C0C0"/>
                  </a:outerShdw>
                </a:effectLst>
              </a:rPr>
              <a:t>值为            ，相角为      ，当 </a:t>
            </a:r>
            <a:r>
              <a:rPr kumimoji="0" lang="en-US" altLang="zh-CN" sz="2400" i="1" dirty="0">
                <a:effectLst>
                  <a:outerShdw blurRad="38100" dist="38100" dir="2700000" algn="tl">
                    <a:srgbClr val="C0C0C0"/>
                  </a:outerShdw>
                </a:effectLst>
              </a:rPr>
              <a:t>s</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位于</a:t>
            </a:r>
            <a:r>
              <a:rPr kumimoji="0" lang="en-US" altLang="zh-CN" sz="2400" i="1" dirty="0">
                <a:effectLst>
                  <a:outerShdw blurRad="38100" dist="38100" dir="2700000" algn="tl">
                    <a:srgbClr val="C0C0C0"/>
                  </a:outerShdw>
                </a:effectLst>
              </a:rPr>
              <a:t>s</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平面虚轴的左半部时，   为负数，这时          ，反之，若 </a:t>
            </a:r>
            <a:r>
              <a:rPr kumimoji="0" lang="en-US" altLang="zh-CN" sz="2400" i="1" dirty="0">
                <a:effectLst>
                  <a:outerShdw blurRad="38100" dist="38100" dir="2700000" algn="tl">
                    <a:srgbClr val="C0C0C0"/>
                  </a:outerShdw>
                </a:effectLst>
              </a:rPr>
              <a:t>s </a:t>
            </a:r>
            <a:r>
              <a:rPr kumimoji="0" lang="zh-CN" altLang="en-US" sz="2400" dirty="0">
                <a:effectLst>
                  <a:outerShdw blurRad="38100" dist="38100" dir="2700000" algn="tl">
                    <a:srgbClr val="C0C0C0"/>
                  </a:outerShdw>
                </a:effectLst>
              </a:rPr>
              <a:t>位于虚轴的右半部时，  为正数，         。</a:t>
            </a:r>
          </a:p>
        </p:txBody>
      </p:sp>
      <p:graphicFrame>
        <p:nvGraphicFramePr>
          <p:cNvPr id="51202" name="Object 53"/>
          <p:cNvGraphicFramePr>
            <a:graphicFrameLocks noChangeAspect="1"/>
          </p:cNvGraphicFramePr>
          <p:nvPr/>
        </p:nvGraphicFramePr>
        <p:xfrm>
          <a:off x="4378325" y="1873250"/>
          <a:ext cx="1030288" cy="506413"/>
        </p:xfrm>
        <a:graphic>
          <a:graphicData uri="http://schemas.openxmlformats.org/presentationml/2006/ole">
            <mc:AlternateContent xmlns:mc="http://schemas.openxmlformats.org/markup-compatibility/2006">
              <mc:Choice xmlns:v="urn:schemas-microsoft-com:vml" Requires="v">
                <p:oleObj name="Equation" r:id="rId3" imgW="380835" imgH="190417" progId="Equation.DSMT4">
                  <p:embed/>
                </p:oleObj>
              </mc:Choice>
              <mc:Fallback>
                <p:oleObj name="Equation" r:id="rId3" imgW="380835" imgH="190417" progId="Equation.DSMT4">
                  <p:embed/>
                  <p:pic>
                    <p:nvPicPr>
                      <p:cNvPr id="0" name="Picture 5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378325" y="1873250"/>
                        <a:ext cx="1030288" cy="5064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3" name="Object 54"/>
          <p:cNvGraphicFramePr>
            <a:graphicFrameLocks noChangeAspect="1"/>
          </p:cNvGraphicFramePr>
          <p:nvPr>
            <p:extLst>
              <p:ext uri="{D42A27DB-BD31-4B8C-83A1-F6EECF244321}">
                <p14:modId xmlns:p14="http://schemas.microsoft.com/office/powerpoint/2010/main" val="2955470612"/>
              </p:ext>
            </p:extLst>
          </p:nvPr>
        </p:nvGraphicFramePr>
        <p:xfrm>
          <a:off x="1668463" y="2376488"/>
          <a:ext cx="1482725" cy="409575"/>
        </p:xfrm>
        <a:graphic>
          <a:graphicData uri="http://schemas.openxmlformats.org/presentationml/2006/ole">
            <mc:AlternateContent xmlns:mc="http://schemas.openxmlformats.org/markup-compatibility/2006">
              <mc:Choice xmlns:v="urn:schemas-microsoft-com:vml" Requires="v">
                <p:oleObj name="Equation" r:id="rId5" imgW="685800" imgH="190440" progId="Equation.DSMT4">
                  <p:embed/>
                </p:oleObj>
              </mc:Choice>
              <mc:Fallback>
                <p:oleObj name="Equation" r:id="rId5" imgW="685800" imgH="190440" progId="Equation.DSMT4">
                  <p:embed/>
                  <p:pic>
                    <p:nvPicPr>
                      <p:cNvPr id="0" name="Picture 59"/>
                      <p:cNvPicPr>
                        <a:picLocks noChangeAspect="1" noChangeArrowheads="1"/>
                      </p:cNvPicPr>
                      <p:nvPr/>
                    </p:nvPicPr>
                    <p:blipFill>
                      <a:blip r:embed="rId6"/>
                      <a:srcRect/>
                      <a:stretch>
                        <a:fillRect/>
                      </a:stretch>
                    </p:blipFill>
                    <p:spPr bwMode="auto">
                      <a:xfrm>
                        <a:off x="1668463" y="2376488"/>
                        <a:ext cx="1482725" cy="409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4" name="Object 55"/>
          <p:cNvGraphicFramePr>
            <a:graphicFrameLocks noChangeAspect="1"/>
          </p:cNvGraphicFramePr>
          <p:nvPr/>
        </p:nvGraphicFramePr>
        <p:xfrm>
          <a:off x="3944938" y="2305050"/>
          <a:ext cx="3205162" cy="520700"/>
        </p:xfrm>
        <a:graphic>
          <a:graphicData uri="http://schemas.openxmlformats.org/presentationml/2006/ole">
            <mc:AlternateContent xmlns:mc="http://schemas.openxmlformats.org/markup-compatibility/2006">
              <mc:Choice xmlns:v="urn:schemas-microsoft-com:vml" Requires="v">
                <p:oleObj name="Equation" r:id="rId7" imgW="1422400" imgH="190500" progId="Equation.DSMT4">
                  <p:embed/>
                </p:oleObj>
              </mc:Choice>
              <mc:Fallback>
                <p:oleObj name="Equation" r:id="rId7" imgW="1422400" imgH="190500" progId="Equation.DSMT4">
                  <p:embed/>
                  <p:pic>
                    <p:nvPicPr>
                      <p:cNvPr id="0" name="Picture 60"/>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944938" y="2305050"/>
                        <a:ext cx="3205162" cy="520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5" name="Object 56"/>
          <p:cNvGraphicFramePr>
            <a:graphicFrameLocks noChangeAspect="1"/>
          </p:cNvGraphicFramePr>
          <p:nvPr>
            <p:extLst>
              <p:ext uri="{D42A27DB-BD31-4B8C-83A1-F6EECF244321}">
                <p14:modId xmlns:p14="http://schemas.microsoft.com/office/powerpoint/2010/main" val="1099335754"/>
              </p:ext>
            </p:extLst>
          </p:nvPr>
        </p:nvGraphicFramePr>
        <p:xfrm>
          <a:off x="1497013" y="2808288"/>
          <a:ext cx="903287" cy="473075"/>
        </p:xfrm>
        <a:graphic>
          <a:graphicData uri="http://schemas.openxmlformats.org/presentationml/2006/ole">
            <mc:AlternateContent xmlns:mc="http://schemas.openxmlformats.org/markup-compatibility/2006">
              <mc:Choice xmlns:v="urn:schemas-microsoft-com:vml" Requires="v">
                <p:oleObj name="Equation" r:id="rId9" imgW="444307" imgH="228501" progId="Equation.DSMT4">
                  <p:embed/>
                </p:oleObj>
              </mc:Choice>
              <mc:Fallback>
                <p:oleObj name="Equation" r:id="rId9" imgW="444307" imgH="228501" progId="Equation.DSMT4">
                  <p:embed/>
                  <p:pic>
                    <p:nvPicPr>
                      <p:cNvPr id="0" name="Picture 61"/>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7013" y="2808288"/>
                        <a:ext cx="903287" cy="4730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6" name="Object 57"/>
          <p:cNvGraphicFramePr>
            <a:graphicFrameLocks noChangeAspect="1"/>
          </p:cNvGraphicFramePr>
          <p:nvPr>
            <p:extLst>
              <p:ext uri="{D42A27DB-BD31-4B8C-83A1-F6EECF244321}">
                <p14:modId xmlns:p14="http://schemas.microsoft.com/office/powerpoint/2010/main" val="4145704332"/>
              </p:ext>
            </p:extLst>
          </p:nvPr>
        </p:nvGraphicFramePr>
        <p:xfrm>
          <a:off x="1305771" y="3281363"/>
          <a:ext cx="382483" cy="358775"/>
        </p:xfrm>
        <a:graphic>
          <a:graphicData uri="http://schemas.openxmlformats.org/presentationml/2006/ole">
            <mc:AlternateContent xmlns:mc="http://schemas.openxmlformats.org/markup-compatibility/2006">
              <mc:Choice xmlns:v="urn:schemas-microsoft-com:vml" Requires="v">
                <p:oleObj name="Equation" r:id="rId11" imgW="152280" imgH="139680" progId="Equation.DSMT4">
                  <p:embed/>
                </p:oleObj>
              </mc:Choice>
              <mc:Fallback>
                <p:oleObj name="Equation" r:id="rId11" imgW="152280" imgH="139680" progId="Equation.DSMT4">
                  <p:embed/>
                  <p:pic>
                    <p:nvPicPr>
                      <p:cNvPr id="0" name="Picture 62"/>
                      <p:cNvPicPr>
                        <a:picLocks noChangeAspect="1" noChangeArrowheads="1"/>
                      </p:cNvPicPr>
                      <p:nvPr/>
                    </p:nvPicPr>
                    <p:blipFill>
                      <a:blip r:embed="rId12"/>
                      <a:srcRect/>
                      <a:stretch>
                        <a:fillRect/>
                      </a:stretch>
                    </p:blipFill>
                    <p:spPr bwMode="auto">
                      <a:xfrm>
                        <a:off x="1305771" y="3281363"/>
                        <a:ext cx="382483" cy="358775"/>
                      </a:xfrm>
                      <a:prstGeom prst="rect">
                        <a:avLst/>
                      </a:prstGeom>
                      <a:noFill/>
                    </p:spPr>
                  </p:pic>
                </p:oleObj>
              </mc:Fallback>
            </mc:AlternateContent>
          </a:graphicData>
        </a:graphic>
      </p:graphicFrame>
      <p:graphicFrame>
        <p:nvGraphicFramePr>
          <p:cNvPr id="51207" name="Object 58"/>
          <p:cNvGraphicFramePr>
            <a:graphicFrameLocks noChangeAspect="1"/>
          </p:cNvGraphicFramePr>
          <p:nvPr>
            <p:extLst>
              <p:ext uri="{D42A27DB-BD31-4B8C-83A1-F6EECF244321}">
                <p14:modId xmlns:p14="http://schemas.microsoft.com/office/powerpoint/2010/main" val="2096019388"/>
              </p:ext>
            </p:extLst>
          </p:nvPr>
        </p:nvGraphicFramePr>
        <p:xfrm>
          <a:off x="3572669" y="3208956"/>
          <a:ext cx="744537" cy="488950"/>
        </p:xfrm>
        <a:graphic>
          <a:graphicData uri="http://schemas.openxmlformats.org/presentationml/2006/ole">
            <mc:AlternateContent xmlns:mc="http://schemas.openxmlformats.org/markup-compatibility/2006">
              <mc:Choice xmlns:v="urn:schemas-microsoft-com:vml" Requires="v">
                <p:oleObj name="Equation" r:id="rId13" imgW="330057" imgH="215806" progId="Equation.DSMT4">
                  <p:embed/>
                </p:oleObj>
              </mc:Choice>
              <mc:Fallback>
                <p:oleObj name="Equation" r:id="rId13" imgW="330057" imgH="215806" progId="Equation.DSMT4">
                  <p:embed/>
                  <p:pic>
                    <p:nvPicPr>
                      <p:cNvPr id="0" name="Picture 63"/>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572669" y="3208956"/>
                        <a:ext cx="744537" cy="4889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8" name="Object 59"/>
          <p:cNvGraphicFramePr>
            <a:graphicFrameLocks noChangeAspect="1"/>
          </p:cNvGraphicFramePr>
          <p:nvPr>
            <p:extLst>
              <p:ext uri="{D42A27DB-BD31-4B8C-83A1-F6EECF244321}">
                <p14:modId xmlns:p14="http://schemas.microsoft.com/office/powerpoint/2010/main" val="1848756008"/>
              </p:ext>
            </p:extLst>
          </p:nvPr>
        </p:nvGraphicFramePr>
        <p:xfrm>
          <a:off x="1564481" y="3736976"/>
          <a:ext cx="384175" cy="360362"/>
        </p:xfrm>
        <a:graphic>
          <a:graphicData uri="http://schemas.openxmlformats.org/presentationml/2006/ole">
            <mc:AlternateContent xmlns:mc="http://schemas.openxmlformats.org/markup-compatibility/2006">
              <mc:Choice xmlns:v="urn:schemas-microsoft-com:vml" Requires="v">
                <p:oleObj r:id="rId11" imgW="152334" imgH="139639" progId="Equation.3">
                  <p:embed/>
                </p:oleObj>
              </mc:Choice>
              <mc:Fallback>
                <p:oleObj r:id="rId11" imgW="152334" imgH="139639" progId="Equation.3">
                  <p:embed/>
                  <p:pic>
                    <p:nvPicPr>
                      <p:cNvPr id="0" name="Picture 64"/>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564481" y="3736976"/>
                        <a:ext cx="384175" cy="360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1209" name="Object 60"/>
          <p:cNvGraphicFramePr>
            <a:graphicFrameLocks noChangeAspect="1"/>
          </p:cNvGraphicFramePr>
          <p:nvPr>
            <p:extLst>
              <p:ext uri="{D42A27DB-BD31-4B8C-83A1-F6EECF244321}">
                <p14:modId xmlns:p14="http://schemas.microsoft.com/office/powerpoint/2010/main" val="2829605607"/>
              </p:ext>
            </p:extLst>
          </p:nvPr>
        </p:nvGraphicFramePr>
        <p:xfrm>
          <a:off x="3085220" y="3655591"/>
          <a:ext cx="735012" cy="484187"/>
        </p:xfrm>
        <a:graphic>
          <a:graphicData uri="http://schemas.openxmlformats.org/presentationml/2006/ole">
            <mc:AlternateContent xmlns:mc="http://schemas.openxmlformats.org/markup-compatibility/2006">
              <mc:Choice xmlns:v="urn:schemas-microsoft-com:vml" Requires="v">
                <p:oleObj name="Equation" r:id="rId16" imgW="330057" imgH="215806" progId="Equation.DSMT4">
                  <p:embed/>
                </p:oleObj>
              </mc:Choice>
              <mc:Fallback>
                <p:oleObj name="Equation" r:id="rId16" imgW="330057" imgH="215806" progId="Equation.DSMT4">
                  <p:embed/>
                  <p:pic>
                    <p:nvPicPr>
                      <p:cNvPr id="0" name="Picture 65"/>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3085220" y="3655591"/>
                        <a:ext cx="735012" cy="4841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2" name="Object 56">
            <a:extLst>
              <a:ext uri="{FF2B5EF4-FFF2-40B4-BE49-F238E27FC236}">
                <a16:creationId xmlns:a16="http://schemas.microsoft.com/office/drawing/2014/main" id="{ED6BEDA9-820C-45DF-6DC1-CFEE98905244}"/>
              </a:ext>
            </a:extLst>
          </p:cNvPr>
          <p:cNvGraphicFramePr>
            <a:graphicFrameLocks noChangeAspect="1"/>
          </p:cNvGraphicFramePr>
          <p:nvPr>
            <p:extLst>
              <p:ext uri="{D42A27DB-BD31-4B8C-83A1-F6EECF244321}">
                <p14:modId xmlns:p14="http://schemas.microsoft.com/office/powerpoint/2010/main" val="547165082"/>
              </p:ext>
            </p:extLst>
          </p:nvPr>
        </p:nvGraphicFramePr>
        <p:xfrm>
          <a:off x="3629025" y="2852737"/>
          <a:ext cx="439738" cy="315913"/>
        </p:xfrm>
        <a:graphic>
          <a:graphicData uri="http://schemas.openxmlformats.org/presentationml/2006/ole">
            <mc:AlternateContent xmlns:mc="http://schemas.openxmlformats.org/markup-compatibility/2006">
              <mc:Choice xmlns:v="urn:schemas-microsoft-com:vml" Requires="v">
                <p:oleObj name="Equation" r:id="rId18" imgW="215640" imgH="152280" progId="Equation.DSMT4">
                  <p:embed/>
                </p:oleObj>
              </mc:Choice>
              <mc:Fallback>
                <p:oleObj name="Equation" r:id="rId18" imgW="215640" imgH="152280" progId="Equation.DSMT4">
                  <p:embed/>
                  <p:pic>
                    <p:nvPicPr>
                      <p:cNvPr id="51205" name="Object 56"/>
                      <p:cNvPicPr>
                        <a:picLocks noChangeAspect="1" noChangeArrowheads="1"/>
                      </p:cNvPicPr>
                      <p:nvPr/>
                    </p:nvPicPr>
                    <p:blipFill>
                      <a:blip r:embed="rId19"/>
                      <a:srcRect/>
                      <a:stretch>
                        <a:fillRect/>
                      </a:stretch>
                    </p:blipFill>
                    <p:spPr bwMode="auto">
                      <a:xfrm>
                        <a:off x="3629025" y="2852737"/>
                        <a:ext cx="439738" cy="315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zoom dir="in"/>
  </p:transition>
</p:sld>
</file>

<file path=ppt/slides/slide6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23906" name="Picture 80"/>
          <p:cNvPicPr>
            <a:picLocks noChangeAspect="1" noChangeArrowheads="1"/>
          </p:cNvPicPr>
          <p:nvPr/>
        </p:nvPicPr>
        <p:blipFill>
          <a:blip r:embed="rId3" cstate="print"/>
          <a:srcRect/>
          <a:stretch>
            <a:fillRect/>
          </a:stretch>
        </p:blipFill>
        <p:spPr bwMode="auto">
          <a:xfrm>
            <a:off x="1187450" y="1484313"/>
            <a:ext cx="6840538" cy="3529012"/>
          </a:xfrm>
          <a:prstGeom prst="rect">
            <a:avLst/>
          </a:prstGeom>
          <a:noFill/>
          <a:ln w="9525">
            <a:noFill/>
            <a:miter lim="800000"/>
            <a:headEnd/>
            <a:tailEnd/>
          </a:ln>
        </p:spPr>
      </p:pic>
      <p:sp>
        <p:nvSpPr>
          <p:cNvPr id="102481" name="Text Box 81"/>
          <p:cNvSpPr txBox="1">
            <a:spLocks noChangeArrowheads="1"/>
          </p:cNvSpPr>
          <p:nvPr/>
        </p:nvSpPr>
        <p:spPr bwMode="auto">
          <a:xfrm>
            <a:off x="2627313" y="5227638"/>
            <a:ext cx="5203825"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3.12 </a:t>
            </a:r>
            <a:r>
              <a:rPr kumimoji="0" lang="en-US" altLang="zh-CN" i="1">
                <a:effectLst>
                  <a:outerShdw blurRad="38100" dist="38100" dir="2700000" algn="tl">
                    <a:srgbClr val="C0C0C0"/>
                  </a:outerShdw>
                </a:effectLst>
              </a:rPr>
              <a:t>s</a:t>
            </a:r>
            <a:r>
              <a:rPr kumimoji="0" lang="zh-CN" altLang="en-US">
                <a:effectLst>
                  <a:outerShdw blurRad="38100" dist="38100" dir="2700000" algn="tl">
                    <a:srgbClr val="C0C0C0"/>
                  </a:outerShdw>
                </a:effectLst>
              </a:rPr>
              <a:t>平面到</a:t>
            </a:r>
            <a:r>
              <a:rPr kumimoji="0" lang="en-US" altLang="zh-CN" i="1">
                <a:effectLst>
                  <a:outerShdw blurRad="38100" dist="38100" dir="2700000" algn="tl">
                    <a:srgbClr val="C0C0C0"/>
                  </a:outerShdw>
                </a:effectLst>
              </a:rPr>
              <a:t>z</a:t>
            </a:r>
            <a:r>
              <a:rPr kumimoji="0" lang="zh-CN" altLang="en-US">
                <a:effectLst>
                  <a:outerShdw blurRad="38100" dist="38100" dir="2700000" algn="tl">
                    <a:srgbClr val="C0C0C0"/>
                  </a:outerShdw>
                </a:effectLst>
              </a:rPr>
              <a:t>平面的映射</a:t>
            </a:r>
          </a:p>
        </p:txBody>
      </p:sp>
      <p:graphicFrame>
        <p:nvGraphicFramePr>
          <p:cNvPr id="2" name="Object 46">
            <a:extLst>
              <a:ext uri="{FF2B5EF4-FFF2-40B4-BE49-F238E27FC236}">
                <a16:creationId xmlns:a16="http://schemas.microsoft.com/office/drawing/2014/main" id="{5C5474AB-C714-07D0-3AA2-3248002870D7}"/>
              </a:ext>
            </a:extLst>
          </p:cNvPr>
          <p:cNvGraphicFramePr>
            <a:graphicFrameLocks noChangeAspect="1"/>
          </p:cNvGraphicFramePr>
          <p:nvPr>
            <p:extLst>
              <p:ext uri="{D42A27DB-BD31-4B8C-83A1-F6EECF244321}">
                <p14:modId xmlns:p14="http://schemas.microsoft.com/office/powerpoint/2010/main" val="442388044"/>
              </p:ext>
            </p:extLst>
          </p:nvPr>
        </p:nvGraphicFramePr>
        <p:xfrm>
          <a:off x="4355976" y="1115649"/>
          <a:ext cx="1022028" cy="737327"/>
        </p:xfrm>
        <a:graphic>
          <a:graphicData uri="http://schemas.openxmlformats.org/presentationml/2006/ole">
            <mc:AlternateContent xmlns:mc="http://schemas.openxmlformats.org/markup-compatibility/2006">
              <mc:Choice xmlns:v="urn:schemas-microsoft-com:vml" Requires="v">
                <p:oleObj name="Equation" r:id="rId4" imgW="545760" imgH="393480" progId="Equation.DSMT4">
                  <p:embed/>
                </p:oleObj>
              </mc:Choice>
              <mc:Fallback>
                <p:oleObj name="Equation" r:id="rId4" imgW="545760" imgH="393480" progId="Equation.DSMT4">
                  <p:embed/>
                  <p:pic>
                    <p:nvPicPr>
                      <p:cNvPr id="52232" name="Object 46"/>
                      <p:cNvPicPr>
                        <a:picLocks noChangeAspect="1" noChangeArrowheads="1"/>
                      </p:cNvPicPr>
                      <p:nvPr/>
                    </p:nvPicPr>
                    <p:blipFill>
                      <a:blip r:embed="rId5"/>
                      <a:srcRect/>
                      <a:stretch>
                        <a:fillRect/>
                      </a:stretch>
                    </p:blipFill>
                    <p:spPr bwMode="auto">
                      <a:xfrm>
                        <a:off x="4355976" y="1115649"/>
                        <a:ext cx="1022028" cy="737327"/>
                      </a:xfrm>
                      <a:prstGeom prst="rect">
                        <a:avLst/>
                      </a:prstGeom>
                      <a:noFill/>
                    </p:spPr>
                  </p:pic>
                </p:oleObj>
              </mc:Fallback>
            </mc:AlternateContent>
          </a:graphicData>
        </a:graphic>
      </p:graphicFrame>
    </p:spTree>
  </p:cSld>
  <p:clrMapOvr>
    <a:masterClrMapping/>
  </p:clrMapOvr>
  <p:transition>
    <p:zoom dir="in"/>
  </p:transition>
</p:sld>
</file>

<file path=ppt/slides/slide6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24930" name="Picture 50"/>
          <p:cNvPicPr>
            <a:picLocks noChangeAspect="1" noChangeArrowheads="1"/>
          </p:cNvPicPr>
          <p:nvPr/>
        </p:nvPicPr>
        <p:blipFill>
          <a:blip r:embed="rId3" cstate="print"/>
          <a:srcRect/>
          <a:stretch>
            <a:fillRect/>
          </a:stretch>
        </p:blipFill>
        <p:spPr bwMode="auto">
          <a:xfrm>
            <a:off x="323850" y="1700213"/>
            <a:ext cx="8532813" cy="3046412"/>
          </a:xfrm>
          <a:prstGeom prst="rect">
            <a:avLst/>
          </a:prstGeom>
          <a:noFill/>
          <a:ln w="9525">
            <a:noFill/>
            <a:miter lim="800000"/>
            <a:headEnd/>
            <a:tailEnd/>
          </a:ln>
        </p:spPr>
      </p:pic>
      <p:sp>
        <p:nvSpPr>
          <p:cNvPr id="103475" name="Text Box 51"/>
          <p:cNvSpPr txBox="1">
            <a:spLocks noChangeArrowheads="1"/>
          </p:cNvSpPr>
          <p:nvPr/>
        </p:nvSpPr>
        <p:spPr bwMode="auto">
          <a:xfrm>
            <a:off x="2195513" y="5011738"/>
            <a:ext cx="5976937"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3.13 </a:t>
            </a:r>
            <a:r>
              <a:rPr kumimoji="0" lang="en-US" altLang="zh-CN" i="1">
                <a:effectLst>
                  <a:outerShdw blurRad="38100" dist="38100" dir="2700000" algn="tl">
                    <a:srgbClr val="C0C0C0"/>
                  </a:outerShdw>
                </a:effectLst>
              </a:rPr>
              <a:t>s</a:t>
            </a:r>
            <a:r>
              <a:rPr kumimoji="0" lang="zh-CN" altLang="en-US">
                <a:effectLst>
                  <a:outerShdw blurRad="38100" dist="38100" dir="2700000" algn="tl">
                    <a:srgbClr val="C0C0C0"/>
                  </a:outerShdw>
                </a:effectLst>
              </a:rPr>
              <a:t>平面上的极点与</a:t>
            </a:r>
            <a:r>
              <a:rPr kumimoji="0" lang="en-US" altLang="zh-CN" i="1">
                <a:effectLst>
                  <a:outerShdw blurRad="38100" dist="38100" dir="2700000" algn="tl">
                    <a:srgbClr val="C0C0C0"/>
                  </a:outerShdw>
                </a:effectLst>
              </a:rPr>
              <a:t>z</a:t>
            </a:r>
            <a:r>
              <a:rPr kumimoji="0" lang="zh-CN" altLang="en-US">
                <a:effectLst>
                  <a:outerShdw blurRad="38100" dist="38100" dir="2700000" algn="tl">
                    <a:srgbClr val="C0C0C0"/>
                  </a:outerShdw>
                </a:effectLst>
              </a:rPr>
              <a:t>平面的对应关系</a:t>
            </a:r>
          </a:p>
        </p:txBody>
      </p:sp>
    </p:spTree>
  </p:cSld>
  <p:clrMapOvr>
    <a:masterClrMapping/>
  </p:clrMapOvr>
  <p:transition>
    <p:zoom dir="in"/>
  </p:transition>
</p:sld>
</file>

<file path=ppt/slides/slide6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8554" name="Rectangle 10"/>
          <p:cNvSpPr>
            <a:spLocks noChangeArrowheads="1"/>
          </p:cNvSpPr>
          <p:nvPr/>
        </p:nvSpPr>
        <p:spPr bwMode="auto">
          <a:xfrm>
            <a:off x="0" y="611188"/>
            <a:ext cx="9144000" cy="5543550"/>
          </a:xfrm>
          <a:prstGeom prst="rect">
            <a:avLst/>
          </a:prstGeom>
          <a:solidFill>
            <a:schemeClr val="bg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55" name="Rectangle 11"/>
          <p:cNvSpPr>
            <a:spLocks noChangeArrowheads="1"/>
          </p:cNvSpPr>
          <p:nvPr/>
        </p:nvSpPr>
        <p:spPr bwMode="auto">
          <a:xfrm>
            <a:off x="225425" y="1946275"/>
            <a:ext cx="989013" cy="649288"/>
          </a:xfrm>
          <a:prstGeom prst="rect">
            <a:avLst/>
          </a:prstGeom>
          <a:solidFill>
            <a:srgbClr val="33CCCC"/>
          </a:solidFill>
          <a:ln w="25400" algn="ctr">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56" name="Rectangle 12"/>
          <p:cNvSpPr>
            <a:spLocks noChangeArrowheads="1"/>
          </p:cNvSpPr>
          <p:nvPr/>
        </p:nvSpPr>
        <p:spPr bwMode="auto">
          <a:xfrm>
            <a:off x="212725" y="2647950"/>
            <a:ext cx="2090738" cy="649288"/>
          </a:xfrm>
          <a:prstGeom prst="rect">
            <a:avLst/>
          </a:prstGeom>
          <a:solidFill>
            <a:srgbClr val="99CC00"/>
          </a:solidFill>
          <a:ln w="25400" algn="ctr">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57" name="Rectangle 13"/>
          <p:cNvSpPr>
            <a:spLocks noChangeArrowheads="1"/>
          </p:cNvSpPr>
          <p:nvPr/>
        </p:nvSpPr>
        <p:spPr bwMode="auto">
          <a:xfrm>
            <a:off x="207963" y="4110038"/>
            <a:ext cx="2089150" cy="604837"/>
          </a:xfrm>
          <a:prstGeom prst="rect">
            <a:avLst/>
          </a:prstGeom>
          <a:solidFill>
            <a:srgbClr val="0000FF"/>
          </a:solidFill>
          <a:ln w="25400" algn="ctr">
            <a:solidFill>
              <a:srgbClr val="0000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58" name="Rectangle 14"/>
          <p:cNvSpPr>
            <a:spLocks noChangeArrowheads="1"/>
          </p:cNvSpPr>
          <p:nvPr/>
        </p:nvSpPr>
        <p:spPr bwMode="auto">
          <a:xfrm>
            <a:off x="222250" y="3390900"/>
            <a:ext cx="2954338" cy="649288"/>
          </a:xfrm>
          <a:prstGeom prst="rect">
            <a:avLst/>
          </a:prstGeom>
          <a:solidFill>
            <a:srgbClr val="FF00FF"/>
          </a:solidFill>
          <a:ln w="25400" algn="ctr">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2" name="Group 15"/>
          <p:cNvGrpSpPr>
            <a:grpSpLocks/>
          </p:cNvGrpSpPr>
          <p:nvPr/>
        </p:nvGrpSpPr>
        <p:grpSpPr bwMode="auto">
          <a:xfrm rot="10800000">
            <a:off x="5940425" y="3457575"/>
            <a:ext cx="971550" cy="971550"/>
            <a:chOff x="3006" y="3194"/>
            <a:chExt cx="690" cy="690"/>
          </a:xfrm>
        </p:grpSpPr>
        <p:sp>
          <p:nvSpPr>
            <p:cNvPr id="108560" name="Arc 16"/>
            <p:cNvSpPr>
              <a:spLocks/>
            </p:cNvSpPr>
            <p:nvPr/>
          </p:nvSpPr>
          <p:spPr bwMode="auto">
            <a:xfrm>
              <a:off x="3025" y="3208"/>
              <a:ext cx="680" cy="680"/>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00FF"/>
            </a:solid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61" name="Line 17"/>
            <p:cNvSpPr>
              <a:spLocks noChangeShapeType="1"/>
            </p:cNvSpPr>
            <p:nvPr/>
          </p:nvSpPr>
          <p:spPr bwMode="auto">
            <a:xfrm>
              <a:off x="3015" y="3199"/>
              <a:ext cx="0" cy="680"/>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62" name="Line 18"/>
            <p:cNvSpPr>
              <a:spLocks noChangeShapeType="1"/>
            </p:cNvSpPr>
            <p:nvPr/>
          </p:nvSpPr>
          <p:spPr bwMode="auto">
            <a:xfrm>
              <a:off x="3013" y="3884"/>
              <a:ext cx="681" cy="0"/>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108563" name="Rectangle 19"/>
          <p:cNvSpPr>
            <a:spLocks noChangeArrowheads="1"/>
          </p:cNvSpPr>
          <p:nvPr/>
        </p:nvSpPr>
        <p:spPr bwMode="auto">
          <a:xfrm>
            <a:off x="2395538" y="4127500"/>
            <a:ext cx="774700" cy="604838"/>
          </a:xfrm>
          <a:prstGeom prst="rect">
            <a:avLst/>
          </a:prstGeom>
          <a:solidFill>
            <a:srgbClr val="0000FF"/>
          </a:solidFill>
          <a:ln w="25400" algn="ctr">
            <a:solidFill>
              <a:srgbClr val="0000FF"/>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3" name="Group 20"/>
          <p:cNvGrpSpPr>
            <a:grpSpLocks/>
          </p:cNvGrpSpPr>
          <p:nvPr/>
        </p:nvGrpSpPr>
        <p:grpSpPr bwMode="auto">
          <a:xfrm rot="10800000">
            <a:off x="5475288" y="3452813"/>
            <a:ext cx="1439862" cy="1439862"/>
            <a:chOff x="3006" y="3194"/>
            <a:chExt cx="690" cy="690"/>
          </a:xfrm>
        </p:grpSpPr>
        <p:sp>
          <p:nvSpPr>
            <p:cNvPr id="108565" name="Arc 21"/>
            <p:cNvSpPr>
              <a:spLocks/>
            </p:cNvSpPr>
            <p:nvPr/>
          </p:nvSpPr>
          <p:spPr bwMode="auto">
            <a:xfrm>
              <a:off x="3016" y="3202"/>
              <a:ext cx="680" cy="67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0000FF"/>
            </a:solid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66" name="Line 22"/>
            <p:cNvSpPr>
              <a:spLocks noChangeShapeType="1"/>
            </p:cNvSpPr>
            <p:nvPr/>
          </p:nvSpPr>
          <p:spPr bwMode="auto">
            <a:xfrm>
              <a:off x="3014" y="3190"/>
              <a:ext cx="0" cy="680"/>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67" name="Line 23"/>
            <p:cNvSpPr>
              <a:spLocks noChangeShapeType="1"/>
            </p:cNvSpPr>
            <p:nvPr/>
          </p:nvSpPr>
          <p:spPr bwMode="auto">
            <a:xfrm>
              <a:off x="3006" y="3880"/>
              <a:ext cx="680" cy="0"/>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pSp>
        <p:nvGrpSpPr>
          <p:cNvPr id="4" name="Group 24"/>
          <p:cNvGrpSpPr>
            <a:grpSpLocks/>
          </p:cNvGrpSpPr>
          <p:nvPr/>
        </p:nvGrpSpPr>
        <p:grpSpPr bwMode="auto">
          <a:xfrm rot="5400000">
            <a:off x="6969126" y="3436937"/>
            <a:ext cx="1439862" cy="1439863"/>
            <a:chOff x="3006" y="3194"/>
            <a:chExt cx="690" cy="690"/>
          </a:xfrm>
        </p:grpSpPr>
        <p:sp>
          <p:nvSpPr>
            <p:cNvPr id="108569" name="Arc 25"/>
            <p:cNvSpPr>
              <a:spLocks/>
            </p:cNvSpPr>
            <p:nvPr/>
          </p:nvSpPr>
          <p:spPr bwMode="auto">
            <a:xfrm>
              <a:off x="3016" y="3202"/>
              <a:ext cx="680" cy="679"/>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FF00FF"/>
            </a:solid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0" name="Line 26"/>
            <p:cNvSpPr>
              <a:spLocks noChangeShapeType="1"/>
            </p:cNvSpPr>
            <p:nvPr/>
          </p:nvSpPr>
          <p:spPr bwMode="auto">
            <a:xfrm>
              <a:off x="3015" y="3190"/>
              <a:ext cx="0" cy="680"/>
            </a:xfrm>
            <a:prstGeom prst="line">
              <a:avLst/>
            </a:prstGeom>
            <a:no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1" name="Line 27"/>
            <p:cNvSpPr>
              <a:spLocks noChangeShapeType="1"/>
            </p:cNvSpPr>
            <p:nvPr/>
          </p:nvSpPr>
          <p:spPr bwMode="auto">
            <a:xfrm>
              <a:off x="3006" y="3880"/>
              <a:ext cx="680" cy="0"/>
            </a:xfrm>
            <a:prstGeom prst="line">
              <a:avLst/>
            </a:prstGeom>
            <a:no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108572" name="Rectangle 28"/>
          <p:cNvSpPr>
            <a:spLocks noChangeArrowheads="1"/>
          </p:cNvSpPr>
          <p:nvPr/>
        </p:nvSpPr>
        <p:spPr bwMode="auto">
          <a:xfrm>
            <a:off x="5616575" y="1992313"/>
            <a:ext cx="2663825" cy="1368425"/>
          </a:xfrm>
          <a:prstGeom prst="rect">
            <a:avLst/>
          </a:prstGeom>
          <a:solidFill>
            <a:schemeClr val="bg1"/>
          </a:solidFill>
          <a:ln w="25400" algn="ctr">
            <a:solidFill>
              <a:schemeClr val="bg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3" name="Oval 29"/>
          <p:cNvSpPr>
            <a:spLocks noChangeArrowheads="1"/>
          </p:cNvSpPr>
          <p:nvPr/>
        </p:nvSpPr>
        <p:spPr bwMode="auto">
          <a:xfrm rot="1800000">
            <a:off x="5846763" y="2325688"/>
            <a:ext cx="2159000" cy="2159000"/>
          </a:xfrm>
          <a:prstGeom prst="ellipse">
            <a:avLst/>
          </a:prstGeom>
          <a:noFill/>
          <a:ln w="63500">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4" name="Oval 30"/>
          <p:cNvSpPr>
            <a:spLocks noChangeArrowheads="1"/>
          </p:cNvSpPr>
          <p:nvPr/>
        </p:nvSpPr>
        <p:spPr bwMode="auto">
          <a:xfrm>
            <a:off x="5424488" y="1911350"/>
            <a:ext cx="3024187" cy="3022600"/>
          </a:xfrm>
          <a:prstGeom prst="ellipse">
            <a:avLst/>
          </a:prstGeom>
          <a:noFill/>
          <a:ln w="25400">
            <a:solidFill>
              <a:srgbClr val="8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5" name="Rectangle 31"/>
          <p:cNvSpPr>
            <a:spLocks noChangeArrowheads="1"/>
          </p:cNvSpPr>
          <p:nvPr/>
        </p:nvSpPr>
        <p:spPr bwMode="auto">
          <a:xfrm>
            <a:off x="5103813" y="1619250"/>
            <a:ext cx="3600450" cy="1800225"/>
          </a:xfrm>
          <a:prstGeom prst="rect">
            <a:avLst/>
          </a:prstGeom>
          <a:solidFill>
            <a:schemeClr val="bg1"/>
          </a:solidFill>
          <a:ln w="9525">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6" name="Oval 32"/>
          <p:cNvSpPr>
            <a:spLocks noChangeArrowheads="1"/>
          </p:cNvSpPr>
          <p:nvPr/>
        </p:nvSpPr>
        <p:spPr bwMode="auto">
          <a:xfrm>
            <a:off x="5418138" y="1908175"/>
            <a:ext cx="3024187" cy="3022600"/>
          </a:xfrm>
          <a:prstGeom prst="ellipse">
            <a:avLst/>
          </a:prstGeom>
          <a:noFill/>
          <a:ln w="25400">
            <a:solidFill>
              <a:srgbClr val="80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77" name="Line 33"/>
          <p:cNvSpPr>
            <a:spLocks noChangeShapeType="1"/>
          </p:cNvSpPr>
          <p:nvPr/>
        </p:nvSpPr>
        <p:spPr bwMode="auto">
          <a:xfrm>
            <a:off x="180975" y="3346450"/>
            <a:ext cx="4318000" cy="0"/>
          </a:xfrm>
          <a:prstGeom prst="line">
            <a:avLst/>
          </a:prstGeom>
          <a:noFill/>
          <a:ln w="9525">
            <a:solidFill>
              <a:schemeClr val="tx1"/>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578" name="Line 34"/>
          <p:cNvSpPr>
            <a:spLocks noChangeShapeType="1"/>
          </p:cNvSpPr>
          <p:nvPr/>
        </p:nvSpPr>
        <p:spPr bwMode="auto">
          <a:xfrm flipV="1">
            <a:off x="2344738" y="1258888"/>
            <a:ext cx="0" cy="4319587"/>
          </a:xfrm>
          <a:prstGeom prst="line">
            <a:avLst/>
          </a:prstGeom>
          <a:noFill/>
          <a:ln w="9525">
            <a:solidFill>
              <a:schemeClr val="tx1"/>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579" name="Line 35"/>
          <p:cNvSpPr>
            <a:spLocks noChangeShapeType="1"/>
          </p:cNvSpPr>
          <p:nvPr/>
        </p:nvSpPr>
        <p:spPr bwMode="auto">
          <a:xfrm>
            <a:off x="323850" y="4067175"/>
            <a:ext cx="3995738" cy="0"/>
          </a:xfrm>
          <a:prstGeom prst="line">
            <a:avLst/>
          </a:prstGeom>
          <a:noFill/>
          <a:ln w="9525">
            <a:solidFill>
              <a:schemeClr val="tx1"/>
            </a:solidFill>
            <a:prstDash val="dash"/>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580" name="Line 36"/>
          <p:cNvSpPr>
            <a:spLocks noChangeShapeType="1"/>
          </p:cNvSpPr>
          <p:nvPr/>
        </p:nvSpPr>
        <p:spPr bwMode="auto">
          <a:xfrm>
            <a:off x="323850" y="4786313"/>
            <a:ext cx="3995738" cy="0"/>
          </a:xfrm>
          <a:prstGeom prst="line">
            <a:avLst/>
          </a:prstGeom>
          <a:noFill/>
          <a:ln w="9525">
            <a:solidFill>
              <a:schemeClr val="tx1"/>
            </a:solidFill>
            <a:prstDash val="dash"/>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581" name="Line 37"/>
          <p:cNvSpPr>
            <a:spLocks noChangeShapeType="1"/>
          </p:cNvSpPr>
          <p:nvPr/>
        </p:nvSpPr>
        <p:spPr bwMode="auto">
          <a:xfrm>
            <a:off x="431800" y="1906588"/>
            <a:ext cx="3995738" cy="0"/>
          </a:xfrm>
          <a:prstGeom prst="line">
            <a:avLst/>
          </a:prstGeom>
          <a:noFill/>
          <a:ln w="9525">
            <a:solidFill>
              <a:schemeClr val="tx1"/>
            </a:solidFill>
            <a:prstDash val="dash"/>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582" name="Line 38"/>
          <p:cNvSpPr>
            <a:spLocks noChangeShapeType="1"/>
          </p:cNvSpPr>
          <p:nvPr/>
        </p:nvSpPr>
        <p:spPr bwMode="auto">
          <a:xfrm>
            <a:off x="403225" y="2627313"/>
            <a:ext cx="3995738" cy="0"/>
          </a:xfrm>
          <a:prstGeom prst="line">
            <a:avLst/>
          </a:prstGeom>
          <a:noFill/>
          <a:ln w="9525">
            <a:solidFill>
              <a:schemeClr val="tx1"/>
            </a:solidFill>
            <a:prstDash val="dash"/>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graphicFrame>
        <p:nvGraphicFramePr>
          <p:cNvPr id="52226" name="Object 39"/>
          <p:cNvGraphicFramePr>
            <a:graphicFrameLocks noChangeAspect="1"/>
          </p:cNvGraphicFramePr>
          <p:nvPr/>
        </p:nvGraphicFramePr>
        <p:xfrm>
          <a:off x="2390775" y="1187450"/>
          <a:ext cx="388938" cy="323850"/>
        </p:xfrm>
        <a:graphic>
          <a:graphicData uri="http://schemas.openxmlformats.org/presentationml/2006/ole">
            <mc:AlternateContent xmlns:mc="http://schemas.openxmlformats.org/markup-compatibility/2006">
              <mc:Choice xmlns:v="urn:schemas-microsoft-com:vml" Requires="v">
                <p:oleObj name="Equation" r:id="rId3" imgW="228600" imgH="190500" progId="Equation.DSMT4">
                  <p:embed/>
                </p:oleObj>
              </mc:Choice>
              <mc:Fallback>
                <p:oleObj name="Equation" r:id="rId3" imgW="228600" imgH="190500" progId="Equation.DSMT4">
                  <p:embed/>
                  <p:pic>
                    <p:nvPicPr>
                      <p:cNvPr id="0" name="Picture 65"/>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90775" y="1187450"/>
                        <a:ext cx="388938" cy="323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7" name="Object 40"/>
          <p:cNvGraphicFramePr>
            <a:graphicFrameLocks noChangeAspect="1"/>
          </p:cNvGraphicFramePr>
          <p:nvPr/>
        </p:nvGraphicFramePr>
        <p:xfrm>
          <a:off x="4341813" y="3376613"/>
          <a:ext cx="258762" cy="238125"/>
        </p:xfrm>
        <a:graphic>
          <a:graphicData uri="http://schemas.openxmlformats.org/presentationml/2006/ole">
            <mc:AlternateContent xmlns:mc="http://schemas.openxmlformats.org/markup-compatibility/2006">
              <mc:Choice xmlns:v="urn:schemas-microsoft-com:vml" Requires="v">
                <p:oleObj name="Equation" r:id="rId5" imgW="152334" imgH="139639" progId="Equation.DSMT4">
                  <p:embed/>
                </p:oleObj>
              </mc:Choice>
              <mc:Fallback>
                <p:oleObj name="Equation" r:id="rId5" imgW="152334" imgH="139639" progId="Equation.DSMT4">
                  <p:embed/>
                  <p:pic>
                    <p:nvPicPr>
                      <p:cNvPr id="0" name="Picture 66"/>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341813" y="3376613"/>
                        <a:ext cx="258762" cy="238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8" name="Object 41"/>
          <p:cNvGraphicFramePr>
            <a:graphicFrameLocks noChangeAspect="1"/>
          </p:cNvGraphicFramePr>
          <p:nvPr/>
        </p:nvGraphicFramePr>
        <p:xfrm>
          <a:off x="2303463" y="3771900"/>
          <a:ext cx="735012" cy="669925"/>
        </p:xfrm>
        <a:graphic>
          <a:graphicData uri="http://schemas.openxmlformats.org/presentationml/2006/ole">
            <mc:AlternateContent xmlns:mc="http://schemas.openxmlformats.org/markup-compatibility/2006">
              <mc:Choice xmlns:v="urn:schemas-microsoft-com:vml" Requires="v">
                <p:oleObj name="Equation" r:id="rId7" imgW="431613" imgH="393529" progId="Equation.DSMT4">
                  <p:embed/>
                </p:oleObj>
              </mc:Choice>
              <mc:Fallback>
                <p:oleObj name="Equation" r:id="rId7" imgW="431613" imgH="393529" progId="Equation.DSMT4">
                  <p:embed/>
                  <p:pic>
                    <p:nvPicPr>
                      <p:cNvPr id="0" name="Picture 67"/>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03463" y="3771900"/>
                        <a:ext cx="735012"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29" name="Object 42"/>
          <p:cNvGraphicFramePr>
            <a:graphicFrameLocks noChangeAspect="1"/>
          </p:cNvGraphicFramePr>
          <p:nvPr/>
        </p:nvGraphicFramePr>
        <p:xfrm>
          <a:off x="2324100" y="4557713"/>
          <a:ext cx="604838" cy="669925"/>
        </p:xfrm>
        <a:graphic>
          <a:graphicData uri="http://schemas.openxmlformats.org/presentationml/2006/ole">
            <mc:AlternateContent xmlns:mc="http://schemas.openxmlformats.org/markup-compatibility/2006">
              <mc:Choice xmlns:v="urn:schemas-microsoft-com:vml" Requires="v">
                <p:oleObj name="Equation" r:id="rId9" imgW="355292" imgH="393359" progId="Equation.DSMT4">
                  <p:embed/>
                </p:oleObj>
              </mc:Choice>
              <mc:Fallback>
                <p:oleObj name="Equation" r:id="rId9" imgW="355292" imgH="393359" progId="Equation.DSMT4">
                  <p:embed/>
                  <p:pic>
                    <p:nvPicPr>
                      <p:cNvPr id="0" name="Picture 6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324100" y="4557713"/>
                        <a:ext cx="604838"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30" name="Object 43"/>
          <p:cNvGraphicFramePr>
            <a:graphicFrameLocks noChangeAspect="1"/>
          </p:cNvGraphicFramePr>
          <p:nvPr/>
        </p:nvGraphicFramePr>
        <p:xfrm>
          <a:off x="2425700" y="1604963"/>
          <a:ext cx="454025" cy="669925"/>
        </p:xfrm>
        <a:graphic>
          <a:graphicData uri="http://schemas.openxmlformats.org/presentationml/2006/ole">
            <mc:AlternateContent xmlns:mc="http://schemas.openxmlformats.org/markup-compatibility/2006">
              <mc:Choice xmlns:v="urn:schemas-microsoft-com:vml" Requires="v">
                <p:oleObj name="Equation" r:id="rId11" imgW="266469" imgH="393359" progId="Equation.DSMT4">
                  <p:embed/>
                </p:oleObj>
              </mc:Choice>
              <mc:Fallback>
                <p:oleObj name="Equation" r:id="rId11" imgW="266469" imgH="393359" progId="Equation.DSMT4">
                  <p:embed/>
                  <p:pic>
                    <p:nvPicPr>
                      <p:cNvPr id="0" name="Picture 69"/>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425700" y="1604963"/>
                        <a:ext cx="454025" cy="669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31" name="Object 44"/>
          <p:cNvGraphicFramePr>
            <a:graphicFrameLocks noChangeAspect="1"/>
          </p:cNvGraphicFramePr>
          <p:nvPr/>
        </p:nvGraphicFramePr>
        <p:xfrm>
          <a:off x="2378075" y="2327275"/>
          <a:ext cx="584200" cy="668338"/>
        </p:xfrm>
        <a:graphic>
          <a:graphicData uri="http://schemas.openxmlformats.org/presentationml/2006/ole">
            <mc:AlternateContent xmlns:mc="http://schemas.openxmlformats.org/markup-compatibility/2006">
              <mc:Choice xmlns:v="urn:schemas-microsoft-com:vml" Requires="v">
                <p:oleObj name="Equation" r:id="rId13" imgW="342751" imgH="393529" progId="Equation.DSMT4">
                  <p:embed/>
                </p:oleObj>
              </mc:Choice>
              <mc:Fallback>
                <p:oleObj name="Equation" r:id="rId13" imgW="342751" imgH="393529" progId="Equation.DSMT4">
                  <p:embed/>
                  <p:pic>
                    <p:nvPicPr>
                      <p:cNvPr id="0" name="Picture 70"/>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2378075" y="2327275"/>
                        <a:ext cx="584200" cy="668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08589" name="Oval 45"/>
          <p:cNvSpPr>
            <a:spLocks noChangeArrowheads="1"/>
          </p:cNvSpPr>
          <p:nvPr/>
        </p:nvSpPr>
        <p:spPr bwMode="auto">
          <a:xfrm rot="1800000">
            <a:off x="5846763" y="2327275"/>
            <a:ext cx="2159000" cy="2159000"/>
          </a:xfrm>
          <a:prstGeom prst="ellipse">
            <a:avLst/>
          </a:prstGeom>
          <a:noFill/>
          <a:ln w="63500">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52232" name="Object 46"/>
          <p:cNvGraphicFramePr>
            <a:graphicFrameLocks noChangeAspect="1"/>
          </p:cNvGraphicFramePr>
          <p:nvPr>
            <p:extLst>
              <p:ext uri="{D42A27DB-BD31-4B8C-83A1-F6EECF244321}">
                <p14:modId xmlns:p14="http://schemas.microsoft.com/office/powerpoint/2010/main" val="1259364308"/>
              </p:ext>
            </p:extLst>
          </p:nvPr>
        </p:nvGraphicFramePr>
        <p:xfrm>
          <a:off x="4189413" y="654050"/>
          <a:ext cx="1368425" cy="625475"/>
        </p:xfrm>
        <a:graphic>
          <a:graphicData uri="http://schemas.openxmlformats.org/presentationml/2006/ole">
            <mc:AlternateContent xmlns:mc="http://schemas.openxmlformats.org/markup-compatibility/2006">
              <mc:Choice xmlns:v="urn:schemas-microsoft-com:vml" Requires="v">
                <p:oleObj name="Equation" r:id="rId15" imgW="444307" imgH="203112" progId="Equation.DSMT4">
                  <p:embed/>
                </p:oleObj>
              </mc:Choice>
              <mc:Fallback>
                <p:oleObj name="Equation" r:id="rId15" imgW="444307" imgH="203112" progId="Equation.DSMT4">
                  <p:embed/>
                  <p:pic>
                    <p:nvPicPr>
                      <p:cNvPr id="0" name="Picture 71"/>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189413" y="654050"/>
                        <a:ext cx="1368425" cy="625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nvGrpSpPr>
          <p:cNvPr id="5" name="Group 47"/>
          <p:cNvGrpSpPr>
            <a:grpSpLocks/>
          </p:cNvGrpSpPr>
          <p:nvPr/>
        </p:nvGrpSpPr>
        <p:grpSpPr bwMode="auto">
          <a:xfrm>
            <a:off x="1971675" y="4627563"/>
            <a:ext cx="461963" cy="396875"/>
            <a:chOff x="1038" y="2876"/>
            <a:chExt cx="291" cy="250"/>
          </a:xfrm>
        </p:grpSpPr>
        <p:grpSp>
          <p:nvGrpSpPr>
            <p:cNvPr id="52325" name="Group 48"/>
            <p:cNvGrpSpPr>
              <a:grpSpLocks/>
            </p:cNvGrpSpPr>
            <p:nvPr/>
          </p:nvGrpSpPr>
          <p:grpSpPr bwMode="auto">
            <a:xfrm>
              <a:off x="1238" y="2922"/>
              <a:ext cx="91" cy="100"/>
              <a:chOff x="1973" y="3521"/>
              <a:chExt cx="91" cy="100"/>
            </a:xfrm>
          </p:grpSpPr>
          <p:sp>
            <p:nvSpPr>
              <p:cNvPr id="108593" name="Line 49"/>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94" name="Line 50"/>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26" name="Text Box 51"/>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1</a:t>
              </a:r>
            </a:p>
          </p:txBody>
        </p:sp>
      </p:grpSp>
      <p:grpSp>
        <p:nvGrpSpPr>
          <p:cNvPr id="7" name="Group 52"/>
          <p:cNvGrpSpPr>
            <a:grpSpLocks/>
          </p:cNvGrpSpPr>
          <p:nvPr/>
        </p:nvGrpSpPr>
        <p:grpSpPr bwMode="auto">
          <a:xfrm>
            <a:off x="1987550" y="3971925"/>
            <a:ext cx="433388" cy="396875"/>
            <a:chOff x="1048" y="2463"/>
            <a:chExt cx="273" cy="250"/>
          </a:xfrm>
        </p:grpSpPr>
        <p:grpSp>
          <p:nvGrpSpPr>
            <p:cNvPr id="52321" name="Group 53"/>
            <p:cNvGrpSpPr>
              <a:grpSpLocks/>
            </p:cNvGrpSpPr>
            <p:nvPr/>
          </p:nvGrpSpPr>
          <p:grpSpPr bwMode="auto">
            <a:xfrm>
              <a:off x="1230" y="2468"/>
              <a:ext cx="91" cy="100"/>
              <a:chOff x="1973" y="3521"/>
              <a:chExt cx="91" cy="100"/>
            </a:xfrm>
          </p:grpSpPr>
          <p:sp>
            <p:nvSpPr>
              <p:cNvPr id="108598" name="Line 54"/>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599" name="Line 55"/>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22" name="Text Box 56"/>
            <p:cNvSpPr txBox="1">
              <a:spLocks noChangeArrowheads="1"/>
            </p:cNvSpPr>
            <p:nvPr/>
          </p:nvSpPr>
          <p:spPr bwMode="auto">
            <a:xfrm>
              <a:off x="1048" y="2463"/>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2</a:t>
              </a:r>
            </a:p>
          </p:txBody>
        </p:sp>
      </p:grpSp>
      <p:grpSp>
        <p:nvGrpSpPr>
          <p:cNvPr id="9" name="Group 57"/>
          <p:cNvGrpSpPr>
            <a:grpSpLocks/>
          </p:cNvGrpSpPr>
          <p:nvPr/>
        </p:nvGrpSpPr>
        <p:grpSpPr bwMode="auto">
          <a:xfrm>
            <a:off x="1944688" y="2541588"/>
            <a:ext cx="476250" cy="409575"/>
            <a:chOff x="1021" y="1562"/>
            <a:chExt cx="300" cy="258"/>
          </a:xfrm>
        </p:grpSpPr>
        <p:grpSp>
          <p:nvGrpSpPr>
            <p:cNvPr id="52317" name="Group 58"/>
            <p:cNvGrpSpPr>
              <a:grpSpLocks/>
            </p:cNvGrpSpPr>
            <p:nvPr/>
          </p:nvGrpSpPr>
          <p:grpSpPr bwMode="auto">
            <a:xfrm>
              <a:off x="1230" y="1562"/>
              <a:ext cx="91" cy="100"/>
              <a:chOff x="1973" y="3521"/>
              <a:chExt cx="91" cy="100"/>
            </a:xfrm>
          </p:grpSpPr>
          <p:sp>
            <p:nvSpPr>
              <p:cNvPr id="108603" name="Line 59"/>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04" name="Line 60"/>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18" name="Text Box 61"/>
            <p:cNvSpPr txBox="1">
              <a:spLocks noChangeArrowheads="1"/>
            </p:cNvSpPr>
            <p:nvPr/>
          </p:nvSpPr>
          <p:spPr bwMode="auto">
            <a:xfrm>
              <a:off x="1021" y="1570"/>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4</a:t>
              </a:r>
            </a:p>
          </p:txBody>
        </p:sp>
      </p:grpSp>
      <p:grpSp>
        <p:nvGrpSpPr>
          <p:cNvPr id="11" name="Group 62"/>
          <p:cNvGrpSpPr>
            <a:grpSpLocks/>
          </p:cNvGrpSpPr>
          <p:nvPr/>
        </p:nvGrpSpPr>
        <p:grpSpPr bwMode="auto">
          <a:xfrm>
            <a:off x="2030413" y="1806575"/>
            <a:ext cx="433387" cy="423863"/>
            <a:chOff x="1075" y="1099"/>
            <a:chExt cx="273" cy="267"/>
          </a:xfrm>
        </p:grpSpPr>
        <p:grpSp>
          <p:nvGrpSpPr>
            <p:cNvPr id="52313" name="Group 63"/>
            <p:cNvGrpSpPr>
              <a:grpSpLocks/>
            </p:cNvGrpSpPr>
            <p:nvPr/>
          </p:nvGrpSpPr>
          <p:grpSpPr bwMode="auto">
            <a:xfrm>
              <a:off x="1239" y="1099"/>
              <a:ext cx="91" cy="100"/>
              <a:chOff x="1973" y="3521"/>
              <a:chExt cx="91" cy="100"/>
            </a:xfrm>
          </p:grpSpPr>
          <p:sp>
            <p:nvSpPr>
              <p:cNvPr id="108608" name="Line 64"/>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09" name="Line 65"/>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14" name="Text Box 66"/>
            <p:cNvSpPr txBox="1">
              <a:spLocks noChangeArrowheads="1"/>
            </p:cNvSpPr>
            <p:nvPr/>
          </p:nvSpPr>
          <p:spPr bwMode="auto">
            <a:xfrm>
              <a:off x="1075" y="111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5</a:t>
              </a:r>
            </a:p>
          </p:txBody>
        </p:sp>
      </p:grpSp>
      <p:grpSp>
        <p:nvGrpSpPr>
          <p:cNvPr id="13" name="Group 67"/>
          <p:cNvGrpSpPr>
            <a:grpSpLocks/>
          </p:cNvGrpSpPr>
          <p:nvPr/>
        </p:nvGrpSpPr>
        <p:grpSpPr bwMode="auto">
          <a:xfrm>
            <a:off x="1987550" y="3246438"/>
            <a:ext cx="433388" cy="396875"/>
            <a:chOff x="1048" y="2006"/>
            <a:chExt cx="273" cy="250"/>
          </a:xfrm>
        </p:grpSpPr>
        <p:grpSp>
          <p:nvGrpSpPr>
            <p:cNvPr id="52309" name="Group 68"/>
            <p:cNvGrpSpPr>
              <a:grpSpLocks/>
            </p:cNvGrpSpPr>
            <p:nvPr/>
          </p:nvGrpSpPr>
          <p:grpSpPr bwMode="auto">
            <a:xfrm>
              <a:off x="1230" y="2007"/>
              <a:ext cx="91" cy="100"/>
              <a:chOff x="1973" y="3521"/>
              <a:chExt cx="91" cy="100"/>
            </a:xfrm>
          </p:grpSpPr>
          <p:sp>
            <p:nvSpPr>
              <p:cNvPr id="108613" name="Line 69"/>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14" name="Line 70"/>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10" name="Text Box 71"/>
            <p:cNvSpPr txBox="1">
              <a:spLocks noChangeArrowheads="1"/>
            </p:cNvSpPr>
            <p:nvPr/>
          </p:nvSpPr>
          <p:spPr bwMode="auto">
            <a:xfrm>
              <a:off x="1048" y="200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3</a:t>
              </a:r>
            </a:p>
          </p:txBody>
        </p:sp>
      </p:grpSp>
      <p:grpSp>
        <p:nvGrpSpPr>
          <p:cNvPr id="15" name="Group 72"/>
          <p:cNvGrpSpPr>
            <a:grpSpLocks/>
          </p:cNvGrpSpPr>
          <p:nvPr/>
        </p:nvGrpSpPr>
        <p:grpSpPr bwMode="auto">
          <a:xfrm>
            <a:off x="5472113" y="3246438"/>
            <a:ext cx="461962" cy="396875"/>
            <a:chOff x="1038" y="2876"/>
            <a:chExt cx="291" cy="250"/>
          </a:xfrm>
        </p:grpSpPr>
        <p:grpSp>
          <p:nvGrpSpPr>
            <p:cNvPr id="52305" name="Group 73"/>
            <p:cNvGrpSpPr>
              <a:grpSpLocks/>
            </p:cNvGrpSpPr>
            <p:nvPr/>
          </p:nvGrpSpPr>
          <p:grpSpPr bwMode="auto">
            <a:xfrm>
              <a:off x="1238" y="2922"/>
              <a:ext cx="91" cy="100"/>
              <a:chOff x="1973" y="3521"/>
              <a:chExt cx="91" cy="100"/>
            </a:xfrm>
          </p:grpSpPr>
          <p:sp>
            <p:nvSpPr>
              <p:cNvPr id="108618" name="Line 74"/>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19" name="Line 75"/>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06" name="Text Box 76"/>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1</a:t>
              </a:r>
            </a:p>
          </p:txBody>
        </p:sp>
      </p:grpSp>
      <p:grpSp>
        <p:nvGrpSpPr>
          <p:cNvPr id="17" name="Group 77"/>
          <p:cNvGrpSpPr>
            <a:grpSpLocks/>
          </p:cNvGrpSpPr>
          <p:nvPr/>
        </p:nvGrpSpPr>
        <p:grpSpPr bwMode="auto">
          <a:xfrm>
            <a:off x="6596063" y="4413250"/>
            <a:ext cx="433387" cy="396875"/>
            <a:chOff x="1048" y="2463"/>
            <a:chExt cx="273" cy="250"/>
          </a:xfrm>
        </p:grpSpPr>
        <p:grpSp>
          <p:nvGrpSpPr>
            <p:cNvPr id="52301" name="Group 78"/>
            <p:cNvGrpSpPr>
              <a:grpSpLocks/>
            </p:cNvGrpSpPr>
            <p:nvPr/>
          </p:nvGrpSpPr>
          <p:grpSpPr bwMode="auto">
            <a:xfrm>
              <a:off x="1230" y="2468"/>
              <a:ext cx="91" cy="100"/>
              <a:chOff x="1973" y="3521"/>
              <a:chExt cx="91" cy="100"/>
            </a:xfrm>
          </p:grpSpPr>
          <p:sp>
            <p:nvSpPr>
              <p:cNvPr id="108623" name="Line 79"/>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24" name="Line 80"/>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302" name="Text Box 81"/>
            <p:cNvSpPr txBox="1">
              <a:spLocks noChangeArrowheads="1"/>
            </p:cNvSpPr>
            <p:nvPr/>
          </p:nvSpPr>
          <p:spPr bwMode="auto">
            <a:xfrm>
              <a:off x="1048" y="2463"/>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2</a:t>
              </a:r>
            </a:p>
          </p:txBody>
        </p:sp>
      </p:grpSp>
      <p:grpSp>
        <p:nvGrpSpPr>
          <p:cNvPr id="19" name="Group 82"/>
          <p:cNvGrpSpPr>
            <a:grpSpLocks/>
          </p:cNvGrpSpPr>
          <p:nvPr/>
        </p:nvGrpSpPr>
        <p:grpSpPr bwMode="auto">
          <a:xfrm>
            <a:off x="7661275" y="3330575"/>
            <a:ext cx="433388" cy="396875"/>
            <a:chOff x="1048" y="2006"/>
            <a:chExt cx="273" cy="250"/>
          </a:xfrm>
        </p:grpSpPr>
        <p:grpSp>
          <p:nvGrpSpPr>
            <p:cNvPr id="52297" name="Group 83"/>
            <p:cNvGrpSpPr>
              <a:grpSpLocks/>
            </p:cNvGrpSpPr>
            <p:nvPr/>
          </p:nvGrpSpPr>
          <p:grpSpPr bwMode="auto">
            <a:xfrm>
              <a:off x="1230" y="2007"/>
              <a:ext cx="91" cy="100"/>
              <a:chOff x="1973" y="3521"/>
              <a:chExt cx="91" cy="100"/>
            </a:xfrm>
          </p:grpSpPr>
          <p:sp>
            <p:nvSpPr>
              <p:cNvPr id="108628" name="Line 84"/>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29" name="Line 85"/>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298" name="Text Box 86"/>
            <p:cNvSpPr txBox="1">
              <a:spLocks noChangeArrowheads="1"/>
            </p:cNvSpPr>
            <p:nvPr/>
          </p:nvSpPr>
          <p:spPr bwMode="auto">
            <a:xfrm>
              <a:off x="1048" y="200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3</a:t>
              </a:r>
            </a:p>
          </p:txBody>
        </p:sp>
      </p:grpSp>
      <p:grpSp>
        <p:nvGrpSpPr>
          <p:cNvPr id="21" name="Group 87"/>
          <p:cNvGrpSpPr>
            <a:grpSpLocks/>
          </p:cNvGrpSpPr>
          <p:nvPr/>
        </p:nvGrpSpPr>
        <p:grpSpPr bwMode="auto">
          <a:xfrm>
            <a:off x="6551613" y="2236788"/>
            <a:ext cx="476250" cy="409575"/>
            <a:chOff x="1021" y="1562"/>
            <a:chExt cx="300" cy="258"/>
          </a:xfrm>
        </p:grpSpPr>
        <p:grpSp>
          <p:nvGrpSpPr>
            <p:cNvPr id="52293" name="Group 88"/>
            <p:cNvGrpSpPr>
              <a:grpSpLocks/>
            </p:cNvGrpSpPr>
            <p:nvPr/>
          </p:nvGrpSpPr>
          <p:grpSpPr bwMode="auto">
            <a:xfrm>
              <a:off x="1230" y="1562"/>
              <a:ext cx="91" cy="100"/>
              <a:chOff x="1973" y="3521"/>
              <a:chExt cx="91" cy="100"/>
            </a:xfrm>
          </p:grpSpPr>
          <p:sp>
            <p:nvSpPr>
              <p:cNvPr id="108633" name="Line 89"/>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34" name="Line 90"/>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294" name="Text Box 91"/>
            <p:cNvSpPr txBox="1">
              <a:spLocks noChangeArrowheads="1"/>
            </p:cNvSpPr>
            <p:nvPr/>
          </p:nvSpPr>
          <p:spPr bwMode="auto">
            <a:xfrm>
              <a:off x="1021" y="1570"/>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4</a:t>
              </a:r>
            </a:p>
          </p:txBody>
        </p:sp>
      </p:grpSp>
      <p:grpSp>
        <p:nvGrpSpPr>
          <p:cNvPr id="23" name="Group 92"/>
          <p:cNvGrpSpPr>
            <a:grpSpLocks/>
          </p:cNvGrpSpPr>
          <p:nvPr/>
        </p:nvGrpSpPr>
        <p:grpSpPr bwMode="auto">
          <a:xfrm>
            <a:off x="5514975" y="3028950"/>
            <a:ext cx="433388" cy="447675"/>
            <a:chOff x="3270" y="1715"/>
            <a:chExt cx="273" cy="282"/>
          </a:xfrm>
        </p:grpSpPr>
        <p:grpSp>
          <p:nvGrpSpPr>
            <p:cNvPr id="52289" name="Group 93"/>
            <p:cNvGrpSpPr>
              <a:grpSpLocks/>
            </p:cNvGrpSpPr>
            <p:nvPr/>
          </p:nvGrpSpPr>
          <p:grpSpPr bwMode="auto">
            <a:xfrm>
              <a:off x="3443" y="1897"/>
              <a:ext cx="91" cy="100"/>
              <a:chOff x="1973" y="3521"/>
              <a:chExt cx="91" cy="100"/>
            </a:xfrm>
          </p:grpSpPr>
          <p:sp>
            <p:nvSpPr>
              <p:cNvPr id="108638" name="Line 94"/>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39" name="Line 95"/>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2290" name="Text Box 96"/>
            <p:cNvSpPr txBox="1">
              <a:spLocks noChangeArrowheads="1"/>
            </p:cNvSpPr>
            <p:nvPr/>
          </p:nvSpPr>
          <p:spPr bwMode="auto">
            <a:xfrm>
              <a:off x="3270" y="1715"/>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5</a:t>
              </a:r>
            </a:p>
          </p:txBody>
        </p:sp>
      </p:grpSp>
      <p:sp>
        <p:nvSpPr>
          <p:cNvPr id="108641" name="Oval 97"/>
          <p:cNvSpPr>
            <a:spLocks noChangeArrowheads="1"/>
          </p:cNvSpPr>
          <p:nvPr/>
        </p:nvSpPr>
        <p:spPr bwMode="auto">
          <a:xfrm>
            <a:off x="5867400" y="2327275"/>
            <a:ext cx="2159000" cy="2159000"/>
          </a:xfrm>
          <a:prstGeom prst="ellipse">
            <a:avLst/>
          </a:prstGeom>
          <a:noFill/>
          <a:ln w="9525" algn="ctr">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42" name="Oval 98"/>
          <p:cNvSpPr>
            <a:spLocks noChangeArrowheads="1"/>
          </p:cNvSpPr>
          <p:nvPr/>
        </p:nvSpPr>
        <p:spPr bwMode="auto">
          <a:xfrm rot="1800000">
            <a:off x="6391275" y="2854325"/>
            <a:ext cx="1079500" cy="1079500"/>
          </a:xfrm>
          <a:prstGeom prst="ellipse">
            <a:avLst/>
          </a:prstGeom>
          <a:noFill/>
          <a:ln w="38100">
            <a:solidFill>
              <a:srgbClr val="339966"/>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43" name="Rectangle 99"/>
          <p:cNvSpPr>
            <a:spLocks noChangeArrowheads="1"/>
          </p:cNvSpPr>
          <p:nvPr/>
        </p:nvSpPr>
        <p:spPr bwMode="auto">
          <a:xfrm>
            <a:off x="6292850" y="2613025"/>
            <a:ext cx="1195388" cy="792163"/>
          </a:xfrm>
          <a:prstGeom prst="rect">
            <a:avLst/>
          </a:prstGeom>
          <a:solidFill>
            <a:schemeClr val="bg1"/>
          </a:solidFill>
          <a:ln w="12700" algn="ctr">
            <a:no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25" name="Group 100"/>
          <p:cNvGrpSpPr>
            <a:grpSpLocks/>
          </p:cNvGrpSpPr>
          <p:nvPr/>
        </p:nvGrpSpPr>
        <p:grpSpPr bwMode="auto">
          <a:xfrm>
            <a:off x="6959600" y="2392363"/>
            <a:ext cx="971550" cy="971550"/>
            <a:chOff x="3006" y="3194"/>
            <a:chExt cx="690" cy="690"/>
          </a:xfrm>
        </p:grpSpPr>
        <p:sp>
          <p:nvSpPr>
            <p:cNvPr id="52286" name="Arc 101"/>
            <p:cNvSpPr>
              <a:spLocks/>
            </p:cNvSpPr>
            <p:nvPr/>
          </p:nvSpPr>
          <p:spPr bwMode="auto">
            <a:xfrm>
              <a:off x="3016" y="3203"/>
              <a:ext cx="680" cy="680"/>
            </a:xfrm>
            <a:custGeom>
              <a:avLst/>
              <a:gdLst>
                <a:gd name="T0" fmla="*/ 0 w 21600"/>
                <a:gd name="T1" fmla="*/ 0 h 21600"/>
                <a:gd name="T2" fmla="*/ 0 w 21600"/>
                <a:gd name="T3" fmla="*/ 0 h 21600"/>
                <a:gd name="T4" fmla="*/ 0 w 21600"/>
                <a:gd name="T5" fmla="*/ 0 h 21600"/>
                <a:gd name="T6" fmla="*/ 0 60000 65536"/>
                <a:gd name="T7" fmla="*/ 0 60000 65536"/>
                <a:gd name="T8" fmla="*/ 0 60000 65536"/>
                <a:gd name="T9" fmla="*/ 0 w 21600"/>
                <a:gd name="T10" fmla="*/ 0 h 21600"/>
                <a:gd name="T11" fmla="*/ 21600 w 21600"/>
                <a:gd name="T12" fmla="*/ 21600 h 21600"/>
              </a:gdLst>
              <a:ahLst/>
              <a:cxnLst>
                <a:cxn ang="T6">
                  <a:pos x="T0" y="T1"/>
                </a:cxn>
                <a:cxn ang="T7">
                  <a:pos x="T2" y="T3"/>
                </a:cxn>
                <a:cxn ang="T8">
                  <a:pos x="T4" y="T5"/>
                </a:cxn>
              </a:cxnLst>
              <a:rect l="T9" t="T10" r="T11" b="T12"/>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chemeClr val="folHlink"/>
            </a:solidFill>
            <a:ln w="25400">
              <a:noFill/>
              <a:round/>
              <a:headEnd/>
              <a:tailEnd/>
            </a:ln>
          </p:spPr>
          <p:txBody>
            <a:bodyPr wrap="none" anchor="ctr"/>
            <a:lstStyle/>
            <a:p>
              <a:endParaRPr lang="zh-CN" altLang="en-US"/>
            </a:p>
          </p:txBody>
        </p:sp>
        <p:sp>
          <p:nvSpPr>
            <p:cNvPr id="108646" name="Line 102"/>
            <p:cNvSpPr>
              <a:spLocks noChangeShapeType="1"/>
            </p:cNvSpPr>
            <p:nvPr/>
          </p:nvSpPr>
          <p:spPr bwMode="auto">
            <a:xfrm>
              <a:off x="3015" y="3194"/>
              <a:ext cx="0" cy="680"/>
            </a:xfrm>
            <a:prstGeom prst="line">
              <a:avLst/>
            </a:prstGeom>
            <a:no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47" name="Line 103"/>
            <p:cNvSpPr>
              <a:spLocks noChangeShapeType="1"/>
            </p:cNvSpPr>
            <p:nvPr/>
          </p:nvSpPr>
          <p:spPr bwMode="auto">
            <a:xfrm>
              <a:off x="3006" y="3884"/>
              <a:ext cx="680" cy="0"/>
            </a:xfrm>
            <a:prstGeom prst="line">
              <a:avLst/>
            </a:prstGeom>
            <a:no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108648" name="Oval 104"/>
          <p:cNvSpPr>
            <a:spLocks noChangeArrowheads="1"/>
          </p:cNvSpPr>
          <p:nvPr/>
        </p:nvSpPr>
        <p:spPr bwMode="auto">
          <a:xfrm rot="1800000">
            <a:off x="6389688" y="2854325"/>
            <a:ext cx="1079500" cy="1079500"/>
          </a:xfrm>
          <a:prstGeom prst="ellipse">
            <a:avLst/>
          </a:prstGeom>
          <a:noFill/>
          <a:ln w="38100">
            <a:solidFill>
              <a:srgbClr val="339966"/>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49" name="Line 105"/>
          <p:cNvSpPr>
            <a:spLocks noChangeShapeType="1"/>
          </p:cNvSpPr>
          <p:nvPr/>
        </p:nvSpPr>
        <p:spPr bwMode="auto">
          <a:xfrm flipV="1">
            <a:off x="6945313" y="1258888"/>
            <a:ext cx="0" cy="4319587"/>
          </a:xfrm>
          <a:prstGeom prst="line">
            <a:avLst/>
          </a:prstGeom>
          <a:noFill/>
          <a:ln w="9525">
            <a:solidFill>
              <a:schemeClr val="tx1"/>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650" name="Line 106"/>
          <p:cNvSpPr>
            <a:spLocks noChangeShapeType="1"/>
          </p:cNvSpPr>
          <p:nvPr/>
        </p:nvSpPr>
        <p:spPr bwMode="auto">
          <a:xfrm>
            <a:off x="4967288" y="3417888"/>
            <a:ext cx="4140200" cy="0"/>
          </a:xfrm>
          <a:prstGeom prst="line">
            <a:avLst/>
          </a:prstGeom>
          <a:noFill/>
          <a:ln w="9525">
            <a:solidFill>
              <a:schemeClr val="tx1"/>
            </a:solidFill>
            <a:round/>
            <a:headEnd/>
            <a:tailEnd type="triangle" w="med" len="me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651" name="Line 107"/>
          <p:cNvSpPr>
            <a:spLocks noChangeShapeType="1"/>
          </p:cNvSpPr>
          <p:nvPr/>
        </p:nvSpPr>
        <p:spPr bwMode="auto">
          <a:xfrm flipV="1">
            <a:off x="1249363" y="1920875"/>
            <a:ext cx="0" cy="2879725"/>
          </a:xfrm>
          <a:prstGeom prst="line">
            <a:avLst/>
          </a:prstGeom>
          <a:noFill/>
          <a:ln w="38100">
            <a:solidFill>
              <a:srgbClr val="339966"/>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652" name="Line 108"/>
          <p:cNvSpPr>
            <a:spLocks noChangeShapeType="1"/>
          </p:cNvSpPr>
          <p:nvPr/>
        </p:nvSpPr>
        <p:spPr bwMode="auto">
          <a:xfrm>
            <a:off x="234950" y="2914650"/>
            <a:ext cx="2943225" cy="0"/>
          </a:xfrm>
          <a:prstGeom prst="line">
            <a:avLst/>
          </a:prstGeom>
          <a:noFill/>
          <a:ln w="25400">
            <a:solidFill>
              <a:srgbClr val="80008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53" name="Line 109"/>
          <p:cNvSpPr>
            <a:spLocks noChangeShapeType="1"/>
          </p:cNvSpPr>
          <p:nvPr/>
        </p:nvSpPr>
        <p:spPr bwMode="auto">
          <a:xfrm flipV="1">
            <a:off x="6948488" y="2627313"/>
            <a:ext cx="1246187" cy="785812"/>
          </a:xfrm>
          <a:prstGeom prst="line">
            <a:avLst/>
          </a:prstGeom>
          <a:noFill/>
          <a:ln w="25400">
            <a:solidFill>
              <a:srgbClr val="80008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nvGrpSpPr>
          <p:cNvPr id="26" name="Group 110"/>
          <p:cNvGrpSpPr>
            <a:grpSpLocks/>
          </p:cNvGrpSpPr>
          <p:nvPr/>
        </p:nvGrpSpPr>
        <p:grpSpPr bwMode="auto">
          <a:xfrm rot="-5400000">
            <a:off x="6416675" y="2890838"/>
            <a:ext cx="503237" cy="503238"/>
            <a:chOff x="3006" y="3194"/>
            <a:chExt cx="690" cy="690"/>
          </a:xfrm>
        </p:grpSpPr>
        <p:sp>
          <p:nvSpPr>
            <p:cNvPr id="108655" name="Arc 111"/>
            <p:cNvSpPr>
              <a:spLocks/>
            </p:cNvSpPr>
            <p:nvPr/>
          </p:nvSpPr>
          <p:spPr bwMode="auto">
            <a:xfrm>
              <a:off x="3008" y="3203"/>
              <a:ext cx="679" cy="681"/>
            </a:xfrm>
            <a:custGeom>
              <a:avLst/>
              <a:gdLst>
                <a:gd name="G0" fmla="+- 0 0 0"/>
                <a:gd name="G1" fmla="+- 21600 0 0"/>
                <a:gd name="G2" fmla="+- 21600 0 0"/>
                <a:gd name="T0" fmla="*/ 0 w 21600"/>
                <a:gd name="T1" fmla="*/ 0 h 21600"/>
                <a:gd name="T2" fmla="*/ 21600 w 21600"/>
                <a:gd name="T3" fmla="*/ 21600 h 21600"/>
                <a:gd name="T4" fmla="*/ 0 w 21600"/>
                <a:gd name="T5" fmla="*/ 21600 h 21600"/>
              </a:gdLst>
              <a:ahLst/>
              <a:cxnLst>
                <a:cxn ang="0">
                  <a:pos x="T0" y="T1"/>
                </a:cxn>
                <a:cxn ang="0">
                  <a:pos x="T2" y="T3"/>
                </a:cxn>
                <a:cxn ang="0">
                  <a:pos x="T4" y="T5"/>
                </a:cxn>
              </a:cxnLst>
              <a:rect l="0" t="0" r="r" b="b"/>
              <a:pathLst>
                <a:path w="21600" h="21600" fill="none" extrusionOk="0">
                  <a:moveTo>
                    <a:pt x="-1" y="0"/>
                  </a:moveTo>
                  <a:cubicBezTo>
                    <a:pt x="11929" y="0"/>
                    <a:pt x="21600" y="9670"/>
                    <a:pt x="21600" y="21600"/>
                  </a:cubicBezTo>
                </a:path>
                <a:path w="21600" h="21600" stroke="0" extrusionOk="0">
                  <a:moveTo>
                    <a:pt x="-1" y="0"/>
                  </a:moveTo>
                  <a:cubicBezTo>
                    <a:pt x="11929" y="0"/>
                    <a:pt x="21600" y="9670"/>
                    <a:pt x="21600" y="21600"/>
                  </a:cubicBezTo>
                  <a:lnTo>
                    <a:pt x="0" y="21600"/>
                  </a:lnTo>
                  <a:close/>
                </a:path>
              </a:pathLst>
            </a:custGeom>
            <a:solidFill>
              <a:srgbClr val="33CCCC"/>
            </a:solid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56" name="Line 112"/>
            <p:cNvSpPr>
              <a:spLocks noChangeShapeType="1"/>
            </p:cNvSpPr>
            <p:nvPr/>
          </p:nvSpPr>
          <p:spPr bwMode="auto">
            <a:xfrm>
              <a:off x="3006" y="3194"/>
              <a:ext cx="0" cy="679"/>
            </a:xfrm>
            <a:prstGeom prst="line">
              <a:avLst/>
            </a:prstGeom>
            <a:no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08657" name="Line 113"/>
            <p:cNvSpPr>
              <a:spLocks noChangeShapeType="1"/>
            </p:cNvSpPr>
            <p:nvPr/>
          </p:nvSpPr>
          <p:spPr bwMode="auto">
            <a:xfrm>
              <a:off x="2997" y="3884"/>
              <a:ext cx="679" cy="0"/>
            </a:xfrm>
            <a:prstGeom prst="line">
              <a:avLst/>
            </a:prstGeom>
            <a:noFill/>
            <a:ln w="25400">
              <a:no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graphicFrame>
        <p:nvGraphicFramePr>
          <p:cNvPr id="52233" name="Object 114"/>
          <p:cNvGraphicFramePr>
            <a:graphicFrameLocks noChangeAspect="1"/>
          </p:cNvGraphicFramePr>
          <p:nvPr/>
        </p:nvGraphicFramePr>
        <p:xfrm>
          <a:off x="6967538" y="1166813"/>
          <a:ext cx="365125" cy="280987"/>
        </p:xfrm>
        <a:graphic>
          <a:graphicData uri="http://schemas.openxmlformats.org/presentationml/2006/ole">
            <mc:AlternateContent xmlns:mc="http://schemas.openxmlformats.org/markup-compatibility/2006">
              <mc:Choice xmlns:v="urn:schemas-microsoft-com:vml" Requires="v">
                <p:oleObj name="Equation" r:id="rId17" imgW="215619" imgH="164885" progId="Equation.DSMT4">
                  <p:embed/>
                </p:oleObj>
              </mc:Choice>
              <mc:Fallback>
                <p:oleObj name="Equation" r:id="rId17" imgW="215619" imgH="164885" progId="Equation.DSMT4">
                  <p:embed/>
                  <p:pic>
                    <p:nvPicPr>
                      <p:cNvPr id="0" name="Picture 72"/>
                      <p:cNvPicPr>
                        <a:picLocks noChangeAspect="1" noChangeArrowheads="1"/>
                      </p:cNvPicPr>
                      <p:nvPr/>
                    </p:nvPicPr>
                    <p:blipFill>
                      <a:blip r:embed="rId18">
                        <a:extLst>
                          <a:ext uri="{28A0092B-C50C-407E-A947-70E740481C1C}">
                            <a14:useLocalDpi xmlns:a14="http://schemas.microsoft.com/office/drawing/2010/main" val="0"/>
                          </a:ext>
                        </a:extLst>
                      </a:blip>
                      <a:srcRect/>
                      <a:stretch>
                        <a:fillRect/>
                      </a:stretch>
                    </p:blipFill>
                    <p:spPr bwMode="auto">
                      <a:xfrm>
                        <a:off x="6967538" y="1166813"/>
                        <a:ext cx="365125" cy="280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2234" name="Object 115"/>
          <p:cNvGraphicFramePr>
            <a:graphicFrameLocks noChangeAspect="1"/>
          </p:cNvGraphicFramePr>
          <p:nvPr/>
        </p:nvGraphicFramePr>
        <p:xfrm>
          <a:off x="8736013" y="3438525"/>
          <a:ext cx="365125" cy="301625"/>
        </p:xfrm>
        <a:graphic>
          <a:graphicData uri="http://schemas.openxmlformats.org/presentationml/2006/ole">
            <mc:AlternateContent xmlns:mc="http://schemas.openxmlformats.org/markup-compatibility/2006">
              <mc:Choice xmlns:v="urn:schemas-microsoft-com:vml" Requires="v">
                <p:oleObj name="Equation" r:id="rId19" imgW="215619" imgH="177569" progId="Equation.DSMT4">
                  <p:embed/>
                </p:oleObj>
              </mc:Choice>
              <mc:Fallback>
                <p:oleObj name="Equation" r:id="rId19" imgW="215619" imgH="177569" progId="Equation.DSMT4">
                  <p:embed/>
                  <p:pic>
                    <p:nvPicPr>
                      <p:cNvPr id="0" name="Picture 73"/>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8736013" y="3438525"/>
                        <a:ext cx="365125" cy="301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2278" name="Text Box 116"/>
          <p:cNvSpPr txBox="1">
            <a:spLocks noChangeArrowheads="1"/>
          </p:cNvSpPr>
          <p:nvPr/>
        </p:nvSpPr>
        <p:spPr bwMode="auto">
          <a:xfrm>
            <a:off x="1201738" y="5708650"/>
            <a:ext cx="2305050" cy="457200"/>
          </a:xfrm>
          <a:prstGeom prst="rect">
            <a:avLst/>
          </a:prstGeom>
          <a:noFill/>
          <a:ln w="25400" algn="ctr">
            <a:noFill/>
            <a:miter lim="800000"/>
            <a:headEnd/>
            <a:tailEnd/>
          </a:ln>
        </p:spPr>
        <p:txBody>
          <a:bodyPr>
            <a:spAutoFit/>
          </a:bodyPr>
          <a:lstStyle/>
          <a:p>
            <a:pPr algn="ctr">
              <a:spcBef>
                <a:spcPct val="50000"/>
              </a:spcBef>
            </a:pPr>
            <a:r>
              <a:rPr kumimoji="0" lang="en-US" altLang="zh-CN" sz="2400" b="0" i="1"/>
              <a:t>s</a:t>
            </a:r>
            <a:r>
              <a:rPr kumimoji="0" lang="zh-CN" altLang="en-US" sz="2400" b="0"/>
              <a:t>平面</a:t>
            </a:r>
          </a:p>
        </p:txBody>
      </p:sp>
      <p:sp>
        <p:nvSpPr>
          <p:cNvPr id="52279" name="Text Box 117"/>
          <p:cNvSpPr txBox="1">
            <a:spLocks noChangeArrowheads="1"/>
          </p:cNvSpPr>
          <p:nvPr/>
        </p:nvSpPr>
        <p:spPr bwMode="auto">
          <a:xfrm>
            <a:off x="5795963" y="5651500"/>
            <a:ext cx="2305050" cy="457200"/>
          </a:xfrm>
          <a:prstGeom prst="rect">
            <a:avLst/>
          </a:prstGeom>
          <a:noFill/>
          <a:ln w="25400" algn="ctr">
            <a:noFill/>
            <a:miter lim="800000"/>
            <a:headEnd/>
            <a:tailEnd/>
          </a:ln>
        </p:spPr>
        <p:txBody>
          <a:bodyPr>
            <a:spAutoFit/>
          </a:bodyPr>
          <a:lstStyle/>
          <a:p>
            <a:pPr algn="ctr">
              <a:spcBef>
                <a:spcPct val="50000"/>
              </a:spcBef>
            </a:pPr>
            <a:r>
              <a:rPr kumimoji="0" lang="en-US" altLang="zh-CN" sz="2400" b="0" i="1"/>
              <a:t>z</a:t>
            </a:r>
            <a:r>
              <a:rPr kumimoji="0" lang="zh-CN" altLang="en-US" sz="2400" b="0"/>
              <a:t>平面</a:t>
            </a:r>
          </a:p>
        </p:txBody>
      </p:sp>
      <p:sp>
        <p:nvSpPr>
          <p:cNvPr id="108662" name="Line 118"/>
          <p:cNvSpPr>
            <a:spLocks noChangeShapeType="1"/>
          </p:cNvSpPr>
          <p:nvPr/>
        </p:nvSpPr>
        <p:spPr bwMode="auto">
          <a:xfrm flipV="1">
            <a:off x="3203575" y="1906588"/>
            <a:ext cx="0" cy="2879725"/>
          </a:xfrm>
          <a:prstGeom prst="line">
            <a:avLst/>
          </a:prstGeom>
          <a:noFill/>
          <a:ln w="25400">
            <a:solidFill>
              <a:srgbClr val="80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663" name="Line 119"/>
          <p:cNvSpPr>
            <a:spLocks noChangeShapeType="1"/>
          </p:cNvSpPr>
          <p:nvPr/>
        </p:nvSpPr>
        <p:spPr bwMode="auto">
          <a:xfrm flipV="1">
            <a:off x="2344738" y="1906588"/>
            <a:ext cx="0" cy="2879725"/>
          </a:xfrm>
          <a:prstGeom prst="line">
            <a:avLst/>
          </a:prstGeom>
          <a:noFill/>
          <a:ln w="63500">
            <a:solidFill>
              <a:srgbClr val="FF0000"/>
            </a:solidFill>
            <a:round/>
            <a:headEnd/>
            <a:tailEnd/>
          </a:ln>
          <a:effectLst/>
        </p:spPr>
        <p:txBody>
          <a:bodyPr/>
          <a:lstStyle/>
          <a:p>
            <a:pPr>
              <a:defRPr/>
            </a:pPr>
            <a:endParaRPr lang="zh-CN" altLang="en-US">
              <a:effectLst>
                <a:outerShdw blurRad="38100" dist="38100" dir="2700000" algn="tl">
                  <a:srgbClr val="000000">
                    <a:alpha val="43137"/>
                  </a:srgbClr>
                </a:outerShdw>
              </a:effectLst>
            </a:endParaRPr>
          </a:p>
        </p:txBody>
      </p:sp>
      <p:sp>
        <p:nvSpPr>
          <p:cNvPr id="108664" name="Text Box 120"/>
          <p:cNvSpPr txBox="1">
            <a:spLocks noChangeArrowheads="1"/>
          </p:cNvSpPr>
          <p:nvPr/>
        </p:nvSpPr>
        <p:spPr bwMode="auto">
          <a:xfrm>
            <a:off x="1908175" y="179388"/>
            <a:ext cx="5976938" cy="457200"/>
          </a:xfrm>
          <a:prstGeom prst="rect">
            <a:avLst/>
          </a:prstGeom>
          <a:noFill/>
          <a:ln w="9525" algn="ctr">
            <a:noFill/>
            <a:miter lim="800000"/>
            <a:headEnd/>
            <a:tailEnd/>
          </a:ln>
          <a:effectLst/>
        </p:spPr>
        <p:txBody>
          <a:bodyPr>
            <a:spAutoFit/>
          </a:bodyPr>
          <a:lstStyle/>
          <a:p>
            <a:pPr>
              <a:defRPr/>
            </a:pPr>
            <a:r>
              <a:rPr kumimoji="0" lang="en-US" altLang="zh-CN" sz="2400" i="1">
                <a:solidFill>
                  <a:srgbClr val="0000FF"/>
                </a:solidFill>
                <a:effectLst>
                  <a:outerShdw blurRad="38100" dist="38100" dir="2700000" algn="tl">
                    <a:srgbClr val="C0C0C0"/>
                  </a:outerShdw>
                </a:effectLst>
              </a:rPr>
              <a:t>s</a:t>
            </a:r>
            <a:r>
              <a:rPr kumimoji="0" lang="zh-CN" altLang="en-US" sz="2400">
                <a:solidFill>
                  <a:srgbClr val="0000FF"/>
                </a:solidFill>
                <a:effectLst>
                  <a:outerShdw blurRad="38100" dist="38100" dir="2700000" algn="tl">
                    <a:srgbClr val="C0C0C0"/>
                  </a:outerShdw>
                </a:effectLst>
              </a:rPr>
              <a:t>平面上的极点与</a:t>
            </a:r>
            <a:r>
              <a:rPr kumimoji="0" lang="en-US" altLang="zh-CN" sz="2400" i="1">
                <a:solidFill>
                  <a:srgbClr val="0000FF"/>
                </a:solidFill>
                <a:effectLst>
                  <a:outerShdw blurRad="38100" dist="38100" dir="2700000" algn="tl">
                    <a:srgbClr val="C0C0C0"/>
                  </a:outerShdw>
                </a:effectLst>
              </a:rPr>
              <a:t>z</a:t>
            </a:r>
            <a:r>
              <a:rPr kumimoji="0" lang="zh-CN" altLang="en-US" sz="2400">
                <a:solidFill>
                  <a:srgbClr val="0000FF"/>
                </a:solidFill>
                <a:effectLst>
                  <a:outerShdw blurRad="38100" dist="38100" dir="2700000" algn="tl">
                    <a:srgbClr val="C0C0C0"/>
                  </a:outerShdw>
                </a:effectLst>
              </a:rPr>
              <a:t>平面的对应关系演示</a:t>
            </a:r>
          </a:p>
        </p:txBody>
      </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animEffect transition="in" filter="blinds(horizontal)">
                                      <p:cBhvr>
                                        <p:cTn id="7" dur="500"/>
                                        <p:tgtEl>
                                          <p:spTgt spid="5"/>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15"/>
                                        </p:tgtEl>
                                        <p:attrNameLst>
                                          <p:attrName>style.visibility</p:attrName>
                                        </p:attrNameLst>
                                      </p:cBhvr>
                                      <p:to>
                                        <p:strVal val="visible"/>
                                      </p:to>
                                    </p:set>
                                    <p:animEffect transition="in" filter="blinds(horizontal)">
                                      <p:cBhvr>
                                        <p:cTn id="12" dur="500"/>
                                        <p:tgtEl>
                                          <p:spTgt spid="15"/>
                                        </p:tgtEl>
                                      </p:cBhvr>
                                    </p:animEffect>
                                  </p:childTnLst>
                                </p:cTn>
                              </p:par>
                            </p:childTnLst>
                          </p:cTn>
                        </p:par>
                      </p:childTnLst>
                    </p:cTn>
                  </p:par>
                  <p:par>
                    <p:cTn id="13" fill="hold">
                      <p:stCondLst>
                        <p:cond delay="indefinite"/>
                      </p:stCondLst>
                      <p:childTnLst>
                        <p:par>
                          <p:cTn id="14" fill="hold">
                            <p:stCondLst>
                              <p:cond delay="0"/>
                            </p:stCondLst>
                            <p:childTnLst>
                              <p:par>
                                <p:cTn id="15" presetID="2" presetClass="entr" presetSubtype="4" fill="hold" nodeType="clickEffect">
                                  <p:stCondLst>
                                    <p:cond delay="0"/>
                                  </p:stCondLst>
                                  <p:childTnLst>
                                    <p:set>
                                      <p:cBhvr>
                                        <p:cTn id="16" dur="1" fill="hold">
                                          <p:stCondLst>
                                            <p:cond delay="0"/>
                                          </p:stCondLst>
                                        </p:cTn>
                                        <p:tgtEl>
                                          <p:spTgt spid="7"/>
                                        </p:tgtEl>
                                        <p:attrNameLst>
                                          <p:attrName>style.visibility</p:attrName>
                                        </p:attrNameLst>
                                      </p:cBhvr>
                                      <p:to>
                                        <p:strVal val="visible"/>
                                      </p:to>
                                    </p:set>
                                    <p:anim calcmode="lin" valueType="num">
                                      <p:cBhvr additive="base">
                                        <p:cTn id="17" dur="500" fill="hold"/>
                                        <p:tgtEl>
                                          <p:spTgt spid="7"/>
                                        </p:tgtEl>
                                        <p:attrNameLst>
                                          <p:attrName>ppt_x</p:attrName>
                                        </p:attrNameLst>
                                      </p:cBhvr>
                                      <p:tavLst>
                                        <p:tav tm="0">
                                          <p:val>
                                            <p:strVal val="#ppt_x"/>
                                          </p:val>
                                        </p:tav>
                                        <p:tav tm="100000">
                                          <p:val>
                                            <p:strVal val="#ppt_x"/>
                                          </p:val>
                                        </p:tav>
                                      </p:tavLst>
                                    </p:anim>
                                    <p:anim calcmode="lin" valueType="num">
                                      <p:cBhvr additive="base">
                                        <p:cTn id="18" dur="500" fill="hold"/>
                                        <p:tgtEl>
                                          <p:spTgt spid="7"/>
                                        </p:tgtEl>
                                        <p:attrNameLst>
                                          <p:attrName>ppt_y</p:attrName>
                                        </p:attrNameLst>
                                      </p:cBhvr>
                                      <p:tavLst>
                                        <p:tav tm="0">
                                          <p:val>
                                            <p:strVal val="1+#ppt_h/2"/>
                                          </p:val>
                                        </p:tav>
                                        <p:tav tm="100000">
                                          <p:val>
                                            <p:strVal val="#ppt_y"/>
                                          </p:val>
                                        </p:tav>
                                      </p:tavLst>
                                    </p:anim>
                                  </p:childTnLst>
                                </p:cTn>
                              </p:par>
                            </p:childTnLst>
                          </p:cTn>
                        </p:par>
                      </p:childTnLst>
                    </p:cTn>
                  </p:par>
                  <p:par>
                    <p:cTn id="19" fill="hold">
                      <p:stCondLst>
                        <p:cond delay="indefinite"/>
                      </p:stCondLst>
                      <p:childTnLst>
                        <p:par>
                          <p:cTn id="20" fill="hold">
                            <p:stCondLst>
                              <p:cond delay="0"/>
                            </p:stCondLst>
                            <p:childTnLst>
                              <p:par>
                                <p:cTn id="21" presetID="2" presetClass="entr" presetSubtype="4" fill="hold" nodeType="clickEffect">
                                  <p:stCondLst>
                                    <p:cond delay="0"/>
                                  </p:stCondLst>
                                  <p:childTnLst>
                                    <p:set>
                                      <p:cBhvr>
                                        <p:cTn id="22" dur="1" fill="hold">
                                          <p:stCondLst>
                                            <p:cond delay="0"/>
                                          </p:stCondLst>
                                        </p:cTn>
                                        <p:tgtEl>
                                          <p:spTgt spid="17"/>
                                        </p:tgtEl>
                                        <p:attrNameLst>
                                          <p:attrName>style.visibility</p:attrName>
                                        </p:attrNameLst>
                                      </p:cBhvr>
                                      <p:to>
                                        <p:strVal val="visible"/>
                                      </p:to>
                                    </p:set>
                                    <p:anim calcmode="lin" valueType="num">
                                      <p:cBhvr additive="base">
                                        <p:cTn id="23" dur="500" fill="hold"/>
                                        <p:tgtEl>
                                          <p:spTgt spid="17"/>
                                        </p:tgtEl>
                                        <p:attrNameLst>
                                          <p:attrName>ppt_x</p:attrName>
                                        </p:attrNameLst>
                                      </p:cBhvr>
                                      <p:tavLst>
                                        <p:tav tm="0">
                                          <p:val>
                                            <p:strVal val="#ppt_x"/>
                                          </p:val>
                                        </p:tav>
                                        <p:tav tm="100000">
                                          <p:val>
                                            <p:strVal val="#ppt_x"/>
                                          </p:val>
                                        </p:tav>
                                      </p:tavLst>
                                    </p:anim>
                                    <p:anim calcmode="lin" valueType="num">
                                      <p:cBhvr additive="base">
                                        <p:cTn id="24" dur="500" fill="hold"/>
                                        <p:tgtEl>
                                          <p:spTgt spid="17"/>
                                        </p:tgtEl>
                                        <p:attrNameLst>
                                          <p:attrName>ppt_y</p:attrName>
                                        </p:attrNameLst>
                                      </p:cBhvr>
                                      <p:tavLst>
                                        <p:tav tm="0">
                                          <p:val>
                                            <p:strVal val="1+#ppt_h/2"/>
                                          </p:val>
                                        </p:tav>
                                        <p:tav tm="100000">
                                          <p:val>
                                            <p:strVal val="#ppt_y"/>
                                          </p:val>
                                        </p:tav>
                                      </p:tavLst>
                                    </p:anim>
                                  </p:childTnLst>
                                </p:cTn>
                              </p:par>
                            </p:childTnLst>
                          </p:cTn>
                        </p:par>
                      </p:childTnLst>
                    </p:cTn>
                  </p:par>
                  <p:par>
                    <p:cTn id="25" fill="hold">
                      <p:stCondLst>
                        <p:cond delay="indefinite"/>
                      </p:stCondLst>
                      <p:childTnLst>
                        <p:par>
                          <p:cTn id="26" fill="hold">
                            <p:stCondLst>
                              <p:cond delay="0"/>
                            </p:stCondLst>
                            <p:childTnLst>
                              <p:par>
                                <p:cTn id="27" presetID="4" presetClass="entr" presetSubtype="16" fill="hold" nodeType="clickEffect">
                                  <p:stCondLst>
                                    <p:cond delay="0"/>
                                  </p:stCondLst>
                                  <p:childTnLst>
                                    <p:set>
                                      <p:cBhvr>
                                        <p:cTn id="28" dur="1" fill="hold">
                                          <p:stCondLst>
                                            <p:cond delay="0"/>
                                          </p:stCondLst>
                                        </p:cTn>
                                        <p:tgtEl>
                                          <p:spTgt spid="13"/>
                                        </p:tgtEl>
                                        <p:attrNameLst>
                                          <p:attrName>style.visibility</p:attrName>
                                        </p:attrNameLst>
                                      </p:cBhvr>
                                      <p:to>
                                        <p:strVal val="visible"/>
                                      </p:to>
                                    </p:set>
                                    <p:animEffect transition="in" filter="box(in)">
                                      <p:cBhvr>
                                        <p:cTn id="29" dur="500"/>
                                        <p:tgtEl>
                                          <p:spTgt spid="13"/>
                                        </p:tgtEl>
                                      </p:cBhvr>
                                    </p:animEffect>
                                  </p:childTnLst>
                                </p:cTn>
                              </p:par>
                            </p:childTnLst>
                          </p:cTn>
                        </p:par>
                      </p:childTnLst>
                    </p:cTn>
                  </p:par>
                  <p:par>
                    <p:cTn id="30" fill="hold">
                      <p:stCondLst>
                        <p:cond delay="indefinite"/>
                      </p:stCondLst>
                      <p:childTnLst>
                        <p:par>
                          <p:cTn id="31" fill="hold">
                            <p:stCondLst>
                              <p:cond delay="0"/>
                            </p:stCondLst>
                            <p:childTnLst>
                              <p:par>
                                <p:cTn id="32" presetID="4" presetClass="entr" presetSubtype="16" fill="hold" nodeType="clickEffect">
                                  <p:stCondLst>
                                    <p:cond delay="0"/>
                                  </p:stCondLst>
                                  <p:childTnLst>
                                    <p:set>
                                      <p:cBhvr>
                                        <p:cTn id="33" dur="1" fill="hold">
                                          <p:stCondLst>
                                            <p:cond delay="0"/>
                                          </p:stCondLst>
                                        </p:cTn>
                                        <p:tgtEl>
                                          <p:spTgt spid="19"/>
                                        </p:tgtEl>
                                        <p:attrNameLst>
                                          <p:attrName>style.visibility</p:attrName>
                                        </p:attrNameLst>
                                      </p:cBhvr>
                                      <p:to>
                                        <p:strVal val="visible"/>
                                      </p:to>
                                    </p:set>
                                    <p:animEffect transition="in" filter="box(in)">
                                      <p:cBhvr>
                                        <p:cTn id="34" dur="500"/>
                                        <p:tgtEl>
                                          <p:spTgt spid="19"/>
                                        </p:tgtEl>
                                      </p:cBhvr>
                                    </p:animEffect>
                                  </p:childTnLst>
                                </p:cTn>
                              </p:par>
                            </p:childTnLst>
                          </p:cTn>
                        </p:par>
                      </p:childTnLst>
                    </p:cTn>
                  </p:par>
                  <p:par>
                    <p:cTn id="35" fill="hold">
                      <p:stCondLst>
                        <p:cond delay="indefinite"/>
                      </p:stCondLst>
                      <p:childTnLst>
                        <p:par>
                          <p:cTn id="36" fill="hold">
                            <p:stCondLst>
                              <p:cond delay="0"/>
                            </p:stCondLst>
                            <p:childTnLst>
                              <p:par>
                                <p:cTn id="37" presetID="8" presetClass="entr" presetSubtype="16" fill="hold" nodeType="clickEffect">
                                  <p:stCondLst>
                                    <p:cond delay="0"/>
                                  </p:stCondLst>
                                  <p:childTnLst>
                                    <p:set>
                                      <p:cBhvr>
                                        <p:cTn id="38" dur="1" fill="hold">
                                          <p:stCondLst>
                                            <p:cond delay="0"/>
                                          </p:stCondLst>
                                        </p:cTn>
                                        <p:tgtEl>
                                          <p:spTgt spid="9"/>
                                        </p:tgtEl>
                                        <p:attrNameLst>
                                          <p:attrName>style.visibility</p:attrName>
                                        </p:attrNameLst>
                                      </p:cBhvr>
                                      <p:to>
                                        <p:strVal val="visible"/>
                                      </p:to>
                                    </p:set>
                                    <p:animEffect transition="in" filter="diamond(in)">
                                      <p:cBhvr>
                                        <p:cTn id="39" dur="500"/>
                                        <p:tgtEl>
                                          <p:spTgt spid="9"/>
                                        </p:tgtEl>
                                      </p:cBhvr>
                                    </p:animEffect>
                                  </p:childTnLst>
                                </p:cTn>
                              </p:par>
                            </p:childTnLst>
                          </p:cTn>
                        </p:par>
                      </p:childTnLst>
                    </p:cTn>
                  </p:par>
                  <p:par>
                    <p:cTn id="40" fill="hold">
                      <p:stCondLst>
                        <p:cond delay="indefinite"/>
                      </p:stCondLst>
                      <p:childTnLst>
                        <p:par>
                          <p:cTn id="41" fill="hold">
                            <p:stCondLst>
                              <p:cond delay="0"/>
                            </p:stCondLst>
                            <p:childTnLst>
                              <p:par>
                                <p:cTn id="42" presetID="8" presetClass="entr" presetSubtype="16" fill="hold" nodeType="clickEffect">
                                  <p:stCondLst>
                                    <p:cond delay="0"/>
                                  </p:stCondLst>
                                  <p:childTnLst>
                                    <p:set>
                                      <p:cBhvr>
                                        <p:cTn id="43" dur="1" fill="hold">
                                          <p:stCondLst>
                                            <p:cond delay="0"/>
                                          </p:stCondLst>
                                        </p:cTn>
                                        <p:tgtEl>
                                          <p:spTgt spid="21"/>
                                        </p:tgtEl>
                                        <p:attrNameLst>
                                          <p:attrName>style.visibility</p:attrName>
                                        </p:attrNameLst>
                                      </p:cBhvr>
                                      <p:to>
                                        <p:strVal val="visible"/>
                                      </p:to>
                                    </p:set>
                                    <p:animEffect transition="in" filter="diamond(in)">
                                      <p:cBhvr>
                                        <p:cTn id="44" dur="500"/>
                                        <p:tgtEl>
                                          <p:spTgt spid="21"/>
                                        </p:tgtEl>
                                      </p:cBhvr>
                                    </p:animEffect>
                                  </p:childTnLst>
                                </p:cTn>
                              </p:par>
                            </p:childTnLst>
                          </p:cTn>
                        </p:par>
                      </p:childTnLst>
                    </p:cTn>
                  </p:par>
                  <p:par>
                    <p:cTn id="45" fill="hold">
                      <p:stCondLst>
                        <p:cond delay="indefinite"/>
                      </p:stCondLst>
                      <p:childTnLst>
                        <p:par>
                          <p:cTn id="46" fill="hold">
                            <p:stCondLst>
                              <p:cond delay="0"/>
                            </p:stCondLst>
                            <p:childTnLst>
                              <p:par>
                                <p:cTn id="47" presetID="5" presetClass="entr" presetSubtype="10" fill="hold" nodeType="clickEffect">
                                  <p:stCondLst>
                                    <p:cond delay="0"/>
                                  </p:stCondLst>
                                  <p:childTnLst>
                                    <p:set>
                                      <p:cBhvr>
                                        <p:cTn id="48" dur="1" fill="hold">
                                          <p:stCondLst>
                                            <p:cond delay="0"/>
                                          </p:stCondLst>
                                        </p:cTn>
                                        <p:tgtEl>
                                          <p:spTgt spid="11"/>
                                        </p:tgtEl>
                                        <p:attrNameLst>
                                          <p:attrName>style.visibility</p:attrName>
                                        </p:attrNameLst>
                                      </p:cBhvr>
                                      <p:to>
                                        <p:strVal val="visible"/>
                                      </p:to>
                                    </p:set>
                                    <p:animEffect transition="in" filter="checkerboard(across)">
                                      <p:cBhvr>
                                        <p:cTn id="49" dur="500"/>
                                        <p:tgtEl>
                                          <p:spTgt spid="11"/>
                                        </p:tgtEl>
                                      </p:cBhvr>
                                    </p:animEffect>
                                  </p:childTnLst>
                                </p:cTn>
                              </p:par>
                            </p:childTnLst>
                          </p:cTn>
                        </p:par>
                      </p:childTnLst>
                    </p:cTn>
                  </p:par>
                  <p:par>
                    <p:cTn id="50" fill="hold">
                      <p:stCondLst>
                        <p:cond delay="indefinite"/>
                      </p:stCondLst>
                      <p:childTnLst>
                        <p:par>
                          <p:cTn id="51" fill="hold">
                            <p:stCondLst>
                              <p:cond delay="0"/>
                            </p:stCondLst>
                            <p:childTnLst>
                              <p:par>
                                <p:cTn id="52" presetID="5" presetClass="entr" presetSubtype="10" fill="hold" nodeType="clickEffect">
                                  <p:stCondLst>
                                    <p:cond delay="0"/>
                                  </p:stCondLst>
                                  <p:childTnLst>
                                    <p:set>
                                      <p:cBhvr>
                                        <p:cTn id="53" dur="1" fill="hold">
                                          <p:stCondLst>
                                            <p:cond delay="0"/>
                                          </p:stCondLst>
                                        </p:cTn>
                                        <p:tgtEl>
                                          <p:spTgt spid="23"/>
                                        </p:tgtEl>
                                        <p:attrNameLst>
                                          <p:attrName>style.visibility</p:attrName>
                                        </p:attrNameLst>
                                      </p:cBhvr>
                                      <p:to>
                                        <p:strVal val="visible"/>
                                      </p:to>
                                    </p:set>
                                    <p:animEffect transition="in" filter="checkerboard(across)">
                                      <p:cBhvr>
                                        <p:cTn id="54" dur="500"/>
                                        <p:tgtEl>
                                          <p:spTgt spid="23"/>
                                        </p:tgtEl>
                                      </p:cBhvr>
                                    </p:animEffect>
                                  </p:childTnLst>
                                </p:cTn>
                              </p:par>
                            </p:childTnLst>
                          </p:cTn>
                        </p:par>
                      </p:childTnLst>
                    </p:cTn>
                  </p:par>
                  <p:par>
                    <p:cTn id="55" fill="hold">
                      <p:stCondLst>
                        <p:cond delay="indefinite"/>
                      </p:stCondLst>
                      <p:childTnLst>
                        <p:par>
                          <p:cTn id="56" fill="hold">
                            <p:stCondLst>
                              <p:cond delay="0"/>
                            </p:stCondLst>
                            <p:childTnLst>
                              <p:par>
                                <p:cTn id="57" presetID="22" presetClass="entr" presetSubtype="4" fill="hold" nodeType="clickEffect">
                                  <p:stCondLst>
                                    <p:cond delay="0"/>
                                  </p:stCondLst>
                                  <p:childTnLst>
                                    <p:set>
                                      <p:cBhvr>
                                        <p:cTn id="58" dur="1" fill="hold">
                                          <p:stCondLst>
                                            <p:cond delay="0"/>
                                          </p:stCondLst>
                                        </p:cTn>
                                        <p:tgtEl>
                                          <p:spTgt spid="108663"/>
                                        </p:tgtEl>
                                        <p:attrNameLst>
                                          <p:attrName>style.visibility</p:attrName>
                                        </p:attrNameLst>
                                      </p:cBhvr>
                                      <p:to>
                                        <p:strVal val="visible"/>
                                      </p:to>
                                    </p:set>
                                    <p:animEffect transition="in" filter="wipe(down)">
                                      <p:cBhvr>
                                        <p:cTn id="59" dur="2000"/>
                                        <p:tgtEl>
                                          <p:spTgt spid="108663"/>
                                        </p:tgtEl>
                                      </p:cBhvr>
                                    </p:animEffect>
                                  </p:childTnLst>
                                </p:cTn>
                              </p:par>
                            </p:childTnLst>
                          </p:cTn>
                        </p:par>
                      </p:childTnLst>
                    </p:cTn>
                  </p:par>
                  <p:par>
                    <p:cTn id="60" fill="hold">
                      <p:stCondLst>
                        <p:cond delay="indefinite"/>
                      </p:stCondLst>
                      <p:childTnLst>
                        <p:par>
                          <p:cTn id="61" fill="hold">
                            <p:stCondLst>
                              <p:cond delay="0"/>
                            </p:stCondLst>
                            <p:childTnLst>
                              <p:par>
                                <p:cTn id="62" presetID="22" presetClass="entr" presetSubtype="8" fill="hold" grpId="0" nodeType="clickEffect">
                                  <p:stCondLst>
                                    <p:cond delay="0"/>
                                  </p:stCondLst>
                                  <p:childTnLst>
                                    <p:set>
                                      <p:cBhvr>
                                        <p:cTn id="63" dur="1" fill="hold">
                                          <p:stCondLst>
                                            <p:cond delay="0"/>
                                          </p:stCondLst>
                                        </p:cTn>
                                        <p:tgtEl>
                                          <p:spTgt spid="108573"/>
                                        </p:tgtEl>
                                        <p:attrNameLst>
                                          <p:attrName>style.visibility</p:attrName>
                                        </p:attrNameLst>
                                      </p:cBhvr>
                                      <p:to>
                                        <p:strVal val="visible"/>
                                      </p:to>
                                    </p:set>
                                    <p:animEffect transition="in" filter="wipe(left)">
                                      <p:cBhvr>
                                        <p:cTn id="64" dur="2000"/>
                                        <p:tgtEl>
                                          <p:spTgt spid="108573"/>
                                        </p:tgtEl>
                                      </p:cBhvr>
                                    </p:animEffect>
                                  </p:childTnLst>
                                </p:cTn>
                              </p:par>
                            </p:childTnLst>
                          </p:cTn>
                        </p:par>
                        <p:par>
                          <p:cTn id="65" fill="hold">
                            <p:stCondLst>
                              <p:cond delay="2000"/>
                            </p:stCondLst>
                            <p:childTnLst>
                              <p:par>
                                <p:cTn id="66" presetID="22" presetClass="entr" presetSubtype="2" fill="hold" grpId="0" nodeType="afterEffect">
                                  <p:stCondLst>
                                    <p:cond delay="0"/>
                                  </p:stCondLst>
                                  <p:childTnLst>
                                    <p:set>
                                      <p:cBhvr>
                                        <p:cTn id="67" dur="1" fill="hold">
                                          <p:stCondLst>
                                            <p:cond delay="0"/>
                                          </p:stCondLst>
                                        </p:cTn>
                                        <p:tgtEl>
                                          <p:spTgt spid="108589"/>
                                        </p:tgtEl>
                                        <p:attrNameLst>
                                          <p:attrName>style.visibility</p:attrName>
                                        </p:attrNameLst>
                                      </p:cBhvr>
                                      <p:to>
                                        <p:strVal val="visible"/>
                                      </p:to>
                                    </p:set>
                                    <p:animEffect transition="in" filter="wipe(right)">
                                      <p:cBhvr>
                                        <p:cTn id="68" dur="3000"/>
                                        <p:tgtEl>
                                          <p:spTgt spid="108589"/>
                                        </p:tgtEl>
                                      </p:cBhvr>
                                    </p:animEffect>
                                  </p:childTnLst>
                                </p:cTn>
                              </p:par>
                            </p:childTnLst>
                          </p:cTn>
                        </p:par>
                      </p:childTnLst>
                    </p:cTn>
                  </p:par>
                  <p:par>
                    <p:cTn id="69" fill="hold">
                      <p:stCondLst>
                        <p:cond delay="indefinite"/>
                      </p:stCondLst>
                      <p:childTnLst>
                        <p:par>
                          <p:cTn id="70" fill="hold">
                            <p:stCondLst>
                              <p:cond delay="0"/>
                            </p:stCondLst>
                            <p:childTnLst>
                              <p:par>
                                <p:cTn id="71" presetID="22" presetClass="entr" presetSubtype="4" fill="hold" nodeType="clickEffect">
                                  <p:stCondLst>
                                    <p:cond delay="0"/>
                                  </p:stCondLst>
                                  <p:childTnLst>
                                    <p:set>
                                      <p:cBhvr>
                                        <p:cTn id="72" dur="1" fill="hold">
                                          <p:stCondLst>
                                            <p:cond delay="0"/>
                                          </p:stCondLst>
                                        </p:cTn>
                                        <p:tgtEl>
                                          <p:spTgt spid="108651"/>
                                        </p:tgtEl>
                                        <p:attrNameLst>
                                          <p:attrName>style.visibility</p:attrName>
                                        </p:attrNameLst>
                                      </p:cBhvr>
                                      <p:to>
                                        <p:strVal val="visible"/>
                                      </p:to>
                                    </p:set>
                                    <p:animEffect transition="in" filter="wipe(down)">
                                      <p:cBhvr>
                                        <p:cTn id="73" dur="2000"/>
                                        <p:tgtEl>
                                          <p:spTgt spid="108651"/>
                                        </p:tgtEl>
                                      </p:cBhvr>
                                    </p:animEffect>
                                  </p:childTnLst>
                                </p:cTn>
                              </p:par>
                            </p:childTnLst>
                          </p:cTn>
                        </p:par>
                      </p:childTnLst>
                    </p:cTn>
                  </p:par>
                  <p:par>
                    <p:cTn id="74" fill="hold">
                      <p:stCondLst>
                        <p:cond delay="indefinite"/>
                      </p:stCondLst>
                      <p:childTnLst>
                        <p:par>
                          <p:cTn id="75" fill="hold">
                            <p:stCondLst>
                              <p:cond delay="0"/>
                            </p:stCondLst>
                            <p:childTnLst>
                              <p:par>
                                <p:cTn id="76" presetID="22" presetClass="entr" presetSubtype="8" fill="hold" grpId="0" nodeType="clickEffect">
                                  <p:stCondLst>
                                    <p:cond delay="0"/>
                                  </p:stCondLst>
                                  <p:childTnLst>
                                    <p:set>
                                      <p:cBhvr>
                                        <p:cTn id="77" dur="1" fill="hold">
                                          <p:stCondLst>
                                            <p:cond delay="0"/>
                                          </p:stCondLst>
                                        </p:cTn>
                                        <p:tgtEl>
                                          <p:spTgt spid="108642"/>
                                        </p:tgtEl>
                                        <p:attrNameLst>
                                          <p:attrName>style.visibility</p:attrName>
                                        </p:attrNameLst>
                                      </p:cBhvr>
                                      <p:to>
                                        <p:strVal val="visible"/>
                                      </p:to>
                                    </p:set>
                                    <p:animEffect transition="in" filter="wipe(left)">
                                      <p:cBhvr>
                                        <p:cTn id="78" dur="2000"/>
                                        <p:tgtEl>
                                          <p:spTgt spid="108642"/>
                                        </p:tgtEl>
                                      </p:cBhvr>
                                    </p:animEffect>
                                  </p:childTnLst>
                                </p:cTn>
                              </p:par>
                            </p:childTnLst>
                          </p:cTn>
                        </p:par>
                        <p:par>
                          <p:cTn id="79" fill="hold">
                            <p:stCondLst>
                              <p:cond delay="2000"/>
                            </p:stCondLst>
                            <p:childTnLst>
                              <p:par>
                                <p:cTn id="80" presetID="22" presetClass="entr" presetSubtype="2" fill="hold" grpId="0" nodeType="afterEffect">
                                  <p:stCondLst>
                                    <p:cond delay="0"/>
                                  </p:stCondLst>
                                  <p:childTnLst>
                                    <p:set>
                                      <p:cBhvr>
                                        <p:cTn id="81" dur="1" fill="hold">
                                          <p:stCondLst>
                                            <p:cond delay="0"/>
                                          </p:stCondLst>
                                        </p:cTn>
                                        <p:tgtEl>
                                          <p:spTgt spid="108648"/>
                                        </p:tgtEl>
                                        <p:attrNameLst>
                                          <p:attrName>style.visibility</p:attrName>
                                        </p:attrNameLst>
                                      </p:cBhvr>
                                      <p:to>
                                        <p:strVal val="visible"/>
                                      </p:to>
                                    </p:set>
                                    <p:animEffect transition="in" filter="wipe(right)">
                                      <p:cBhvr>
                                        <p:cTn id="82" dur="2000"/>
                                        <p:tgtEl>
                                          <p:spTgt spid="108648"/>
                                        </p:tgtEl>
                                      </p:cBhvr>
                                    </p:animEffect>
                                  </p:childTnLst>
                                </p:cTn>
                              </p:par>
                            </p:childTnLst>
                          </p:cTn>
                        </p:par>
                      </p:childTnLst>
                    </p:cTn>
                  </p:par>
                  <p:par>
                    <p:cTn id="83" fill="hold">
                      <p:stCondLst>
                        <p:cond delay="indefinite"/>
                      </p:stCondLst>
                      <p:childTnLst>
                        <p:par>
                          <p:cTn id="84" fill="hold">
                            <p:stCondLst>
                              <p:cond delay="0"/>
                            </p:stCondLst>
                            <p:childTnLst>
                              <p:par>
                                <p:cTn id="85" presetID="22" presetClass="entr" presetSubtype="4" fill="hold" nodeType="clickEffect">
                                  <p:stCondLst>
                                    <p:cond delay="0"/>
                                  </p:stCondLst>
                                  <p:childTnLst>
                                    <p:set>
                                      <p:cBhvr>
                                        <p:cTn id="86" dur="1" fill="hold">
                                          <p:stCondLst>
                                            <p:cond delay="0"/>
                                          </p:stCondLst>
                                        </p:cTn>
                                        <p:tgtEl>
                                          <p:spTgt spid="108662"/>
                                        </p:tgtEl>
                                        <p:attrNameLst>
                                          <p:attrName>style.visibility</p:attrName>
                                        </p:attrNameLst>
                                      </p:cBhvr>
                                      <p:to>
                                        <p:strVal val="visible"/>
                                      </p:to>
                                    </p:set>
                                    <p:animEffect transition="in" filter="wipe(down)">
                                      <p:cBhvr>
                                        <p:cTn id="87" dur="2000"/>
                                        <p:tgtEl>
                                          <p:spTgt spid="108662"/>
                                        </p:tgtEl>
                                      </p:cBhvr>
                                    </p:animEffect>
                                  </p:childTnLst>
                                </p:cTn>
                              </p:par>
                            </p:childTnLst>
                          </p:cTn>
                        </p:par>
                      </p:childTnLst>
                    </p:cTn>
                  </p:par>
                  <p:par>
                    <p:cTn id="88" fill="hold">
                      <p:stCondLst>
                        <p:cond delay="indefinite"/>
                      </p:stCondLst>
                      <p:childTnLst>
                        <p:par>
                          <p:cTn id="89" fill="hold">
                            <p:stCondLst>
                              <p:cond delay="0"/>
                            </p:stCondLst>
                            <p:childTnLst>
                              <p:par>
                                <p:cTn id="90" presetID="22" presetClass="entr" presetSubtype="8" fill="hold" grpId="0" nodeType="clickEffect">
                                  <p:stCondLst>
                                    <p:cond delay="0"/>
                                  </p:stCondLst>
                                  <p:childTnLst>
                                    <p:set>
                                      <p:cBhvr>
                                        <p:cTn id="91" dur="1" fill="hold">
                                          <p:stCondLst>
                                            <p:cond delay="0"/>
                                          </p:stCondLst>
                                        </p:cTn>
                                        <p:tgtEl>
                                          <p:spTgt spid="108574"/>
                                        </p:tgtEl>
                                        <p:attrNameLst>
                                          <p:attrName>style.visibility</p:attrName>
                                        </p:attrNameLst>
                                      </p:cBhvr>
                                      <p:to>
                                        <p:strVal val="visible"/>
                                      </p:to>
                                    </p:set>
                                    <p:animEffect transition="in" filter="wipe(left)">
                                      <p:cBhvr>
                                        <p:cTn id="92" dur="2000"/>
                                        <p:tgtEl>
                                          <p:spTgt spid="108574"/>
                                        </p:tgtEl>
                                      </p:cBhvr>
                                    </p:animEffect>
                                  </p:childTnLst>
                                </p:cTn>
                              </p:par>
                            </p:childTnLst>
                          </p:cTn>
                        </p:par>
                        <p:par>
                          <p:cTn id="93" fill="hold">
                            <p:stCondLst>
                              <p:cond delay="2000"/>
                            </p:stCondLst>
                            <p:childTnLst>
                              <p:par>
                                <p:cTn id="94" presetID="22" presetClass="entr" presetSubtype="2" fill="hold" grpId="0" nodeType="afterEffect">
                                  <p:stCondLst>
                                    <p:cond delay="0"/>
                                  </p:stCondLst>
                                  <p:childTnLst>
                                    <p:set>
                                      <p:cBhvr>
                                        <p:cTn id="95" dur="1" fill="hold">
                                          <p:stCondLst>
                                            <p:cond delay="0"/>
                                          </p:stCondLst>
                                        </p:cTn>
                                        <p:tgtEl>
                                          <p:spTgt spid="108576"/>
                                        </p:tgtEl>
                                        <p:attrNameLst>
                                          <p:attrName>style.visibility</p:attrName>
                                        </p:attrNameLst>
                                      </p:cBhvr>
                                      <p:to>
                                        <p:strVal val="visible"/>
                                      </p:to>
                                    </p:set>
                                    <p:animEffect transition="in" filter="wipe(right)">
                                      <p:cBhvr>
                                        <p:cTn id="96" dur="2000"/>
                                        <p:tgtEl>
                                          <p:spTgt spid="108576"/>
                                        </p:tgtEl>
                                      </p:cBhvr>
                                    </p:animEffect>
                                  </p:childTnLst>
                                </p:cTn>
                              </p:par>
                            </p:childTnLst>
                          </p:cTn>
                        </p:par>
                      </p:childTnLst>
                    </p:cTn>
                  </p:par>
                  <p:par>
                    <p:cTn id="97" fill="hold">
                      <p:stCondLst>
                        <p:cond delay="indefinite"/>
                      </p:stCondLst>
                      <p:childTnLst>
                        <p:par>
                          <p:cTn id="98" fill="hold">
                            <p:stCondLst>
                              <p:cond delay="0"/>
                            </p:stCondLst>
                            <p:childTnLst>
                              <p:par>
                                <p:cTn id="99" presetID="22" presetClass="entr" presetSubtype="8" fill="hold" nodeType="clickEffect">
                                  <p:stCondLst>
                                    <p:cond delay="0"/>
                                  </p:stCondLst>
                                  <p:childTnLst>
                                    <p:set>
                                      <p:cBhvr>
                                        <p:cTn id="100" dur="1" fill="hold">
                                          <p:stCondLst>
                                            <p:cond delay="0"/>
                                          </p:stCondLst>
                                        </p:cTn>
                                        <p:tgtEl>
                                          <p:spTgt spid="108652"/>
                                        </p:tgtEl>
                                        <p:attrNameLst>
                                          <p:attrName>style.visibility</p:attrName>
                                        </p:attrNameLst>
                                      </p:cBhvr>
                                      <p:to>
                                        <p:strVal val="visible"/>
                                      </p:to>
                                    </p:set>
                                    <p:animEffect transition="in" filter="wipe(left)">
                                      <p:cBhvr>
                                        <p:cTn id="101" dur="2000"/>
                                        <p:tgtEl>
                                          <p:spTgt spid="108652"/>
                                        </p:tgtEl>
                                      </p:cBhvr>
                                    </p:animEffect>
                                  </p:childTnLst>
                                </p:cTn>
                              </p:par>
                            </p:childTnLst>
                          </p:cTn>
                        </p:par>
                      </p:childTnLst>
                    </p:cTn>
                  </p:par>
                  <p:par>
                    <p:cTn id="102" fill="hold">
                      <p:stCondLst>
                        <p:cond delay="indefinite"/>
                      </p:stCondLst>
                      <p:childTnLst>
                        <p:par>
                          <p:cTn id="103" fill="hold">
                            <p:stCondLst>
                              <p:cond delay="0"/>
                            </p:stCondLst>
                            <p:childTnLst>
                              <p:par>
                                <p:cTn id="104" presetID="22" presetClass="entr" presetSubtype="4" fill="hold" nodeType="clickEffect">
                                  <p:stCondLst>
                                    <p:cond delay="0"/>
                                  </p:stCondLst>
                                  <p:childTnLst>
                                    <p:set>
                                      <p:cBhvr>
                                        <p:cTn id="105" dur="1" fill="hold">
                                          <p:stCondLst>
                                            <p:cond delay="0"/>
                                          </p:stCondLst>
                                        </p:cTn>
                                        <p:tgtEl>
                                          <p:spTgt spid="108653"/>
                                        </p:tgtEl>
                                        <p:attrNameLst>
                                          <p:attrName>style.visibility</p:attrName>
                                        </p:attrNameLst>
                                      </p:cBhvr>
                                      <p:to>
                                        <p:strVal val="visible"/>
                                      </p:to>
                                    </p:set>
                                    <p:animEffect transition="in" filter="wipe(down)">
                                      <p:cBhvr>
                                        <p:cTn id="106" dur="2000"/>
                                        <p:tgtEl>
                                          <p:spTgt spid="108653"/>
                                        </p:tgtEl>
                                      </p:cBhvr>
                                    </p:animEffect>
                                  </p:childTnLst>
                                </p:cTn>
                              </p:par>
                            </p:childTnLst>
                          </p:cTn>
                        </p:par>
                      </p:childTnLst>
                    </p:cTn>
                  </p:par>
                  <p:par>
                    <p:cTn id="107" fill="hold">
                      <p:stCondLst>
                        <p:cond delay="indefinite"/>
                      </p:stCondLst>
                      <p:childTnLst>
                        <p:par>
                          <p:cTn id="108" fill="hold">
                            <p:stCondLst>
                              <p:cond delay="0"/>
                            </p:stCondLst>
                            <p:childTnLst>
                              <p:par>
                                <p:cTn id="109" presetID="22" presetClass="entr" presetSubtype="8" fill="hold" grpId="0" nodeType="clickEffect">
                                  <p:stCondLst>
                                    <p:cond delay="0"/>
                                  </p:stCondLst>
                                  <p:childTnLst>
                                    <p:set>
                                      <p:cBhvr>
                                        <p:cTn id="110" dur="1" fill="hold">
                                          <p:stCondLst>
                                            <p:cond delay="0"/>
                                          </p:stCondLst>
                                        </p:cTn>
                                        <p:tgtEl>
                                          <p:spTgt spid="108557"/>
                                        </p:tgtEl>
                                        <p:attrNameLst>
                                          <p:attrName>style.visibility</p:attrName>
                                        </p:attrNameLst>
                                      </p:cBhvr>
                                      <p:to>
                                        <p:strVal val="visible"/>
                                      </p:to>
                                    </p:set>
                                    <p:animEffect transition="in" filter="wipe(left)">
                                      <p:cBhvr>
                                        <p:cTn id="111" dur="2000"/>
                                        <p:tgtEl>
                                          <p:spTgt spid="108557"/>
                                        </p:tgtEl>
                                      </p:cBhvr>
                                    </p:animEffect>
                                  </p:childTnLst>
                                </p:cTn>
                              </p:par>
                            </p:childTnLst>
                          </p:cTn>
                        </p:par>
                      </p:childTnLst>
                    </p:cTn>
                  </p:par>
                  <p:par>
                    <p:cTn id="112" fill="hold">
                      <p:stCondLst>
                        <p:cond delay="indefinite"/>
                      </p:stCondLst>
                      <p:childTnLst>
                        <p:par>
                          <p:cTn id="113" fill="hold">
                            <p:stCondLst>
                              <p:cond delay="0"/>
                            </p:stCondLst>
                            <p:childTnLst>
                              <p:par>
                                <p:cTn id="114" presetID="18" presetClass="entr" presetSubtype="12" fill="hold" nodeType="clickEffect">
                                  <p:stCondLst>
                                    <p:cond delay="0"/>
                                  </p:stCondLst>
                                  <p:childTnLst>
                                    <p:set>
                                      <p:cBhvr>
                                        <p:cTn id="115" dur="1" fill="hold">
                                          <p:stCondLst>
                                            <p:cond delay="0"/>
                                          </p:stCondLst>
                                        </p:cTn>
                                        <p:tgtEl>
                                          <p:spTgt spid="2"/>
                                        </p:tgtEl>
                                        <p:attrNameLst>
                                          <p:attrName>style.visibility</p:attrName>
                                        </p:attrNameLst>
                                      </p:cBhvr>
                                      <p:to>
                                        <p:strVal val="visible"/>
                                      </p:to>
                                    </p:set>
                                    <p:animEffect transition="in" filter="strips(downLeft)">
                                      <p:cBhvr>
                                        <p:cTn id="116" dur="3000"/>
                                        <p:tgtEl>
                                          <p:spTgt spid="2"/>
                                        </p:tgtEl>
                                      </p:cBhvr>
                                    </p:animEffect>
                                  </p:childTnLst>
                                </p:cTn>
                              </p:par>
                            </p:childTnLst>
                          </p:cTn>
                        </p:par>
                      </p:childTnLst>
                    </p:cTn>
                  </p:par>
                  <p:par>
                    <p:cTn id="117" fill="hold">
                      <p:stCondLst>
                        <p:cond delay="indefinite"/>
                      </p:stCondLst>
                      <p:childTnLst>
                        <p:par>
                          <p:cTn id="118" fill="hold">
                            <p:stCondLst>
                              <p:cond delay="0"/>
                            </p:stCondLst>
                            <p:childTnLst>
                              <p:par>
                                <p:cTn id="119" presetID="22" presetClass="entr" presetSubtype="8" fill="hold" grpId="0" nodeType="clickEffect">
                                  <p:stCondLst>
                                    <p:cond delay="0"/>
                                  </p:stCondLst>
                                  <p:childTnLst>
                                    <p:set>
                                      <p:cBhvr>
                                        <p:cTn id="120" dur="1" fill="hold">
                                          <p:stCondLst>
                                            <p:cond delay="0"/>
                                          </p:stCondLst>
                                        </p:cTn>
                                        <p:tgtEl>
                                          <p:spTgt spid="108563"/>
                                        </p:tgtEl>
                                        <p:attrNameLst>
                                          <p:attrName>style.visibility</p:attrName>
                                        </p:attrNameLst>
                                      </p:cBhvr>
                                      <p:to>
                                        <p:strVal val="visible"/>
                                      </p:to>
                                    </p:set>
                                    <p:animEffect transition="in" filter="wipe(left)">
                                      <p:cBhvr>
                                        <p:cTn id="121" dur="2000"/>
                                        <p:tgtEl>
                                          <p:spTgt spid="108563"/>
                                        </p:tgtEl>
                                      </p:cBhvr>
                                    </p:animEffect>
                                  </p:childTnLst>
                                </p:cTn>
                              </p:par>
                            </p:childTnLst>
                          </p:cTn>
                        </p:par>
                      </p:childTnLst>
                    </p:cTn>
                  </p:par>
                  <p:par>
                    <p:cTn id="122" fill="hold">
                      <p:stCondLst>
                        <p:cond delay="indefinite"/>
                      </p:stCondLst>
                      <p:childTnLst>
                        <p:par>
                          <p:cTn id="123" fill="hold">
                            <p:stCondLst>
                              <p:cond delay="0"/>
                            </p:stCondLst>
                            <p:childTnLst>
                              <p:par>
                                <p:cTn id="124" presetID="18" presetClass="entr" presetSubtype="12" fill="hold" nodeType="clickEffect">
                                  <p:stCondLst>
                                    <p:cond delay="0"/>
                                  </p:stCondLst>
                                  <p:childTnLst>
                                    <p:set>
                                      <p:cBhvr>
                                        <p:cTn id="125" dur="1" fill="hold">
                                          <p:stCondLst>
                                            <p:cond delay="0"/>
                                          </p:stCondLst>
                                        </p:cTn>
                                        <p:tgtEl>
                                          <p:spTgt spid="3"/>
                                        </p:tgtEl>
                                        <p:attrNameLst>
                                          <p:attrName>style.visibility</p:attrName>
                                        </p:attrNameLst>
                                      </p:cBhvr>
                                      <p:to>
                                        <p:strVal val="visible"/>
                                      </p:to>
                                    </p:set>
                                    <p:animEffect transition="in" filter="strips(downLeft)">
                                      <p:cBhvr>
                                        <p:cTn id="126" dur="3000"/>
                                        <p:tgtEl>
                                          <p:spTgt spid="3"/>
                                        </p:tgtEl>
                                      </p:cBhvr>
                                    </p:animEffect>
                                  </p:childTnLst>
                                </p:cTn>
                              </p:par>
                            </p:childTnLst>
                          </p:cTn>
                        </p:par>
                      </p:childTnLst>
                    </p:cTn>
                  </p:par>
                  <p:par>
                    <p:cTn id="127" fill="hold">
                      <p:stCondLst>
                        <p:cond delay="indefinite"/>
                      </p:stCondLst>
                      <p:childTnLst>
                        <p:par>
                          <p:cTn id="128" fill="hold">
                            <p:stCondLst>
                              <p:cond delay="0"/>
                            </p:stCondLst>
                            <p:childTnLst>
                              <p:par>
                                <p:cTn id="129" presetID="22" presetClass="entr" presetSubtype="8" fill="hold" grpId="0" nodeType="clickEffect">
                                  <p:stCondLst>
                                    <p:cond delay="0"/>
                                  </p:stCondLst>
                                  <p:childTnLst>
                                    <p:set>
                                      <p:cBhvr>
                                        <p:cTn id="130" dur="1" fill="hold">
                                          <p:stCondLst>
                                            <p:cond delay="0"/>
                                          </p:stCondLst>
                                        </p:cTn>
                                        <p:tgtEl>
                                          <p:spTgt spid="108558"/>
                                        </p:tgtEl>
                                        <p:attrNameLst>
                                          <p:attrName>style.visibility</p:attrName>
                                        </p:attrNameLst>
                                      </p:cBhvr>
                                      <p:to>
                                        <p:strVal val="visible"/>
                                      </p:to>
                                    </p:set>
                                    <p:animEffect transition="in" filter="wipe(left)">
                                      <p:cBhvr>
                                        <p:cTn id="131" dur="2000"/>
                                        <p:tgtEl>
                                          <p:spTgt spid="108558"/>
                                        </p:tgtEl>
                                      </p:cBhvr>
                                    </p:animEffect>
                                  </p:childTnLst>
                                </p:cTn>
                              </p:par>
                            </p:childTnLst>
                          </p:cTn>
                        </p:par>
                      </p:childTnLst>
                    </p:cTn>
                  </p:par>
                  <p:par>
                    <p:cTn id="132" fill="hold">
                      <p:stCondLst>
                        <p:cond delay="indefinite"/>
                      </p:stCondLst>
                      <p:childTnLst>
                        <p:par>
                          <p:cTn id="133" fill="hold">
                            <p:stCondLst>
                              <p:cond delay="0"/>
                            </p:stCondLst>
                            <p:childTnLst>
                              <p:par>
                                <p:cTn id="134" presetID="18" presetClass="entr" presetSubtype="6" fill="hold" nodeType="clickEffect">
                                  <p:stCondLst>
                                    <p:cond delay="0"/>
                                  </p:stCondLst>
                                  <p:childTnLst>
                                    <p:set>
                                      <p:cBhvr>
                                        <p:cTn id="135" dur="1" fill="hold">
                                          <p:stCondLst>
                                            <p:cond delay="0"/>
                                          </p:stCondLst>
                                        </p:cTn>
                                        <p:tgtEl>
                                          <p:spTgt spid="4"/>
                                        </p:tgtEl>
                                        <p:attrNameLst>
                                          <p:attrName>style.visibility</p:attrName>
                                        </p:attrNameLst>
                                      </p:cBhvr>
                                      <p:to>
                                        <p:strVal val="visible"/>
                                      </p:to>
                                    </p:set>
                                    <p:animEffect transition="in" filter="strips(downRight)">
                                      <p:cBhvr>
                                        <p:cTn id="136" dur="3000"/>
                                        <p:tgtEl>
                                          <p:spTgt spid="4"/>
                                        </p:tgtEl>
                                      </p:cBhvr>
                                    </p:animEffect>
                                  </p:childTnLst>
                                </p:cTn>
                              </p:par>
                            </p:childTnLst>
                          </p:cTn>
                        </p:par>
                      </p:childTnLst>
                    </p:cTn>
                  </p:par>
                  <p:par>
                    <p:cTn id="137" fill="hold">
                      <p:stCondLst>
                        <p:cond delay="indefinite"/>
                      </p:stCondLst>
                      <p:childTnLst>
                        <p:par>
                          <p:cTn id="138" fill="hold">
                            <p:stCondLst>
                              <p:cond delay="0"/>
                            </p:stCondLst>
                            <p:childTnLst>
                              <p:par>
                                <p:cTn id="139" presetID="22" presetClass="entr" presetSubtype="8" fill="hold" grpId="0" nodeType="clickEffect">
                                  <p:stCondLst>
                                    <p:cond delay="0"/>
                                  </p:stCondLst>
                                  <p:childTnLst>
                                    <p:set>
                                      <p:cBhvr>
                                        <p:cTn id="140" dur="1" fill="hold">
                                          <p:stCondLst>
                                            <p:cond delay="0"/>
                                          </p:stCondLst>
                                        </p:cTn>
                                        <p:tgtEl>
                                          <p:spTgt spid="108556"/>
                                        </p:tgtEl>
                                        <p:attrNameLst>
                                          <p:attrName>style.visibility</p:attrName>
                                        </p:attrNameLst>
                                      </p:cBhvr>
                                      <p:to>
                                        <p:strVal val="visible"/>
                                      </p:to>
                                    </p:set>
                                    <p:animEffect transition="in" filter="wipe(left)">
                                      <p:cBhvr>
                                        <p:cTn id="141" dur="2000"/>
                                        <p:tgtEl>
                                          <p:spTgt spid="108556"/>
                                        </p:tgtEl>
                                      </p:cBhvr>
                                    </p:animEffect>
                                  </p:childTnLst>
                                </p:cTn>
                              </p:par>
                            </p:childTnLst>
                          </p:cTn>
                        </p:par>
                      </p:childTnLst>
                    </p:cTn>
                  </p:par>
                  <p:par>
                    <p:cTn id="142" fill="hold">
                      <p:stCondLst>
                        <p:cond delay="indefinite"/>
                      </p:stCondLst>
                      <p:childTnLst>
                        <p:par>
                          <p:cTn id="143" fill="hold">
                            <p:stCondLst>
                              <p:cond delay="0"/>
                            </p:stCondLst>
                            <p:childTnLst>
                              <p:par>
                                <p:cTn id="144" presetID="18" presetClass="entr" presetSubtype="3" fill="hold" nodeType="clickEffect">
                                  <p:stCondLst>
                                    <p:cond delay="0"/>
                                  </p:stCondLst>
                                  <p:childTnLst>
                                    <p:set>
                                      <p:cBhvr>
                                        <p:cTn id="145" dur="1" fill="hold">
                                          <p:stCondLst>
                                            <p:cond delay="0"/>
                                          </p:stCondLst>
                                        </p:cTn>
                                        <p:tgtEl>
                                          <p:spTgt spid="25"/>
                                        </p:tgtEl>
                                        <p:attrNameLst>
                                          <p:attrName>style.visibility</p:attrName>
                                        </p:attrNameLst>
                                      </p:cBhvr>
                                      <p:to>
                                        <p:strVal val="visible"/>
                                      </p:to>
                                    </p:set>
                                    <p:animEffect transition="in" filter="strips(upRight)">
                                      <p:cBhvr>
                                        <p:cTn id="146" dur="3000"/>
                                        <p:tgtEl>
                                          <p:spTgt spid="25"/>
                                        </p:tgtEl>
                                      </p:cBhvr>
                                    </p:animEffect>
                                  </p:childTnLst>
                                </p:cTn>
                              </p:par>
                            </p:childTnLst>
                          </p:cTn>
                        </p:par>
                      </p:childTnLst>
                    </p:cTn>
                  </p:par>
                  <p:par>
                    <p:cTn id="147" fill="hold">
                      <p:stCondLst>
                        <p:cond delay="indefinite"/>
                      </p:stCondLst>
                      <p:childTnLst>
                        <p:par>
                          <p:cTn id="148" fill="hold">
                            <p:stCondLst>
                              <p:cond delay="0"/>
                            </p:stCondLst>
                            <p:childTnLst>
                              <p:par>
                                <p:cTn id="149" presetID="22" presetClass="entr" presetSubtype="8" fill="hold" grpId="0" nodeType="clickEffect">
                                  <p:stCondLst>
                                    <p:cond delay="0"/>
                                  </p:stCondLst>
                                  <p:childTnLst>
                                    <p:set>
                                      <p:cBhvr>
                                        <p:cTn id="150" dur="1" fill="hold">
                                          <p:stCondLst>
                                            <p:cond delay="0"/>
                                          </p:stCondLst>
                                        </p:cTn>
                                        <p:tgtEl>
                                          <p:spTgt spid="108555"/>
                                        </p:tgtEl>
                                        <p:attrNameLst>
                                          <p:attrName>style.visibility</p:attrName>
                                        </p:attrNameLst>
                                      </p:cBhvr>
                                      <p:to>
                                        <p:strVal val="visible"/>
                                      </p:to>
                                    </p:set>
                                    <p:animEffect transition="in" filter="wipe(left)">
                                      <p:cBhvr>
                                        <p:cTn id="151" dur="2000"/>
                                        <p:tgtEl>
                                          <p:spTgt spid="108555"/>
                                        </p:tgtEl>
                                      </p:cBhvr>
                                    </p:animEffect>
                                  </p:childTnLst>
                                </p:cTn>
                              </p:par>
                            </p:childTnLst>
                          </p:cTn>
                        </p:par>
                      </p:childTnLst>
                    </p:cTn>
                  </p:par>
                  <p:par>
                    <p:cTn id="152" fill="hold">
                      <p:stCondLst>
                        <p:cond delay="indefinite"/>
                      </p:stCondLst>
                      <p:childTnLst>
                        <p:par>
                          <p:cTn id="153" fill="hold">
                            <p:stCondLst>
                              <p:cond delay="0"/>
                            </p:stCondLst>
                            <p:childTnLst>
                              <p:par>
                                <p:cTn id="154" presetID="18" presetClass="entr" presetSubtype="9" fill="hold" nodeType="clickEffect">
                                  <p:stCondLst>
                                    <p:cond delay="0"/>
                                  </p:stCondLst>
                                  <p:childTnLst>
                                    <p:set>
                                      <p:cBhvr>
                                        <p:cTn id="155" dur="1" fill="hold">
                                          <p:stCondLst>
                                            <p:cond delay="0"/>
                                          </p:stCondLst>
                                        </p:cTn>
                                        <p:tgtEl>
                                          <p:spTgt spid="26"/>
                                        </p:tgtEl>
                                        <p:attrNameLst>
                                          <p:attrName>style.visibility</p:attrName>
                                        </p:attrNameLst>
                                      </p:cBhvr>
                                      <p:to>
                                        <p:strVal val="visible"/>
                                      </p:to>
                                    </p:set>
                                    <p:animEffect transition="in" filter="strips(upLeft)">
                                      <p:cBhvr>
                                        <p:cTn id="156" dur="3000"/>
                                        <p:tgtEl>
                                          <p:spTgt spid="2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08555" grpId="0" animBg="1"/>
      <p:bldP spid="108556" grpId="0" animBg="1"/>
      <p:bldP spid="108557" grpId="0" animBg="1"/>
      <p:bldP spid="108558" grpId="0" animBg="1"/>
      <p:bldP spid="108563" grpId="0" animBg="1"/>
      <p:bldP spid="108573" grpId="0" animBg="1"/>
      <p:bldP spid="108574" grpId="0" animBg="1"/>
      <p:bldP spid="108576" grpId="0" animBg="1"/>
      <p:bldP spid="108589" grpId="0" animBg="1"/>
      <p:bldP spid="108642" grpId="0" animBg="1"/>
      <p:bldP spid="108648" grpId="0" animBg="1"/>
    </p:bldLst>
  </p:timing>
</p:sld>
</file>

<file path=ppt/slides/slide6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pSp>
        <p:nvGrpSpPr>
          <p:cNvPr id="53256" name="Group 28"/>
          <p:cNvGrpSpPr>
            <a:grpSpLocks/>
          </p:cNvGrpSpPr>
          <p:nvPr/>
        </p:nvGrpSpPr>
        <p:grpSpPr bwMode="auto">
          <a:xfrm>
            <a:off x="258763" y="404813"/>
            <a:ext cx="8893175" cy="5788025"/>
            <a:chOff x="113" y="164"/>
            <a:chExt cx="5602" cy="3646"/>
          </a:xfrm>
        </p:grpSpPr>
        <p:pic>
          <p:nvPicPr>
            <p:cNvPr id="53259" name="Picture 29"/>
            <p:cNvPicPr>
              <a:picLocks noChangeAspect="1" noChangeArrowheads="1"/>
            </p:cNvPicPr>
            <p:nvPr/>
          </p:nvPicPr>
          <p:blipFill>
            <a:blip r:embed="rId3" cstate="print"/>
            <a:srcRect/>
            <a:stretch>
              <a:fillRect/>
            </a:stretch>
          </p:blipFill>
          <p:spPr bwMode="auto">
            <a:xfrm>
              <a:off x="113" y="436"/>
              <a:ext cx="5602" cy="3374"/>
            </a:xfrm>
            <a:prstGeom prst="rect">
              <a:avLst/>
            </a:prstGeom>
            <a:noFill/>
            <a:ln w="9525">
              <a:noFill/>
              <a:miter lim="800000"/>
              <a:headEnd/>
              <a:tailEnd/>
            </a:ln>
          </p:spPr>
        </p:pic>
        <p:graphicFrame>
          <p:nvGraphicFramePr>
            <p:cNvPr id="53250" name="Object 30"/>
            <p:cNvGraphicFramePr>
              <a:graphicFrameLocks noChangeAspect="1"/>
            </p:cNvGraphicFramePr>
            <p:nvPr/>
          </p:nvGraphicFramePr>
          <p:xfrm>
            <a:off x="2381" y="164"/>
            <a:ext cx="726" cy="516"/>
          </p:xfrm>
          <a:graphic>
            <a:graphicData uri="http://schemas.openxmlformats.org/presentationml/2006/ole">
              <mc:AlternateContent xmlns:mc="http://schemas.openxmlformats.org/markup-compatibility/2006">
                <mc:Choice xmlns:v="urn:schemas-microsoft-com:vml" Requires="v">
                  <p:oleObj name="Equation" r:id="rId4" imgW="482391" imgH="342751" progId="Equation.DSMT4">
                    <p:embed/>
                  </p:oleObj>
                </mc:Choice>
                <mc:Fallback>
                  <p:oleObj name="Equation" r:id="rId4" imgW="482391" imgH="342751" progId="Equation.DSMT4">
                    <p:embed/>
                    <p:pic>
                      <p:nvPicPr>
                        <p:cNvPr id="0" name="Picture 37"/>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2381" y="164"/>
                          <a:ext cx="726" cy="51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1" name="Object 31"/>
            <p:cNvGraphicFramePr>
              <a:graphicFrameLocks noChangeAspect="1"/>
            </p:cNvGraphicFramePr>
            <p:nvPr/>
          </p:nvGraphicFramePr>
          <p:xfrm>
            <a:off x="1755" y="599"/>
            <a:ext cx="273" cy="228"/>
          </p:xfrm>
          <a:graphic>
            <a:graphicData uri="http://schemas.openxmlformats.org/presentationml/2006/ole">
              <mc:AlternateContent xmlns:mc="http://schemas.openxmlformats.org/markup-compatibility/2006">
                <mc:Choice xmlns:v="urn:schemas-microsoft-com:vml" Requires="v">
                  <p:oleObj name="Equation" r:id="rId6" imgW="228600" imgH="190500" progId="Equation.DSMT4">
                    <p:embed/>
                  </p:oleObj>
                </mc:Choice>
                <mc:Fallback>
                  <p:oleObj name="Equation" r:id="rId6" imgW="228600" imgH="190500" progId="Equation.DSMT4">
                    <p:embed/>
                    <p:pic>
                      <p:nvPicPr>
                        <p:cNvPr id="0" name="Picture 38"/>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1755" y="599"/>
                          <a:ext cx="273" cy="22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2" name="Object 32"/>
            <p:cNvGraphicFramePr>
              <a:graphicFrameLocks noChangeAspect="1"/>
            </p:cNvGraphicFramePr>
            <p:nvPr/>
          </p:nvGraphicFramePr>
          <p:xfrm>
            <a:off x="2318" y="2106"/>
            <a:ext cx="181" cy="166"/>
          </p:xfrm>
          <a:graphic>
            <a:graphicData uri="http://schemas.openxmlformats.org/presentationml/2006/ole">
              <mc:AlternateContent xmlns:mc="http://schemas.openxmlformats.org/markup-compatibility/2006">
                <mc:Choice xmlns:v="urn:schemas-microsoft-com:vml" Requires="v">
                  <p:oleObj name="Equation" r:id="rId8" imgW="152334" imgH="139639" progId="Equation.DSMT4">
                    <p:embed/>
                  </p:oleObj>
                </mc:Choice>
                <mc:Fallback>
                  <p:oleObj name="Equation" r:id="rId8" imgW="152334" imgH="139639" progId="Equation.DSMT4">
                    <p:embed/>
                    <p:pic>
                      <p:nvPicPr>
                        <p:cNvPr id="0" name="Picture 39"/>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2318" y="2106"/>
                          <a:ext cx="181" cy="166"/>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3" name="Object 33"/>
            <p:cNvGraphicFramePr>
              <a:graphicFrameLocks noChangeAspect="1"/>
            </p:cNvGraphicFramePr>
            <p:nvPr/>
          </p:nvGraphicFramePr>
          <p:xfrm>
            <a:off x="4032" y="645"/>
            <a:ext cx="230" cy="177"/>
          </p:xfrm>
          <a:graphic>
            <a:graphicData uri="http://schemas.openxmlformats.org/presentationml/2006/ole">
              <mc:AlternateContent xmlns:mc="http://schemas.openxmlformats.org/markup-compatibility/2006">
                <mc:Choice xmlns:v="urn:schemas-microsoft-com:vml" Requires="v">
                  <p:oleObj name="Equation" r:id="rId10" imgW="215619" imgH="164885" progId="Equation.DSMT4">
                    <p:embed/>
                  </p:oleObj>
                </mc:Choice>
                <mc:Fallback>
                  <p:oleObj name="Equation" r:id="rId10" imgW="215619" imgH="164885" progId="Equation.DSMT4">
                    <p:embed/>
                    <p:pic>
                      <p:nvPicPr>
                        <p:cNvPr id="0" name="Picture 40"/>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4032" y="645"/>
                          <a:ext cx="230" cy="17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3254" name="Object 34"/>
            <p:cNvGraphicFramePr>
              <a:graphicFrameLocks noChangeAspect="1"/>
            </p:cNvGraphicFramePr>
            <p:nvPr/>
          </p:nvGraphicFramePr>
          <p:xfrm>
            <a:off x="5375" y="2087"/>
            <a:ext cx="230" cy="190"/>
          </p:xfrm>
          <a:graphic>
            <a:graphicData uri="http://schemas.openxmlformats.org/presentationml/2006/ole">
              <mc:AlternateContent xmlns:mc="http://schemas.openxmlformats.org/markup-compatibility/2006">
                <mc:Choice xmlns:v="urn:schemas-microsoft-com:vml" Requires="v">
                  <p:oleObj name="Equation" r:id="rId12" imgW="215619" imgH="177569" progId="Equation.DSMT4">
                    <p:embed/>
                  </p:oleObj>
                </mc:Choice>
                <mc:Fallback>
                  <p:oleObj name="Equation" r:id="rId12" imgW="215619" imgH="177569" progId="Equation.DSMT4">
                    <p:embed/>
                    <p:pic>
                      <p:nvPicPr>
                        <p:cNvPr id="0" name="Picture 41"/>
                        <p:cNvPicPr>
                          <a:picLocks noChangeAspect="1" noChangeArrowheads="1"/>
                        </p:cNvPicPr>
                        <p:nvPr/>
                      </p:nvPicPr>
                      <p:blipFill>
                        <a:blip r:embed="rId13">
                          <a:extLst>
                            <a:ext uri="{28A0092B-C50C-407E-A947-70E740481C1C}">
                              <a14:useLocalDpi xmlns:a14="http://schemas.microsoft.com/office/drawing/2010/main" val="0"/>
                            </a:ext>
                          </a:extLst>
                        </a:blip>
                        <a:srcRect/>
                        <a:stretch>
                          <a:fillRect/>
                        </a:stretch>
                      </p:blipFill>
                      <p:spPr bwMode="auto">
                        <a:xfrm>
                          <a:off x="5375" y="2087"/>
                          <a:ext cx="230" cy="19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pSp>
      <p:sp>
        <p:nvSpPr>
          <p:cNvPr id="53257" name="Text Box 35"/>
          <p:cNvSpPr txBox="1">
            <a:spLocks noChangeArrowheads="1"/>
          </p:cNvSpPr>
          <p:nvPr/>
        </p:nvSpPr>
        <p:spPr bwMode="auto">
          <a:xfrm>
            <a:off x="7916863" y="4313238"/>
            <a:ext cx="311150" cy="396875"/>
          </a:xfrm>
          <a:prstGeom prst="rect">
            <a:avLst/>
          </a:prstGeom>
          <a:noFill/>
          <a:ln w="25400" algn="ctr">
            <a:noFill/>
            <a:miter lim="800000"/>
            <a:headEnd/>
            <a:tailEnd/>
          </a:ln>
        </p:spPr>
        <p:txBody>
          <a:bodyPr wrap="none">
            <a:spAutoFit/>
          </a:bodyPr>
          <a:lstStyle/>
          <a:p>
            <a:pPr algn="ctr"/>
            <a:r>
              <a:rPr kumimoji="0" lang="en-US" altLang="zh-CN" b="0"/>
              <a:t>5</a:t>
            </a:r>
          </a:p>
        </p:txBody>
      </p:sp>
      <p:sp>
        <p:nvSpPr>
          <p:cNvPr id="109604" name="Text Box 36"/>
          <p:cNvSpPr txBox="1">
            <a:spLocks noChangeArrowheads="1"/>
          </p:cNvSpPr>
          <p:nvPr/>
        </p:nvSpPr>
        <p:spPr bwMode="auto">
          <a:xfrm>
            <a:off x="2700338" y="5876925"/>
            <a:ext cx="5276850"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图</a:t>
            </a:r>
            <a:r>
              <a:rPr kumimoji="0" lang="en-US" altLang="zh-CN">
                <a:solidFill>
                  <a:srgbClr val="0000FF"/>
                </a:solidFill>
                <a:effectLst>
                  <a:outerShdw blurRad="38100" dist="38100" dir="2700000" algn="tl">
                    <a:srgbClr val="C0C0C0"/>
                  </a:outerShdw>
                </a:effectLst>
              </a:rPr>
              <a:t>3.14 </a:t>
            </a:r>
            <a:r>
              <a:rPr kumimoji="0" lang="en-US" altLang="zh-CN" i="1">
                <a:solidFill>
                  <a:srgbClr val="0000FF"/>
                </a:solidFill>
                <a:effectLst>
                  <a:outerShdw blurRad="38100" dist="38100" dir="2700000" algn="tl">
                    <a:srgbClr val="C0C0C0"/>
                  </a:outerShdw>
                </a:effectLst>
              </a:rPr>
              <a:t>s</a:t>
            </a:r>
            <a:r>
              <a:rPr kumimoji="0" lang="zh-CN" altLang="en-US">
                <a:solidFill>
                  <a:srgbClr val="0000FF"/>
                </a:solidFill>
                <a:effectLst>
                  <a:outerShdw blurRad="38100" dist="38100" dir="2700000" algn="tl">
                    <a:srgbClr val="C0C0C0"/>
                  </a:outerShdw>
                </a:effectLst>
              </a:rPr>
              <a:t>平面上的极点到</a:t>
            </a:r>
            <a:r>
              <a:rPr kumimoji="0" lang="en-US" altLang="zh-CN" i="1">
                <a:solidFill>
                  <a:srgbClr val="0000FF"/>
                </a:solidFill>
                <a:effectLst>
                  <a:outerShdw blurRad="38100" dist="38100" dir="2700000" algn="tl">
                    <a:srgbClr val="C0C0C0"/>
                  </a:outerShdw>
                </a:effectLst>
              </a:rPr>
              <a:t>z</a:t>
            </a:r>
            <a:r>
              <a:rPr kumimoji="0" lang="zh-CN" altLang="en-US">
                <a:solidFill>
                  <a:srgbClr val="0000FF"/>
                </a:solidFill>
                <a:effectLst>
                  <a:outerShdw blurRad="38100" dist="38100" dir="2700000" algn="tl">
                    <a:srgbClr val="C0C0C0"/>
                  </a:outerShdw>
                </a:effectLst>
              </a:rPr>
              <a:t>平面的映射</a:t>
            </a:r>
          </a:p>
        </p:txBody>
      </p:sp>
    </p:spTree>
  </p:cSld>
  <p:clrMapOvr>
    <a:masterClrMapping/>
  </p:clrMapOvr>
  <p:transition>
    <p:blinds/>
  </p:transition>
</p:sld>
</file>

<file path=ppt/slides/slide7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54274" name="Object 32"/>
          <p:cNvGraphicFramePr>
            <a:graphicFrameLocks noChangeAspect="1"/>
          </p:cNvGraphicFramePr>
          <p:nvPr/>
        </p:nvGraphicFramePr>
        <p:xfrm>
          <a:off x="539750" y="1989138"/>
          <a:ext cx="8070850" cy="3787775"/>
        </p:xfrm>
        <a:graphic>
          <a:graphicData uri="http://schemas.openxmlformats.org/presentationml/2006/ole">
            <mc:AlternateContent xmlns:mc="http://schemas.openxmlformats.org/markup-compatibility/2006">
              <mc:Choice xmlns:v="urn:schemas-microsoft-com:vml" Requires="v">
                <p:oleObj r:id="rId3" imgW="6998208" imgH="3283915" progId="Visio.Drawing.11">
                  <p:embed/>
                </p:oleObj>
              </mc:Choice>
              <mc:Fallback>
                <p:oleObj r:id="rId3" imgW="6998208" imgH="3283915" progId="Visio.Drawing.11">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750" y="1989138"/>
                        <a:ext cx="8070850" cy="3787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1649" name="Rectangle 33"/>
          <p:cNvSpPr>
            <a:spLocks noChangeArrowheads="1"/>
          </p:cNvSpPr>
          <p:nvPr/>
        </p:nvSpPr>
        <p:spPr bwMode="auto">
          <a:xfrm>
            <a:off x="539750" y="1196975"/>
            <a:ext cx="8424863" cy="396875"/>
          </a:xfrm>
          <a:prstGeom prst="rect">
            <a:avLst/>
          </a:prstGeom>
          <a:noFill/>
          <a:ln w="9525">
            <a:noFill/>
            <a:miter lim="800000"/>
            <a:headEnd/>
            <a:tailEnd/>
          </a:ln>
          <a:effectLst/>
        </p:spPr>
        <p:txBody>
          <a:bodyPr anchor="ctr">
            <a:spAutoFit/>
          </a:bodyPr>
          <a:lstStyle/>
          <a:p>
            <a:pPr>
              <a:defRPr/>
            </a:pPr>
            <a:r>
              <a:rPr kumimoji="0" lang="zh-CN" altLang="en-US">
                <a:solidFill>
                  <a:srgbClr val="0000FF"/>
                </a:solidFill>
                <a:effectLst>
                  <a:outerShdw blurRad="38100" dist="38100" dir="2700000" algn="tl">
                    <a:srgbClr val="C0C0C0"/>
                  </a:outerShdw>
                </a:effectLst>
              </a:rPr>
              <a:t>根据</a:t>
            </a:r>
            <a:r>
              <a:rPr kumimoji="0" lang="en-US" altLang="zh-CN" i="1">
                <a:solidFill>
                  <a:srgbClr val="0000FF"/>
                </a:solidFill>
                <a:effectLst>
                  <a:outerShdw blurRad="38100" dist="38100" dir="2700000" algn="tl">
                    <a:srgbClr val="C0C0C0"/>
                  </a:outerShdw>
                </a:effectLst>
              </a:rPr>
              <a:t>s</a:t>
            </a:r>
            <a:r>
              <a:rPr kumimoji="0" lang="zh-CN" altLang="en-US">
                <a:solidFill>
                  <a:srgbClr val="0000FF"/>
                </a:solidFill>
                <a:effectLst>
                  <a:outerShdw blurRad="38100" dist="38100" dir="2700000" algn="tl">
                    <a:srgbClr val="C0C0C0"/>
                  </a:outerShdw>
                </a:effectLst>
              </a:rPr>
              <a:t>平面和</a:t>
            </a:r>
            <a:r>
              <a:rPr kumimoji="0" lang="en-US" altLang="zh-CN" i="1">
                <a:solidFill>
                  <a:srgbClr val="0000FF"/>
                </a:solidFill>
                <a:effectLst>
                  <a:outerShdw blurRad="38100" dist="38100" dir="2700000" algn="tl">
                    <a:srgbClr val="C0C0C0"/>
                  </a:outerShdw>
                </a:effectLst>
              </a:rPr>
              <a:t>z</a:t>
            </a:r>
            <a:r>
              <a:rPr kumimoji="0" lang="zh-CN" altLang="en-US">
                <a:solidFill>
                  <a:srgbClr val="0000FF"/>
                </a:solidFill>
                <a:effectLst>
                  <a:outerShdw blurRad="38100" dist="38100" dir="2700000" algn="tl">
                    <a:srgbClr val="C0C0C0"/>
                  </a:outerShdw>
                </a:effectLst>
              </a:rPr>
              <a:t>平面的映射关系，标出</a:t>
            </a:r>
            <a:r>
              <a:rPr kumimoji="0" lang="en-US" altLang="zh-CN" i="1">
                <a:solidFill>
                  <a:srgbClr val="0000FF"/>
                </a:solidFill>
                <a:effectLst>
                  <a:outerShdw blurRad="38100" dist="38100" dir="2700000" algn="tl">
                    <a:srgbClr val="C0C0C0"/>
                  </a:outerShdw>
                </a:effectLst>
              </a:rPr>
              <a:t>s</a:t>
            </a:r>
            <a:r>
              <a:rPr kumimoji="0" lang="zh-CN" altLang="en-US">
                <a:solidFill>
                  <a:srgbClr val="0000FF"/>
                </a:solidFill>
                <a:effectLst>
                  <a:outerShdw blurRad="38100" dist="38100" dir="2700000" algn="tl">
                    <a:srgbClr val="C0C0C0"/>
                  </a:outerShdw>
                </a:effectLst>
              </a:rPr>
              <a:t>平面极点在</a:t>
            </a:r>
            <a:r>
              <a:rPr kumimoji="0" lang="en-US" altLang="zh-CN" i="1">
                <a:solidFill>
                  <a:srgbClr val="0000FF"/>
                </a:solidFill>
                <a:effectLst>
                  <a:outerShdw blurRad="38100" dist="38100" dir="2700000" algn="tl">
                    <a:srgbClr val="C0C0C0"/>
                  </a:outerShdw>
                </a:effectLst>
              </a:rPr>
              <a:t>z</a:t>
            </a:r>
            <a:r>
              <a:rPr kumimoji="0" lang="zh-CN" altLang="en-US">
                <a:solidFill>
                  <a:srgbClr val="0000FF"/>
                </a:solidFill>
                <a:effectLst>
                  <a:outerShdw blurRad="38100" dist="38100" dir="2700000" algn="tl">
                    <a:srgbClr val="C0C0C0"/>
                  </a:outerShdw>
                </a:effectLst>
              </a:rPr>
              <a:t>平面的大致位置 </a:t>
            </a:r>
          </a:p>
        </p:txBody>
      </p:sp>
      <p:grpSp>
        <p:nvGrpSpPr>
          <p:cNvPr id="2" name="Group 34"/>
          <p:cNvGrpSpPr>
            <a:grpSpLocks/>
          </p:cNvGrpSpPr>
          <p:nvPr/>
        </p:nvGrpSpPr>
        <p:grpSpPr bwMode="auto">
          <a:xfrm>
            <a:off x="6630988" y="3702050"/>
            <a:ext cx="461962" cy="396875"/>
            <a:chOff x="1038" y="2876"/>
            <a:chExt cx="291" cy="250"/>
          </a:xfrm>
        </p:grpSpPr>
        <p:grpSp>
          <p:nvGrpSpPr>
            <p:cNvPr id="54298" name="Group 35"/>
            <p:cNvGrpSpPr>
              <a:grpSpLocks/>
            </p:cNvGrpSpPr>
            <p:nvPr/>
          </p:nvGrpSpPr>
          <p:grpSpPr bwMode="auto">
            <a:xfrm>
              <a:off x="1238" y="2922"/>
              <a:ext cx="91" cy="100"/>
              <a:chOff x="1973" y="3521"/>
              <a:chExt cx="91" cy="100"/>
            </a:xfrm>
          </p:grpSpPr>
          <p:sp>
            <p:nvSpPr>
              <p:cNvPr id="111652" name="Line 36"/>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1653" name="Line 37"/>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4299" name="Text Box 38"/>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1</a:t>
              </a:r>
            </a:p>
          </p:txBody>
        </p:sp>
      </p:grpSp>
      <p:grpSp>
        <p:nvGrpSpPr>
          <p:cNvPr id="4" name="Group 39"/>
          <p:cNvGrpSpPr>
            <a:grpSpLocks/>
          </p:cNvGrpSpPr>
          <p:nvPr/>
        </p:nvGrpSpPr>
        <p:grpSpPr bwMode="auto">
          <a:xfrm>
            <a:off x="5580063" y="3284538"/>
            <a:ext cx="461962" cy="396875"/>
            <a:chOff x="1038" y="2876"/>
            <a:chExt cx="291" cy="250"/>
          </a:xfrm>
        </p:grpSpPr>
        <p:grpSp>
          <p:nvGrpSpPr>
            <p:cNvPr id="54294" name="Group 40"/>
            <p:cNvGrpSpPr>
              <a:grpSpLocks/>
            </p:cNvGrpSpPr>
            <p:nvPr/>
          </p:nvGrpSpPr>
          <p:grpSpPr bwMode="auto">
            <a:xfrm>
              <a:off x="1238" y="2922"/>
              <a:ext cx="91" cy="100"/>
              <a:chOff x="1973" y="3521"/>
              <a:chExt cx="91" cy="100"/>
            </a:xfrm>
          </p:grpSpPr>
          <p:sp>
            <p:nvSpPr>
              <p:cNvPr id="111657" name="Line 41"/>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1658" name="Line 42"/>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4295" name="Text Box 43"/>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5</a:t>
              </a:r>
            </a:p>
          </p:txBody>
        </p:sp>
      </p:grpSp>
      <p:grpSp>
        <p:nvGrpSpPr>
          <p:cNvPr id="6" name="Group 44"/>
          <p:cNvGrpSpPr>
            <a:grpSpLocks/>
          </p:cNvGrpSpPr>
          <p:nvPr/>
        </p:nvGrpSpPr>
        <p:grpSpPr bwMode="auto">
          <a:xfrm>
            <a:off x="6184900" y="3687763"/>
            <a:ext cx="461963" cy="396875"/>
            <a:chOff x="1038" y="2876"/>
            <a:chExt cx="291" cy="250"/>
          </a:xfrm>
        </p:grpSpPr>
        <p:grpSp>
          <p:nvGrpSpPr>
            <p:cNvPr id="54290" name="Group 45"/>
            <p:cNvGrpSpPr>
              <a:grpSpLocks/>
            </p:cNvGrpSpPr>
            <p:nvPr/>
          </p:nvGrpSpPr>
          <p:grpSpPr bwMode="auto">
            <a:xfrm>
              <a:off x="1238" y="2922"/>
              <a:ext cx="91" cy="100"/>
              <a:chOff x="1973" y="3521"/>
              <a:chExt cx="91" cy="100"/>
            </a:xfrm>
          </p:grpSpPr>
          <p:sp>
            <p:nvSpPr>
              <p:cNvPr id="111662" name="Line 46"/>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1663" name="Line 47"/>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4291" name="Text Box 48"/>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2</a:t>
              </a:r>
            </a:p>
          </p:txBody>
        </p:sp>
      </p:grpSp>
      <p:grpSp>
        <p:nvGrpSpPr>
          <p:cNvPr id="8" name="Group 49"/>
          <p:cNvGrpSpPr>
            <a:grpSpLocks/>
          </p:cNvGrpSpPr>
          <p:nvPr/>
        </p:nvGrpSpPr>
        <p:grpSpPr bwMode="auto">
          <a:xfrm>
            <a:off x="6948488" y="2924175"/>
            <a:ext cx="461962" cy="396875"/>
            <a:chOff x="1038" y="2876"/>
            <a:chExt cx="291" cy="250"/>
          </a:xfrm>
        </p:grpSpPr>
        <p:grpSp>
          <p:nvGrpSpPr>
            <p:cNvPr id="54286" name="Group 50"/>
            <p:cNvGrpSpPr>
              <a:grpSpLocks/>
            </p:cNvGrpSpPr>
            <p:nvPr/>
          </p:nvGrpSpPr>
          <p:grpSpPr bwMode="auto">
            <a:xfrm>
              <a:off x="1238" y="2922"/>
              <a:ext cx="91" cy="100"/>
              <a:chOff x="1973" y="3521"/>
              <a:chExt cx="91" cy="100"/>
            </a:xfrm>
          </p:grpSpPr>
          <p:sp>
            <p:nvSpPr>
              <p:cNvPr id="111667" name="Line 51"/>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1668" name="Line 52"/>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4287" name="Text Box 53"/>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3</a:t>
              </a:r>
            </a:p>
          </p:txBody>
        </p:sp>
      </p:grpSp>
      <p:grpSp>
        <p:nvGrpSpPr>
          <p:cNvPr id="10" name="Group 54"/>
          <p:cNvGrpSpPr>
            <a:grpSpLocks/>
          </p:cNvGrpSpPr>
          <p:nvPr/>
        </p:nvGrpSpPr>
        <p:grpSpPr bwMode="auto">
          <a:xfrm>
            <a:off x="6227763" y="4076700"/>
            <a:ext cx="461962" cy="396875"/>
            <a:chOff x="1038" y="2876"/>
            <a:chExt cx="291" cy="250"/>
          </a:xfrm>
        </p:grpSpPr>
        <p:grpSp>
          <p:nvGrpSpPr>
            <p:cNvPr id="54282" name="Group 55"/>
            <p:cNvGrpSpPr>
              <a:grpSpLocks/>
            </p:cNvGrpSpPr>
            <p:nvPr/>
          </p:nvGrpSpPr>
          <p:grpSpPr bwMode="auto">
            <a:xfrm>
              <a:off x="1238" y="2922"/>
              <a:ext cx="91" cy="100"/>
              <a:chOff x="1973" y="3521"/>
              <a:chExt cx="91" cy="100"/>
            </a:xfrm>
          </p:grpSpPr>
          <p:sp>
            <p:nvSpPr>
              <p:cNvPr id="111672" name="Line 56"/>
              <p:cNvSpPr>
                <a:spLocks noChangeShapeType="1"/>
              </p:cNvSpPr>
              <p:nvPr/>
            </p:nvSpPr>
            <p:spPr bwMode="auto">
              <a:xfrm>
                <a:off x="1973" y="3530"/>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1673" name="Line 57"/>
              <p:cNvSpPr>
                <a:spLocks noChangeShapeType="1"/>
              </p:cNvSpPr>
              <p:nvPr/>
            </p:nvSpPr>
            <p:spPr bwMode="auto">
              <a:xfrm flipV="1">
                <a:off x="1973" y="3521"/>
                <a:ext cx="91" cy="91"/>
              </a:xfrm>
              <a:prstGeom prst="line">
                <a:avLst/>
              </a:prstGeom>
              <a:noFill/>
              <a:ln w="25400">
                <a:solidFill>
                  <a:srgbClr val="0000FF"/>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pSp>
        <p:sp>
          <p:nvSpPr>
            <p:cNvPr id="54283" name="Text Box 58"/>
            <p:cNvSpPr txBox="1">
              <a:spLocks noChangeArrowheads="1"/>
            </p:cNvSpPr>
            <p:nvPr/>
          </p:nvSpPr>
          <p:spPr bwMode="auto">
            <a:xfrm>
              <a:off x="1038" y="2876"/>
              <a:ext cx="273" cy="250"/>
            </a:xfrm>
            <a:prstGeom prst="rect">
              <a:avLst/>
            </a:prstGeom>
            <a:noFill/>
            <a:ln w="25400" algn="ctr">
              <a:noFill/>
              <a:miter lim="800000"/>
              <a:headEnd/>
              <a:tailEnd/>
            </a:ln>
          </p:spPr>
          <p:txBody>
            <a:bodyPr>
              <a:spAutoFit/>
            </a:bodyPr>
            <a:lstStyle/>
            <a:p>
              <a:pPr algn="ctr">
                <a:spcBef>
                  <a:spcPct val="50000"/>
                </a:spcBef>
              </a:pPr>
              <a:r>
                <a:rPr kumimoji="0" lang="en-US" altLang="zh-CN"/>
                <a:t>4</a:t>
              </a:r>
            </a:p>
          </p:txBody>
        </p:sp>
      </p:grpSp>
    </p:spTree>
  </p:cSld>
  <p:clrMapOvr>
    <a:masterClrMapping/>
  </p:clrMapOvr>
  <p:transition>
    <p:blinds/>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3" presetClass="entr" presetSubtype="10" fill="hold"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blinds(horizontal)">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3" presetClass="entr" presetSubtype="10" fill="hold" nodeType="clickEffect">
                                  <p:stCondLst>
                                    <p:cond delay="0"/>
                                  </p:stCondLst>
                                  <p:childTnLst>
                                    <p:set>
                                      <p:cBhvr>
                                        <p:cTn id="11" dur="1" fill="hold">
                                          <p:stCondLst>
                                            <p:cond delay="0"/>
                                          </p:stCondLst>
                                        </p:cTn>
                                        <p:tgtEl>
                                          <p:spTgt spid="6"/>
                                        </p:tgtEl>
                                        <p:attrNameLst>
                                          <p:attrName>style.visibility</p:attrName>
                                        </p:attrNameLst>
                                      </p:cBhvr>
                                      <p:to>
                                        <p:strVal val="visible"/>
                                      </p:to>
                                    </p:set>
                                    <p:animEffect transition="in" filter="blinds(horizontal)">
                                      <p:cBhvr>
                                        <p:cTn id="12" dur="500"/>
                                        <p:tgtEl>
                                          <p:spTgt spid="6"/>
                                        </p:tgtEl>
                                      </p:cBhvr>
                                    </p:animEffect>
                                  </p:childTnLst>
                                </p:cTn>
                              </p:par>
                            </p:childTnLst>
                          </p:cTn>
                        </p:par>
                      </p:childTnLst>
                    </p:cTn>
                  </p:par>
                  <p:par>
                    <p:cTn id="13" fill="hold">
                      <p:stCondLst>
                        <p:cond delay="indefinite"/>
                      </p:stCondLst>
                      <p:childTnLst>
                        <p:par>
                          <p:cTn id="14" fill="hold">
                            <p:stCondLst>
                              <p:cond delay="0"/>
                            </p:stCondLst>
                            <p:childTnLst>
                              <p:par>
                                <p:cTn id="15" presetID="3" presetClass="entr" presetSubtype="10" fill="hold" nodeType="clickEffect">
                                  <p:stCondLst>
                                    <p:cond delay="0"/>
                                  </p:stCondLst>
                                  <p:childTnLst>
                                    <p:set>
                                      <p:cBhvr>
                                        <p:cTn id="16" dur="1" fill="hold">
                                          <p:stCondLst>
                                            <p:cond delay="0"/>
                                          </p:stCondLst>
                                        </p:cTn>
                                        <p:tgtEl>
                                          <p:spTgt spid="8"/>
                                        </p:tgtEl>
                                        <p:attrNameLst>
                                          <p:attrName>style.visibility</p:attrName>
                                        </p:attrNameLst>
                                      </p:cBhvr>
                                      <p:to>
                                        <p:strVal val="visible"/>
                                      </p:to>
                                    </p:set>
                                    <p:animEffect transition="in" filter="blinds(horizontal)">
                                      <p:cBhvr>
                                        <p:cTn id="17" dur="500"/>
                                        <p:tgtEl>
                                          <p:spTgt spid="8"/>
                                        </p:tgtEl>
                                      </p:cBhvr>
                                    </p:animEffect>
                                  </p:childTnLst>
                                </p:cTn>
                              </p:par>
                            </p:childTnLst>
                          </p:cTn>
                        </p:par>
                      </p:childTnLst>
                    </p:cTn>
                  </p:par>
                  <p:par>
                    <p:cTn id="18" fill="hold">
                      <p:stCondLst>
                        <p:cond delay="indefinite"/>
                      </p:stCondLst>
                      <p:childTnLst>
                        <p:par>
                          <p:cTn id="19" fill="hold">
                            <p:stCondLst>
                              <p:cond delay="0"/>
                            </p:stCondLst>
                            <p:childTnLst>
                              <p:par>
                                <p:cTn id="20" presetID="3" presetClass="entr" presetSubtype="10" fill="hold" nodeType="clickEffect">
                                  <p:stCondLst>
                                    <p:cond delay="0"/>
                                  </p:stCondLst>
                                  <p:childTnLst>
                                    <p:set>
                                      <p:cBhvr>
                                        <p:cTn id="21" dur="1" fill="hold">
                                          <p:stCondLst>
                                            <p:cond delay="0"/>
                                          </p:stCondLst>
                                        </p:cTn>
                                        <p:tgtEl>
                                          <p:spTgt spid="10"/>
                                        </p:tgtEl>
                                        <p:attrNameLst>
                                          <p:attrName>style.visibility</p:attrName>
                                        </p:attrNameLst>
                                      </p:cBhvr>
                                      <p:to>
                                        <p:strVal val="visible"/>
                                      </p:to>
                                    </p:set>
                                    <p:animEffect transition="in" filter="blinds(horizontal)">
                                      <p:cBhvr>
                                        <p:cTn id="22" dur="500"/>
                                        <p:tgtEl>
                                          <p:spTgt spid="10"/>
                                        </p:tgtEl>
                                      </p:cBhvr>
                                    </p:animEffect>
                                  </p:childTnLst>
                                </p:cTn>
                              </p:par>
                            </p:childTnLst>
                          </p:cTn>
                        </p:par>
                      </p:childTnLst>
                    </p:cTn>
                  </p:par>
                  <p:par>
                    <p:cTn id="23" fill="hold">
                      <p:stCondLst>
                        <p:cond delay="indefinite"/>
                      </p:stCondLst>
                      <p:childTnLst>
                        <p:par>
                          <p:cTn id="24" fill="hold">
                            <p:stCondLst>
                              <p:cond delay="0"/>
                            </p:stCondLst>
                            <p:childTnLst>
                              <p:par>
                                <p:cTn id="25" presetID="3" presetClass="entr" presetSubtype="10" fill="hold" nodeType="clickEffect">
                                  <p:stCondLst>
                                    <p:cond delay="0"/>
                                  </p:stCondLst>
                                  <p:childTnLst>
                                    <p:set>
                                      <p:cBhvr>
                                        <p:cTn id="26" dur="1" fill="hold">
                                          <p:stCondLst>
                                            <p:cond delay="0"/>
                                          </p:stCondLst>
                                        </p:cTn>
                                        <p:tgtEl>
                                          <p:spTgt spid="4"/>
                                        </p:tgtEl>
                                        <p:attrNameLst>
                                          <p:attrName>style.visibility</p:attrName>
                                        </p:attrNameLst>
                                      </p:cBhvr>
                                      <p:to>
                                        <p:strVal val="visible"/>
                                      </p:to>
                                    </p:set>
                                    <p:animEffect transition="in" filter="blinds(horizontal)">
                                      <p:cBhvr>
                                        <p:cTn id="2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7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2659" name="Rectangle 19"/>
          <p:cNvSpPr>
            <a:spLocks noChangeArrowheads="1"/>
          </p:cNvSpPr>
          <p:nvPr/>
        </p:nvSpPr>
        <p:spPr bwMode="auto">
          <a:xfrm>
            <a:off x="1042988" y="1484313"/>
            <a:ext cx="5400675" cy="504825"/>
          </a:xfrm>
          <a:prstGeom prst="rect">
            <a:avLst/>
          </a:prstGeom>
          <a:noFill/>
          <a:ln w="9525">
            <a:noFill/>
            <a:miter lim="800000"/>
            <a:headEnd/>
            <a:tailEnd/>
          </a:ln>
          <a:effectLst/>
        </p:spPr>
        <p:txBody>
          <a:bodyPr anchor="b"/>
          <a:lstStyle/>
          <a:p>
            <a:pPr>
              <a:defRPr/>
            </a:pPr>
            <a:r>
              <a:rPr lang="zh-CN" altLang="en-US" sz="2400">
                <a:solidFill>
                  <a:srgbClr val="0000FF"/>
                </a:solidFill>
                <a:effectLst>
                  <a:outerShdw blurRad="38100" dist="38100" dir="2700000" algn="tl">
                    <a:srgbClr val="C0C0C0"/>
                  </a:outerShdw>
                </a:effectLst>
              </a:rPr>
              <a:t>例 </a:t>
            </a:r>
            <a:r>
              <a:rPr lang="en-US" altLang="zh-CN" sz="2400">
                <a:solidFill>
                  <a:srgbClr val="0000FF"/>
                </a:solidFill>
                <a:effectLst>
                  <a:outerShdw blurRad="38100" dist="38100" dir="2700000" algn="tl">
                    <a:srgbClr val="C0C0C0"/>
                  </a:outerShdw>
                </a:effectLst>
              </a:rPr>
              <a:t>3.9</a:t>
            </a:r>
            <a:r>
              <a:rPr lang="en-US" altLang="zh-CN" sz="2400">
                <a:solidFill>
                  <a:schemeClr val="tx2"/>
                </a:solidFill>
                <a:effectLst>
                  <a:outerShdw blurRad="38100" dist="38100" dir="2700000" algn="tl">
                    <a:srgbClr val="C0C0C0"/>
                  </a:outerShdw>
                </a:effectLst>
              </a:rPr>
              <a:t> </a:t>
            </a:r>
            <a:r>
              <a:rPr lang="zh-CN" altLang="en-US" sz="2400">
                <a:solidFill>
                  <a:schemeClr val="tx2"/>
                </a:solidFill>
                <a:effectLst>
                  <a:outerShdw blurRad="38100" dist="38100" dir="2700000" algn="tl">
                    <a:srgbClr val="C0C0C0"/>
                  </a:outerShdw>
                </a:effectLst>
              </a:rPr>
              <a:t>分析系统的稳定性 </a:t>
            </a:r>
            <a:r>
              <a:rPr lang="en-US" altLang="zh-CN" sz="2400" i="1">
                <a:solidFill>
                  <a:schemeClr val="tx2"/>
                </a:solidFill>
                <a:effectLst>
                  <a:outerShdw blurRad="38100" dist="38100" dir="2700000" algn="tl">
                    <a:srgbClr val="C0C0C0"/>
                  </a:outerShdw>
                </a:effectLst>
              </a:rPr>
              <a:t>T</a:t>
            </a:r>
            <a:r>
              <a:rPr lang="en-US" altLang="zh-CN" sz="2400">
                <a:solidFill>
                  <a:schemeClr val="tx2"/>
                </a:solidFill>
                <a:effectLst>
                  <a:outerShdw blurRad="38100" dist="38100" dir="2700000" algn="tl">
                    <a:srgbClr val="C0C0C0"/>
                  </a:outerShdw>
                </a:effectLst>
              </a:rPr>
              <a:t>=1s</a:t>
            </a:r>
          </a:p>
        </p:txBody>
      </p:sp>
      <p:graphicFrame>
        <p:nvGraphicFramePr>
          <p:cNvPr id="55298" name="Object 20"/>
          <p:cNvGraphicFramePr>
            <a:graphicFrameLocks noChangeAspect="1"/>
          </p:cNvGraphicFramePr>
          <p:nvPr/>
        </p:nvGraphicFramePr>
        <p:xfrm>
          <a:off x="1692275" y="4364038"/>
          <a:ext cx="6245225" cy="1036637"/>
        </p:xfrm>
        <a:graphic>
          <a:graphicData uri="http://schemas.openxmlformats.org/presentationml/2006/ole">
            <mc:AlternateContent xmlns:mc="http://schemas.openxmlformats.org/markup-compatibility/2006">
              <mc:Choice xmlns:v="urn:schemas-microsoft-com:vml" Requires="v">
                <p:oleObj name="Equation" r:id="rId3" imgW="2311400" imgH="457200" progId="Equation.DSMT4">
                  <p:embed/>
                </p:oleObj>
              </mc:Choice>
              <mc:Fallback>
                <p:oleObj name="Equation" r:id="rId3" imgW="2311400" imgH="4572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4364038"/>
                        <a:ext cx="6245225" cy="1036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2661" name="Text Box 21"/>
          <p:cNvSpPr txBox="1">
            <a:spLocks noChangeArrowheads="1"/>
          </p:cNvSpPr>
          <p:nvPr/>
        </p:nvSpPr>
        <p:spPr bwMode="auto">
          <a:xfrm>
            <a:off x="808038" y="4651375"/>
            <a:ext cx="146050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p>
        </p:txBody>
      </p:sp>
      <p:pic>
        <p:nvPicPr>
          <p:cNvPr id="55302" name="Picture 22"/>
          <p:cNvPicPr>
            <a:picLocks noChangeAspect="1" noChangeArrowheads="1"/>
          </p:cNvPicPr>
          <p:nvPr/>
        </p:nvPicPr>
        <p:blipFill>
          <a:blip r:embed="rId5" cstate="print"/>
          <a:srcRect/>
          <a:stretch>
            <a:fillRect/>
          </a:stretch>
        </p:blipFill>
        <p:spPr bwMode="auto">
          <a:xfrm>
            <a:off x="1619250" y="2203450"/>
            <a:ext cx="5473700" cy="1878013"/>
          </a:xfrm>
          <a:prstGeom prst="rect">
            <a:avLst/>
          </a:prstGeom>
          <a:noFill/>
          <a:ln w="9525">
            <a:noFill/>
            <a:miter lim="800000"/>
            <a:headEnd/>
            <a:tailEnd/>
          </a:ln>
        </p:spPr>
      </p:pic>
    </p:spTree>
  </p:cSld>
  <p:clrMapOvr>
    <a:masterClrMapping/>
  </p:clrMapOvr>
  <p:transition>
    <p:blinds/>
  </p:transition>
</p:sld>
</file>

<file path=ppt/slides/slide7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0714" name="Text Box 122"/>
          <p:cNvSpPr txBox="1">
            <a:spLocks noChangeArrowheads="1"/>
          </p:cNvSpPr>
          <p:nvPr/>
        </p:nvSpPr>
        <p:spPr bwMode="auto">
          <a:xfrm>
            <a:off x="1476375" y="1557338"/>
            <a:ext cx="2374900"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latin typeface="Tahoma" pitchFamily="34" charset="0"/>
              </a:rPr>
              <a:t>闭环特征方程</a:t>
            </a:r>
          </a:p>
        </p:txBody>
      </p:sp>
      <p:graphicFrame>
        <p:nvGraphicFramePr>
          <p:cNvPr id="56322" name="Object 123"/>
          <p:cNvGraphicFramePr>
            <a:graphicFrameLocks noChangeAspect="1"/>
          </p:cNvGraphicFramePr>
          <p:nvPr/>
        </p:nvGraphicFramePr>
        <p:xfrm>
          <a:off x="3779838" y="1557338"/>
          <a:ext cx="2087562" cy="614362"/>
        </p:xfrm>
        <a:graphic>
          <a:graphicData uri="http://schemas.openxmlformats.org/presentationml/2006/ole">
            <mc:AlternateContent xmlns:mc="http://schemas.openxmlformats.org/markup-compatibility/2006">
              <mc:Choice xmlns:v="urn:schemas-microsoft-com:vml" Requires="v">
                <p:oleObj name="Equation" r:id="rId3" imgW="812447" imgH="228501" progId="Equation.DSMT4">
                  <p:embed/>
                </p:oleObj>
              </mc:Choice>
              <mc:Fallback>
                <p:oleObj name="Equation" r:id="rId3" imgW="812447" imgH="228501"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779838" y="1557338"/>
                        <a:ext cx="2087562" cy="614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56323" name="Object 124"/>
          <p:cNvGraphicFramePr>
            <a:graphicFrameLocks noChangeAspect="1"/>
          </p:cNvGraphicFramePr>
          <p:nvPr/>
        </p:nvGraphicFramePr>
        <p:xfrm>
          <a:off x="2266950" y="2420938"/>
          <a:ext cx="5089525" cy="614362"/>
        </p:xfrm>
        <a:graphic>
          <a:graphicData uri="http://schemas.openxmlformats.org/presentationml/2006/ole">
            <mc:AlternateContent xmlns:mc="http://schemas.openxmlformats.org/markup-compatibility/2006">
              <mc:Choice xmlns:v="urn:schemas-microsoft-com:vml" Requires="v">
                <p:oleObj name="Equation" r:id="rId5" imgW="1981200" imgH="228600" progId="Equation.DSMT4">
                  <p:embed/>
                </p:oleObj>
              </mc:Choice>
              <mc:Fallback>
                <p:oleObj name="Equation" r:id="rId5" imgW="1981200" imgH="228600"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66950" y="2420938"/>
                        <a:ext cx="5089525" cy="614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717" name="Text Box 125"/>
          <p:cNvSpPr txBox="1">
            <a:spLocks noChangeArrowheads="1"/>
          </p:cNvSpPr>
          <p:nvPr/>
        </p:nvSpPr>
        <p:spPr bwMode="auto">
          <a:xfrm>
            <a:off x="1331913" y="3573463"/>
            <a:ext cx="1944687"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latin typeface="Tahoma" pitchFamily="34" charset="0"/>
              </a:rPr>
              <a:t>解方程</a:t>
            </a:r>
          </a:p>
        </p:txBody>
      </p:sp>
      <p:graphicFrame>
        <p:nvGraphicFramePr>
          <p:cNvPr id="56324" name="Object 126"/>
          <p:cNvGraphicFramePr>
            <a:graphicFrameLocks noChangeAspect="1"/>
          </p:cNvGraphicFramePr>
          <p:nvPr/>
        </p:nvGraphicFramePr>
        <p:xfrm>
          <a:off x="2679700" y="3535363"/>
          <a:ext cx="3979863" cy="614362"/>
        </p:xfrm>
        <a:graphic>
          <a:graphicData uri="http://schemas.openxmlformats.org/presentationml/2006/ole">
            <mc:AlternateContent xmlns:mc="http://schemas.openxmlformats.org/markup-compatibility/2006">
              <mc:Choice xmlns:v="urn:schemas-microsoft-com:vml" Requires="v">
                <p:oleObj name="Equation" r:id="rId7" imgW="1549400" imgH="228600" progId="Equation.DSMT4">
                  <p:embed/>
                </p:oleObj>
              </mc:Choice>
              <mc:Fallback>
                <p:oleObj name="Equation" r:id="rId7" imgW="1549400" imgH="228600"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79700" y="3535363"/>
                        <a:ext cx="3979863" cy="6143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719" name="Text Box 127"/>
          <p:cNvSpPr txBox="1">
            <a:spLocks noChangeArrowheads="1"/>
          </p:cNvSpPr>
          <p:nvPr/>
        </p:nvSpPr>
        <p:spPr bwMode="auto">
          <a:xfrm>
            <a:off x="1403350" y="4508500"/>
            <a:ext cx="1655763"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latin typeface="Tahoma" pitchFamily="34" charset="0"/>
              </a:rPr>
              <a:t>由于</a:t>
            </a:r>
          </a:p>
        </p:txBody>
      </p:sp>
      <p:graphicFrame>
        <p:nvGraphicFramePr>
          <p:cNvPr id="56325" name="Object 128"/>
          <p:cNvGraphicFramePr>
            <a:graphicFrameLocks noChangeAspect="1"/>
          </p:cNvGraphicFramePr>
          <p:nvPr/>
        </p:nvGraphicFramePr>
        <p:xfrm>
          <a:off x="2124075" y="4437063"/>
          <a:ext cx="1109663" cy="682625"/>
        </p:xfrm>
        <a:graphic>
          <a:graphicData uri="http://schemas.openxmlformats.org/presentationml/2006/ole">
            <mc:AlternateContent xmlns:mc="http://schemas.openxmlformats.org/markup-compatibility/2006">
              <mc:Choice xmlns:v="urn:schemas-microsoft-com:vml" Requires="v">
                <p:oleObj name="Equation" r:id="rId9" imgW="431613" imgH="253890" progId="Equation.DSMT4">
                  <p:embed/>
                </p:oleObj>
              </mc:Choice>
              <mc:Fallback>
                <p:oleObj name="Equation" r:id="rId9" imgW="431613" imgH="25389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124075" y="4437063"/>
                        <a:ext cx="1109663" cy="682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0721" name="Text Box 129"/>
          <p:cNvSpPr txBox="1">
            <a:spLocks noChangeArrowheads="1"/>
          </p:cNvSpPr>
          <p:nvPr/>
        </p:nvSpPr>
        <p:spPr bwMode="auto">
          <a:xfrm>
            <a:off x="3348038" y="4508500"/>
            <a:ext cx="3887787" cy="457200"/>
          </a:xfrm>
          <a:prstGeom prst="rect">
            <a:avLst/>
          </a:prstGeom>
          <a:noFill/>
          <a:ln w="9525">
            <a:noFill/>
            <a:miter lim="800000"/>
            <a:headEnd/>
            <a:tailEnd/>
          </a:ln>
          <a:effectLst/>
        </p:spPr>
        <p:txBody>
          <a:bodyPr>
            <a:spAutoFit/>
          </a:bodyPr>
          <a:lstStyle/>
          <a:p>
            <a:pPr>
              <a:spcBef>
                <a:spcPct val="50000"/>
              </a:spcBef>
              <a:defRPr/>
            </a:pPr>
            <a:r>
              <a:rPr kumimoji="0" lang="zh-CN" altLang="en-US" sz="2400">
                <a:effectLst>
                  <a:outerShdw blurRad="38100" dist="38100" dir="2700000" algn="tl">
                    <a:srgbClr val="C0C0C0"/>
                  </a:outerShdw>
                </a:effectLst>
                <a:latin typeface="Tahoma" pitchFamily="34" charset="0"/>
              </a:rPr>
              <a:t>所以系统是不稳定的。</a:t>
            </a:r>
          </a:p>
        </p:txBody>
      </p:sp>
    </p:spTree>
  </p:cSld>
  <p:clrMapOvr>
    <a:masterClrMapping/>
  </p:clrMapOvr>
  <p:transition>
    <p:cover dir="u"/>
  </p:transition>
</p:sld>
</file>

<file path=ppt/slides/slide7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3710" name="Text Box 46"/>
          <p:cNvSpPr txBox="1">
            <a:spLocks noChangeArrowheads="1"/>
          </p:cNvSpPr>
          <p:nvPr/>
        </p:nvSpPr>
        <p:spPr bwMode="auto">
          <a:xfrm>
            <a:off x="755650" y="404813"/>
            <a:ext cx="7221538" cy="579437"/>
          </a:xfrm>
          <a:prstGeom prst="rect">
            <a:avLst/>
          </a:prstGeom>
          <a:noFill/>
          <a:ln w="9525" algn="ctr">
            <a:noFill/>
            <a:miter lim="800000"/>
            <a:headEnd/>
            <a:tailEnd/>
          </a:ln>
          <a:effectLst/>
        </p:spPr>
        <p:txBody>
          <a:bodyPr>
            <a:spAutoFit/>
          </a:bodyPr>
          <a:lstStyle/>
          <a:p>
            <a:pPr>
              <a:defRPr/>
            </a:pPr>
            <a:r>
              <a:rPr kumimoji="0" lang="en-US" altLang="zh-CN" sz="3200">
                <a:solidFill>
                  <a:srgbClr val="0000FF"/>
                </a:solidFill>
                <a:effectLst>
                  <a:outerShdw blurRad="38100" dist="38100" dir="2700000" algn="tl">
                    <a:srgbClr val="C0C0C0"/>
                  </a:outerShdw>
                </a:effectLst>
              </a:rPr>
              <a:t>3.4.3 </a:t>
            </a:r>
            <a:r>
              <a:rPr kumimoji="0" lang="zh-CN" altLang="en-US" sz="3200">
                <a:solidFill>
                  <a:srgbClr val="0000FF"/>
                </a:solidFill>
                <a:effectLst>
                  <a:outerShdw blurRad="38100" dist="38100" dir="2700000" algn="tl">
                    <a:srgbClr val="C0C0C0"/>
                  </a:outerShdw>
                </a:effectLst>
              </a:rPr>
              <a:t>采样周期与系统稳定性关系</a:t>
            </a:r>
          </a:p>
        </p:txBody>
      </p:sp>
      <p:sp>
        <p:nvSpPr>
          <p:cNvPr id="113711" name="Text Box 47"/>
          <p:cNvSpPr txBox="1">
            <a:spLocks noChangeArrowheads="1"/>
          </p:cNvSpPr>
          <p:nvPr/>
        </p:nvSpPr>
        <p:spPr bwMode="auto">
          <a:xfrm>
            <a:off x="1887538" y="2420938"/>
            <a:ext cx="2036762"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采样周期</a:t>
            </a:r>
          </a:p>
        </p:txBody>
      </p:sp>
      <p:sp>
        <p:nvSpPr>
          <p:cNvPr id="113712" name="AutoShape 48"/>
          <p:cNvSpPr>
            <a:spLocks noChangeArrowheads="1"/>
          </p:cNvSpPr>
          <p:nvPr/>
        </p:nvSpPr>
        <p:spPr bwMode="auto">
          <a:xfrm>
            <a:off x="3348038" y="2565400"/>
            <a:ext cx="1727200" cy="287338"/>
          </a:xfrm>
          <a:prstGeom prst="rightArrow">
            <a:avLst>
              <a:gd name="adj1" fmla="val 50000"/>
              <a:gd name="adj2" fmla="val 150276"/>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3713" name="Text Box 49"/>
          <p:cNvSpPr txBox="1">
            <a:spLocks noChangeArrowheads="1"/>
          </p:cNvSpPr>
          <p:nvPr/>
        </p:nvSpPr>
        <p:spPr bwMode="auto">
          <a:xfrm>
            <a:off x="5292725" y="2420938"/>
            <a:ext cx="35480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闭环系统极点分布</a:t>
            </a:r>
          </a:p>
        </p:txBody>
      </p:sp>
      <p:sp>
        <p:nvSpPr>
          <p:cNvPr id="113714" name="AutoShape 50"/>
          <p:cNvSpPr>
            <a:spLocks noChangeArrowheads="1"/>
          </p:cNvSpPr>
          <p:nvPr/>
        </p:nvSpPr>
        <p:spPr bwMode="auto">
          <a:xfrm>
            <a:off x="6300788" y="3068638"/>
            <a:ext cx="431800" cy="647700"/>
          </a:xfrm>
          <a:prstGeom prst="downArrow">
            <a:avLst>
              <a:gd name="adj1" fmla="val 50000"/>
              <a:gd name="adj2" fmla="val 37500"/>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3715" name="Text Box 51"/>
          <p:cNvSpPr txBox="1">
            <a:spLocks noChangeArrowheads="1"/>
          </p:cNvSpPr>
          <p:nvPr/>
        </p:nvSpPr>
        <p:spPr bwMode="auto">
          <a:xfrm>
            <a:off x="5219700" y="3933825"/>
            <a:ext cx="3600450"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闭环系统的稳定性</a:t>
            </a:r>
          </a:p>
        </p:txBody>
      </p:sp>
      <p:sp>
        <p:nvSpPr>
          <p:cNvPr id="113716" name="Text Box 52"/>
          <p:cNvSpPr txBox="1">
            <a:spLocks noChangeArrowheads="1"/>
          </p:cNvSpPr>
          <p:nvPr/>
        </p:nvSpPr>
        <p:spPr bwMode="auto">
          <a:xfrm>
            <a:off x="3348038" y="2852738"/>
            <a:ext cx="2016125"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零阶保持器</a:t>
            </a:r>
          </a:p>
        </p:txBody>
      </p:sp>
      <p:sp>
        <p:nvSpPr>
          <p:cNvPr id="113717" name="AutoShape 53"/>
          <p:cNvSpPr>
            <a:spLocks noChangeArrowheads="1"/>
          </p:cNvSpPr>
          <p:nvPr/>
        </p:nvSpPr>
        <p:spPr bwMode="auto">
          <a:xfrm>
            <a:off x="2627313" y="4005263"/>
            <a:ext cx="2087562" cy="287337"/>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3718" name="AutoShape 54"/>
          <p:cNvSpPr>
            <a:spLocks noChangeArrowheads="1"/>
          </p:cNvSpPr>
          <p:nvPr/>
        </p:nvSpPr>
        <p:spPr bwMode="auto">
          <a:xfrm>
            <a:off x="2555875" y="2924175"/>
            <a:ext cx="287338" cy="1081088"/>
          </a:xfrm>
          <a:prstGeom prst="downArrow">
            <a:avLst>
              <a:gd name="adj1" fmla="val 50000"/>
              <a:gd name="adj2" fmla="val 94061"/>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3719" name="Text Box 55"/>
          <p:cNvSpPr txBox="1">
            <a:spLocks noChangeArrowheads="1"/>
          </p:cNvSpPr>
          <p:nvPr/>
        </p:nvSpPr>
        <p:spPr bwMode="auto">
          <a:xfrm>
            <a:off x="1187450" y="3213100"/>
            <a:ext cx="2035175"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越小越好</a:t>
            </a:r>
          </a:p>
        </p:txBody>
      </p:sp>
    </p:spTree>
  </p:cSld>
  <p:clrMapOvr>
    <a:masterClrMapping/>
  </p:clrMapOvr>
  <p:transition>
    <p:cover dir="u"/>
  </p:transition>
</p:sld>
</file>

<file path=ppt/slides/slide7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4706" name="Text Box 18"/>
          <p:cNvSpPr txBox="1">
            <a:spLocks noChangeArrowheads="1"/>
          </p:cNvSpPr>
          <p:nvPr/>
        </p:nvSpPr>
        <p:spPr bwMode="auto">
          <a:xfrm>
            <a:off x="755650" y="1773238"/>
            <a:ext cx="7580313" cy="9683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3.10</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判断图</a:t>
            </a:r>
            <a:r>
              <a:rPr kumimoji="0" lang="en-US" altLang="zh-CN" sz="2400">
                <a:effectLst>
                  <a:outerShdw blurRad="38100" dist="38100" dir="2700000" algn="tl">
                    <a:srgbClr val="C0C0C0"/>
                  </a:outerShdw>
                </a:effectLst>
              </a:rPr>
              <a:t>3.16</a:t>
            </a:r>
            <a:r>
              <a:rPr kumimoji="0" lang="zh-CN" altLang="en-US" sz="2400">
                <a:effectLst>
                  <a:outerShdw blurRad="38100" dist="38100" dir="2700000" algn="tl">
                    <a:srgbClr val="C0C0C0"/>
                  </a:outerShdw>
                </a:effectLst>
              </a:rPr>
              <a:t>所示系统在采样周期</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=1s</a:t>
            </a:r>
            <a:r>
              <a:rPr kumimoji="0" lang="zh-CN" altLang="en-US" sz="2400">
                <a:effectLst>
                  <a:outerShdw blurRad="38100" dist="38100" dir="2700000" algn="tl">
                    <a:srgbClr val="C0C0C0"/>
                  </a:outerShdw>
                </a:effectLst>
              </a:rPr>
              <a:t>和</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=4s</a:t>
            </a:r>
            <a:r>
              <a:rPr kumimoji="0" lang="zh-CN" altLang="en-US" sz="2400">
                <a:effectLst>
                  <a:outerShdw blurRad="38100" dist="38100" dir="2700000" algn="tl">
                    <a:srgbClr val="C0C0C0"/>
                  </a:outerShdw>
                </a:effectLst>
              </a:rPr>
              <a:t>时的稳定性，图中取</a:t>
            </a:r>
            <a:r>
              <a:rPr kumimoji="0" lang="en-US" altLang="zh-CN" sz="2400" i="1">
                <a:effectLst>
                  <a:outerShdw blurRad="38100" dist="38100" dir="2700000" algn="tl">
                    <a:srgbClr val="C0C0C0"/>
                  </a:outerShdw>
                </a:effectLst>
              </a:rPr>
              <a:t>K</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a:t>
            </a:r>
          </a:p>
        </p:txBody>
      </p:sp>
      <p:pic>
        <p:nvPicPr>
          <p:cNvPr id="126979" name="Picture 19"/>
          <p:cNvPicPr>
            <a:picLocks noChangeAspect="1" noChangeArrowheads="1"/>
          </p:cNvPicPr>
          <p:nvPr/>
        </p:nvPicPr>
        <p:blipFill>
          <a:blip r:embed="rId3" cstate="print"/>
          <a:srcRect/>
          <a:stretch>
            <a:fillRect/>
          </a:stretch>
        </p:blipFill>
        <p:spPr bwMode="auto">
          <a:xfrm>
            <a:off x="1042988" y="2924175"/>
            <a:ext cx="7200900" cy="1855788"/>
          </a:xfrm>
          <a:prstGeom prst="rect">
            <a:avLst/>
          </a:prstGeom>
          <a:noFill/>
          <a:ln w="9525">
            <a:noFill/>
            <a:miter lim="800000"/>
            <a:headEnd/>
            <a:tailEnd/>
          </a:ln>
        </p:spPr>
      </p:pic>
      <p:sp>
        <p:nvSpPr>
          <p:cNvPr id="114708" name="Text Box 20"/>
          <p:cNvSpPr txBox="1">
            <a:spLocks noChangeArrowheads="1"/>
          </p:cNvSpPr>
          <p:nvPr/>
        </p:nvSpPr>
        <p:spPr bwMode="auto">
          <a:xfrm>
            <a:off x="2967038" y="5010150"/>
            <a:ext cx="3248025" cy="396875"/>
          </a:xfrm>
          <a:prstGeom prst="rect">
            <a:avLst/>
          </a:prstGeom>
          <a:noFill/>
          <a:ln w="9525" algn="ctr">
            <a:noFill/>
            <a:miter lim="800000"/>
            <a:headEnd/>
            <a:tailEnd/>
          </a:ln>
          <a:effectLst/>
        </p:spPr>
        <p:txBody>
          <a:bodyPr wrap="none">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3.16 </a:t>
            </a:r>
            <a:r>
              <a:rPr kumimoji="0" lang="zh-CN" altLang="en-US">
                <a:effectLst>
                  <a:outerShdw blurRad="38100" dist="38100" dir="2700000" algn="tl">
                    <a:srgbClr val="C0C0C0"/>
                  </a:outerShdw>
                </a:effectLst>
              </a:rPr>
              <a:t>计算机控制系统结构</a:t>
            </a:r>
          </a:p>
        </p:txBody>
      </p:sp>
    </p:spTree>
  </p:cSld>
  <p:clrMapOvr>
    <a:masterClrMapping/>
  </p:clrMapOvr>
  <p:transition>
    <p:cover dir="u"/>
  </p:transition>
</p:sld>
</file>

<file path=ppt/slides/slide7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5768" name="Text Box 56"/>
          <p:cNvSpPr txBox="1">
            <a:spLocks noChangeArrowheads="1"/>
          </p:cNvSpPr>
          <p:nvPr/>
        </p:nvSpPr>
        <p:spPr bwMode="auto">
          <a:xfrm>
            <a:off x="950913" y="1773238"/>
            <a:ext cx="743743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考虑零阶保持器时对象的传递函数模型为：</a:t>
            </a:r>
          </a:p>
        </p:txBody>
      </p:sp>
      <p:sp>
        <p:nvSpPr>
          <p:cNvPr id="115769" name="Rectangle 57"/>
          <p:cNvSpPr>
            <a:spLocks noChangeArrowheads="1"/>
          </p:cNvSpPr>
          <p:nvPr/>
        </p:nvSpPr>
        <p:spPr bwMode="auto">
          <a:xfrm>
            <a:off x="0" y="32051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7346" name="Object 58"/>
          <p:cNvGraphicFramePr>
            <a:graphicFrameLocks noChangeAspect="1"/>
          </p:cNvGraphicFramePr>
          <p:nvPr/>
        </p:nvGraphicFramePr>
        <p:xfrm>
          <a:off x="2843213" y="2349500"/>
          <a:ext cx="2736850" cy="809625"/>
        </p:xfrm>
        <a:graphic>
          <a:graphicData uri="http://schemas.openxmlformats.org/presentationml/2006/ole">
            <mc:AlternateContent xmlns:mc="http://schemas.openxmlformats.org/markup-compatibility/2006">
              <mc:Choice xmlns:v="urn:schemas-microsoft-com:vml" Requires="v">
                <p:oleObj name="Equation" r:id="rId3" imgW="1511300" imgH="444500" progId="Equation.DSMT4">
                  <p:embed/>
                </p:oleObj>
              </mc:Choice>
              <mc:Fallback>
                <p:oleObj name="Equation" r:id="rId3" imgW="1511300" imgH="4445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843213" y="2349500"/>
                        <a:ext cx="273685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5771" name="Text Box 59"/>
          <p:cNvSpPr txBox="1">
            <a:spLocks noChangeArrowheads="1"/>
          </p:cNvSpPr>
          <p:nvPr/>
        </p:nvSpPr>
        <p:spPr bwMode="auto">
          <a:xfrm>
            <a:off x="1239838" y="3284538"/>
            <a:ext cx="57086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其脉冲传递函数模型为：</a:t>
            </a:r>
          </a:p>
        </p:txBody>
      </p:sp>
      <p:sp>
        <p:nvSpPr>
          <p:cNvPr id="115772" name="Rectangle 60"/>
          <p:cNvSpPr>
            <a:spLocks noChangeArrowheads="1"/>
          </p:cNvSpPr>
          <p:nvPr/>
        </p:nvSpPr>
        <p:spPr bwMode="auto">
          <a:xfrm>
            <a:off x="0" y="27193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7347" name="Object 61"/>
          <p:cNvGraphicFramePr>
            <a:graphicFrameLocks noChangeAspect="1"/>
          </p:cNvGraphicFramePr>
          <p:nvPr/>
        </p:nvGraphicFramePr>
        <p:xfrm>
          <a:off x="1331913" y="4076700"/>
          <a:ext cx="7056437" cy="896938"/>
        </p:xfrm>
        <a:graphic>
          <a:graphicData uri="http://schemas.openxmlformats.org/presentationml/2006/ole">
            <mc:AlternateContent xmlns:mc="http://schemas.openxmlformats.org/markup-compatibility/2006">
              <mc:Choice xmlns:v="urn:schemas-microsoft-com:vml" Requires="v">
                <p:oleObj name="Equation" r:id="rId5" imgW="3784600" imgH="482600" progId="Equation.DSMT4">
                  <p:embed/>
                </p:oleObj>
              </mc:Choice>
              <mc:Fallback>
                <p:oleObj name="Equation" r:id="rId5" imgW="3784600" imgH="4826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31913" y="4076700"/>
                        <a:ext cx="7056437" cy="8969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u"/>
  </p:transition>
</p:sld>
</file>

<file path=ppt/slides/slide7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6749" name="Text Box 13"/>
          <p:cNvSpPr txBox="1">
            <a:spLocks noChangeArrowheads="1"/>
          </p:cNvSpPr>
          <p:nvPr/>
        </p:nvSpPr>
        <p:spPr bwMode="auto">
          <a:xfrm>
            <a:off x="1239838" y="1844675"/>
            <a:ext cx="58531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则系统的闭环脉冲传递函数为：</a:t>
            </a:r>
          </a:p>
        </p:txBody>
      </p:sp>
      <p:sp>
        <p:nvSpPr>
          <p:cNvPr id="116750" name="Rectangle 14"/>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8370" name="Object 15"/>
          <p:cNvGraphicFramePr>
            <a:graphicFrameLocks noChangeAspect="1"/>
          </p:cNvGraphicFramePr>
          <p:nvPr/>
        </p:nvGraphicFramePr>
        <p:xfrm>
          <a:off x="2484438" y="2420938"/>
          <a:ext cx="4032250" cy="876300"/>
        </p:xfrm>
        <a:graphic>
          <a:graphicData uri="http://schemas.openxmlformats.org/presentationml/2006/ole">
            <mc:AlternateContent xmlns:mc="http://schemas.openxmlformats.org/markup-compatibility/2006">
              <mc:Choice xmlns:v="urn:schemas-microsoft-com:vml" Requires="v">
                <p:oleObj name="Equation" r:id="rId3" imgW="1968500" imgH="431800" progId="Equation.DSMT4">
                  <p:embed/>
                </p:oleObj>
              </mc:Choice>
              <mc:Fallback>
                <p:oleObj name="Equation" r:id="rId3" imgW="1968500" imgH="4318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420938"/>
                        <a:ext cx="4032250" cy="876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52" name="Text Box 16"/>
          <p:cNvSpPr txBox="1">
            <a:spLocks noChangeArrowheads="1"/>
          </p:cNvSpPr>
          <p:nvPr/>
        </p:nvSpPr>
        <p:spPr bwMode="auto">
          <a:xfrm>
            <a:off x="1311275" y="3573463"/>
            <a:ext cx="35480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其特征方程为：</a:t>
            </a:r>
          </a:p>
        </p:txBody>
      </p:sp>
      <p:sp>
        <p:nvSpPr>
          <p:cNvPr id="116753" name="Rectangle 17"/>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8371" name="Object 18"/>
          <p:cNvGraphicFramePr>
            <a:graphicFrameLocks noChangeAspect="1"/>
          </p:cNvGraphicFramePr>
          <p:nvPr/>
        </p:nvGraphicFramePr>
        <p:xfrm>
          <a:off x="3779838" y="3573463"/>
          <a:ext cx="1871662" cy="528637"/>
        </p:xfrm>
        <a:graphic>
          <a:graphicData uri="http://schemas.openxmlformats.org/presentationml/2006/ole">
            <mc:AlternateContent xmlns:mc="http://schemas.openxmlformats.org/markup-compatibility/2006">
              <mc:Choice xmlns:v="urn:schemas-microsoft-com:vml" Requires="v">
                <p:oleObj name="Equation" r:id="rId5" imgW="812447" imgH="228501" progId="Equation.DSMT4">
                  <p:embed/>
                </p:oleObj>
              </mc:Choice>
              <mc:Fallback>
                <p:oleObj name="Equation" r:id="rId5" imgW="812447" imgH="228501"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3573463"/>
                        <a:ext cx="1871662" cy="528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16755" name="Text Box 19"/>
          <p:cNvSpPr txBox="1">
            <a:spLocks noChangeArrowheads="1"/>
          </p:cNvSpPr>
          <p:nvPr/>
        </p:nvSpPr>
        <p:spPr bwMode="auto">
          <a:xfrm>
            <a:off x="1958975" y="4437063"/>
            <a:ext cx="18923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即：</a:t>
            </a:r>
          </a:p>
        </p:txBody>
      </p:sp>
      <p:sp>
        <p:nvSpPr>
          <p:cNvPr id="116756" name="Rectangle 20"/>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8372" name="Object 21"/>
          <p:cNvGraphicFramePr>
            <a:graphicFrameLocks noChangeAspect="1"/>
          </p:cNvGraphicFramePr>
          <p:nvPr/>
        </p:nvGraphicFramePr>
        <p:xfrm>
          <a:off x="3203575" y="4437063"/>
          <a:ext cx="4032250" cy="534987"/>
        </p:xfrm>
        <a:graphic>
          <a:graphicData uri="http://schemas.openxmlformats.org/presentationml/2006/ole">
            <mc:AlternateContent xmlns:mc="http://schemas.openxmlformats.org/markup-compatibility/2006">
              <mc:Choice xmlns:v="urn:schemas-microsoft-com:vml" Requires="v">
                <p:oleObj name="Equation" r:id="rId7" imgW="1727200" imgH="228600" progId="Equation.DSMT4">
                  <p:embed/>
                </p:oleObj>
              </mc:Choice>
              <mc:Fallback>
                <p:oleObj name="Equation" r:id="rId7" imgW="1727200" imgH="2286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203575" y="4437063"/>
                        <a:ext cx="4032250" cy="5349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u"/>
  </p:transition>
</p:sld>
</file>

<file path=ppt/slides/slide7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5024" name="Text Box 32"/>
          <p:cNvSpPr txBox="1">
            <a:spLocks noChangeArrowheads="1"/>
          </p:cNvSpPr>
          <p:nvPr/>
        </p:nvSpPr>
        <p:spPr bwMode="auto">
          <a:xfrm>
            <a:off x="1023938" y="1793875"/>
            <a:ext cx="59245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a:t>
            </a:r>
            <a:r>
              <a:rPr kumimoji="0" lang="en-US" altLang="zh-CN" sz="2400">
                <a:solidFill>
                  <a:srgbClr val="0000FF"/>
                </a:solidFill>
                <a:effectLst>
                  <a:outerShdw blurRad="38100" dist="38100" dir="2700000" algn="tl">
                    <a:srgbClr val="C0C0C0"/>
                  </a:outerShdw>
                </a:effectLst>
              </a:rPr>
              <a:t>1</a:t>
            </a:r>
            <a:r>
              <a:rPr kumimoji="0" lang="zh-CN" altLang="en-US" sz="2400">
                <a:solidFill>
                  <a:srgbClr val="0000FF"/>
                </a:solidFill>
                <a:effectLst>
                  <a:outerShdw blurRad="38100" dist="38100" dir="2700000" algn="tl">
                    <a:srgbClr val="C0C0C0"/>
                  </a:outerShdw>
                </a:effectLst>
              </a:rPr>
              <a:t>）</a:t>
            </a:r>
            <a:r>
              <a:rPr kumimoji="0" lang="en-US" altLang="zh-CN" sz="2400" i="1">
                <a:solidFill>
                  <a:srgbClr val="0000FF"/>
                </a:solidFill>
                <a:effectLst>
                  <a:outerShdw blurRad="38100" dist="38100" dir="2700000" algn="tl">
                    <a:srgbClr val="C0C0C0"/>
                  </a:outerShdw>
                </a:effectLst>
              </a:rPr>
              <a:t>T</a:t>
            </a:r>
            <a:r>
              <a:rPr kumimoji="0" lang="en-US" altLang="zh-CN" sz="2400">
                <a:solidFill>
                  <a:srgbClr val="0000FF"/>
                </a:solidFill>
                <a:effectLst>
                  <a:outerShdw blurRad="38100" dist="38100" dir="2700000" algn="tl">
                    <a:srgbClr val="C0C0C0"/>
                  </a:outerShdw>
                </a:effectLst>
              </a:rPr>
              <a:t>=1s</a:t>
            </a:r>
            <a:r>
              <a:rPr kumimoji="0" lang="zh-CN" altLang="en-US" sz="2400">
                <a:solidFill>
                  <a:srgbClr val="0000FF"/>
                </a:solidFill>
                <a:effectLst>
                  <a:outerShdw blurRad="38100" dist="38100" dir="2700000" algn="tl">
                    <a:srgbClr val="C0C0C0"/>
                  </a:outerShdw>
                </a:effectLst>
              </a:rPr>
              <a:t>时，系统的特征方程为：</a:t>
            </a:r>
          </a:p>
        </p:txBody>
      </p:sp>
      <p:sp>
        <p:nvSpPr>
          <p:cNvPr id="85025" name="Rectangle 33"/>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9394" name="Object 34"/>
          <p:cNvGraphicFramePr>
            <a:graphicFrameLocks noChangeAspect="1"/>
          </p:cNvGraphicFramePr>
          <p:nvPr/>
        </p:nvGraphicFramePr>
        <p:xfrm>
          <a:off x="2555875" y="2420938"/>
          <a:ext cx="2951163" cy="512762"/>
        </p:xfrm>
        <a:graphic>
          <a:graphicData uri="http://schemas.openxmlformats.org/presentationml/2006/ole">
            <mc:AlternateContent xmlns:mc="http://schemas.openxmlformats.org/markup-compatibility/2006">
              <mc:Choice xmlns:v="urn:schemas-microsoft-com:vml" Requires="v">
                <p:oleObj name="Equation" r:id="rId3" imgW="1155700" imgH="203200" progId="Equation.DSMT4">
                  <p:embed/>
                </p:oleObj>
              </mc:Choice>
              <mc:Fallback>
                <p:oleObj name="Equation" r:id="rId3" imgW="1155700" imgH="2032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420938"/>
                        <a:ext cx="2951163" cy="512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27" name="Text Box 35"/>
          <p:cNvSpPr txBox="1">
            <a:spLocks noChangeArrowheads="1"/>
          </p:cNvSpPr>
          <p:nvPr/>
        </p:nvSpPr>
        <p:spPr bwMode="auto">
          <a:xfrm>
            <a:off x="1311275" y="3068638"/>
            <a:ext cx="24685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特征根为：</a:t>
            </a:r>
          </a:p>
        </p:txBody>
      </p:sp>
      <p:sp>
        <p:nvSpPr>
          <p:cNvPr id="85028" name="Rectangle 36"/>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9395" name="Object 37"/>
          <p:cNvGraphicFramePr>
            <a:graphicFrameLocks noChangeAspect="1"/>
          </p:cNvGraphicFramePr>
          <p:nvPr/>
        </p:nvGraphicFramePr>
        <p:xfrm>
          <a:off x="3203575" y="3141663"/>
          <a:ext cx="4681538" cy="458787"/>
        </p:xfrm>
        <a:graphic>
          <a:graphicData uri="http://schemas.openxmlformats.org/presentationml/2006/ole">
            <mc:AlternateContent xmlns:mc="http://schemas.openxmlformats.org/markup-compatibility/2006">
              <mc:Choice xmlns:v="urn:schemas-microsoft-com:vml" Requires="v">
                <p:oleObj name="Equation" r:id="rId5" imgW="2336800" imgH="228600" progId="Equation.DSMT4">
                  <p:embed/>
                </p:oleObj>
              </mc:Choice>
              <mc:Fallback>
                <p:oleObj name="Equation" r:id="rId5" imgW="2336800" imgH="2286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141663"/>
                        <a:ext cx="4681538" cy="4587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30" name="Text Box 38"/>
          <p:cNvSpPr txBox="1">
            <a:spLocks noChangeArrowheads="1"/>
          </p:cNvSpPr>
          <p:nvPr/>
        </p:nvSpPr>
        <p:spPr bwMode="auto">
          <a:xfrm>
            <a:off x="1384300" y="3716338"/>
            <a:ext cx="13160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由于</a:t>
            </a:r>
          </a:p>
        </p:txBody>
      </p:sp>
      <p:sp>
        <p:nvSpPr>
          <p:cNvPr id="85031" name="Rectangle 39"/>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59396" name="Object 40"/>
          <p:cNvGraphicFramePr>
            <a:graphicFrameLocks noChangeAspect="1"/>
          </p:cNvGraphicFramePr>
          <p:nvPr/>
        </p:nvGraphicFramePr>
        <p:xfrm>
          <a:off x="2627313" y="3716338"/>
          <a:ext cx="1728787" cy="525462"/>
        </p:xfrm>
        <a:graphic>
          <a:graphicData uri="http://schemas.openxmlformats.org/presentationml/2006/ole">
            <mc:AlternateContent xmlns:mc="http://schemas.openxmlformats.org/markup-compatibility/2006">
              <mc:Choice xmlns:v="urn:schemas-microsoft-com:vml" Requires="v">
                <p:oleObj name="Equation" r:id="rId7" imgW="749300" imgH="228600" progId="Equation.DSMT4">
                  <p:embed/>
                </p:oleObj>
              </mc:Choice>
              <mc:Fallback>
                <p:oleObj name="Equation" r:id="rId7" imgW="749300" imgH="2286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3716338"/>
                        <a:ext cx="1728787" cy="525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5033" name="Text Box 41"/>
          <p:cNvSpPr txBox="1">
            <a:spLocks noChangeArrowheads="1"/>
          </p:cNvSpPr>
          <p:nvPr/>
        </p:nvSpPr>
        <p:spPr bwMode="auto">
          <a:xfrm>
            <a:off x="1384300" y="4745038"/>
            <a:ext cx="6859588"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因此采样周期</a:t>
            </a:r>
            <a:r>
              <a:rPr kumimoji="0" lang="en-US" altLang="zh-CN" sz="2400" i="1">
                <a:solidFill>
                  <a:srgbClr val="FF0000"/>
                </a:solidFill>
                <a:effectLst>
                  <a:outerShdw blurRad="38100" dist="38100" dir="2700000" algn="tl">
                    <a:srgbClr val="C0C0C0"/>
                  </a:outerShdw>
                </a:effectLst>
              </a:rPr>
              <a:t>T</a:t>
            </a:r>
            <a:r>
              <a:rPr kumimoji="0" lang="en-US" altLang="zh-CN" sz="2400">
                <a:solidFill>
                  <a:srgbClr val="FF0000"/>
                </a:solidFill>
                <a:effectLst>
                  <a:outerShdw blurRad="38100" dist="38100" dir="2700000" algn="tl">
                    <a:srgbClr val="C0C0C0"/>
                  </a:outerShdw>
                </a:effectLst>
              </a:rPr>
              <a:t>=1s</a:t>
            </a:r>
            <a:r>
              <a:rPr kumimoji="0" lang="zh-CN" altLang="en-US" sz="2400">
                <a:solidFill>
                  <a:srgbClr val="FF0000"/>
                </a:solidFill>
                <a:effectLst>
                  <a:outerShdw blurRad="38100" dist="38100" dir="2700000" algn="tl">
                    <a:srgbClr val="C0C0C0"/>
                  </a:outerShdw>
                </a:effectLst>
              </a:rPr>
              <a:t>时，系统是稳定的。</a:t>
            </a:r>
          </a:p>
        </p:txBody>
      </p:sp>
    </p:spTree>
  </p:cSld>
  <p:clrMapOvr>
    <a:masterClrMapping/>
  </p:clrMapOvr>
  <p:transition>
    <p:push dir="d"/>
  </p:transition>
</p:sld>
</file>

<file path=ppt/slides/slide7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6039" name="Text Box 23"/>
          <p:cNvSpPr txBox="1">
            <a:spLocks noChangeArrowheads="1"/>
          </p:cNvSpPr>
          <p:nvPr/>
        </p:nvSpPr>
        <p:spPr bwMode="auto">
          <a:xfrm>
            <a:off x="1023938" y="1793875"/>
            <a:ext cx="59245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a:t>
            </a:r>
            <a:r>
              <a:rPr kumimoji="0" lang="en-US" altLang="zh-CN" sz="2400">
                <a:solidFill>
                  <a:srgbClr val="0000FF"/>
                </a:solidFill>
                <a:effectLst>
                  <a:outerShdw blurRad="38100" dist="38100" dir="2700000" algn="tl">
                    <a:srgbClr val="C0C0C0"/>
                  </a:outerShdw>
                </a:effectLst>
              </a:rPr>
              <a:t>2</a:t>
            </a:r>
            <a:r>
              <a:rPr kumimoji="0" lang="zh-CN" altLang="en-US" sz="2400">
                <a:solidFill>
                  <a:srgbClr val="0000FF"/>
                </a:solidFill>
                <a:effectLst>
                  <a:outerShdw blurRad="38100" dist="38100" dir="2700000" algn="tl">
                    <a:srgbClr val="C0C0C0"/>
                  </a:outerShdw>
                </a:effectLst>
              </a:rPr>
              <a:t>）</a:t>
            </a:r>
            <a:r>
              <a:rPr kumimoji="0" lang="en-US" altLang="zh-CN" sz="2400" i="1">
                <a:solidFill>
                  <a:srgbClr val="0000FF"/>
                </a:solidFill>
                <a:effectLst>
                  <a:outerShdw blurRad="38100" dist="38100" dir="2700000" algn="tl">
                    <a:srgbClr val="C0C0C0"/>
                  </a:outerShdw>
                </a:effectLst>
              </a:rPr>
              <a:t>T</a:t>
            </a:r>
            <a:r>
              <a:rPr kumimoji="0" lang="en-US" altLang="zh-CN" sz="2400">
                <a:solidFill>
                  <a:srgbClr val="0000FF"/>
                </a:solidFill>
                <a:effectLst>
                  <a:outerShdw blurRad="38100" dist="38100" dir="2700000" algn="tl">
                    <a:srgbClr val="C0C0C0"/>
                  </a:outerShdw>
                </a:effectLst>
              </a:rPr>
              <a:t>=4s</a:t>
            </a:r>
            <a:r>
              <a:rPr kumimoji="0" lang="zh-CN" altLang="en-US" sz="2400">
                <a:solidFill>
                  <a:srgbClr val="0000FF"/>
                </a:solidFill>
                <a:effectLst>
                  <a:outerShdw blurRad="38100" dist="38100" dir="2700000" algn="tl">
                    <a:srgbClr val="C0C0C0"/>
                  </a:outerShdw>
                </a:effectLst>
              </a:rPr>
              <a:t>时，系统的特征方程为：</a:t>
            </a:r>
          </a:p>
        </p:txBody>
      </p:sp>
      <p:sp>
        <p:nvSpPr>
          <p:cNvPr id="86040" name="Text Box 24"/>
          <p:cNvSpPr txBox="1">
            <a:spLocks noChangeArrowheads="1"/>
          </p:cNvSpPr>
          <p:nvPr/>
        </p:nvSpPr>
        <p:spPr bwMode="auto">
          <a:xfrm>
            <a:off x="1311275" y="3068638"/>
            <a:ext cx="24685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特征根为：</a:t>
            </a:r>
          </a:p>
        </p:txBody>
      </p:sp>
      <p:sp>
        <p:nvSpPr>
          <p:cNvPr id="86041" name="Text Box 25"/>
          <p:cNvSpPr txBox="1">
            <a:spLocks noChangeArrowheads="1"/>
          </p:cNvSpPr>
          <p:nvPr/>
        </p:nvSpPr>
        <p:spPr bwMode="auto">
          <a:xfrm>
            <a:off x="1384300" y="3716338"/>
            <a:ext cx="131603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由于</a:t>
            </a:r>
          </a:p>
        </p:txBody>
      </p:sp>
      <p:sp>
        <p:nvSpPr>
          <p:cNvPr id="86042" name="Text Box 26"/>
          <p:cNvSpPr txBox="1">
            <a:spLocks noChangeArrowheads="1"/>
          </p:cNvSpPr>
          <p:nvPr/>
        </p:nvSpPr>
        <p:spPr bwMode="auto">
          <a:xfrm>
            <a:off x="1384300" y="4745038"/>
            <a:ext cx="6859588"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因此采样周期</a:t>
            </a:r>
            <a:r>
              <a:rPr kumimoji="0" lang="en-US" altLang="zh-CN" sz="2400" i="1">
                <a:solidFill>
                  <a:srgbClr val="FF0000"/>
                </a:solidFill>
                <a:effectLst>
                  <a:outerShdw blurRad="38100" dist="38100" dir="2700000" algn="tl">
                    <a:srgbClr val="C0C0C0"/>
                  </a:outerShdw>
                </a:effectLst>
              </a:rPr>
              <a:t>T</a:t>
            </a:r>
            <a:r>
              <a:rPr kumimoji="0" lang="en-US" altLang="zh-CN" sz="2400">
                <a:solidFill>
                  <a:srgbClr val="FF0000"/>
                </a:solidFill>
                <a:effectLst>
                  <a:outerShdw blurRad="38100" dist="38100" dir="2700000" algn="tl">
                    <a:srgbClr val="C0C0C0"/>
                  </a:outerShdw>
                </a:effectLst>
              </a:rPr>
              <a:t>=4s</a:t>
            </a:r>
            <a:r>
              <a:rPr kumimoji="0" lang="zh-CN" altLang="en-US" sz="2400">
                <a:solidFill>
                  <a:srgbClr val="FF0000"/>
                </a:solidFill>
                <a:effectLst>
                  <a:outerShdw blurRad="38100" dist="38100" dir="2700000" algn="tl">
                    <a:srgbClr val="C0C0C0"/>
                  </a:outerShdw>
                </a:effectLst>
              </a:rPr>
              <a:t>时，系统是不稳定的。</a:t>
            </a:r>
          </a:p>
        </p:txBody>
      </p:sp>
      <p:sp>
        <p:nvSpPr>
          <p:cNvPr id="86043" name="Rectangle 27"/>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0418" name="Object 28"/>
          <p:cNvGraphicFramePr>
            <a:graphicFrameLocks noChangeAspect="1"/>
          </p:cNvGraphicFramePr>
          <p:nvPr/>
        </p:nvGraphicFramePr>
        <p:xfrm>
          <a:off x="2555875" y="2349500"/>
          <a:ext cx="3095625" cy="492125"/>
        </p:xfrm>
        <a:graphic>
          <a:graphicData uri="http://schemas.openxmlformats.org/presentationml/2006/ole">
            <mc:AlternateContent xmlns:mc="http://schemas.openxmlformats.org/markup-compatibility/2006">
              <mc:Choice xmlns:v="urn:schemas-microsoft-com:vml" Requires="v">
                <p:oleObj name="Equation" r:id="rId3" imgW="1256755" imgH="203112" progId="Equation.DSMT4">
                  <p:embed/>
                </p:oleObj>
              </mc:Choice>
              <mc:Fallback>
                <p:oleObj name="Equation" r:id="rId3" imgW="1256755" imgH="203112"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349500"/>
                        <a:ext cx="3095625"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45" name="Rectangle 29"/>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0419" name="Object 30"/>
          <p:cNvGraphicFramePr>
            <a:graphicFrameLocks noChangeAspect="1"/>
          </p:cNvGraphicFramePr>
          <p:nvPr/>
        </p:nvGraphicFramePr>
        <p:xfrm>
          <a:off x="3203575" y="3068638"/>
          <a:ext cx="3529013" cy="468312"/>
        </p:xfrm>
        <a:graphic>
          <a:graphicData uri="http://schemas.openxmlformats.org/presentationml/2006/ole">
            <mc:AlternateContent xmlns:mc="http://schemas.openxmlformats.org/markup-compatibility/2006">
              <mc:Choice xmlns:v="urn:schemas-microsoft-com:vml" Requires="v">
                <p:oleObj name="Equation" r:id="rId5" imgW="1727200" imgH="228600" progId="Equation.DSMT4">
                  <p:embed/>
                </p:oleObj>
              </mc:Choice>
              <mc:Fallback>
                <p:oleObj name="Equation" r:id="rId5" imgW="1727200" imgH="2286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068638"/>
                        <a:ext cx="3529013" cy="468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6047" name="Rectangle 31"/>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0420" name="Object 32"/>
          <p:cNvGraphicFramePr>
            <a:graphicFrameLocks noChangeAspect="1"/>
          </p:cNvGraphicFramePr>
          <p:nvPr/>
        </p:nvGraphicFramePr>
        <p:xfrm>
          <a:off x="2555875" y="3716338"/>
          <a:ext cx="1008063" cy="514350"/>
        </p:xfrm>
        <a:graphic>
          <a:graphicData uri="http://schemas.openxmlformats.org/presentationml/2006/ole">
            <mc:AlternateContent xmlns:mc="http://schemas.openxmlformats.org/markup-compatibility/2006">
              <mc:Choice xmlns:v="urn:schemas-microsoft-com:vml" Requires="v">
                <p:oleObj name="Equation" r:id="rId7" imgW="444307" imgH="228501" progId="Equation.DSMT4">
                  <p:embed/>
                </p:oleObj>
              </mc:Choice>
              <mc:Fallback>
                <p:oleObj name="Equation" r:id="rId7" imgW="444307" imgH="228501"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555875" y="3716338"/>
                        <a:ext cx="1008063" cy="5143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d"/>
  </p:transition>
</p:sld>
</file>

<file path=ppt/slides/slide7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7053" name="Text Box 13"/>
          <p:cNvSpPr txBox="1">
            <a:spLocks noChangeArrowheads="1"/>
          </p:cNvSpPr>
          <p:nvPr/>
        </p:nvSpPr>
        <p:spPr bwMode="auto">
          <a:xfrm>
            <a:off x="827088" y="1125538"/>
            <a:ext cx="6645275" cy="519112"/>
          </a:xfrm>
          <a:prstGeom prst="rect">
            <a:avLst/>
          </a:prstGeom>
          <a:noFill/>
          <a:ln w="9525" algn="ctr">
            <a:noFill/>
            <a:miter lim="800000"/>
            <a:headEnd/>
            <a:tailEnd/>
          </a:ln>
          <a:effectLst/>
        </p:spPr>
        <p:txBody>
          <a:bodyPr>
            <a:spAutoFit/>
          </a:bodyPr>
          <a:lstStyle/>
          <a:p>
            <a:pPr>
              <a:defRPr/>
            </a:pPr>
            <a:r>
              <a:rPr kumimoji="0" lang="zh-CN" altLang="en-US" sz="2800" u="sng">
                <a:solidFill>
                  <a:srgbClr val="0000FF"/>
                </a:solidFill>
                <a:effectLst>
                  <a:outerShdw blurRad="38100" dist="38100" dir="2700000" algn="tl">
                    <a:srgbClr val="C0C0C0"/>
                  </a:outerShdw>
                </a:effectLst>
              </a:rPr>
              <a:t>不考虑零阶保持器的影响</a:t>
            </a:r>
          </a:p>
        </p:txBody>
      </p:sp>
      <p:sp>
        <p:nvSpPr>
          <p:cNvPr id="87054" name="Text Box 14"/>
          <p:cNvSpPr txBox="1">
            <a:spLocks noChangeArrowheads="1"/>
          </p:cNvSpPr>
          <p:nvPr/>
        </p:nvSpPr>
        <p:spPr bwMode="auto">
          <a:xfrm>
            <a:off x="900113" y="2062163"/>
            <a:ext cx="4473575" cy="457200"/>
          </a:xfrm>
          <a:prstGeom prst="rect">
            <a:avLst/>
          </a:prstGeom>
          <a:noFill/>
          <a:ln w="9525" algn="ctr">
            <a:noFill/>
            <a:miter lim="800000"/>
            <a:headEnd/>
            <a:tailEnd/>
          </a:ln>
          <a:effectLst/>
        </p:spPr>
        <p:txBody>
          <a:bodyPr wrap="none">
            <a:spAutoFit/>
          </a:bodyPr>
          <a:lstStyle/>
          <a:p>
            <a:pPr>
              <a:defRPr/>
            </a:pPr>
            <a:r>
              <a:rPr kumimoji="0" lang="zh-CN" altLang="en-US" sz="2400">
                <a:effectLst>
                  <a:outerShdw blurRad="38100" dist="38100" dir="2700000" algn="tl">
                    <a:srgbClr val="C0C0C0"/>
                  </a:outerShdw>
                </a:effectLst>
              </a:rPr>
              <a:t>对象的离散化传递函数模型为：</a:t>
            </a:r>
          </a:p>
        </p:txBody>
      </p:sp>
      <p:sp>
        <p:nvSpPr>
          <p:cNvPr id="87055" name="Rectangle 15"/>
          <p:cNvSpPr>
            <a:spLocks noChangeArrowheads="1"/>
          </p:cNvSpPr>
          <p:nvPr/>
        </p:nvSpPr>
        <p:spPr bwMode="auto">
          <a:xfrm>
            <a:off x="0" y="34178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1442" name="Object 16"/>
          <p:cNvGraphicFramePr>
            <a:graphicFrameLocks noChangeAspect="1"/>
          </p:cNvGraphicFramePr>
          <p:nvPr/>
        </p:nvGraphicFramePr>
        <p:xfrm>
          <a:off x="1763713" y="2638425"/>
          <a:ext cx="4968875" cy="884238"/>
        </p:xfrm>
        <a:graphic>
          <a:graphicData uri="http://schemas.openxmlformats.org/presentationml/2006/ole">
            <mc:AlternateContent xmlns:mc="http://schemas.openxmlformats.org/markup-compatibility/2006">
              <mc:Choice xmlns:v="urn:schemas-microsoft-com:vml" Requires="v">
                <p:oleObj name="Equation" r:id="rId3" imgW="2565400" imgH="457200" progId="Equation.DSMT4">
                  <p:embed/>
                </p:oleObj>
              </mc:Choice>
              <mc:Fallback>
                <p:oleObj name="Equation" r:id="rId3" imgW="2565400" imgH="457200" progId="Equation.DSMT4">
                  <p:embed/>
                  <p:pic>
                    <p:nvPicPr>
                      <p:cNvPr id="0" name="Picture 3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638425"/>
                        <a:ext cx="4968875" cy="8842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57" name="Text Box 17"/>
          <p:cNvSpPr txBox="1">
            <a:spLocks noChangeArrowheads="1"/>
          </p:cNvSpPr>
          <p:nvPr/>
        </p:nvSpPr>
        <p:spPr bwMode="auto">
          <a:xfrm>
            <a:off x="971550" y="4222750"/>
            <a:ext cx="24685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特征根为：</a:t>
            </a:r>
          </a:p>
        </p:txBody>
      </p:sp>
      <p:sp>
        <p:nvSpPr>
          <p:cNvPr id="87058" name="Text Box 18"/>
          <p:cNvSpPr txBox="1">
            <a:spLocks noChangeArrowheads="1"/>
          </p:cNvSpPr>
          <p:nvPr/>
        </p:nvSpPr>
        <p:spPr bwMode="auto">
          <a:xfrm>
            <a:off x="1331913" y="4870450"/>
            <a:ext cx="13160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由于</a:t>
            </a:r>
          </a:p>
        </p:txBody>
      </p:sp>
      <p:sp>
        <p:nvSpPr>
          <p:cNvPr id="87059" name="Text Box 19"/>
          <p:cNvSpPr txBox="1">
            <a:spLocks noChangeArrowheads="1"/>
          </p:cNvSpPr>
          <p:nvPr/>
        </p:nvSpPr>
        <p:spPr bwMode="auto">
          <a:xfrm>
            <a:off x="1258888" y="5518150"/>
            <a:ext cx="6213475" cy="461665"/>
          </a:xfrm>
          <a:prstGeom prst="rect">
            <a:avLst/>
          </a:prstGeom>
          <a:noFill/>
          <a:ln w="9525" algn="ctr">
            <a:noFill/>
            <a:miter lim="800000"/>
            <a:headEnd/>
            <a:tailEnd/>
          </a:ln>
          <a:effectLst/>
        </p:spPr>
        <p:txBody>
          <a:bodyPr wrap="square">
            <a:spAutoFit/>
          </a:bodyPr>
          <a:lstStyle/>
          <a:p>
            <a:pPr>
              <a:defRPr/>
            </a:pPr>
            <a:r>
              <a:rPr kumimoji="0" lang="zh-CN" altLang="en-US" sz="2400" dirty="0">
                <a:solidFill>
                  <a:srgbClr val="FF0000"/>
                </a:solidFill>
                <a:effectLst>
                  <a:outerShdw blurRad="38100" dist="38100" dir="2700000" algn="tl">
                    <a:srgbClr val="C0C0C0"/>
                  </a:outerShdw>
                </a:effectLst>
              </a:rPr>
              <a:t>因此无论采样周期取何值，系统总是稳定的。</a:t>
            </a:r>
            <a:endParaRPr kumimoji="0" lang="zh-CN" altLang="en-US" sz="2400" dirty="0">
              <a:solidFill>
                <a:srgbClr val="0033CC"/>
              </a:solidFill>
              <a:effectLst>
                <a:outerShdw blurRad="38100" dist="38100" dir="2700000" algn="tl">
                  <a:srgbClr val="C0C0C0"/>
                </a:outerShdw>
              </a:effectLst>
            </a:endParaRPr>
          </a:p>
        </p:txBody>
      </p:sp>
      <p:sp>
        <p:nvSpPr>
          <p:cNvPr id="87060" name="Rectangle 20"/>
          <p:cNvSpPr>
            <a:spLocks noChangeArrowheads="1"/>
          </p:cNvSpPr>
          <p:nvPr/>
        </p:nvSpPr>
        <p:spPr bwMode="auto">
          <a:xfrm>
            <a:off x="-52388" y="4483100"/>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87061" name="Text Box 21"/>
          <p:cNvSpPr txBox="1">
            <a:spLocks noChangeArrowheads="1"/>
          </p:cNvSpPr>
          <p:nvPr/>
        </p:nvSpPr>
        <p:spPr bwMode="auto">
          <a:xfrm>
            <a:off x="950913" y="3646488"/>
            <a:ext cx="2022475" cy="457200"/>
          </a:xfrm>
          <a:prstGeom prst="rect">
            <a:avLst/>
          </a:prstGeom>
          <a:noFill/>
          <a:ln w="9525" algn="ctr">
            <a:noFill/>
            <a:miter lim="800000"/>
            <a:headEnd/>
            <a:tailEnd/>
          </a:ln>
          <a:effectLst/>
        </p:spPr>
        <p:txBody>
          <a:bodyPr wrap="none">
            <a:spAutoFit/>
          </a:bodyPr>
          <a:lstStyle/>
          <a:p>
            <a:pPr>
              <a:defRPr/>
            </a:pPr>
            <a:r>
              <a:rPr kumimoji="0" lang="zh-CN" altLang="en-US" sz="2400">
                <a:effectLst>
                  <a:outerShdw blurRad="38100" dist="38100" dir="2700000" algn="tl">
                    <a:srgbClr val="C0C0C0"/>
                  </a:outerShdw>
                </a:effectLst>
              </a:rPr>
              <a:t>特征方程为：</a:t>
            </a:r>
          </a:p>
        </p:txBody>
      </p:sp>
      <p:sp>
        <p:nvSpPr>
          <p:cNvPr id="87062" name="Rectangle 22"/>
          <p:cNvSpPr>
            <a:spLocks noChangeArrowheads="1"/>
          </p:cNvSpPr>
          <p:nvPr/>
        </p:nvSpPr>
        <p:spPr bwMode="auto">
          <a:xfrm>
            <a:off x="0" y="35464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1443" name="Object 23"/>
          <p:cNvGraphicFramePr>
            <a:graphicFrameLocks noChangeAspect="1"/>
          </p:cNvGraphicFramePr>
          <p:nvPr/>
        </p:nvGraphicFramePr>
        <p:xfrm>
          <a:off x="3203575" y="3646488"/>
          <a:ext cx="2663825" cy="436562"/>
        </p:xfrm>
        <a:graphic>
          <a:graphicData uri="http://schemas.openxmlformats.org/presentationml/2006/ole">
            <mc:AlternateContent xmlns:mc="http://schemas.openxmlformats.org/markup-compatibility/2006">
              <mc:Choice xmlns:v="urn:schemas-microsoft-com:vml" Requires="v">
                <p:oleObj name="Equation" r:id="rId5" imgW="1218671" imgH="203112" progId="Equation.DSMT4">
                  <p:embed/>
                </p:oleObj>
              </mc:Choice>
              <mc:Fallback>
                <p:oleObj name="Equation" r:id="rId5" imgW="1218671" imgH="203112" progId="Equation.DSMT4">
                  <p:embed/>
                  <p:pic>
                    <p:nvPicPr>
                      <p:cNvPr id="0" name="Picture 3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203575" y="3646488"/>
                        <a:ext cx="2663825"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64" name="Rectangle 24"/>
          <p:cNvSpPr>
            <a:spLocks noChangeArrowheads="1"/>
          </p:cNvSpPr>
          <p:nvPr/>
        </p:nvSpPr>
        <p:spPr bwMode="auto">
          <a:xfrm>
            <a:off x="0" y="34988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1444" name="Object 25"/>
          <p:cNvGraphicFramePr>
            <a:graphicFrameLocks noChangeAspect="1"/>
          </p:cNvGraphicFramePr>
          <p:nvPr/>
        </p:nvGraphicFramePr>
        <p:xfrm>
          <a:off x="2700338" y="4151313"/>
          <a:ext cx="2808287" cy="581025"/>
        </p:xfrm>
        <a:graphic>
          <a:graphicData uri="http://schemas.openxmlformats.org/presentationml/2006/ole">
            <mc:AlternateContent xmlns:mc="http://schemas.openxmlformats.org/markup-compatibility/2006">
              <mc:Choice xmlns:v="urn:schemas-microsoft-com:vml" Requires="v">
                <p:oleObj name="Equation" r:id="rId7" imgW="1435100" imgH="292100" progId="Equation.DSMT4">
                  <p:embed/>
                </p:oleObj>
              </mc:Choice>
              <mc:Fallback>
                <p:oleObj name="Equation" r:id="rId7" imgW="1435100" imgH="292100" progId="Equation.DSMT4">
                  <p:embed/>
                  <p:pic>
                    <p:nvPicPr>
                      <p:cNvPr id="0" name="Picture 3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00338" y="4151313"/>
                        <a:ext cx="2808287" cy="581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7066" name="Rectangle 26"/>
          <p:cNvSpPr>
            <a:spLocks noChangeArrowheads="1"/>
          </p:cNvSpPr>
          <p:nvPr/>
        </p:nvSpPr>
        <p:spPr bwMode="auto">
          <a:xfrm>
            <a:off x="0" y="35179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1445" name="Object 27"/>
          <p:cNvGraphicFramePr>
            <a:graphicFrameLocks noChangeAspect="1"/>
          </p:cNvGraphicFramePr>
          <p:nvPr/>
        </p:nvGraphicFramePr>
        <p:xfrm>
          <a:off x="2411413" y="4799013"/>
          <a:ext cx="2016125" cy="549275"/>
        </p:xfrm>
        <a:graphic>
          <a:graphicData uri="http://schemas.openxmlformats.org/presentationml/2006/ole">
            <mc:AlternateContent xmlns:mc="http://schemas.openxmlformats.org/markup-compatibility/2006">
              <mc:Choice xmlns:v="urn:schemas-microsoft-com:vml" Requires="v">
                <p:oleObj name="Equation" r:id="rId9" imgW="939392" imgH="253890" progId="Equation.DSMT4">
                  <p:embed/>
                </p:oleObj>
              </mc:Choice>
              <mc:Fallback>
                <p:oleObj name="Equation" r:id="rId9" imgW="939392" imgH="253890" progId="Equation.DSMT4">
                  <p:embed/>
                  <p:pic>
                    <p:nvPicPr>
                      <p:cNvPr id="0" name="Picture 33"/>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411413" y="4799013"/>
                        <a:ext cx="2016125"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dir="d"/>
  </p:transition>
</p:sld>
</file>

<file path=ppt/slides/slide8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9829" name="Text Box 21"/>
          <p:cNvSpPr txBox="1">
            <a:spLocks noChangeArrowheads="1"/>
          </p:cNvSpPr>
          <p:nvPr/>
        </p:nvSpPr>
        <p:spPr bwMode="auto">
          <a:xfrm>
            <a:off x="611188" y="333375"/>
            <a:ext cx="8281987" cy="641350"/>
          </a:xfrm>
          <a:prstGeom prst="rect">
            <a:avLst/>
          </a:prstGeom>
          <a:noFill/>
          <a:ln w="9525">
            <a:noFill/>
            <a:miter lim="800000"/>
            <a:headEnd/>
            <a:tailEnd/>
          </a:ln>
          <a:effectLst/>
        </p:spPr>
        <p:txBody>
          <a:bodyPr>
            <a:spAutoFit/>
          </a:bodyPr>
          <a:lstStyle/>
          <a:p>
            <a:pPr>
              <a:defRPr/>
            </a:pPr>
            <a:r>
              <a:rPr kumimoji="0" lang="en-US" altLang="zh-CN" sz="3600">
                <a:solidFill>
                  <a:srgbClr val="FF0000"/>
                </a:solidFill>
                <a:effectLst>
                  <a:outerShdw blurRad="38100" dist="38100" dir="2700000" algn="tl">
                    <a:srgbClr val="C0C0C0"/>
                  </a:outerShdw>
                </a:effectLst>
                <a:latin typeface="Arial" charset="0"/>
                <a:ea typeface="方正大黑简体" pitchFamily="2" charset="-122"/>
              </a:rPr>
              <a:t>3.5 </a:t>
            </a:r>
            <a:r>
              <a:rPr kumimoji="0" lang="zh-CN" altLang="en-US" sz="3600">
                <a:solidFill>
                  <a:srgbClr val="FF0000"/>
                </a:solidFill>
                <a:effectLst>
                  <a:outerShdw blurRad="38100" dist="38100" dir="2700000" algn="tl">
                    <a:srgbClr val="C0C0C0"/>
                  </a:outerShdw>
                </a:effectLst>
                <a:latin typeface="Arial" charset="0"/>
                <a:ea typeface="方正大黑简体" pitchFamily="2" charset="-122"/>
              </a:rPr>
              <a:t>计算机控制系统的代数稳定性判据</a:t>
            </a:r>
          </a:p>
        </p:txBody>
      </p:sp>
      <p:sp>
        <p:nvSpPr>
          <p:cNvPr id="119830" name="Text Box 22"/>
          <p:cNvSpPr txBox="1">
            <a:spLocks noChangeArrowheads="1"/>
          </p:cNvSpPr>
          <p:nvPr/>
        </p:nvSpPr>
        <p:spPr bwMode="auto">
          <a:xfrm>
            <a:off x="1835150" y="2657475"/>
            <a:ext cx="6697663" cy="519113"/>
          </a:xfrm>
          <a:prstGeom prst="rect">
            <a:avLst/>
          </a:prstGeom>
          <a:noFill/>
          <a:ln w="9525" algn="ctr">
            <a:noFill/>
            <a:miter lim="800000"/>
            <a:headEnd/>
            <a:tailEnd/>
          </a:ln>
          <a:effectLst/>
        </p:spPr>
        <p:txBody>
          <a:bodyPr>
            <a:spAutoFit/>
          </a:bodyPr>
          <a:lstStyle/>
          <a:p>
            <a:pPr>
              <a:defRPr/>
            </a:pPr>
            <a:r>
              <a:rPr kumimoji="0" lang="zh-CN" altLang="en-US" sz="2800">
                <a:solidFill>
                  <a:srgbClr val="FF0000"/>
                </a:solidFill>
                <a:effectLst>
                  <a:outerShdw blurRad="38100" dist="38100" dir="2700000" algn="tl">
                    <a:srgbClr val="C0C0C0"/>
                  </a:outerShdw>
                </a:effectLst>
              </a:rPr>
              <a:t>间接判别离散系统稳定性的代数判据</a:t>
            </a:r>
          </a:p>
        </p:txBody>
      </p:sp>
      <p:sp>
        <p:nvSpPr>
          <p:cNvPr id="119831" name="Text Box 23"/>
          <p:cNvSpPr txBox="1">
            <a:spLocks noChangeArrowheads="1"/>
          </p:cNvSpPr>
          <p:nvPr/>
        </p:nvSpPr>
        <p:spPr bwMode="auto">
          <a:xfrm>
            <a:off x="2339975" y="1341438"/>
            <a:ext cx="51117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直接求解特征方程求解很麻烦</a:t>
            </a:r>
          </a:p>
        </p:txBody>
      </p:sp>
      <p:sp>
        <p:nvSpPr>
          <p:cNvPr id="119832" name="AutoShape 24"/>
          <p:cNvSpPr>
            <a:spLocks noChangeArrowheads="1"/>
          </p:cNvSpPr>
          <p:nvPr/>
        </p:nvSpPr>
        <p:spPr bwMode="auto">
          <a:xfrm>
            <a:off x="4067175" y="1844675"/>
            <a:ext cx="504825" cy="720725"/>
          </a:xfrm>
          <a:prstGeom prst="downArrow">
            <a:avLst>
              <a:gd name="adj1" fmla="val 50000"/>
              <a:gd name="adj2" fmla="val 35692"/>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9833" name="Line 25"/>
          <p:cNvSpPr>
            <a:spLocks noChangeShapeType="1"/>
          </p:cNvSpPr>
          <p:nvPr/>
        </p:nvSpPr>
        <p:spPr bwMode="auto">
          <a:xfrm flipH="1">
            <a:off x="2339975" y="3357563"/>
            <a:ext cx="1944688" cy="792162"/>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9834" name="Line 26"/>
          <p:cNvSpPr>
            <a:spLocks noChangeShapeType="1"/>
          </p:cNvSpPr>
          <p:nvPr/>
        </p:nvSpPr>
        <p:spPr bwMode="auto">
          <a:xfrm>
            <a:off x="4500563" y="3357563"/>
            <a:ext cx="2159000" cy="719137"/>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9835" name="Text Box 27"/>
          <p:cNvSpPr txBox="1">
            <a:spLocks noChangeArrowheads="1"/>
          </p:cNvSpPr>
          <p:nvPr/>
        </p:nvSpPr>
        <p:spPr bwMode="auto">
          <a:xfrm>
            <a:off x="684213" y="4149725"/>
            <a:ext cx="4392612" cy="457200"/>
          </a:xfrm>
          <a:prstGeom prst="rect">
            <a:avLst/>
          </a:prstGeom>
          <a:noFill/>
          <a:ln w="9525" algn="ctr">
            <a:noFill/>
            <a:miter lim="800000"/>
            <a:headEnd/>
            <a:tailEnd/>
          </a:ln>
          <a:effectLst/>
        </p:spPr>
        <p:txBody>
          <a:bodyPr>
            <a:spAutoFit/>
          </a:bodyPr>
          <a:lstStyle/>
          <a:p>
            <a:pPr>
              <a:defRPr/>
            </a:pPr>
            <a:r>
              <a:rPr kumimoji="0" lang="zh-CN" altLang="en-US" sz="2400">
                <a:solidFill>
                  <a:srgbClr val="1E86B4"/>
                </a:solidFill>
                <a:effectLst>
                  <a:outerShdw blurRad="38100" dist="38100" dir="2700000" algn="tl">
                    <a:srgbClr val="C0C0C0"/>
                  </a:outerShdw>
                </a:effectLst>
              </a:rPr>
              <a:t>劳斯（</a:t>
            </a:r>
            <a:r>
              <a:rPr kumimoji="0" lang="en-US" altLang="zh-CN" sz="2400">
                <a:solidFill>
                  <a:srgbClr val="1E86B4"/>
                </a:solidFill>
                <a:effectLst>
                  <a:outerShdw blurRad="38100" dist="38100" dir="2700000" algn="tl">
                    <a:srgbClr val="C0C0C0"/>
                  </a:outerShdw>
                </a:effectLst>
              </a:rPr>
              <a:t>Routh</a:t>
            </a:r>
            <a:r>
              <a:rPr kumimoji="0" lang="zh-CN" altLang="en-US" sz="2400">
                <a:solidFill>
                  <a:srgbClr val="1E86B4"/>
                </a:solidFill>
                <a:effectLst>
                  <a:outerShdw blurRad="38100" dist="38100" dir="2700000" algn="tl">
                    <a:srgbClr val="C0C0C0"/>
                  </a:outerShdw>
                </a:effectLst>
              </a:rPr>
              <a:t>）稳定性判据</a:t>
            </a:r>
          </a:p>
        </p:txBody>
      </p:sp>
      <p:sp>
        <p:nvSpPr>
          <p:cNvPr id="119836" name="Text Box 28"/>
          <p:cNvSpPr txBox="1">
            <a:spLocks noChangeArrowheads="1"/>
          </p:cNvSpPr>
          <p:nvPr/>
        </p:nvSpPr>
        <p:spPr bwMode="auto">
          <a:xfrm>
            <a:off x="4840288" y="4097338"/>
            <a:ext cx="3979862" cy="457200"/>
          </a:xfrm>
          <a:prstGeom prst="rect">
            <a:avLst/>
          </a:prstGeom>
          <a:noFill/>
          <a:ln w="9525" algn="ctr">
            <a:noFill/>
            <a:miter lim="800000"/>
            <a:headEnd/>
            <a:tailEnd/>
          </a:ln>
          <a:effectLst/>
        </p:spPr>
        <p:txBody>
          <a:bodyPr>
            <a:spAutoFit/>
          </a:bodyPr>
          <a:lstStyle/>
          <a:p>
            <a:pPr>
              <a:defRPr/>
            </a:pPr>
            <a:r>
              <a:rPr kumimoji="0" lang="zh-CN" altLang="en-US" sz="2400">
                <a:solidFill>
                  <a:srgbClr val="1E86B4"/>
                </a:solidFill>
                <a:effectLst>
                  <a:outerShdw blurRad="38100" dist="38100" dir="2700000" algn="tl">
                    <a:srgbClr val="C0C0C0"/>
                  </a:outerShdw>
                </a:effectLst>
              </a:rPr>
              <a:t>朱利（</a:t>
            </a:r>
            <a:r>
              <a:rPr kumimoji="0" lang="en-US" altLang="zh-CN" sz="2400">
                <a:solidFill>
                  <a:srgbClr val="1E86B4"/>
                </a:solidFill>
                <a:effectLst>
                  <a:outerShdw blurRad="38100" dist="38100" dir="2700000" algn="tl">
                    <a:srgbClr val="C0C0C0"/>
                  </a:outerShdw>
                </a:effectLst>
              </a:rPr>
              <a:t>Jury</a:t>
            </a:r>
            <a:r>
              <a:rPr kumimoji="0" lang="zh-CN" altLang="en-US" sz="2400">
                <a:solidFill>
                  <a:srgbClr val="1E86B4"/>
                </a:solidFill>
                <a:effectLst>
                  <a:outerShdw blurRad="38100" dist="38100" dir="2700000" algn="tl">
                    <a:srgbClr val="C0C0C0"/>
                  </a:outerShdw>
                </a:effectLst>
              </a:rPr>
              <a:t>）稳定性判据</a:t>
            </a:r>
          </a:p>
        </p:txBody>
      </p:sp>
      <p:sp>
        <p:nvSpPr>
          <p:cNvPr id="119837" name="Text Box 29"/>
          <p:cNvSpPr txBox="1">
            <a:spLocks noChangeArrowheads="1"/>
          </p:cNvSpPr>
          <p:nvPr/>
        </p:nvSpPr>
        <p:spPr bwMode="auto">
          <a:xfrm>
            <a:off x="1547813" y="5157788"/>
            <a:ext cx="68405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根据系统特征方程的系数判断系统的稳定性</a:t>
            </a:r>
          </a:p>
        </p:txBody>
      </p:sp>
      <p:sp>
        <p:nvSpPr>
          <p:cNvPr id="119838" name="Line 30"/>
          <p:cNvSpPr>
            <a:spLocks noChangeShapeType="1"/>
          </p:cNvSpPr>
          <p:nvPr/>
        </p:nvSpPr>
        <p:spPr bwMode="auto">
          <a:xfrm>
            <a:off x="827088" y="4581525"/>
            <a:ext cx="7489825" cy="0"/>
          </a:xfrm>
          <a:prstGeom prst="line">
            <a:avLst/>
          </a:prstGeom>
          <a:no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19839" name="AutoShape 31"/>
          <p:cNvSpPr>
            <a:spLocks noChangeArrowheads="1"/>
          </p:cNvSpPr>
          <p:nvPr/>
        </p:nvSpPr>
        <p:spPr bwMode="auto">
          <a:xfrm>
            <a:off x="3995738" y="4652963"/>
            <a:ext cx="719137" cy="431800"/>
          </a:xfrm>
          <a:prstGeom prst="upArrow">
            <a:avLst>
              <a:gd name="adj1" fmla="val 50000"/>
              <a:gd name="adj2" fmla="val 25000"/>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push dir="d"/>
  </p:transition>
</p:sld>
</file>

<file path=ppt/slides/slide8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8110" name="Text Box 46"/>
          <p:cNvSpPr txBox="1">
            <a:spLocks noChangeArrowheads="1"/>
          </p:cNvSpPr>
          <p:nvPr/>
        </p:nvSpPr>
        <p:spPr bwMode="auto">
          <a:xfrm>
            <a:off x="827088" y="476250"/>
            <a:ext cx="6624637"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3.5.1 </a:t>
            </a:r>
            <a:r>
              <a:rPr kumimoji="0" lang="zh-CN" altLang="en-US" sz="2800">
                <a:solidFill>
                  <a:srgbClr val="0000FF"/>
                </a:solidFill>
                <a:effectLst>
                  <a:outerShdw blurRad="38100" dist="38100" dir="2700000" algn="tl">
                    <a:srgbClr val="C0C0C0"/>
                  </a:outerShdw>
                </a:effectLst>
              </a:rPr>
              <a:t>劳斯（</a:t>
            </a:r>
            <a:r>
              <a:rPr kumimoji="0" lang="en-US" altLang="zh-CN" sz="2800">
                <a:solidFill>
                  <a:srgbClr val="0000FF"/>
                </a:solidFill>
                <a:effectLst>
                  <a:outerShdw blurRad="38100" dist="38100" dir="2700000" algn="tl">
                    <a:srgbClr val="C0C0C0"/>
                  </a:outerShdw>
                </a:effectLst>
              </a:rPr>
              <a:t>Routh</a:t>
            </a:r>
            <a:r>
              <a:rPr kumimoji="0" lang="zh-CN" altLang="en-US" sz="2800">
                <a:solidFill>
                  <a:srgbClr val="0000FF"/>
                </a:solidFill>
                <a:effectLst>
                  <a:outerShdw blurRad="38100" dist="38100" dir="2700000" algn="tl">
                    <a:srgbClr val="C0C0C0"/>
                  </a:outerShdw>
                </a:effectLst>
              </a:rPr>
              <a:t>）稳定性判据</a:t>
            </a:r>
          </a:p>
        </p:txBody>
      </p:sp>
      <p:sp>
        <p:nvSpPr>
          <p:cNvPr id="88111" name="Text Box 47"/>
          <p:cNvSpPr txBox="1">
            <a:spLocks noChangeArrowheads="1"/>
          </p:cNvSpPr>
          <p:nvPr/>
        </p:nvSpPr>
        <p:spPr bwMode="auto">
          <a:xfrm>
            <a:off x="971550" y="1773238"/>
            <a:ext cx="31877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劳斯稳定判据</a:t>
            </a:r>
          </a:p>
        </p:txBody>
      </p:sp>
      <p:sp>
        <p:nvSpPr>
          <p:cNvPr id="88112" name="AutoShape 48"/>
          <p:cNvSpPr>
            <a:spLocks noChangeArrowheads="1"/>
          </p:cNvSpPr>
          <p:nvPr/>
        </p:nvSpPr>
        <p:spPr bwMode="auto">
          <a:xfrm>
            <a:off x="3203575" y="1844675"/>
            <a:ext cx="863600" cy="287338"/>
          </a:xfrm>
          <a:prstGeom prst="rightArrow">
            <a:avLst>
              <a:gd name="adj1" fmla="val 50000"/>
              <a:gd name="adj2" fmla="val 75138"/>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8113" name="Text Box 49"/>
          <p:cNvSpPr txBox="1">
            <a:spLocks noChangeArrowheads="1"/>
          </p:cNvSpPr>
          <p:nvPr/>
        </p:nvSpPr>
        <p:spPr bwMode="auto">
          <a:xfrm>
            <a:off x="4335463" y="1720850"/>
            <a:ext cx="44846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连续系统</a:t>
            </a:r>
            <a:r>
              <a:rPr kumimoji="0" lang="en-US" altLang="zh-CN" sz="2400" i="1">
                <a:effectLst>
                  <a:outerShdw blurRad="38100" dist="38100" dir="2700000" algn="tl">
                    <a:srgbClr val="C0C0C0"/>
                  </a:outerShdw>
                </a:effectLst>
              </a:rPr>
              <a:t>s</a:t>
            </a:r>
            <a:r>
              <a:rPr kumimoji="0" lang="zh-CN" altLang="en-US" sz="2400">
                <a:effectLst>
                  <a:outerShdw blurRad="38100" dist="38100" dir="2700000" algn="tl">
                    <a:srgbClr val="C0C0C0"/>
                  </a:outerShdw>
                </a:effectLst>
              </a:rPr>
              <a:t>平面的特征根位置</a:t>
            </a:r>
          </a:p>
        </p:txBody>
      </p:sp>
      <p:sp>
        <p:nvSpPr>
          <p:cNvPr id="88114" name="Text Box 50"/>
          <p:cNvSpPr txBox="1">
            <a:spLocks noChangeArrowheads="1"/>
          </p:cNvSpPr>
          <p:nvPr/>
        </p:nvSpPr>
        <p:spPr bwMode="auto">
          <a:xfrm>
            <a:off x="755650" y="2925763"/>
            <a:ext cx="2376488" cy="822325"/>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离散系统 </a:t>
            </a:r>
            <a:r>
              <a:rPr kumimoji="0" lang="en-US" altLang="zh-CN" sz="2400" i="1">
                <a:solidFill>
                  <a:srgbClr val="0000FF"/>
                </a:solidFill>
                <a:effectLst>
                  <a:outerShdw blurRad="38100" dist="38100" dir="2700000" algn="tl">
                    <a:srgbClr val="C0C0C0"/>
                  </a:outerShdw>
                </a:effectLst>
              </a:rPr>
              <a:t>z </a:t>
            </a:r>
            <a:r>
              <a:rPr kumimoji="0" lang="zh-CN" altLang="en-US" sz="2400">
                <a:solidFill>
                  <a:srgbClr val="0000FF"/>
                </a:solidFill>
                <a:effectLst>
                  <a:outerShdw blurRad="38100" dist="38100" dir="2700000" algn="tl">
                    <a:srgbClr val="C0C0C0"/>
                  </a:outerShdw>
                </a:effectLst>
              </a:rPr>
              <a:t>平面的特征根位置</a:t>
            </a:r>
          </a:p>
        </p:txBody>
      </p:sp>
      <p:sp>
        <p:nvSpPr>
          <p:cNvPr id="88115" name="Text Box 51"/>
          <p:cNvSpPr txBox="1">
            <a:spLocks noChangeArrowheads="1"/>
          </p:cNvSpPr>
          <p:nvPr/>
        </p:nvSpPr>
        <p:spPr bwMode="auto">
          <a:xfrm>
            <a:off x="5364163" y="2925763"/>
            <a:ext cx="2303462" cy="822325"/>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连续系统</a:t>
            </a:r>
            <a:r>
              <a:rPr kumimoji="0" lang="en-US" altLang="zh-CN" sz="2400" i="1">
                <a:solidFill>
                  <a:srgbClr val="0000FF"/>
                </a:solidFill>
                <a:effectLst>
                  <a:outerShdw blurRad="38100" dist="38100" dir="2700000" algn="tl">
                    <a:srgbClr val="C0C0C0"/>
                  </a:outerShdw>
                </a:effectLst>
              </a:rPr>
              <a:t>w</a:t>
            </a:r>
            <a:r>
              <a:rPr kumimoji="0" lang="zh-CN" altLang="en-US" sz="2400">
                <a:solidFill>
                  <a:srgbClr val="0000FF"/>
                </a:solidFill>
                <a:effectLst>
                  <a:outerShdw blurRad="38100" dist="38100" dir="2700000" algn="tl">
                    <a:srgbClr val="C0C0C0"/>
                  </a:outerShdw>
                </a:effectLst>
              </a:rPr>
              <a:t>平面的特征根位置</a:t>
            </a:r>
          </a:p>
        </p:txBody>
      </p:sp>
      <p:sp>
        <p:nvSpPr>
          <p:cNvPr id="88116" name="AutoShape 52"/>
          <p:cNvSpPr>
            <a:spLocks noChangeArrowheads="1"/>
          </p:cNvSpPr>
          <p:nvPr/>
        </p:nvSpPr>
        <p:spPr bwMode="auto">
          <a:xfrm>
            <a:off x="3348038" y="3141663"/>
            <a:ext cx="2016125" cy="360362"/>
          </a:xfrm>
          <a:prstGeom prst="rightArrow">
            <a:avLst>
              <a:gd name="adj1" fmla="val 50000"/>
              <a:gd name="adj2" fmla="val 139868"/>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8117" name="Text Box 53"/>
          <p:cNvSpPr txBox="1">
            <a:spLocks noChangeArrowheads="1"/>
          </p:cNvSpPr>
          <p:nvPr/>
        </p:nvSpPr>
        <p:spPr bwMode="auto">
          <a:xfrm>
            <a:off x="3563938" y="2781300"/>
            <a:ext cx="1439862" cy="396875"/>
          </a:xfrm>
          <a:prstGeom prst="rect">
            <a:avLst/>
          </a:prstGeom>
          <a:noFill/>
          <a:ln w="9525" algn="ctr">
            <a:noFill/>
            <a:miter lim="800000"/>
            <a:headEnd/>
            <a:tailEnd/>
          </a:ln>
          <a:effectLst/>
        </p:spPr>
        <p:txBody>
          <a:bodyPr>
            <a:spAutoFit/>
          </a:bodyPr>
          <a:lstStyle/>
          <a:p>
            <a:pPr>
              <a:defRPr/>
            </a:pPr>
            <a:r>
              <a:rPr kumimoji="0" lang="en-US" altLang="zh-CN" i="1">
                <a:solidFill>
                  <a:srgbClr val="FF0000"/>
                </a:solidFill>
                <a:effectLst>
                  <a:outerShdw blurRad="38100" dist="38100" dir="2700000" algn="tl">
                    <a:srgbClr val="C0C0C0"/>
                  </a:outerShdw>
                </a:effectLst>
              </a:rPr>
              <a:t>w</a:t>
            </a:r>
            <a:r>
              <a:rPr kumimoji="0" lang="zh-CN" altLang="en-US">
                <a:solidFill>
                  <a:srgbClr val="FF0000"/>
                </a:solidFill>
                <a:effectLst>
                  <a:outerShdw blurRad="38100" dist="38100" dir="2700000" algn="tl">
                    <a:srgbClr val="C0C0C0"/>
                  </a:outerShdw>
                </a:effectLst>
              </a:rPr>
              <a:t>变换</a:t>
            </a:r>
          </a:p>
        </p:txBody>
      </p:sp>
      <p:sp>
        <p:nvSpPr>
          <p:cNvPr id="88118" name="Text Box 54"/>
          <p:cNvSpPr txBox="1">
            <a:spLocks noChangeArrowheads="1"/>
          </p:cNvSpPr>
          <p:nvPr/>
        </p:nvSpPr>
        <p:spPr bwMode="auto">
          <a:xfrm>
            <a:off x="3419475" y="3502025"/>
            <a:ext cx="1892300" cy="396875"/>
          </a:xfrm>
          <a:prstGeom prst="rect">
            <a:avLst/>
          </a:prstGeom>
          <a:noFill/>
          <a:ln w="9525" algn="ctr">
            <a:noFill/>
            <a:miter lim="800000"/>
            <a:headEnd/>
            <a:tailEnd/>
          </a:ln>
          <a:effectLst/>
        </p:spPr>
        <p:txBody>
          <a:bodyPr>
            <a:spAutoFit/>
          </a:bodyPr>
          <a:lstStyle/>
          <a:p>
            <a:pPr>
              <a:defRPr/>
            </a:pPr>
            <a:r>
              <a:rPr kumimoji="0" lang="zh-CN" altLang="en-US">
                <a:solidFill>
                  <a:srgbClr val="FF0000"/>
                </a:solidFill>
                <a:effectLst>
                  <a:outerShdw blurRad="38100" dist="38100" dir="2700000" algn="tl">
                    <a:srgbClr val="C0C0C0"/>
                  </a:outerShdw>
                </a:effectLst>
              </a:rPr>
              <a:t>双线性变换</a:t>
            </a:r>
          </a:p>
        </p:txBody>
      </p:sp>
      <p:sp>
        <p:nvSpPr>
          <p:cNvPr id="88119" name="Text Box 55"/>
          <p:cNvSpPr txBox="1">
            <a:spLocks noChangeArrowheads="1"/>
          </p:cNvSpPr>
          <p:nvPr/>
        </p:nvSpPr>
        <p:spPr bwMode="auto">
          <a:xfrm>
            <a:off x="6516688" y="2276475"/>
            <a:ext cx="1800225" cy="396875"/>
          </a:xfrm>
          <a:prstGeom prst="rect">
            <a:avLst/>
          </a:prstGeom>
          <a:noFill/>
          <a:ln w="9525" algn="ctr">
            <a:noFill/>
            <a:miter lim="800000"/>
            <a:headEnd/>
            <a:tailEnd/>
          </a:ln>
          <a:effectLst/>
        </p:spPr>
        <p:txBody>
          <a:bodyPr>
            <a:spAutoFit/>
          </a:bodyPr>
          <a:lstStyle/>
          <a:p>
            <a:pPr>
              <a:defRPr/>
            </a:pPr>
            <a:r>
              <a:rPr kumimoji="0" lang="zh-CN" altLang="en-US">
                <a:solidFill>
                  <a:srgbClr val="FF0000"/>
                </a:solidFill>
                <a:effectLst>
                  <a:outerShdw blurRad="38100" dist="38100" dir="2700000" algn="tl">
                    <a:srgbClr val="C0C0C0"/>
                  </a:outerShdw>
                </a:effectLst>
              </a:rPr>
              <a:t>性质近似</a:t>
            </a:r>
          </a:p>
        </p:txBody>
      </p:sp>
      <p:sp>
        <p:nvSpPr>
          <p:cNvPr id="88120" name="AutoShape 56"/>
          <p:cNvSpPr>
            <a:spLocks noChangeArrowheads="1"/>
          </p:cNvSpPr>
          <p:nvPr/>
        </p:nvSpPr>
        <p:spPr bwMode="auto">
          <a:xfrm>
            <a:off x="6011863" y="3789363"/>
            <a:ext cx="503237" cy="720725"/>
          </a:xfrm>
          <a:prstGeom prst="upArrow">
            <a:avLst>
              <a:gd name="adj1" fmla="val 50000"/>
              <a:gd name="adj2" fmla="val 35804"/>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8121" name="Text Box 57"/>
          <p:cNvSpPr txBox="1">
            <a:spLocks noChangeArrowheads="1"/>
          </p:cNvSpPr>
          <p:nvPr/>
        </p:nvSpPr>
        <p:spPr bwMode="auto">
          <a:xfrm>
            <a:off x="5364163" y="4581525"/>
            <a:ext cx="31877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劳斯稳定判据</a:t>
            </a:r>
          </a:p>
        </p:txBody>
      </p:sp>
      <p:sp>
        <p:nvSpPr>
          <p:cNvPr id="88122" name="Rectangle 58"/>
          <p:cNvSpPr>
            <a:spLocks noChangeArrowheads="1"/>
          </p:cNvSpPr>
          <p:nvPr/>
        </p:nvSpPr>
        <p:spPr bwMode="auto">
          <a:xfrm>
            <a:off x="684213" y="2781300"/>
            <a:ext cx="7775575" cy="2303463"/>
          </a:xfrm>
          <a:prstGeom prst="rect">
            <a:avLst/>
          </a:prstGeom>
          <a:noFill/>
          <a:ln w="9525" algn="ctr">
            <a:solidFill>
              <a:schemeClr val="tx1"/>
            </a:solidFill>
            <a:prstDash val="dash"/>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88123" name="Text Box 59"/>
          <p:cNvSpPr txBox="1">
            <a:spLocks noChangeArrowheads="1"/>
          </p:cNvSpPr>
          <p:nvPr/>
        </p:nvSpPr>
        <p:spPr bwMode="auto">
          <a:xfrm>
            <a:off x="3348038" y="5084763"/>
            <a:ext cx="184150" cy="457200"/>
          </a:xfrm>
          <a:prstGeom prst="rect">
            <a:avLst/>
          </a:prstGeom>
          <a:noFill/>
          <a:ln w="9525" algn="ctr">
            <a:noFill/>
            <a:miter lim="800000"/>
            <a:headEnd/>
            <a:tailEnd/>
          </a:ln>
          <a:effectLst/>
        </p:spPr>
        <p:txBody>
          <a:bodyPr wrap="none">
            <a:spAutoFit/>
          </a:bodyPr>
          <a:lstStyle/>
          <a:p>
            <a:pPr>
              <a:defRPr/>
            </a:pPr>
            <a:endParaRPr kumimoji="0" lang="zh-CN" altLang="zh-CN" sz="2400">
              <a:effectLst>
                <a:outerShdw blurRad="38100" dist="38100" dir="2700000" algn="tl">
                  <a:srgbClr val="C0C0C0"/>
                </a:outerShdw>
              </a:effectLst>
            </a:endParaRPr>
          </a:p>
        </p:txBody>
      </p:sp>
      <p:sp>
        <p:nvSpPr>
          <p:cNvPr id="88124" name="Text Box 60"/>
          <p:cNvSpPr txBox="1">
            <a:spLocks noChangeArrowheads="1"/>
          </p:cNvSpPr>
          <p:nvPr/>
        </p:nvSpPr>
        <p:spPr bwMode="auto">
          <a:xfrm>
            <a:off x="2967038" y="5084763"/>
            <a:ext cx="4341812"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离散系统劳斯稳定判据</a:t>
            </a:r>
          </a:p>
        </p:txBody>
      </p:sp>
      <p:sp>
        <p:nvSpPr>
          <p:cNvPr id="88125" name="AutoShape 61"/>
          <p:cNvSpPr>
            <a:spLocks noChangeArrowheads="1"/>
          </p:cNvSpPr>
          <p:nvPr/>
        </p:nvSpPr>
        <p:spPr bwMode="auto">
          <a:xfrm>
            <a:off x="6011863" y="2205038"/>
            <a:ext cx="431800" cy="720725"/>
          </a:xfrm>
          <a:prstGeom prst="upDownArrow">
            <a:avLst>
              <a:gd name="adj1" fmla="val 50000"/>
              <a:gd name="adj2" fmla="val 33382"/>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push dir="d"/>
  </p:transition>
</p:sld>
</file>

<file path=ppt/slides/slide8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89159" name="Text Box 71"/>
          <p:cNvSpPr txBox="1">
            <a:spLocks noChangeArrowheads="1"/>
          </p:cNvSpPr>
          <p:nvPr/>
        </p:nvSpPr>
        <p:spPr bwMode="auto">
          <a:xfrm>
            <a:off x="1692275" y="1844675"/>
            <a:ext cx="3836988" cy="457200"/>
          </a:xfrm>
          <a:prstGeom prst="rect">
            <a:avLst/>
          </a:prstGeom>
          <a:noFill/>
          <a:ln w="9525" algn="ctr">
            <a:noFill/>
            <a:miter lim="800000"/>
            <a:headEnd/>
            <a:tailEnd/>
          </a:ln>
          <a:effectLst/>
        </p:spPr>
        <p:txBody>
          <a:bodyPr>
            <a:spAutoFit/>
          </a:bodyPr>
          <a:lstStyle/>
          <a:p>
            <a:pPr>
              <a:defRPr/>
            </a:pP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变换定义：</a:t>
            </a:r>
          </a:p>
        </p:txBody>
      </p:sp>
      <p:sp>
        <p:nvSpPr>
          <p:cNvPr id="89160" name="Rectangle 72"/>
          <p:cNvSpPr>
            <a:spLocks noChangeArrowheads="1"/>
          </p:cNvSpPr>
          <p:nvPr/>
        </p:nvSpPr>
        <p:spPr bwMode="auto">
          <a:xfrm>
            <a:off x="0" y="28590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2466" name="Object 73"/>
          <p:cNvGraphicFramePr>
            <a:graphicFrameLocks noChangeAspect="1"/>
          </p:cNvGraphicFramePr>
          <p:nvPr/>
        </p:nvGraphicFramePr>
        <p:xfrm>
          <a:off x="4572000" y="1268413"/>
          <a:ext cx="1476375" cy="1555750"/>
        </p:xfrm>
        <a:graphic>
          <a:graphicData uri="http://schemas.openxmlformats.org/presentationml/2006/ole">
            <mc:AlternateContent xmlns:mc="http://schemas.openxmlformats.org/markup-compatibility/2006">
              <mc:Choice xmlns:v="urn:schemas-microsoft-com:vml" Requires="v">
                <p:oleObj name="Equation" r:id="rId3" imgW="723586" imgH="761669" progId="Equation.DSMT4">
                  <p:embed/>
                </p:oleObj>
              </mc:Choice>
              <mc:Fallback>
                <p:oleObj name="Equation" r:id="rId3" imgW="723586" imgH="761669"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72000" y="1268413"/>
                        <a:ext cx="1476375" cy="1555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62" name="Text Box 74"/>
          <p:cNvSpPr txBox="1">
            <a:spLocks noChangeArrowheads="1"/>
          </p:cNvSpPr>
          <p:nvPr/>
        </p:nvSpPr>
        <p:spPr bwMode="auto">
          <a:xfrm>
            <a:off x="1692275" y="3140075"/>
            <a:ext cx="2022475" cy="457200"/>
          </a:xfrm>
          <a:prstGeom prst="rect">
            <a:avLst/>
          </a:prstGeom>
          <a:noFill/>
          <a:ln w="9525" algn="ctr">
            <a:noFill/>
            <a:miter lim="800000"/>
            <a:headEnd/>
            <a:tailEnd/>
          </a:ln>
          <a:effectLst/>
        </p:spPr>
        <p:txBody>
          <a:bodyPr wrap="none">
            <a:spAutoFit/>
          </a:bodyPr>
          <a:lstStyle/>
          <a:p>
            <a:pPr>
              <a:defRPr/>
            </a:pPr>
            <a:r>
              <a:rPr kumimoji="0" lang="zh-CN" altLang="en-US" sz="2400">
                <a:effectLst>
                  <a:outerShdw blurRad="38100" dist="38100" dir="2700000" algn="tl">
                    <a:srgbClr val="C0C0C0"/>
                  </a:outerShdw>
                </a:effectLst>
              </a:rPr>
              <a:t>其反变换为：</a:t>
            </a:r>
          </a:p>
        </p:txBody>
      </p:sp>
      <p:sp>
        <p:nvSpPr>
          <p:cNvPr id="89163" name="Rectangle 75"/>
          <p:cNvSpPr>
            <a:spLocks noChangeArrowheads="1"/>
          </p:cNvSpPr>
          <p:nvPr/>
        </p:nvSpPr>
        <p:spPr bwMode="auto">
          <a:xfrm>
            <a:off x="215900" y="3074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89164" name="Rectangle 76"/>
          <p:cNvSpPr>
            <a:spLocks noChangeArrowheads="1"/>
          </p:cNvSpPr>
          <p:nvPr/>
        </p:nvSpPr>
        <p:spPr bwMode="auto">
          <a:xfrm>
            <a:off x="0" y="28733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2467" name="Object 77"/>
          <p:cNvGraphicFramePr>
            <a:graphicFrameLocks noChangeAspect="1"/>
          </p:cNvGraphicFramePr>
          <p:nvPr/>
        </p:nvGraphicFramePr>
        <p:xfrm>
          <a:off x="4500563" y="2852738"/>
          <a:ext cx="1944687" cy="1009650"/>
        </p:xfrm>
        <a:graphic>
          <a:graphicData uri="http://schemas.openxmlformats.org/presentationml/2006/ole">
            <mc:AlternateContent xmlns:mc="http://schemas.openxmlformats.org/markup-compatibility/2006">
              <mc:Choice xmlns:v="urn:schemas-microsoft-com:vml" Requires="v">
                <p:oleObj name="Equation" r:id="rId5" imgW="748975" imgH="393529" progId="Equation.DSMT4">
                  <p:embed/>
                </p:oleObj>
              </mc:Choice>
              <mc:Fallback>
                <p:oleObj name="Equation" r:id="rId5" imgW="748975" imgH="393529"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500563" y="2852738"/>
                        <a:ext cx="1944687" cy="10096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66" name="Rectangle 78"/>
          <p:cNvSpPr>
            <a:spLocks noChangeArrowheads="1"/>
          </p:cNvSpPr>
          <p:nvPr/>
        </p:nvSpPr>
        <p:spPr bwMode="auto">
          <a:xfrm>
            <a:off x="0" y="2625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2468" name="Object 79"/>
          <p:cNvGraphicFramePr>
            <a:graphicFrameLocks noChangeAspect="1"/>
          </p:cNvGraphicFramePr>
          <p:nvPr/>
        </p:nvGraphicFramePr>
        <p:xfrm>
          <a:off x="684213" y="4581525"/>
          <a:ext cx="7777162" cy="928688"/>
        </p:xfrm>
        <a:graphic>
          <a:graphicData uri="http://schemas.openxmlformats.org/presentationml/2006/ole">
            <mc:AlternateContent xmlns:mc="http://schemas.openxmlformats.org/markup-compatibility/2006">
              <mc:Choice xmlns:v="urn:schemas-microsoft-com:vml" Requires="v">
                <p:oleObj name="Equation" r:id="rId7" imgW="3797300" imgH="457200" progId="Equation.DSMT4">
                  <p:embed/>
                </p:oleObj>
              </mc:Choice>
              <mc:Fallback>
                <p:oleObj name="Equation" r:id="rId7" imgW="3797300" imgH="4572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84213" y="4581525"/>
                        <a:ext cx="7777162" cy="9286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89168" name="Text Box 80"/>
          <p:cNvSpPr txBox="1">
            <a:spLocks noChangeArrowheads="1"/>
          </p:cNvSpPr>
          <p:nvPr/>
        </p:nvSpPr>
        <p:spPr bwMode="auto">
          <a:xfrm>
            <a:off x="1743075" y="3932238"/>
            <a:ext cx="2684463"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频域关系为：</a:t>
            </a:r>
          </a:p>
        </p:txBody>
      </p:sp>
    </p:spTree>
  </p:cSld>
  <p:clrMapOvr>
    <a:masterClrMapping/>
  </p:clrMapOvr>
  <p:transition>
    <p:push dir="d"/>
  </p:transition>
</p:sld>
</file>

<file path=ppt/slides/slide8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30050" name="Picture 14"/>
          <p:cNvPicPr>
            <a:picLocks noChangeAspect="1" noChangeArrowheads="1"/>
          </p:cNvPicPr>
          <p:nvPr/>
        </p:nvPicPr>
        <p:blipFill>
          <a:blip r:embed="rId3" cstate="print"/>
          <a:srcRect/>
          <a:stretch>
            <a:fillRect/>
          </a:stretch>
        </p:blipFill>
        <p:spPr bwMode="auto">
          <a:xfrm>
            <a:off x="1258888" y="1700213"/>
            <a:ext cx="6769100" cy="3090862"/>
          </a:xfrm>
          <a:prstGeom prst="rect">
            <a:avLst/>
          </a:prstGeom>
          <a:noFill/>
          <a:ln w="9525">
            <a:noFill/>
            <a:miter lim="800000"/>
            <a:headEnd/>
            <a:tailEnd/>
          </a:ln>
        </p:spPr>
      </p:pic>
      <p:sp>
        <p:nvSpPr>
          <p:cNvPr id="90127" name="Text Box 15"/>
          <p:cNvSpPr txBox="1">
            <a:spLocks noChangeArrowheads="1"/>
          </p:cNvSpPr>
          <p:nvPr/>
        </p:nvSpPr>
        <p:spPr bwMode="auto">
          <a:xfrm>
            <a:off x="2698750" y="5084763"/>
            <a:ext cx="4843463"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图</a:t>
            </a:r>
            <a:r>
              <a:rPr kumimoji="0" lang="en-US" altLang="zh-CN">
                <a:solidFill>
                  <a:srgbClr val="0000FF"/>
                </a:solidFill>
                <a:effectLst>
                  <a:outerShdw blurRad="38100" dist="38100" dir="2700000" algn="tl">
                    <a:srgbClr val="C0C0C0"/>
                  </a:outerShdw>
                </a:effectLst>
              </a:rPr>
              <a:t>3.17 </a:t>
            </a:r>
            <a:r>
              <a:rPr kumimoji="0" lang="en-US" altLang="zh-CN" i="1">
                <a:solidFill>
                  <a:srgbClr val="0000FF"/>
                </a:solidFill>
                <a:effectLst>
                  <a:outerShdw blurRad="38100" dist="38100" dir="2700000" algn="tl">
                    <a:srgbClr val="C0C0C0"/>
                  </a:outerShdw>
                </a:effectLst>
              </a:rPr>
              <a:t>z</a:t>
            </a:r>
            <a:r>
              <a:rPr kumimoji="0" lang="zh-CN" altLang="en-US">
                <a:solidFill>
                  <a:srgbClr val="0000FF"/>
                </a:solidFill>
                <a:effectLst>
                  <a:outerShdw blurRad="38100" dist="38100" dir="2700000" algn="tl">
                    <a:srgbClr val="C0C0C0"/>
                  </a:outerShdw>
                </a:effectLst>
              </a:rPr>
              <a:t>平面与</a:t>
            </a:r>
            <a:r>
              <a:rPr kumimoji="0" lang="en-US" altLang="zh-CN" i="1">
                <a:solidFill>
                  <a:srgbClr val="0000FF"/>
                </a:solidFill>
                <a:effectLst>
                  <a:outerShdw blurRad="38100" dist="38100" dir="2700000" algn="tl">
                    <a:srgbClr val="C0C0C0"/>
                  </a:outerShdw>
                </a:effectLst>
              </a:rPr>
              <a:t>w</a:t>
            </a:r>
            <a:r>
              <a:rPr kumimoji="0" lang="zh-CN" altLang="en-US">
                <a:solidFill>
                  <a:srgbClr val="0000FF"/>
                </a:solidFill>
                <a:effectLst>
                  <a:outerShdw blurRad="38100" dist="38100" dir="2700000" algn="tl">
                    <a:srgbClr val="C0C0C0"/>
                  </a:outerShdw>
                </a:effectLst>
              </a:rPr>
              <a:t>平面的映射关系</a:t>
            </a:r>
          </a:p>
        </p:txBody>
      </p:sp>
      <p:sp>
        <p:nvSpPr>
          <p:cNvPr id="90128" name="Rectangle 16"/>
          <p:cNvSpPr>
            <a:spLocks noChangeArrowheads="1"/>
          </p:cNvSpPr>
          <p:nvPr/>
        </p:nvSpPr>
        <p:spPr bwMode="auto">
          <a:xfrm>
            <a:off x="0" y="2625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push dir="d"/>
  </p:transition>
</p:sld>
</file>

<file path=ppt/slides/slide8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1148" name="Text Box 12"/>
          <p:cNvSpPr txBox="1">
            <a:spLocks noChangeArrowheads="1"/>
          </p:cNvSpPr>
          <p:nvPr/>
        </p:nvSpPr>
        <p:spPr bwMode="auto">
          <a:xfrm>
            <a:off x="1476375" y="1700213"/>
            <a:ext cx="6192838" cy="9683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effectLst>
                  <a:outerShdw blurRad="38100" dist="38100" dir="2700000" algn="tl">
                    <a:srgbClr val="C0C0C0"/>
                  </a:outerShdw>
                </a:effectLst>
              </a:rPr>
              <a:t>单从考察系统的稳定性角度来看，</a:t>
            </a: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变换也可以定义如下：</a:t>
            </a:r>
          </a:p>
        </p:txBody>
      </p:sp>
      <p:sp>
        <p:nvSpPr>
          <p:cNvPr id="91149" name="Rectangle 13"/>
          <p:cNvSpPr>
            <a:spLocks noChangeArrowheads="1"/>
          </p:cNvSpPr>
          <p:nvPr/>
        </p:nvSpPr>
        <p:spPr bwMode="auto">
          <a:xfrm>
            <a:off x="0" y="30178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3490" name="Object 14"/>
          <p:cNvGraphicFramePr>
            <a:graphicFrameLocks noChangeAspect="1"/>
          </p:cNvGraphicFramePr>
          <p:nvPr/>
        </p:nvGraphicFramePr>
        <p:xfrm>
          <a:off x="2411413" y="2708275"/>
          <a:ext cx="1439862" cy="966788"/>
        </p:xfrm>
        <a:graphic>
          <a:graphicData uri="http://schemas.openxmlformats.org/presentationml/2006/ole">
            <mc:AlternateContent xmlns:mc="http://schemas.openxmlformats.org/markup-compatibility/2006">
              <mc:Choice xmlns:v="urn:schemas-microsoft-com:vml" Requires="v">
                <p:oleObj name="Equation" r:id="rId3" imgW="583947" imgH="393529" progId="Equation.DSMT4">
                  <p:embed/>
                </p:oleObj>
              </mc:Choice>
              <mc:Fallback>
                <p:oleObj name="Equation" r:id="rId3" imgW="583947" imgH="393529"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708275"/>
                        <a:ext cx="1439862" cy="966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1" name="Rectangle 15"/>
          <p:cNvSpPr>
            <a:spLocks noChangeArrowheads="1"/>
          </p:cNvSpPr>
          <p:nvPr/>
        </p:nvSpPr>
        <p:spPr bwMode="auto">
          <a:xfrm>
            <a:off x="0" y="30178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3491" name="Object 16"/>
          <p:cNvGraphicFramePr>
            <a:graphicFrameLocks noChangeAspect="1"/>
          </p:cNvGraphicFramePr>
          <p:nvPr/>
        </p:nvGraphicFramePr>
        <p:xfrm>
          <a:off x="5219700" y="2708275"/>
          <a:ext cx="1368425" cy="919163"/>
        </p:xfrm>
        <a:graphic>
          <a:graphicData uri="http://schemas.openxmlformats.org/presentationml/2006/ole">
            <mc:AlternateContent xmlns:mc="http://schemas.openxmlformats.org/markup-compatibility/2006">
              <mc:Choice xmlns:v="urn:schemas-microsoft-com:vml" Requires="v">
                <p:oleObj name="Equation" r:id="rId5" imgW="583947" imgH="393529" progId="Equation.DSMT4">
                  <p:embed/>
                </p:oleObj>
              </mc:Choice>
              <mc:Fallback>
                <p:oleObj name="Equation" r:id="rId5" imgW="583947" imgH="393529"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219700" y="2708275"/>
                        <a:ext cx="1368425" cy="919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1153" name="AutoShape 17"/>
          <p:cNvSpPr>
            <a:spLocks noChangeArrowheads="1"/>
          </p:cNvSpPr>
          <p:nvPr/>
        </p:nvSpPr>
        <p:spPr bwMode="auto">
          <a:xfrm>
            <a:off x="4140200" y="3068638"/>
            <a:ext cx="719138" cy="360362"/>
          </a:xfrm>
          <a:prstGeom prst="rightArrow">
            <a:avLst>
              <a:gd name="adj1" fmla="val 50000"/>
              <a:gd name="adj2" fmla="val 49890"/>
            </a:avLst>
          </a:pr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91154" name="Text Box 18"/>
          <p:cNvSpPr txBox="1">
            <a:spLocks noChangeArrowheads="1"/>
          </p:cNvSpPr>
          <p:nvPr/>
        </p:nvSpPr>
        <p:spPr bwMode="auto">
          <a:xfrm>
            <a:off x="1600200" y="3967163"/>
            <a:ext cx="3740150" cy="968375"/>
          </a:xfrm>
          <a:prstGeom prst="rect">
            <a:avLst/>
          </a:prstGeom>
          <a:noFill/>
          <a:ln w="9525" algn="ctr">
            <a:noFill/>
            <a:miter lim="800000"/>
            <a:headEnd/>
            <a:tailEnd/>
          </a:ln>
          <a:effectLst/>
        </p:spPr>
        <p:txBody>
          <a:bodyPr wrap="none">
            <a:spAutoFit/>
          </a:bodyPr>
          <a:lstStyle/>
          <a:p>
            <a:pPr>
              <a:lnSpc>
                <a:spcPct val="120000"/>
              </a:lnSpc>
              <a:defRPr/>
            </a:pPr>
            <a:r>
              <a:rPr kumimoji="0" lang="zh-CN" altLang="en-US" sz="2400">
                <a:solidFill>
                  <a:srgbClr val="0000FF"/>
                </a:solidFill>
                <a:effectLst>
                  <a:outerShdw blurRad="38100" dist="38100" dir="2700000" algn="tl">
                    <a:srgbClr val="C0C0C0"/>
                  </a:outerShdw>
                </a:effectLst>
              </a:rPr>
              <a:t>好处：与采样周期</a:t>
            </a:r>
            <a:r>
              <a:rPr kumimoji="0" lang="en-US" altLang="zh-CN" sz="2400" i="1">
                <a:solidFill>
                  <a:srgbClr val="0000FF"/>
                </a:solidFill>
                <a:effectLst>
                  <a:outerShdw blurRad="38100" dist="38100" dir="2700000" algn="tl">
                    <a:srgbClr val="C0C0C0"/>
                  </a:outerShdw>
                </a:effectLst>
              </a:rPr>
              <a:t>T</a:t>
            </a:r>
            <a:r>
              <a:rPr kumimoji="0" lang="zh-CN" altLang="en-US" sz="2400">
                <a:solidFill>
                  <a:srgbClr val="0000FF"/>
                </a:solidFill>
                <a:effectLst>
                  <a:outerShdw blurRad="38100" dist="38100" dir="2700000" algn="tl">
                    <a:srgbClr val="C0C0C0"/>
                  </a:outerShdw>
                </a:effectLst>
              </a:rPr>
              <a:t>无关；</a:t>
            </a:r>
          </a:p>
          <a:p>
            <a:pPr>
              <a:lnSpc>
                <a:spcPct val="120000"/>
              </a:lnSpc>
              <a:defRPr/>
            </a:pPr>
            <a:r>
              <a:rPr kumimoji="0" lang="zh-CN" altLang="en-US" sz="2400">
                <a:solidFill>
                  <a:schemeClr val="accent2"/>
                </a:solidFill>
                <a:effectLst>
                  <a:outerShdw blurRad="38100" dist="38100" dir="2700000" algn="tl">
                    <a:srgbClr val="C0C0C0"/>
                  </a:outerShdw>
                </a:effectLst>
              </a:rPr>
              <a:t>缺点：频率畸变增大</a:t>
            </a:r>
          </a:p>
        </p:txBody>
      </p:sp>
    </p:spTree>
  </p:cSld>
  <p:clrMapOvr>
    <a:masterClrMapping/>
  </p:clrMapOvr>
  <p:transition>
    <p:push dir="d"/>
  </p:transition>
</p:sld>
</file>

<file path=ppt/slides/slide8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2171" name="Text Box 11"/>
          <p:cNvSpPr txBox="1">
            <a:spLocks noChangeArrowheads="1"/>
          </p:cNvSpPr>
          <p:nvPr/>
        </p:nvSpPr>
        <p:spPr bwMode="auto">
          <a:xfrm>
            <a:off x="1042988" y="1052513"/>
            <a:ext cx="48450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劳斯稳定性判据步骤：</a:t>
            </a:r>
          </a:p>
        </p:txBody>
      </p:sp>
      <p:sp>
        <p:nvSpPr>
          <p:cNvPr id="92172" name="Text Box 12"/>
          <p:cNvSpPr txBox="1">
            <a:spLocks noChangeArrowheads="1"/>
          </p:cNvSpPr>
          <p:nvPr/>
        </p:nvSpPr>
        <p:spPr bwMode="auto">
          <a:xfrm>
            <a:off x="1023938" y="1936750"/>
            <a:ext cx="6069012" cy="457200"/>
          </a:xfrm>
          <a:prstGeom prst="rect">
            <a:avLst/>
          </a:prstGeom>
          <a:noFill/>
          <a:ln w="9525" algn="ctr">
            <a:noFill/>
            <a:miter lim="800000"/>
            <a:headEnd/>
            <a:tailEnd/>
          </a:ln>
          <a:effectLst/>
        </p:spPr>
        <p:txBody>
          <a:bodyPr>
            <a:spAutoFit/>
          </a:bodyPr>
          <a:lstStyle/>
          <a:p>
            <a:pPr>
              <a:defRPr/>
            </a:pPr>
            <a:r>
              <a:rPr kumimoji="0" lang="en-US" altLang="zh-CN" sz="2400">
                <a:effectLst>
                  <a:outerShdw blurRad="38100" dist="38100" dir="2700000" algn="tl">
                    <a:srgbClr val="C0C0C0"/>
                  </a:outerShdw>
                </a:effectLst>
              </a:rPr>
              <a:t>① </a:t>
            </a:r>
            <a:r>
              <a:rPr kumimoji="0" lang="zh-CN" altLang="en-US" sz="2400">
                <a:effectLst>
                  <a:outerShdw blurRad="38100" dist="38100" dir="2700000" algn="tl">
                    <a:srgbClr val="C0C0C0"/>
                  </a:outerShdw>
                </a:effectLst>
              </a:rPr>
              <a:t>根据特征方程写出劳斯阵列：</a:t>
            </a:r>
          </a:p>
        </p:txBody>
      </p:sp>
      <p:sp>
        <p:nvSpPr>
          <p:cNvPr id="92173" name="Rectangle 13"/>
          <p:cNvSpPr>
            <a:spLocks noChangeArrowheads="1"/>
          </p:cNvSpPr>
          <p:nvPr/>
        </p:nvSpPr>
        <p:spPr bwMode="auto">
          <a:xfrm>
            <a:off x="0" y="33099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4514" name="Object 14"/>
          <p:cNvGraphicFramePr>
            <a:graphicFrameLocks noChangeAspect="1"/>
          </p:cNvGraphicFramePr>
          <p:nvPr/>
        </p:nvGraphicFramePr>
        <p:xfrm>
          <a:off x="1476375" y="2492375"/>
          <a:ext cx="6048375" cy="549275"/>
        </p:xfrm>
        <a:graphic>
          <a:graphicData uri="http://schemas.openxmlformats.org/presentationml/2006/ole">
            <mc:AlternateContent xmlns:mc="http://schemas.openxmlformats.org/markup-compatibility/2006">
              <mc:Choice xmlns:v="urn:schemas-microsoft-com:vml" Requires="v">
                <p:oleObj name="Equation" r:id="rId3" imgW="2616200" imgH="241300" progId="Equation.DSMT4">
                  <p:embed/>
                </p:oleObj>
              </mc:Choice>
              <mc:Fallback>
                <p:oleObj name="Equation" r:id="rId3" imgW="2616200" imgH="241300" progId="Equation.DSMT4">
                  <p:embed/>
                  <p:pic>
                    <p:nvPicPr>
                      <p:cNvPr id="0" name="Picture 4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476375" y="2492375"/>
                        <a:ext cx="6048375" cy="549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5" name="Rectangle 15"/>
          <p:cNvSpPr>
            <a:spLocks noChangeArrowheads="1"/>
          </p:cNvSpPr>
          <p:nvPr/>
        </p:nvSpPr>
        <p:spPr bwMode="auto">
          <a:xfrm>
            <a:off x="0" y="2590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4515" name="Object 16"/>
          <p:cNvGraphicFramePr>
            <a:graphicFrameLocks noChangeAspect="1"/>
          </p:cNvGraphicFramePr>
          <p:nvPr/>
        </p:nvGraphicFramePr>
        <p:xfrm>
          <a:off x="2195513" y="3068638"/>
          <a:ext cx="539750" cy="2881312"/>
        </p:xfrm>
        <a:graphic>
          <a:graphicData uri="http://schemas.openxmlformats.org/presentationml/2006/ole">
            <mc:AlternateContent xmlns:mc="http://schemas.openxmlformats.org/markup-compatibility/2006">
              <mc:Choice xmlns:v="urn:schemas-microsoft-com:vml" Requires="v">
                <p:oleObj name="Equation" r:id="rId5" imgW="317362" imgH="1675673" progId="Equation.DSMT4">
                  <p:embed/>
                </p:oleObj>
              </mc:Choice>
              <mc:Fallback>
                <p:oleObj name="Equation" r:id="rId5" imgW="317362" imgH="1675673" progId="Equation.DSMT4">
                  <p:embed/>
                  <p:pic>
                    <p:nvPicPr>
                      <p:cNvPr id="0" name="Picture 45"/>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95513" y="3068638"/>
                        <a:ext cx="539750" cy="28813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7" name="Rectangle 17"/>
          <p:cNvSpPr>
            <a:spLocks noChangeArrowheads="1"/>
          </p:cNvSpPr>
          <p:nvPr/>
        </p:nvSpPr>
        <p:spPr bwMode="auto">
          <a:xfrm>
            <a:off x="0" y="26241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4516" name="Object 18"/>
          <p:cNvGraphicFramePr>
            <a:graphicFrameLocks noChangeAspect="1"/>
          </p:cNvGraphicFramePr>
          <p:nvPr/>
        </p:nvGraphicFramePr>
        <p:xfrm>
          <a:off x="3132138" y="3141663"/>
          <a:ext cx="447675" cy="2808287"/>
        </p:xfrm>
        <a:graphic>
          <a:graphicData uri="http://schemas.openxmlformats.org/presentationml/2006/ole">
            <mc:AlternateContent xmlns:mc="http://schemas.openxmlformats.org/markup-compatibility/2006">
              <mc:Choice xmlns:v="urn:schemas-microsoft-com:vml" Requires="v">
                <p:oleObj name="Equation" r:id="rId7" imgW="254000" imgH="1612900" progId="Equation.DSMT4">
                  <p:embed/>
                </p:oleObj>
              </mc:Choice>
              <mc:Fallback>
                <p:oleObj name="Equation" r:id="rId7" imgW="254000" imgH="1612900" progId="Equation.DSMT4">
                  <p:embed/>
                  <p:pic>
                    <p:nvPicPr>
                      <p:cNvPr id="0" name="Picture 46"/>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132138" y="3141663"/>
                        <a:ext cx="447675" cy="2808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79" name="Rectangle 19"/>
          <p:cNvSpPr>
            <a:spLocks noChangeArrowheads="1"/>
          </p:cNvSpPr>
          <p:nvPr/>
        </p:nvSpPr>
        <p:spPr bwMode="auto">
          <a:xfrm>
            <a:off x="0" y="26431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4517" name="Object 20"/>
          <p:cNvGraphicFramePr>
            <a:graphicFrameLocks noChangeAspect="1"/>
          </p:cNvGraphicFramePr>
          <p:nvPr/>
        </p:nvGraphicFramePr>
        <p:xfrm>
          <a:off x="3851275" y="3141663"/>
          <a:ext cx="465138" cy="2736850"/>
        </p:xfrm>
        <a:graphic>
          <a:graphicData uri="http://schemas.openxmlformats.org/presentationml/2006/ole">
            <mc:AlternateContent xmlns:mc="http://schemas.openxmlformats.org/markup-compatibility/2006">
              <mc:Choice xmlns:v="urn:schemas-microsoft-com:vml" Requires="v">
                <p:oleObj name="Equation" r:id="rId9" imgW="266584" imgH="1574117" progId="Equation.DSMT4">
                  <p:embed/>
                </p:oleObj>
              </mc:Choice>
              <mc:Fallback>
                <p:oleObj name="Equation" r:id="rId9" imgW="266584" imgH="1574117" progId="Equation.DSMT4">
                  <p:embed/>
                  <p:pic>
                    <p:nvPicPr>
                      <p:cNvPr id="0" name="Picture 4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851275" y="3141663"/>
                        <a:ext cx="465138" cy="2736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1" name="Rectangle 21"/>
          <p:cNvSpPr>
            <a:spLocks noChangeArrowheads="1"/>
          </p:cNvSpPr>
          <p:nvPr/>
        </p:nvSpPr>
        <p:spPr bwMode="auto">
          <a:xfrm>
            <a:off x="0" y="26431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4518" name="Object 22"/>
          <p:cNvGraphicFramePr>
            <a:graphicFrameLocks noChangeAspect="1"/>
          </p:cNvGraphicFramePr>
          <p:nvPr/>
        </p:nvGraphicFramePr>
        <p:xfrm>
          <a:off x="4572000" y="3141663"/>
          <a:ext cx="476250" cy="2808287"/>
        </p:xfrm>
        <a:graphic>
          <a:graphicData uri="http://schemas.openxmlformats.org/presentationml/2006/ole">
            <mc:AlternateContent xmlns:mc="http://schemas.openxmlformats.org/markup-compatibility/2006">
              <mc:Choice xmlns:v="urn:schemas-microsoft-com:vml" Requires="v">
                <p:oleObj name="Equation" r:id="rId11" imgW="266584" imgH="1574117" progId="Equation.DSMT4">
                  <p:embed/>
                </p:oleObj>
              </mc:Choice>
              <mc:Fallback>
                <p:oleObj name="Equation" r:id="rId11" imgW="266584" imgH="1574117" progId="Equation.DSMT4">
                  <p:embed/>
                  <p:pic>
                    <p:nvPicPr>
                      <p:cNvPr id="0" name="Picture 48"/>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4572000" y="3141663"/>
                        <a:ext cx="476250" cy="2808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3" name="Rectangle 23"/>
          <p:cNvSpPr>
            <a:spLocks noChangeArrowheads="1"/>
          </p:cNvSpPr>
          <p:nvPr/>
        </p:nvSpPr>
        <p:spPr bwMode="auto">
          <a:xfrm>
            <a:off x="0" y="28051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4519" name="Object 24"/>
          <p:cNvGraphicFramePr>
            <a:graphicFrameLocks noChangeAspect="1"/>
          </p:cNvGraphicFramePr>
          <p:nvPr/>
        </p:nvGraphicFramePr>
        <p:xfrm>
          <a:off x="5292725" y="3284538"/>
          <a:ext cx="354013" cy="2447925"/>
        </p:xfrm>
        <a:graphic>
          <a:graphicData uri="http://schemas.openxmlformats.org/presentationml/2006/ole">
            <mc:AlternateContent xmlns:mc="http://schemas.openxmlformats.org/markup-compatibility/2006">
              <mc:Choice xmlns:v="urn:schemas-microsoft-com:vml" Requires="v">
                <p:oleObj name="Equation" r:id="rId13" imgW="177723" imgH="1244060" progId="Equation.DSMT4">
                  <p:embed/>
                </p:oleObj>
              </mc:Choice>
              <mc:Fallback>
                <p:oleObj name="Equation" r:id="rId13" imgW="177723" imgH="1244060" progId="Equation.DSMT4">
                  <p:embed/>
                  <p:pic>
                    <p:nvPicPr>
                      <p:cNvPr id="0" name="Picture 49"/>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5292725" y="3284538"/>
                        <a:ext cx="354013" cy="24479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2185" name="Line 25"/>
          <p:cNvSpPr>
            <a:spLocks noChangeShapeType="1"/>
          </p:cNvSpPr>
          <p:nvPr/>
        </p:nvSpPr>
        <p:spPr bwMode="auto">
          <a:xfrm>
            <a:off x="1547813" y="2997200"/>
            <a:ext cx="5903912" cy="0"/>
          </a:xfrm>
          <a:prstGeom prst="line">
            <a:avLst/>
          </a:prstGeom>
          <a:no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push dir="d"/>
  </p:transition>
</p:sld>
</file>

<file path=ppt/slides/slide8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3232" name="Text Box 48"/>
          <p:cNvSpPr txBox="1">
            <a:spLocks noChangeArrowheads="1"/>
          </p:cNvSpPr>
          <p:nvPr/>
        </p:nvSpPr>
        <p:spPr bwMode="auto">
          <a:xfrm>
            <a:off x="1187450" y="1412875"/>
            <a:ext cx="6573838" cy="822325"/>
          </a:xfrm>
          <a:prstGeom prst="rect">
            <a:avLst/>
          </a:prstGeom>
          <a:noFill/>
          <a:ln w="9525" algn="ctr">
            <a:noFill/>
            <a:miter lim="800000"/>
            <a:headEnd/>
            <a:tailEnd/>
          </a:ln>
          <a:effectLst/>
        </p:spPr>
        <p:txBody>
          <a:bodyPr>
            <a:spAutoFit/>
          </a:bodyPr>
          <a:lstStyle/>
          <a:p>
            <a:pPr>
              <a:defRPr/>
            </a:pPr>
            <a:r>
              <a:rPr kumimoji="0" lang="en-US" altLang="zh-CN" sz="2400">
                <a:effectLst>
                  <a:outerShdw blurRad="38100" dist="38100" dir="2700000" algn="tl">
                    <a:srgbClr val="C0C0C0"/>
                  </a:outerShdw>
                </a:effectLst>
              </a:rPr>
              <a:t>② </a:t>
            </a:r>
            <a:r>
              <a:rPr kumimoji="0" lang="zh-CN" altLang="en-US" sz="2400">
                <a:effectLst>
                  <a:outerShdw blurRad="38100" dist="38100" dir="2700000" algn="tl">
                    <a:srgbClr val="C0C0C0"/>
                  </a:outerShdw>
                </a:effectLst>
              </a:rPr>
              <a:t>阵列的前两行是由特征方程的系数得到的，其余行计算如下：</a:t>
            </a:r>
          </a:p>
        </p:txBody>
      </p:sp>
      <p:pic>
        <p:nvPicPr>
          <p:cNvPr id="131075" name="Picture 49"/>
          <p:cNvPicPr>
            <a:picLocks noChangeAspect="1" noChangeArrowheads="1"/>
          </p:cNvPicPr>
          <p:nvPr/>
        </p:nvPicPr>
        <p:blipFill>
          <a:blip r:embed="rId3" cstate="print"/>
          <a:srcRect/>
          <a:stretch>
            <a:fillRect/>
          </a:stretch>
        </p:blipFill>
        <p:spPr bwMode="auto">
          <a:xfrm>
            <a:off x="1331913" y="2420938"/>
            <a:ext cx="6192837" cy="2901950"/>
          </a:xfrm>
          <a:prstGeom prst="rect">
            <a:avLst/>
          </a:prstGeom>
          <a:noFill/>
          <a:ln w="9525">
            <a:noFill/>
            <a:miter lim="800000"/>
            <a:headEnd/>
            <a:tailEnd/>
          </a:ln>
        </p:spPr>
      </p:pic>
    </p:spTree>
  </p:cSld>
  <p:clrMapOvr>
    <a:masterClrMapping/>
  </p:clrMapOvr>
  <p:transition>
    <p:zoom/>
  </p:transition>
</p:sld>
</file>

<file path=ppt/slides/slide8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4220" name="Text Box 12"/>
          <p:cNvSpPr txBox="1">
            <a:spLocks noChangeArrowheads="1"/>
          </p:cNvSpPr>
          <p:nvPr/>
        </p:nvSpPr>
        <p:spPr bwMode="auto">
          <a:xfrm>
            <a:off x="1187450" y="1989138"/>
            <a:ext cx="6932613" cy="968375"/>
          </a:xfrm>
          <a:prstGeom prst="rect">
            <a:avLst/>
          </a:prstGeom>
          <a:noFill/>
          <a:ln w="9525" algn="ctr">
            <a:noFill/>
            <a:miter lim="800000"/>
            <a:headEnd/>
            <a:tailEnd/>
          </a:ln>
          <a:effectLst/>
        </p:spPr>
        <p:txBody>
          <a:bodyPr>
            <a:spAutoFit/>
          </a:bodyPr>
          <a:lstStyle/>
          <a:p>
            <a:pPr>
              <a:lnSpc>
                <a:spcPct val="120000"/>
              </a:lnSpc>
              <a:defRPr/>
            </a:pPr>
            <a:r>
              <a:rPr kumimoji="0" lang="en-US" altLang="zh-CN" sz="2400">
                <a:effectLst>
                  <a:outerShdw blurRad="38100" dist="38100" dir="2700000" algn="tl">
                    <a:srgbClr val="C0C0C0"/>
                  </a:outerShdw>
                </a:effectLst>
              </a:rPr>
              <a:t>③ </a:t>
            </a:r>
            <a:r>
              <a:rPr kumimoji="0" lang="zh-CN" altLang="en-US" sz="2400">
                <a:effectLst>
                  <a:outerShdw blurRad="38100" dist="38100" dir="2700000" algn="tl">
                    <a:srgbClr val="C0C0C0"/>
                  </a:outerShdw>
                </a:effectLst>
              </a:rPr>
              <a:t>劳斯判据为：对于特征方程来说，具有正实部根的个数等于阵列中第一列系数符号改变的次数。</a:t>
            </a:r>
          </a:p>
        </p:txBody>
      </p:sp>
      <p:sp>
        <p:nvSpPr>
          <p:cNvPr id="94221" name="Text Box 13"/>
          <p:cNvSpPr txBox="1">
            <a:spLocks noChangeArrowheads="1"/>
          </p:cNvSpPr>
          <p:nvPr/>
        </p:nvSpPr>
        <p:spPr bwMode="auto">
          <a:xfrm>
            <a:off x="1166813" y="3376613"/>
            <a:ext cx="6861175" cy="9683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solidFill>
                  <a:srgbClr val="0000FF"/>
                </a:solidFill>
                <a:effectLst>
                  <a:outerShdw blurRad="38100" dist="38100" dir="2700000" algn="tl">
                    <a:srgbClr val="C0C0C0"/>
                  </a:outerShdw>
                </a:effectLst>
              </a:rPr>
              <a:t>说明：劳斯阵列的特殊情况，如阵列第</a:t>
            </a:r>
            <a:r>
              <a:rPr kumimoji="0" lang="en-US" altLang="zh-CN" sz="2400">
                <a:solidFill>
                  <a:srgbClr val="0000FF"/>
                </a:solidFill>
                <a:effectLst>
                  <a:outerShdw blurRad="38100" dist="38100" dir="2700000" algn="tl">
                    <a:srgbClr val="C0C0C0"/>
                  </a:outerShdw>
                </a:effectLst>
              </a:rPr>
              <a:t>1</a:t>
            </a:r>
            <a:r>
              <a:rPr kumimoji="0" lang="zh-CN" altLang="en-US" sz="2400">
                <a:solidFill>
                  <a:srgbClr val="0000FF"/>
                </a:solidFill>
                <a:effectLst>
                  <a:outerShdw blurRad="38100" dist="38100" dir="2700000" algn="tl">
                    <a:srgbClr val="C0C0C0"/>
                  </a:outerShdw>
                </a:effectLst>
              </a:rPr>
              <a:t>列出现“</a:t>
            </a:r>
            <a:r>
              <a:rPr kumimoji="0" lang="en-US" altLang="zh-CN" sz="2400">
                <a:solidFill>
                  <a:srgbClr val="0000FF"/>
                </a:solidFill>
                <a:effectLst>
                  <a:outerShdw blurRad="38100" dist="38100" dir="2700000" algn="tl">
                    <a:srgbClr val="C0C0C0"/>
                  </a:outerShdw>
                </a:effectLst>
              </a:rPr>
              <a:t>0”</a:t>
            </a:r>
            <a:r>
              <a:rPr kumimoji="0" lang="zh-CN" altLang="en-US" sz="2400">
                <a:solidFill>
                  <a:srgbClr val="0000FF"/>
                </a:solidFill>
                <a:effectLst>
                  <a:outerShdw blurRad="38100" dist="38100" dir="2700000" algn="tl">
                    <a:srgbClr val="C0C0C0"/>
                  </a:outerShdw>
                </a:effectLst>
              </a:rPr>
              <a:t>的情况，参考</a:t>
            </a:r>
            <a:r>
              <a:rPr kumimoji="0" lang="en-US" altLang="zh-CN" sz="2400">
                <a:solidFill>
                  <a:srgbClr val="0000FF"/>
                </a:solidFill>
                <a:effectLst>
                  <a:outerShdw blurRad="38100" dist="38100" dir="2700000" algn="tl">
                    <a:srgbClr val="C0C0C0"/>
                  </a:outerShdw>
                </a:effectLst>
              </a:rPr>
              <a:t>《</a:t>
            </a:r>
            <a:r>
              <a:rPr kumimoji="0" lang="zh-CN" altLang="en-US" sz="2400">
                <a:solidFill>
                  <a:srgbClr val="0000FF"/>
                </a:solidFill>
                <a:effectLst>
                  <a:outerShdw blurRad="38100" dist="38100" dir="2700000" algn="tl">
                    <a:srgbClr val="C0C0C0"/>
                  </a:outerShdw>
                </a:effectLst>
              </a:rPr>
              <a:t>自动控制原理</a:t>
            </a:r>
            <a:r>
              <a:rPr kumimoji="0" lang="en-US" altLang="zh-CN" sz="2400">
                <a:solidFill>
                  <a:srgbClr val="0000FF"/>
                </a:solidFill>
                <a:effectLst>
                  <a:outerShdw blurRad="38100" dist="38100" dir="2700000" algn="tl">
                    <a:srgbClr val="C0C0C0"/>
                  </a:outerShdw>
                </a:effectLst>
              </a:rPr>
              <a:t>》</a:t>
            </a:r>
            <a:r>
              <a:rPr kumimoji="0" lang="zh-CN" altLang="en-US" sz="2400">
                <a:solidFill>
                  <a:srgbClr val="0000FF"/>
                </a:solidFill>
                <a:effectLst>
                  <a:outerShdw blurRad="38100" dist="38100" dir="2700000" algn="tl">
                    <a:srgbClr val="C0C0C0"/>
                  </a:outerShdw>
                </a:effectLst>
              </a:rPr>
              <a:t>内容。</a:t>
            </a:r>
          </a:p>
        </p:txBody>
      </p:sp>
    </p:spTree>
  </p:cSld>
  <p:clrMapOvr>
    <a:masterClrMapping/>
  </p:clrMapOvr>
  <p:transition>
    <p:zoom/>
  </p:transition>
</p:sld>
</file>

<file path=ppt/slides/slide8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5290" name="Text Box 58"/>
          <p:cNvSpPr txBox="1">
            <a:spLocks noChangeArrowheads="1"/>
          </p:cNvSpPr>
          <p:nvPr/>
        </p:nvSpPr>
        <p:spPr bwMode="auto">
          <a:xfrm>
            <a:off x="755650" y="1628775"/>
            <a:ext cx="7726363"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3.11</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利用劳斯判据研究例</a:t>
            </a:r>
            <a:r>
              <a:rPr kumimoji="0" lang="en-US" altLang="zh-CN" sz="2400">
                <a:effectLst>
                  <a:outerShdw blurRad="38100" dist="38100" dir="2700000" algn="tl">
                    <a:srgbClr val="C0C0C0"/>
                  </a:outerShdw>
                </a:effectLst>
              </a:rPr>
              <a:t>3.10</a:t>
            </a:r>
            <a:r>
              <a:rPr kumimoji="0" lang="zh-CN" altLang="en-US" sz="2400">
                <a:effectLst>
                  <a:outerShdw blurRad="38100" dist="38100" dir="2700000" algn="tl">
                    <a:srgbClr val="C0C0C0"/>
                  </a:outerShdw>
                </a:effectLst>
              </a:rPr>
              <a:t>所示系统的稳定性。</a:t>
            </a:r>
          </a:p>
        </p:txBody>
      </p:sp>
      <p:sp>
        <p:nvSpPr>
          <p:cNvPr id="95291" name="Text Box 59"/>
          <p:cNvSpPr txBox="1">
            <a:spLocks noChangeArrowheads="1"/>
          </p:cNvSpPr>
          <p:nvPr/>
        </p:nvSpPr>
        <p:spPr bwMode="auto">
          <a:xfrm>
            <a:off x="755650" y="2205038"/>
            <a:ext cx="813752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由例</a:t>
            </a:r>
            <a:r>
              <a:rPr kumimoji="0" lang="en-US" altLang="zh-CN" sz="2400">
                <a:effectLst>
                  <a:outerShdw blurRad="38100" dist="38100" dir="2700000" algn="tl">
                    <a:srgbClr val="C0C0C0"/>
                  </a:outerShdw>
                </a:effectLst>
              </a:rPr>
              <a:t>3.10</a:t>
            </a:r>
            <a:r>
              <a:rPr kumimoji="0" lang="zh-CN" altLang="en-US" sz="2400">
                <a:effectLst>
                  <a:outerShdw blurRad="38100" dist="38100" dir="2700000" algn="tl">
                    <a:srgbClr val="C0C0C0"/>
                  </a:outerShdw>
                </a:effectLst>
              </a:rPr>
              <a:t>可知，</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=1s</a:t>
            </a:r>
            <a:r>
              <a:rPr kumimoji="0" lang="zh-CN" altLang="en-US" sz="2400">
                <a:effectLst>
                  <a:outerShdw blurRad="38100" dist="38100" dir="2700000" algn="tl">
                    <a:srgbClr val="C0C0C0"/>
                  </a:outerShdw>
                </a:effectLst>
              </a:rPr>
              <a:t>时，闭环系统的特征方程为：</a:t>
            </a:r>
          </a:p>
        </p:txBody>
      </p:sp>
      <p:sp>
        <p:nvSpPr>
          <p:cNvPr id="95292" name="Rectangle 60"/>
          <p:cNvSpPr>
            <a:spLocks noChangeArrowheads="1"/>
          </p:cNvSpPr>
          <p:nvPr/>
        </p:nvSpPr>
        <p:spPr bwMode="auto">
          <a:xfrm>
            <a:off x="0" y="28352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5538" name="Object 61"/>
          <p:cNvGraphicFramePr>
            <a:graphicFrameLocks noChangeAspect="1"/>
          </p:cNvGraphicFramePr>
          <p:nvPr/>
        </p:nvGraphicFramePr>
        <p:xfrm>
          <a:off x="3419475" y="3429000"/>
          <a:ext cx="4103688" cy="827088"/>
        </p:xfrm>
        <a:graphic>
          <a:graphicData uri="http://schemas.openxmlformats.org/presentationml/2006/ole">
            <mc:AlternateContent xmlns:mc="http://schemas.openxmlformats.org/markup-compatibility/2006">
              <mc:Choice xmlns:v="urn:schemas-microsoft-com:vml" Requires="v">
                <p:oleObj name="Equation" r:id="rId3" imgW="2311400" imgH="469900" progId="Equation.DSMT4">
                  <p:embed/>
                </p:oleObj>
              </mc:Choice>
              <mc:Fallback>
                <p:oleObj name="Equation" r:id="rId3" imgW="2311400" imgH="469900" progId="Equation.DSMT4">
                  <p:embed/>
                  <p:pic>
                    <p:nvPicPr>
                      <p:cNvPr id="0" name="Picture 2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3429000"/>
                        <a:ext cx="4103688" cy="8270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94" name="Text Box 62"/>
          <p:cNvSpPr txBox="1">
            <a:spLocks noChangeArrowheads="1"/>
          </p:cNvSpPr>
          <p:nvPr/>
        </p:nvSpPr>
        <p:spPr bwMode="auto">
          <a:xfrm>
            <a:off x="1384300" y="3521075"/>
            <a:ext cx="2971800" cy="457200"/>
          </a:xfrm>
          <a:prstGeom prst="rect">
            <a:avLst/>
          </a:prstGeom>
          <a:noFill/>
          <a:ln w="9525" algn="ctr">
            <a:noFill/>
            <a:miter lim="800000"/>
            <a:headEnd/>
            <a:tailEnd/>
          </a:ln>
          <a:effectLst/>
        </p:spPr>
        <p:txBody>
          <a:bodyPr>
            <a:spAutoFit/>
          </a:bodyPr>
          <a:lstStyle/>
          <a:p>
            <a:pPr>
              <a:defRPr/>
            </a:pP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变换后为：</a:t>
            </a:r>
          </a:p>
        </p:txBody>
      </p:sp>
      <p:sp>
        <p:nvSpPr>
          <p:cNvPr id="95295" name="Rectangle 63"/>
          <p:cNvSpPr>
            <a:spLocks noChangeArrowheads="1"/>
          </p:cNvSpPr>
          <p:nvPr/>
        </p:nvSpPr>
        <p:spPr bwMode="auto">
          <a:xfrm>
            <a:off x="0" y="29686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5539" name="Object 64"/>
          <p:cNvGraphicFramePr>
            <a:graphicFrameLocks noChangeAspect="1"/>
          </p:cNvGraphicFramePr>
          <p:nvPr/>
        </p:nvGraphicFramePr>
        <p:xfrm>
          <a:off x="2484438" y="2708275"/>
          <a:ext cx="2952750" cy="512763"/>
        </p:xfrm>
        <a:graphic>
          <a:graphicData uri="http://schemas.openxmlformats.org/presentationml/2006/ole">
            <mc:AlternateContent xmlns:mc="http://schemas.openxmlformats.org/markup-compatibility/2006">
              <mc:Choice xmlns:v="urn:schemas-microsoft-com:vml" Requires="v">
                <p:oleObj name="Equation" r:id="rId5" imgW="1155700" imgH="203200" progId="Equation.DSMT4">
                  <p:embed/>
                </p:oleObj>
              </mc:Choice>
              <mc:Fallback>
                <p:oleObj name="Equation" r:id="rId5" imgW="1155700" imgH="203200" progId="Equation.DSMT4">
                  <p:embed/>
                  <p:pic>
                    <p:nvPicPr>
                      <p:cNvPr id="0" name="Picture 2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2708275"/>
                        <a:ext cx="2952750" cy="5127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97" name="Rectangle 65"/>
          <p:cNvSpPr>
            <a:spLocks noChangeArrowheads="1"/>
          </p:cNvSpPr>
          <p:nvPr/>
        </p:nvSpPr>
        <p:spPr bwMode="auto">
          <a:xfrm>
            <a:off x="0" y="29686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5540" name="Object 66"/>
          <p:cNvGraphicFramePr>
            <a:graphicFrameLocks noChangeAspect="1"/>
          </p:cNvGraphicFramePr>
          <p:nvPr/>
        </p:nvGraphicFramePr>
        <p:xfrm>
          <a:off x="3348038" y="4581525"/>
          <a:ext cx="4537075" cy="458788"/>
        </p:xfrm>
        <a:graphic>
          <a:graphicData uri="http://schemas.openxmlformats.org/presentationml/2006/ole">
            <mc:AlternateContent xmlns:mc="http://schemas.openxmlformats.org/markup-compatibility/2006">
              <mc:Choice xmlns:v="urn:schemas-microsoft-com:vml" Requires="v">
                <p:oleObj name="Equation" r:id="rId7" imgW="1981200" imgH="203200" progId="Equation.DSMT4">
                  <p:embed/>
                </p:oleObj>
              </mc:Choice>
              <mc:Fallback>
                <p:oleObj name="Equation" r:id="rId7" imgW="1981200" imgH="203200" progId="Equation.DSMT4">
                  <p:embed/>
                  <p:pic>
                    <p:nvPicPr>
                      <p:cNvPr id="0" name="Picture 2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48038" y="4581525"/>
                        <a:ext cx="4537075"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5299" name="Text Box 67"/>
          <p:cNvSpPr txBox="1">
            <a:spLocks noChangeArrowheads="1"/>
          </p:cNvSpPr>
          <p:nvPr/>
        </p:nvSpPr>
        <p:spPr bwMode="auto">
          <a:xfrm>
            <a:off x="1743075" y="4508500"/>
            <a:ext cx="13890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即：</a:t>
            </a:r>
          </a:p>
        </p:txBody>
      </p:sp>
    </p:spTree>
  </p:cSld>
  <p:clrMapOvr>
    <a:masterClrMapping/>
  </p:clrMapOvr>
  <p:transition>
    <p:zoom/>
  </p:transition>
</p:sld>
</file>

<file path=ppt/slides/slide8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6280" name="Rectangle 24"/>
          <p:cNvSpPr>
            <a:spLocks noChangeArrowheads="1"/>
          </p:cNvSpPr>
          <p:nvPr/>
        </p:nvSpPr>
        <p:spPr bwMode="auto">
          <a:xfrm>
            <a:off x="0" y="30861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6562" name="Object 25"/>
          <p:cNvGraphicFramePr>
            <a:graphicFrameLocks noChangeAspect="1"/>
          </p:cNvGraphicFramePr>
          <p:nvPr/>
        </p:nvGraphicFramePr>
        <p:xfrm>
          <a:off x="2555875" y="2781300"/>
          <a:ext cx="2879725" cy="1492250"/>
        </p:xfrm>
        <a:graphic>
          <a:graphicData uri="http://schemas.openxmlformats.org/presentationml/2006/ole">
            <mc:AlternateContent xmlns:mc="http://schemas.openxmlformats.org/markup-compatibility/2006">
              <mc:Choice xmlns:v="urn:schemas-microsoft-com:vml" Requires="v">
                <p:oleObj name="Equation" r:id="rId3" imgW="1320800" imgH="685800" progId="Equation.DSMT4">
                  <p:embed/>
                </p:oleObj>
              </mc:Choice>
              <mc:Fallback>
                <p:oleObj name="Equation" r:id="rId3" imgW="1320800" imgH="6858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555875" y="2781300"/>
                        <a:ext cx="2879725" cy="1492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6282" name="Text Box 26"/>
          <p:cNvSpPr txBox="1">
            <a:spLocks noChangeArrowheads="1"/>
          </p:cNvSpPr>
          <p:nvPr/>
        </p:nvSpPr>
        <p:spPr bwMode="auto">
          <a:xfrm>
            <a:off x="1239838" y="2133600"/>
            <a:ext cx="34036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劳斯阵列为：</a:t>
            </a:r>
          </a:p>
        </p:txBody>
      </p:sp>
      <p:sp>
        <p:nvSpPr>
          <p:cNvPr id="96283" name="Text Box 27"/>
          <p:cNvSpPr txBox="1">
            <a:spLocks noChangeArrowheads="1"/>
          </p:cNvSpPr>
          <p:nvPr/>
        </p:nvSpPr>
        <p:spPr bwMode="auto">
          <a:xfrm>
            <a:off x="1258888" y="4508500"/>
            <a:ext cx="74358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结论：</a:t>
            </a:r>
            <a:r>
              <a:rPr kumimoji="0" lang="zh-CN" altLang="en-US" sz="2400">
                <a:effectLst>
                  <a:outerShdw blurRad="38100" dist="38100" dir="2700000" algn="tl">
                    <a:srgbClr val="C0C0C0"/>
                  </a:outerShdw>
                </a:effectLst>
              </a:rPr>
              <a:t>阵列第</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列，系数全部大于零，系统稳定。</a:t>
            </a:r>
          </a:p>
        </p:txBody>
      </p:sp>
    </p:spTree>
  </p:cSld>
  <p:clrMapOvr>
    <a:masterClrMapping/>
  </p:clrMapOvr>
  <p:transition>
    <p:zoom/>
  </p:transition>
</p:sld>
</file>

<file path=ppt/slides/slide9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7295" name="Text Box 15"/>
          <p:cNvSpPr txBox="1">
            <a:spLocks noChangeArrowheads="1"/>
          </p:cNvSpPr>
          <p:nvPr/>
        </p:nvSpPr>
        <p:spPr bwMode="auto">
          <a:xfrm>
            <a:off x="1239838" y="1865313"/>
            <a:ext cx="62849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同理，当</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=4s</a:t>
            </a:r>
            <a:r>
              <a:rPr kumimoji="0" lang="zh-CN" altLang="en-US" sz="2400">
                <a:effectLst>
                  <a:outerShdw blurRad="38100" dist="38100" dir="2700000" algn="tl">
                    <a:srgbClr val="C0C0C0"/>
                  </a:outerShdw>
                </a:effectLst>
              </a:rPr>
              <a:t>时，系统的特征方程为：</a:t>
            </a:r>
          </a:p>
        </p:txBody>
      </p:sp>
      <p:sp>
        <p:nvSpPr>
          <p:cNvPr id="97296" name="Rectangle 16"/>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7586" name="Object 17"/>
          <p:cNvGraphicFramePr>
            <a:graphicFrameLocks noChangeAspect="1"/>
          </p:cNvGraphicFramePr>
          <p:nvPr/>
        </p:nvGraphicFramePr>
        <p:xfrm>
          <a:off x="2484438" y="2492375"/>
          <a:ext cx="2879725" cy="457200"/>
        </p:xfrm>
        <a:graphic>
          <a:graphicData uri="http://schemas.openxmlformats.org/presentationml/2006/ole">
            <mc:AlternateContent xmlns:mc="http://schemas.openxmlformats.org/markup-compatibility/2006">
              <mc:Choice xmlns:v="urn:schemas-microsoft-com:vml" Requires="v">
                <p:oleObj name="Equation" r:id="rId3" imgW="1256755" imgH="203112" progId="Equation.DSMT4">
                  <p:embed/>
                </p:oleObj>
              </mc:Choice>
              <mc:Fallback>
                <p:oleObj name="Equation" r:id="rId3" imgW="1256755" imgH="203112"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492375"/>
                        <a:ext cx="2879725"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7298" name="Text Box 18"/>
          <p:cNvSpPr txBox="1">
            <a:spLocks noChangeArrowheads="1"/>
          </p:cNvSpPr>
          <p:nvPr/>
        </p:nvSpPr>
        <p:spPr bwMode="auto">
          <a:xfrm>
            <a:off x="1311275" y="3305175"/>
            <a:ext cx="41243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进行</a:t>
            </a: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变换后得到：</a:t>
            </a:r>
          </a:p>
        </p:txBody>
      </p:sp>
      <p:sp>
        <p:nvSpPr>
          <p:cNvPr id="97299" name="Rectangle 19"/>
          <p:cNvSpPr>
            <a:spLocks noChangeArrowheads="1"/>
          </p:cNvSpPr>
          <p:nvPr/>
        </p:nvSpPr>
        <p:spPr bwMode="auto">
          <a:xfrm>
            <a:off x="0" y="33289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7587" name="Object 20"/>
          <p:cNvGraphicFramePr>
            <a:graphicFrameLocks noChangeAspect="1"/>
          </p:cNvGraphicFramePr>
          <p:nvPr/>
        </p:nvGraphicFramePr>
        <p:xfrm>
          <a:off x="2484438" y="3933825"/>
          <a:ext cx="4608512" cy="430213"/>
        </p:xfrm>
        <a:graphic>
          <a:graphicData uri="http://schemas.openxmlformats.org/presentationml/2006/ole">
            <mc:AlternateContent xmlns:mc="http://schemas.openxmlformats.org/markup-compatibility/2006">
              <mc:Choice xmlns:v="urn:schemas-microsoft-com:vml" Requires="v">
                <p:oleObj name="Equation" r:id="rId5" imgW="2146300" imgH="203200" progId="Equation.DSMT4">
                  <p:embed/>
                </p:oleObj>
              </mc:Choice>
              <mc:Fallback>
                <p:oleObj name="Equation" r:id="rId5" imgW="2146300" imgH="2032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84438" y="3933825"/>
                        <a:ext cx="4608512" cy="4302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ld"/>
  </p:transition>
</p:sld>
</file>

<file path=ppt/slides/slide9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8311" name="Text Box 7"/>
          <p:cNvSpPr txBox="1">
            <a:spLocks noChangeArrowheads="1"/>
          </p:cNvSpPr>
          <p:nvPr/>
        </p:nvSpPr>
        <p:spPr bwMode="auto">
          <a:xfrm>
            <a:off x="1476375" y="1484313"/>
            <a:ext cx="354806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劳斯阵列为：</a:t>
            </a:r>
          </a:p>
        </p:txBody>
      </p:sp>
      <p:sp>
        <p:nvSpPr>
          <p:cNvPr id="98312" name="Rectangle 8"/>
          <p:cNvSpPr>
            <a:spLocks noChangeArrowheads="1"/>
          </p:cNvSpPr>
          <p:nvPr/>
        </p:nvSpPr>
        <p:spPr bwMode="auto">
          <a:xfrm>
            <a:off x="20638" y="25812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68610" name="Object 9"/>
          <p:cNvGraphicFramePr>
            <a:graphicFrameLocks noChangeAspect="1"/>
          </p:cNvGraphicFramePr>
          <p:nvPr/>
        </p:nvGraphicFramePr>
        <p:xfrm>
          <a:off x="2720975" y="2060575"/>
          <a:ext cx="3241675" cy="1566863"/>
        </p:xfrm>
        <a:graphic>
          <a:graphicData uri="http://schemas.openxmlformats.org/presentationml/2006/ole">
            <mc:AlternateContent xmlns:mc="http://schemas.openxmlformats.org/markup-compatibility/2006">
              <mc:Choice xmlns:v="urn:schemas-microsoft-com:vml" Requires="v">
                <p:oleObj name="Equation" r:id="rId3" imgW="1422400" imgH="685800" progId="Equation.DSMT4">
                  <p:embed/>
                </p:oleObj>
              </mc:Choice>
              <mc:Fallback>
                <p:oleObj name="Equation" r:id="rId3" imgW="1422400" imgH="6858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20975" y="2060575"/>
                        <a:ext cx="3241675" cy="15668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98314" name="Text Box 10"/>
          <p:cNvSpPr txBox="1">
            <a:spLocks noChangeArrowheads="1"/>
          </p:cNvSpPr>
          <p:nvPr/>
        </p:nvSpPr>
        <p:spPr bwMode="auto">
          <a:xfrm>
            <a:off x="1279525" y="3932238"/>
            <a:ext cx="6932613" cy="118745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结论：</a:t>
            </a:r>
            <a:r>
              <a:rPr kumimoji="0" lang="zh-CN" altLang="en-US" sz="2400">
                <a:effectLst>
                  <a:outerShdw blurRad="38100" dist="38100" dir="2700000" algn="tl">
                    <a:srgbClr val="C0C0C0"/>
                  </a:outerShdw>
                </a:effectLst>
              </a:rPr>
              <a:t>阵列第</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列系数不全大于零，有</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次符号的变化，因此特征方程的特征根有</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个位于</a:t>
            </a: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平面的右半平面，系统是不稳定的</a:t>
            </a:r>
          </a:p>
        </p:txBody>
      </p:sp>
    </p:spTree>
  </p:cSld>
  <p:clrMapOvr>
    <a:masterClrMapping/>
  </p:clrMapOvr>
  <p:transition>
    <p:cover dir="ld"/>
  </p:transition>
</p:sld>
</file>

<file path=ppt/slides/slide9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99341" name="Text Box 13"/>
          <p:cNvSpPr txBox="1">
            <a:spLocks noChangeArrowheads="1"/>
          </p:cNvSpPr>
          <p:nvPr/>
        </p:nvSpPr>
        <p:spPr bwMode="auto">
          <a:xfrm>
            <a:off x="1331913" y="1844675"/>
            <a:ext cx="2019300" cy="641350"/>
          </a:xfrm>
          <a:prstGeom prst="rect">
            <a:avLst/>
          </a:prstGeom>
          <a:noFill/>
          <a:ln w="9525" algn="ctr">
            <a:noFill/>
            <a:miter lim="800000"/>
            <a:headEnd/>
            <a:tailEnd/>
          </a:ln>
          <a:effectLst/>
        </p:spPr>
        <p:txBody>
          <a:bodyPr wrap="none">
            <a:spAutoFit/>
          </a:bodyPr>
          <a:lstStyle/>
          <a:p>
            <a:pPr>
              <a:defRPr/>
            </a:pPr>
            <a:r>
              <a:rPr kumimoji="0" lang="zh-CN" altLang="en-US" sz="3600">
                <a:solidFill>
                  <a:srgbClr val="0000FF"/>
                </a:solidFill>
                <a:effectLst>
                  <a:outerShdw blurRad="38100" dist="38100" dir="2700000" algn="tl">
                    <a:srgbClr val="C0C0C0"/>
                  </a:outerShdw>
                </a:effectLst>
              </a:rPr>
              <a:t>练习题：</a:t>
            </a:r>
          </a:p>
        </p:txBody>
      </p:sp>
      <p:sp>
        <p:nvSpPr>
          <p:cNvPr id="99342" name="Text Box 14"/>
          <p:cNvSpPr txBox="1">
            <a:spLocks noChangeArrowheads="1"/>
          </p:cNvSpPr>
          <p:nvPr/>
        </p:nvSpPr>
        <p:spPr bwMode="auto">
          <a:xfrm>
            <a:off x="1352550" y="2722563"/>
            <a:ext cx="5545138" cy="519112"/>
          </a:xfrm>
          <a:prstGeom prst="rect">
            <a:avLst/>
          </a:prstGeom>
          <a:noFill/>
          <a:ln w="9525" algn="ctr">
            <a:noFill/>
            <a:miter lim="800000"/>
            <a:headEnd/>
            <a:tailEnd/>
          </a:ln>
          <a:effectLst/>
        </p:spPr>
        <p:txBody>
          <a:bodyPr>
            <a:spAutoFit/>
          </a:bodyPr>
          <a:lstStyle/>
          <a:p>
            <a:pPr>
              <a:defRPr/>
            </a:pPr>
            <a:r>
              <a:rPr kumimoji="0" lang="zh-CN" altLang="en-US" sz="2800">
                <a:effectLst>
                  <a:outerShdw blurRad="38100" dist="38100" dir="2700000" algn="tl">
                    <a:srgbClr val="C0C0C0"/>
                  </a:outerShdw>
                </a:effectLst>
              </a:rPr>
              <a:t>利用下述</a:t>
            </a:r>
            <a:r>
              <a:rPr kumimoji="0" lang="en-US" altLang="zh-CN" sz="2800" i="1">
                <a:effectLst>
                  <a:outerShdw blurRad="38100" dist="38100" dir="2700000" algn="tl">
                    <a:srgbClr val="C0C0C0"/>
                  </a:outerShdw>
                </a:effectLst>
              </a:rPr>
              <a:t>w</a:t>
            </a:r>
            <a:r>
              <a:rPr kumimoji="0" lang="zh-CN" altLang="en-US" sz="2800">
                <a:effectLst>
                  <a:outerShdw blurRad="38100" dist="38100" dir="2700000" algn="tl">
                    <a:srgbClr val="C0C0C0"/>
                  </a:outerShdw>
                </a:effectLst>
              </a:rPr>
              <a:t>变换的定义：</a:t>
            </a:r>
          </a:p>
        </p:txBody>
      </p:sp>
      <p:sp>
        <p:nvSpPr>
          <p:cNvPr id="99343" name="Text Box 15"/>
          <p:cNvSpPr txBox="1">
            <a:spLocks noChangeArrowheads="1"/>
          </p:cNvSpPr>
          <p:nvPr/>
        </p:nvSpPr>
        <p:spPr bwMode="auto">
          <a:xfrm>
            <a:off x="1331913" y="4306888"/>
            <a:ext cx="5348287" cy="519112"/>
          </a:xfrm>
          <a:prstGeom prst="rect">
            <a:avLst/>
          </a:prstGeom>
          <a:noFill/>
          <a:ln w="9525" algn="ctr">
            <a:noFill/>
            <a:miter lim="800000"/>
            <a:headEnd/>
            <a:tailEnd/>
          </a:ln>
          <a:effectLst/>
        </p:spPr>
        <p:txBody>
          <a:bodyPr>
            <a:spAutoFit/>
          </a:bodyPr>
          <a:lstStyle/>
          <a:p>
            <a:pPr>
              <a:defRPr/>
            </a:pPr>
            <a:r>
              <a:rPr kumimoji="0" lang="zh-CN" altLang="en-US" sz="2800">
                <a:effectLst>
                  <a:outerShdw blurRad="38100" dist="38100" dir="2700000" algn="tl">
                    <a:srgbClr val="C0C0C0"/>
                  </a:outerShdw>
                </a:effectLst>
              </a:rPr>
              <a:t>判断上例系统的稳定性。</a:t>
            </a:r>
          </a:p>
        </p:txBody>
      </p:sp>
      <p:graphicFrame>
        <p:nvGraphicFramePr>
          <p:cNvPr id="69634" name="Object 16"/>
          <p:cNvGraphicFramePr>
            <a:graphicFrameLocks noChangeAspect="1"/>
          </p:cNvGraphicFramePr>
          <p:nvPr/>
        </p:nvGraphicFramePr>
        <p:xfrm>
          <a:off x="3224213" y="3225800"/>
          <a:ext cx="1439862" cy="966788"/>
        </p:xfrm>
        <a:graphic>
          <a:graphicData uri="http://schemas.openxmlformats.org/presentationml/2006/ole">
            <mc:AlternateContent xmlns:mc="http://schemas.openxmlformats.org/markup-compatibility/2006">
              <mc:Choice xmlns:v="urn:schemas-microsoft-com:vml" Requires="v">
                <p:oleObj name="Equation" r:id="rId3" imgW="583947" imgH="393529" progId="Equation.DSMT4">
                  <p:embed/>
                </p:oleObj>
              </mc:Choice>
              <mc:Fallback>
                <p:oleObj name="Equation" r:id="rId3" imgW="583947" imgH="393529"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24213" y="3225800"/>
                        <a:ext cx="1439862" cy="966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ver dir="ld"/>
  </p:transition>
</p:sld>
</file>

<file path=ppt/slides/slide9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3133" name="Text Box 13"/>
          <p:cNvSpPr txBox="1">
            <a:spLocks noChangeArrowheads="1"/>
          </p:cNvSpPr>
          <p:nvPr/>
        </p:nvSpPr>
        <p:spPr bwMode="auto">
          <a:xfrm>
            <a:off x="827088" y="476250"/>
            <a:ext cx="6624637"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3.5.2 </a:t>
            </a:r>
            <a:r>
              <a:rPr kumimoji="0" lang="zh-CN" altLang="en-US" sz="2800">
                <a:solidFill>
                  <a:srgbClr val="0000FF"/>
                </a:solidFill>
                <a:effectLst>
                  <a:outerShdw blurRad="38100" dist="38100" dir="2700000" algn="tl">
                    <a:srgbClr val="C0C0C0"/>
                  </a:outerShdw>
                </a:effectLst>
              </a:rPr>
              <a:t>朱利（</a:t>
            </a:r>
            <a:r>
              <a:rPr kumimoji="0" lang="en-US" altLang="zh-CN" sz="2800">
                <a:solidFill>
                  <a:srgbClr val="0000FF"/>
                </a:solidFill>
                <a:effectLst>
                  <a:outerShdw blurRad="38100" dist="38100" dir="2700000" algn="tl">
                    <a:srgbClr val="C0C0C0"/>
                  </a:outerShdw>
                </a:effectLst>
              </a:rPr>
              <a:t>Jury</a:t>
            </a:r>
            <a:r>
              <a:rPr kumimoji="0" lang="zh-CN" altLang="en-US" sz="2800">
                <a:solidFill>
                  <a:srgbClr val="0000FF"/>
                </a:solidFill>
                <a:effectLst>
                  <a:outerShdw blurRad="38100" dist="38100" dir="2700000" algn="tl">
                    <a:srgbClr val="C0C0C0"/>
                  </a:outerShdw>
                </a:effectLst>
              </a:rPr>
              <a:t>）稳定性判据</a:t>
            </a:r>
          </a:p>
        </p:txBody>
      </p:sp>
      <p:sp>
        <p:nvSpPr>
          <p:cNvPr id="133134" name="Text Box 14"/>
          <p:cNvSpPr txBox="1">
            <a:spLocks noChangeArrowheads="1"/>
          </p:cNvSpPr>
          <p:nvPr/>
        </p:nvSpPr>
        <p:spPr bwMode="auto">
          <a:xfrm>
            <a:off x="1095375" y="1700213"/>
            <a:ext cx="2108200" cy="457200"/>
          </a:xfrm>
          <a:prstGeom prst="rect">
            <a:avLst/>
          </a:prstGeom>
          <a:noFill/>
          <a:ln w="9525" algn="ctr">
            <a:noFill/>
            <a:miter lim="800000"/>
            <a:headEnd/>
            <a:tailEnd/>
          </a:ln>
          <a:effectLst/>
        </p:spPr>
        <p:txBody>
          <a:bodyPr>
            <a:spAutoFit/>
          </a:bodyPr>
          <a:lstStyle/>
          <a:p>
            <a:pPr>
              <a:defRPr/>
            </a:pPr>
            <a:r>
              <a:rPr kumimoji="0" lang="zh-CN" altLang="en-US" sz="2400">
                <a:solidFill>
                  <a:srgbClr val="1E86B4"/>
                </a:solidFill>
                <a:effectLst>
                  <a:outerShdw blurRad="38100" dist="38100" dir="2700000" algn="tl">
                    <a:srgbClr val="C0C0C0"/>
                  </a:outerShdw>
                </a:effectLst>
              </a:rPr>
              <a:t>朱利判据</a:t>
            </a:r>
          </a:p>
        </p:txBody>
      </p:sp>
      <p:sp>
        <p:nvSpPr>
          <p:cNvPr id="133135" name="AutoShape 15"/>
          <p:cNvSpPr>
            <a:spLocks noChangeArrowheads="1"/>
          </p:cNvSpPr>
          <p:nvPr/>
        </p:nvSpPr>
        <p:spPr bwMode="auto">
          <a:xfrm>
            <a:off x="2627313" y="1773238"/>
            <a:ext cx="792162" cy="360362"/>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lgn="ctr">
            <a:solidFill>
              <a:schemeClr val="accent2"/>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33136" name="Line 16"/>
          <p:cNvSpPr>
            <a:spLocks noChangeShapeType="1"/>
          </p:cNvSpPr>
          <p:nvPr/>
        </p:nvSpPr>
        <p:spPr bwMode="auto">
          <a:xfrm>
            <a:off x="3708400" y="1412875"/>
            <a:ext cx="0" cy="1584325"/>
          </a:xfrm>
          <a:prstGeom prst="line">
            <a:avLst/>
          </a:prstGeom>
          <a:noFill/>
          <a:ln w="9525">
            <a:solidFill>
              <a:schemeClr val="accent2"/>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33137" name="Text Box 17"/>
          <p:cNvSpPr txBox="1">
            <a:spLocks noChangeArrowheads="1"/>
          </p:cNvSpPr>
          <p:nvPr/>
        </p:nvSpPr>
        <p:spPr bwMode="auto">
          <a:xfrm>
            <a:off x="3924300" y="1628775"/>
            <a:ext cx="3692525" cy="457200"/>
          </a:xfrm>
          <a:prstGeom prst="rect">
            <a:avLst/>
          </a:prstGeom>
          <a:noFill/>
          <a:ln w="9525" algn="ctr">
            <a:noFill/>
            <a:miter lim="800000"/>
            <a:headEnd/>
            <a:tailEnd/>
          </a:ln>
          <a:effectLst/>
        </p:spPr>
        <p:txBody>
          <a:bodyPr>
            <a:spAutoFit/>
          </a:bodyPr>
          <a:lstStyle/>
          <a:p>
            <a:pPr>
              <a:defRPr/>
            </a:pPr>
            <a:r>
              <a:rPr kumimoji="0" lang="zh-CN" altLang="en-US" sz="2400">
                <a:solidFill>
                  <a:srgbClr val="1E86B4"/>
                </a:solidFill>
                <a:effectLst>
                  <a:outerShdw blurRad="38100" dist="38100" dir="2700000" algn="tl">
                    <a:srgbClr val="C0C0C0"/>
                  </a:outerShdw>
                </a:effectLst>
              </a:rPr>
              <a:t>在</a:t>
            </a:r>
            <a:r>
              <a:rPr kumimoji="0" lang="en-US" altLang="zh-CN" sz="2400" i="1">
                <a:solidFill>
                  <a:srgbClr val="1E86B4"/>
                </a:solidFill>
                <a:effectLst>
                  <a:outerShdw blurRad="38100" dist="38100" dir="2700000" algn="tl">
                    <a:srgbClr val="C0C0C0"/>
                  </a:outerShdw>
                </a:effectLst>
              </a:rPr>
              <a:t>z</a:t>
            </a:r>
            <a:r>
              <a:rPr kumimoji="0" lang="zh-CN" altLang="en-US" sz="2400">
                <a:solidFill>
                  <a:srgbClr val="1E86B4"/>
                </a:solidFill>
                <a:effectLst>
                  <a:outerShdw blurRad="38100" dist="38100" dir="2700000" algn="tl">
                    <a:srgbClr val="C0C0C0"/>
                  </a:outerShdw>
                </a:effectLst>
              </a:rPr>
              <a:t>域直接进行</a:t>
            </a:r>
          </a:p>
        </p:txBody>
      </p:sp>
      <p:sp>
        <p:nvSpPr>
          <p:cNvPr id="133138" name="Text Box 18"/>
          <p:cNvSpPr txBox="1">
            <a:spLocks noChangeArrowheads="1"/>
          </p:cNvSpPr>
          <p:nvPr/>
        </p:nvSpPr>
        <p:spPr bwMode="auto">
          <a:xfrm>
            <a:off x="3924300" y="2276475"/>
            <a:ext cx="4103688" cy="457200"/>
          </a:xfrm>
          <a:prstGeom prst="rect">
            <a:avLst/>
          </a:prstGeom>
          <a:noFill/>
          <a:ln w="9525" algn="ctr">
            <a:noFill/>
            <a:miter lim="800000"/>
            <a:headEnd/>
            <a:tailEnd/>
          </a:ln>
          <a:effectLst/>
        </p:spPr>
        <p:txBody>
          <a:bodyPr>
            <a:spAutoFit/>
          </a:bodyPr>
          <a:lstStyle/>
          <a:p>
            <a:pPr>
              <a:defRPr/>
            </a:pPr>
            <a:r>
              <a:rPr kumimoji="0" lang="zh-CN" altLang="en-US" sz="2400">
                <a:solidFill>
                  <a:srgbClr val="1E86B4"/>
                </a:solidFill>
                <a:effectLst>
                  <a:outerShdw blurRad="38100" dist="38100" dir="2700000" algn="tl">
                    <a:srgbClr val="C0C0C0"/>
                  </a:outerShdw>
                </a:effectLst>
              </a:rPr>
              <a:t>只能判断出系统是否稳定</a:t>
            </a:r>
          </a:p>
        </p:txBody>
      </p:sp>
      <p:sp>
        <p:nvSpPr>
          <p:cNvPr id="133139" name="Text Box 19"/>
          <p:cNvSpPr txBox="1">
            <a:spLocks noChangeArrowheads="1"/>
          </p:cNvSpPr>
          <p:nvPr/>
        </p:nvSpPr>
        <p:spPr bwMode="auto">
          <a:xfrm>
            <a:off x="1166813" y="3860800"/>
            <a:ext cx="19653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劳斯判据</a:t>
            </a:r>
          </a:p>
        </p:txBody>
      </p:sp>
      <p:sp>
        <p:nvSpPr>
          <p:cNvPr id="133140" name="AutoShape 20"/>
          <p:cNvSpPr>
            <a:spLocks noChangeArrowheads="1"/>
          </p:cNvSpPr>
          <p:nvPr/>
        </p:nvSpPr>
        <p:spPr bwMode="auto">
          <a:xfrm>
            <a:off x="2771775" y="3933825"/>
            <a:ext cx="720725" cy="4318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33141" name="Line 21"/>
          <p:cNvSpPr>
            <a:spLocks noChangeShapeType="1"/>
          </p:cNvSpPr>
          <p:nvPr/>
        </p:nvSpPr>
        <p:spPr bwMode="auto">
          <a:xfrm>
            <a:off x="3708400" y="3644900"/>
            <a:ext cx="0" cy="1657350"/>
          </a:xfrm>
          <a:prstGeom prst="line">
            <a:avLst/>
          </a:prstGeom>
          <a:noFill/>
          <a:ln w="9525">
            <a:solidFill>
              <a:schemeClr val="tx1"/>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33142" name="Text Box 22"/>
          <p:cNvSpPr txBox="1">
            <a:spLocks noChangeArrowheads="1"/>
          </p:cNvSpPr>
          <p:nvPr/>
        </p:nvSpPr>
        <p:spPr bwMode="auto">
          <a:xfrm>
            <a:off x="3924300" y="3644900"/>
            <a:ext cx="3692525"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在</a:t>
            </a:r>
            <a:r>
              <a:rPr kumimoji="0" lang="en-US" altLang="zh-CN" sz="2400" i="1" dirty="0">
                <a:effectLst>
                  <a:outerShdw blurRad="38100" dist="38100" dir="2700000" algn="tl">
                    <a:srgbClr val="C0C0C0"/>
                  </a:outerShdw>
                </a:effectLst>
              </a:rPr>
              <a:t>s</a:t>
            </a:r>
            <a:r>
              <a:rPr kumimoji="0" lang="zh-CN" altLang="en-US" sz="2400" dirty="0">
                <a:effectLst>
                  <a:outerShdw blurRad="38100" dist="38100" dir="2700000" algn="tl">
                    <a:srgbClr val="C0C0C0"/>
                  </a:outerShdw>
                </a:effectLst>
              </a:rPr>
              <a:t>域直接进行</a:t>
            </a:r>
          </a:p>
        </p:txBody>
      </p:sp>
      <p:sp>
        <p:nvSpPr>
          <p:cNvPr id="133143" name="Text Box 23"/>
          <p:cNvSpPr txBox="1">
            <a:spLocks noChangeArrowheads="1"/>
          </p:cNvSpPr>
          <p:nvPr/>
        </p:nvSpPr>
        <p:spPr bwMode="auto">
          <a:xfrm>
            <a:off x="3924300" y="4076700"/>
            <a:ext cx="4557713" cy="1006475"/>
          </a:xfrm>
          <a:prstGeom prst="rect">
            <a:avLst/>
          </a:prstGeom>
          <a:noFill/>
          <a:ln w="9525" algn="ctr">
            <a:noFill/>
            <a:miter lim="800000"/>
            <a:headEnd/>
            <a:tailEnd/>
          </a:ln>
          <a:effectLst/>
        </p:spPr>
        <p:txBody>
          <a:bodyPr>
            <a:spAutoFit/>
          </a:bodyPr>
          <a:lstStyle/>
          <a:p>
            <a:pPr>
              <a:lnSpc>
                <a:spcPct val="125000"/>
              </a:lnSpc>
              <a:defRPr/>
            </a:pPr>
            <a:r>
              <a:rPr kumimoji="0" lang="zh-CN" altLang="en-US" sz="2400" dirty="0">
                <a:effectLst>
                  <a:outerShdw blurRad="38100" dist="38100" dir="2700000" algn="tl">
                    <a:srgbClr val="C0C0C0"/>
                  </a:outerShdw>
                </a:effectLst>
              </a:rPr>
              <a:t>可以判断系统的稳定性</a:t>
            </a:r>
          </a:p>
          <a:p>
            <a:pPr>
              <a:lnSpc>
                <a:spcPct val="125000"/>
              </a:lnSpc>
              <a:defRPr/>
            </a:pPr>
            <a:r>
              <a:rPr kumimoji="0" lang="zh-CN" altLang="en-US" sz="2400" dirty="0">
                <a:effectLst>
                  <a:outerShdw blurRad="38100" dist="38100" dir="2700000" algn="tl">
                    <a:srgbClr val="C0C0C0"/>
                  </a:outerShdw>
                </a:effectLst>
              </a:rPr>
              <a:t>可以判断出不稳定极点的个数</a:t>
            </a:r>
          </a:p>
        </p:txBody>
      </p:sp>
    </p:spTree>
  </p:cSld>
  <p:clrMapOvr>
    <a:masterClrMapping/>
  </p:clrMapOvr>
  <p:transition>
    <p:cover dir="ld"/>
  </p:transition>
</p:sld>
</file>

<file path=ppt/slides/slide9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3376" name="Text Box 16"/>
          <p:cNvSpPr txBox="1">
            <a:spLocks noChangeArrowheads="1"/>
          </p:cNvSpPr>
          <p:nvPr/>
        </p:nvSpPr>
        <p:spPr bwMode="auto">
          <a:xfrm>
            <a:off x="300249" y="404664"/>
            <a:ext cx="4268787" cy="457200"/>
          </a:xfrm>
          <a:prstGeom prst="rect">
            <a:avLst/>
          </a:prstGeom>
          <a:noFill/>
          <a:ln w="9525" algn="ctr">
            <a:noFill/>
            <a:miter lim="800000"/>
            <a:headEnd/>
            <a:tailEnd/>
          </a:ln>
          <a:effectLst/>
        </p:spPr>
        <p:txBody>
          <a:bodyPr>
            <a:spAutoFit/>
          </a:bodyPr>
          <a:lstStyle/>
          <a:p>
            <a:pPr>
              <a:defRPr/>
            </a:pPr>
            <a:r>
              <a:rPr kumimoji="0" lang="zh-CN" altLang="en-US" sz="2400">
                <a:solidFill>
                  <a:schemeClr val="accent2"/>
                </a:solidFill>
                <a:effectLst>
                  <a:outerShdw blurRad="38100" dist="38100" dir="2700000" algn="tl">
                    <a:srgbClr val="C0C0C0"/>
                  </a:outerShdw>
                </a:effectLst>
              </a:rPr>
              <a:t>朱利稳定性准则：</a:t>
            </a:r>
          </a:p>
        </p:txBody>
      </p:sp>
      <p:sp>
        <p:nvSpPr>
          <p:cNvPr id="143377" name="Text Box 17"/>
          <p:cNvSpPr txBox="1">
            <a:spLocks noChangeArrowheads="1"/>
          </p:cNvSpPr>
          <p:nvPr/>
        </p:nvSpPr>
        <p:spPr bwMode="auto">
          <a:xfrm>
            <a:off x="300249" y="1128109"/>
            <a:ext cx="5205413"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设离散系统的特征方程为</a:t>
            </a:r>
            <a:r>
              <a:rPr kumimoji="0" lang="en-US" altLang="zh-CN" sz="2400" dirty="0">
                <a:effectLst>
                  <a:outerShdw blurRad="38100" dist="38100" dir="2700000" algn="tl">
                    <a:srgbClr val="C0C0C0"/>
                  </a:outerShdw>
                </a:effectLst>
              </a:rPr>
              <a:t>:</a:t>
            </a:r>
          </a:p>
        </p:txBody>
      </p:sp>
      <p:sp>
        <p:nvSpPr>
          <p:cNvPr id="143378" name="Rectangle 18"/>
          <p:cNvSpPr>
            <a:spLocks noChangeArrowheads="1"/>
          </p:cNvSpPr>
          <p:nvPr/>
        </p:nvSpPr>
        <p:spPr bwMode="auto">
          <a:xfrm>
            <a:off x="0" y="33099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0659" name="Object 22"/>
          <p:cNvGraphicFramePr>
            <a:graphicFrameLocks noChangeAspect="1"/>
          </p:cNvGraphicFramePr>
          <p:nvPr>
            <p:extLst>
              <p:ext uri="{D42A27DB-BD31-4B8C-83A1-F6EECF244321}">
                <p14:modId xmlns:p14="http://schemas.microsoft.com/office/powerpoint/2010/main" val="2607899699"/>
              </p:ext>
            </p:extLst>
          </p:nvPr>
        </p:nvGraphicFramePr>
        <p:xfrm>
          <a:off x="7240141" y="1643980"/>
          <a:ext cx="856406" cy="457200"/>
        </p:xfrm>
        <a:graphic>
          <a:graphicData uri="http://schemas.openxmlformats.org/presentationml/2006/ole">
            <mc:AlternateContent xmlns:mc="http://schemas.openxmlformats.org/markup-compatibility/2006">
              <mc:Choice xmlns:v="urn:schemas-microsoft-com:vml" Requires="v">
                <p:oleObj name="Equation" r:id="rId3" imgW="431613" imgH="228501" progId="Equation.DSMT4">
                  <p:embed/>
                </p:oleObj>
              </mc:Choice>
              <mc:Fallback>
                <p:oleObj name="Equation" r:id="rId3" imgW="431613" imgH="228501" progId="Equation.DSMT4">
                  <p:embed/>
                  <p:pic>
                    <p:nvPicPr>
                      <p:cNvPr id="0" name="Picture 1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40141" y="1643980"/>
                        <a:ext cx="856406" cy="457200"/>
                      </a:xfrm>
                      <a:prstGeom prst="rect">
                        <a:avLst/>
                      </a:prstGeom>
                      <a:noFill/>
                    </p:spPr>
                  </p:pic>
                </p:oleObj>
              </mc:Fallback>
            </mc:AlternateContent>
          </a:graphicData>
        </a:graphic>
      </p:graphicFrame>
      <p:sp>
        <p:nvSpPr>
          <p:cNvPr id="143383" name="Line 23"/>
          <p:cNvSpPr>
            <a:spLocks noChangeShapeType="1"/>
          </p:cNvSpPr>
          <p:nvPr/>
        </p:nvSpPr>
        <p:spPr bwMode="auto">
          <a:xfrm>
            <a:off x="7253661" y="2122045"/>
            <a:ext cx="1008063" cy="0"/>
          </a:xfrm>
          <a:prstGeom prst="line">
            <a:avLst/>
          </a:prstGeom>
          <a:noFill/>
          <a:ln w="9525">
            <a:solidFill>
              <a:schemeClr val="accent2"/>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4" name="Group 6">
            <a:extLst>
              <a:ext uri="{FF2B5EF4-FFF2-40B4-BE49-F238E27FC236}">
                <a16:creationId xmlns:a16="http://schemas.microsoft.com/office/drawing/2014/main" id="{D3F045C6-03AD-EBF8-A1B8-8117EB589717}"/>
              </a:ext>
            </a:extLst>
          </p:cNvPr>
          <p:cNvGraphicFramePr>
            <a:graphicFrameLocks noGrp="1"/>
          </p:cNvGraphicFramePr>
          <p:nvPr>
            <p:extLst>
              <p:ext uri="{D42A27DB-BD31-4B8C-83A1-F6EECF244321}">
                <p14:modId xmlns:p14="http://schemas.microsoft.com/office/powerpoint/2010/main" val="1249919070"/>
              </p:ext>
            </p:extLst>
          </p:nvPr>
        </p:nvGraphicFramePr>
        <p:xfrm>
          <a:off x="467544" y="2420892"/>
          <a:ext cx="3888432" cy="3845588"/>
        </p:xfrm>
        <a:graphic>
          <a:graphicData uri="http://schemas.openxmlformats.org/drawingml/2006/table">
            <a:tbl>
              <a:tblPr/>
              <a:tblGrid>
                <a:gridCol w="561051">
                  <a:extLst>
                    <a:ext uri="{9D8B030D-6E8A-4147-A177-3AD203B41FA5}">
                      <a16:colId xmlns:a16="http://schemas.microsoft.com/office/drawing/2014/main" val="20000"/>
                    </a:ext>
                  </a:extLst>
                </a:gridCol>
                <a:gridCol w="480901">
                  <a:extLst>
                    <a:ext uri="{9D8B030D-6E8A-4147-A177-3AD203B41FA5}">
                      <a16:colId xmlns:a16="http://schemas.microsoft.com/office/drawing/2014/main" val="20001"/>
                    </a:ext>
                  </a:extLst>
                </a:gridCol>
                <a:gridCol w="478613">
                  <a:extLst>
                    <a:ext uri="{9D8B030D-6E8A-4147-A177-3AD203B41FA5}">
                      <a16:colId xmlns:a16="http://schemas.microsoft.com/office/drawing/2014/main" val="20002"/>
                    </a:ext>
                  </a:extLst>
                </a:gridCol>
                <a:gridCol w="480901">
                  <a:extLst>
                    <a:ext uri="{9D8B030D-6E8A-4147-A177-3AD203B41FA5}">
                      <a16:colId xmlns:a16="http://schemas.microsoft.com/office/drawing/2014/main" val="20003"/>
                    </a:ext>
                  </a:extLst>
                </a:gridCol>
                <a:gridCol w="400751">
                  <a:extLst>
                    <a:ext uri="{9D8B030D-6E8A-4147-A177-3AD203B41FA5}">
                      <a16:colId xmlns:a16="http://schemas.microsoft.com/office/drawing/2014/main" val="20004"/>
                    </a:ext>
                  </a:extLst>
                </a:gridCol>
                <a:gridCol w="519832">
                  <a:extLst>
                    <a:ext uri="{9D8B030D-6E8A-4147-A177-3AD203B41FA5}">
                      <a16:colId xmlns:a16="http://schemas.microsoft.com/office/drawing/2014/main" val="20005"/>
                    </a:ext>
                  </a:extLst>
                </a:gridCol>
                <a:gridCol w="480901">
                  <a:extLst>
                    <a:ext uri="{9D8B030D-6E8A-4147-A177-3AD203B41FA5}">
                      <a16:colId xmlns:a16="http://schemas.microsoft.com/office/drawing/2014/main" val="20006"/>
                    </a:ext>
                  </a:extLst>
                </a:gridCol>
                <a:gridCol w="485482">
                  <a:extLst>
                    <a:ext uri="{9D8B030D-6E8A-4147-A177-3AD203B41FA5}">
                      <a16:colId xmlns:a16="http://schemas.microsoft.com/office/drawing/2014/main" val="20007"/>
                    </a:ext>
                  </a:extLst>
                </a:gridCol>
              </a:tblGrid>
              <a:tr h="341088">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28575"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41088">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50004">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56692">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56692">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solidFill>
                      <a:srgbClr val="C2FFF0"/>
                    </a:solid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tc>
                  <a:txBody>
                    <a:bodyPr/>
                    <a:lstStyle>
                      <a:lvl1pPr marL="0" algn="l" defTabSz="914400" rtl="0" eaLnBrk="1" latinLnBrk="0" hangingPunct="1">
                        <a:defRPr sz="1800" kern="1200">
                          <a:solidFill>
                            <a:schemeClr val="tx1"/>
                          </a:solidFill>
                          <a:latin typeface="Times New Roman"/>
                          <a:ea typeface="宋体"/>
                        </a:defRPr>
                      </a:lvl1pPr>
                      <a:lvl2pPr marL="457200" algn="l" defTabSz="914400" rtl="0" eaLnBrk="1" latinLnBrk="0" hangingPunct="1">
                        <a:defRPr sz="1800" kern="1200">
                          <a:solidFill>
                            <a:schemeClr val="tx1"/>
                          </a:solidFill>
                          <a:latin typeface="Times New Roman"/>
                          <a:ea typeface="宋体"/>
                        </a:defRPr>
                      </a:lvl2pPr>
                      <a:lvl3pPr marL="914400" algn="l" defTabSz="914400" rtl="0" eaLnBrk="1" latinLnBrk="0" hangingPunct="1">
                        <a:defRPr sz="1800" kern="1200">
                          <a:solidFill>
                            <a:schemeClr val="tx1"/>
                          </a:solidFill>
                          <a:latin typeface="Times New Roman"/>
                          <a:ea typeface="宋体"/>
                        </a:defRPr>
                      </a:lvl3pPr>
                      <a:lvl4pPr marL="1371600" algn="l" defTabSz="914400" rtl="0" eaLnBrk="1" latinLnBrk="0" hangingPunct="1">
                        <a:defRPr sz="1800" kern="1200">
                          <a:solidFill>
                            <a:schemeClr val="tx1"/>
                          </a:solidFill>
                          <a:latin typeface="Times New Roman"/>
                          <a:ea typeface="宋体"/>
                        </a:defRPr>
                      </a:lvl4pPr>
                      <a:lvl5pPr marL="1828800" algn="l" defTabSz="914400" rtl="0" eaLnBrk="1" latinLnBrk="0" hangingPunct="1">
                        <a:defRPr sz="1800" kern="1200">
                          <a:solidFill>
                            <a:schemeClr val="tx1"/>
                          </a:solidFill>
                          <a:latin typeface="Times New Roman"/>
                          <a:ea typeface="宋体"/>
                        </a:defRPr>
                      </a:lvl5pPr>
                      <a:lvl6pPr marL="2286000" algn="l" defTabSz="914400" rtl="0" eaLnBrk="1" latinLnBrk="0" hangingPunct="1">
                        <a:defRPr sz="1800" kern="1200">
                          <a:solidFill>
                            <a:schemeClr val="tx1"/>
                          </a:solidFill>
                          <a:latin typeface="Times New Roman"/>
                          <a:ea typeface="宋体"/>
                        </a:defRPr>
                      </a:lvl6pPr>
                      <a:lvl7pPr marL="2743200" algn="l" defTabSz="914400" rtl="0" eaLnBrk="1" latinLnBrk="0" hangingPunct="1">
                        <a:defRPr sz="1800" kern="1200">
                          <a:solidFill>
                            <a:schemeClr val="tx1"/>
                          </a:solidFill>
                          <a:latin typeface="Times New Roman"/>
                          <a:ea typeface="宋体"/>
                        </a:defRPr>
                      </a:lvl7pPr>
                      <a:lvl8pPr marL="3200400" algn="l" defTabSz="914400" rtl="0" eaLnBrk="1" latinLnBrk="0" hangingPunct="1">
                        <a:defRPr sz="1800" kern="1200">
                          <a:solidFill>
                            <a:schemeClr val="tx1"/>
                          </a:solidFill>
                          <a:latin typeface="Times New Roman"/>
                          <a:ea typeface="宋体"/>
                        </a:defRPr>
                      </a:lvl8pPr>
                      <a:lvl9pPr marL="3657600" algn="l" defTabSz="914400" rtl="0" eaLnBrk="1" latinLnBrk="0" hangingPunct="1">
                        <a:defRPr sz="1800" kern="1200">
                          <a:solidFill>
                            <a:schemeClr val="tx1"/>
                          </a:solidFill>
                          <a:latin typeface="Times New Roman"/>
                          <a:ea typeface="宋体"/>
                        </a:defRPr>
                      </a:lvl9p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rgbClr val="000000"/>
                      </a:solidFill>
                      <a:prstDash val="solid"/>
                      <a:round/>
                      <a:headEnd type="none" w="med" len="med"/>
                      <a:tailEnd type="none" w="med" len="med"/>
                    </a:lnL>
                    <a:lnR w="28575"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28575" cap="flat" cmpd="sng" algn="ctr">
                      <a:solidFill>
                        <a:srgbClr val="000000"/>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3" name="对象 2">
            <a:extLst>
              <a:ext uri="{FF2B5EF4-FFF2-40B4-BE49-F238E27FC236}">
                <a16:creationId xmlns:a16="http://schemas.microsoft.com/office/drawing/2014/main" id="{4770F197-6A76-D82D-30FF-1A6A6119D937}"/>
              </a:ext>
            </a:extLst>
          </p:cNvPr>
          <p:cNvGraphicFramePr>
            <a:graphicFrameLocks noChangeAspect="1"/>
          </p:cNvGraphicFramePr>
          <p:nvPr>
            <p:extLst>
              <p:ext uri="{D42A27DB-BD31-4B8C-83A1-F6EECF244321}">
                <p14:modId xmlns:p14="http://schemas.microsoft.com/office/powerpoint/2010/main" val="2688590788"/>
              </p:ext>
            </p:extLst>
          </p:nvPr>
        </p:nvGraphicFramePr>
        <p:xfrm>
          <a:off x="1475656" y="1623570"/>
          <a:ext cx="5084763" cy="498475"/>
        </p:xfrm>
        <a:graphic>
          <a:graphicData uri="http://schemas.openxmlformats.org/presentationml/2006/ole">
            <mc:AlternateContent xmlns:mc="http://schemas.openxmlformats.org/markup-compatibility/2006">
              <mc:Choice xmlns:v="urn:schemas-microsoft-com:vml" Requires="v">
                <p:oleObj name="Equation" r:id="rId5" imgW="5084299" imgH="498618" progId="Equation.DSMT4">
                  <p:embed/>
                </p:oleObj>
              </mc:Choice>
              <mc:Fallback>
                <p:oleObj name="Equation" r:id="rId5"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6"/>
                      <a:stretch>
                        <a:fillRect/>
                      </a:stretch>
                    </p:blipFill>
                    <p:spPr>
                      <a:xfrm>
                        <a:off x="1475656" y="1623570"/>
                        <a:ext cx="5084763" cy="498475"/>
                      </a:xfrm>
                      <a:prstGeom prst="rect">
                        <a:avLst/>
                      </a:prstGeom>
                    </p:spPr>
                  </p:pic>
                </p:oleObj>
              </mc:Fallback>
            </mc:AlternateContent>
          </a:graphicData>
        </a:graphic>
      </p:graphicFrame>
      <p:pic>
        <p:nvPicPr>
          <p:cNvPr id="7" name="Picture 31">
            <a:extLst>
              <a:ext uri="{FF2B5EF4-FFF2-40B4-BE49-F238E27FC236}">
                <a16:creationId xmlns:a16="http://schemas.microsoft.com/office/drawing/2014/main" id="{D6CE2C16-6DE4-C4AE-CDEA-69B006908C1A}"/>
              </a:ext>
            </a:extLst>
          </p:cNvPr>
          <p:cNvPicPr>
            <a:picLocks noChangeAspect="1" noChangeArrowheads="1"/>
          </p:cNvPicPr>
          <p:nvPr/>
        </p:nvPicPr>
        <p:blipFill rotWithShape="1">
          <a:blip r:embed="rId7" cstate="print"/>
          <a:srcRect b="12900"/>
          <a:stretch/>
        </p:blipFill>
        <p:spPr bwMode="auto">
          <a:xfrm>
            <a:off x="4821545" y="2420893"/>
            <a:ext cx="2270735" cy="2880316"/>
          </a:xfrm>
          <a:prstGeom prst="rect">
            <a:avLst/>
          </a:prstGeom>
          <a:noFill/>
          <a:ln w="9525">
            <a:noFill/>
            <a:miter lim="800000"/>
            <a:headEnd/>
            <a:tailEnd/>
          </a:ln>
        </p:spPr>
      </p:pic>
    </p:spTree>
  </p:cSld>
  <p:clrMapOvr>
    <a:masterClrMapping/>
  </p:clrMapOvr>
  <p:transition>
    <p:comb/>
  </p:transition>
</p:sld>
</file>

<file path=ppt/slides/slide9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a:defRPr/>
            </a:pPr>
            <a:r>
              <a:rPr kumimoji="0" lang="zh-CN" altLang="en-US" sz="2400" dirty="0">
                <a:solidFill>
                  <a:srgbClr val="FF0000"/>
                </a:solidFill>
                <a:effectLst>
                  <a:outerShdw blurRad="38100" dist="38100" dir="2700000" algn="tl">
                    <a:srgbClr val="C0C0C0"/>
                  </a:outerShdw>
                </a:effectLst>
              </a:rPr>
              <a:t>朱利阵列</a:t>
            </a:r>
            <a:r>
              <a:rPr kumimoji="0" lang="en-US" altLang="zh-CN" sz="2400" dirty="0">
                <a:solidFill>
                  <a:srgbClr val="FF0000"/>
                </a:solidFill>
                <a:effectLst>
                  <a:outerShdw blurRad="38100" dist="38100" dir="2700000" algn="tl">
                    <a:srgbClr val="C0C0C0"/>
                  </a:outerShdw>
                </a:effectLst>
              </a:rPr>
              <a:t>:</a:t>
            </a:r>
          </a:p>
        </p:txBody>
      </p:sp>
      <p:pic>
        <p:nvPicPr>
          <p:cNvPr id="2" name="Object 116">
            <a:extLst>
              <a:ext uri="{FF2B5EF4-FFF2-40B4-BE49-F238E27FC236}">
                <a16:creationId xmlns:a16="http://schemas.microsoft.com/office/drawing/2014/main" id="{AA01C92A-4083-9E9D-44F1-FF545218EEF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966965" y="3673549"/>
            <a:ext cx="1804884" cy="10562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Object 4">
            <a:extLst>
              <a:ext uri="{FF2B5EF4-FFF2-40B4-BE49-F238E27FC236}">
                <a16:creationId xmlns:a16="http://schemas.microsoft.com/office/drawing/2014/main" id="{11633A47-7745-0663-3573-71A9EA5E2108}"/>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3677"/>
          <a:stretch>
            <a:fillRect/>
          </a:stretch>
        </p:blipFill>
        <p:spPr bwMode="auto">
          <a:xfrm>
            <a:off x="4932040" y="2636912"/>
            <a:ext cx="1791976" cy="94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bject 4">
            <a:extLst>
              <a:ext uri="{FF2B5EF4-FFF2-40B4-BE49-F238E27FC236}">
                <a16:creationId xmlns:a16="http://schemas.microsoft.com/office/drawing/2014/main" id="{1A798F16-327D-CE28-F5C0-7013C949D341}"/>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46767"/>
          <a:stretch>
            <a:fillRect/>
          </a:stretch>
        </p:blipFill>
        <p:spPr bwMode="auto">
          <a:xfrm>
            <a:off x="7020272" y="2561618"/>
            <a:ext cx="1949017" cy="10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584065173"/>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33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7" name="对象 6">
            <a:extLst>
              <a:ext uri="{FF2B5EF4-FFF2-40B4-BE49-F238E27FC236}">
                <a16:creationId xmlns:a16="http://schemas.microsoft.com/office/drawing/2014/main" id="{CB786251-DE16-E4D3-6D42-A79147188032}"/>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6" imgW="5084299" imgH="498618" progId="Equation.DSMT4">
                  <p:embed/>
                </p:oleObj>
              </mc:Choice>
              <mc:Fallback>
                <p:oleObj name="Equation" r:id="rId6"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7"/>
                      <a:stretch>
                        <a:fillRect/>
                      </a:stretch>
                    </p:blipFill>
                    <p:spPr>
                      <a:xfrm>
                        <a:off x="2281138" y="1241213"/>
                        <a:ext cx="5084763" cy="498475"/>
                      </a:xfrm>
                      <a:prstGeom prst="rect">
                        <a:avLst/>
                      </a:prstGeom>
                    </p:spPr>
                  </p:pic>
                </p:oleObj>
              </mc:Fallback>
            </mc:AlternateContent>
          </a:graphicData>
        </a:graphic>
      </p:graphicFrame>
    </p:spTree>
  </p:cSld>
  <p:clrMapOvr>
    <a:masterClrMapping/>
  </p:clrMapOvr>
  <p:transition>
    <p:comb/>
  </p:transition>
</p:sld>
</file>

<file path=ppt/slides/slide9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pic>
        <p:nvPicPr>
          <p:cNvPr id="3" name="Object 4">
            <a:extLst>
              <a:ext uri="{FF2B5EF4-FFF2-40B4-BE49-F238E27FC236}">
                <a16:creationId xmlns:a16="http://schemas.microsoft.com/office/drawing/2014/main" id="{11633A47-7745-0663-3573-71A9EA5E2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3677"/>
          <a:stretch>
            <a:fillRect/>
          </a:stretch>
        </p:blipFill>
        <p:spPr bwMode="auto">
          <a:xfrm>
            <a:off x="4932040" y="2636912"/>
            <a:ext cx="1791976" cy="94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bject 4">
            <a:extLst>
              <a:ext uri="{FF2B5EF4-FFF2-40B4-BE49-F238E27FC236}">
                <a16:creationId xmlns:a16="http://schemas.microsoft.com/office/drawing/2014/main" id="{1A798F16-327D-CE28-F5C0-7013C949D3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6767"/>
          <a:stretch>
            <a:fillRect/>
          </a:stretch>
        </p:blipFill>
        <p:spPr bwMode="auto">
          <a:xfrm>
            <a:off x="7020272" y="2561618"/>
            <a:ext cx="1949017" cy="10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1537591364"/>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7" name="Object 116">
            <a:extLst>
              <a:ext uri="{FF2B5EF4-FFF2-40B4-BE49-F238E27FC236}">
                <a16:creationId xmlns:a16="http://schemas.microsoft.com/office/drawing/2014/main" id="{3091CA35-F3A6-9BB8-A870-5C378BF70694}"/>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003861" y="4031459"/>
            <a:ext cx="1825094" cy="10237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a:extLst>
              <a:ext uri="{FF2B5EF4-FFF2-40B4-BE49-F238E27FC236}">
                <a16:creationId xmlns:a16="http://schemas.microsoft.com/office/drawing/2014/main" id="{1F8A171C-34D9-5039-853F-DCF558367D2C}"/>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6" imgW="5084299" imgH="498618" progId="Equation.DSMT4">
                  <p:embed/>
                </p:oleObj>
              </mc:Choice>
              <mc:Fallback>
                <p:oleObj name="Equation" r:id="rId6"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7"/>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1678242548"/>
      </p:ext>
    </p:extLst>
  </p:cSld>
  <p:clrMapOvr>
    <a:masterClrMapping/>
  </p:clrMapOvr>
  <p:transition>
    <p:comb/>
  </p:transition>
</p:sld>
</file>

<file path=ppt/slides/slide9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pic>
        <p:nvPicPr>
          <p:cNvPr id="3" name="Object 4">
            <a:extLst>
              <a:ext uri="{FF2B5EF4-FFF2-40B4-BE49-F238E27FC236}">
                <a16:creationId xmlns:a16="http://schemas.microsoft.com/office/drawing/2014/main" id="{11633A47-7745-0663-3573-71A9EA5E210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3677"/>
          <a:stretch>
            <a:fillRect/>
          </a:stretch>
        </p:blipFill>
        <p:spPr bwMode="auto">
          <a:xfrm>
            <a:off x="4932040" y="2636912"/>
            <a:ext cx="1791976" cy="94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4" name="Object 4">
            <a:extLst>
              <a:ext uri="{FF2B5EF4-FFF2-40B4-BE49-F238E27FC236}">
                <a16:creationId xmlns:a16="http://schemas.microsoft.com/office/drawing/2014/main" id="{1A798F16-327D-CE28-F5C0-7013C949D34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46767"/>
          <a:stretch>
            <a:fillRect/>
          </a:stretch>
        </p:blipFill>
        <p:spPr bwMode="auto">
          <a:xfrm>
            <a:off x="7020272" y="2561618"/>
            <a:ext cx="1949017" cy="1023987"/>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bevel/>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3688253866"/>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2" name="Object 116">
            <a:extLst>
              <a:ext uri="{FF2B5EF4-FFF2-40B4-BE49-F238E27FC236}">
                <a16:creationId xmlns:a16="http://schemas.microsoft.com/office/drawing/2014/main" id="{CC72899A-23C5-C292-88DB-F1BAA090FA80}"/>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903438" y="3954737"/>
            <a:ext cx="2846082" cy="94869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对象 6">
            <a:extLst>
              <a:ext uri="{FF2B5EF4-FFF2-40B4-BE49-F238E27FC236}">
                <a16:creationId xmlns:a16="http://schemas.microsoft.com/office/drawing/2014/main" id="{B5B248EA-D08D-2D39-FAB8-7D41B3C2175E}"/>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6" imgW="5084299" imgH="498618" progId="Equation.DSMT4">
                  <p:embed/>
                </p:oleObj>
              </mc:Choice>
              <mc:Fallback>
                <p:oleObj name="Equation" r:id="rId6"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7"/>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2387612301"/>
      </p:ext>
    </p:extLst>
  </p:cSld>
  <p:clrMapOvr>
    <a:masterClrMapping/>
  </p:clrMapOvr>
  <p:transition>
    <p:comb/>
  </p:transition>
</p:sld>
</file>

<file path=ppt/slides/slide9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1265391064"/>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7" name="Group 2">
            <a:extLst>
              <a:ext uri="{FF2B5EF4-FFF2-40B4-BE49-F238E27FC236}">
                <a16:creationId xmlns:a16="http://schemas.microsoft.com/office/drawing/2014/main" id="{23E3101F-63A3-6E66-5A46-9A2A56652E31}"/>
              </a:ext>
            </a:extLst>
          </p:cNvPr>
          <p:cNvGrpSpPr>
            <a:grpSpLocks noChangeAspect="1"/>
          </p:cNvGrpSpPr>
          <p:nvPr/>
        </p:nvGrpSpPr>
        <p:grpSpPr bwMode="auto">
          <a:xfrm>
            <a:off x="4747453" y="2348880"/>
            <a:ext cx="4046912" cy="2419846"/>
            <a:chOff x="0" y="0"/>
            <a:chExt cx="3095625" cy="1851025"/>
          </a:xfrm>
        </p:grpSpPr>
        <p:pic>
          <p:nvPicPr>
            <p:cNvPr id="8" name="Object 116">
              <a:extLst>
                <a:ext uri="{FF2B5EF4-FFF2-40B4-BE49-F238E27FC236}">
                  <a16:creationId xmlns:a16="http://schemas.microsoft.com/office/drawing/2014/main" id="{0DC7299C-D1A2-FB8A-4E7D-C3F4DD7F288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6002" y="1058981"/>
              <a:ext cx="1548086" cy="79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nvGrpSpPr>
            <p:cNvPr id="9" name="Group 4">
              <a:extLst>
                <a:ext uri="{FF2B5EF4-FFF2-40B4-BE49-F238E27FC236}">
                  <a16:creationId xmlns:a16="http://schemas.microsoft.com/office/drawing/2014/main" id="{B277B7A2-A5C6-793A-611C-0D04D1BFC053}"/>
                </a:ext>
              </a:extLst>
            </p:cNvPr>
            <p:cNvGrpSpPr>
              <a:grpSpLocks noChangeAspect="1"/>
            </p:cNvGrpSpPr>
            <p:nvPr/>
          </p:nvGrpSpPr>
          <p:grpSpPr bwMode="auto">
            <a:xfrm>
              <a:off x="0" y="0"/>
              <a:ext cx="3095625" cy="793750"/>
              <a:chOff x="0" y="0"/>
              <a:chExt cx="3095625" cy="793750"/>
            </a:xfrm>
          </p:grpSpPr>
          <p:pic>
            <p:nvPicPr>
              <p:cNvPr id="10" name="Object 4">
                <a:extLst>
                  <a:ext uri="{FF2B5EF4-FFF2-40B4-BE49-F238E27FC236}">
                    <a16:creationId xmlns:a16="http://schemas.microsoft.com/office/drawing/2014/main" id="{F5E28150-0D05-69E4-1191-5B4D763F01D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r="52258"/>
              <a:stretch>
                <a:fillRect/>
              </a:stretch>
            </p:blipFill>
            <p:spPr bwMode="auto">
              <a:xfrm>
                <a:off x="0" y="33799"/>
                <a:ext cx="1656092" cy="68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4">
                <a:extLst>
                  <a:ext uri="{FF2B5EF4-FFF2-40B4-BE49-F238E27FC236}">
                    <a16:creationId xmlns:a16="http://schemas.microsoft.com/office/drawing/2014/main" id="{A0728270-E800-4AC4-6786-DC5212F17303}"/>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52292"/>
              <a:stretch>
                <a:fillRect/>
              </a:stretch>
            </p:blipFill>
            <p:spPr bwMode="auto">
              <a:xfrm>
                <a:off x="1439863" y="0"/>
                <a:ext cx="1655762"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pSp>
      <p:graphicFrame>
        <p:nvGraphicFramePr>
          <p:cNvPr id="2" name="对象 1">
            <a:extLst>
              <a:ext uri="{FF2B5EF4-FFF2-40B4-BE49-F238E27FC236}">
                <a16:creationId xmlns:a16="http://schemas.microsoft.com/office/drawing/2014/main" id="{F138A43B-F720-3A84-E184-4EAC1CEB3C1F}"/>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6" imgW="5084299" imgH="498618" progId="Equation.DSMT4">
                  <p:embed/>
                </p:oleObj>
              </mc:Choice>
              <mc:Fallback>
                <p:oleObj name="Equation" r:id="rId6"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7"/>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736022061"/>
      </p:ext>
    </p:extLst>
  </p:cSld>
  <p:clrMapOvr>
    <a:masterClrMapping/>
  </p:clrMapOvr>
  <p:transition>
    <p:comb/>
  </p:transition>
</p:sld>
</file>

<file path=ppt/slides/slide9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1140724242"/>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9" name="Group 4">
            <a:extLst>
              <a:ext uri="{FF2B5EF4-FFF2-40B4-BE49-F238E27FC236}">
                <a16:creationId xmlns:a16="http://schemas.microsoft.com/office/drawing/2014/main" id="{B277B7A2-A5C6-793A-611C-0D04D1BFC053}"/>
              </a:ext>
            </a:extLst>
          </p:cNvPr>
          <p:cNvGrpSpPr>
            <a:grpSpLocks noChangeAspect="1"/>
          </p:cNvGrpSpPr>
          <p:nvPr/>
        </p:nvGrpSpPr>
        <p:grpSpPr bwMode="auto">
          <a:xfrm>
            <a:off x="4747453" y="2348880"/>
            <a:ext cx="4046912" cy="1037670"/>
            <a:chOff x="0" y="0"/>
            <a:chExt cx="3095625" cy="793750"/>
          </a:xfrm>
        </p:grpSpPr>
        <p:pic>
          <p:nvPicPr>
            <p:cNvPr id="10" name="Object 4">
              <a:extLst>
                <a:ext uri="{FF2B5EF4-FFF2-40B4-BE49-F238E27FC236}">
                  <a16:creationId xmlns:a16="http://schemas.microsoft.com/office/drawing/2014/main" id="{F5E28150-0D05-69E4-1191-5B4D763F0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2258"/>
            <a:stretch>
              <a:fillRect/>
            </a:stretch>
          </p:blipFill>
          <p:spPr bwMode="auto">
            <a:xfrm>
              <a:off x="0" y="33799"/>
              <a:ext cx="1656092" cy="68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4">
              <a:extLst>
                <a:ext uri="{FF2B5EF4-FFF2-40B4-BE49-F238E27FC236}">
                  <a16:creationId xmlns:a16="http://schemas.microsoft.com/office/drawing/2014/main" id="{A0728270-E800-4AC4-6786-DC5212F173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2292"/>
            <a:stretch>
              <a:fillRect/>
            </a:stretch>
          </p:blipFill>
          <p:spPr bwMode="auto">
            <a:xfrm>
              <a:off x="1439863" y="0"/>
              <a:ext cx="1655762"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2" name="Object 3">
            <a:extLst>
              <a:ext uri="{FF2B5EF4-FFF2-40B4-BE49-F238E27FC236}">
                <a16:creationId xmlns:a16="http://schemas.microsoft.com/office/drawing/2014/main" id="{BB92B724-5C20-C227-A460-23F713460989}"/>
              </a:ext>
            </a:extLst>
          </p:cNvPr>
          <p:cNvGraphicFramePr>
            <a:graphicFrameLocks noChangeAspect="1"/>
          </p:cNvGraphicFramePr>
          <p:nvPr>
            <p:extLst>
              <p:ext uri="{D42A27DB-BD31-4B8C-83A1-F6EECF244321}">
                <p14:modId xmlns:p14="http://schemas.microsoft.com/office/powerpoint/2010/main" val="3183831258"/>
              </p:ext>
            </p:extLst>
          </p:nvPr>
        </p:nvGraphicFramePr>
        <p:xfrm>
          <a:off x="4739566" y="3564842"/>
          <a:ext cx="2038265" cy="1037670"/>
        </p:xfrm>
        <a:graphic>
          <a:graphicData uri="http://schemas.openxmlformats.org/presentationml/2006/ole">
            <mc:AlternateContent xmlns:mc="http://schemas.openxmlformats.org/markup-compatibility/2006">
              <mc:Choice xmlns:v="urn:schemas-microsoft-com:vml" Requires="v">
                <p:oleObj r:id="rId5" imgW="1600560" imgH="787680" progId="Equation.DSMT4">
                  <p:embed/>
                </p:oleObj>
              </mc:Choice>
              <mc:Fallback>
                <p:oleObj r:id="rId5" imgW="1600560" imgH="787680" progId="Equation.DSMT4">
                  <p:embed/>
                  <p:pic>
                    <p:nvPicPr>
                      <p:cNvPr id="41076" name="Object 3">
                        <a:extLst>
                          <a:ext uri="{FF2B5EF4-FFF2-40B4-BE49-F238E27FC236}">
                            <a16:creationId xmlns:a16="http://schemas.microsoft.com/office/drawing/2014/main" id="{4B142A12-61D8-F2FA-8911-1B1F5BF90F1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9566" y="3564842"/>
                        <a:ext cx="2038265" cy="1037670"/>
                      </a:xfrm>
                      <a:prstGeom prst="rect">
                        <a:avLst/>
                      </a:prstGeom>
                      <a:noFill/>
                      <a:ln>
                        <a:noFill/>
                      </a:ln>
                    </p:spPr>
                  </p:pic>
                </p:oleObj>
              </mc:Fallback>
            </mc:AlternateContent>
          </a:graphicData>
        </a:graphic>
      </p:graphicFrame>
      <p:graphicFrame>
        <p:nvGraphicFramePr>
          <p:cNvPr id="3" name="对象 2">
            <a:extLst>
              <a:ext uri="{FF2B5EF4-FFF2-40B4-BE49-F238E27FC236}">
                <a16:creationId xmlns:a16="http://schemas.microsoft.com/office/drawing/2014/main" id="{70C234D2-3F1F-3884-1697-C9CD6D616C73}"/>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7" imgW="5084299" imgH="498618" progId="Equation.DSMT4">
                  <p:embed/>
                </p:oleObj>
              </mc:Choice>
              <mc:Fallback>
                <p:oleObj name="Equation" r:id="rId7"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8"/>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3650178822"/>
      </p:ext>
    </p:extLst>
  </p:cSld>
  <p:clrMapOvr>
    <a:masterClrMapping/>
  </p:clrMapOvr>
  <p:transition>
    <p:comb/>
  </p:transition>
</p:sld>
</file>

<file path=ppt/slides/slide10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4068066541"/>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9" name="Group 4">
            <a:extLst>
              <a:ext uri="{FF2B5EF4-FFF2-40B4-BE49-F238E27FC236}">
                <a16:creationId xmlns:a16="http://schemas.microsoft.com/office/drawing/2014/main" id="{B277B7A2-A5C6-793A-611C-0D04D1BFC053}"/>
              </a:ext>
            </a:extLst>
          </p:cNvPr>
          <p:cNvGrpSpPr>
            <a:grpSpLocks noChangeAspect="1"/>
          </p:cNvGrpSpPr>
          <p:nvPr/>
        </p:nvGrpSpPr>
        <p:grpSpPr bwMode="auto">
          <a:xfrm>
            <a:off x="4747453" y="2348880"/>
            <a:ext cx="4046912" cy="1037670"/>
            <a:chOff x="0" y="0"/>
            <a:chExt cx="3095625" cy="793750"/>
          </a:xfrm>
        </p:grpSpPr>
        <p:pic>
          <p:nvPicPr>
            <p:cNvPr id="10" name="Object 4">
              <a:extLst>
                <a:ext uri="{FF2B5EF4-FFF2-40B4-BE49-F238E27FC236}">
                  <a16:creationId xmlns:a16="http://schemas.microsoft.com/office/drawing/2014/main" id="{F5E28150-0D05-69E4-1191-5B4D763F01D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r="52258"/>
            <a:stretch>
              <a:fillRect/>
            </a:stretch>
          </p:blipFill>
          <p:spPr bwMode="auto">
            <a:xfrm>
              <a:off x="0" y="33799"/>
              <a:ext cx="1656092" cy="6885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1" name="Object 4">
              <a:extLst>
                <a:ext uri="{FF2B5EF4-FFF2-40B4-BE49-F238E27FC236}">
                  <a16:creationId xmlns:a16="http://schemas.microsoft.com/office/drawing/2014/main" id="{A0728270-E800-4AC4-6786-DC5212F1730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l="52292"/>
            <a:stretch>
              <a:fillRect/>
            </a:stretch>
          </p:blipFill>
          <p:spPr bwMode="auto">
            <a:xfrm>
              <a:off x="1439863" y="0"/>
              <a:ext cx="1655762" cy="7937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pic>
        <p:nvPicPr>
          <p:cNvPr id="3" name="Object 116">
            <a:extLst>
              <a:ext uri="{FF2B5EF4-FFF2-40B4-BE49-F238E27FC236}">
                <a16:creationId xmlns:a16="http://schemas.microsoft.com/office/drawing/2014/main" id="{5089C61B-8C03-E318-E238-C79F4E64F47C}"/>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4644008" y="3609277"/>
            <a:ext cx="2639113" cy="90009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a:extLst>
              <a:ext uri="{FF2B5EF4-FFF2-40B4-BE49-F238E27FC236}">
                <a16:creationId xmlns:a16="http://schemas.microsoft.com/office/drawing/2014/main" id="{492D744B-6298-94A4-A364-FE9F427D624C}"/>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6" imgW="5084299" imgH="498618" progId="Equation.DSMT4">
                  <p:embed/>
                </p:oleObj>
              </mc:Choice>
              <mc:Fallback>
                <p:oleObj name="Equation" r:id="rId6"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7"/>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2212499268"/>
      </p:ext>
    </p:extLst>
  </p:cSld>
  <p:clrMapOvr>
    <a:masterClrMapping/>
  </p:clrMapOvr>
  <p:transition>
    <p:comb/>
  </p:transition>
</p:sld>
</file>

<file path=ppt/slides/slide10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2686908573"/>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pSp>
        <p:nvGrpSpPr>
          <p:cNvPr id="2" name="Group 2">
            <a:extLst>
              <a:ext uri="{FF2B5EF4-FFF2-40B4-BE49-F238E27FC236}">
                <a16:creationId xmlns:a16="http://schemas.microsoft.com/office/drawing/2014/main" id="{8F2EC78E-5C48-7892-295A-EDF4DFAD50DA}"/>
              </a:ext>
            </a:extLst>
          </p:cNvPr>
          <p:cNvGrpSpPr>
            <a:grpSpLocks noChangeAspect="1"/>
          </p:cNvGrpSpPr>
          <p:nvPr/>
        </p:nvGrpSpPr>
        <p:grpSpPr bwMode="auto">
          <a:xfrm>
            <a:off x="4766192" y="2492896"/>
            <a:ext cx="2951757" cy="2488864"/>
            <a:chOff x="0" y="0"/>
            <a:chExt cx="2177646" cy="1836204"/>
          </a:xfrm>
        </p:grpSpPr>
        <p:pic>
          <p:nvPicPr>
            <p:cNvPr id="4" name="Object 4">
              <a:extLst>
                <a:ext uri="{FF2B5EF4-FFF2-40B4-BE49-F238E27FC236}">
                  <a16:creationId xmlns:a16="http://schemas.microsoft.com/office/drawing/2014/main" id="{C8BFCB1F-A307-59EA-6F9A-1316089C3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0" y="0"/>
              <a:ext cx="2177646" cy="7171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Object 116">
              <a:extLst>
                <a:ext uri="{FF2B5EF4-FFF2-40B4-BE49-F238E27FC236}">
                  <a16:creationId xmlns:a16="http://schemas.microsoft.com/office/drawing/2014/main" id="{ED1B9E46-447E-8495-69BD-96C95F40296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9984" y="1029755"/>
              <a:ext cx="1508187" cy="8064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pSp>
      <p:graphicFrame>
        <p:nvGraphicFramePr>
          <p:cNvPr id="3" name="对象 2">
            <a:extLst>
              <a:ext uri="{FF2B5EF4-FFF2-40B4-BE49-F238E27FC236}">
                <a16:creationId xmlns:a16="http://schemas.microsoft.com/office/drawing/2014/main" id="{2E28B917-5D16-D70E-DCC4-0ACB66A06253}"/>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5" imgW="5084299" imgH="498618" progId="Equation.DSMT4">
                  <p:embed/>
                </p:oleObj>
              </mc:Choice>
              <mc:Fallback>
                <p:oleObj name="Equation" r:id="rId5"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6"/>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680634744"/>
      </p:ext>
    </p:extLst>
  </p:cSld>
  <p:clrMapOvr>
    <a:masterClrMapping/>
  </p:clrMapOvr>
  <p:transition>
    <p:comb/>
  </p:transition>
</p:sld>
</file>

<file path=ppt/slides/slide10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199349930"/>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4" name="Object 4">
            <a:extLst>
              <a:ext uri="{FF2B5EF4-FFF2-40B4-BE49-F238E27FC236}">
                <a16:creationId xmlns:a16="http://schemas.microsoft.com/office/drawing/2014/main" id="{C8BFCB1F-A307-59EA-6F9A-1316089C3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192" y="2492896"/>
            <a:ext cx="2951757" cy="9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Object 116">
            <a:extLst>
              <a:ext uri="{FF2B5EF4-FFF2-40B4-BE49-F238E27FC236}">
                <a16:creationId xmlns:a16="http://schemas.microsoft.com/office/drawing/2014/main" id="{85F3E62D-06F3-28A7-7610-1B84932E319F}"/>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41536" y="3861048"/>
            <a:ext cx="2160240" cy="11172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对象 1">
            <a:extLst>
              <a:ext uri="{FF2B5EF4-FFF2-40B4-BE49-F238E27FC236}">
                <a16:creationId xmlns:a16="http://schemas.microsoft.com/office/drawing/2014/main" id="{0F228C44-C68D-F630-77F8-624F2A904BDD}"/>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5" imgW="5084299" imgH="498618" progId="Equation.DSMT4">
                  <p:embed/>
                </p:oleObj>
              </mc:Choice>
              <mc:Fallback>
                <p:oleObj name="Equation" r:id="rId5"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6"/>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284977426"/>
      </p:ext>
    </p:extLst>
  </p:cSld>
  <p:clrMapOvr>
    <a:masterClrMapping/>
  </p:clrMapOvr>
  <p:transition>
    <p:comb/>
  </p:transition>
</p:sld>
</file>

<file path=ppt/slides/slide10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2090162550"/>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pic>
        <p:nvPicPr>
          <p:cNvPr id="4" name="Object 4">
            <a:extLst>
              <a:ext uri="{FF2B5EF4-FFF2-40B4-BE49-F238E27FC236}">
                <a16:creationId xmlns:a16="http://schemas.microsoft.com/office/drawing/2014/main" id="{C8BFCB1F-A307-59EA-6F9A-1316089C3ED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766192" y="2492896"/>
            <a:ext cx="2951757" cy="9720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2" name="Object 116">
            <a:extLst>
              <a:ext uri="{FF2B5EF4-FFF2-40B4-BE49-F238E27FC236}">
                <a16:creationId xmlns:a16="http://schemas.microsoft.com/office/drawing/2014/main" id="{52C36C53-E834-70FE-C0D3-B91EA6C10C0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716016" y="3860738"/>
            <a:ext cx="2131895" cy="11259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7" name="对象 6">
            <a:extLst>
              <a:ext uri="{FF2B5EF4-FFF2-40B4-BE49-F238E27FC236}">
                <a16:creationId xmlns:a16="http://schemas.microsoft.com/office/drawing/2014/main" id="{B403D732-03D6-0FC6-99B8-6ACC892B6095}"/>
              </a:ext>
            </a:extLst>
          </p:cNvPr>
          <p:cNvGraphicFramePr>
            <a:graphicFrameLocks noChangeAspect="1"/>
          </p:cNvGraphicFramePr>
          <p:nvPr>
            <p:extLst>
              <p:ext uri="{D42A27DB-BD31-4B8C-83A1-F6EECF244321}">
                <p14:modId xmlns:p14="http://schemas.microsoft.com/office/powerpoint/2010/main" val="2897408325"/>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5" imgW="5084299" imgH="498618" progId="Equation.DSMT4">
                  <p:embed/>
                </p:oleObj>
              </mc:Choice>
              <mc:Fallback>
                <p:oleObj name="Equation" r:id="rId5" imgW="5084299" imgH="498618" progId="Equation.DSMT4">
                  <p:embed/>
                  <p:pic>
                    <p:nvPicPr>
                      <p:cNvPr id="2" name="对象 1">
                        <a:extLst>
                          <a:ext uri="{FF2B5EF4-FFF2-40B4-BE49-F238E27FC236}">
                            <a16:creationId xmlns:a16="http://schemas.microsoft.com/office/drawing/2014/main" id="{A358D66D-4BB7-8E5D-7F35-620FB6876FFC}"/>
                          </a:ext>
                        </a:extLst>
                      </p:cNvPr>
                      <p:cNvPicPr/>
                      <p:nvPr/>
                    </p:nvPicPr>
                    <p:blipFill>
                      <a:blip r:embed="rId6"/>
                      <a:stretch>
                        <a:fillRect/>
                      </a:stretch>
                    </p:blipFill>
                    <p:spPr>
                      <a:xfrm>
                        <a:off x="2281138" y="1241213"/>
                        <a:ext cx="5084763" cy="498475"/>
                      </a:xfrm>
                      <a:prstGeom prst="rect">
                        <a:avLst/>
                      </a:prstGeom>
                    </p:spPr>
                  </p:pic>
                </p:oleObj>
              </mc:Fallback>
            </mc:AlternateContent>
          </a:graphicData>
        </a:graphic>
      </p:graphicFrame>
    </p:spTree>
    <p:extLst>
      <p:ext uri="{BB962C8B-B14F-4D97-AF65-F5344CB8AC3E}">
        <p14:creationId xmlns:p14="http://schemas.microsoft.com/office/powerpoint/2010/main" val="4066483254"/>
      </p:ext>
    </p:extLst>
  </p:cSld>
  <p:clrMapOvr>
    <a:masterClrMapping/>
  </p:clrMapOvr>
  <p:transition>
    <p:comb/>
  </p:transition>
</p:sld>
</file>

<file path=ppt/slides/slide10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2359" name="Text Box 23"/>
          <p:cNvSpPr txBox="1">
            <a:spLocks noChangeArrowheads="1"/>
          </p:cNvSpPr>
          <p:nvPr/>
        </p:nvSpPr>
        <p:spPr bwMode="auto">
          <a:xfrm>
            <a:off x="395536" y="1241213"/>
            <a:ext cx="25400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朱利阵列</a:t>
            </a:r>
            <a:r>
              <a:rPr kumimoji="0" lang="en-US" altLang="zh-CN" sz="2400" b="1" i="0" u="none" strike="noStrike" kern="1200" cap="none" spc="0" normalizeH="0" baseline="0" noProof="0" dirty="0">
                <a:ln>
                  <a:noFill/>
                </a:ln>
                <a:solidFill>
                  <a:srgbClr val="FF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5" name="Group 7">
            <a:extLst>
              <a:ext uri="{FF2B5EF4-FFF2-40B4-BE49-F238E27FC236}">
                <a16:creationId xmlns:a16="http://schemas.microsoft.com/office/drawing/2014/main" id="{0BE695AA-2DC1-4921-0CC4-B416473AEBE2}"/>
              </a:ext>
            </a:extLst>
          </p:cNvPr>
          <p:cNvGraphicFramePr>
            <a:graphicFrameLocks noGrp="1"/>
          </p:cNvGraphicFramePr>
          <p:nvPr>
            <p:extLst>
              <p:ext uri="{D42A27DB-BD31-4B8C-83A1-F6EECF244321}">
                <p14:modId xmlns:p14="http://schemas.microsoft.com/office/powerpoint/2010/main" val="3759972697"/>
              </p:ext>
            </p:extLst>
          </p:nvPr>
        </p:nvGraphicFramePr>
        <p:xfrm>
          <a:off x="447842" y="2204864"/>
          <a:ext cx="3924054" cy="3989384"/>
        </p:xfrm>
        <a:graphic>
          <a:graphicData uri="http://schemas.openxmlformats.org/drawingml/2006/table">
            <a:tbl>
              <a:tblPr/>
              <a:tblGrid>
                <a:gridCol w="566191">
                  <a:extLst>
                    <a:ext uri="{9D8B030D-6E8A-4147-A177-3AD203B41FA5}">
                      <a16:colId xmlns:a16="http://schemas.microsoft.com/office/drawing/2014/main" val="20000"/>
                    </a:ext>
                  </a:extLst>
                </a:gridCol>
                <a:gridCol w="485307">
                  <a:extLst>
                    <a:ext uri="{9D8B030D-6E8A-4147-A177-3AD203B41FA5}">
                      <a16:colId xmlns:a16="http://schemas.microsoft.com/office/drawing/2014/main" val="20001"/>
                    </a:ext>
                  </a:extLst>
                </a:gridCol>
                <a:gridCol w="482997">
                  <a:extLst>
                    <a:ext uri="{9D8B030D-6E8A-4147-A177-3AD203B41FA5}">
                      <a16:colId xmlns:a16="http://schemas.microsoft.com/office/drawing/2014/main" val="20002"/>
                    </a:ext>
                  </a:extLst>
                </a:gridCol>
                <a:gridCol w="485307">
                  <a:extLst>
                    <a:ext uri="{9D8B030D-6E8A-4147-A177-3AD203B41FA5}">
                      <a16:colId xmlns:a16="http://schemas.microsoft.com/office/drawing/2014/main" val="20003"/>
                    </a:ext>
                  </a:extLst>
                </a:gridCol>
                <a:gridCol w="404422">
                  <a:extLst>
                    <a:ext uri="{9D8B030D-6E8A-4147-A177-3AD203B41FA5}">
                      <a16:colId xmlns:a16="http://schemas.microsoft.com/office/drawing/2014/main" val="20004"/>
                    </a:ext>
                  </a:extLst>
                </a:gridCol>
                <a:gridCol w="524594">
                  <a:extLst>
                    <a:ext uri="{9D8B030D-6E8A-4147-A177-3AD203B41FA5}">
                      <a16:colId xmlns:a16="http://schemas.microsoft.com/office/drawing/2014/main" val="20005"/>
                    </a:ext>
                  </a:extLst>
                </a:gridCol>
                <a:gridCol w="485307">
                  <a:extLst>
                    <a:ext uri="{9D8B030D-6E8A-4147-A177-3AD203B41FA5}">
                      <a16:colId xmlns:a16="http://schemas.microsoft.com/office/drawing/2014/main" val="20006"/>
                    </a:ext>
                  </a:extLst>
                </a:gridCol>
                <a:gridCol w="489929">
                  <a:extLst>
                    <a:ext uri="{9D8B030D-6E8A-4147-A177-3AD203B41FA5}">
                      <a16:colId xmlns:a16="http://schemas.microsoft.com/office/drawing/2014/main" val="20007"/>
                    </a:ext>
                  </a:extLst>
                </a:gridCol>
              </a:tblGrid>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rPr>
                        <a:t>行</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z</a:t>
                      </a:r>
                      <a:r>
                        <a:rPr kumimoji="0" lang="en-US" sz="1400" b="1" i="0" u="none" strike="noStrike" cap="none" normalizeH="0" baseline="3000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0"/>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1"/>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a</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2"/>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3"/>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dirty="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b</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4"/>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5"/>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6</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n-2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n-3</a:t>
                      </a:r>
                      <a:endParaRPr kumimoji="0" lang="en-US" sz="1400" b="1" i="0" u="none" strike="noStrike" cap="none" normalizeH="0" baseline="-2500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a:ln>
                            <a:noFill/>
                          </a:ln>
                          <a:solidFill>
                            <a:schemeClr val="tx1"/>
                          </a:solidFill>
                          <a:effectLst/>
                          <a:latin typeface="黑体" pitchFamily="49" charset="-122"/>
                          <a:ea typeface="黑体" pitchFamily="49" charset="-122"/>
                          <a:sym typeface="Times New Roman" pitchFamily="18" charset="0"/>
                        </a:rPr>
                        <a:t>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c</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6"/>
                  </a:ext>
                </a:extLst>
              </a:tr>
              <a:tr h="353841">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zh-CN" altLang="en-US" sz="1400" b="1" i="0" u="none" strike="noStrike" cap="none" normalizeH="0" baseline="0">
                          <a:ln>
                            <a:noFill/>
                          </a:ln>
                          <a:solidFill>
                            <a:schemeClr val="tx1"/>
                          </a:solidFill>
                          <a:effectLst/>
                          <a:latin typeface="Times New Roman" pitchFamily="18" charset="0"/>
                          <a:ea typeface="宋体" pitchFamily="2" charset="-122"/>
                          <a:sym typeface="Symbol" pitchFamily="18" charset="2"/>
                        </a:rPr>
                        <a:t></a:t>
                      </a: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7"/>
                  </a:ext>
                </a:extLst>
              </a:tr>
              <a:tr h="363092">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2n-5</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8"/>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2n-4</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3</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2500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p</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09"/>
                  </a:ext>
                </a:extLst>
              </a:tr>
              <a:tr h="370029">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a:ln>
                            <a:noFill/>
                          </a:ln>
                          <a:solidFill>
                            <a:schemeClr val="tx1"/>
                          </a:solidFill>
                          <a:effectLst/>
                          <a:latin typeface="黑体" pitchFamily="49" charset="-122"/>
                          <a:ea typeface="黑体" pitchFamily="49" charset="-122"/>
                          <a:sym typeface="Times New Roman" pitchFamily="18" charset="0"/>
                        </a:rPr>
                        <a:t>2n-3</a:t>
                      </a:r>
                      <a:endParaRPr kumimoji="0" 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28575"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0</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FF0000"/>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1</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r>
                        <a:rPr kumimoji="0" lang="en-US" sz="1400" b="1" i="0" u="none" strike="noStrike" cap="none" normalizeH="0" baseline="0" dirty="0">
                          <a:ln>
                            <a:noFill/>
                          </a:ln>
                          <a:solidFill>
                            <a:schemeClr val="tx1"/>
                          </a:solidFill>
                          <a:effectLst/>
                          <a:latin typeface="黑体" pitchFamily="49" charset="-122"/>
                          <a:ea typeface="黑体" pitchFamily="49" charset="-122"/>
                          <a:sym typeface="Times New Roman" pitchFamily="18" charset="0"/>
                        </a:rPr>
                        <a:t>q</a:t>
                      </a:r>
                      <a:r>
                        <a:rPr kumimoji="0" lang="en-US" sz="1400" b="1" i="0" u="none" strike="noStrike" cap="none" normalizeH="0" baseline="-25000" dirty="0">
                          <a:ln>
                            <a:noFill/>
                          </a:ln>
                          <a:solidFill>
                            <a:schemeClr val="tx1"/>
                          </a:solidFill>
                          <a:effectLst/>
                          <a:latin typeface="黑体" pitchFamily="49" charset="-122"/>
                          <a:ea typeface="黑体" pitchFamily="49" charset="-122"/>
                          <a:sym typeface="Times New Roman" pitchFamily="18" charset="0"/>
                        </a:rPr>
                        <a:t>2</a:t>
                      </a:r>
                      <a:endParaRPr kumimoji="0" 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solidFill>
                      <a:srgbClr val="0033CC"/>
                    </a:solid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tc>
                  <a:txBody>
                    <a:bodyPr/>
                    <a:lstStyle/>
                    <a:p>
                      <a:pPr marL="0" marR="0" lvl="0" indent="0" algn="ctr" defTabSz="0" rtl="0" eaLnBrk="1" fontAlgn="base" latinLnBrk="0" hangingPunct="1">
                        <a:lnSpc>
                          <a:spcPct val="150000"/>
                        </a:lnSpc>
                        <a:spcBef>
                          <a:spcPct val="20000"/>
                        </a:spcBef>
                        <a:spcAft>
                          <a:spcPct val="0"/>
                        </a:spcAft>
                        <a:buClrTx/>
                        <a:buSzTx/>
                        <a:buFontTx/>
                        <a:buNone/>
                        <a:tabLst/>
                      </a:pPr>
                      <a:endParaRPr kumimoji="0" lang="zh-CN" altLang="en-US" sz="1400" b="1" i="0" u="none" strike="noStrike" cap="none" normalizeH="0" baseline="0" dirty="0">
                        <a:ln>
                          <a:noFill/>
                        </a:ln>
                        <a:solidFill>
                          <a:schemeClr val="tx1"/>
                        </a:solidFill>
                        <a:effectLst/>
                        <a:latin typeface="Times New Roman" pitchFamily="18" charset="0"/>
                        <a:ea typeface="黑体" pitchFamily="49" charset="-122"/>
                        <a:sym typeface="Times New Roman" pitchFamily="18" charset="0"/>
                      </a:endParaRPr>
                    </a:p>
                  </a:txBody>
                  <a:tcPr marL="0" marR="0" marT="0" marB="0" horzOverflow="overflow">
                    <a:lnL w="12700"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28575" cap="flat" cmpd="sng" algn="ctr">
                      <a:solidFill>
                        <a:schemeClr val="tx1"/>
                      </a:solidFill>
                      <a:prstDash val="solid"/>
                      <a:round/>
                      <a:headEnd type="none" w="med" len="med"/>
                      <a:tailEnd type="none" w="med" len="med"/>
                    </a:lnB>
                    <a:lnTlToBr>
                      <a:noFill/>
                    </a:lnTlToBr>
                    <a:lnBlToTr>
                      <a:noFill/>
                    </a:lnBlToTr>
                    <a:noFill/>
                  </a:tcPr>
                </a:tc>
                <a:extLst>
                  <a:ext uri="{0D108BD9-81ED-4DB2-BD59-A6C34878D82A}">
                    <a16:rowId xmlns:a16="http://schemas.microsoft.com/office/drawing/2014/main" val="10010"/>
                  </a:ext>
                </a:extLst>
              </a:tr>
            </a:tbl>
          </a:graphicData>
        </a:graphic>
      </p:graphicFrame>
      <p:graphicFrame>
        <p:nvGraphicFramePr>
          <p:cNvPr id="2" name="对象 1">
            <a:extLst>
              <a:ext uri="{FF2B5EF4-FFF2-40B4-BE49-F238E27FC236}">
                <a16:creationId xmlns:a16="http://schemas.microsoft.com/office/drawing/2014/main" id="{A358D66D-4BB7-8E5D-7F35-620FB6876FFC}"/>
              </a:ext>
            </a:extLst>
          </p:cNvPr>
          <p:cNvGraphicFramePr>
            <a:graphicFrameLocks noChangeAspect="1"/>
          </p:cNvGraphicFramePr>
          <p:nvPr>
            <p:extLst>
              <p:ext uri="{D42A27DB-BD31-4B8C-83A1-F6EECF244321}">
                <p14:modId xmlns:p14="http://schemas.microsoft.com/office/powerpoint/2010/main" val="1328553538"/>
              </p:ext>
            </p:extLst>
          </p:nvPr>
        </p:nvGraphicFramePr>
        <p:xfrm>
          <a:off x="2281138" y="1241213"/>
          <a:ext cx="5084763" cy="498475"/>
        </p:xfrm>
        <a:graphic>
          <a:graphicData uri="http://schemas.openxmlformats.org/presentationml/2006/ole">
            <mc:AlternateContent xmlns:mc="http://schemas.openxmlformats.org/markup-compatibility/2006">
              <mc:Choice xmlns:v="urn:schemas-microsoft-com:vml" Requires="v">
                <p:oleObj name="Equation" r:id="rId3" imgW="5084299" imgH="498618" progId="Equation.DSMT4">
                  <p:embed/>
                </p:oleObj>
              </mc:Choice>
              <mc:Fallback>
                <p:oleObj name="Equation" r:id="rId3" imgW="5084299" imgH="498618" progId="Equation.DSMT4">
                  <p:embed/>
                  <p:pic>
                    <p:nvPicPr>
                      <p:cNvPr id="0" name=""/>
                      <p:cNvPicPr/>
                      <p:nvPr/>
                    </p:nvPicPr>
                    <p:blipFill>
                      <a:blip r:embed="rId4"/>
                      <a:stretch>
                        <a:fillRect/>
                      </a:stretch>
                    </p:blipFill>
                    <p:spPr>
                      <a:xfrm>
                        <a:off x="2281138" y="1241213"/>
                        <a:ext cx="5084763" cy="498475"/>
                      </a:xfrm>
                      <a:prstGeom prst="rect">
                        <a:avLst/>
                      </a:prstGeom>
                    </p:spPr>
                  </p:pic>
                </p:oleObj>
              </mc:Fallback>
            </mc:AlternateContent>
          </a:graphicData>
        </a:graphic>
      </p:graphicFrame>
      <p:pic>
        <p:nvPicPr>
          <p:cNvPr id="4" name="Picture 31">
            <a:extLst>
              <a:ext uri="{FF2B5EF4-FFF2-40B4-BE49-F238E27FC236}">
                <a16:creationId xmlns:a16="http://schemas.microsoft.com/office/drawing/2014/main" id="{8E62922C-639F-BCDA-913B-40BABEEAFFC9}"/>
              </a:ext>
            </a:extLst>
          </p:cNvPr>
          <p:cNvPicPr>
            <a:picLocks noChangeAspect="1" noChangeArrowheads="1"/>
          </p:cNvPicPr>
          <p:nvPr/>
        </p:nvPicPr>
        <p:blipFill rotWithShape="1">
          <a:blip r:embed="rId5" cstate="print"/>
          <a:srcRect b="11486"/>
          <a:stretch/>
        </p:blipFill>
        <p:spPr bwMode="auto">
          <a:xfrm>
            <a:off x="4786908" y="2073283"/>
            <a:ext cx="2448272" cy="3155918"/>
          </a:xfrm>
          <a:prstGeom prst="rect">
            <a:avLst/>
          </a:prstGeom>
          <a:noFill/>
          <a:ln w="9525">
            <a:noFill/>
            <a:miter lim="800000"/>
            <a:headEnd/>
            <a:tailEnd/>
          </a:ln>
        </p:spPr>
      </p:pic>
    </p:spTree>
    <p:extLst>
      <p:ext uri="{BB962C8B-B14F-4D97-AF65-F5344CB8AC3E}">
        <p14:creationId xmlns:p14="http://schemas.microsoft.com/office/powerpoint/2010/main" val="2772253183"/>
      </p:ext>
    </p:extLst>
  </p:cSld>
  <p:clrMapOvr>
    <a:masterClrMapping/>
  </p:clrMapOvr>
  <p:transition>
    <p:comb/>
  </p:transition>
</p:sld>
</file>

<file path=ppt/slides/slide10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4095" name="Text Box 15"/>
          <p:cNvSpPr txBox="1">
            <a:spLocks noChangeArrowheads="1"/>
          </p:cNvSpPr>
          <p:nvPr/>
        </p:nvSpPr>
        <p:spPr bwMode="auto">
          <a:xfrm>
            <a:off x="900113" y="1196975"/>
            <a:ext cx="1408112" cy="579438"/>
          </a:xfrm>
          <a:prstGeom prst="rect">
            <a:avLst/>
          </a:prstGeom>
          <a:noFill/>
          <a:ln w="9525" algn="ctr">
            <a:noFill/>
            <a:miter lim="800000"/>
            <a:headEnd/>
            <a:tailEnd/>
          </a:ln>
          <a:effectLst/>
        </p:spPr>
        <p:txBody>
          <a:bodyPr wrap="none">
            <a:spAutoFit/>
          </a:bodyPr>
          <a:lstStyle/>
          <a:p>
            <a:pPr>
              <a:defRPr/>
            </a:pPr>
            <a:r>
              <a:rPr kumimoji="0" lang="zh-CN" altLang="en-US" sz="3200">
                <a:solidFill>
                  <a:srgbClr val="0000FF"/>
                </a:solidFill>
                <a:effectLst>
                  <a:outerShdw blurRad="38100" dist="38100" dir="2700000" algn="tl">
                    <a:srgbClr val="C0C0C0"/>
                  </a:outerShdw>
                </a:effectLst>
              </a:rPr>
              <a:t>注意：</a:t>
            </a:r>
          </a:p>
        </p:txBody>
      </p:sp>
      <p:sp>
        <p:nvSpPr>
          <p:cNvPr id="174096" name="Text Box 16"/>
          <p:cNvSpPr txBox="1">
            <a:spLocks noChangeArrowheads="1"/>
          </p:cNvSpPr>
          <p:nvPr/>
        </p:nvSpPr>
        <p:spPr bwMode="auto">
          <a:xfrm>
            <a:off x="755650" y="1773238"/>
            <a:ext cx="7940675" cy="3749675"/>
          </a:xfrm>
          <a:prstGeom prst="rect">
            <a:avLst/>
          </a:prstGeom>
          <a:noFill/>
          <a:ln w="9525" algn="ctr">
            <a:noFill/>
            <a:miter lim="800000"/>
            <a:headEnd/>
            <a:tailEnd/>
          </a:ln>
          <a:effectLst/>
        </p:spPr>
        <p:txBody>
          <a:bodyPr>
            <a:spAutoFit/>
          </a:bodyPr>
          <a:lstStyle/>
          <a:p>
            <a:pPr>
              <a:lnSpc>
                <a:spcPct val="125000"/>
              </a:lnSpc>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）表中最后一行包含</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个元素，因此当特征方程的阶数</a:t>
            </a:r>
            <a:r>
              <a:rPr kumimoji="0" lang="en-US" altLang="zh-CN" sz="2400" i="1">
                <a:effectLst>
                  <a:outerShdw blurRad="38100" dist="38100" dir="2700000" algn="tl">
                    <a:srgbClr val="C0C0C0"/>
                  </a:outerShdw>
                </a:effectLst>
              </a:rPr>
              <a:t>n</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时，只需要</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行；</a:t>
            </a:r>
          </a:p>
          <a:p>
            <a:pPr>
              <a:lnSpc>
                <a:spcPct val="125000"/>
              </a:lnSpc>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）当 </a:t>
            </a:r>
            <a:r>
              <a:rPr kumimoji="0" lang="en-US" altLang="zh-CN" sz="2400" i="1">
                <a:effectLst>
                  <a:outerShdw blurRad="38100" dist="38100" dir="2700000" algn="tl">
                    <a:srgbClr val="C0C0C0"/>
                  </a:outerShdw>
                </a:effectLst>
              </a:rPr>
              <a:t>n</a:t>
            </a:r>
            <a:r>
              <a:rPr kumimoji="0" lang="en-US" altLang="zh-CN" sz="2400">
                <a:effectLst>
                  <a:outerShdw blurRad="38100" dist="38100" dir="2700000" algn="tl">
                    <a:srgbClr val="C0C0C0"/>
                  </a:outerShdw>
                </a:effectLst>
              </a:rPr>
              <a:t>=3 </a:t>
            </a:r>
            <a:r>
              <a:rPr kumimoji="0" lang="zh-CN" altLang="en-US" sz="2400">
                <a:effectLst>
                  <a:outerShdw blurRad="38100" dist="38100" dir="2700000" algn="tl">
                    <a:srgbClr val="C0C0C0"/>
                  </a:outerShdw>
                </a:effectLst>
              </a:rPr>
              <a:t>时，只需要</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行</a:t>
            </a:r>
            <a:r>
              <a:rPr kumimoji="0" lang="en-US" altLang="zh-CN" sz="2400">
                <a:effectLst>
                  <a:outerShdw blurRad="38100" dist="38100" dir="2700000" algn="tl">
                    <a:srgbClr val="C0C0C0"/>
                  </a:outerShdw>
                </a:effectLst>
              </a:rPr>
              <a:t>;</a:t>
            </a:r>
          </a:p>
          <a:p>
            <a:pPr>
              <a:lnSpc>
                <a:spcPct val="125000"/>
              </a:lnSpc>
              <a:defRPr/>
            </a:pP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前两行不需要计算，只是将 </a:t>
            </a:r>
            <a:r>
              <a:rPr kumimoji="0" lang="en-US" altLang="zh-CN" sz="2400" i="1">
                <a:effectLst>
                  <a:outerShdw blurRad="38100" dist="38100" dir="2700000" algn="tl">
                    <a:srgbClr val="C0C0C0"/>
                  </a:outerShdw>
                </a:effectLst>
              </a:rPr>
              <a:t>F</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z</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的原系数先倒排，然后顺排；</a:t>
            </a:r>
          </a:p>
          <a:p>
            <a:pPr>
              <a:lnSpc>
                <a:spcPct val="125000"/>
              </a:lnSpc>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）从第三行开始，第一项用</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行</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列的行列式进行计算</a:t>
            </a:r>
            <a:r>
              <a:rPr kumimoji="0" lang="en-US" altLang="zh-CN" sz="2400">
                <a:effectLst>
                  <a:outerShdw blurRad="38100" dist="38100" dir="2700000" algn="tl">
                    <a:srgbClr val="C0C0C0"/>
                  </a:outerShdw>
                </a:effectLst>
              </a:rPr>
              <a:t>;</a:t>
            </a:r>
          </a:p>
          <a:p>
            <a:pPr>
              <a:lnSpc>
                <a:spcPct val="125000"/>
              </a:lnSpc>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4</a:t>
            </a:r>
            <a:r>
              <a:rPr kumimoji="0" lang="zh-CN" altLang="en-US" sz="2400">
                <a:effectLst>
                  <a:outerShdw blurRad="38100" dist="38100" dir="2700000" algn="tl">
                    <a:srgbClr val="C0C0C0"/>
                  </a:outerShdw>
                </a:effectLst>
              </a:rPr>
              <a:t>）阵列中偶数行的元素就是前一行元素反过来的顺序，如此计算到第 </a:t>
            </a:r>
            <a:r>
              <a:rPr kumimoji="0" lang="en-US" altLang="zh-CN" sz="2400">
                <a:effectLst>
                  <a:outerShdw blurRad="38100" dist="38100" dir="2700000" algn="tl">
                    <a:srgbClr val="C0C0C0"/>
                  </a:outerShdw>
                </a:effectLst>
              </a:rPr>
              <a:t>2</a:t>
            </a:r>
            <a:r>
              <a:rPr kumimoji="0" lang="en-US" altLang="zh-CN" sz="2400" i="1">
                <a:effectLst>
                  <a:outerShdw blurRad="38100" dist="38100" dir="2700000" algn="tl">
                    <a:srgbClr val="C0C0C0"/>
                  </a:outerShdw>
                </a:effectLst>
              </a:rPr>
              <a:t>n</a:t>
            </a:r>
            <a:r>
              <a:rPr kumimoji="0" lang="en-US" altLang="zh-CN" sz="2400">
                <a:effectLst>
                  <a:outerShdw blurRad="38100" dist="38100" dir="2700000" algn="tl">
                    <a:srgbClr val="C0C0C0"/>
                  </a:outerShdw>
                </a:effectLst>
              </a:rPr>
              <a:t>-3 </a:t>
            </a:r>
            <a:r>
              <a:rPr kumimoji="0" lang="zh-CN" altLang="en-US" sz="2400">
                <a:effectLst>
                  <a:outerShdw blurRad="38100" dist="38100" dir="2700000" algn="tl">
                    <a:srgbClr val="C0C0C0"/>
                  </a:outerShdw>
                </a:effectLst>
              </a:rPr>
              <a:t>行各项为止</a:t>
            </a:r>
          </a:p>
        </p:txBody>
      </p:sp>
    </p:spTree>
  </p:cSld>
  <p:clrMapOvr>
    <a:masterClrMapping/>
  </p:clrMapOvr>
  <p:transition>
    <p:comb/>
  </p:transition>
</p:sld>
</file>

<file path=ppt/slides/slide10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8263" name="Text Box 23"/>
          <p:cNvSpPr txBox="1">
            <a:spLocks noChangeArrowheads="1"/>
          </p:cNvSpPr>
          <p:nvPr/>
        </p:nvSpPr>
        <p:spPr bwMode="auto">
          <a:xfrm>
            <a:off x="900113" y="1844675"/>
            <a:ext cx="7920037" cy="519113"/>
          </a:xfrm>
          <a:prstGeom prst="rect">
            <a:avLst/>
          </a:prstGeom>
          <a:noFill/>
          <a:ln w="9525" algn="ctr">
            <a:noFill/>
            <a:miter lim="800000"/>
            <a:headEnd/>
            <a:tailEnd/>
          </a:ln>
          <a:effectLst/>
        </p:spPr>
        <p:txBody>
          <a:bodyPr>
            <a:spAutoFit/>
          </a:bodyPr>
          <a:lstStyle/>
          <a:p>
            <a:pPr>
              <a:defRPr/>
            </a:pPr>
            <a:r>
              <a:rPr kumimoji="0" lang="zh-CN" altLang="en-US" sz="2800">
                <a:solidFill>
                  <a:srgbClr val="0000FF"/>
                </a:solidFill>
                <a:effectLst>
                  <a:outerShdw blurRad="38100" dist="38100" dir="2700000" algn="tl">
                    <a:srgbClr val="C0C0C0"/>
                  </a:outerShdw>
                </a:effectLst>
              </a:rPr>
              <a:t>常用低阶系统根据朱利阵列得到的稳定条件：</a:t>
            </a:r>
          </a:p>
        </p:txBody>
      </p:sp>
      <p:sp>
        <p:nvSpPr>
          <p:cNvPr id="138264" name="Text Box 24"/>
          <p:cNvSpPr txBox="1">
            <a:spLocks noChangeArrowheads="1"/>
          </p:cNvSpPr>
          <p:nvPr/>
        </p:nvSpPr>
        <p:spPr bwMode="auto">
          <a:xfrm>
            <a:off x="827088" y="2852738"/>
            <a:ext cx="36925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）一阶系统</a:t>
            </a:r>
          </a:p>
        </p:txBody>
      </p:sp>
      <p:sp>
        <p:nvSpPr>
          <p:cNvPr id="138265" name="Rectangle 25"/>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2706" name="Object 26"/>
          <p:cNvGraphicFramePr>
            <a:graphicFrameLocks noChangeAspect="1"/>
          </p:cNvGraphicFramePr>
          <p:nvPr/>
        </p:nvGraphicFramePr>
        <p:xfrm>
          <a:off x="3132138" y="2852738"/>
          <a:ext cx="4103687" cy="438150"/>
        </p:xfrm>
        <a:graphic>
          <a:graphicData uri="http://schemas.openxmlformats.org/presentationml/2006/ole">
            <mc:AlternateContent xmlns:mc="http://schemas.openxmlformats.org/markup-compatibility/2006">
              <mc:Choice xmlns:v="urn:schemas-microsoft-com:vml" Requires="v">
                <p:oleObj name="Equation" r:id="rId3" imgW="2146300" imgH="228600" progId="Equation.DSMT4">
                  <p:embed/>
                </p:oleObj>
              </mc:Choice>
              <mc:Fallback>
                <p:oleObj name="Equation" r:id="rId3" imgW="2146300" imgH="2286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132138" y="2852738"/>
                        <a:ext cx="4103687"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8267" name="Text Box 27"/>
          <p:cNvSpPr txBox="1">
            <a:spLocks noChangeArrowheads="1"/>
          </p:cNvSpPr>
          <p:nvPr/>
        </p:nvSpPr>
        <p:spPr bwMode="auto">
          <a:xfrm>
            <a:off x="1600200" y="3643313"/>
            <a:ext cx="27559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稳定条件：</a:t>
            </a:r>
          </a:p>
        </p:txBody>
      </p:sp>
      <p:sp>
        <p:nvSpPr>
          <p:cNvPr id="138268" name="Rectangle 28"/>
          <p:cNvSpPr>
            <a:spLocks noChangeArrowheads="1"/>
          </p:cNvSpPr>
          <p:nvPr/>
        </p:nvSpPr>
        <p:spPr bwMode="auto">
          <a:xfrm>
            <a:off x="0" y="31956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2707" name="Object 29"/>
          <p:cNvGraphicFramePr>
            <a:graphicFrameLocks noChangeAspect="1"/>
          </p:cNvGraphicFramePr>
          <p:nvPr/>
        </p:nvGraphicFramePr>
        <p:xfrm>
          <a:off x="3492500" y="3500438"/>
          <a:ext cx="781050" cy="1008062"/>
        </p:xfrm>
        <a:graphic>
          <a:graphicData uri="http://schemas.openxmlformats.org/presentationml/2006/ole">
            <mc:AlternateContent xmlns:mc="http://schemas.openxmlformats.org/markup-compatibility/2006">
              <mc:Choice xmlns:v="urn:schemas-microsoft-com:vml" Requires="v">
                <p:oleObj name="Equation" r:id="rId5" imgW="457200" imgH="482600" progId="Equation.DSMT4">
                  <p:embed/>
                </p:oleObj>
              </mc:Choice>
              <mc:Fallback>
                <p:oleObj name="Equation" r:id="rId5" imgW="457200" imgH="4826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92500" y="3500438"/>
                        <a:ext cx="781050" cy="10080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0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7237" name="Text Box 21"/>
          <p:cNvSpPr txBox="1">
            <a:spLocks noChangeArrowheads="1"/>
          </p:cNvSpPr>
          <p:nvPr/>
        </p:nvSpPr>
        <p:spPr bwMode="auto">
          <a:xfrm>
            <a:off x="950913" y="1936750"/>
            <a:ext cx="38369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）二阶系统</a:t>
            </a:r>
          </a:p>
        </p:txBody>
      </p:sp>
      <p:sp>
        <p:nvSpPr>
          <p:cNvPr id="137238" name="Rectangle 22"/>
          <p:cNvSpPr>
            <a:spLocks noChangeArrowheads="1"/>
          </p:cNvSpPr>
          <p:nvPr/>
        </p:nvSpPr>
        <p:spPr bwMode="auto">
          <a:xfrm>
            <a:off x="0" y="33099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3730" name="Object 23"/>
          <p:cNvGraphicFramePr>
            <a:graphicFrameLocks noChangeAspect="1"/>
          </p:cNvGraphicFramePr>
          <p:nvPr/>
        </p:nvGraphicFramePr>
        <p:xfrm>
          <a:off x="3348038" y="1989138"/>
          <a:ext cx="5040312" cy="457200"/>
        </p:xfrm>
        <a:graphic>
          <a:graphicData uri="http://schemas.openxmlformats.org/presentationml/2006/ole">
            <mc:AlternateContent xmlns:mc="http://schemas.openxmlformats.org/markup-compatibility/2006">
              <mc:Choice xmlns:v="urn:schemas-microsoft-com:vml" Requires="v">
                <p:oleObj name="Equation" r:id="rId3" imgW="2628900" imgH="241300" progId="Equation.DSMT4">
                  <p:embed/>
                </p:oleObj>
              </mc:Choice>
              <mc:Fallback>
                <p:oleObj name="Equation" r:id="rId3" imgW="2628900" imgH="2413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1989138"/>
                        <a:ext cx="5040312" cy="457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7240" name="Text Box 24"/>
          <p:cNvSpPr txBox="1">
            <a:spLocks noChangeArrowheads="1"/>
          </p:cNvSpPr>
          <p:nvPr/>
        </p:nvSpPr>
        <p:spPr bwMode="auto">
          <a:xfrm>
            <a:off x="1384300" y="2636838"/>
            <a:ext cx="31877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稳定条件：</a:t>
            </a:r>
          </a:p>
        </p:txBody>
      </p:sp>
      <p:pic>
        <p:nvPicPr>
          <p:cNvPr id="73735" name="Picture 25"/>
          <p:cNvPicPr>
            <a:picLocks noChangeAspect="1" noChangeArrowheads="1"/>
          </p:cNvPicPr>
          <p:nvPr/>
        </p:nvPicPr>
        <p:blipFill>
          <a:blip r:embed="rId5" cstate="print"/>
          <a:srcRect/>
          <a:stretch>
            <a:fillRect/>
          </a:stretch>
        </p:blipFill>
        <p:spPr bwMode="auto">
          <a:xfrm>
            <a:off x="2771775" y="3213100"/>
            <a:ext cx="2160588" cy="1544638"/>
          </a:xfrm>
          <a:prstGeom prst="rect">
            <a:avLst/>
          </a:prstGeom>
          <a:noFill/>
          <a:ln w="9525">
            <a:noFill/>
            <a:miter lim="800000"/>
            <a:headEnd/>
            <a:tailEnd/>
          </a:ln>
        </p:spPr>
      </p:pic>
    </p:spTree>
  </p:cSld>
  <p:clrMapOvr>
    <a:masterClrMapping/>
  </p:clrMapOvr>
  <p:transition>
    <p:push/>
  </p:transition>
</p:sld>
</file>

<file path=ppt/slides/slide10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6448" name="Text Box 16"/>
          <p:cNvSpPr txBox="1">
            <a:spLocks noChangeArrowheads="1"/>
          </p:cNvSpPr>
          <p:nvPr/>
        </p:nvSpPr>
        <p:spPr bwMode="auto">
          <a:xfrm>
            <a:off x="1116013" y="1484313"/>
            <a:ext cx="4164012" cy="457200"/>
          </a:xfrm>
          <a:prstGeom prst="rect">
            <a:avLst/>
          </a:prstGeom>
          <a:noFill/>
          <a:ln w="9525" algn="ctr">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例</a:t>
            </a:r>
            <a:r>
              <a:rPr kumimoji="0" lang="en-US" altLang="zh-CN" sz="2400" b="1"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3.14</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 </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设某系统的特征方程为</a:t>
            </a:r>
          </a:p>
        </p:txBody>
      </p:sp>
      <p:sp>
        <p:nvSpPr>
          <p:cNvPr id="146449" name="Rectangle 17"/>
          <p:cNvSpPr>
            <a:spLocks noChangeArrowheads="1"/>
          </p:cNvSpPr>
          <p:nvPr/>
        </p:nvSpPr>
        <p:spPr bwMode="auto">
          <a:xfrm>
            <a:off x="73025" y="2786063"/>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8850" name="Object 18"/>
          <p:cNvGraphicFramePr>
            <a:graphicFrameLocks noChangeAspect="1"/>
          </p:cNvGraphicFramePr>
          <p:nvPr/>
        </p:nvGraphicFramePr>
        <p:xfrm>
          <a:off x="1589088" y="2112963"/>
          <a:ext cx="5935662" cy="455612"/>
        </p:xfrm>
        <a:graphic>
          <a:graphicData uri="http://schemas.openxmlformats.org/presentationml/2006/ole">
            <mc:AlternateContent xmlns:mc="http://schemas.openxmlformats.org/markup-compatibility/2006">
              <mc:Choice xmlns:v="urn:schemas-microsoft-com:vml" Requires="v">
                <p:oleObj name="Equation" r:id="rId3" imgW="3606800" imgH="279400" progId="Equation.DSMT4">
                  <p:embed/>
                </p:oleObj>
              </mc:Choice>
              <mc:Fallback>
                <p:oleObj name="Equation" r:id="rId3" imgW="3606800" imgH="279400" progId="Equation.DSMT4">
                  <p:embed/>
                  <p:pic>
                    <p:nvPicPr>
                      <p:cNvPr id="78850" name="Object 1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89088" y="2112963"/>
                        <a:ext cx="5935662" cy="4556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6451" name="Text Box 19"/>
          <p:cNvSpPr txBox="1">
            <a:spLocks noChangeArrowheads="1"/>
          </p:cNvSpPr>
          <p:nvPr/>
        </p:nvSpPr>
        <p:spPr bwMode="auto">
          <a:xfrm>
            <a:off x="1187450" y="2616200"/>
            <a:ext cx="3405188"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其中，采样周期</a:t>
            </a:r>
          </a:p>
        </p:txBody>
      </p:sp>
      <p:sp>
        <p:nvSpPr>
          <p:cNvPr id="146452" name="Rectangle 20"/>
          <p:cNvSpPr>
            <a:spLocks noChangeArrowheads="1"/>
          </p:cNvSpPr>
          <p:nvPr/>
        </p:nvSpPr>
        <p:spPr bwMode="auto">
          <a:xfrm>
            <a:off x="73025" y="2833688"/>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8851" name="Object 21"/>
          <p:cNvGraphicFramePr>
            <a:graphicFrameLocks noChangeAspect="1"/>
          </p:cNvGraphicFramePr>
          <p:nvPr/>
        </p:nvGraphicFramePr>
        <p:xfrm>
          <a:off x="3584575" y="2689225"/>
          <a:ext cx="1152525" cy="384175"/>
        </p:xfrm>
        <a:graphic>
          <a:graphicData uri="http://schemas.openxmlformats.org/presentationml/2006/ole">
            <mc:AlternateContent xmlns:mc="http://schemas.openxmlformats.org/markup-compatibility/2006">
              <mc:Choice xmlns:v="urn:schemas-microsoft-com:vml" Requires="v">
                <p:oleObj name="Equation" r:id="rId5" imgW="545626" imgH="177646" progId="Equation.DSMT4">
                  <p:embed/>
                </p:oleObj>
              </mc:Choice>
              <mc:Fallback>
                <p:oleObj name="Equation" r:id="rId5" imgW="545626" imgH="177646" progId="Equation.DSMT4">
                  <p:embed/>
                  <p:pic>
                    <p:nvPicPr>
                      <p:cNvPr id="78851" name="Object 2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584575" y="2689225"/>
                        <a:ext cx="1152525"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6454" name="Rectangle 22"/>
          <p:cNvSpPr>
            <a:spLocks noChangeArrowheads="1"/>
          </p:cNvSpPr>
          <p:nvPr/>
        </p:nvSpPr>
        <p:spPr bwMode="auto">
          <a:xfrm>
            <a:off x="73025" y="2814638"/>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8852" name="Object 23"/>
          <p:cNvGraphicFramePr>
            <a:graphicFrameLocks noChangeAspect="1"/>
          </p:cNvGraphicFramePr>
          <p:nvPr/>
        </p:nvGraphicFramePr>
        <p:xfrm>
          <a:off x="5000625" y="2676525"/>
          <a:ext cx="1778000" cy="434975"/>
        </p:xfrm>
        <a:graphic>
          <a:graphicData uri="http://schemas.openxmlformats.org/presentationml/2006/ole">
            <mc:AlternateContent xmlns:mc="http://schemas.openxmlformats.org/markup-compatibility/2006">
              <mc:Choice xmlns:v="urn:schemas-microsoft-com:vml" Requires="v">
                <p:oleObj name="Equation" r:id="rId7" imgW="952087" imgH="228501" progId="Equation.DSMT4">
                  <p:embed/>
                </p:oleObj>
              </mc:Choice>
              <mc:Fallback>
                <p:oleObj name="Equation" r:id="rId7" imgW="952087" imgH="228501" progId="Equation.DSMT4">
                  <p:embed/>
                  <p:pic>
                    <p:nvPicPr>
                      <p:cNvPr id="78852" name="Object 2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000625" y="2676525"/>
                        <a:ext cx="1778000" cy="4349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6456" name="Text Box 24"/>
          <p:cNvSpPr txBox="1">
            <a:spLocks noChangeArrowheads="1"/>
          </p:cNvSpPr>
          <p:nvPr/>
        </p:nvSpPr>
        <p:spPr bwMode="auto">
          <a:xfrm>
            <a:off x="1136650" y="3336925"/>
            <a:ext cx="6532563"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试确定出系统稳定时 </a:t>
            </a:r>
            <a:r>
              <a:rPr kumimoji="0" lang="en-US" altLang="zh-CN" sz="2400" b="1" i="1"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K</a:t>
            </a:r>
            <a:r>
              <a:rPr kumimoji="0" lang="en-US" altLang="zh-CN" sz="2400" b="1" i="1" u="none" strike="noStrike" kern="1200" cap="none" spc="0" normalizeH="0" baseline="-2500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p</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 </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的范围。</a:t>
            </a:r>
          </a:p>
        </p:txBody>
      </p:sp>
      <p:sp>
        <p:nvSpPr>
          <p:cNvPr id="146457" name="Text Box 25"/>
          <p:cNvSpPr txBox="1">
            <a:spLocks noChangeArrowheads="1"/>
          </p:cNvSpPr>
          <p:nvPr/>
        </p:nvSpPr>
        <p:spPr bwMode="auto">
          <a:xfrm>
            <a:off x="1168400" y="3879850"/>
            <a:ext cx="5781675"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解：</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将 </a:t>
            </a:r>
            <a:r>
              <a:rPr kumimoji="0" lang="en-US" altLang="zh-CN" sz="2400" b="1" i="1"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T</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和</a:t>
            </a:r>
            <a:r>
              <a:rPr kumimoji="0" lang="en-US" altLang="zh-CN" sz="2400" b="1" i="1"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K</a:t>
            </a:r>
            <a:r>
              <a:rPr kumimoji="0" lang="en-US" altLang="zh-CN" sz="2400" b="1" i="1" u="none" strike="noStrike" kern="1200" cap="none" spc="0" normalizeH="0" baseline="-2500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i</a:t>
            </a:r>
            <a:r>
              <a:rPr kumimoji="0" lang="en-US" altLang="zh-CN" sz="2400" b="1" i="0" u="none" strike="noStrike" kern="1200" cap="none" spc="0" normalizeH="0" baseline="-2500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 </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代入特征方程，得</a:t>
            </a:r>
          </a:p>
        </p:txBody>
      </p:sp>
      <p:sp>
        <p:nvSpPr>
          <p:cNvPr id="146458" name="Rectangle 26"/>
          <p:cNvSpPr>
            <a:spLocks noChangeArrowheads="1"/>
          </p:cNvSpPr>
          <p:nvPr/>
        </p:nvSpPr>
        <p:spPr bwMode="auto">
          <a:xfrm>
            <a:off x="73025" y="280987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8853" name="Object 27"/>
          <p:cNvGraphicFramePr>
            <a:graphicFrameLocks noChangeAspect="1"/>
          </p:cNvGraphicFramePr>
          <p:nvPr/>
        </p:nvGraphicFramePr>
        <p:xfrm>
          <a:off x="1498600" y="4483100"/>
          <a:ext cx="6435725" cy="539750"/>
        </p:xfrm>
        <a:graphic>
          <a:graphicData uri="http://schemas.openxmlformats.org/presentationml/2006/ole">
            <mc:AlternateContent xmlns:mc="http://schemas.openxmlformats.org/markup-compatibility/2006">
              <mc:Choice xmlns:v="urn:schemas-microsoft-com:vml" Requires="v">
                <p:oleObj name="Equation" r:id="rId9" imgW="3022600" imgH="254000" progId="Equation.DSMT4">
                  <p:embed/>
                </p:oleObj>
              </mc:Choice>
              <mc:Fallback>
                <p:oleObj name="Equation" r:id="rId9" imgW="3022600" imgH="254000" progId="Equation.DSMT4">
                  <p:embed/>
                  <p:pic>
                    <p:nvPicPr>
                      <p:cNvPr id="78853" name="Object 27"/>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498600" y="4483100"/>
                        <a:ext cx="6435725" cy="539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470282564"/>
      </p:ext>
    </p:extLst>
  </p:cSld>
  <p:clrMapOvr>
    <a:masterClrMapping/>
  </p:clrMapOvr>
  <p:transition>
    <p:comb/>
  </p:transition>
</p:sld>
</file>

<file path=ppt/slides/slide10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7492" name="Text Box 36"/>
          <p:cNvSpPr txBox="1">
            <a:spLocks noChangeArrowheads="1"/>
          </p:cNvSpPr>
          <p:nvPr/>
        </p:nvSpPr>
        <p:spPr bwMode="auto">
          <a:xfrm>
            <a:off x="879475" y="1577975"/>
            <a:ext cx="23241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1</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p>
        </p:txBody>
      </p:sp>
      <p:sp>
        <p:nvSpPr>
          <p:cNvPr id="147493" name="Rectangle 37"/>
          <p:cNvSpPr>
            <a:spLocks noChangeArrowheads="1"/>
          </p:cNvSpPr>
          <p:nvPr/>
        </p:nvSpPr>
        <p:spPr bwMode="auto">
          <a:xfrm>
            <a:off x="0" y="303212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9874" name="Object 38"/>
          <p:cNvGraphicFramePr>
            <a:graphicFrameLocks noChangeAspect="1"/>
          </p:cNvGraphicFramePr>
          <p:nvPr/>
        </p:nvGraphicFramePr>
        <p:xfrm>
          <a:off x="1692275" y="1628775"/>
          <a:ext cx="6840538" cy="398463"/>
        </p:xfrm>
        <a:graphic>
          <a:graphicData uri="http://schemas.openxmlformats.org/presentationml/2006/ole">
            <mc:AlternateContent xmlns:mc="http://schemas.openxmlformats.org/markup-compatibility/2006">
              <mc:Choice xmlns:v="urn:schemas-microsoft-com:vml" Requires="v">
                <p:oleObj name="Equation" r:id="rId3" imgW="3759200" imgH="215900" progId="Equation.DSMT4">
                  <p:embed/>
                </p:oleObj>
              </mc:Choice>
              <mc:Fallback>
                <p:oleObj name="Equation" r:id="rId3" imgW="3759200" imgH="215900" progId="Equation.DSMT4">
                  <p:embed/>
                  <p:pic>
                    <p:nvPicPr>
                      <p:cNvPr id="79874" name="Object 3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92275" y="1628775"/>
                        <a:ext cx="6840538" cy="3984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495" name="Text Box 39"/>
          <p:cNvSpPr txBox="1">
            <a:spLocks noChangeArrowheads="1"/>
          </p:cNvSpPr>
          <p:nvPr/>
        </p:nvSpPr>
        <p:spPr bwMode="auto">
          <a:xfrm>
            <a:off x="1743075" y="2154238"/>
            <a:ext cx="3705225" cy="457200"/>
          </a:xfrm>
          <a:prstGeom prst="rect">
            <a:avLst/>
          </a:prstGeom>
          <a:noFill/>
          <a:ln w="9525" algn="ctr">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条件满足，且与 </a:t>
            </a:r>
            <a:r>
              <a:rPr kumimoji="0" lang="en-US" altLang="zh-CN" sz="2400" b="1" i="1"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K</a:t>
            </a:r>
            <a:r>
              <a:rPr kumimoji="0" lang="en-US" altLang="zh-CN" sz="2400" b="1" i="1" u="none" strike="noStrike" kern="1200" cap="none" spc="0" normalizeH="0" baseline="-2500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p</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 </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无关。</a:t>
            </a:r>
          </a:p>
        </p:txBody>
      </p:sp>
      <p:sp>
        <p:nvSpPr>
          <p:cNvPr id="147496" name="Text Box 40"/>
          <p:cNvSpPr txBox="1">
            <a:spLocks noChangeArrowheads="1"/>
          </p:cNvSpPr>
          <p:nvPr/>
        </p:nvSpPr>
        <p:spPr bwMode="auto">
          <a:xfrm>
            <a:off x="900113" y="2781300"/>
            <a:ext cx="17272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2</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p>
        </p:txBody>
      </p:sp>
      <p:sp>
        <p:nvSpPr>
          <p:cNvPr id="147497" name="Rectangle 41"/>
          <p:cNvSpPr>
            <a:spLocks noChangeArrowheads="1"/>
          </p:cNvSpPr>
          <p:nvPr/>
        </p:nvSpPr>
        <p:spPr bwMode="auto">
          <a:xfrm>
            <a:off x="0" y="3027363"/>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9875" name="Object 42"/>
          <p:cNvGraphicFramePr>
            <a:graphicFrameLocks noChangeAspect="1"/>
          </p:cNvGraphicFramePr>
          <p:nvPr/>
        </p:nvGraphicFramePr>
        <p:xfrm>
          <a:off x="1763713" y="2781300"/>
          <a:ext cx="6624637" cy="411163"/>
        </p:xfrm>
        <a:graphic>
          <a:graphicData uri="http://schemas.openxmlformats.org/presentationml/2006/ole">
            <mc:AlternateContent xmlns:mc="http://schemas.openxmlformats.org/markup-compatibility/2006">
              <mc:Choice xmlns:v="urn:schemas-microsoft-com:vml" Requires="v">
                <p:oleObj name="Equation" r:id="rId5" imgW="3683000" imgH="228600" progId="Equation.DSMT4">
                  <p:embed/>
                </p:oleObj>
              </mc:Choice>
              <mc:Fallback>
                <p:oleObj name="Equation" r:id="rId5" imgW="3683000" imgH="228600" progId="Equation.DSMT4">
                  <p:embed/>
                  <p:pic>
                    <p:nvPicPr>
                      <p:cNvPr id="79875" name="Object 4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63713" y="2781300"/>
                        <a:ext cx="6624637" cy="4111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499" name="Text Box 43"/>
          <p:cNvSpPr txBox="1">
            <a:spLocks noChangeArrowheads="1"/>
          </p:cNvSpPr>
          <p:nvPr/>
        </p:nvSpPr>
        <p:spPr bwMode="auto">
          <a:xfrm>
            <a:off x="1743075" y="3286125"/>
            <a:ext cx="1460500"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求出</a:t>
            </a:r>
          </a:p>
        </p:txBody>
      </p:sp>
      <p:sp>
        <p:nvSpPr>
          <p:cNvPr id="147500" name="Rectangle 44"/>
          <p:cNvSpPr>
            <a:spLocks noChangeArrowheads="1"/>
          </p:cNvSpPr>
          <p:nvPr/>
        </p:nvSpPr>
        <p:spPr bwMode="auto">
          <a:xfrm>
            <a:off x="0" y="303212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9876" name="Object 45"/>
          <p:cNvGraphicFramePr>
            <a:graphicFrameLocks noChangeAspect="1"/>
          </p:cNvGraphicFramePr>
          <p:nvPr/>
        </p:nvGraphicFramePr>
        <p:xfrm>
          <a:off x="2627313" y="3357563"/>
          <a:ext cx="1458912" cy="511175"/>
        </p:xfrm>
        <a:graphic>
          <a:graphicData uri="http://schemas.openxmlformats.org/presentationml/2006/ole">
            <mc:AlternateContent xmlns:mc="http://schemas.openxmlformats.org/markup-compatibility/2006">
              <mc:Choice xmlns:v="urn:schemas-microsoft-com:vml" Requires="v">
                <p:oleObj name="Equation" r:id="rId7" imgW="698500" imgH="241300" progId="Equation.DSMT4">
                  <p:embed/>
                </p:oleObj>
              </mc:Choice>
              <mc:Fallback>
                <p:oleObj name="Equation" r:id="rId7" imgW="698500" imgH="241300" progId="Equation.DSMT4">
                  <p:embed/>
                  <p:pic>
                    <p:nvPicPr>
                      <p:cNvPr id="79876" name="Object 4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627313" y="3357563"/>
                        <a:ext cx="1458912"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502" name="Text Box 46"/>
          <p:cNvSpPr txBox="1">
            <a:spLocks noChangeArrowheads="1"/>
          </p:cNvSpPr>
          <p:nvPr/>
        </p:nvSpPr>
        <p:spPr bwMode="auto">
          <a:xfrm>
            <a:off x="950913" y="3810000"/>
            <a:ext cx="949325" cy="457200"/>
          </a:xfrm>
          <a:prstGeom prst="rect">
            <a:avLst/>
          </a:prstGeom>
          <a:noFill/>
          <a:ln w="9525" algn="ctr">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r>
              <a:rPr kumimoji="0" lang="en-US" altLang="zh-CN"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3</a:t>
            </a: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p>
        </p:txBody>
      </p:sp>
      <p:sp>
        <p:nvSpPr>
          <p:cNvPr id="147503" name="Rectangle 47"/>
          <p:cNvSpPr>
            <a:spLocks noChangeArrowheads="1"/>
          </p:cNvSpPr>
          <p:nvPr/>
        </p:nvSpPr>
        <p:spPr bwMode="auto">
          <a:xfrm>
            <a:off x="0" y="301307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9877" name="Object 48"/>
          <p:cNvGraphicFramePr>
            <a:graphicFrameLocks noChangeAspect="1"/>
          </p:cNvGraphicFramePr>
          <p:nvPr/>
        </p:nvGraphicFramePr>
        <p:xfrm>
          <a:off x="1858963" y="3789363"/>
          <a:ext cx="3843337" cy="493712"/>
        </p:xfrm>
        <a:graphic>
          <a:graphicData uri="http://schemas.openxmlformats.org/presentationml/2006/ole">
            <mc:AlternateContent xmlns:mc="http://schemas.openxmlformats.org/markup-compatibility/2006">
              <mc:Choice xmlns:v="urn:schemas-microsoft-com:vml" Requires="v">
                <p:oleObj name="Equation" r:id="rId9" imgW="2005729" imgH="253890" progId="Equation.DSMT4">
                  <p:embed/>
                </p:oleObj>
              </mc:Choice>
              <mc:Fallback>
                <p:oleObj name="Equation" r:id="rId9" imgW="2005729" imgH="253890" progId="Equation.DSMT4">
                  <p:embed/>
                  <p:pic>
                    <p:nvPicPr>
                      <p:cNvPr id="79877" name="Object 48"/>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858963" y="3789363"/>
                        <a:ext cx="3843337" cy="4937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505" name="Text Box 49"/>
          <p:cNvSpPr txBox="1">
            <a:spLocks noChangeArrowheads="1"/>
          </p:cNvSpPr>
          <p:nvPr/>
        </p:nvSpPr>
        <p:spPr bwMode="auto">
          <a:xfrm>
            <a:off x="1743075" y="4365625"/>
            <a:ext cx="2684463" cy="457200"/>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由此求出</a:t>
            </a:r>
          </a:p>
        </p:txBody>
      </p:sp>
      <p:sp>
        <p:nvSpPr>
          <p:cNvPr id="147506" name="Rectangle 50"/>
          <p:cNvSpPr>
            <a:spLocks noChangeArrowheads="1"/>
          </p:cNvSpPr>
          <p:nvPr/>
        </p:nvSpPr>
        <p:spPr bwMode="auto">
          <a:xfrm>
            <a:off x="0" y="303212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9878" name="Object 51"/>
          <p:cNvGraphicFramePr>
            <a:graphicFrameLocks noChangeAspect="1"/>
          </p:cNvGraphicFramePr>
          <p:nvPr/>
        </p:nvGraphicFramePr>
        <p:xfrm>
          <a:off x="3203575" y="4365625"/>
          <a:ext cx="2503488" cy="468313"/>
        </p:xfrm>
        <a:graphic>
          <a:graphicData uri="http://schemas.openxmlformats.org/presentationml/2006/ole">
            <mc:AlternateContent xmlns:mc="http://schemas.openxmlformats.org/markup-compatibility/2006">
              <mc:Choice xmlns:v="urn:schemas-microsoft-com:vml" Requires="v">
                <p:oleObj name="Equation" r:id="rId11" imgW="1231366" imgH="228501" progId="Equation.DSMT4">
                  <p:embed/>
                </p:oleObj>
              </mc:Choice>
              <mc:Fallback>
                <p:oleObj name="Equation" r:id="rId11" imgW="1231366" imgH="228501" progId="Equation.DSMT4">
                  <p:embed/>
                  <p:pic>
                    <p:nvPicPr>
                      <p:cNvPr id="79878" name="Object 51"/>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03575" y="4365625"/>
                        <a:ext cx="2503488" cy="4683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7508" name="Text Box 52"/>
          <p:cNvSpPr txBox="1">
            <a:spLocks noChangeArrowheads="1"/>
          </p:cNvSpPr>
          <p:nvPr/>
        </p:nvSpPr>
        <p:spPr bwMode="auto">
          <a:xfrm>
            <a:off x="1042988" y="5013325"/>
            <a:ext cx="5391150" cy="457200"/>
          </a:xfrm>
          <a:prstGeom prst="rect">
            <a:avLst/>
          </a:prstGeom>
          <a:noFill/>
          <a:ln w="9525" algn="ctr">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400" b="1"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结论：系统稳定时，</a:t>
            </a:r>
            <a:r>
              <a:rPr kumimoji="0" lang="en-US" altLang="zh-CN" sz="2400" b="1" i="1"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K</a:t>
            </a:r>
            <a:r>
              <a:rPr kumimoji="0" lang="en-US" altLang="zh-CN" sz="2400" b="1" i="1" u="none" strike="noStrike" kern="1200" cap="none" spc="0" normalizeH="0" baseline="-2500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p</a:t>
            </a:r>
            <a:r>
              <a:rPr kumimoji="0" lang="zh-CN" altLang="en-US" sz="2400" b="1" i="0" u="none" strike="noStrike" kern="1200" cap="none" spc="0" normalizeH="0" baseline="0" noProof="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的取值范围为：</a:t>
            </a:r>
          </a:p>
        </p:txBody>
      </p:sp>
      <p:sp>
        <p:nvSpPr>
          <p:cNvPr id="147509" name="Rectangle 53"/>
          <p:cNvSpPr>
            <a:spLocks noChangeArrowheads="1"/>
          </p:cNvSpPr>
          <p:nvPr/>
        </p:nvSpPr>
        <p:spPr bwMode="auto">
          <a:xfrm>
            <a:off x="0" y="303212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sp>
        <p:nvSpPr>
          <p:cNvPr id="147510" name="Rectangle 54"/>
          <p:cNvSpPr>
            <a:spLocks noChangeArrowheads="1"/>
          </p:cNvSpPr>
          <p:nvPr/>
        </p:nvSpPr>
        <p:spPr bwMode="auto">
          <a:xfrm>
            <a:off x="0" y="3032125"/>
            <a:ext cx="9144000" cy="0"/>
          </a:xfrm>
          <a:prstGeom prst="rect">
            <a:avLst/>
          </a:prstGeom>
          <a:noFill/>
          <a:ln w="9525" algn="ctr">
            <a:noFill/>
            <a:miter lim="800000"/>
            <a:headEnd/>
            <a:tailEnd/>
          </a:ln>
          <a:effectLst/>
        </p:spPr>
        <p:txBody>
          <a:bodyPr wrap="none" anchor="ctr">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endParaRPr kumimoji="1" lang="zh-CN" altLang="en-US" sz="2000" b="1" i="0" u="none" strike="noStrike" kern="1200" cap="none" spc="0" normalizeH="0" baseline="0" noProof="0">
              <a:ln>
                <a:noFill/>
              </a:ln>
              <a:solidFill>
                <a:srgbClr val="000000"/>
              </a:solidFill>
              <a:effectLst>
                <a:outerShdw blurRad="38100" dist="38100" dir="2700000" algn="tl">
                  <a:srgbClr val="000000">
                    <a:alpha val="43137"/>
                  </a:srgbClr>
                </a:outerShdw>
              </a:effectLst>
              <a:uLnTx/>
              <a:uFillTx/>
              <a:latin typeface="Times New Roman" pitchFamily="18" charset="0"/>
              <a:ea typeface="宋体" pitchFamily="2" charset="-122"/>
              <a:cs typeface="+mn-cs"/>
            </a:endParaRPr>
          </a:p>
        </p:txBody>
      </p:sp>
      <p:graphicFrame>
        <p:nvGraphicFramePr>
          <p:cNvPr id="79879" name="Object 55"/>
          <p:cNvGraphicFramePr>
            <a:graphicFrameLocks noChangeAspect="1"/>
          </p:cNvGraphicFramePr>
          <p:nvPr/>
        </p:nvGraphicFramePr>
        <p:xfrm>
          <a:off x="3111500" y="5646738"/>
          <a:ext cx="2779713" cy="508000"/>
        </p:xfrm>
        <a:graphic>
          <a:graphicData uri="http://schemas.openxmlformats.org/presentationml/2006/ole">
            <mc:AlternateContent xmlns:mc="http://schemas.openxmlformats.org/markup-compatibility/2006">
              <mc:Choice xmlns:v="urn:schemas-microsoft-com:vml" Requires="v">
                <p:oleObj name="Equation" r:id="rId13" imgW="1270000" imgH="228600" progId="Equation.DSMT4">
                  <p:embed/>
                </p:oleObj>
              </mc:Choice>
              <mc:Fallback>
                <p:oleObj name="Equation" r:id="rId13" imgW="1270000" imgH="228600" progId="Equation.DSMT4">
                  <p:embed/>
                  <p:pic>
                    <p:nvPicPr>
                      <p:cNvPr id="79879" name="Object 55"/>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3111500" y="5646738"/>
                        <a:ext cx="2779713" cy="5080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extLst>
      <p:ext uri="{BB962C8B-B14F-4D97-AF65-F5344CB8AC3E}">
        <p14:creationId xmlns:p14="http://schemas.microsoft.com/office/powerpoint/2010/main" val="2350483789"/>
      </p:ext>
    </p:extLst>
  </p:cSld>
  <p:clrMapOvr>
    <a:masterClrMapping/>
  </p:clrMapOvr>
  <p:transition>
    <p:push/>
  </p:transition>
</p:sld>
</file>

<file path=ppt/slides/slide11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6220" name="Text Box 28"/>
          <p:cNvSpPr txBox="1">
            <a:spLocks noChangeArrowheads="1"/>
          </p:cNvSpPr>
          <p:nvPr/>
        </p:nvSpPr>
        <p:spPr bwMode="auto">
          <a:xfrm>
            <a:off x="950913" y="1936750"/>
            <a:ext cx="383698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）三阶系统</a:t>
            </a:r>
          </a:p>
        </p:txBody>
      </p:sp>
      <p:sp>
        <p:nvSpPr>
          <p:cNvPr id="136221" name="Text Box 29"/>
          <p:cNvSpPr txBox="1">
            <a:spLocks noChangeArrowheads="1"/>
          </p:cNvSpPr>
          <p:nvPr/>
        </p:nvSpPr>
        <p:spPr bwMode="auto">
          <a:xfrm>
            <a:off x="1384300" y="2636838"/>
            <a:ext cx="31877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稳定条件：</a:t>
            </a:r>
          </a:p>
        </p:txBody>
      </p:sp>
      <p:sp>
        <p:nvSpPr>
          <p:cNvPr id="136222" name="Rectangle 30"/>
          <p:cNvSpPr>
            <a:spLocks noChangeArrowheads="1"/>
          </p:cNvSpPr>
          <p:nvPr/>
        </p:nvSpPr>
        <p:spPr bwMode="auto">
          <a:xfrm>
            <a:off x="0" y="33099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4754" name="Object 31"/>
          <p:cNvGraphicFramePr>
            <a:graphicFrameLocks noChangeAspect="1"/>
          </p:cNvGraphicFramePr>
          <p:nvPr/>
        </p:nvGraphicFramePr>
        <p:xfrm>
          <a:off x="3348038" y="1989138"/>
          <a:ext cx="5256212" cy="411162"/>
        </p:xfrm>
        <a:graphic>
          <a:graphicData uri="http://schemas.openxmlformats.org/presentationml/2006/ole">
            <mc:AlternateContent xmlns:mc="http://schemas.openxmlformats.org/markup-compatibility/2006">
              <mc:Choice xmlns:v="urn:schemas-microsoft-com:vml" Requires="v">
                <p:oleObj name="Equation" r:id="rId3" imgW="3035300" imgH="241300" progId="Equation.DSMT4">
                  <p:embed/>
                </p:oleObj>
              </mc:Choice>
              <mc:Fallback>
                <p:oleObj name="Equation" r:id="rId3" imgW="3035300" imgH="2413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348038" y="1989138"/>
                        <a:ext cx="5256212" cy="4111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6224" name="Rectangle 32"/>
          <p:cNvSpPr>
            <a:spLocks noChangeArrowheads="1"/>
          </p:cNvSpPr>
          <p:nvPr/>
        </p:nvSpPr>
        <p:spPr bwMode="auto">
          <a:xfrm>
            <a:off x="0" y="29098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4755" name="Object 33"/>
          <p:cNvGraphicFramePr>
            <a:graphicFrameLocks noChangeAspect="1"/>
          </p:cNvGraphicFramePr>
          <p:nvPr/>
        </p:nvGraphicFramePr>
        <p:xfrm>
          <a:off x="3132138" y="3141663"/>
          <a:ext cx="3384550" cy="2290762"/>
        </p:xfrm>
        <a:graphic>
          <a:graphicData uri="http://schemas.openxmlformats.org/presentationml/2006/ole">
            <mc:AlternateContent xmlns:mc="http://schemas.openxmlformats.org/markup-compatibility/2006">
              <mc:Choice xmlns:v="urn:schemas-microsoft-com:vml" Requires="v">
                <p:oleObj name="Equation" r:id="rId5" imgW="1536700" imgH="1041400" progId="Equation.DSMT4">
                  <p:embed/>
                </p:oleObj>
              </mc:Choice>
              <mc:Fallback>
                <p:oleObj name="Equation" r:id="rId5" imgW="1536700" imgH="10414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32138" y="3141663"/>
                        <a:ext cx="3384550" cy="2290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1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5188" name="Text Box 20"/>
          <p:cNvSpPr txBox="1">
            <a:spLocks noChangeArrowheads="1"/>
          </p:cNvSpPr>
          <p:nvPr/>
        </p:nvSpPr>
        <p:spPr bwMode="auto">
          <a:xfrm>
            <a:off x="1187450" y="1412875"/>
            <a:ext cx="686117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3.13</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设某离散闭环系统的特征方程为</a:t>
            </a:r>
          </a:p>
        </p:txBody>
      </p:sp>
      <p:sp>
        <p:nvSpPr>
          <p:cNvPr id="135189" name="Rectangle 21"/>
          <p:cNvSpPr>
            <a:spLocks noChangeArrowheads="1"/>
          </p:cNvSpPr>
          <p:nvPr/>
        </p:nvSpPr>
        <p:spPr bwMode="auto">
          <a:xfrm>
            <a:off x="20638" y="28622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5778" name="Object 22"/>
          <p:cNvGraphicFramePr>
            <a:graphicFrameLocks noChangeAspect="1"/>
          </p:cNvGraphicFramePr>
          <p:nvPr/>
        </p:nvGraphicFramePr>
        <p:xfrm>
          <a:off x="2000250" y="1968500"/>
          <a:ext cx="4824413" cy="536575"/>
        </p:xfrm>
        <a:graphic>
          <a:graphicData uri="http://schemas.openxmlformats.org/presentationml/2006/ole">
            <mc:AlternateContent xmlns:mc="http://schemas.openxmlformats.org/markup-compatibility/2006">
              <mc:Choice xmlns:v="urn:schemas-microsoft-com:vml" Requires="v">
                <p:oleObj name="Equation" r:id="rId3" imgW="2057400" imgH="228600" progId="Equation.DSMT4">
                  <p:embed/>
                </p:oleObj>
              </mc:Choice>
              <mc:Fallback>
                <p:oleObj name="Equation" r:id="rId3" imgW="2057400" imgH="2286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000250" y="1968500"/>
                        <a:ext cx="4824413" cy="5365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35191" name="Text Box 23"/>
          <p:cNvSpPr txBox="1">
            <a:spLocks noChangeArrowheads="1"/>
          </p:cNvSpPr>
          <p:nvPr/>
        </p:nvSpPr>
        <p:spPr bwMode="auto">
          <a:xfrm>
            <a:off x="1260475" y="2616200"/>
            <a:ext cx="72929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试用朱利稳定性准则，判定该系统是否稳定。</a:t>
            </a:r>
          </a:p>
        </p:txBody>
      </p:sp>
      <p:sp>
        <p:nvSpPr>
          <p:cNvPr id="135192" name="Text Box 24"/>
          <p:cNvSpPr txBox="1">
            <a:spLocks noChangeArrowheads="1"/>
          </p:cNvSpPr>
          <p:nvPr/>
        </p:nvSpPr>
        <p:spPr bwMode="auto">
          <a:xfrm>
            <a:off x="1260475" y="3263900"/>
            <a:ext cx="6069013" cy="457200"/>
          </a:xfrm>
          <a:prstGeom prst="rect">
            <a:avLst/>
          </a:prstGeom>
          <a:noFill/>
          <a:ln w="9525" algn="ctr">
            <a:noFill/>
            <a:miter lim="800000"/>
            <a:headEnd/>
            <a:tailEnd/>
          </a:ln>
          <a:effectLst/>
        </p:spPr>
        <p:txBody>
          <a:bodyPr>
            <a:spAutoFit/>
          </a:bodyPr>
          <a:lstStyle/>
          <a:p>
            <a:pPr>
              <a:defRPr/>
            </a:pPr>
            <a:r>
              <a:rPr kumimoji="0" lang="zh-CN" altLang="en-US" sz="2400" dirty="0">
                <a:solidFill>
                  <a:srgbClr val="0000FF"/>
                </a:solidFill>
                <a:effectLst>
                  <a:outerShdw blurRad="38100" dist="38100" dir="2700000" algn="tl">
                    <a:srgbClr val="C0C0C0"/>
                  </a:outerShdw>
                </a:effectLst>
              </a:rPr>
              <a:t>解：</a:t>
            </a:r>
            <a:r>
              <a:rPr kumimoji="0" lang="zh-CN" altLang="en-US" sz="2400" dirty="0">
                <a:effectLst>
                  <a:outerShdw blurRad="38100" dist="38100" dir="2700000" algn="tl">
                    <a:srgbClr val="C0C0C0"/>
                  </a:outerShdw>
                </a:effectLst>
              </a:rPr>
              <a:t>在上述条件下，朱利阵列为</a:t>
            </a:r>
          </a:p>
        </p:txBody>
      </p:sp>
      <p:pic>
        <p:nvPicPr>
          <p:cNvPr id="75784" name="Picture 25"/>
          <p:cNvPicPr>
            <a:picLocks noChangeAspect="1" noChangeArrowheads="1"/>
          </p:cNvPicPr>
          <p:nvPr/>
        </p:nvPicPr>
        <p:blipFill>
          <a:blip r:embed="rId5" cstate="print"/>
          <a:srcRect/>
          <a:stretch>
            <a:fillRect/>
          </a:stretch>
        </p:blipFill>
        <p:spPr bwMode="auto">
          <a:xfrm>
            <a:off x="1639888" y="3840163"/>
            <a:ext cx="6264275" cy="1747837"/>
          </a:xfrm>
          <a:prstGeom prst="rect">
            <a:avLst/>
          </a:prstGeom>
          <a:noFill/>
          <a:ln w="9525">
            <a:noFill/>
            <a:miter lim="800000"/>
            <a:headEnd/>
            <a:tailEnd/>
          </a:ln>
        </p:spPr>
      </p:pic>
    </p:spTree>
  </p:cSld>
  <p:clrMapOvr>
    <a:masterClrMapping/>
  </p:clrMapOvr>
  <p:transition>
    <p:push/>
  </p:transition>
</p:sld>
</file>

<file path=ppt/slides/slide11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34171" name="Text Box 27"/>
          <p:cNvSpPr txBox="1">
            <a:spLocks noChangeArrowheads="1"/>
          </p:cNvSpPr>
          <p:nvPr/>
        </p:nvSpPr>
        <p:spPr bwMode="auto">
          <a:xfrm>
            <a:off x="1023938" y="1844675"/>
            <a:ext cx="52038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最后一行计算如下：</a:t>
            </a:r>
          </a:p>
        </p:txBody>
      </p:sp>
      <p:sp>
        <p:nvSpPr>
          <p:cNvPr id="134172" name="Rectangle 28"/>
          <p:cNvSpPr>
            <a:spLocks noChangeArrowheads="1"/>
          </p:cNvSpPr>
          <p:nvPr/>
        </p:nvSpPr>
        <p:spPr bwMode="auto">
          <a:xfrm>
            <a:off x="0" y="27193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6802" name="Object 29"/>
          <p:cNvGraphicFramePr>
            <a:graphicFrameLocks noChangeAspect="1"/>
          </p:cNvGraphicFramePr>
          <p:nvPr/>
        </p:nvGraphicFramePr>
        <p:xfrm>
          <a:off x="2268538" y="2420938"/>
          <a:ext cx="3240087" cy="2806700"/>
        </p:xfrm>
        <a:graphic>
          <a:graphicData uri="http://schemas.openxmlformats.org/presentationml/2006/ole">
            <mc:AlternateContent xmlns:mc="http://schemas.openxmlformats.org/markup-compatibility/2006">
              <mc:Choice xmlns:v="urn:schemas-microsoft-com:vml" Requires="v">
                <p:oleObj name="Equation" r:id="rId3" imgW="1638300" imgH="1422400" progId="Equation.DSMT4">
                  <p:embed/>
                </p:oleObj>
              </mc:Choice>
              <mc:Fallback>
                <p:oleObj name="Equation" r:id="rId3" imgW="1638300" imgH="1422400" progId="Equation.DSMT4">
                  <p:embed/>
                  <p:pic>
                    <p:nvPicPr>
                      <p:cNvPr id="0" name="Picture 9"/>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268538" y="2420938"/>
                        <a:ext cx="3240087" cy="2806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1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5421" name="Text Box 13"/>
          <p:cNvSpPr txBox="1">
            <a:spLocks noChangeArrowheads="1"/>
          </p:cNvSpPr>
          <p:nvPr/>
        </p:nvSpPr>
        <p:spPr bwMode="auto">
          <a:xfrm>
            <a:off x="1116013" y="1412875"/>
            <a:ext cx="5781675" cy="457200"/>
          </a:xfrm>
          <a:prstGeom prst="rect">
            <a:avLst/>
          </a:prstGeom>
          <a:noFill/>
          <a:ln w="9525" algn="ctr">
            <a:noFill/>
            <a:miter lim="800000"/>
            <a:headEnd/>
            <a:tailEnd/>
          </a:ln>
          <a:effectLst/>
        </p:spPr>
        <p:txBody>
          <a:bodyPr>
            <a:spAutoFit/>
          </a:bodyPr>
          <a:lstStyle/>
          <a:p>
            <a:pPr>
              <a:defRPr/>
            </a:pPr>
            <a:r>
              <a:rPr kumimoji="0" lang="en-US" altLang="zh-CN" sz="2400">
                <a:effectLst>
                  <a:outerShdw blurRad="38100" dist="38100" dir="2700000" algn="tl">
                    <a:srgbClr val="C0C0C0"/>
                  </a:outerShdw>
                </a:effectLst>
              </a:rPr>
              <a:t>① </a:t>
            </a:r>
            <a:r>
              <a:rPr kumimoji="0" lang="zh-CN" altLang="en-US" sz="2400">
                <a:effectLst>
                  <a:outerShdw blurRad="38100" dist="38100" dir="2700000" algn="tl">
                    <a:srgbClr val="C0C0C0"/>
                  </a:outerShdw>
                </a:effectLst>
              </a:rPr>
              <a:t>条件 </a:t>
            </a:r>
            <a:r>
              <a:rPr kumimoji="0" lang="en-US" altLang="zh-CN" sz="2400" i="1">
                <a:effectLst>
                  <a:outerShdw blurRad="38100" dist="38100" dir="2700000" algn="tl">
                    <a:srgbClr val="C0C0C0"/>
                  </a:outerShdw>
                </a:effectLst>
              </a:rPr>
              <a:t>F</a:t>
            </a:r>
            <a:r>
              <a:rPr kumimoji="0" lang="en-US" altLang="zh-CN" sz="2400">
                <a:effectLst>
                  <a:outerShdw blurRad="38100" dist="38100" dir="2700000" algn="tl">
                    <a:srgbClr val="C0C0C0"/>
                  </a:outerShdw>
                </a:effectLst>
              </a:rPr>
              <a:t>(1)&gt;0 </a:t>
            </a:r>
            <a:r>
              <a:rPr kumimoji="0" lang="zh-CN" altLang="en-US" sz="2400">
                <a:effectLst>
                  <a:outerShdw blurRad="38100" dist="38100" dir="2700000" algn="tl">
                    <a:srgbClr val="C0C0C0"/>
                  </a:outerShdw>
                </a:effectLst>
              </a:rPr>
              <a:t>不满足，因为</a:t>
            </a:r>
          </a:p>
        </p:txBody>
      </p:sp>
      <p:graphicFrame>
        <p:nvGraphicFramePr>
          <p:cNvPr id="77826" name="Object 14"/>
          <p:cNvGraphicFramePr>
            <a:graphicFrameLocks noChangeAspect="1"/>
          </p:cNvGraphicFramePr>
          <p:nvPr/>
        </p:nvGraphicFramePr>
        <p:xfrm>
          <a:off x="1928813" y="1968500"/>
          <a:ext cx="5040312" cy="454025"/>
        </p:xfrm>
        <a:graphic>
          <a:graphicData uri="http://schemas.openxmlformats.org/presentationml/2006/ole">
            <mc:AlternateContent xmlns:mc="http://schemas.openxmlformats.org/markup-compatibility/2006">
              <mc:Choice xmlns:v="urn:schemas-microsoft-com:vml" Requires="v">
                <p:oleObj name="Equation" r:id="rId3" imgW="2222500" imgH="203200" progId="Equation.DSMT4">
                  <p:embed/>
                </p:oleObj>
              </mc:Choice>
              <mc:Fallback>
                <p:oleObj name="Equation" r:id="rId3" imgW="2222500" imgH="203200" progId="Equation.DSMT4">
                  <p:embed/>
                  <p:pic>
                    <p:nvPicPr>
                      <p:cNvPr id="0" name="Picture 51"/>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28813" y="1968500"/>
                        <a:ext cx="5040312" cy="454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23" name="Text Box 15"/>
          <p:cNvSpPr txBox="1">
            <a:spLocks noChangeArrowheads="1"/>
          </p:cNvSpPr>
          <p:nvPr/>
        </p:nvSpPr>
        <p:spPr bwMode="auto">
          <a:xfrm>
            <a:off x="1063625" y="2544763"/>
            <a:ext cx="6429375" cy="457200"/>
          </a:xfrm>
          <a:prstGeom prst="rect">
            <a:avLst/>
          </a:prstGeom>
          <a:noFill/>
          <a:ln w="9525" algn="ctr">
            <a:noFill/>
            <a:miter lim="800000"/>
            <a:headEnd/>
            <a:tailEnd/>
          </a:ln>
          <a:effectLst/>
        </p:spPr>
        <p:txBody>
          <a:bodyPr>
            <a:spAutoFit/>
          </a:bodyPr>
          <a:lstStyle/>
          <a:p>
            <a:pPr>
              <a:defRPr/>
            </a:pPr>
            <a:r>
              <a:rPr kumimoji="0" lang="en-US" altLang="zh-CN" sz="2400">
                <a:effectLst>
                  <a:outerShdw blurRad="38100" dist="38100" dir="2700000" algn="tl">
                    <a:srgbClr val="C0C0C0"/>
                  </a:outerShdw>
                </a:effectLst>
              </a:rPr>
              <a:t>② </a:t>
            </a:r>
            <a:r>
              <a:rPr kumimoji="0" lang="zh-CN" altLang="en-US" sz="2400">
                <a:effectLst>
                  <a:outerShdw blurRad="38100" dist="38100" dir="2700000" algn="tl">
                    <a:srgbClr val="C0C0C0"/>
                  </a:outerShdw>
                </a:effectLst>
              </a:rPr>
              <a:t>条件                           满足，因为</a:t>
            </a:r>
          </a:p>
        </p:txBody>
      </p:sp>
      <p:sp>
        <p:nvSpPr>
          <p:cNvPr id="145424" name="Rectangle 16"/>
          <p:cNvSpPr>
            <a:spLocks noChangeArrowheads="1"/>
          </p:cNvSpPr>
          <p:nvPr/>
        </p:nvSpPr>
        <p:spPr bwMode="auto">
          <a:xfrm>
            <a:off x="-123825" y="28622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7827" name="Object 17"/>
          <p:cNvGraphicFramePr>
            <a:graphicFrameLocks noChangeAspect="1"/>
          </p:cNvGraphicFramePr>
          <p:nvPr/>
        </p:nvGraphicFramePr>
        <p:xfrm>
          <a:off x="2216150" y="2544763"/>
          <a:ext cx="1873250" cy="431800"/>
        </p:xfrm>
        <a:graphic>
          <a:graphicData uri="http://schemas.openxmlformats.org/presentationml/2006/ole">
            <mc:AlternateContent xmlns:mc="http://schemas.openxmlformats.org/markup-compatibility/2006">
              <mc:Choice xmlns:v="urn:schemas-microsoft-com:vml" Requires="v">
                <p:oleObj name="Equation" r:id="rId5" imgW="990600" imgH="228600" progId="Equation.DSMT4">
                  <p:embed/>
                </p:oleObj>
              </mc:Choice>
              <mc:Fallback>
                <p:oleObj name="Equation" r:id="rId5" imgW="990600" imgH="228600" progId="Equation.DSMT4">
                  <p:embed/>
                  <p:pic>
                    <p:nvPicPr>
                      <p:cNvPr id="0" name="Picture 52"/>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16150" y="2544763"/>
                        <a:ext cx="1873250" cy="4318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26" name="Rectangle 18"/>
          <p:cNvSpPr>
            <a:spLocks noChangeArrowheads="1"/>
          </p:cNvSpPr>
          <p:nvPr/>
        </p:nvSpPr>
        <p:spPr bwMode="auto">
          <a:xfrm>
            <a:off x="-123825" y="28622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7828" name="Object 19"/>
          <p:cNvGraphicFramePr>
            <a:graphicFrameLocks noChangeAspect="1"/>
          </p:cNvGraphicFramePr>
          <p:nvPr/>
        </p:nvGraphicFramePr>
        <p:xfrm>
          <a:off x="1855788" y="3121025"/>
          <a:ext cx="5472112" cy="487363"/>
        </p:xfrm>
        <a:graphic>
          <a:graphicData uri="http://schemas.openxmlformats.org/presentationml/2006/ole">
            <mc:AlternateContent xmlns:mc="http://schemas.openxmlformats.org/markup-compatibility/2006">
              <mc:Choice xmlns:v="urn:schemas-microsoft-com:vml" Requires="v">
                <p:oleObj name="Equation" r:id="rId7" imgW="2565400" imgH="228600" progId="Equation.DSMT4">
                  <p:embed/>
                </p:oleObj>
              </mc:Choice>
              <mc:Fallback>
                <p:oleObj name="Equation" r:id="rId7" imgW="2565400" imgH="228600" progId="Equation.DSMT4">
                  <p:embed/>
                  <p:pic>
                    <p:nvPicPr>
                      <p:cNvPr id="0" name="Picture 53"/>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855788" y="3121025"/>
                        <a:ext cx="5472112" cy="487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28" name="Text Box 20"/>
          <p:cNvSpPr txBox="1">
            <a:spLocks noChangeArrowheads="1"/>
          </p:cNvSpPr>
          <p:nvPr/>
        </p:nvSpPr>
        <p:spPr bwMode="auto">
          <a:xfrm>
            <a:off x="1116013" y="3716338"/>
            <a:ext cx="4076700" cy="457200"/>
          </a:xfrm>
          <a:prstGeom prst="rect">
            <a:avLst/>
          </a:prstGeom>
          <a:noFill/>
          <a:ln w="9525" algn="ctr">
            <a:noFill/>
            <a:miter lim="800000"/>
            <a:headEnd/>
            <a:tailEnd/>
          </a:ln>
          <a:effectLst/>
        </p:spPr>
        <p:txBody>
          <a:bodyPr wrap="none">
            <a:spAutoFit/>
          </a:bodyPr>
          <a:lstStyle/>
          <a:p>
            <a:pPr>
              <a:defRPr/>
            </a:pPr>
            <a:r>
              <a:rPr kumimoji="0" lang="en-US" altLang="zh-CN" sz="2400">
                <a:effectLst>
                  <a:outerShdw blurRad="38100" dist="38100" dir="2700000" algn="tl">
                    <a:srgbClr val="C0C0C0"/>
                  </a:outerShdw>
                </a:effectLst>
              </a:rPr>
              <a:t>③                </a:t>
            </a:r>
            <a:r>
              <a:rPr kumimoji="0" lang="zh-CN" altLang="en-US" sz="2400">
                <a:effectLst>
                  <a:outerShdw blurRad="38100" dist="38100" dir="2700000" algn="tl">
                    <a:srgbClr val="C0C0C0"/>
                  </a:outerShdw>
                </a:effectLst>
              </a:rPr>
              <a:t>即                   满足</a:t>
            </a:r>
          </a:p>
        </p:txBody>
      </p:sp>
      <p:sp>
        <p:nvSpPr>
          <p:cNvPr id="145429" name="Rectangle 21"/>
          <p:cNvSpPr>
            <a:spLocks noChangeArrowheads="1"/>
          </p:cNvSpPr>
          <p:nvPr/>
        </p:nvSpPr>
        <p:spPr bwMode="auto">
          <a:xfrm>
            <a:off x="-123825" y="28479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7829" name="Object 22"/>
          <p:cNvGraphicFramePr>
            <a:graphicFrameLocks noChangeAspect="1"/>
          </p:cNvGraphicFramePr>
          <p:nvPr/>
        </p:nvGraphicFramePr>
        <p:xfrm>
          <a:off x="1639888" y="3697288"/>
          <a:ext cx="971550" cy="476250"/>
        </p:xfrm>
        <a:graphic>
          <a:graphicData uri="http://schemas.openxmlformats.org/presentationml/2006/ole">
            <mc:AlternateContent xmlns:mc="http://schemas.openxmlformats.org/markup-compatibility/2006">
              <mc:Choice xmlns:v="urn:schemas-microsoft-com:vml" Requires="v">
                <p:oleObj name="Equation" r:id="rId9" imgW="520474" imgH="253890" progId="Equation.DSMT4">
                  <p:embed/>
                </p:oleObj>
              </mc:Choice>
              <mc:Fallback>
                <p:oleObj name="Equation" r:id="rId9" imgW="520474" imgH="253890" progId="Equation.DSMT4">
                  <p:embed/>
                  <p:pic>
                    <p:nvPicPr>
                      <p:cNvPr id="0" name="Picture 54"/>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639888" y="3697288"/>
                        <a:ext cx="971550" cy="4762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31" name="Rectangle 23"/>
          <p:cNvSpPr>
            <a:spLocks noChangeArrowheads="1"/>
          </p:cNvSpPr>
          <p:nvPr/>
        </p:nvSpPr>
        <p:spPr bwMode="auto">
          <a:xfrm>
            <a:off x="-123825" y="28479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7830" name="Object 24"/>
          <p:cNvGraphicFramePr>
            <a:graphicFrameLocks noChangeAspect="1"/>
          </p:cNvGraphicFramePr>
          <p:nvPr/>
        </p:nvGraphicFramePr>
        <p:xfrm>
          <a:off x="3224213" y="3768725"/>
          <a:ext cx="1079500" cy="461963"/>
        </p:xfrm>
        <a:graphic>
          <a:graphicData uri="http://schemas.openxmlformats.org/presentationml/2006/ole">
            <mc:AlternateContent xmlns:mc="http://schemas.openxmlformats.org/markup-compatibility/2006">
              <mc:Choice xmlns:v="urn:schemas-microsoft-com:vml" Requires="v">
                <p:oleObj name="Equation" r:id="rId11" imgW="596641" imgH="253890" progId="Equation.DSMT4">
                  <p:embed/>
                </p:oleObj>
              </mc:Choice>
              <mc:Fallback>
                <p:oleObj name="Equation" r:id="rId11" imgW="596641" imgH="253890" progId="Equation.DSMT4">
                  <p:embed/>
                  <p:pic>
                    <p:nvPicPr>
                      <p:cNvPr id="0" name="Picture 55"/>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224213" y="3768725"/>
                        <a:ext cx="1079500" cy="4619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33" name="Text Box 25"/>
          <p:cNvSpPr txBox="1">
            <a:spLocks noChangeArrowheads="1"/>
          </p:cNvSpPr>
          <p:nvPr/>
        </p:nvSpPr>
        <p:spPr bwMode="auto">
          <a:xfrm>
            <a:off x="1116013" y="4221163"/>
            <a:ext cx="5203825" cy="457200"/>
          </a:xfrm>
          <a:prstGeom prst="rect">
            <a:avLst/>
          </a:prstGeom>
          <a:noFill/>
          <a:ln w="9525" algn="ctr">
            <a:noFill/>
            <a:miter lim="800000"/>
            <a:headEnd/>
            <a:tailEnd/>
          </a:ln>
          <a:effectLst/>
        </p:spPr>
        <p:txBody>
          <a:bodyPr>
            <a:spAutoFit/>
          </a:bodyPr>
          <a:lstStyle/>
          <a:p>
            <a:pPr>
              <a:defRPr/>
            </a:pPr>
            <a:r>
              <a:rPr kumimoji="0" lang="en-US" altLang="zh-CN" sz="2400">
                <a:effectLst>
                  <a:outerShdw blurRad="38100" dist="38100" dir="2700000" algn="tl">
                    <a:srgbClr val="C0C0C0"/>
                  </a:outerShdw>
                </a:effectLst>
              </a:rPr>
              <a:t>④                  </a:t>
            </a:r>
            <a:r>
              <a:rPr kumimoji="0" lang="zh-CN" altLang="en-US" sz="2400">
                <a:effectLst>
                  <a:outerShdw blurRad="38100" dist="38100" dir="2700000" algn="tl">
                    <a:srgbClr val="C0C0C0"/>
                  </a:outerShdw>
                </a:effectLst>
              </a:rPr>
              <a:t>不满足，因为 </a:t>
            </a:r>
          </a:p>
        </p:txBody>
      </p:sp>
      <p:sp>
        <p:nvSpPr>
          <p:cNvPr id="145434" name="Rectangle 26"/>
          <p:cNvSpPr>
            <a:spLocks noChangeArrowheads="1"/>
          </p:cNvSpPr>
          <p:nvPr/>
        </p:nvSpPr>
        <p:spPr bwMode="auto">
          <a:xfrm>
            <a:off x="20638" y="28479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7831" name="Object 27"/>
          <p:cNvGraphicFramePr>
            <a:graphicFrameLocks noChangeAspect="1"/>
          </p:cNvGraphicFramePr>
          <p:nvPr/>
        </p:nvGraphicFramePr>
        <p:xfrm>
          <a:off x="1639888" y="4271963"/>
          <a:ext cx="1081087" cy="422275"/>
        </p:xfrm>
        <a:graphic>
          <a:graphicData uri="http://schemas.openxmlformats.org/presentationml/2006/ole">
            <mc:AlternateContent xmlns:mc="http://schemas.openxmlformats.org/markup-compatibility/2006">
              <mc:Choice xmlns:v="urn:schemas-microsoft-com:vml" Requires="v">
                <p:oleObj name="Equation" r:id="rId13" imgW="660113" imgH="253890" progId="Equation.DSMT4">
                  <p:embed/>
                </p:oleObj>
              </mc:Choice>
              <mc:Fallback>
                <p:oleObj name="Equation" r:id="rId13" imgW="660113" imgH="253890" progId="Equation.DSMT4">
                  <p:embed/>
                  <p:pic>
                    <p:nvPicPr>
                      <p:cNvPr id="0" name="Picture 56"/>
                      <p:cNvPicPr>
                        <a:picLocks noChangeAspect="1" noChangeArrowheads="1"/>
                      </p:cNvPicPr>
                      <p:nvPr/>
                    </p:nvPicPr>
                    <p:blipFill>
                      <a:blip r:embed="rId14">
                        <a:extLst>
                          <a:ext uri="{28A0092B-C50C-407E-A947-70E740481C1C}">
                            <a14:useLocalDpi xmlns:a14="http://schemas.microsoft.com/office/drawing/2010/main" val="0"/>
                          </a:ext>
                        </a:extLst>
                      </a:blip>
                      <a:srcRect/>
                      <a:stretch>
                        <a:fillRect/>
                      </a:stretch>
                    </p:blipFill>
                    <p:spPr bwMode="auto">
                      <a:xfrm>
                        <a:off x="1639888" y="4271963"/>
                        <a:ext cx="1081087" cy="4222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36" name="Rectangle 28"/>
          <p:cNvSpPr>
            <a:spLocks noChangeArrowheads="1"/>
          </p:cNvSpPr>
          <p:nvPr/>
        </p:nvSpPr>
        <p:spPr bwMode="auto">
          <a:xfrm>
            <a:off x="20638" y="28622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77832" name="Object 29"/>
          <p:cNvGraphicFramePr>
            <a:graphicFrameLocks noChangeAspect="1"/>
          </p:cNvGraphicFramePr>
          <p:nvPr/>
        </p:nvGraphicFramePr>
        <p:xfrm>
          <a:off x="4879975" y="4200525"/>
          <a:ext cx="1873250" cy="463550"/>
        </p:xfrm>
        <a:graphic>
          <a:graphicData uri="http://schemas.openxmlformats.org/presentationml/2006/ole">
            <mc:AlternateContent xmlns:mc="http://schemas.openxmlformats.org/markup-compatibility/2006">
              <mc:Choice xmlns:v="urn:schemas-microsoft-com:vml" Requires="v">
                <p:oleObj name="Equation" r:id="rId15" imgW="927100" imgH="228600" progId="Equation.DSMT4">
                  <p:embed/>
                </p:oleObj>
              </mc:Choice>
              <mc:Fallback>
                <p:oleObj name="Equation" r:id="rId15" imgW="927100" imgH="228600" progId="Equation.DSMT4">
                  <p:embed/>
                  <p:pic>
                    <p:nvPicPr>
                      <p:cNvPr id="0" name="Picture 57"/>
                      <p:cNvPicPr>
                        <a:picLocks noChangeAspect="1" noChangeArrowheads="1"/>
                      </p:cNvPicPr>
                      <p:nvPr/>
                    </p:nvPicPr>
                    <p:blipFill>
                      <a:blip r:embed="rId16">
                        <a:extLst>
                          <a:ext uri="{28A0092B-C50C-407E-A947-70E740481C1C}">
                            <a14:useLocalDpi xmlns:a14="http://schemas.microsoft.com/office/drawing/2010/main" val="0"/>
                          </a:ext>
                        </a:extLst>
                      </a:blip>
                      <a:srcRect/>
                      <a:stretch>
                        <a:fillRect/>
                      </a:stretch>
                    </p:blipFill>
                    <p:spPr bwMode="auto">
                      <a:xfrm>
                        <a:off x="4879975" y="4200525"/>
                        <a:ext cx="1873250"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5438" name="Text Box 30"/>
          <p:cNvSpPr txBox="1">
            <a:spLocks noChangeArrowheads="1"/>
          </p:cNvSpPr>
          <p:nvPr/>
        </p:nvSpPr>
        <p:spPr bwMode="auto">
          <a:xfrm>
            <a:off x="1187450" y="5084763"/>
            <a:ext cx="57086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结论：系统是不稳定的。</a:t>
            </a:r>
          </a:p>
        </p:txBody>
      </p:sp>
    </p:spTree>
  </p:cSld>
  <p:clrMapOvr>
    <a:masterClrMapping/>
  </p:clrMapOvr>
  <p:transition>
    <p:comb/>
  </p:transition>
</p:sld>
</file>

<file path=ppt/slides/slide114.xml><?xml version="1.0" encoding="utf-8"?>
<p:sld xmlns:a="http://schemas.openxmlformats.org/drawingml/2006/main" xmlns:r="http://schemas.openxmlformats.org/officeDocument/2006/relationships" xmlns:p="http://schemas.openxmlformats.org/presentationml/2006/main" show="0">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4706" name="Text Box 18"/>
          <p:cNvSpPr txBox="1">
            <a:spLocks noChangeArrowheads="1"/>
          </p:cNvSpPr>
          <p:nvPr/>
        </p:nvSpPr>
        <p:spPr bwMode="auto">
          <a:xfrm>
            <a:off x="755650" y="1773238"/>
            <a:ext cx="7580313" cy="936347"/>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思考题：</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如图</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3.16</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所示控制系统，采样周期</a:t>
            </a:r>
            <a:r>
              <a:rPr kumimoji="0" lang="en-US" altLang="zh-CN" sz="2400" b="1" i="1"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T</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=1s</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，试确定闭环系统稳定时比例系数</a:t>
            </a:r>
            <a:r>
              <a:rPr kumimoji="0" lang="en-US" altLang="zh-CN" sz="2400" b="1" i="1"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K</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的取值范围。</a:t>
            </a:r>
          </a:p>
        </p:txBody>
      </p:sp>
      <p:pic>
        <p:nvPicPr>
          <p:cNvPr id="126979" name="Picture 19"/>
          <p:cNvPicPr>
            <a:picLocks noChangeAspect="1" noChangeArrowheads="1"/>
          </p:cNvPicPr>
          <p:nvPr/>
        </p:nvPicPr>
        <p:blipFill>
          <a:blip r:embed="rId3" cstate="print"/>
          <a:srcRect/>
          <a:stretch>
            <a:fillRect/>
          </a:stretch>
        </p:blipFill>
        <p:spPr bwMode="auto">
          <a:xfrm>
            <a:off x="467544" y="2928803"/>
            <a:ext cx="8352928" cy="1855788"/>
          </a:xfrm>
          <a:prstGeom prst="rect">
            <a:avLst/>
          </a:prstGeom>
          <a:noFill/>
          <a:ln w="9525">
            <a:noFill/>
            <a:miter lim="800000"/>
            <a:headEnd/>
            <a:tailEnd/>
          </a:ln>
        </p:spPr>
      </p:pic>
      <p:sp>
        <p:nvSpPr>
          <p:cNvPr id="114708" name="Text Box 20"/>
          <p:cNvSpPr txBox="1">
            <a:spLocks noChangeArrowheads="1"/>
          </p:cNvSpPr>
          <p:nvPr/>
        </p:nvSpPr>
        <p:spPr bwMode="auto">
          <a:xfrm>
            <a:off x="2967038" y="5010150"/>
            <a:ext cx="3248025" cy="396875"/>
          </a:xfrm>
          <a:prstGeom prst="rect">
            <a:avLst/>
          </a:prstGeom>
          <a:noFill/>
          <a:ln w="9525" algn="ctr">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图</a:t>
            </a:r>
            <a:r>
              <a:rPr kumimoji="0" lang="en-US" altLang="zh-CN"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3.16 </a:t>
            </a:r>
            <a:r>
              <a:rPr kumimoji="0" lang="zh-CN" altLang="en-US"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计算机控制系统结构</a:t>
            </a:r>
          </a:p>
        </p:txBody>
      </p:sp>
      <p:sp>
        <p:nvSpPr>
          <p:cNvPr id="3" name="矩形 2">
            <a:extLst>
              <a:ext uri="{FF2B5EF4-FFF2-40B4-BE49-F238E27FC236}">
                <a16:creationId xmlns:a16="http://schemas.microsoft.com/office/drawing/2014/main" id="{E30304A1-C7E6-827F-7859-5A2B264360C3}"/>
              </a:ext>
            </a:extLst>
          </p:cNvPr>
          <p:cNvSpPr/>
          <p:nvPr/>
        </p:nvSpPr>
        <p:spPr bwMode="auto">
          <a:xfrm>
            <a:off x="6516216" y="3140968"/>
            <a:ext cx="863600" cy="720080"/>
          </a:xfrm>
          <a:prstGeom prst="rect">
            <a:avLst/>
          </a:prstGeom>
          <a:ln>
            <a:headEnd type="none" w="med" len="med"/>
            <a:tailEnd type="none" w="med" len="med"/>
          </a:ln>
        </p:spPr>
        <p:style>
          <a:lnRef idx="2">
            <a:schemeClr val="accent3"/>
          </a:lnRef>
          <a:fillRef idx="1">
            <a:schemeClr val="lt1"/>
          </a:fillRef>
          <a:effectRef idx="0">
            <a:schemeClr val="accent3"/>
          </a:effectRef>
          <a:fontRef idx="minor">
            <a:schemeClr val="dk1"/>
          </a:fontRef>
        </p:style>
        <p:txBody>
          <a:bodyPr vert="horz" wrap="square" lIns="91440" tIns="45720" rIns="91440" bIns="45720" numCol="1" rtlCol="0" anchor="t" anchorCtr="0" compatLnSpc="1">
            <a:prstTxWarp prst="textNoShape">
              <a:avLst/>
            </a:prstTxWarp>
          </a:bodyPr>
          <a:lstStyle/>
          <a:p>
            <a:pPr marL="0" marR="0" indent="0" algn="l" defTabSz="914400" rtl="0" eaLnBrk="1" fontAlgn="base" latinLnBrk="0" hangingPunct="1">
              <a:lnSpc>
                <a:spcPct val="100000"/>
              </a:lnSpc>
              <a:spcBef>
                <a:spcPct val="0"/>
              </a:spcBef>
              <a:spcAft>
                <a:spcPct val="0"/>
              </a:spcAft>
              <a:buClrTx/>
              <a:buSzTx/>
              <a:buFontTx/>
              <a:buNone/>
              <a:tabLst/>
            </a:pPr>
            <a:endParaRPr kumimoji="1" lang="zh-CN" altLang="en-US" sz="2000" b="1" i="0" u="none" strike="noStrike" cap="none" normalizeH="0" baseline="0">
              <a:ln>
                <a:noFill/>
              </a:ln>
              <a:solidFill>
                <a:schemeClr val="bg1"/>
              </a:solidFill>
              <a:effectLst>
                <a:outerShdw blurRad="38100" dist="38100" dir="2700000" algn="tl">
                  <a:srgbClr val="000000">
                    <a:alpha val="43137"/>
                  </a:srgbClr>
                </a:outerShdw>
              </a:effectLst>
              <a:latin typeface="Times New Roman" pitchFamily="18" charset="0"/>
              <a:ea typeface="宋体" pitchFamily="2" charset="-122"/>
            </a:endParaRPr>
          </a:p>
        </p:txBody>
      </p:sp>
      <p:graphicFrame>
        <p:nvGraphicFramePr>
          <p:cNvPr id="2" name="对象 1">
            <a:extLst>
              <a:ext uri="{FF2B5EF4-FFF2-40B4-BE49-F238E27FC236}">
                <a16:creationId xmlns:a16="http://schemas.microsoft.com/office/drawing/2014/main" id="{9D763CD2-8D9E-9AD3-0843-6CEFECD264AB}"/>
              </a:ext>
            </a:extLst>
          </p:cNvPr>
          <p:cNvGraphicFramePr>
            <a:graphicFrameLocks noChangeAspect="1"/>
          </p:cNvGraphicFramePr>
          <p:nvPr>
            <p:extLst>
              <p:ext uri="{D42A27DB-BD31-4B8C-83A1-F6EECF244321}">
                <p14:modId xmlns:p14="http://schemas.microsoft.com/office/powerpoint/2010/main" val="1340514"/>
              </p:ext>
            </p:extLst>
          </p:nvPr>
        </p:nvGraphicFramePr>
        <p:xfrm>
          <a:off x="6503988" y="3224213"/>
          <a:ext cx="948332" cy="574675"/>
        </p:xfrm>
        <a:graphic>
          <a:graphicData uri="http://schemas.openxmlformats.org/presentationml/2006/ole">
            <mc:AlternateContent xmlns:mc="http://schemas.openxmlformats.org/markup-compatibility/2006">
              <mc:Choice xmlns:v="urn:schemas-microsoft-com:vml" Requires="v">
                <p:oleObj name="Equation" r:id="rId4" imgW="901440" imgH="406080" progId="Equation.DSMT4">
                  <p:embed/>
                </p:oleObj>
              </mc:Choice>
              <mc:Fallback>
                <p:oleObj name="Equation" r:id="rId4" imgW="901440" imgH="406080" progId="Equation.DSMT4">
                  <p:embed/>
                  <p:pic>
                    <p:nvPicPr>
                      <p:cNvPr id="0" name=""/>
                      <p:cNvPicPr/>
                      <p:nvPr/>
                    </p:nvPicPr>
                    <p:blipFill>
                      <a:blip r:embed="rId5"/>
                      <a:stretch>
                        <a:fillRect/>
                      </a:stretch>
                    </p:blipFill>
                    <p:spPr>
                      <a:xfrm>
                        <a:off x="6503988" y="3224213"/>
                        <a:ext cx="948332" cy="574675"/>
                      </a:xfrm>
                      <a:prstGeom prst="rect">
                        <a:avLst/>
                      </a:prstGeom>
                    </p:spPr>
                  </p:pic>
                </p:oleObj>
              </mc:Fallback>
            </mc:AlternateContent>
          </a:graphicData>
        </a:graphic>
      </p:graphicFrame>
    </p:spTree>
    <p:extLst>
      <p:ext uri="{BB962C8B-B14F-4D97-AF65-F5344CB8AC3E}">
        <p14:creationId xmlns:p14="http://schemas.microsoft.com/office/powerpoint/2010/main" val="2025157267"/>
      </p:ext>
    </p:extLst>
  </p:cSld>
  <p:clrMapOvr>
    <a:masterClrMapping/>
  </p:clrMapOvr>
  <p:transition>
    <p:cover dir="u"/>
  </p:transition>
</p:sld>
</file>

<file path=ppt/slides/slide115.xml><?xml version="1.0" encoding="utf-8"?>
<p:sld xmlns:a="http://schemas.openxmlformats.org/drawingml/2006/main" xmlns:r="http://schemas.openxmlformats.org/officeDocument/2006/relationships" xmlns:p="http://schemas.openxmlformats.org/presentationml/2006/main" show="0">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4706" name="Text Box 18"/>
          <p:cNvSpPr txBox="1">
            <a:spLocks noChangeArrowheads="1"/>
          </p:cNvSpPr>
          <p:nvPr/>
        </p:nvSpPr>
        <p:spPr bwMode="auto">
          <a:xfrm>
            <a:off x="611560" y="1172962"/>
            <a:ext cx="7580313" cy="493148"/>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解：</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系统的离散化等效被控对象为</a:t>
            </a:r>
          </a:p>
        </p:txBody>
      </p:sp>
      <p:graphicFrame>
        <p:nvGraphicFramePr>
          <p:cNvPr id="4" name="Object 535">
            <a:extLst>
              <a:ext uri="{FF2B5EF4-FFF2-40B4-BE49-F238E27FC236}">
                <a16:creationId xmlns:a16="http://schemas.microsoft.com/office/drawing/2014/main" id="{6FD8AD01-757C-3347-1701-FD4276353013}"/>
              </a:ext>
            </a:extLst>
          </p:cNvPr>
          <p:cNvGraphicFramePr>
            <a:graphicFrameLocks noChangeAspect="1"/>
          </p:cNvGraphicFramePr>
          <p:nvPr>
            <p:extLst>
              <p:ext uri="{D42A27DB-BD31-4B8C-83A1-F6EECF244321}">
                <p14:modId xmlns:p14="http://schemas.microsoft.com/office/powerpoint/2010/main" val="3319232590"/>
              </p:ext>
            </p:extLst>
          </p:nvPr>
        </p:nvGraphicFramePr>
        <p:xfrm>
          <a:off x="1508498" y="1820613"/>
          <a:ext cx="5439692" cy="816134"/>
        </p:xfrm>
        <a:graphic>
          <a:graphicData uri="http://schemas.openxmlformats.org/presentationml/2006/ole">
            <mc:AlternateContent xmlns:mc="http://schemas.openxmlformats.org/markup-compatibility/2006">
              <mc:Choice xmlns:v="urn:schemas-microsoft-com:vml" Requires="v">
                <p:oleObj name="Equation" r:id="rId3" imgW="2311200" imgH="507960" progId="Equation.DSMT4">
                  <p:embed/>
                </p:oleObj>
              </mc:Choice>
              <mc:Fallback>
                <p:oleObj name="Equation" r:id="rId3" imgW="2311200" imgH="507960" progId="Equation.DSMT4">
                  <p:embed/>
                  <p:pic>
                    <p:nvPicPr>
                      <p:cNvPr id="380970" name="Object 535">
                        <a:extLst>
                          <a:ext uri="{FF2B5EF4-FFF2-40B4-BE49-F238E27FC236}">
                            <a16:creationId xmlns:a16="http://schemas.microsoft.com/office/drawing/2014/main" id="{F5760F84-518A-2FD6-DD74-2CAE40124013}"/>
                          </a:ext>
                        </a:extLst>
                      </p:cNvPr>
                      <p:cNvPicPr>
                        <a:picLocks noChangeAspect="1" noChangeArrowheads="1"/>
                      </p:cNvPicPr>
                      <p:nvPr/>
                    </p:nvPicPr>
                    <p:blipFill>
                      <a:blip r:embed="rId4"/>
                      <a:srcRect/>
                      <a:stretch>
                        <a:fillRect/>
                      </a:stretch>
                    </p:blipFill>
                    <p:spPr bwMode="auto">
                      <a:xfrm>
                        <a:off x="1508498" y="1820613"/>
                        <a:ext cx="5439692" cy="816134"/>
                      </a:xfrm>
                      <a:prstGeom prst="rect">
                        <a:avLst/>
                      </a:prstGeom>
                      <a:noFill/>
                      <a:ln>
                        <a:noFill/>
                      </a:ln>
                    </p:spPr>
                  </p:pic>
                </p:oleObj>
              </mc:Fallback>
            </mc:AlternateContent>
          </a:graphicData>
        </a:graphic>
      </p:graphicFrame>
      <p:graphicFrame>
        <p:nvGraphicFramePr>
          <p:cNvPr id="5" name="对象 4">
            <a:extLst>
              <a:ext uri="{FF2B5EF4-FFF2-40B4-BE49-F238E27FC236}">
                <a16:creationId xmlns:a16="http://schemas.microsoft.com/office/drawing/2014/main" id="{9630C7C6-CADC-0D2F-6199-AA77535D9319}"/>
              </a:ext>
            </a:extLst>
          </p:cNvPr>
          <p:cNvGraphicFramePr>
            <a:graphicFrameLocks noChangeAspect="1"/>
          </p:cNvGraphicFramePr>
          <p:nvPr>
            <p:extLst>
              <p:ext uri="{D42A27DB-BD31-4B8C-83A1-F6EECF244321}">
                <p14:modId xmlns:p14="http://schemas.microsoft.com/office/powerpoint/2010/main" val="4015471338"/>
              </p:ext>
            </p:extLst>
          </p:nvPr>
        </p:nvGraphicFramePr>
        <p:xfrm>
          <a:off x="2483695" y="2737604"/>
          <a:ext cx="3513113" cy="720079"/>
        </p:xfrm>
        <a:graphic>
          <a:graphicData uri="http://schemas.openxmlformats.org/presentationml/2006/ole">
            <mc:AlternateContent xmlns:mc="http://schemas.openxmlformats.org/markup-compatibility/2006">
              <mc:Choice xmlns:v="urn:schemas-microsoft-com:vml" Requires="v">
                <p:oleObj name="Equation" r:id="rId5" imgW="2044440" imgH="419040" progId="Equation.DSMT4">
                  <p:embed/>
                </p:oleObj>
              </mc:Choice>
              <mc:Fallback>
                <p:oleObj name="Equation" r:id="rId5" imgW="2044440" imgH="419040" progId="Equation.DSMT4">
                  <p:embed/>
                  <p:pic>
                    <p:nvPicPr>
                      <p:cNvPr id="0" name=""/>
                      <p:cNvPicPr/>
                      <p:nvPr/>
                    </p:nvPicPr>
                    <p:blipFill>
                      <a:blip r:embed="rId6"/>
                      <a:stretch>
                        <a:fillRect/>
                      </a:stretch>
                    </p:blipFill>
                    <p:spPr>
                      <a:xfrm>
                        <a:off x="2483695" y="2737604"/>
                        <a:ext cx="3513113" cy="720079"/>
                      </a:xfrm>
                      <a:prstGeom prst="rect">
                        <a:avLst/>
                      </a:prstGeom>
                    </p:spPr>
                  </p:pic>
                </p:oleObj>
              </mc:Fallback>
            </mc:AlternateContent>
          </a:graphicData>
        </a:graphic>
      </p:graphicFrame>
      <p:sp>
        <p:nvSpPr>
          <p:cNvPr id="6" name="Text Box 18">
            <a:extLst>
              <a:ext uri="{FF2B5EF4-FFF2-40B4-BE49-F238E27FC236}">
                <a16:creationId xmlns:a16="http://schemas.microsoft.com/office/drawing/2014/main" id="{2B7A149A-B438-728A-2846-A84E1A6B9F54}"/>
              </a:ext>
            </a:extLst>
          </p:cNvPr>
          <p:cNvSpPr txBox="1">
            <a:spLocks noChangeArrowheads="1"/>
          </p:cNvSpPr>
          <p:nvPr/>
        </p:nvSpPr>
        <p:spPr bwMode="auto">
          <a:xfrm>
            <a:off x="568399" y="3742380"/>
            <a:ext cx="4968552" cy="493148"/>
          </a:xfrm>
          <a:prstGeom prst="rect">
            <a:avLst/>
          </a:prstGeom>
          <a:noFill/>
          <a:ln w="9525" algn="ctr">
            <a:noFill/>
            <a:miter lim="800000"/>
            <a:headEnd/>
            <a:tailEnd/>
          </a:ln>
          <a:effec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闭环特征方程：</a:t>
            </a:r>
          </a:p>
        </p:txBody>
      </p:sp>
      <p:graphicFrame>
        <p:nvGraphicFramePr>
          <p:cNvPr id="7" name="对象 6">
            <a:extLst>
              <a:ext uri="{FF2B5EF4-FFF2-40B4-BE49-F238E27FC236}">
                <a16:creationId xmlns:a16="http://schemas.microsoft.com/office/drawing/2014/main" id="{AB016A21-AECE-543A-A59F-99DF52CECD09}"/>
              </a:ext>
            </a:extLst>
          </p:cNvPr>
          <p:cNvGraphicFramePr>
            <a:graphicFrameLocks noChangeAspect="1"/>
          </p:cNvGraphicFramePr>
          <p:nvPr>
            <p:extLst>
              <p:ext uri="{D42A27DB-BD31-4B8C-83A1-F6EECF244321}">
                <p14:modId xmlns:p14="http://schemas.microsoft.com/office/powerpoint/2010/main" val="402582483"/>
              </p:ext>
            </p:extLst>
          </p:nvPr>
        </p:nvGraphicFramePr>
        <p:xfrm>
          <a:off x="3139410" y="3703658"/>
          <a:ext cx="4968552" cy="629000"/>
        </p:xfrm>
        <a:graphic>
          <a:graphicData uri="http://schemas.openxmlformats.org/presentationml/2006/ole">
            <mc:AlternateContent xmlns:mc="http://schemas.openxmlformats.org/markup-compatibility/2006">
              <mc:Choice xmlns:v="urn:schemas-microsoft-com:vml" Requires="v">
                <p:oleObj name="Equation" r:id="rId7" imgW="3314520" imgH="419040" progId="Equation.DSMT4">
                  <p:embed/>
                </p:oleObj>
              </mc:Choice>
              <mc:Fallback>
                <p:oleObj name="Equation" r:id="rId7" imgW="3314520" imgH="419040" progId="Equation.DSMT4">
                  <p:embed/>
                  <p:pic>
                    <p:nvPicPr>
                      <p:cNvPr id="0" name=""/>
                      <p:cNvPicPr/>
                      <p:nvPr/>
                    </p:nvPicPr>
                    <p:blipFill>
                      <a:blip r:embed="rId8"/>
                      <a:stretch>
                        <a:fillRect/>
                      </a:stretch>
                    </p:blipFill>
                    <p:spPr>
                      <a:xfrm>
                        <a:off x="3139410" y="3703658"/>
                        <a:ext cx="4968552" cy="629000"/>
                      </a:xfrm>
                      <a:prstGeom prst="rect">
                        <a:avLst/>
                      </a:prstGeom>
                    </p:spPr>
                  </p:pic>
                </p:oleObj>
              </mc:Fallback>
            </mc:AlternateContent>
          </a:graphicData>
        </a:graphic>
      </p:graphicFrame>
      <p:graphicFrame>
        <p:nvGraphicFramePr>
          <p:cNvPr id="8" name="对象 7">
            <a:extLst>
              <a:ext uri="{FF2B5EF4-FFF2-40B4-BE49-F238E27FC236}">
                <a16:creationId xmlns:a16="http://schemas.microsoft.com/office/drawing/2014/main" id="{6C148CCC-4054-628B-F927-0C8CDCA29E1E}"/>
              </a:ext>
            </a:extLst>
          </p:cNvPr>
          <p:cNvGraphicFramePr>
            <a:graphicFrameLocks noChangeAspect="1"/>
          </p:cNvGraphicFramePr>
          <p:nvPr>
            <p:extLst>
              <p:ext uri="{D42A27DB-BD31-4B8C-83A1-F6EECF244321}">
                <p14:modId xmlns:p14="http://schemas.microsoft.com/office/powerpoint/2010/main" val="319720955"/>
              </p:ext>
            </p:extLst>
          </p:nvPr>
        </p:nvGraphicFramePr>
        <p:xfrm>
          <a:off x="1979712" y="4670930"/>
          <a:ext cx="7066325" cy="413994"/>
        </p:xfrm>
        <a:graphic>
          <a:graphicData uri="http://schemas.openxmlformats.org/presentationml/2006/ole">
            <mc:AlternateContent xmlns:mc="http://schemas.openxmlformats.org/markup-compatibility/2006">
              <mc:Choice xmlns:v="urn:schemas-microsoft-com:vml" Requires="v">
                <p:oleObj name="Equation" r:id="rId9" imgW="5597698" imgH="286570" progId="Equation.DSMT4">
                  <p:embed/>
                </p:oleObj>
              </mc:Choice>
              <mc:Fallback>
                <p:oleObj name="Equation" r:id="rId9" imgW="5597698" imgH="286570" progId="Equation.DSMT4">
                  <p:embed/>
                  <p:pic>
                    <p:nvPicPr>
                      <p:cNvPr id="0" name=""/>
                      <p:cNvPicPr/>
                      <p:nvPr/>
                    </p:nvPicPr>
                    <p:blipFill>
                      <a:blip r:embed="rId10"/>
                      <a:stretch>
                        <a:fillRect/>
                      </a:stretch>
                    </p:blipFill>
                    <p:spPr>
                      <a:xfrm>
                        <a:off x="1979712" y="4670930"/>
                        <a:ext cx="7066325" cy="413994"/>
                      </a:xfrm>
                      <a:prstGeom prst="rect">
                        <a:avLst/>
                      </a:prstGeom>
                    </p:spPr>
                  </p:pic>
                </p:oleObj>
              </mc:Fallback>
            </mc:AlternateContent>
          </a:graphicData>
        </a:graphic>
      </p:graphicFrame>
      <p:sp>
        <p:nvSpPr>
          <p:cNvPr id="9" name="Text Box 18">
            <a:extLst>
              <a:ext uri="{FF2B5EF4-FFF2-40B4-BE49-F238E27FC236}">
                <a16:creationId xmlns:a16="http://schemas.microsoft.com/office/drawing/2014/main" id="{744BC7FA-D7EA-550D-F6A9-CC7A993B484B}"/>
              </a:ext>
            </a:extLst>
          </p:cNvPr>
          <p:cNvSpPr txBox="1">
            <a:spLocks noChangeArrowheads="1"/>
          </p:cNvSpPr>
          <p:nvPr/>
        </p:nvSpPr>
        <p:spPr bwMode="auto">
          <a:xfrm>
            <a:off x="611560" y="4569010"/>
            <a:ext cx="2079847" cy="493148"/>
          </a:xfrm>
          <a:prstGeom prst="rect">
            <a:avLst/>
          </a:prstGeom>
          <a:noFill/>
          <a:ln w="9525" algn="ctr">
            <a:noFill/>
            <a:miter lim="800000"/>
            <a:headEnd/>
            <a:tailEnd/>
          </a:ln>
          <a:effec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整理得：</a:t>
            </a:r>
          </a:p>
        </p:txBody>
      </p:sp>
    </p:spTree>
    <p:extLst>
      <p:ext uri="{BB962C8B-B14F-4D97-AF65-F5344CB8AC3E}">
        <p14:creationId xmlns:p14="http://schemas.microsoft.com/office/powerpoint/2010/main" val="3133091388"/>
      </p:ext>
    </p:extLst>
  </p:cSld>
  <p:clrMapOvr>
    <a:masterClrMapping/>
  </p:clrMapOvr>
  <p:transition>
    <p:cover dir="u"/>
  </p:transition>
</p:sld>
</file>

<file path=ppt/slides/slide116.xml><?xml version="1.0" encoding="utf-8"?>
<p:sld xmlns:a="http://schemas.openxmlformats.org/drawingml/2006/main" xmlns:r="http://schemas.openxmlformats.org/officeDocument/2006/relationships" xmlns:p="http://schemas.openxmlformats.org/presentationml/2006/main" show="0">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8" name="对象 7">
            <a:extLst>
              <a:ext uri="{FF2B5EF4-FFF2-40B4-BE49-F238E27FC236}">
                <a16:creationId xmlns:a16="http://schemas.microsoft.com/office/drawing/2014/main" id="{6C148CCC-4054-628B-F927-0C8CDCA29E1E}"/>
              </a:ext>
            </a:extLst>
          </p:cNvPr>
          <p:cNvGraphicFramePr>
            <a:graphicFrameLocks noChangeAspect="1"/>
          </p:cNvGraphicFramePr>
          <p:nvPr>
            <p:extLst>
              <p:ext uri="{D42A27DB-BD31-4B8C-83A1-F6EECF244321}">
                <p14:modId xmlns:p14="http://schemas.microsoft.com/office/powerpoint/2010/main" val="151690771"/>
              </p:ext>
            </p:extLst>
          </p:nvPr>
        </p:nvGraphicFramePr>
        <p:xfrm>
          <a:off x="1038837" y="1196752"/>
          <a:ext cx="7066325" cy="413994"/>
        </p:xfrm>
        <a:graphic>
          <a:graphicData uri="http://schemas.openxmlformats.org/presentationml/2006/ole">
            <mc:AlternateContent xmlns:mc="http://schemas.openxmlformats.org/markup-compatibility/2006">
              <mc:Choice xmlns:v="urn:schemas-microsoft-com:vml" Requires="v">
                <p:oleObj name="Equation" r:id="rId3" imgW="5597698" imgH="286570" progId="Equation.DSMT4">
                  <p:embed/>
                </p:oleObj>
              </mc:Choice>
              <mc:Fallback>
                <p:oleObj name="Equation" r:id="rId3" imgW="5597698" imgH="286570" progId="Equation.DSMT4">
                  <p:embed/>
                  <p:pic>
                    <p:nvPicPr>
                      <p:cNvPr id="8" name="对象 7">
                        <a:extLst>
                          <a:ext uri="{FF2B5EF4-FFF2-40B4-BE49-F238E27FC236}">
                            <a16:creationId xmlns:a16="http://schemas.microsoft.com/office/drawing/2014/main" id="{6C148CCC-4054-628B-F927-0C8CDCA29E1E}"/>
                          </a:ext>
                        </a:extLst>
                      </p:cNvPr>
                      <p:cNvPicPr/>
                      <p:nvPr/>
                    </p:nvPicPr>
                    <p:blipFill>
                      <a:blip r:embed="rId4"/>
                      <a:stretch>
                        <a:fillRect/>
                      </a:stretch>
                    </p:blipFill>
                    <p:spPr>
                      <a:xfrm>
                        <a:off x="1038837" y="1196752"/>
                        <a:ext cx="7066325" cy="413994"/>
                      </a:xfrm>
                      <a:prstGeom prst="rect">
                        <a:avLst/>
                      </a:prstGeom>
                    </p:spPr>
                  </p:pic>
                </p:oleObj>
              </mc:Fallback>
            </mc:AlternateContent>
          </a:graphicData>
        </a:graphic>
      </p:graphicFrame>
      <p:sp>
        <p:nvSpPr>
          <p:cNvPr id="9" name="Text Box 18">
            <a:extLst>
              <a:ext uri="{FF2B5EF4-FFF2-40B4-BE49-F238E27FC236}">
                <a16:creationId xmlns:a16="http://schemas.microsoft.com/office/drawing/2014/main" id="{744BC7FA-D7EA-550D-F6A9-CC7A993B484B}"/>
              </a:ext>
            </a:extLst>
          </p:cNvPr>
          <p:cNvSpPr txBox="1">
            <a:spLocks noChangeArrowheads="1"/>
          </p:cNvSpPr>
          <p:nvPr/>
        </p:nvSpPr>
        <p:spPr bwMode="auto">
          <a:xfrm>
            <a:off x="539552" y="1556792"/>
            <a:ext cx="2079847" cy="493148"/>
          </a:xfrm>
          <a:prstGeom prst="rect">
            <a:avLst/>
          </a:prstGeom>
          <a:noFill/>
          <a:ln w="9525" algn="ctr">
            <a:noFill/>
            <a:miter lim="800000"/>
            <a:headEnd/>
            <a:tailEnd/>
          </a:ln>
          <a:effectLst/>
        </p:spPr>
        <p:txBody>
          <a:bodyPr wrap="square">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18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整理得</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a:t>
            </a:r>
          </a:p>
        </p:txBody>
      </p:sp>
      <p:graphicFrame>
        <p:nvGraphicFramePr>
          <p:cNvPr id="2" name="对象 1">
            <a:extLst>
              <a:ext uri="{FF2B5EF4-FFF2-40B4-BE49-F238E27FC236}">
                <a16:creationId xmlns:a16="http://schemas.microsoft.com/office/drawing/2014/main" id="{4E907DBD-DE50-263F-F365-D78725E7BF31}"/>
              </a:ext>
            </a:extLst>
          </p:cNvPr>
          <p:cNvGraphicFramePr>
            <a:graphicFrameLocks noChangeAspect="1"/>
          </p:cNvGraphicFramePr>
          <p:nvPr>
            <p:extLst>
              <p:ext uri="{D42A27DB-BD31-4B8C-83A1-F6EECF244321}">
                <p14:modId xmlns:p14="http://schemas.microsoft.com/office/powerpoint/2010/main" val="963305182"/>
              </p:ext>
            </p:extLst>
          </p:nvPr>
        </p:nvGraphicFramePr>
        <p:xfrm>
          <a:off x="611560" y="2226286"/>
          <a:ext cx="3499081" cy="1944216"/>
        </p:xfrm>
        <a:graphic>
          <a:graphicData uri="http://schemas.openxmlformats.org/presentationml/2006/ole">
            <mc:AlternateContent xmlns:mc="http://schemas.openxmlformats.org/markup-compatibility/2006">
              <mc:Choice xmlns:v="urn:schemas-microsoft-com:vml" Requires="v">
                <p:oleObj name="Equation" r:id="rId5" imgW="2182483" imgH="1213244" progId="Equation.DSMT4">
                  <p:embed/>
                </p:oleObj>
              </mc:Choice>
              <mc:Fallback>
                <p:oleObj name="Equation" r:id="rId5" imgW="2182483" imgH="1213244" progId="Equation.DSMT4">
                  <p:embed/>
                  <p:pic>
                    <p:nvPicPr>
                      <p:cNvPr id="0" name=""/>
                      <p:cNvPicPr/>
                      <p:nvPr/>
                    </p:nvPicPr>
                    <p:blipFill>
                      <a:blip r:embed="rId6"/>
                      <a:stretch>
                        <a:fillRect/>
                      </a:stretch>
                    </p:blipFill>
                    <p:spPr>
                      <a:xfrm>
                        <a:off x="611560" y="2226286"/>
                        <a:ext cx="3499081" cy="1944216"/>
                      </a:xfrm>
                      <a:prstGeom prst="rect">
                        <a:avLst/>
                      </a:prstGeom>
                    </p:spPr>
                  </p:pic>
                </p:oleObj>
              </mc:Fallback>
            </mc:AlternateContent>
          </a:graphicData>
        </a:graphic>
      </p:graphicFrame>
      <p:graphicFrame>
        <p:nvGraphicFramePr>
          <p:cNvPr id="3" name="对象 2">
            <a:extLst>
              <a:ext uri="{FF2B5EF4-FFF2-40B4-BE49-F238E27FC236}">
                <a16:creationId xmlns:a16="http://schemas.microsoft.com/office/drawing/2014/main" id="{16E75116-896A-EEDE-BD7B-FC0C119F9938}"/>
              </a:ext>
            </a:extLst>
          </p:cNvPr>
          <p:cNvGraphicFramePr>
            <a:graphicFrameLocks noChangeAspect="1"/>
          </p:cNvGraphicFramePr>
          <p:nvPr>
            <p:extLst>
              <p:ext uri="{D42A27DB-BD31-4B8C-83A1-F6EECF244321}">
                <p14:modId xmlns:p14="http://schemas.microsoft.com/office/powerpoint/2010/main" val="984281275"/>
              </p:ext>
            </p:extLst>
          </p:nvPr>
        </p:nvGraphicFramePr>
        <p:xfrm>
          <a:off x="4571999" y="3270506"/>
          <a:ext cx="3746774" cy="270082"/>
        </p:xfrm>
        <a:graphic>
          <a:graphicData uri="http://schemas.openxmlformats.org/presentationml/2006/ole">
            <mc:AlternateContent xmlns:mc="http://schemas.openxmlformats.org/markup-compatibility/2006">
              <mc:Choice xmlns:v="urn:schemas-microsoft-com:vml" Requires="v">
                <p:oleObj name="Equation" r:id="rId7" imgW="2421901" imgH="175326" progId="Equation.DSMT4">
                  <p:embed/>
                </p:oleObj>
              </mc:Choice>
              <mc:Fallback>
                <p:oleObj name="Equation" r:id="rId7" imgW="2421901" imgH="175326" progId="Equation.DSMT4">
                  <p:embed/>
                  <p:pic>
                    <p:nvPicPr>
                      <p:cNvPr id="0" name=""/>
                      <p:cNvPicPr/>
                      <p:nvPr/>
                    </p:nvPicPr>
                    <p:blipFill>
                      <a:blip r:embed="rId8"/>
                      <a:stretch>
                        <a:fillRect/>
                      </a:stretch>
                    </p:blipFill>
                    <p:spPr>
                      <a:xfrm>
                        <a:off x="4571999" y="3270506"/>
                        <a:ext cx="3746774" cy="270082"/>
                      </a:xfrm>
                      <a:prstGeom prst="rect">
                        <a:avLst/>
                      </a:prstGeom>
                    </p:spPr>
                  </p:pic>
                </p:oleObj>
              </mc:Fallback>
            </mc:AlternateContent>
          </a:graphicData>
        </a:graphic>
      </p:graphicFrame>
      <p:graphicFrame>
        <p:nvGraphicFramePr>
          <p:cNvPr id="10" name="对象 9">
            <a:extLst>
              <a:ext uri="{FF2B5EF4-FFF2-40B4-BE49-F238E27FC236}">
                <a16:creationId xmlns:a16="http://schemas.microsoft.com/office/drawing/2014/main" id="{B653CA93-27E0-24BE-8450-3B9F325086A1}"/>
              </a:ext>
            </a:extLst>
          </p:cNvPr>
          <p:cNvGraphicFramePr>
            <a:graphicFrameLocks noChangeAspect="1"/>
          </p:cNvGraphicFramePr>
          <p:nvPr>
            <p:extLst>
              <p:ext uri="{D42A27DB-BD31-4B8C-83A1-F6EECF244321}">
                <p14:modId xmlns:p14="http://schemas.microsoft.com/office/powerpoint/2010/main" val="4115256407"/>
              </p:ext>
            </p:extLst>
          </p:nvPr>
        </p:nvGraphicFramePr>
        <p:xfrm>
          <a:off x="4576191" y="2316348"/>
          <a:ext cx="2328537" cy="270082"/>
        </p:xfrm>
        <a:graphic>
          <a:graphicData uri="http://schemas.openxmlformats.org/presentationml/2006/ole">
            <mc:AlternateContent xmlns:mc="http://schemas.openxmlformats.org/markup-compatibility/2006">
              <mc:Choice xmlns:v="urn:schemas-microsoft-com:vml" Requires="v">
                <p:oleObj name="Equation" r:id="rId9" imgW="1519673" imgH="176766" progId="Equation.DSMT4">
                  <p:embed/>
                </p:oleObj>
              </mc:Choice>
              <mc:Fallback>
                <p:oleObj name="Equation" r:id="rId9" imgW="1519673" imgH="176766" progId="Equation.DSMT4">
                  <p:embed/>
                  <p:pic>
                    <p:nvPicPr>
                      <p:cNvPr id="0" name=""/>
                      <p:cNvPicPr/>
                      <p:nvPr/>
                    </p:nvPicPr>
                    <p:blipFill>
                      <a:blip r:embed="rId10"/>
                      <a:stretch>
                        <a:fillRect/>
                      </a:stretch>
                    </p:blipFill>
                    <p:spPr>
                      <a:xfrm>
                        <a:off x="4576191" y="2316348"/>
                        <a:ext cx="2328537" cy="270082"/>
                      </a:xfrm>
                      <a:prstGeom prst="rect">
                        <a:avLst/>
                      </a:prstGeom>
                    </p:spPr>
                  </p:pic>
                </p:oleObj>
              </mc:Fallback>
            </mc:AlternateContent>
          </a:graphicData>
        </a:graphic>
      </p:graphicFrame>
      <p:graphicFrame>
        <p:nvGraphicFramePr>
          <p:cNvPr id="11" name="对象 10">
            <a:extLst>
              <a:ext uri="{FF2B5EF4-FFF2-40B4-BE49-F238E27FC236}">
                <a16:creationId xmlns:a16="http://schemas.microsoft.com/office/drawing/2014/main" id="{2C9DDAF5-7662-36E5-D126-6B5FCC5CEBED}"/>
              </a:ext>
            </a:extLst>
          </p:cNvPr>
          <p:cNvGraphicFramePr>
            <a:graphicFrameLocks noChangeAspect="1"/>
          </p:cNvGraphicFramePr>
          <p:nvPr>
            <p:extLst>
              <p:ext uri="{D42A27DB-BD31-4B8C-83A1-F6EECF244321}">
                <p14:modId xmlns:p14="http://schemas.microsoft.com/office/powerpoint/2010/main" val="3301253203"/>
              </p:ext>
            </p:extLst>
          </p:nvPr>
        </p:nvGraphicFramePr>
        <p:xfrm>
          <a:off x="4571999" y="2793276"/>
          <a:ext cx="2452836" cy="270082"/>
        </p:xfrm>
        <a:graphic>
          <a:graphicData uri="http://schemas.openxmlformats.org/presentationml/2006/ole">
            <mc:AlternateContent xmlns:mc="http://schemas.openxmlformats.org/markup-compatibility/2006">
              <mc:Choice xmlns:v="urn:schemas-microsoft-com:vml" Requires="v">
                <p:oleObj name="Equation" r:id="rId11" imgW="1585198" imgH="175326" progId="Equation.DSMT4">
                  <p:embed/>
                </p:oleObj>
              </mc:Choice>
              <mc:Fallback>
                <p:oleObj name="Equation" r:id="rId11" imgW="1585198" imgH="175326" progId="Equation.DSMT4">
                  <p:embed/>
                  <p:pic>
                    <p:nvPicPr>
                      <p:cNvPr id="0" name=""/>
                      <p:cNvPicPr/>
                      <p:nvPr/>
                    </p:nvPicPr>
                    <p:blipFill>
                      <a:blip r:embed="rId12"/>
                      <a:stretch>
                        <a:fillRect/>
                      </a:stretch>
                    </p:blipFill>
                    <p:spPr>
                      <a:xfrm>
                        <a:off x="4571999" y="2793276"/>
                        <a:ext cx="2452836" cy="270082"/>
                      </a:xfrm>
                      <a:prstGeom prst="rect">
                        <a:avLst/>
                      </a:prstGeom>
                    </p:spPr>
                  </p:pic>
                </p:oleObj>
              </mc:Fallback>
            </mc:AlternateContent>
          </a:graphicData>
        </a:graphic>
      </p:graphicFrame>
      <p:graphicFrame>
        <p:nvGraphicFramePr>
          <p:cNvPr id="12" name="对象 11">
            <a:extLst>
              <a:ext uri="{FF2B5EF4-FFF2-40B4-BE49-F238E27FC236}">
                <a16:creationId xmlns:a16="http://schemas.microsoft.com/office/drawing/2014/main" id="{81BF8DE3-58B6-D9ED-400A-E938E9A72E0F}"/>
              </a:ext>
            </a:extLst>
          </p:cNvPr>
          <p:cNvGraphicFramePr>
            <a:graphicFrameLocks noChangeAspect="1"/>
          </p:cNvGraphicFramePr>
          <p:nvPr>
            <p:extLst>
              <p:ext uri="{D42A27DB-BD31-4B8C-83A1-F6EECF244321}">
                <p14:modId xmlns:p14="http://schemas.microsoft.com/office/powerpoint/2010/main" val="181157668"/>
              </p:ext>
            </p:extLst>
          </p:nvPr>
        </p:nvGraphicFramePr>
        <p:xfrm>
          <a:off x="4584740" y="3785845"/>
          <a:ext cx="1230865" cy="273800"/>
        </p:xfrm>
        <a:graphic>
          <a:graphicData uri="http://schemas.openxmlformats.org/presentationml/2006/ole">
            <mc:AlternateContent xmlns:mc="http://schemas.openxmlformats.org/markup-compatibility/2006">
              <mc:Choice xmlns:v="urn:schemas-microsoft-com:vml" Requires="v">
                <p:oleObj name="Equation" r:id="rId13" imgW="792779" imgH="176766" progId="Equation.DSMT4">
                  <p:embed/>
                </p:oleObj>
              </mc:Choice>
              <mc:Fallback>
                <p:oleObj name="Equation" r:id="rId13" imgW="792779" imgH="176766" progId="Equation.DSMT4">
                  <p:embed/>
                  <p:pic>
                    <p:nvPicPr>
                      <p:cNvPr id="0" name=""/>
                      <p:cNvPicPr/>
                      <p:nvPr/>
                    </p:nvPicPr>
                    <p:blipFill>
                      <a:blip r:embed="rId14"/>
                      <a:stretch>
                        <a:fillRect/>
                      </a:stretch>
                    </p:blipFill>
                    <p:spPr>
                      <a:xfrm>
                        <a:off x="4584740" y="3785845"/>
                        <a:ext cx="1230865" cy="273800"/>
                      </a:xfrm>
                      <a:prstGeom prst="rect">
                        <a:avLst/>
                      </a:prstGeom>
                    </p:spPr>
                  </p:pic>
                </p:oleObj>
              </mc:Fallback>
            </mc:AlternateContent>
          </a:graphicData>
        </a:graphic>
      </p:graphicFrame>
      <p:graphicFrame>
        <p:nvGraphicFramePr>
          <p:cNvPr id="13" name="对象 12">
            <a:extLst>
              <a:ext uri="{FF2B5EF4-FFF2-40B4-BE49-F238E27FC236}">
                <a16:creationId xmlns:a16="http://schemas.microsoft.com/office/drawing/2014/main" id="{D479B6D0-9ADF-6DD9-FC81-4114230AFC62}"/>
              </a:ext>
            </a:extLst>
          </p:cNvPr>
          <p:cNvGraphicFramePr>
            <a:graphicFrameLocks noChangeAspect="1"/>
          </p:cNvGraphicFramePr>
          <p:nvPr>
            <p:extLst>
              <p:ext uri="{D42A27DB-BD31-4B8C-83A1-F6EECF244321}">
                <p14:modId xmlns:p14="http://schemas.microsoft.com/office/powerpoint/2010/main" val="591363605"/>
              </p:ext>
            </p:extLst>
          </p:nvPr>
        </p:nvGraphicFramePr>
        <p:xfrm>
          <a:off x="395536" y="4316154"/>
          <a:ext cx="8524492" cy="413993"/>
        </p:xfrm>
        <a:graphic>
          <a:graphicData uri="http://schemas.openxmlformats.org/presentationml/2006/ole">
            <mc:AlternateContent xmlns:mc="http://schemas.openxmlformats.org/markup-compatibility/2006">
              <mc:Choice xmlns:v="urn:schemas-microsoft-com:vml" Requires="v">
                <p:oleObj name="Equation" r:id="rId15" imgW="5752800" imgH="279360" progId="Equation.DSMT4">
                  <p:embed/>
                </p:oleObj>
              </mc:Choice>
              <mc:Fallback>
                <p:oleObj name="Equation" r:id="rId15" imgW="5752800" imgH="279360" progId="Equation.DSMT4">
                  <p:embed/>
                  <p:pic>
                    <p:nvPicPr>
                      <p:cNvPr id="0" name=""/>
                      <p:cNvPicPr/>
                      <p:nvPr/>
                    </p:nvPicPr>
                    <p:blipFill>
                      <a:blip r:embed="rId16"/>
                      <a:stretch>
                        <a:fillRect/>
                      </a:stretch>
                    </p:blipFill>
                    <p:spPr>
                      <a:xfrm>
                        <a:off x="395536" y="4316154"/>
                        <a:ext cx="8524492" cy="413993"/>
                      </a:xfrm>
                      <a:prstGeom prst="rect">
                        <a:avLst/>
                      </a:prstGeom>
                    </p:spPr>
                  </p:pic>
                </p:oleObj>
              </mc:Fallback>
            </mc:AlternateContent>
          </a:graphicData>
        </a:graphic>
      </p:graphicFrame>
      <p:graphicFrame>
        <p:nvGraphicFramePr>
          <p:cNvPr id="14" name="对象 13">
            <a:extLst>
              <a:ext uri="{FF2B5EF4-FFF2-40B4-BE49-F238E27FC236}">
                <a16:creationId xmlns:a16="http://schemas.microsoft.com/office/drawing/2014/main" id="{86D6D8F5-5DB3-A62B-6946-36E558970A8E}"/>
              </a:ext>
            </a:extLst>
          </p:cNvPr>
          <p:cNvGraphicFramePr>
            <a:graphicFrameLocks noChangeAspect="1"/>
          </p:cNvGraphicFramePr>
          <p:nvPr>
            <p:extLst>
              <p:ext uri="{D42A27DB-BD31-4B8C-83A1-F6EECF244321}">
                <p14:modId xmlns:p14="http://schemas.microsoft.com/office/powerpoint/2010/main" val="2673849085"/>
              </p:ext>
            </p:extLst>
          </p:nvPr>
        </p:nvGraphicFramePr>
        <p:xfrm>
          <a:off x="1187623" y="4951122"/>
          <a:ext cx="3630095" cy="749602"/>
        </p:xfrm>
        <a:graphic>
          <a:graphicData uri="http://schemas.openxmlformats.org/presentationml/2006/ole">
            <mc:AlternateContent xmlns:mc="http://schemas.openxmlformats.org/markup-compatibility/2006">
              <mc:Choice xmlns:v="urn:schemas-microsoft-com:vml" Requires="v">
                <p:oleObj name="Equation" r:id="rId17" imgW="2737284" imgH="565580" progId="Equation.DSMT4">
                  <p:embed/>
                </p:oleObj>
              </mc:Choice>
              <mc:Fallback>
                <p:oleObj name="Equation" r:id="rId17" imgW="2737284" imgH="565580" progId="Equation.DSMT4">
                  <p:embed/>
                  <p:pic>
                    <p:nvPicPr>
                      <p:cNvPr id="0" name=""/>
                      <p:cNvPicPr/>
                      <p:nvPr/>
                    </p:nvPicPr>
                    <p:blipFill>
                      <a:blip r:embed="rId18"/>
                      <a:stretch>
                        <a:fillRect/>
                      </a:stretch>
                    </p:blipFill>
                    <p:spPr>
                      <a:xfrm>
                        <a:off x="1187623" y="4951122"/>
                        <a:ext cx="3630095" cy="749602"/>
                      </a:xfrm>
                      <a:prstGeom prst="rect">
                        <a:avLst/>
                      </a:prstGeom>
                    </p:spPr>
                  </p:pic>
                </p:oleObj>
              </mc:Fallback>
            </mc:AlternateContent>
          </a:graphicData>
        </a:graphic>
      </p:graphicFrame>
      <p:sp>
        <p:nvSpPr>
          <p:cNvPr id="15" name="Text Box 18">
            <a:extLst>
              <a:ext uri="{FF2B5EF4-FFF2-40B4-BE49-F238E27FC236}">
                <a16:creationId xmlns:a16="http://schemas.microsoft.com/office/drawing/2014/main" id="{E2128BBC-07F5-98C0-9923-6EE004E2ABC4}"/>
              </a:ext>
            </a:extLst>
          </p:cNvPr>
          <p:cNvSpPr txBox="1">
            <a:spLocks noChangeArrowheads="1"/>
          </p:cNvSpPr>
          <p:nvPr/>
        </p:nvSpPr>
        <p:spPr bwMode="auto">
          <a:xfrm>
            <a:off x="899592" y="5875057"/>
            <a:ext cx="5132037" cy="463846"/>
          </a:xfrm>
          <a:prstGeom prst="rect">
            <a:avLst/>
          </a:prstGeom>
          <a:noFill/>
          <a:ln>
            <a:noFill/>
          </a:ln>
          <a:effectLst/>
        </p:spPr>
        <p:txBody>
          <a:bodyPr wrap="square" lIns="90000" tIns="46800" rIns="90000" bIns="46800">
            <a:spAutoFit/>
          </a:bodyPr>
          <a:lstStyle>
            <a:lvl1pPr marL="342900" indent="-342900">
              <a:spcBef>
                <a:spcPct val="0"/>
              </a:spcBef>
              <a:defRPr kumimoji="1" sz="2400">
                <a:solidFill>
                  <a:schemeClr val="tx1"/>
                </a:solidFill>
                <a:latin typeface="Times New Roman" pitchFamily="18" charset="0"/>
                <a:ea typeface="宋体" pitchFamily="2" charset="-122"/>
              </a:defRPr>
            </a:lvl1pPr>
            <a:lvl2pPr>
              <a:spcBef>
                <a:spcPct val="0"/>
              </a:spcBef>
              <a:defRPr kumimoji="1" sz="2400">
                <a:solidFill>
                  <a:schemeClr val="tx1"/>
                </a:solidFill>
                <a:latin typeface="Times New Roman" pitchFamily="18" charset="0"/>
                <a:ea typeface="宋体" pitchFamily="2" charset="-122"/>
              </a:defRPr>
            </a:lvl2pPr>
            <a:lvl3pPr>
              <a:spcBef>
                <a:spcPct val="0"/>
              </a:spcBef>
              <a:defRPr kumimoji="1" sz="2400">
                <a:solidFill>
                  <a:schemeClr val="tx1"/>
                </a:solidFill>
                <a:latin typeface="Times New Roman" pitchFamily="18" charset="0"/>
                <a:ea typeface="宋体" pitchFamily="2" charset="-122"/>
              </a:defRPr>
            </a:lvl3pPr>
            <a:lvl4pPr>
              <a:spcBef>
                <a:spcPct val="0"/>
              </a:spcBef>
              <a:defRPr kumimoji="1" sz="2400">
                <a:solidFill>
                  <a:schemeClr val="tx1"/>
                </a:solidFill>
                <a:latin typeface="Times New Roman" pitchFamily="18" charset="0"/>
                <a:ea typeface="宋体" pitchFamily="2" charset="-122"/>
              </a:defRPr>
            </a:lvl4pPr>
            <a:lvl5pPr>
              <a:spcBef>
                <a:spcPct val="0"/>
              </a:spcBef>
              <a:defRPr kumimoji="1" sz="2400">
                <a:solidFill>
                  <a:schemeClr val="tx1"/>
                </a:solidFill>
                <a:latin typeface="Times New Roman" pitchFamily="18" charset="0"/>
                <a:ea typeface="宋体" pitchFamily="2" charset="-122"/>
              </a:defRPr>
            </a:lvl5pPr>
            <a:lvl6pPr fontAlgn="base">
              <a:spcBef>
                <a:spcPct val="0"/>
              </a:spcBef>
              <a:spcAft>
                <a:spcPct val="0"/>
              </a:spcAft>
              <a:defRPr kumimoji="1" sz="2400">
                <a:solidFill>
                  <a:schemeClr val="tx1"/>
                </a:solidFill>
                <a:latin typeface="Times New Roman" pitchFamily="18" charset="0"/>
                <a:ea typeface="宋体" pitchFamily="2" charset="-122"/>
              </a:defRPr>
            </a:lvl6pPr>
            <a:lvl7pPr fontAlgn="base">
              <a:spcBef>
                <a:spcPct val="0"/>
              </a:spcBef>
              <a:spcAft>
                <a:spcPct val="0"/>
              </a:spcAft>
              <a:defRPr kumimoji="1" sz="2400">
                <a:solidFill>
                  <a:schemeClr val="tx1"/>
                </a:solidFill>
                <a:latin typeface="Times New Roman" pitchFamily="18" charset="0"/>
                <a:ea typeface="宋体" pitchFamily="2" charset="-122"/>
              </a:defRPr>
            </a:lvl7pPr>
            <a:lvl8pPr fontAlgn="base">
              <a:spcBef>
                <a:spcPct val="0"/>
              </a:spcBef>
              <a:spcAft>
                <a:spcPct val="0"/>
              </a:spcAft>
              <a:defRPr kumimoji="1" sz="2400">
                <a:solidFill>
                  <a:schemeClr val="tx1"/>
                </a:solidFill>
                <a:latin typeface="Times New Roman" pitchFamily="18" charset="0"/>
                <a:ea typeface="宋体" pitchFamily="2" charset="-122"/>
              </a:defRPr>
            </a:lvl8pPr>
            <a:lvl9pPr fontAlgn="base">
              <a:spcBef>
                <a:spcPct val="0"/>
              </a:spcBef>
              <a:spcAft>
                <a:spcPct val="0"/>
              </a:spcAft>
              <a:defRPr kumimoji="1" sz="2400">
                <a:solidFill>
                  <a:schemeClr val="tx1"/>
                </a:solidFill>
                <a:latin typeface="Times New Roman" pitchFamily="18" charset="0"/>
                <a:ea typeface="宋体" pitchFamily="2" charset="-122"/>
              </a:defRPr>
            </a:lvl9pPr>
          </a:lstStyle>
          <a:p>
            <a:pPr>
              <a:spcBef>
                <a:spcPct val="50000"/>
              </a:spcBef>
              <a:buFont typeface="微软雅黑" pitchFamily="34" charset="-122"/>
              <a:buChar char="☆"/>
              <a:defRPr/>
            </a:pPr>
            <a:r>
              <a:rPr lang="zh-CN" altLang="en-US" sz="2000" dirty="0">
                <a:latin typeface="+mn-ea"/>
                <a:ea typeface="+mn-ea"/>
              </a:rPr>
              <a:t>系统稳定时，要求： </a:t>
            </a:r>
            <a:r>
              <a:rPr lang="en-US" altLang="zh-CN" dirty="0">
                <a:latin typeface="+mn-ea"/>
                <a:ea typeface="+mn-ea"/>
              </a:rPr>
              <a:t>0&lt;K&lt;19.57</a:t>
            </a:r>
          </a:p>
        </p:txBody>
      </p:sp>
    </p:spTree>
    <p:extLst>
      <p:ext uri="{BB962C8B-B14F-4D97-AF65-F5344CB8AC3E}">
        <p14:creationId xmlns:p14="http://schemas.microsoft.com/office/powerpoint/2010/main" val="3832612123"/>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nodeType="clickEffect">
                                  <p:stCondLst>
                                    <p:cond delay="5000"/>
                                  </p:stCondLst>
                                  <p:childTnLst>
                                    <p:set>
                                      <p:cBhvr>
                                        <p:cTn id="6" dur="1" fill="hold">
                                          <p:stCondLst>
                                            <p:cond delay="0"/>
                                          </p:stCondLst>
                                        </p:cTn>
                                        <p:tgtEl>
                                          <p:spTgt spid="15"/>
                                        </p:tgtEl>
                                        <p:attrNameLst>
                                          <p:attrName>style.visibility</p:attrName>
                                        </p:attrNameLst>
                                      </p:cBhvr>
                                      <p:to>
                                        <p:strVal val="visible"/>
                                      </p:to>
                                    </p:set>
                                    <p:animEffect transition="in" filter="fade">
                                      <p:cBhvr>
                                        <p:cTn id="7" dur="500"/>
                                        <p:tgtEl>
                                          <p:spTgt spid="15"/>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5" grpId="0"/>
    </p:bldLst>
  </p:timing>
</p:sld>
</file>

<file path=ppt/slides/slide11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14706" name="Text Box 18"/>
          <p:cNvSpPr txBox="1">
            <a:spLocks noChangeArrowheads="1"/>
          </p:cNvSpPr>
          <p:nvPr/>
        </p:nvSpPr>
        <p:spPr bwMode="auto">
          <a:xfrm>
            <a:off x="755650" y="1773238"/>
            <a:ext cx="7580313" cy="936347"/>
          </a:xfrm>
          <a:prstGeom prst="rect">
            <a:avLst/>
          </a:prstGeom>
          <a:noFill/>
          <a:ln w="9525" algn="ctr">
            <a:noFill/>
            <a:miter lim="800000"/>
            <a:headEnd/>
            <a:tailEnd/>
          </a:ln>
          <a:effectLst/>
        </p:spPr>
        <p:txBody>
          <a:bodyPr>
            <a:spAutoFit/>
          </a:bodyPr>
          <a:lstStyle/>
          <a:p>
            <a:pPr marL="0" marR="0" lvl="0" indent="0" algn="l" defTabSz="914400" rtl="0" eaLnBrk="1" fontAlgn="base" latinLnBrk="0" hangingPunct="1">
              <a:lnSpc>
                <a:spcPct val="120000"/>
              </a:lnSpc>
              <a:spcBef>
                <a:spcPct val="0"/>
              </a:spcBef>
              <a:spcAft>
                <a:spcPct val="0"/>
              </a:spcAft>
              <a:buClrTx/>
              <a:buSzTx/>
              <a:buFontTx/>
              <a:buNone/>
              <a:tabLst/>
              <a:defRPr/>
            </a:pPr>
            <a:r>
              <a:rPr kumimoji="0" lang="zh-CN" altLang="en-US" sz="2400" b="1" i="0" u="none" strike="noStrike" kern="1200" cap="none" spc="0" normalizeH="0" baseline="0" noProof="0" dirty="0">
                <a:ln>
                  <a:noFill/>
                </a:ln>
                <a:solidFill>
                  <a:srgbClr val="0000FF"/>
                </a:solidFill>
                <a:effectLst>
                  <a:outerShdw blurRad="38100" dist="38100" dir="2700000" algn="tl">
                    <a:srgbClr val="C0C0C0"/>
                  </a:outerShdw>
                </a:effectLst>
                <a:uLnTx/>
                <a:uFillTx/>
                <a:latin typeface="Times New Roman" pitchFamily="18" charset="0"/>
                <a:ea typeface="宋体" pitchFamily="2" charset="-122"/>
                <a:cs typeface="+mn-cs"/>
              </a:rPr>
              <a:t>思考题：</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如图</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3.16</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所示控制系统，采样周期</a:t>
            </a:r>
            <a:r>
              <a:rPr kumimoji="0" lang="en-US" altLang="zh-CN" sz="2400" b="1" i="1"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T</a:t>
            </a:r>
            <a:r>
              <a:rPr kumimoji="0" lang="en-US" altLang="zh-CN"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=1s</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，试确定闭环系统稳定时比例系数</a:t>
            </a:r>
            <a:r>
              <a:rPr kumimoji="0" lang="en-US" altLang="zh-CN" sz="2400" b="1" i="1"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K</a:t>
            </a:r>
            <a:r>
              <a:rPr kumimoji="0" lang="zh-CN" altLang="en-US" sz="2400" b="1" i="0" u="none" strike="noStrike" kern="1200" cap="none" spc="0" normalizeH="0" baseline="0" noProof="0" dirty="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的取值范围。</a:t>
            </a:r>
          </a:p>
        </p:txBody>
      </p:sp>
      <p:pic>
        <p:nvPicPr>
          <p:cNvPr id="126979" name="Picture 19"/>
          <p:cNvPicPr>
            <a:picLocks noChangeAspect="1" noChangeArrowheads="1"/>
          </p:cNvPicPr>
          <p:nvPr/>
        </p:nvPicPr>
        <p:blipFill>
          <a:blip r:embed="rId3" cstate="print"/>
          <a:srcRect/>
          <a:stretch>
            <a:fillRect/>
          </a:stretch>
        </p:blipFill>
        <p:spPr bwMode="auto">
          <a:xfrm>
            <a:off x="1042988" y="2924175"/>
            <a:ext cx="7200900" cy="1855788"/>
          </a:xfrm>
          <a:prstGeom prst="rect">
            <a:avLst/>
          </a:prstGeom>
          <a:noFill/>
          <a:ln w="9525">
            <a:noFill/>
            <a:miter lim="800000"/>
            <a:headEnd/>
            <a:tailEnd/>
          </a:ln>
        </p:spPr>
      </p:pic>
      <p:sp>
        <p:nvSpPr>
          <p:cNvPr id="114708" name="Text Box 20"/>
          <p:cNvSpPr txBox="1">
            <a:spLocks noChangeArrowheads="1"/>
          </p:cNvSpPr>
          <p:nvPr/>
        </p:nvSpPr>
        <p:spPr bwMode="auto">
          <a:xfrm>
            <a:off x="2967038" y="5010150"/>
            <a:ext cx="3248025" cy="396875"/>
          </a:xfrm>
          <a:prstGeom prst="rect">
            <a:avLst/>
          </a:prstGeom>
          <a:noFill/>
          <a:ln w="9525" algn="ctr">
            <a:noFill/>
            <a:miter lim="800000"/>
            <a:headEnd/>
            <a:tailEnd/>
          </a:ln>
          <a:effectLst/>
        </p:spPr>
        <p:txBody>
          <a:bodyPr wrap="none">
            <a:spAutoFit/>
          </a:body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zh-CN" altLang="en-US"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图</a:t>
            </a:r>
            <a:r>
              <a:rPr kumimoji="0" lang="en-US" altLang="zh-CN"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3.16 </a:t>
            </a:r>
            <a:r>
              <a:rPr kumimoji="0" lang="zh-CN" altLang="en-US" sz="2000" b="1" i="0" u="none" strike="noStrike" kern="1200" cap="none" spc="0" normalizeH="0" baseline="0" noProof="0">
                <a:ln>
                  <a:noFill/>
                </a:ln>
                <a:solidFill>
                  <a:srgbClr val="000000"/>
                </a:solidFill>
                <a:effectLst>
                  <a:outerShdw blurRad="38100" dist="38100" dir="2700000" algn="tl">
                    <a:srgbClr val="C0C0C0"/>
                  </a:outerShdw>
                </a:effectLst>
                <a:uLnTx/>
                <a:uFillTx/>
                <a:latin typeface="Times New Roman" pitchFamily="18" charset="0"/>
                <a:ea typeface="宋体" pitchFamily="2" charset="-122"/>
                <a:cs typeface="+mn-cs"/>
              </a:rPr>
              <a:t>计算机控制系统结构</a:t>
            </a:r>
          </a:p>
        </p:txBody>
      </p:sp>
    </p:spTree>
    <p:extLst>
      <p:ext uri="{BB962C8B-B14F-4D97-AF65-F5344CB8AC3E}">
        <p14:creationId xmlns:p14="http://schemas.microsoft.com/office/powerpoint/2010/main" val="1554228318"/>
      </p:ext>
    </p:extLst>
  </p:cSld>
  <p:clrMapOvr>
    <a:masterClrMapping/>
  </p:clrMapOvr>
  <p:transition>
    <p:cover dir="u"/>
  </p:transition>
</p:sld>
</file>

<file path=ppt/slides/slide11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26979" name="Picture 19"/>
          <p:cNvPicPr>
            <a:picLocks noChangeAspect="1" noChangeArrowheads="1"/>
          </p:cNvPicPr>
          <p:nvPr/>
        </p:nvPicPr>
        <p:blipFill>
          <a:blip r:embed="rId3" cstate="print"/>
          <a:srcRect/>
          <a:stretch>
            <a:fillRect/>
          </a:stretch>
        </p:blipFill>
        <p:spPr bwMode="auto">
          <a:xfrm>
            <a:off x="797117" y="332656"/>
            <a:ext cx="7200900" cy="1855788"/>
          </a:xfrm>
          <a:prstGeom prst="rect">
            <a:avLst/>
          </a:prstGeom>
          <a:noFill/>
          <a:ln w="9525">
            <a:noFill/>
            <a:miter lim="800000"/>
            <a:headEnd/>
            <a:tailEnd/>
          </a:ln>
        </p:spPr>
      </p:pic>
      <p:sp>
        <p:nvSpPr>
          <p:cNvPr id="2" name="Text Box 56">
            <a:extLst>
              <a:ext uri="{FF2B5EF4-FFF2-40B4-BE49-F238E27FC236}">
                <a16:creationId xmlns:a16="http://schemas.microsoft.com/office/drawing/2014/main" id="{9E2D8C94-4B98-69C4-14DF-1AE4020BE0F5}"/>
              </a:ext>
            </a:extLst>
          </p:cNvPr>
          <p:cNvSpPr txBox="1">
            <a:spLocks noChangeArrowheads="1"/>
          </p:cNvSpPr>
          <p:nvPr/>
        </p:nvSpPr>
        <p:spPr bwMode="auto">
          <a:xfrm>
            <a:off x="543809" y="2348880"/>
            <a:ext cx="7437437" cy="457200"/>
          </a:xfrm>
          <a:prstGeom prst="rect">
            <a:avLst/>
          </a:prstGeom>
          <a:noFill/>
          <a:ln w="9525" algn="ctr">
            <a:noFill/>
            <a:miter lim="800000"/>
            <a:headEnd/>
            <a:tailEnd/>
          </a:ln>
          <a:effectLst/>
        </p:spPr>
        <p:txBody>
          <a:bodyPr>
            <a:spAutoFit/>
          </a:bodyPr>
          <a:lstStyle/>
          <a:p>
            <a:pPr>
              <a:defRPr/>
            </a:pPr>
            <a:r>
              <a:rPr kumimoji="0" lang="zh-CN" altLang="en-US" sz="2400" dirty="0">
                <a:solidFill>
                  <a:srgbClr val="0000FF"/>
                </a:solidFill>
                <a:effectLst>
                  <a:outerShdw blurRad="38100" dist="38100" dir="2700000" algn="tl">
                    <a:srgbClr val="C0C0C0"/>
                  </a:outerShdw>
                </a:effectLst>
              </a:rPr>
              <a:t>解：</a:t>
            </a:r>
            <a:r>
              <a:rPr kumimoji="0" lang="zh-CN" altLang="en-US" sz="2400" dirty="0">
                <a:effectLst>
                  <a:outerShdw blurRad="38100" dist="38100" dir="2700000" algn="tl">
                    <a:srgbClr val="C0C0C0"/>
                  </a:outerShdw>
                </a:effectLst>
              </a:rPr>
              <a:t>对象的等效传递函数模型为：</a:t>
            </a:r>
          </a:p>
        </p:txBody>
      </p:sp>
      <p:graphicFrame>
        <p:nvGraphicFramePr>
          <p:cNvPr id="3" name="Object 58">
            <a:extLst>
              <a:ext uri="{FF2B5EF4-FFF2-40B4-BE49-F238E27FC236}">
                <a16:creationId xmlns:a16="http://schemas.microsoft.com/office/drawing/2014/main" id="{BADA667D-40FA-9708-2393-FB6CCE0204E0}"/>
              </a:ext>
            </a:extLst>
          </p:cNvPr>
          <p:cNvGraphicFramePr>
            <a:graphicFrameLocks noChangeAspect="1"/>
          </p:cNvGraphicFramePr>
          <p:nvPr>
            <p:extLst>
              <p:ext uri="{D42A27DB-BD31-4B8C-83A1-F6EECF244321}">
                <p14:modId xmlns:p14="http://schemas.microsoft.com/office/powerpoint/2010/main" val="2235141990"/>
              </p:ext>
            </p:extLst>
          </p:nvPr>
        </p:nvGraphicFramePr>
        <p:xfrm>
          <a:off x="5436096" y="2188444"/>
          <a:ext cx="2736850" cy="809625"/>
        </p:xfrm>
        <a:graphic>
          <a:graphicData uri="http://schemas.openxmlformats.org/presentationml/2006/ole">
            <mc:AlternateContent xmlns:mc="http://schemas.openxmlformats.org/markup-compatibility/2006">
              <mc:Choice xmlns:v="urn:schemas-microsoft-com:vml" Requires="v">
                <p:oleObj name="Equation" r:id="rId4" imgW="1511300" imgH="444500" progId="Equation.DSMT4">
                  <p:embed/>
                </p:oleObj>
              </mc:Choice>
              <mc:Fallback>
                <p:oleObj name="Equation" r:id="rId4" imgW="1511300" imgH="444500" progId="Equation.DSMT4">
                  <p:embed/>
                  <p:pic>
                    <p:nvPicPr>
                      <p:cNvPr id="12" name="Object 58">
                        <a:extLst>
                          <a:ext uri="{FF2B5EF4-FFF2-40B4-BE49-F238E27FC236}">
                            <a16:creationId xmlns:a16="http://schemas.microsoft.com/office/drawing/2014/main" id="{B40FCF16-6796-2A97-4377-84FFF7C97499}"/>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436096" y="2188444"/>
                        <a:ext cx="273685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4" name="Text Box 59">
            <a:extLst>
              <a:ext uri="{FF2B5EF4-FFF2-40B4-BE49-F238E27FC236}">
                <a16:creationId xmlns:a16="http://schemas.microsoft.com/office/drawing/2014/main" id="{C03EC348-54EF-CC7C-027D-A7CFDE6BE842}"/>
              </a:ext>
            </a:extLst>
          </p:cNvPr>
          <p:cNvSpPr txBox="1">
            <a:spLocks noChangeArrowheads="1"/>
          </p:cNvSpPr>
          <p:nvPr/>
        </p:nvSpPr>
        <p:spPr bwMode="auto">
          <a:xfrm>
            <a:off x="1135386" y="2935005"/>
            <a:ext cx="5708650"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其脉冲传递函数模型为：</a:t>
            </a:r>
          </a:p>
        </p:txBody>
      </p:sp>
      <p:graphicFrame>
        <p:nvGraphicFramePr>
          <p:cNvPr id="5" name="Object 61">
            <a:extLst>
              <a:ext uri="{FF2B5EF4-FFF2-40B4-BE49-F238E27FC236}">
                <a16:creationId xmlns:a16="http://schemas.microsoft.com/office/drawing/2014/main" id="{98B6C0C8-1E35-AA0F-6AA7-688D717CA9B6}"/>
              </a:ext>
            </a:extLst>
          </p:cNvPr>
          <p:cNvGraphicFramePr>
            <a:graphicFrameLocks noChangeAspect="1"/>
          </p:cNvGraphicFramePr>
          <p:nvPr>
            <p:extLst>
              <p:ext uri="{D42A27DB-BD31-4B8C-83A1-F6EECF244321}">
                <p14:modId xmlns:p14="http://schemas.microsoft.com/office/powerpoint/2010/main" val="81549570"/>
              </p:ext>
            </p:extLst>
          </p:nvPr>
        </p:nvGraphicFramePr>
        <p:xfrm>
          <a:off x="1227221" y="3486314"/>
          <a:ext cx="6781649" cy="3004758"/>
        </p:xfrm>
        <a:graphic>
          <a:graphicData uri="http://schemas.openxmlformats.org/presentationml/2006/ole">
            <mc:AlternateContent xmlns:mc="http://schemas.openxmlformats.org/markup-compatibility/2006">
              <mc:Choice xmlns:v="urn:schemas-microsoft-com:vml" Requires="v">
                <p:oleObj name="Equation" r:id="rId6" imgW="4305240" imgH="1930320" progId="Equation.DSMT4">
                  <p:embed/>
                </p:oleObj>
              </mc:Choice>
              <mc:Fallback>
                <p:oleObj name="Equation" r:id="rId6" imgW="4305240" imgH="1930320" progId="Equation.DSMT4">
                  <p:embed/>
                  <p:pic>
                    <p:nvPicPr>
                      <p:cNvPr id="14" name="Object 61">
                        <a:extLst>
                          <a:ext uri="{FF2B5EF4-FFF2-40B4-BE49-F238E27FC236}">
                            <a16:creationId xmlns:a16="http://schemas.microsoft.com/office/drawing/2014/main" id="{63102666-4D31-DF14-7D46-08A11FEB0A04}"/>
                          </a:ext>
                        </a:extLst>
                      </p:cNvPr>
                      <p:cNvPicPr>
                        <a:picLocks noChangeAspect="1" noChangeArrowheads="1"/>
                      </p:cNvPicPr>
                      <p:nvPr/>
                    </p:nvPicPr>
                    <p:blipFill>
                      <a:blip r:embed="rId7"/>
                      <a:srcRect/>
                      <a:stretch>
                        <a:fillRect/>
                      </a:stretch>
                    </p:blipFill>
                    <p:spPr bwMode="auto">
                      <a:xfrm>
                        <a:off x="1227221" y="3486314"/>
                        <a:ext cx="6781649" cy="3004758"/>
                      </a:xfrm>
                      <a:prstGeom prst="rect">
                        <a:avLst/>
                      </a:prstGeom>
                      <a:noFill/>
                    </p:spPr>
                  </p:pic>
                </p:oleObj>
              </mc:Fallback>
            </mc:AlternateContent>
          </a:graphicData>
        </a:graphic>
      </p:graphicFrame>
    </p:spTree>
    <p:extLst>
      <p:ext uri="{BB962C8B-B14F-4D97-AF65-F5344CB8AC3E}">
        <p14:creationId xmlns:p14="http://schemas.microsoft.com/office/powerpoint/2010/main" val="2404925721"/>
      </p:ext>
    </p:extLst>
  </p:cSld>
  <p:clrMapOvr>
    <a:masterClrMapping/>
  </p:clrMapOvr>
  <p:transition>
    <p:cover dir="u"/>
  </p:transition>
</p:sld>
</file>

<file path=ppt/slides/slide11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6" name="Object 36">
            <a:extLst>
              <a:ext uri="{FF2B5EF4-FFF2-40B4-BE49-F238E27FC236}">
                <a16:creationId xmlns:a16="http://schemas.microsoft.com/office/drawing/2014/main" id="{EDA1146A-6798-44AE-3821-33CAC5D5CEF1}"/>
              </a:ext>
            </a:extLst>
          </p:cNvPr>
          <p:cNvGraphicFramePr>
            <a:graphicFrameLocks noChangeAspect="1"/>
          </p:cNvGraphicFramePr>
          <p:nvPr>
            <p:extLst>
              <p:ext uri="{D42A27DB-BD31-4B8C-83A1-F6EECF244321}">
                <p14:modId xmlns:p14="http://schemas.microsoft.com/office/powerpoint/2010/main" val="3281523018"/>
              </p:ext>
            </p:extLst>
          </p:nvPr>
        </p:nvGraphicFramePr>
        <p:xfrm>
          <a:off x="311150" y="1412875"/>
          <a:ext cx="6861175" cy="877888"/>
        </p:xfrm>
        <a:graphic>
          <a:graphicData uri="http://schemas.openxmlformats.org/presentationml/2006/ole">
            <mc:AlternateContent xmlns:mc="http://schemas.openxmlformats.org/markup-compatibility/2006">
              <mc:Choice xmlns:v="urn:schemas-microsoft-com:vml" Requires="v">
                <p:oleObj name="Equation" r:id="rId3" imgW="3263760" imgH="419040" progId="Equation.DSMT4">
                  <p:embed/>
                </p:oleObj>
              </mc:Choice>
              <mc:Fallback>
                <p:oleObj name="Equation" r:id="rId3" imgW="3263760" imgH="419040" progId="Equation.DSMT4">
                  <p:embed/>
                  <p:pic>
                    <p:nvPicPr>
                      <p:cNvPr id="11" name="Object 36">
                        <a:extLst>
                          <a:ext uri="{FF2B5EF4-FFF2-40B4-BE49-F238E27FC236}">
                            <a16:creationId xmlns:a16="http://schemas.microsoft.com/office/drawing/2014/main" id="{FDBD4C14-1A7C-D887-D673-08F7EEA17ADB}"/>
                          </a:ext>
                        </a:extLst>
                      </p:cNvPr>
                      <p:cNvPicPr>
                        <a:picLocks noChangeAspect="1" noChangeArrowheads="1"/>
                      </p:cNvPicPr>
                      <p:nvPr/>
                    </p:nvPicPr>
                    <p:blipFill>
                      <a:blip r:embed="rId4"/>
                      <a:srcRect/>
                      <a:stretch>
                        <a:fillRect/>
                      </a:stretch>
                    </p:blipFill>
                    <p:spPr bwMode="auto">
                      <a:xfrm>
                        <a:off x="311150" y="1412875"/>
                        <a:ext cx="6861175" cy="877888"/>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7" name="Object 38">
            <a:extLst>
              <a:ext uri="{FF2B5EF4-FFF2-40B4-BE49-F238E27FC236}">
                <a16:creationId xmlns:a16="http://schemas.microsoft.com/office/drawing/2014/main" id="{E5A34AC6-03F5-A0F6-4F4A-B6E5D9C7F5F1}"/>
              </a:ext>
            </a:extLst>
          </p:cNvPr>
          <p:cNvGraphicFramePr>
            <a:graphicFrameLocks noChangeAspect="1"/>
          </p:cNvGraphicFramePr>
          <p:nvPr>
            <p:extLst>
              <p:ext uri="{D42A27DB-BD31-4B8C-83A1-F6EECF244321}">
                <p14:modId xmlns:p14="http://schemas.microsoft.com/office/powerpoint/2010/main" val="1099501210"/>
              </p:ext>
            </p:extLst>
          </p:nvPr>
        </p:nvGraphicFramePr>
        <p:xfrm>
          <a:off x="364377" y="5301208"/>
          <a:ext cx="7891462" cy="811213"/>
        </p:xfrm>
        <a:graphic>
          <a:graphicData uri="http://schemas.openxmlformats.org/presentationml/2006/ole">
            <mc:AlternateContent xmlns:mc="http://schemas.openxmlformats.org/markup-compatibility/2006">
              <mc:Choice xmlns:v="urn:schemas-microsoft-com:vml" Requires="v">
                <p:oleObj name="Equation" r:id="rId5" imgW="4305240" imgH="444240" progId="Equation.DSMT4">
                  <p:embed/>
                </p:oleObj>
              </mc:Choice>
              <mc:Fallback>
                <p:oleObj name="Equation" r:id="rId5" imgW="4305240" imgH="444240" progId="Equation.DSMT4">
                  <p:embed/>
                  <p:pic>
                    <p:nvPicPr>
                      <p:cNvPr id="12" name="Object 38">
                        <a:extLst>
                          <a:ext uri="{FF2B5EF4-FFF2-40B4-BE49-F238E27FC236}">
                            <a16:creationId xmlns:a16="http://schemas.microsoft.com/office/drawing/2014/main" id="{B1D167AE-1F23-C102-AD05-049E30CFDB2A}"/>
                          </a:ext>
                        </a:extLst>
                      </p:cNvPr>
                      <p:cNvPicPr>
                        <a:picLocks noChangeAspect="1" noChangeArrowheads="1"/>
                      </p:cNvPicPr>
                      <p:nvPr/>
                    </p:nvPicPr>
                    <p:blipFill>
                      <a:blip r:embed="rId6"/>
                      <a:srcRect/>
                      <a:stretch>
                        <a:fillRect/>
                      </a:stretch>
                    </p:blipFill>
                    <p:spPr bwMode="auto">
                      <a:xfrm>
                        <a:off x="364377" y="5301208"/>
                        <a:ext cx="7891462" cy="81121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
        <p:nvSpPr>
          <p:cNvPr id="8" name="Rectangle 44">
            <a:extLst>
              <a:ext uri="{FF2B5EF4-FFF2-40B4-BE49-F238E27FC236}">
                <a16:creationId xmlns:a16="http://schemas.microsoft.com/office/drawing/2014/main" id="{8767983A-0D46-5321-E7B9-A14076A5EA67}"/>
              </a:ext>
            </a:extLst>
          </p:cNvPr>
          <p:cNvSpPr>
            <a:spLocks noChangeArrowheads="1"/>
          </p:cNvSpPr>
          <p:nvPr/>
        </p:nvSpPr>
        <p:spPr bwMode="auto">
          <a:xfrm>
            <a:off x="294371" y="4664385"/>
            <a:ext cx="2038035" cy="4269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lIns="90000" tIns="46800" rIns="90000" bIns="46800">
            <a:spAutoFit/>
          </a:bodyPr>
          <a:lstStyle>
            <a:lvl1pPr marL="342900" indent="-3429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eaLnBrk="1" hangingPunct="1">
              <a:buFontTx/>
              <a:buNone/>
            </a:pPr>
            <a:r>
              <a:rPr kumimoji="0" lang="zh-CN" altLang="en-US" sz="2400" dirty="0">
                <a:effectLst>
                  <a:outerShdw blurRad="38100" dist="38100" dir="2700000" algn="tl">
                    <a:srgbClr val="C0C0C0"/>
                  </a:outerShdw>
                </a:effectLst>
                <a:latin typeface="Times New Roman" pitchFamily="18" charset="0"/>
                <a:ea typeface="宋体" pitchFamily="2" charset="-122"/>
              </a:rPr>
              <a:t>整理后，得：</a:t>
            </a:r>
          </a:p>
        </p:txBody>
      </p:sp>
      <p:graphicFrame>
        <p:nvGraphicFramePr>
          <p:cNvPr id="9" name="Object 45">
            <a:extLst>
              <a:ext uri="{FF2B5EF4-FFF2-40B4-BE49-F238E27FC236}">
                <a16:creationId xmlns:a16="http://schemas.microsoft.com/office/drawing/2014/main" id="{CCC67B7C-E095-2739-0F5A-F65A5BD4784F}"/>
              </a:ext>
            </a:extLst>
          </p:cNvPr>
          <p:cNvGraphicFramePr>
            <a:graphicFrameLocks noChangeAspect="1"/>
          </p:cNvGraphicFramePr>
          <p:nvPr>
            <p:extLst>
              <p:ext uri="{D42A27DB-BD31-4B8C-83A1-F6EECF244321}">
                <p14:modId xmlns:p14="http://schemas.microsoft.com/office/powerpoint/2010/main" val="2810208486"/>
              </p:ext>
            </p:extLst>
          </p:nvPr>
        </p:nvGraphicFramePr>
        <p:xfrm>
          <a:off x="311150" y="2430413"/>
          <a:ext cx="6513512" cy="2024063"/>
        </p:xfrm>
        <a:graphic>
          <a:graphicData uri="http://schemas.openxmlformats.org/presentationml/2006/ole">
            <mc:AlternateContent xmlns:mc="http://schemas.openxmlformats.org/markup-compatibility/2006">
              <mc:Choice xmlns:v="urn:schemas-microsoft-com:vml" Requires="v">
                <p:oleObj name="Equation" r:id="rId7" imgW="3098520" imgH="965160" progId="Equation.DSMT4">
                  <p:embed/>
                </p:oleObj>
              </mc:Choice>
              <mc:Fallback>
                <p:oleObj name="Equation" r:id="rId7" imgW="3098520" imgH="965160" progId="Equation.DSMT4">
                  <p:embed/>
                  <p:pic>
                    <p:nvPicPr>
                      <p:cNvPr id="14" name="Object 45">
                        <a:extLst>
                          <a:ext uri="{FF2B5EF4-FFF2-40B4-BE49-F238E27FC236}">
                            <a16:creationId xmlns:a16="http://schemas.microsoft.com/office/drawing/2014/main" id="{DC111587-DFCD-47D3-6FBA-F19C2A23D129}"/>
                          </a:ext>
                        </a:extLst>
                      </p:cNvPr>
                      <p:cNvPicPr>
                        <a:picLocks noChangeAspect="1" noChangeArrowheads="1"/>
                      </p:cNvPicPr>
                      <p:nvPr/>
                    </p:nvPicPr>
                    <p:blipFill>
                      <a:blip r:embed="rId8"/>
                      <a:srcRect/>
                      <a:stretch>
                        <a:fillRect/>
                      </a:stretch>
                    </p:blipFill>
                    <p:spPr bwMode="auto">
                      <a:xfrm>
                        <a:off x="311150" y="2430413"/>
                        <a:ext cx="6513512" cy="2024063"/>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aphicFrame>
        <p:nvGraphicFramePr>
          <p:cNvPr id="10" name="Object 47">
            <a:extLst>
              <a:ext uri="{FF2B5EF4-FFF2-40B4-BE49-F238E27FC236}">
                <a16:creationId xmlns:a16="http://schemas.microsoft.com/office/drawing/2014/main" id="{7FC73582-5E19-17CD-C7AC-13045ACBB73F}"/>
              </a:ext>
            </a:extLst>
          </p:cNvPr>
          <p:cNvGraphicFramePr>
            <a:graphicFrameLocks noChangeAspect="1"/>
          </p:cNvGraphicFramePr>
          <p:nvPr>
            <p:extLst>
              <p:ext uri="{D42A27DB-BD31-4B8C-83A1-F6EECF244321}">
                <p14:modId xmlns:p14="http://schemas.microsoft.com/office/powerpoint/2010/main" val="445290038"/>
              </p:ext>
            </p:extLst>
          </p:nvPr>
        </p:nvGraphicFramePr>
        <p:xfrm>
          <a:off x="7127553" y="1052413"/>
          <a:ext cx="1922462" cy="1543050"/>
        </p:xfrm>
        <a:graphic>
          <a:graphicData uri="http://schemas.openxmlformats.org/presentationml/2006/ole">
            <mc:AlternateContent xmlns:mc="http://schemas.openxmlformats.org/markup-compatibility/2006">
              <mc:Choice xmlns:v="urn:schemas-microsoft-com:vml" Requires="v">
                <p:oleObj name="Equation" r:id="rId9" imgW="914400" imgH="736600" progId="Equation.DSMT4">
                  <p:embed/>
                </p:oleObj>
              </mc:Choice>
              <mc:Fallback>
                <p:oleObj name="Equation" r:id="rId9" imgW="914400" imgH="736600" progId="Equation.DSMT4">
                  <p:embed/>
                  <p:pic>
                    <p:nvPicPr>
                      <p:cNvPr id="15" name="Object 47">
                        <a:extLst>
                          <a:ext uri="{FF2B5EF4-FFF2-40B4-BE49-F238E27FC236}">
                            <a16:creationId xmlns:a16="http://schemas.microsoft.com/office/drawing/2014/main" id="{AED18D68-EA73-BDA2-F988-6D6EC7ABD6EC}"/>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7127553" y="1052413"/>
                        <a:ext cx="1922462" cy="154305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spTree>
    <p:extLst>
      <p:ext uri="{BB962C8B-B14F-4D97-AF65-F5344CB8AC3E}">
        <p14:creationId xmlns:p14="http://schemas.microsoft.com/office/powerpoint/2010/main" val="1603255331"/>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6"/>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8"/>
                                        </p:tgtEl>
                                        <p:attrNameLst>
                                          <p:attrName>style.visibility</p:attrName>
                                        </p:attrNameLst>
                                      </p:cBhvr>
                                      <p:to>
                                        <p:strVal val="visible"/>
                                      </p:to>
                                    </p:set>
                                  </p:childTnLst>
                                </p:cTn>
                              </p:par>
                              <p:par>
                                <p:cTn id="19" presetID="1" presetClass="entr" presetSubtype="0" fill="hold" nodeType="withEffect">
                                  <p:stCondLst>
                                    <p:cond delay="0"/>
                                  </p:stCondLst>
                                  <p:childTnLst>
                                    <p:set>
                                      <p:cBhvr>
                                        <p:cTn id="20"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8" grpId="0"/>
    </p:bldLst>
  </p:timing>
</p:sld>
</file>

<file path=ppt/slides/slide12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3" name="文本框 2">
            <a:extLst>
              <a:ext uri="{FF2B5EF4-FFF2-40B4-BE49-F238E27FC236}">
                <a16:creationId xmlns:a16="http://schemas.microsoft.com/office/drawing/2014/main" id="{E4F2D80E-4549-2CB2-9EC0-CB3BA2DE446C}"/>
              </a:ext>
            </a:extLst>
          </p:cNvPr>
          <p:cNvSpPr txBox="1"/>
          <p:nvPr/>
        </p:nvSpPr>
        <p:spPr>
          <a:xfrm>
            <a:off x="539552" y="1196752"/>
            <a:ext cx="4572000" cy="400110"/>
          </a:xfrm>
          <a:prstGeom prst="rect">
            <a:avLst/>
          </a:prstGeom>
          <a:noFill/>
        </p:spPr>
        <p:txBody>
          <a:bodyPr wrap="square">
            <a:spAutoFit/>
          </a:bodyPr>
          <a:lstStyle/>
          <a:p>
            <a:r>
              <a:rPr lang="en-US" altLang="zh-CN" dirty="0"/>
              <a:t>W</a:t>
            </a:r>
            <a:r>
              <a:rPr lang="zh-CN" altLang="en-US" dirty="0"/>
              <a:t>平面特征方程为：</a:t>
            </a:r>
          </a:p>
        </p:txBody>
      </p:sp>
      <p:graphicFrame>
        <p:nvGraphicFramePr>
          <p:cNvPr id="4" name="对象 3">
            <a:extLst>
              <a:ext uri="{FF2B5EF4-FFF2-40B4-BE49-F238E27FC236}">
                <a16:creationId xmlns:a16="http://schemas.microsoft.com/office/drawing/2014/main" id="{9C29E39F-9E85-3F68-4B53-4694012C63AF}"/>
              </a:ext>
            </a:extLst>
          </p:cNvPr>
          <p:cNvGraphicFramePr>
            <a:graphicFrameLocks noChangeAspect="1"/>
          </p:cNvGraphicFramePr>
          <p:nvPr>
            <p:extLst>
              <p:ext uri="{D42A27DB-BD31-4B8C-83A1-F6EECF244321}">
                <p14:modId xmlns:p14="http://schemas.microsoft.com/office/powerpoint/2010/main" val="2799609657"/>
              </p:ext>
            </p:extLst>
          </p:nvPr>
        </p:nvGraphicFramePr>
        <p:xfrm>
          <a:off x="3309181" y="1101363"/>
          <a:ext cx="2198923" cy="562057"/>
        </p:xfrm>
        <a:graphic>
          <a:graphicData uri="http://schemas.openxmlformats.org/presentationml/2006/ole">
            <mc:AlternateContent xmlns:mc="http://schemas.openxmlformats.org/markup-compatibility/2006">
              <mc:Choice xmlns:v="urn:schemas-microsoft-com:vml" Requires="v">
                <p:oleObj name="Equation" r:id="rId3" imgW="3540504" imgH="905433" progId="Equation.DSMT4">
                  <p:embed/>
                </p:oleObj>
              </mc:Choice>
              <mc:Fallback>
                <p:oleObj name="Equation" r:id="rId3" imgW="3540504" imgH="905433" progId="Equation.DSMT4">
                  <p:embed/>
                  <p:pic>
                    <p:nvPicPr>
                      <p:cNvPr id="0" name=""/>
                      <p:cNvPicPr/>
                      <p:nvPr/>
                    </p:nvPicPr>
                    <p:blipFill>
                      <a:blip r:embed="rId4"/>
                      <a:stretch>
                        <a:fillRect/>
                      </a:stretch>
                    </p:blipFill>
                    <p:spPr>
                      <a:xfrm>
                        <a:off x="3309181" y="1101363"/>
                        <a:ext cx="2198923" cy="562057"/>
                      </a:xfrm>
                      <a:prstGeom prst="rect">
                        <a:avLst/>
                      </a:prstGeom>
                    </p:spPr>
                  </p:pic>
                </p:oleObj>
              </mc:Fallback>
            </mc:AlternateContent>
          </a:graphicData>
        </a:graphic>
      </p:graphicFrame>
      <p:graphicFrame>
        <p:nvGraphicFramePr>
          <p:cNvPr id="5" name="Object 11">
            <a:extLst>
              <a:ext uri="{FF2B5EF4-FFF2-40B4-BE49-F238E27FC236}">
                <a16:creationId xmlns:a16="http://schemas.microsoft.com/office/drawing/2014/main" id="{097B8C8D-2FA4-76A1-2551-BCDBAC05B47F}"/>
              </a:ext>
            </a:extLst>
          </p:cNvPr>
          <p:cNvGraphicFramePr>
            <a:graphicFrameLocks noChangeAspect="1"/>
          </p:cNvGraphicFramePr>
          <p:nvPr>
            <p:extLst>
              <p:ext uri="{D42A27DB-BD31-4B8C-83A1-F6EECF244321}">
                <p14:modId xmlns:p14="http://schemas.microsoft.com/office/powerpoint/2010/main" val="740182855"/>
              </p:ext>
            </p:extLst>
          </p:nvPr>
        </p:nvGraphicFramePr>
        <p:xfrm>
          <a:off x="579762" y="1919004"/>
          <a:ext cx="7664646" cy="525096"/>
        </p:xfrm>
        <a:graphic>
          <a:graphicData uri="http://schemas.openxmlformats.org/presentationml/2006/ole">
            <mc:AlternateContent xmlns:mc="http://schemas.openxmlformats.org/markup-compatibility/2006">
              <mc:Choice xmlns:v="urn:schemas-microsoft-com:vml" Requires="v">
                <p:oleObj name="Equation" r:id="rId5" imgW="3810000" imgH="279400" progId="Equation.DSMT4">
                  <p:embed/>
                </p:oleObj>
              </mc:Choice>
              <mc:Fallback>
                <p:oleObj name="Equation" r:id="rId5" imgW="3810000" imgH="279400" progId="Equation.DSMT4">
                  <p:embed/>
                  <p:pic>
                    <p:nvPicPr>
                      <p:cNvPr id="17" name="Object 11">
                        <a:extLst>
                          <a:ext uri="{FF2B5EF4-FFF2-40B4-BE49-F238E27FC236}">
                            <a16:creationId xmlns:a16="http://schemas.microsoft.com/office/drawing/2014/main" id="{5742CABD-C3C4-D2FC-6374-5C442A34CC9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79762" y="1919004"/>
                        <a:ext cx="7664646" cy="525096"/>
                      </a:xfrm>
                      <a:prstGeom prst="rect">
                        <a:avLst/>
                      </a:prstGeom>
                      <a:noFill/>
                      <a:ln>
                        <a:noFill/>
                      </a:ln>
                      <a:effectLst/>
                    </p:spPr>
                  </p:pic>
                </p:oleObj>
              </mc:Fallback>
            </mc:AlternateContent>
          </a:graphicData>
        </a:graphic>
      </p:graphicFrame>
      <p:graphicFrame>
        <p:nvGraphicFramePr>
          <p:cNvPr id="6" name="Object 8">
            <a:extLst>
              <a:ext uri="{FF2B5EF4-FFF2-40B4-BE49-F238E27FC236}">
                <a16:creationId xmlns:a16="http://schemas.microsoft.com/office/drawing/2014/main" id="{ACE29FD5-D5C6-FC21-2648-2F38C3D3D61B}"/>
              </a:ext>
            </a:extLst>
          </p:cNvPr>
          <p:cNvGraphicFramePr>
            <a:graphicFrameLocks noChangeAspect="1"/>
          </p:cNvGraphicFramePr>
          <p:nvPr>
            <p:extLst>
              <p:ext uri="{D42A27DB-BD31-4B8C-83A1-F6EECF244321}">
                <p14:modId xmlns:p14="http://schemas.microsoft.com/office/powerpoint/2010/main" val="2682508576"/>
              </p:ext>
            </p:extLst>
          </p:nvPr>
        </p:nvGraphicFramePr>
        <p:xfrm>
          <a:off x="588753" y="2761687"/>
          <a:ext cx="6719551" cy="489512"/>
        </p:xfrm>
        <a:graphic>
          <a:graphicData uri="http://schemas.openxmlformats.org/presentationml/2006/ole">
            <mc:AlternateContent xmlns:mc="http://schemas.openxmlformats.org/markup-compatibility/2006">
              <mc:Choice xmlns:v="urn:schemas-microsoft-com:vml" Requires="v">
                <p:oleObj name="Equation" r:id="rId7" imgW="3314700" imgH="254000" progId="Equation.DSMT4">
                  <p:embed/>
                </p:oleObj>
              </mc:Choice>
              <mc:Fallback>
                <p:oleObj name="Equation" r:id="rId7" imgW="3314700" imgH="254000" progId="Equation.DSMT4">
                  <p:embed/>
                  <p:pic>
                    <p:nvPicPr>
                      <p:cNvPr id="15" name="Object 8">
                        <a:extLst>
                          <a:ext uri="{FF2B5EF4-FFF2-40B4-BE49-F238E27FC236}">
                            <a16:creationId xmlns:a16="http://schemas.microsoft.com/office/drawing/2014/main" id="{DAD3AD5B-F8E9-072B-9D6D-7BA514B9959C}"/>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88753" y="2761687"/>
                        <a:ext cx="6719551" cy="489512"/>
                      </a:xfrm>
                      <a:prstGeom prst="rect">
                        <a:avLst/>
                      </a:prstGeom>
                      <a:noFill/>
                      <a:ln>
                        <a:noFill/>
                      </a:ln>
                      <a:effectLst/>
                    </p:spPr>
                  </p:pic>
                </p:oleObj>
              </mc:Fallback>
            </mc:AlternateContent>
          </a:graphicData>
        </a:graphic>
      </p:graphicFrame>
      <p:sp>
        <p:nvSpPr>
          <p:cNvPr id="8" name="文本框 7">
            <a:extLst>
              <a:ext uri="{FF2B5EF4-FFF2-40B4-BE49-F238E27FC236}">
                <a16:creationId xmlns:a16="http://schemas.microsoft.com/office/drawing/2014/main" id="{5C1C3CA1-DB6D-AE99-BE8B-3D8572E94E14}"/>
              </a:ext>
            </a:extLst>
          </p:cNvPr>
          <p:cNvSpPr txBox="1"/>
          <p:nvPr/>
        </p:nvSpPr>
        <p:spPr>
          <a:xfrm>
            <a:off x="500647" y="3606800"/>
            <a:ext cx="6318448" cy="400110"/>
          </a:xfrm>
          <a:prstGeom prst="rect">
            <a:avLst/>
          </a:prstGeom>
          <a:noFill/>
        </p:spPr>
        <p:txBody>
          <a:bodyPr wrap="square">
            <a:spAutoFit/>
          </a:bodyPr>
          <a:lstStyle/>
          <a:p>
            <a:pPr marL="0" marR="0" lvl="0" indent="0" algn="l" defTabSz="914400" rtl="0" eaLnBrk="1" fontAlgn="base" latinLnBrk="0" hangingPunct="1">
              <a:lnSpc>
                <a:spcPct val="100000"/>
              </a:lnSpc>
              <a:spcBef>
                <a:spcPct val="50000"/>
              </a:spcBef>
              <a:spcAft>
                <a:spcPct val="0"/>
              </a:spcAft>
              <a:buClrTx/>
              <a:buSzTx/>
              <a:buFontTx/>
              <a:buNone/>
              <a:tabLst/>
              <a:defRPr/>
            </a:pPr>
            <a:r>
              <a:rPr lang="zh-CN" altLang="en-US" dirty="0"/>
              <a:t>二阶系统稳定要求：特征方程所有系数大于</a:t>
            </a:r>
            <a:r>
              <a:rPr lang="en-US" altLang="zh-CN" dirty="0"/>
              <a:t>0</a:t>
            </a:r>
            <a:r>
              <a:rPr lang="zh-CN" altLang="en-US" dirty="0"/>
              <a:t>，得到</a:t>
            </a:r>
          </a:p>
        </p:txBody>
      </p:sp>
      <p:graphicFrame>
        <p:nvGraphicFramePr>
          <p:cNvPr id="9" name="对象 8">
            <a:extLst>
              <a:ext uri="{FF2B5EF4-FFF2-40B4-BE49-F238E27FC236}">
                <a16:creationId xmlns:a16="http://schemas.microsoft.com/office/drawing/2014/main" id="{658797EA-0F36-4898-AE65-8EB4437F0DD3}"/>
              </a:ext>
            </a:extLst>
          </p:cNvPr>
          <p:cNvGraphicFramePr>
            <a:graphicFrameLocks noChangeAspect="1"/>
          </p:cNvGraphicFramePr>
          <p:nvPr>
            <p:extLst>
              <p:ext uri="{D42A27DB-BD31-4B8C-83A1-F6EECF244321}">
                <p14:modId xmlns:p14="http://schemas.microsoft.com/office/powerpoint/2010/main" val="2516521145"/>
              </p:ext>
            </p:extLst>
          </p:nvPr>
        </p:nvGraphicFramePr>
        <p:xfrm>
          <a:off x="1250823" y="4221164"/>
          <a:ext cx="3915496" cy="1187730"/>
        </p:xfrm>
        <a:graphic>
          <a:graphicData uri="http://schemas.openxmlformats.org/presentationml/2006/ole">
            <mc:AlternateContent xmlns:mc="http://schemas.openxmlformats.org/markup-compatibility/2006">
              <mc:Choice xmlns:v="urn:schemas-microsoft-com:vml" Requires="v">
                <p:oleObj name="Equation" r:id="rId9" imgW="4799158" imgH="1455532" progId="Equation.DSMT4">
                  <p:embed/>
                </p:oleObj>
              </mc:Choice>
              <mc:Fallback>
                <p:oleObj name="Equation" r:id="rId9" imgW="4799158" imgH="1455532" progId="Equation.DSMT4">
                  <p:embed/>
                  <p:pic>
                    <p:nvPicPr>
                      <p:cNvPr id="0" name=""/>
                      <p:cNvPicPr/>
                      <p:nvPr/>
                    </p:nvPicPr>
                    <p:blipFill>
                      <a:blip r:embed="rId10"/>
                      <a:stretch>
                        <a:fillRect/>
                      </a:stretch>
                    </p:blipFill>
                    <p:spPr>
                      <a:xfrm>
                        <a:off x="1250823" y="4221164"/>
                        <a:ext cx="3915496" cy="1187730"/>
                      </a:xfrm>
                      <a:prstGeom prst="rect">
                        <a:avLst/>
                      </a:prstGeom>
                    </p:spPr>
                  </p:pic>
                </p:oleObj>
              </mc:Fallback>
            </mc:AlternateContent>
          </a:graphicData>
        </a:graphic>
      </p:graphicFrame>
      <p:grpSp>
        <p:nvGrpSpPr>
          <p:cNvPr id="10" name="Group 14">
            <a:extLst>
              <a:ext uri="{FF2B5EF4-FFF2-40B4-BE49-F238E27FC236}">
                <a16:creationId xmlns:a16="http://schemas.microsoft.com/office/drawing/2014/main" id="{B0D1F176-D9BB-A1AF-F536-991A5A1532BF}"/>
              </a:ext>
            </a:extLst>
          </p:cNvPr>
          <p:cNvGrpSpPr>
            <a:grpSpLocks/>
          </p:cNvGrpSpPr>
          <p:nvPr/>
        </p:nvGrpSpPr>
        <p:grpSpPr bwMode="auto">
          <a:xfrm>
            <a:off x="500647" y="5661248"/>
            <a:ext cx="5275263" cy="409575"/>
            <a:chOff x="-136" y="3699"/>
            <a:chExt cx="3323" cy="258"/>
          </a:xfrm>
        </p:grpSpPr>
        <p:graphicFrame>
          <p:nvGraphicFramePr>
            <p:cNvPr id="11" name="Object 9">
              <a:extLst>
                <a:ext uri="{FF2B5EF4-FFF2-40B4-BE49-F238E27FC236}">
                  <a16:creationId xmlns:a16="http://schemas.microsoft.com/office/drawing/2014/main" id="{6C562801-7E32-8DBF-693F-C236C76D1870}"/>
                </a:ext>
              </a:extLst>
            </p:cNvPr>
            <p:cNvGraphicFramePr>
              <a:graphicFrameLocks noChangeAspect="1"/>
            </p:cNvGraphicFramePr>
            <p:nvPr>
              <p:extLst>
                <p:ext uri="{D42A27DB-BD31-4B8C-83A1-F6EECF244321}">
                  <p14:modId xmlns:p14="http://schemas.microsoft.com/office/powerpoint/2010/main" val="640463108"/>
                </p:ext>
              </p:extLst>
            </p:nvPr>
          </p:nvGraphicFramePr>
          <p:xfrm>
            <a:off x="2116" y="3699"/>
            <a:ext cx="1071" cy="234"/>
          </p:xfrm>
          <a:graphic>
            <a:graphicData uri="http://schemas.openxmlformats.org/presentationml/2006/ole">
              <mc:AlternateContent xmlns:mc="http://schemas.openxmlformats.org/markup-compatibility/2006">
                <mc:Choice xmlns:v="urn:schemas-microsoft-com:vml" Requires="v">
                  <p:oleObj name="Equation" r:id="rId11" imgW="812447" imgH="177723" progId="Equation.DSMT4">
                    <p:embed/>
                  </p:oleObj>
                </mc:Choice>
                <mc:Fallback>
                  <p:oleObj name="Equation" r:id="rId11" imgW="812447" imgH="177723" progId="Equation.DSMT4">
                    <p:embed/>
                    <p:pic>
                      <p:nvPicPr>
                        <p:cNvPr id="30730" name="Object 9">
                          <a:extLst>
                            <a:ext uri="{FF2B5EF4-FFF2-40B4-BE49-F238E27FC236}">
                              <a16:creationId xmlns:a16="http://schemas.microsoft.com/office/drawing/2014/main" id="{962CC106-F63E-CACB-33EA-3A77EA7368CD}"/>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116" y="3699"/>
                          <a:ext cx="1071" cy="234"/>
                        </a:xfrm>
                        <a:prstGeom prst="rect">
                          <a:avLst/>
                        </a:prstGeom>
                        <a:noFill/>
                        <a:ln>
                          <a:noFill/>
                        </a:ln>
                        <a:effectLst/>
                      </p:spPr>
                    </p:pic>
                  </p:oleObj>
                </mc:Fallback>
              </mc:AlternateContent>
            </a:graphicData>
          </a:graphic>
        </p:graphicFrame>
        <p:sp>
          <p:nvSpPr>
            <p:cNvPr id="12" name="Text Box 12">
              <a:extLst>
                <a:ext uri="{FF2B5EF4-FFF2-40B4-BE49-F238E27FC236}">
                  <a16:creationId xmlns:a16="http://schemas.microsoft.com/office/drawing/2014/main" id="{D93817E4-355B-80E7-B909-59601AB88F1E}"/>
                </a:ext>
              </a:extLst>
            </p:cNvPr>
            <p:cNvSpPr txBox="1">
              <a:spLocks noChangeArrowheads="1"/>
            </p:cNvSpPr>
            <p:nvPr/>
          </p:nvSpPr>
          <p:spPr bwMode="auto">
            <a:xfrm>
              <a:off x="-136" y="3723"/>
              <a:ext cx="2539"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457200" indent="-4572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zh-CN" altLang="en-US" sz="2000" dirty="0">
                  <a:latin typeface="Times New Roman" pitchFamily="18" charset="0"/>
                  <a:ea typeface="宋体" pitchFamily="2" charset="-122"/>
                </a:rPr>
                <a:t>综合，得到系统稳定要求：</a:t>
              </a:r>
            </a:p>
          </p:txBody>
        </p:sp>
      </p:grpSp>
    </p:spTree>
    <p:extLst>
      <p:ext uri="{BB962C8B-B14F-4D97-AF65-F5344CB8AC3E}">
        <p14:creationId xmlns:p14="http://schemas.microsoft.com/office/powerpoint/2010/main" val="3010337189"/>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pSp>
        <p:nvGrpSpPr>
          <p:cNvPr id="14" name="Group 30">
            <a:extLst>
              <a:ext uri="{FF2B5EF4-FFF2-40B4-BE49-F238E27FC236}">
                <a16:creationId xmlns:a16="http://schemas.microsoft.com/office/drawing/2014/main" id="{7D94CFCA-5A1E-5015-BA26-F87A362F71CC}"/>
              </a:ext>
            </a:extLst>
          </p:cNvPr>
          <p:cNvGrpSpPr>
            <a:grpSpLocks/>
          </p:cNvGrpSpPr>
          <p:nvPr/>
        </p:nvGrpSpPr>
        <p:grpSpPr bwMode="auto">
          <a:xfrm>
            <a:off x="755576" y="1437853"/>
            <a:ext cx="5472687" cy="1085510"/>
            <a:chOff x="250" y="724"/>
            <a:chExt cx="3868" cy="802"/>
          </a:xfrm>
        </p:grpSpPr>
        <p:sp>
          <p:nvSpPr>
            <p:cNvPr id="15" name="Text Box 18">
              <a:extLst>
                <a:ext uri="{FF2B5EF4-FFF2-40B4-BE49-F238E27FC236}">
                  <a16:creationId xmlns:a16="http://schemas.microsoft.com/office/drawing/2014/main" id="{C4FB7D32-9225-1065-DDF7-BC18A97CA4FA}"/>
                </a:ext>
              </a:extLst>
            </p:cNvPr>
            <p:cNvSpPr txBox="1">
              <a:spLocks noChangeArrowheads="1"/>
            </p:cNvSpPr>
            <p:nvPr/>
          </p:nvSpPr>
          <p:spPr bwMode="auto">
            <a:xfrm>
              <a:off x="250" y="724"/>
              <a:ext cx="2449" cy="2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5pPr>
              <a:lvl6pPr marL="25146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6pPr>
              <a:lvl7pPr marL="29718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7pPr>
              <a:lvl8pPr marL="34290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8pPr>
              <a:lvl9pPr marL="38862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9pPr>
            </a:lstStyle>
            <a:p>
              <a:pPr>
                <a:spcBef>
                  <a:spcPct val="50000"/>
                </a:spcBef>
                <a:buFontTx/>
                <a:buNone/>
              </a:pPr>
              <a:r>
                <a:rPr lang="zh-CN" altLang="en-US" sz="2000" dirty="0">
                  <a:latin typeface="Times New Roman" pitchFamily="18" charset="0"/>
                  <a:ea typeface="宋体" pitchFamily="2" charset="-122"/>
                </a:rPr>
                <a:t>系统特征方程为</a:t>
              </a:r>
              <a:r>
                <a:rPr lang="en-US" altLang="zh-CN" sz="2000" dirty="0">
                  <a:latin typeface="Times New Roman" pitchFamily="18" charset="0"/>
                  <a:ea typeface="宋体" pitchFamily="2" charset="-122"/>
                </a:rPr>
                <a:t>:</a:t>
              </a:r>
            </a:p>
          </p:txBody>
        </p:sp>
        <p:graphicFrame>
          <p:nvGraphicFramePr>
            <p:cNvPr id="16" name="Object 742">
              <a:extLst>
                <a:ext uri="{FF2B5EF4-FFF2-40B4-BE49-F238E27FC236}">
                  <a16:creationId xmlns:a16="http://schemas.microsoft.com/office/drawing/2014/main" id="{B21E5891-FA02-5A94-C9FE-2911E7B4CBCE}"/>
                </a:ext>
              </a:extLst>
            </p:cNvPr>
            <p:cNvGraphicFramePr>
              <a:graphicFrameLocks noChangeAspect="1"/>
            </p:cNvGraphicFramePr>
            <p:nvPr>
              <p:extLst>
                <p:ext uri="{D42A27DB-BD31-4B8C-83A1-F6EECF244321}">
                  <p14:modId xmlns:p14="http://schemas.microsoft.com/office/powerpoint/2010/main" val="1286624030"/>
                </p:ext>
              </p:extLst>
            </p:nvPr>
          </p:nvGraphicFramePr>
          <p:xfrm>
            <a:off x="1064" y="1087"/>
            <a:ext cx="3054" cy="439"/>
          </p:xfrm>
          <a:graphic>
            <a:graphicData uri="http://schemas.openxmlformats.org/presentationml/2006/ole">
              <mc:AlternateContent xmlns:mc="http://schemas.openxmlformats.org/markup-compatibility/2006">
                <mc:Choice xmlns:v="urn:schemas-microsoft-com:vml" Requires="v">
                  <p:oleObj name="Equation" r:id="rId3" imgW="2755800" imgH="393480" progId="Equation.DSMT4">
                    <p:embed/>
                  </p:oleObj>
                </mc:Choice>
                <mc:Fallback>
                  <p:oleObj name="Equation" r:id="rId3" imgW="2755800" imgH="393480" progId="Equation.DSMT4">
                    <p:embed/>
                    <p:pic>
                      <p:nvPicPr>
                        <p:cNvPr id="380646" name="Object 742">
                          <a:extLst>
                            <a:ext uri="{FF2B5EF4-FFF2-40B4-BE49-F238E27FC236}">
                              <a16:creationId xmlns:a16="http://schemas.microsoft.com/office/drawing/2014/main" id="{FCFF83CD-1DBE-301E-51B4-05AE01E892FF}"/>
                            </a:ext>
                          </a:extLst>
                        </p:cNvPr>
                        <p:cNvPicPr>
                          <a:picLocks noChangeAspect="1" noChangeArrowheads="1"/>
                        </p:cNvPicPr>
                        <p:nvPr/>
                      </p:nvPicPr>
                      <p:blipFill>
                        <a:blip r:embed="rId4"/>
                        <a:srcRect/>
                        <a:stretch>
                          <a:fillRect/>
                        </a:stretch>
                      </p:blipFill>
                      <p:spPr bwMode="auto">
                        <a:xfrm>
                          <a:off x="1064" y="1087"/>
                          <a:ext cx="3054" cy="439"/>
                        </a:xfrm>
                        <a:prstGeom prst="rect">
                          <a:avLst/>
                        </a:prstGeom>
                        <a:noFill/>
                        <a:ln>
                          <a:noFill/>
                        </a:ln>
                      </p:spPr>
                    </p:pic>
                  </p:oleObj>
                </mc:Fallback>
              </mc:AlternateContent>
            </a:graphicData>
          </a:graphic>
        </p:graphicFrame>
      </p:grpSp>
      <p:grpSp>
        <p:nvGrpSpPr>
          <p:cNvPr id="17" name="Group 31">
            <a:extLst>
              <a:ext uri="{FF2B5EF4-FFF2-40B4-BE49-F238E27FC236}">
                <a16:creationId xmlns:a16="http://schemas.microsoft.com/office/drawing/2014/main" id="{9FC5784B-7BE2-692E-8D12-6FD60EFC4DCD}"/>
              </a:ext>
            </a:extLst>
          </p:cNvPr>
          <p:cNvGrpSpPr>
            <a:grpSpLocks/>
          </p:cNvGrpSpPr>
          <p:nvPr/>
        </p:nvGrpSpPr>
        <p:grpSpPr bwMode="auto">
          <a:xfrm>
            <a:off x="756567" y="2782598"/>
            <a:ext cx="5984015" cy="1096564"/>
            <a:chOff x="110" y="1809"/>
            <a:chExt cx="4834" cy="922"/>
          </a:xfrm>
        </p:grpSpPr>
        <p:sp>
          <p:nvSpPr>
            <p:cNvPr id="18" name="Text Box 21">
              <a:extLst>
                <a:ext uri="{FF2B5EF4-FFF2-40B4-BE49-F238E27FC236}">
                  <a16:creationId xmlns:a16="http://schemas.microsoft.com/office/drawing/2014/main" id="{F9C9F6EC-38E4-449D-4EBA-68492599890D}"/>
                </a:ext>
              </a:extLst>
            </p:cNvPr>
            <p:cNvSpPr txBox="1">
              <a:spLocks noChangeArrowheads="1"/>
            </p:cNvSpPr>
            <p:nvPr/>
          </p:nvSpPr>
          <p:spPr bwMode="auto">
            <a:xfrm>
              <a:off x="110" y="1809"/>
              <a:ext cx="2449"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lIns="90000" tIns="46800" rIns="90000" bIns="46800">
              <a:spAutoFit/>
            </a:bodyPr>
            <a:lstStyle>
              <a:lvl1pPr marL="342900" indent="-3429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5pPr>
              <a:lvl6pPr marL="25146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6pPr>
              <a:lvl7pPr marL="29718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7pPr>
              <a:lvl8pPr marL="34290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8pPr>
              <a:lvl9pPr marL="38862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9pPr>
            </a:lstStyle>
            <a:p>
              <a:pPr>
                <a:spcBef>
                  <a:spcPct val="50000"/>
                </a:spcBef>
                <a:buNone/>
              </a:pPr>
              <a:r>
                <a:rPr lang="zh-CN" altLang="en-US" sz="2000" dirty="0">
                  <a:latin typeface="Times New Roman" pitchFamily="18" charset="0"/>
                  <a:ea typeface="宋体" pitchFamily="2" charset="-122"/>
                </a:rPr>
                <a:t>整理后</a:t>
              </a:r>
              <a:r>
                <a:rPr lang="en-US" altLang="zh-CN" sz="2000" dirty="0">
                  <a:latin typeface="Times New Roman" pitchFamily="18" charset="0"/>
                  <a:ea typeface="宋体" pitchFamily="2" charset="-122"/>
                </a:rPr>
                <a:t>,</a:t>
              </a:r>
              <a:r>
                <a:rPr lang="zh-CN" altLang="en-US" sz="2000" dirty="0">
                  <a:latin typeface="Times New Roman" pitchFamily="18" charset="0"/>
                  <a:ea typeface="宋体" pitchFamily="2" charset="-122"/>
                </a:rPr>
                <a:t>得</a:t>
              </a:r>
              <a:r>
                <a:rPr lang="en-US" altLang="zh-CN" sz="2000" dirty="0">
                  <a:latin typeface="Times New Roman" pitchFamily="18" charset="0"/>
                  <a:ea typeface="宋体" pitchFamily="2" charset="-122"/>
                </a:rPr>
                <a:t>:</a:t>
              </a:r>
            </a:p>
          </p:txBody>
        </p:sp>
        <p:graphicFrame>
          <p:nvGraphicFramePr>
            <p:cNvPr id="19" name="Object 743">
              <a:extLst>
                <a:ext uri="{FF2B5EF4-FFF2-40B4-BE49-F238E27FC236}">
                  <a16:creationId xmlns:a16="http://schemas.microsoft.com/office/drawing/2014/main" id="{60D1D92D-A349-2646-0096-CF885E650C8C}"/>
                </a:ext>
              </a:extLst>
            </p:cNvPr>
            <p:cNvGraphicFramePr>
              <a:graphicFrameLocks noChangeAspect="1"/>
            </p:cNvGraphicFramePr>
            <p:nvPr>
              <p:extLst>
                <p:ext uri="{D42A27DB-BD31-4B8C-83A1-F6EECF244321}">
                  <p14:modId xmlns:p14="http://schemas.microsoft.com/office/powerpoint/2010/main" val="2780831264"/>
                </p:ext>
              </p:extLst>
            </p:nvPr>
          </p:nvGraphicFramePr>
          <p:xfrm>
            <a:off x="873" y="2392"/>
            <a:ext cx="4071" cy="339"/>
          </p:xfrm>
          <a:graphic>
            <a:graphicData uri="http://schemas.openxmlformats.org/presentationml/2006/ole">
              <mc:AlternateContent xmlns:mc="http://schemas.openxmlformats.org/markup-compatibility/2006">
                <mc:Choice xmlns:v="urn:schemas-microsoft-com:vml" Requires="v">
                  <p:oleObj name="Equation" r:id="rId5" imgW="3213100" imgH="254000" progId="">
                    <p:embed/>
                  </p:oleObj>
                </mc:Choice>
                <mc:Fallback>
                  <p:oleObj name="Equation" r:id="rId5" imgW="3213100" imgH="254000" progId="">
                    <p:embed/>
                    <p:pic>
                      <p:nvPicPr>
                        <p:cNvPr id="380647" name="Object 743">
                          <a:extLst>
                            <a:ext uri="{FF2B5EF4-FFF2-40B4-BE49-F238E27FC236}">
                              <a16:creationId xmlns:a16="http://schemas.microsoft.com/office/drawing/2014/main" id="{C3FE185A-B0BC-B5F8-0C7B-8CC72198C3A4}"/>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873" y="2392"/>
                          <a:ext cx="4071" cy="33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grpSp>
        <p:nvGrpSpPr>
          <p:cNvPr id="20" name="Group 32">
            <a:extLst>
              <a:ext uri="{FF2B5EF4-FFF2-40B4-BE49-F238E27FC236}">
                <a16:creationId xmlns:a16="http://schemas.microsoft.com/office/drawing/2014/main" id="{6823025A-2FEB-AA55-DC6F-163B5AD9F681}"/>
              </a:ext>
            </a:extLst>
          </p:cNvPr>
          <p:cNvGrpSpPr>
            <a:grpSpLocks/>
          </p:cNvGrpSpPr>
          <p:nvPr/>
        </p:nvGrpSpPr>
        <p:grpSpPr bwMode="auto">
          <a:xfrm>
            <a:off x="841391" y="4005065"/>
            <a:ext cx="7101626" cy="1760034"/>
            <a:chOff x="-2501" y="2551"/>
            <a:chExt cx="6115" cy="1477"/>
          </a:xfrm>
        </p:grpSpPr>
        <p:sp>
          <p:nvSpPr>
            <p:cNvPr id="21" name="Text Box 23">
              <a:extLst>
                <a:ext uri="{FF2B5EF4-FFF2-40B4-BE49-F238E27FC236}">
                  <a16:creationId xmlns:a16="http://schemas.microsoft.com/office/drawing/2014/main" id="{53F0804F-5542-8492-5037-0D1A9953D578}"/>
                </a:ext>
              </a:extLst>
            </p:cNvPr>
            <p:cNvSpPr txBox="1">
              <a:spLocks noChangeArrowheads="1"/>
            </p:cNvSpPr>
            <p:nvPr/>
          </p:nvSpPr>
          <p:spPr bwMode="auto">
            <a:xfrm>
              <a:off x="-2501" y="2551"/>
              <a:ext cx="2984" cy="31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lIns="90000" tIns="46800" rIns="90000" bIns="46800">
              <a:spAutoFit/>
            </a:bodyPr>
            <a:lstStyle>
              <a:lvl1pPr marL="342900" indent="-3429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1pPr>
              <a:lvl2pPr marL="742950" indent="-28575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2pPr>
              <a:lvl3pPr marL="11430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3pPr>
              <a:lvl4pPr marL="16002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4pPr>
              <a:lvl5pPr marL="2057400" indent="-228600">
                <a:lnSpc>
                  <a:spcPct val="90000"/>
                </a:lnSpc>
                <a:spcBef>
                  <a:spcPct val="20000"/>
                </a:spcBef>
                <a:buChar char="•"/>
                <a:defRPr kumimoji="1" sz="3200" b="1">
                  <a:solidFill>
                    <a:schemeClr val="tx1"/>
                  </a:solidFill>
                  <a:latin typeface="黑体" panose="02010609060101010101" pitchFamily="49" charset="-122"/>
                  <a:ea typeface="黑体" panose="02010609060101010101" pitchFamily="49" charset="-122"/>
                </a:defRPr>
              </a:lvl5pPr>
              <a:lvl6pPr marL="25146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6pPr>
              <a:lvl7pPr marL="29718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7pPr>
              <a:lvl8pPr marL="34290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8pPr>
              <a:lvl9pPr marL="3886200" indent="-228600" fontAlgn="base">
                <a:lnSpc>
                  <a:spcPct val="90000"/>
                </a:lnSpc>
                <a:spcBef>
                  <a:spcPct val="20000"/>
                </a:spcBef>
                <a:spcAft>
                  <a:spcPct val="0"/>
                </a:spcAft>
                <a:buChar char="•"/>
                <a:defRPr kumimoji="1" sz="3200" b="1">
                  <a:solidFill>
                    <a:schemeClr val="tx1"/>
                  </a:solidFill>
                  <a:latin typeface="黑体" panose="02010609060101010101" pitchFamily="49" charset="-122"/>
                  <a:ea typeface="黑体" panose="02010609060101010101" pitchFamily="49" charset="-122"/>
                </a:defRPr>
              </a:lvl9pPr>
            </a:lstStyle>
            <a:p>
              <a:pPr>
                <a:spcBef>
                  <a:spcPct val="50000"/>
                </a:spcBef>
                <a:buFontTx/>
                <a:buNone/>
              </a:pPr>
              <a:r>
                <a:rPr lang="en-US" altLang="zh-CN" sz="2000" b="0" dirty="0"/>
                <a:t>2</a:t>
              </a:r>
              <a:r>
                <a:rPr lang="zh-CN" altLang="en-US" sz="2000" b="0" dirty="0"/>
                <a:t>阶系统的稳定性条件为</a:t>
              </a:r>
              <a:r>
                <a:rPr lang="en-US" altLang="zh-CN" sz="2000" b="0" dirty="0"/>
                <a:t>:</a:t>
              </a:r>
            </a:p>
          </p:txBody>
        </p:sp>
        <p:graphicFrame>
          <p:nvGraphicFramePr>
            <p:cNvPr id="22" name="Object 744">
              <a:extLst>
                <a:ext uri="{FF2B5EF4-FFF2-40B4-BE49-F238E27FC236}">
                  <a16:creationId xmlns:a16="http://schemas.microsoft.com/office/drawing/2014/main" id="{30755562-B5E1-779A-8AAE-07B1D06804D9}"/>
                </a:ext>
              </a:extLst>
            </p:cNvPr>
            <p:cNvGraphicFramePr>
              <a:graphicFrameLocks noChangeAspect="1"/>
            </p:cNvGraphicFramePr>
            <p:nvPr>
              <p:extLst>
                <p:ext uri="{D42A27DB-BD31-4B8C-83A1-F6EECF244321}">
                  <p14:modId xmlns:p14="http://schemas.microsoft.com/office/powerpoint/2010/main" val="1449292347"/>
                </p:ext>
              </p:extLst>
            </p:nvPr>
          </p:nvGraphicFramePr>
          <p:xfrm>
            <a:off x="277" y="3764"/>
            <a:ext cx="3149" cy="264"/>
          </p:xfrm>
          <a:graphic>
            <a:graphicData uri="http://schemas.openxmlformats.org/presentationml/2006/ole">
              <mc:AlternateContent xmlns:mc="http://schemas.openxmlformats.org/markup-compatibility/2006">
                <mc:Choice xmlns:v="urn:schemas-microsoft-com:vml" Requires="v">
                  <p:oleObj name="Equation" r:id="rId7" imgW="2108200" imgH="177800" progId="">
                    <p:embed/>
                  </p:oleObj>
                </mc:Choice>
                <mc:Fallback>
                  <p:oleObj name="Equation" r:id="rId7" imgW="2108200" imgH="177800" progId="">
                    <p:embed/>
                    <p:pic>
                      <p:nvPicPr>
                        <p:cNvPr id="5" name="Object 744">
                          <a:extLst>
                            <a:ext uri="{FF2B5EF4-FFF2-40B4-BE49-F238E27FC236}">
                              <a16:creationId xmlns:a16="http://schemas.microsoft.com/office/drawing/2014/main" id="{527F58B2-B130-0E36-DD2A-1902BD024335}"/>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77" y="3764"/>
                          <a:ext cx="3149" cy="264"/>
                        </a:xfrm>
                        <a:prstGeom prst="rect">
                          <a:avLst/>
                        </a:prstGeom>
                        <a:noFill/>
                        <a:ln>
                          <a:noFill/>
                        </a:ln>
                      </p:spPr>
                    </p:pic>
                  </p:oleObj>
                </mc:Fallback>
              </mc:AlternateContent>
            </a:graphicData>
          </a:graphic>
        </p:graphicFrame>
        <p:graphicFrame>
          <p:nvGraphicFramePr>
            <p:cNvPr id="23" name="Object 745">
              <a:extLst>
                <a:ext uri="{FF2B5EF4-FFF2-40B4-BE49-F238E27FC236}">
                  <a16:creationId xmlns:a16="http://schemas.microsoft.com/office/drawing/2014/main" id="{3C72A6D8-A806-50C9-2B20-2746EB1F5934}"/>
                </a:ext>
              </a:extLst>
            </p:cNvPr>
            <p:cNvGraphicFramePr>
              <a:graphicFrameLocks noChangeAspect="1"/>
            </p:cNvGraphicFramePr>
            <p:nvPr>
              <p:extLst>
                <p:ext uri="{D42A27DB-BD31-4B8C-83A1-F6EECF244321}">
                  <p14:modId xmlns:p14="http://schemas.microsoft.com/office/powerpoint/2010/main" val="361032863"/>
                </p:ext>
              </p:extLst>
            </p:nvPr>
          </p:nvGraphicFramePr>
          <p:xfrm>
            <a:off x="287" y="2992"/>
            <a:ext cx="2073" cy="268"/>
          </p:xfrm>
          <a:graphic>
            <a:graphicData uri="http://schemas.openxmlformats.org/presentationml/2006/ole">
              <mc:AlternateContent xmlns:mc="http://schemas.openxmlformats.org/markup-compatibility/2006">
                <mc:Choice xmlns:v="urn:schemas-microsoft-com:vml" Requires="v">
                  <p:oleObj name="Equation" r:id="rId9" imgW="1371600" imgH="177800" progId="">
                    <p:embed/>
                  </p:oleObj>
                </mc:Choice>
                <mc:Fallback>
                  <p:oleObj name="Equation" r:id="rId9" imgW="1371600" imgH="177800" progId="">
                    <p:embed/>
                    <p:pic>
                      <p:nvPicPr>
                        <p:cNvPr id="6" name="Object 745">
                          <a:extLst>
                            <a:ext uri="{FF2B5EF4-FFF2-40B4-BE49-F238E27FC236}">
                              <a16:creationId xmlns:a16="http://schemas.microsoft.com/office/drawing/2014/main" id="{0F1E90C7-F89A-91B0-F142-E4B2887CCBED}"/>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87" y="2992"/>
                          <a:ext cx="2073" cy="268"/>
                        </a:xfrm>
                        <a:prstGeom prst="rect">
                          <a:avLst/>
                        </a:prstGeom>
                        <a:noFill/>
                        <a:ln>
                          <a:noFill/>
                        </a:ln>
                      </p:spPr>
                    </p:pic>
                  </p:oleObj>
                </mc:Fallback>
              </mc:AlternateContent>
            </a:graphicData>
          </a:graphic>
        </p:graphicFrame>
        <p:graphicFrame>
          <p:nvGraphicFramePr>
            <p:cNvPr id="24" name="Object 746">
              <a:extLst>
                <a:ext uri="{FF2B5EF4-FFF2-40B4-BE49-F238E27FC236}">
                  <a16:creationId xmlns:a16="http://schemas.microsoft.com/office/drawing/2014/main" id="{0EE7FE1A-8059-E4F0-A4D9-03985C5E19F1}"/>
                </a:ext>
              </a:extLst>
            </p:cNvPr>
            <p:cNvGraphicFramePr>
              <a:graphicFrameLocks noChangeAspect="1"/>
            </p:cNvGraphicFramePr>
            <p:nvPr>
              <p:extLst>
                <p:ext uri="{D42A27DB-BD31-4B8C-83A1-F6EECF244321}">
                  <p14:modId xmlns:p14="http://schemas.microsoft.com/office/powerpoint/2010/main" val="2235401187"/>
                </p:ext>
              </p:extLst>
            </p:nvPr>
          </p:nvGraphicFramePr>
          <p:xfrm>
            <a:off x="287" y="3378"/>
            <a:ext cx="3327" cy="268"/>
          </p:xfrm>
          <a:graphic>
            <a:graphicData uri="http://schemas.openxmlformats.org/presentationml/2006/ole">
              <mc:AlternateContent xmlns:mc="http://schemas.openxmlformats.org/markup-compatibility/2006">
                <mc:Choice xmlns:v="urn:schemas-microsoft-com:vml" Requires="v">
                  <p:oleObj name="Equation" r:id="rId11" imgW="2197100" imgH="177800" progId="">
                    <p:embed/>
                  </p:oleObj>
                </mc:Choice>
                <mc:Fallback>
                  <p:oleObj name="Equation" r:id="rId11" imgW="2197100" imgH="177800" progId="">
                    <p:embed/>
                    <p:pic>
                      <p:nvPicPr>
                        <p:cNvPr id="8" name="Object 746">
                          <a:extLst>
                            <a:ext uri="{FF2B5EF4-FFF2-40B4-BE49-F238E27FC236}">
                              <a16:creationId xmlns:a16="http://schemas.microsoft.com/office/drawing/2014/main" id="{12C0568F-BF74-3827-C59B-BCFBBD0DA898}"/>
                            </a:ext>
                          </a:extLst>
                        </p:cNvPr>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287" y="3378"/>
                          <a:ext cx="3327" cy="268"/>
                        </a:xfrm>
                        <a:prstGeom prst="rect">
                          <a:avLst/>
                        </a:prstGeom>
                        <a:noFill/>
                        <a:ln>
                          <a:noFill/>
                        </a:ln>
                      </p:spPr>
                    </p:pic>
                  </p:oleObj>
                </mc:Fallback>
              </mc:AlternateContent>
            </a:graphicData>
          </a:graphic>
        </p:graphicFrame>
      </p:grpSp>
      <p:pic>
        <p:nvPicPr>
          <p:cNvPr id="28" name="Picture 25">
            <a:extLst>
              <a:ext uri="{FF2B5EF4-FFF2-40B4-BE49-F238E27FC236}">
                <a16:creationId xmlns:a16="http://schemas.microsoft.com/office/drawing/2014/main" id="{E661323A-4524-7394-0A15-A6884938548A}"/>
              </a:ext>
            </a:extLst>
          </p:cNvPr>
          <p:cNvPicPr>
            <a:picLocks noChangeAspect="1" noChangeArrowheads="1"/>
          </p:cNvPicPr>
          <p:nvPr/>
        </p:nvPicPr>
        <p:blipFill>
          <a:blip r:embed="rId13" cstate="print"/>
          <a:srcRect/>
          <a:stretch>
            <a:fillRect/>
          </a:stretch>
        </p:blipFill>
        <p:spPr bwMode="auto">
          <a:xfrm>
            <a:off x="1115616" y="4502754"/>
            <a:ext cx="1843608" cy="1318024"/>
          </a:xfrm>
          <a:prstGeom prst="rect">
            <a:avLst/>
          </a:prstGeom>
          <a:noFill/>
          <a:ln w="9525">
            <a:noFill/>
            <a:miter lim="800000"/>
            <a:headEnd/>
            <a:tailEnd/>
          </a:ln>
        </p:spPr>
      </p:pic>
      <p:grpSp>
        <p:nvGrpSpPr>
          <p:cNvPr id="29" name="Group 14">
            <a:extLst>
              <a:ext uri="{FF2B5EF4-FFF2-40B4-BE49-F238E27FC236}">
                <a16:creationId xmlns:a16="http://schemas.microsoft.com/office/drawing/2014/main" id="{FF6B766C-349F-E2B9-EB62-1185C982E505}"/>
              </a:ext>
            </a:extLst>
          </p:cNvPr>
          <p:cNvGrpSpPr>
            <a:grpSpLocks/>
          </p:cNvGrpSpPr>
          <p:nvPr/>
        </p:nvGrpSpPr>
        <p:grpSpPr bwMode="auto">
          <a:xfrm>
            <a:off x="755576" y="6198991"/>
            <a:ext cx="5033963" cy="371475"/>
            <a:chOff x="-136" y="3723"/>
            <a:chExt cx="3171" cy="234"/>
          </a:xfrm>
        </p:grpSpPr>
        <p:graphicFrame>
          <p:nvGraphicFramePr>
            <p:cNvPr id="30" name="Object 9">
              <a:extLst>
                <a:ext uri="{FF2B5EF4-FFF2-40B4-BE49-F238E27FC236}">
                  <a16:creationId xmlns:a16="http://schemas.microsoft.com/office/drawing/2014/main" id="{D47E81B7-074A-40AD-BC80-9256E8BC5525}"/>
                </a:ext>
              </a:extLst>
            </p:cNvPr>
            <p:cNvGraphicFramePr>
              <a:graphicFrameLocks noChangeAspect="1"/>
            </p:cNvGraphicFramePr>
            <p:nvPr>
              <p:extLst>
                <p:ext uri="{D42A27DB-BD31-4B8C-83A1-F6EECF244321}">
                  <p14:modId xmlns:p14="http://schemas.microsoft.com/office/powerpoint/2010/main" val="1334440139"/>
                </p:ext>
              </p:extLst>
            </p:nvPr>
          </p:nvGraphicFramePr>
          <p:xfrm>
            <a:off x="1964" y="3723"/>
            <a:ext cx="1071" cy="234"/>
          </p:xfrm>
          <a:graphic>
            <a:graphicData uri="http://schemas.openxmlformats.org/presentationml/2006/ole">
              <mc:AlternateContent xmlns:mc="http://schemas.openxmlformats.org/markup-compatibility/2006">
                <mc:Choice xmlns:v="urn:schemas-microsoft-com:vml" Requires="v">
                  <p:oleObj name="Equation" r:id="rId14" imgW="812447" imgH="177723" progId="Equation.DSMT4">
                    <p:embed/>
                  </p:oleObj>
                </mc:Choice>
                <mc:Fallback>
                  <p:oleObj name="Equation" r:id="rId14" imgW="812447" imgH="177723" progId="Equation.DSMT4">
                    <p:embed/>
                    <p:pic>
                      <p:nvPicPr>
                        <p:cNvPr id="11" name="Object 9">
                          <a:extLst>
                            <a:ext uri="{FF2B5EF4-FFF2-40B4-BE49-F238E27FC236}">
                              <a16:creationId xmlns:a16="http://schemas.microsoft.com/office/drawing/2014/main" id="{6C562801-7E32-8DBF-693F-C236C76D1870}"/>
                            </a:ext>
                          </a:extLst>
                        </p:cNvPr>
                        <p:cNvPicPr>
                          <a:picLocks noChangeAspect="1" noChangeArrowheads="1"/>
                        </p:cNvPicPr>
                        <p:nvPr/>
                      </p:nvPicPr>
                      <p:blipFill>
                        <a:blip r:embed="rId15">
                          <a:extLst>
                            <a:ext uri="{28A0092B-C50C-407E-A947-70E740481C1C}">
                              <a14:useLocalDpi xmlns:a14="http://schemas.microsoft.com/office/drawing/2010/main" val="0"/>
                            </a:ext>
                          </a:extLst>
                        </a:blip>
                        <a:srcRect/>
                        <a:stretch>
                          <a:fillRect/>
                        </a:stretch>
                      </p:blipFill>
                      <p:spPr bwMode="auto">
                        <a:xfrm>
                          <a:off x="1964" y="3723"/>
                          <a:ext cx="1071" cy="234"/>
                        </a:xfrm>
                        <a:prstGeom prst="rect">
                          <a:avLst/>
                        </a:prstGeom>
                        <a:noFill/>
                        <a:ln>
                          <a:noFill/>
                        </a:ln>
                        <a:effectLst/>
                      </p:spPr>
                    </p:pic>
                  </p:oleObj>
                </mc:Fallback>
              </mc:AlternateContent>
            </a:graphicData>
          </a:graphic>
        </p:graphicFrame>
        <p:sp>
          <p:nvSpPr>
            <p:cNvPr id="31" name="Text Box 12">
              <a:extLst>
                <a:ext uri="{FF2B5EF4-FFF2-40B4-BE49-F238E27FC236}">
                  <a16:creationId xmlns:a16="http://schemas.microsoft.com/office/drawing/2014/main" id="{8AAFDBFB-90DA-3193-E883-FBE3B0B90814}"/>
                </a:ext>
              </a:extLst>
            </p:cNvPr>
            <p:cNvSpPr txBox="1">
              <a:spLocks noChangeArrowheads="1"/>
            </p:cNvSpPr>
            <p:nvPr/>
          </p:nvSpPr>
          <p:spPr bwMode="auto">
            <a:xfrm>
              <a:off x="-136" y="3723"/>
              <a:ext cx="2539" cy="23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38100" algn="ctr">
                  <a:solidFill>
                    <a:srgbClr val="FF00FF"/>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square" lIns="90000" tIns="46800" rIns="90000" bIns="46800">
              <a:spAutoFit/>
            </a:bodyPr>
            <a:lstStyle>
              <a:lvl1pPr marL="457200" indent="-4572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eaLnBrk="1" hangingPunct="1">
                <a:spcBef>
                  <a:spcPct val="50000"/>
                </a:spcBef>
                <a:buFontTx/>
                <a:buNone/>
              </a:pPr>
              <a:r>
                <a:rPr lang="zh-CN" altLang="en-US" sz="2000" dirty="0">
                  <a:latin typeface="Times New Roman" pitchFamily="18" charset="0"/>
                  <a:ea typeface="宋体" pitchFamily="2" charset="-122"/>
                </a:rPr>
                <a:t>综合，得到系统稳定要求：</a:t>
              </a:r>
            </a:p>
          </p:txBody>
        </p:sp>
      </p:grpSp>
    </p:spTree>
    <p:extLst>
      <p:ext uri="{BB962C8B-B14F-4D97-AF65-F5344CB8AC3E}">
        <p14:creationId xmlns:p14="http://schemas.microsoft.com/office/powerpoint/2010/main" val="128465670"/>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nodeType="clickEffect">
                                  <p:stCondLst>
                                    <p:cond delay="8000"/>
                                  </p:stCondLst>
                                  <p:childTnLst>
                                    <p:set>
                                      <p:cBhvr>
                                        <p:cTn id="6" dur="1" fill="hold">
                                          <p:stCondLst>
                                            <p:cond delay="0"/>
                                          </p:stCondLst>
                                        </p:cTn>
                                        <p:tgtEl>
                                          <p:spTgt spid="17"/>
                                        </p:tgtEl>
                                        <p:attrNameLst>
                                          <p:attrName>style.visibility</p:attrName>
                                        </p:attrNameLst>
                                      </p:cBhvr>
                                      <p:to>
                                        <p:strVal val="visible"/>
                                      </p:to>
                                    </p:set>
                                    <p:animEffect transition="in" filter="wipe(up)">
                                      <p:cBhvr>
                                        <p:cTn id="7" dur="500"/>
                                        <p:tgtEl>
                                          <p:spTgt spid="17"/>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1" fill="hold" nodeType="clickEffect">
                                  <p:stCondLst>
                                    <p:cond delay="8000"/>
                                  </p:stCondLst>
                                  <p:childTnLst>
                                    <p:set>
                                      <p:cBhvr>
                                        <p:cTn id="11" dur="1" fill="hold">
                                          <p:stCondLst>
                                            <p:cond delay="0"/>
                                          </p:stCondLst>
                                        </p:cTn>
                                        <p:tgtEl>
                                          <p:spTgt spid="20"/>
                                        </p:tgtEl>
                                        <p:attrNameLst>
                                          <p:attrName>style.visibility</p:attrName>
                                        </p:attrNameLst>
                                      </p:cBhvr>
                                      <p:to>
                                        <p:strVal val="visible"/>
                                      </p:to>
                                    </p:set>
                                    <p:animEffect transition="in" filter="wipe(up)">
                                      <p:cBhvr>
                                        <p:cTn id="12" dur="500"/>
                                        <p:tgtEl>
                                          <p:spTgt spid="20"/>
                                        </p:tgtEl>
                                      </p:cBhvr>
                                    </p:animEffec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nodeType="clickEffect">
                                  <p:stCondLst>
                                    <p:cond delay="0"/>
                                  </p:stCondLst>
                                  <p:childTnLst>
                                    <p:set>
                                      <p:cBhvr>
                                        <p:cTn id="16" dur="1" fill="hold">
                                          <p:stCondLst>
                                            <p:cond delay="0"/>
                                          </p:stCondLst>
                                        </p:cTn>
                                        <p:tgtEl>
                                          <p:spTgt spid="29"/>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 name="Rectangle 3">
            <a:extLst>
              <a:ext uri="{FF2B5EF4-FFF2-40B4-BE49-F238E27FC236}">
                <a16:creationId xmlns:a16="http://schemas.microsoft.com/office/drawing/2014/main" id="{1A00070A-5F10-0E5A-678E-4AE7174733B8}"/>
              </a:ext>
            </a:extLst>
          </p:cNvPr>
          <p:cNvSpPr txBox="1">
            <a:spLocks noChangeArrowheads="1"/>
          </p:cNvSpPr>
          <p:nvPr/>
        </p:nvSpPr>
        <p:spPr bwMode="auto">
          <a:xfrm>
            <a:off x="327059" y="476672"/>
            <a:ext cx="6837229"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eaLnBrk="1" hangingPunct="1">
              <a:lnSpc>
                <a:spcPct val="100000"/>
              </a:lnSpc>
              <a:buFontTx/>
              <a:buNone/>
            </a:pPr>
            <a:r>
              <a:rPr lang="zh-CN" altLang="en-US" sz="2400" b="0" dirty="0"/>
              <a:t>以二阶系统为例分析两种稳定性判据的等价性：</a:t>
            </a:r>
          </a:p>
          <a:p>
            <a:pPr eaLnBrk="1" hangingPunct="1">
              <a:lnSpc>
                <a:spcPct val="100000"/>
              </a:lnSpc>
              <a:buFontTx/>
              <a:buNone/>
            </a:pPr>
            <a:endParaRPr lang="zh-CN" altLang="en-US" sz="4000" dirty="0">
              <a:latin typeface="微软雅黑" panose="020B0503020204020204" pitchFamily="34" charset="-122"/>
              <a:ea typeface="微软雅黑" panose="020B0503020204020204" pitchFamily="34" charset="-122"/>
            </a:endParaRPr>
          </a:p>
        </p:txBody>
      </p:sp>
      <p:graphicFrame>
        <p:nvGraphicFramePr>
          <p:cNvPr id="7" name="Object 4">
            <a:extLst>
              <a:ext uri="{FF2B5EF4-FFF2-40B4-BE49-F238E27FC236}">
                <a16:creationId xmlns:a16="http://schemas.microsoft.com/office/drawing/2014/main" id="{9FBDDC74-CA40-D305-E364-82342DBBAFCB}"/>
              </a:ext>
            </a:extLst>
          </p:cNvPr>
          <p:cNvGraphicFramePr>
            <a:graphicFrameLocks noChangeAspect="1"/>
          </p:cNvGraphicFramePr>
          <p:nvPr>
            <p:extLst>
              <p:ext uri="{D42A27DB-BD31-4B8C-83A1-F6EECF244321}">
                <p14:modId xmlns:p14="http://schemas.microsoft.com/office/powerpoint/2010/main" val="3920500564"/>
              </p:ext>
            </p:extLst>
          </p:nvPr>
        </p:nvGraphicFramePr>
        <p:xfrm>
          <a:off x="539552" y="2045275"/>
          <a:ext cx="3600400" cy="559700"/>
        </p:xfrm>
        <a:graphic>
          <a:graphicData uri="http://schemas.openxmlformats.org/presentationml/2006/ole">
            <mc:AlternateContent xmlns:mc="http://schemas.openxmlformats.org/markup-compatibility/2006">
              <mc:Choice xmlns:v="urn:schemas-microsoft-com:vml" Requires="v">
                <p:oleObj name="Equation" r:id="rId3" imgW="1625600" imgH="254000" progId="Equation.DSMT4">
                  <p:embed/>
                </p:oleObj>
              </mc:Choice>
              <mc:Fallback>
                <p:oleObj name="Equation" r:id="rId3" imgW="1625600" imgH="254000" progId="Equation.DSMT4">
                  <p:embed/>
                  <p:pic>
                    <p:nvPicPr>
                      <p:cNvPr id="23555" name="Object 4">
                        <a:extLst>
                          <a:ext uri="{FF2B5EF4-FFF2-40B4-BE49-F238E27FC236}">
                            <a16:creationId xmlns:a16="http://schemas.microsoft.com/office/drawing/2014/main" id="{11649BB1-1F1F-56FE-00A1-91DF1214735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045275"/>
                        <a:ext cx="3600400" cy="559700"/>
                      </a:xfrm>
                      <a:prstGeom prst="rect">
                        <a:avLst/>
                      </a:prstGeom>
                      <a:noFill/>
                      <a:ln>
                        <a:noFill/>
                      </a:ln>
                    </p:spPr>
                  </p:pic>
                </p:oleObj>
              </mc:Fallback>
            </mc:AlternateContent>
          </a:graphicData>
        </a:graphic>
      </p:graphicFrame>
      <p:graphicFrame>
        <p:nvGraphicFramePr>
          <p:cNvPr id="9" name="Object 12">
            <a:extLst>
              <a:ext uri="{FF2B5EF4-FFF2-40B4-BE49-F238E27FC236}">
                <a16:creationId xmlns:a16="http://schemas.microsoft.com/office/drawing/2014/main" id="{9D7F98D4-16F8-1473-0B66-3661A6E38491}"/>
              </a:ext>
            </a:extLst>
          </p:cNvPr>
          <p:cNvGraphicFramePr>
            <a:graphicFrameLocks noChangeAspect="1"/>
          </p:cNvGraphicFramePr>
          <p:nvPr>
            <p:extLst>
              <p:ext uri="{D42A27DB-BD31-4B8C-83A1-F6EECF244321}">
                <p14:modId xmlns:p14="http://schemas.microsoft.com/office/powerpoint/2010/main" val="3924460793"/>
              </p:ext>
            </p:extLst>
          </p:nvPr>
        </p:nvGraphicFramePr>
        <p:xfrm>
          <a:off x="5436096" y="1674095"/>
          <a:ext cx="1276290" cy="1302060"/>
        </p:xfrm>
        <a:graphic>
          <a:graphicData uri="http://schemas.openxmlformats.org/presentationml/2006/ole">
            <mc:AlternateContent xmlns:mc="http://schemas.openxmlformats.org/markup-compatibility/2006">
              <mc:Choice xmlns:v="urn:schemas-microsoft-com:vml" Requires="v">
                <p:oleObj name="Equation" r:id="rId5" imgW="723586" imgH="736280" progId="Equation.DSMT4">
                  <p:embed/>
                </p:oleObj>
              </mc:Choice>
              <mc:Fallback>
                <p:oleObj name="Equation" r:id="rId5" imgW="723586" imgH="736280" progId="Equation.DSMT4">
                  <p:embed/>
                  <p:pic>
                    <p:nvPicPr>
                      <p:cNvPr id="11" name="Object 12">
                        <a:extLst>
                          <a:ext uri="{FF2B5EF4-FFF2-40B4-BE49-F238E27FC236}">
                            <a16:creationId xmlns:a16="http://schemas.microsoft.com/office/drawing/2014/main" id="{826FF01F-D8C7-BF34-2E84-0D67BB34ADB7}"/>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436096" y="1674095"/>
                        <a:ext cx="1276290" cy="1302060"/>
                      </a:xfrm>
                      <a:prstGeom prst="rect">
                        <a:avLst/>
                      </a:prstGeom>
                      <a:noFill/>
                      <a:ln>
                        <a:noFill/>
                      </a:ln>
                    </p:spPr>
                  </p:pic>
                </p:oleObj>
              </mc:Fallback>
            </mc:AlternateContent>
          </a:graphicData>
        </a:graphic>
      </p:graphicFrame>
      <p:graphicFrame>
        <p:nvGraphicFramePr>
          <p:cNvPr id="13" name="Object 13">
            <a:extLst>
              <a:ext uri="{FF2B5EF4-FFF2-40B4-BE49-F238E27FC236}">
                <a16:creationId xmlns:a16="http://schemas.microsoft.com/office/drawing/2014/main" id="{122CAEEB-70AC-3A62-291D-6401C9701958}"/>
              </a:ext>
            </a:extLst>
          </p:cNvPr>
          <p:cNvGraphicFramePr>
            <a:graphicFrameLocks noChangeAspect="1"/>
          </p:cNvGraphicFramePr>
          <p:nvPr>
            <p:extLst>
              <p:ext uri="{D42A27DB-BD31-4B8C-83A1-F6EECF244321}">
                <p14:modId xmlns:p14="http://schemas.microsoft.com/office/powerpoint/2010/main" val="2545450556"/>
              </p:ext>
            </p:extLst>
          </p:nvPr>
        </p:nvGraphicFramePr>
        <p:xfrm>
          <a:off x="539552" y="3056217"/>
          <a:ext cx="5688632" cy="1542870"/>
        </p:xfrm>
        <a:graphic>
          <a:graphicData uri="http://schemas.openxmlformats.org/presentationml/2006/ole">
            <mc:AlternateContent xmlns:mc="http://schemas.openxmlformats.org/markup-compatibility/2006">
              <mc:Choice xmlns:v="urn:schemas-microsoft-com:vml" Requires="v">
                <p:oleObj name="Equation" r:id="rId7" imgW="2768600" imgH="800100" progId="Equation.DSMT4">
                  <p:embed/>
                </p:oleObj>
              </mc:Choice>
              <mc:Fallback>
                <p:oleObj name="Equation" r:id="rId7" imgW="2768600" imgH="800100" progId="Equation.DSMT4">
                  <p:embed/>
                  <p:pic>
                    <p:nvPicPr>
                      <p:cNvPr id="12" name="Object 13">
                        <a:extLst>
                          <a:ext uri="{FF2B5EF4-FFF2-40B4-BE49-F238E27FC236}">
                            <a16:creationId xmlns:a16="http://schemas.microsoft.com/office/drawing/2014/main" id="{BE05E03E-7736-13C4-6E81-0353490D1123}"/>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9552" y="3056217"/>
                        <a:ext cx="5688632" cy="1542870"/>
                      </a:xfrm>
                      <a:prstGeom prst="rect">
                        <a:avLst/>
                      </a:prstGeom>
                      <a:noFill/>
                      <a:ln>
                        <a:noFill/>
                      </a:ln>
                    </p:spPr>
                  </p:pic>
                </p:oleObj>
              </mc:Fallback>
            </mc:AlternateContent>
          </a:graphicData>
        </a:graphic>
      </p:graphicFrame>
      <p:graphicFrame>
        <p:nvGraphicFramePr>
          <p:cNvPr id="14" name="Object 14">
            <a:extLst>
              <a:ext uri="{FF2B5EF4-FFF2-40B4-BE49-F238E27FC236}">
                <a16:creationId xmlns:a16="http://schemas.microsoft.com/office/drawing/2014/main" id="{C8249A67-FF42-3D97-E537-E54675F24987}"/>
              </a:ext>
            </a:extLst>
          </p:cNvPr>
          <p:cNvGraphicFramePr>
            <a:graphicFrameLocks noChangeAspect="1"/>
          </p:cNvGraphicFramePr>
          <p:nvPr>
            <p:extLst>
              <p:ext uri="{D42A27DB-BD31-4B8C-83A1-F6EECF244321}">
                <p14:modId xmlns:p14="http://schemas.microsoft.com/office/powerpoint/2010/main" val="1476780514"/>
              </p:ext>
            </p:extLst>
          </p:nvPr>
        </p:nvGraphicFramePr>
        <p:xfrm>
          <a:off x="539552" y="4911128"/>
          <a:ext cx="8423722" cy="966144"/>
        </p:xfrm>
        <a:graphic>
          <a:graphicData uri="http://schemas.openxmlformats.org/presentationml/2006/ole">
            <mc:AlternateContent xmlns:mc="http://schemas.openxmlformats.org/markup-compatibility/2006">
              <mc:Choice xmlns:v="urn:schemas-microsoft-com:vml" Requires="v">
                <p:oleObj name="Equation" r:id="rId9" imgW="3962400" imgH="457200" progId="Equation.DSMT4">
                  <p:embed/>
                </p:oleObj>
              </mc:Choice>
              <mc:Fallback>
                <p:oleObj name="Equation" r:id="rId9" imgW="3962400" imgH="457200" progId="Equation.DSMT4">
                  <p:embed/>
                  <p:pic>
                    <p:nvPicPr>
                      <p:cNvPr id="13" name="Object 14">
                        <a:extLst>
                          <a:ext uri="{FF2B5EF4-FFF2-40B4-BE49-F238E27FC236}">
                            <a16:creationId xmlns:a16="http://schemas.microsoft.com/office/drawing/2014/main" id="{90C18F6A-0219-0679-BC38-BC6001933072}"/>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539552" y="4911128"/>
                        <a:ext cx="8423722" cy="966144"/>
                      </a:xfrm>
                      <a:prstGeom prst="rect">
                        <a:avLst/>
                      </a:prstGeom>
                      <a:noFill/>
                      <a:ln>
                        <a:noFill/>
                      </a:ln>
                    </p:spPr>
                  </p:pic>
                </p:oleObj>
              </mc:Fallback>
            </mc:AlternateContent>
          </a:graphicData>
        </a:graphic>
      </p:graphicFrame>
      <p:sp>
        <p:nvSpPr>
          <p:cNvPr id="15" name="Rectangle 3">
            <a:extLst>
              <a:ext uri="{FF2B5EF4-FFF2-40B4-BE49-F238E27FC236}">
                <a16:creationId xmlns:a16="http://schemas.microsoft.com/office/drawing/2014/main" id="{9B5147E4-F541-B33F-F250-D9635A6FA1AD}"/>
              </a:ext>
            </a:extLst>
          </p:cNvPr>
          <p:cNvSpPr txBox="1">
            <a:spLocks noChangeArrowheads="1"/>
          </p:cNvSpPr>
          <p:nvPr/>
        </p:nvSpPr>
        <p:spPr bwMode="auto">
          <a:xfrm>
            <a:off x="327059" y="1289920"/>
            <a:ext cx="6837229"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eaLnBrk="1" hangingPunct="1">
              <a:lnSpc>
                <a:spcPct val="100000"/>
              </a:lnSpc>
              <a:buFontTx/>
              <a:buNone/>
            </a:pPr>
            <a:r>
              <a:rPr lang="zh-CN" altLang="en-US" sz="2400" b="0" dirty="0"/>
              <a:t>设二阶系统的特征方程为：</a:t>
            </a:r>
          </a:p>
          <a:p>
            <a:pPr eaLnBrk="1" hangingPunct="1">
              <a:lnSpc>
                <a:spcPct val="100000"/>
              </a:lnSpc>
              <a:buFontTx/>
              <a:buNone/>
            </a:pPr>
            <a:endParaRPr lang="zh-CN" altLang="en-US" sz="4000" dirty="0">
              <a:latin typeface="微软雅黑" panose="020B0503020204020204" pitchFamily="34" charset="-122"/>
              <a:ea typeface="微软雅黑" panose="020B0503020204020204" pitchFamily="34" charset="-122"/>
            </a:endParaRPr>
          </a:p>
        </p:txBody>
      </p:sp>
      <p:sp>
        <p:nvSpPr>
          <p:cNvPr id="16" name="Rectangle 3">
            <a:extLst>
              <a:ext uri="{FF2B5EF4-FFF2-40B4-BE49-F238E27FC236}">
                <a16:creationId xmlns:a16="http://schemas.microsoft.com/office/drawing/2014/main" id="{58E616F6-69CC-7AFD-743E-10A486BD2F90}"/>
              </a:ext>
            </a:extLst>
          </p:cNvPr>
          <p:cNvSpPr txBox="1">
            <a:spLocks noChangeArrowheads="1"/>
          </p:cNvSpPr>
          <p:nvPr/>
        </p:nvSpPr>
        <p:spPr bwMode="auto">
          <a:xfrm>
            <a:off x="4932040" y="2084428"/>
            <a:ext cx="648072" cy="7683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a:lstStyle>
            <a:lvl1pPr marL="342900" indent="-3429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eaLnBrk="1" hangingPunct="1">
              <a:lnSpc>
                <a:spcPct val="100000"/>
              </a:lnSpc>
              <a:buFontTx/>
              <a:buNone/>
            </a:pPr>
            <a:r>
              <a:rPr lang="zh-CN" altLang="en-US" sz="2400" b="0" dirty="0"/>
              <a:t>令</a:t>
            </a:r>
            <a:endParaRPr lang="zh-CN" altLang="en-US" sz="400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1810427443"/>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13"/>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1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graphicFrame>
        <p:nvGraphicFramePr>
          <p:cNvPr id="5" name="Object 7">
            <a:extLst>
              <a:ext uri="{FF2B5EF4-FFF2-40B4-BE49-F238E27FC236}">
                <a16:creationId xmlns:a16="http://schemas.microsoft.com/office/drawing/2014/main" id="{B066D50A-735C-229D-80C7-46DF5C785010}"/>
              </a:ext>
            </a:extLst>
          </p:cNvPr>
          <p:cNvGraphicFramePr>
            <a:graphicFrameLocks noChangeAspect="1"/>
          </p:cNvGraphicFramePr>
          <p:nvPr>
            <p:extLst>
              <p:ext uri="{D42A27DB-BD31-4B8C-83A1-F6EECF244321}">
                <p14:modId xmlns:p14="http://schemas.microsoft.com/office/powerpoint/2010/main" val="1376092146"/>
              </p:ext>
            </p:extLst>
          </p:nvPr>
        </p:nvGraphicFramePr>
        <p:xfrm>
          <a:off x="539552" y="2572631"/>
          <a:ext cx="7796212" cy="1011238"/>
        </p:xfrm>
        <a:graphic>
          <a:graphicData uri="http://schemas.openxmlformats.org/presentationml/2006/ole">
            <mc:AlternateContent xmlns:mc="http://schemas.openxmlformats.org/markup-compatibility/2006">
              <mc:Choice xmlns:v="urn:schemas-microsoft-com:vml" Requires="v">
                <p:oleObj name="Equation" r:id="rId3" imgW="3213100" imgH="419100" progId="Equation.DSMT4">
                  <p:embed/>
                </p:oleObj>
              </mc:Choice>
              <mc:Fallback>
                <p:oleObj name="Equation" r:id="rId3" imgW="3213100" imgH="419100" progId="Equation.DSMT4">
                  <p:embed/>
                  <p:pic>
                    <p:nvPicPr>
                      <p:cNvPr id="15" name="Object 7">
                        <a:extLst>
                          <a:ext uri="{FF2B5EF4-FFF2-40B4-BE49-F238E27FC236}">
                            <a16:creationId xmlns:a16="http://schemas.microsoft.com/office/drawing/2014/main" id="{EBA8D555-E9C6-FF4C-727A-3943B441AA9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9552" y="2572631"/>
                        <a:ext cx="7796212" cy="101123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aphicFrame>
        <p:nvGraphicFramePr>
          <p:cNvPr id="6" name="Object 9">
            <a:extLst>
              <a:ext uri="{FF2B5EF4-FFF2-40B4-BE49-F238E27FC236}">
                <a16:creationId xmlns:a16="http://schemas.microsoft.com/office/drawing/2014/main" id="{77DD93B7-9F14-3A37-0A73-C33E9594860E}"/>
              </a:ext>
            </a:extLst>
          </p:cNvPr>
          <p:cNvGraphicFramePr>
            <a:graphicFrameLocks noChangeAspect="1"/>
          </p:cNvGraphicFramePr>
          <p:nvPr>
            <p:extLst>
              <p:ext uri="{D42A27DB-BD31-4B8C-83A1-F6EECF244321}">
                <p14:modId xmlns:p14="http://schemas.microsoft.com/office/powerpoint/2010/main" val="2209715893"/>
              </p:ext>
            </p:extLst>
          </p:nvPr>
        </p:nvGraphicFramePr>
        <p:xfrm>
          <a:off x="636836" y="3932883"/>
          <a:ext cx="2597150" cy="1866900"/>
        </p:xfrm>
        <a:graphic>
          <a:graphicData uri="http://schemas.openxmlformats.org/presentationml/2006/ole">
            <mc:AlternateContent xmlns:mc="http://schemas.openxmlformats.org/markup-compatibility/2006">
              <mc:Choice xmlns:v="urn:schemas-microsoft-com:vml" Requires="v">
                <p:oleObj name="Equation" r:id="rId5" imgW="1054100" imgH="762000" progId="Equation.DSMT4">
                  <p:embed/>
                </p:oleObj>
              </mc:Choice>
              <mc:Fallback>
                <p:oleObj name="Equation" r:id="rId5" imgW="1054100" imgH="762000" progId="Equation.DSMT4">
                  <p:embed/>
                  <p:pic>
                    <p:nvPicPr>
                      <p:cNvPr id="16" name="Object 9">
                        <a:extLst>
                          <a:ext uri="{FF2B5EF4-FFF2-40B4-BE49-F238E27FC236}">
                            <a16:creationId xmlns:a16="http://schemas.microsoft.com/office/drawing/2014/main" id="{6B0F9514-451E-C677-C261-205B56C0780B}"/>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36836" y="3932883"/>
                        <a:ext cx="2597150" cy="18669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oleObj>
              </mc:Fallback>
            </mc:AlternateContent>
          </a:graphicData>
        </a:graphic>
      </p:graphicFrame>
      <p:grpSp>
        <p:nvGrpSpPr>
          <p:cNvPr id="8" name="Group 15">
            <a:extLst>
              <a:ext uri="{FF2B5EF4-FFF2-40B4-BE49-F238E27FC236}">
                <a16:creationId xmlns:a16="http://schemas.microsoft.com/office/drawing/2014/main" id="{6613FE97-820E-7E97-9F31-13086E8EF02F}"/>
              </a:ext>
            </a:extLst>
          </p:cNvPr>
          <p:cNvGrpSpPr>
            <a:grpSpLocks/>
          </p:cNvGrpSpPr>
          <p:nvPr/>
        </p:nvGrpSpPr>
        <p:grpSpPr bwMode="auto">
          <a:xfrm>
            <a:off x="3429248" y="4004320"/>
            <a:ext cx="5078413" cy="1746250"/>
            <a:chOff x="2131" y="2704"/>
            <a:chExt cx="3199" cy="1100"/>
          </a:xfrm>
        </p:grpSpPr>
        <p:graphicFrame>
          <p:nvGraphicFramePr>
            <p:cNvPr id="10" name="Object 10">
              <a:extLst>
                <a:ext uri="{FF2B5EF4-FFF2-40B4-BE49-F238E27FC236}">
                  <a16:creationId xmlns:a16="http://schemas.microsoft.com/office/drawing/2014/main" id="{F2264D3F-53A2-B92C-4578-8B943BB9E4FF}"/>
                </a:ext>
              </a:extLst>
            </p:cNvPr>
            <p:cNvGraphicFramePr>
              <a:graphicFrameLocks noChangeAspect="1"/>
            </p:cNvGraphicFramePr>
            <p:nvPr/>
          </p:nvGraphicFramePr>
          <p:xfrm>
            <a:off x="3379" y="2704"/>
            <a:ext cx="1951" cy="1100"/>
          </p:xfrm>
          <a:graphic>
            <a:graphicData uri="http://schemas.openxmlformats.org/presentationml/2006/ole">
              <mc:AlternateContent xmlns:mc="http://schemas.openxmlformats.org/markup-compatibility/2006">
                <mc:Choice xmlns:v="urn:schemas-microsoft-com:vml" Requires="v">
                  <p:oleObj name="Equation" r:id="rId7" imgW="1422400" imgH="711200" progId="Equation.DSMT4">
                    <p:embed/>
                  </p:oleObj>
                </mc:Choice>
                <mc:Fallback>
                  <p:oleObj name="Equation" r:id="rId7" imgW="1422400" imgH="711200" progId="Equation.DSMT4">
                    <p:embed/>
                    <p:pic>
                      <p:nvPicPr>
                        <p:cNvPr id="24584" name="Object 10">
                          <a:extLst>
                            <a:ext uri="{FF2B5EF4-FFF2-40B4-BE49-F238E27FC236}">
                              <a16:creationId xmlns:a16="http://schemas.microsoft.com/office/drawing/2014/main" id="{07BC3B98-7B48-2A84-5524-BB92D96B7B1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379" y="2704"/>
                          <a:ext cx="1951" cy="1100"/>
                        </a:xfrm>
                        <a:prstGeom prst="rect">
                          <a:avLst/>
                        </a:prstGeom>
                        <a:noFill/>
                        <a:ln>
                          <a:noFill/>
                        </a:ln>
                        <a:effectLst/>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 uri="{AF507438-7753-43E0-B8FC-AC1667EBCBE1}">
                            <a14:hiddenEffects xmlns:a14="http://schemas.microsoft.com/office/drawing/2010/main">
                              <a:effectLst>
                                <a:outerShdw dist="35921" dir="2700000" algn="ctr" rotWithShape="0">
                                  <a:srgbClr val="808080"/>
                                </a:outerShdw>
                              </a:effectLst>
                            </a14:hiddenEffects>
                          </a:ext>
                        </a:extLst>
                      </p:spPr>
                    </p:pic>
                  </p:oleObj>
                </mc:Fallback>
              </mc:AlternateContent>
            </a:graphicData>
          </a:graphic>
        </p:graphicFrame>
        <p:grpSp>
          <p:nvGrpSpPr>
            <p:cNvPr id="11" name="Group 14">
              <a:extLst>
                <a:ext uri="{FF2B5EF4-FFF2-40B4-BE49-F238E27FC236}">
                  <a16:creationId xmlns:a16="http://schemas.microsoft.com/office/drawing/2014/main" id="{8A95F26D-EEA9-08CF-296A-CAE96206EECC}"/>
                </a:ext>
              </a:extLst>
            </p:cNvPr>
            <p:cNvGrpSpPr>
              <a:grpSpLocks/>
            </p:cNvGrpSpPr>
            <p:nvPr/>
          </p:nvGrpSpPr>
          <p:grpSpPr bwMode="auto">
            <a:xfrm>
              <a:off x="2131" y="2797"/>
              <a:ext cx="1043" cy="605"/>
              <a:chOff x="2131" y="2797"/>
              <a:chExt cx="1043" cy="605"/>
            </a:xfrm>
          </p:grpSpPr>
          <p:sp>
            <p:nvSpPr>
              <p:cNvPr id="12" name="AutoShape 12">
                <a:extLst>
                  <a:ext uri="{FF2B5EF4-FFF2-40B4-BE49-F238E27FC236}">
                    <a16:creationId xmlns:a16="http://schemas.microsoft.com/office/drawing/2014/main" id="{EBAC1000-8770-EFFD-D41E-AE8631A10E98}"/>
                  </a:ext>
                </a:extLst>
              </p:cNvPr>
              <p:cNvSpPr>
                <a:spLocks noChangeArrowheads="1"/>
              </p:cNvSpPr>
              <p:nvPr/>
            </p:nvSpPr>
            <p:spPr bwMode="auto">
              <a:xfrm>
                <a:off x="2131" y="3087"/>
                <a:ext cx="1043" cy="315"/>
              </a:xfrm>
              <a:prstGeom prst="leftRightArrow">
                <a:avLst>
                  <a:gd name="adj1" fmla="val 50000"/>
                  <a:gd name="adj2" fmla="val 52503"/>
                </a:avLst>
              </a:prstGeom>
              <a:solidFill>
                <a:srgbClr val="CCFFFF"/>
              </a:solidFill>
              <a:ln w="38100" algn="ctr">
                <a:solidFill>
                  <a:srgbClr val="000000"/>
                </a:solidFill>
                <a:miter lim="800000"/>
                <a:headEnd/>
                <a:tailEnd/>
              </a:ln>
              <a:effectLst/>
              <a:extLs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nchor="ctr">
                <a:spAutoFit/>
              </a:bodyPr>
              <a:lstStyle>
                <a:lvl1pPr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marL="0" marR="0" lvl="0" indent="0" defTabSz="914400" eaLnBrk="1" fontAlgn="auto" latinLnBrk="0" hangingPunct="1">
                  <a:lnSpc>
                    <a:spcPct val="90000"/>
                  </a:lnSpc>
                  <a:spcBef>
                    <a:spcPct val="20000"/>
                  </a:spcBef>
                  <a:spcAft>
                    <a:spcPts val="0"/>
                  </a:spcAft>
                  <a:buClrTx/>
                  <a:buSzTx/>
                  <a:buFontTx/>
                  <a:buChar char="•"/>
                  <a:tabLst/>
                  <a:defRPr/>
                </a:pPr>
                <a:endParaRPr kumimoji="1" lang="zh-CN" altLang="en-US" sz="4300" b="1" i="0" u="none" strike="noStrike" kern="0" cap="none" spc="0" normalizeH="0" baseline="0" noProof="0">
                  <a:ln>
                    <a:noFill/>
                  </a:ln>
                  <a:solidFill>
                    <a:srgbClr val="000000"/>
                  </a:solidFill>
                  <a:effectLst/>
                  <a:uLnTx/>
                  <a:uFillTx/>
                  <a:latin typeface="微软雅黑" panose="020B0503020204020204" pitchFamily="34" charset="-122"/>
                  <a:ea typeface="微软雅黑" panose="020B0503020204020204" pitchFamily="34" charset="-122"/>
                </a:endParaRPr>
              </a:p>
            </p:txBody>
          </p:sp>
          <p:sp>
            <p:nvSpPr>
              <p:cNvPr id="15" name="Text Box 13">
                <a:extLst>
                  <a:ext uri="{FF2B5EF4-FFF2-40B4-BE49-F238E27FC236}">
                    <a16:creationId xmlns:a16="http://schemas.microsoft.com/office/drawing/2014/main" id="{777290F2-68EF-C27B-4A6F-1F589468D098}"/>
                  </a:ext>
                </a:extLst>
              </p:cNvPr>
              <p:cNvSpPr txBox="1">
                <a:spLocks noChangeArrowheads="1"/>
              </p:cNvSpPr>
              <p:nvPr/>
            </p:nvSpPr>
            <p:spPr bwMode="auto">
              <a:xfrm>
                <a:off x="2312" y="2797"/>
                <a:ext cx="680" cy="269"/>
              </a:xfrm>
              <a:prstGeom prst="rect">
                <a:avLst/>
              </a:prstGeom>
              <a:noFill/>
              <a:ln>
                <a:noFill/>
              </a:ln>
              <a:effectLst/>
              <a:extLst>
                <a:ext uri="{909E8E84-426E-40DD-AFC4-6F175D3DCCD1}">
                  <a14:hiddenFill xmlns:a14="http://schemas.microsoft.com/office/drawing/2010/main">
                    <a:solidFill>
                      <a:srgbClr val="CCFFFF"/>
                    </a:solidFill>
                  </a14:hiddenFill>
                </a:ext>
                <a:ext uri="{91240B29-F687-4F45-9708-019B960494DF}">
                  <a14:hiddenLine xmlns:a14="http://schemas.microsoft.com/office/drawing/2010/main" w="38100" algn="ctr">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lIns="90000" tIns="46800" rIns="90000" bIns="46800">
                <a:spAutoFit/>
              </a:bodyPr>
              <a:lstStyle>
                <a:lvl1pPr marL="342900" indent="-3429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1pPr>
                <a:lvl2pPr marL="742950" indent="-28575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2pPr>
                <a:lvl3pPr marL="11430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3pPr>
                <a:lvl4pPr marL="16002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4pPr>
                <a:lvl5pPr marL="2057400" indent="-228600" eaLnBrk="0" hangingPunct="0">
                  <a:lnSpc>
                    <a:spcPct val="90000"/>
                  </a:lnSpc>
                  <a:spcBef>
                    <a:spcPct val="20000"/>
                  </a:spcBef>
                  <a:buChar char="•"/>
                  <a:defRPr kumimoji="1" sz="4300" b="1">
                    <a:solidFill>
                      <a:schemeClr val="tx1"/>
                    </a:solidFill>
                    <a:latin typeface="黑体" panose="02010609060101010101" pitchFamily="49" charset="-122"/>
                    <a:ea typeface="黑体" panose="02010609060101010101" pitchFamily="49" charset="-122"/>
                  </a:defRPr>
                </a:lvl5pPr>
                <a:lvl6pPr marL="25146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6pPr>
                <a:lvl7pPr marL="29718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7pPr>
                <a:lvl8pPr marL="34290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8pPr>
                <a:lvl9pPr marL="3886200" indent="-228600" eaLnBrk="0" fontAlgn="base" hangingPunct="0">
                  <a:lnSpc>
                    <a:spcPct val="90000"/>
                  </a:lnSpc>
                  <a:spcBef>
                    <a:spcPct val="20000"/>
                  </a:spcBef>
                  <a:spcAft>
                    <a:spcPct val="0"/>
                  </a:spcAft>
                  <a:buChar char="•"/>
                  <a:defRPr kumimoji="1" sz="4300" b="1">
                    <a:solidFill>
                      <a:schemeClr val="tx1"/>
                    </a:solidFill>
                    <a:latin typeface="黑体" panose="02010609060101010101" pitchFamily="49" charset="-122"/>
                    <a:ea typeface="黑体" panose="02010609060101010101" pitchFamily="49" charset="-122"/>
                  </a:defRPr>
                </a:lvl9pPr>
              </a:lstStyle>
              <a:p>
                <a:pPr marL="342900" marR="0" lvl="0" indent="-342900" algn="ctr" defTabSz="914400" eaLnBrk="1" fontAlgn="auto" latinLnBrk="0" hangingPunct="1">
                  <a:lnSpc>
                    <a:spcPct val="90000"/>
                  </a:lnSpc>
                  <a:spcBef>
                    <a:spcPct val="50000"/>
                  </a:spcBef>
                  <a:spcAft>
                    <a:spcPts val="0"/>
                  </a:spcAft>
                  <a:buClrTx/>
                  <a:buSzTx/>
                  <a:buFontTx/>
                  <a:buNone/>
                  <a:tabLst/>
                  <a:defRPr/>
                </a:pPr>
                <a:r>
                  <a:rPr kumimoji="1" lang="zh-CN" altLang="en-US" sz="2400" b="1" i="0" u="none" strike="noStrike" kern="0" cap="none" spc="0" normalizeH="0" baseline="0" noProof="0" dirty="0">
                    <a:ln>
                      <a:noFill/>
                    </a:ln>
                    <a:solidFill>
                      <a:srgbClr val="000000"/>
                    </a:solidFill>
                    <a:effectLst/>
                    <a:uLnTx/>
                    <a:uFillTx/>
                    <a:latin typeface="+mn-ea"/>
                    <a:ea typeface="+mn-ea"/>
                  </a:rPr>
                  <a:t>等价</a:t>
                </a:r>
              </a:p>
            </p:txBody>
          </p:sp>
        </p:grpSp>
      </p:grpSp>
      <p:graphicFrame>
        <p:nvGraphicFramePr>
          <p:cNvPr id="16" name="Object 14">
            <a:extLst>
              <a:ext uri="{FF2B5EF4-FFF2-40B4-BE49-F238E27FC236}">
                <a16:creationId xmlns:a16="http://schemas.microsoft.com/office/drawing/2014/main" id="{799C6F7C-8EEE-9C19-0085-0F6DC80E24E7}"/>
              </a:ext>
            </a:extLst>
          </p:cNvPr>
          <p:cNvGraphicFramePr>
            <a:graphicFrameLocks noChangeAspect="1"/>
          </p:cNvGraphicFramePr>
          <p:nvPr>
            <p:extLst>
              <p:ext uri="{D42A27DB-BD31-4B8C-83A1-F6EECF244321}">
                <p14:modId xmlns:p14="http://schemas.microsoft.com/office/powerpoint/2010/main" val="64311220"/>
              </p:ext>
            </p:extLst>
          </p:nvPr>
        </p:nvGraphicFramePr>
        <p:xfrm>
          <a:off x="395536" y="1333673"/>
          <a:ext cx="8423722" cy="966144"/>
        </p:xfrm>
        <a:graphic>
          <a:graphicData uri="http://schemas.openxmlformats.org/presentationml/2006/ole">
            <mc:AlternateContent xmlns:mc="http://schemas.openxmlformats.org/markup-compatibility/2006">
              <mc:Choice xmlns:v="urn:schemas-microsoft-com:vml" Requires="v">
                <p:oleObj name="Equation" r:id="rId9" imgW="3962400" imgH="457200" progId="Equation.DSMT4">
                  <p:embed/>
                </p:oleObj>
              </mc:Choice>
              <mc:Fallback>
                <p:oleObj name="Equation" r:id="rId9" imgW="3962400" imgH="457200" progId="Equation.DSMT4">
                  <p:embed/>
                  <p:pic>
                    <p:nvPicPr>
                      <p:cNvPr id="14" name="Object 14">
                        <a:extLst>
                          <a:ext uri="{FF2B5EF4-FFF2-40B4-BE49-F238E27FC236}">
                            <a16:creationId xmlns:a16="http://schemas.microsoft.com/office/drawing/2014/main" id="{C8249A67-FF42-3D97-E537-E54675F24987}"/>
                          </a:ext>
                        </a:extLst>
                      </p:cNvPr>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95536" y="1333673"/>
                        <a:ext cx="8423722" cy="966144"/>
                      </a:xfrm>
                      <a:prstGeom prst="rect">
                        <a:avLst/>
                      </a:prstGeom>
                      <a:noFill/>
                      <a:ln>
                        <a:noFill/>
                      </a:ln>
                    </p:spPr>
                  </p:pic>
                </p:oleObj>
              </mc:Fallback>
            </mc:AlternateContent>
          </a:graphicData>
        </a:graphic>
      </p:graphicFrame>
    </p:spTree>
    <p:extLst>
      <p:ext uri="{BB962C8B-B14F-4D97-AF65-F5344CB8AC3E}">
        <p14:creationId xmlns:p14="http://schemas.microsoft.com/office/powerpoint/2010/main" val="424901412"/>
      </p:ext>
    </p:extLst>
  </p:cSld>
  <p:clrMapOvr>
    <a:masterClrMapping/>
  </p:clrMapOvr>
  <p:transition>
    <p:cover dir="u"/>
  </p:transition>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8"/>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2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8510" name="Text Box 30"/>
          <p:cNvSpPr txBox="1">
            <a:spLocks noChangeArrowheads="1"/>
          </p:cNvSpPr>
          <p:nvPr/>
        </p:nvSpPr>
        <p:spPr bwMode="auto">
          <a:xfrm>
            <a:off x="611188" y="333375"/>
            <a:ext cx="8281987" cy="641350"/>
          </a:xfrm>
          <a:prstGeom prst="rect">
            <a:avLst/>
          </a:prstGeom>
          <a:noFill/>
          <a:ln w="9525">
            <a:noFill/>
            <a:miter lim="800000"/>
            <a:headEnd/>
            <a:tailEnd/>
          </a:ln>
          <a:effectLst/>
        </p:spPr>
        <p:txBody>
          <a:bodyPr>
            <a:spAutoFit/>
          </a:bodyPr>
          <a:lstStyle/>
          <a:p>
            <a:pPr>
              <a:defRPr/>
            </a:pPr>
            <a:r>
              <a:rPr kumimoji="0" lang="en-US" altLang="zh-CN" sz="3600">
                <a:solidFill>
                  <a:srgbClr val="FF0000"/>
                </a:solidFill>
                <a:effectLst>
                  <a:outerShdw blurRad="38100" dist="38100" dir="2700000" algn="tl">
                    <a:srgbClr val="C0C0C0"/>
                  </a:outerShdw>
                </a:effectLst>
                <a:latin typeface="Arial" charset="0"/>
                <a:ea typeface="方正大黑简体" pitchFamily="2" charset="-122"/>
              </a:rPr>
              <a:t>3.6 </a:t>
            </a:r>
            <a:r>
              <a:rPr kumimoji="0" lang="zh-CN" altLang="en-US" sz="3600">
                <a:solidFill>
                  <a:srgbClr val="FF0000"/>
                </a:solidFill>
                <a:effectLst>
                  <a:outerShdw blurRad="38100" dist="38100" dir="2700000" algn="tl">
                    <a:srgbClr val="C0C0C0"/>
                  </a:outerShdw>
                </a:effectLst>
                <a:latin typeface="Arial" charset="0"/>
                <a:ea typeface="方正大黑简体" pitchFamily="2" charset="-122"/>
              </a:rPr>
              <a:t>计算机控制系统稳态过程分析</a:t>
            </a:r>
          </a:p>
        </p:txBody>
      </p:sp>
      <p:sp>
        <p:nvSpPr>
          <p:cNvPr id="148511" name="Text Box 31"/>
          <p:cNvSpPr txBox="1">
            <a:spLocks noChangeArrowheads="1"/>
          </p:cNvSpPr>
          <p:nvPr/>
        </p:nvSpPr>
        <p:spPr bwMode="auto">
          <a:xfrm>
            <a:off x="1042988" y="1628775"/>
            <a:ext cx="7364412" cy="1990725"/>
          </a:xfrm>
          <a:prstGeom prst="rect">
            <a:avLst/>
          </a:prstGeom>
          <a:noFill/>
          <a:ln w="9525" algn="ctr">
            <a:noFill/>
            <a:miter lim="800000"/>
            <a:headEnd/>
            <a:tailEnd/>
          </a:ln>
          <a:effectLst/>
        </p:spPr>
        <p:txBody>
          <a:bodyPr>
            <a:spAutoFit/>
          </a:bodyPr>
          <a:lstStyle/>
          <a:p>
            <a:pPr>
              <a:lnSpc>
                <a:spcPct val="130000"/>
              </a:lnSpc>
              <a:defRPr/>
            </a:pP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计算机控制系统的</a:t>
            </a:r>
            <a:r>
              <a:rPr kumimoji="0" lang="zh-CN" altLang="en-US" sz="2400" dirty="0">
                <a:solidFill>
                  <a:srgbClr val="0000FF"/>
                </a:solidFill>
                <a:effectLst>
                  <a:outerShdw blurRad="38100" dist="38100" dir="2700000" algn="tl">
                    <a:srgbClr val="C0C0C0"/>
                  </a:outerShdw>
                </a:effectLst>
              </a:rPr>
              <a:t>稳态指标</a:t>
            </a:r>
            <a:r>
              <a:rPr kumimoji="0" lang="zh-CN" altLang="en-US" sz="2400" dirty="0">
                <a:effectLst>
                  <a:outerShdw blurRad="38100" dist="38100" dir="2700000" algn="tl">
                    <a:srgbClr val="C0C0C0"/>
                  </a:outerShdw>
                </a:effectLst>
              </a:rPr>
              <a:t>用</a:t>
            </a:r>
            <a:r>
              <a:rPr kumimoji="0" lang="zh-CN" altLang="en-US" sz="2400" dirty="0">
                <a:solidFill>
                  <a:srgbClr val="0000FF"/>
                </a:solidFill>
                <a:effectLst>
                  <a:outerShdw blurRad="38100" dist="38100" dir="2700000" algn="tl">
                    <a:srgbClr val="C0C0C0"/>
                  </a:outerShdw>
                </a:effectLst>
              </a:rPr>
              <a:t>稳态误差</a:t>
            </a:r>
            <a:r>
              <a:rPr kumimoji="0" lang="zh-CN" altLang="en-US" sz="2400" dirty="0">
                <a:effectLst>
                  <a:outerShdw blurRad="38100" dist="38100" dir="2700000" algn="tl">
                    <a:srgbClr val="C0C0C0"/>
                  </a:outerShdw>
                </a:effectLst>
              </a:rPr>
              <a:t>来表示。稳态误差指系统过渡过程结束到达稳态以后，</a:t>
            </a:r>
            <a:r>
              <a:rPr kumimoji="0" lang="zh-CN" altLang="en-US" sz="2400" dirty="0">
                <a:solidFill>
                  <a:srgbClr val="0000FF"/>
                </a:solidFill>
                <a:effectLst>
                  <a:outerShdw blurRad="38100" dist="38100" dir="2700000" algn="tl">
                    <a:srgbClr val="C0C0C0"/>
                  </a:outerShdw>
                </a:effectLst>
              </a:rPr>
              <a:t>系统参考输入与系统输出之间的偏差</a:t>
            </a:r>
            <a:r>
              <a:rPr kumimoji="0" lang="zh-CN" altLang="en-US" sz="2400" dirty="0">
                <a:effectLst>
                  <a:outerShdw blurRad="38100" dist="38100" dir="2700000" algn="tl">
                    <a:srgbClr val="C0C0C0"/>
                  </a:outerShdw>
                </a:effectLst>
              </a:rPr>
              <a:t>。稳态误差是衡量计算机控制系统准确性的一项重要指标。</a:t>
            </a:r>
          </a:p>
        </p:txBody>
      </p:sp>
      <p:sp>
        <p:nvSpPr>
          <p:cNvPr id="148512" name="Rectangle 32"/>
          <p:cNvSpPr>
            <a:spLocks noChangeArrowheads="1"/>
          </p:cNvSpPr>
          <p:nvPr/>
        </p:nvSpPr>
        <p:spPr bwMode="auto">
          <a:xfrm>
            <a:off x="0" y="27781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0898" name="Object 33"/>
          <p:cNvGraphicFramePr>
            <a:graphicFrameLocks noChangeAspect="1"/>
          </p:cNvGraphicFramePr>
          <p:nvPr>
            <p:extLst>
              <p:ext uri="{D42A27DB-BD31-4B8C-83A1-F6EECF244321}">
                <p14:modId xmlns:p14="http://schemas.microsoft.com/office/powerpoint/2010/main" val="808651462"/>
              </p:ext>
            </p:extLst>
          </p:nvPr>
        </p:nvGraphicFramePr>
        <p:xfrm>
          <a:off x="1619672" y="3779729"/>
          <a:ext cx="5884441" cy="1735138"/>
        </p:xfrm>
        <a:graphic>
          <a:graphicData uri="http://schemas.openxmlformats.org/presentationml/2006/ole">
            <mc:AlternateContent xmlns:mc="http://schemas.openxmlformats.org/markup-compatibility/2006">
              <mc:Choice xmlns:v="urn:schemas-microsoft-com:vml" Requires="v">
                <p:oleObj name="Equation" r:id="rId3" imgW="2984500" imgH="889000" progId="Equation.DSMT4">
                  <p:embed/>
                </p:oleObj>
              </mc:Choice>
              <mc:Fallback>
                <p:oleObj name="Equation" r:id="rId3" imgW="2984500" imgH="8890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672" y="3779729"/>
                        <a:ext cx="5884441" cy="1735138"/>
                      </a:xfrm>
                      <a:prstGeom prst="rect">
                        <a:avLst/>
                      </a:prstGeom>
                      <a:noFill/>
                    </p:spPr>
                  </p:pic>
                </p:oleObj>
              </mc:Fallback>
            </mc:AlternateContent>
          </a:graphicData>
        </a:graphic>
      </p:graphicFrame>
      <p:sp>
        <p:nvSpPr>
          <p:cNvPr id="2" name="Text Box 31">
            <a:extLst>
              <a:ext uri="{FF2B5EF4-FFF2-40B4-BE49-F238E27FC236}">
                <a16:creationId xmlns:a16="http://schemas.microsoft.com/office/drawing/2014/main" id="{710235A8-CC63-ED98-6986-893AD9634933}"/>
              </a:ext>
            </a:extLst>
          </p:cNvPr>
          <p:cNvSpPr txBox="1">
            <a:spLocks noChangeArrowheads="1"/>
          </p:cNvSpPr>
          <p:nvPr/>
        </p:nvSpPr>
        <p:spPr bwMode="auto">
          <a:xfrm>
            <a:off x="1619672" y="5675097"/>
            <a:ext cx="4824239" cy="849528"/>
          </a:xfrm>
          <a:prstGeom prst="rect">
            <a:avLst/>
          </a:prstGeom>
          <a:solidFill>
            <a:schemeClr val="accent1"/>
          </a:solidFill>
          <a:ln w="9525" algn="ctr">
            <a:noFill/>
            <a:miter lim="800000"/>
            <a:headEnd/>
            <a:tailEnd/>
          </a:ln>
          <a:effectLst/>
        </p:spPr>
        <p:txBody>
          <a:bodyPr wrap="square">
            <a:spAutoFit/>
          </a:bodyPr>
          <a:lstStyle/>
          <a:p>
            <a:pPr algn="ctr">
              <a:lnSpc>
                <a:spcPct val="130000"/>
              </a:lnSpc>
              <a:defRPr/>
            </a:pPr>
            <a:r>
              <a:rPr kumimoji="0" lang="zh-CN" altLang="en-US" dirty="0"/>
              <a:t>系统的稳态误差不仅与系统的结构有关，而且与系统输入的类型有关。</a:t>
            </a:r>
          </a:p>
        </p:txBody>
      </p:sp>
    </p:spTree>
  </p:cSld>
  <p:clrMapOvr>
    <a:masterClrMapping/>
  </p:clrMapOvr>
  <p:transition>
    <p:push/>
  </p:transition>
</p:sld>
</file>

<file path=ppt/slides/slide12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49519" name="Text Box 15"/>
          <p:cNvSpPr txBox="1">
            <a:spLocks noChangeArrowheads="1"/>
          </p:cNvSpPr>
          <p:nvPr/>
        </p:nvSpPr>
        <p:spPr bwMode="auto">
          <a:xfrm>
            <a:off x="827088" y="476250"/>
            <a:ext cx="5564187"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3.6.1 </a:t>
            </a:r>
            <a:r>
              <a:rPr kumimoji="0" lang="zh-CN" altLang="en-US" sz="2800">
                <a:solidFill>
                  <a:srgbClr val="0000FF"/>
                </a:solidFill>
                <a:effectLst>
                  <a:outerShdw blurRad="38100" dist="38100" dir="2700000" algn="tl">
                    <a:srgbClr val="C0C0C0"/>
                  </a:outerShdw>
                </a:effectLst>
              </a:rPr>
              <a:t>稳态误差与误差系数</a:t>
            </a:r>
          </a:p>
        </p:txBody>
      </p:sp>
      <p:sp>
        <p:nvSpPr>
          <p:cNvPr id="149520" name="Text Box 16"/>
          <p:cNvSpPr txBox="1">
            <a:spLocks noChangeArrowheads="1"/>
          </p:cNvSpPr>
          <p:nvPr/>
        </p:nvSpPr>
        <p:spPr bwMode="auto">
          <a:xfrm>
            <a:off x="969963" y="1441450"/>
            <a:ext cx="3044825" cy="457200"/>
          </a:xfrm>
          <a:prstGeom prst="rect">
            <a:avLst/>
          </a:prstGeom>
          <a:noFill/>
          <a:ln w="9525" algn="ctr">
            <a:noFill/>
            <a:miter lim="800000"/>
            <a:headEnd/>
            <a:tailEnd/>
          </a:ln>
          <a:effectLst/>
        </p:spPr>
        <p:txBody>
          <a:bodyPr>
            <a:spAutoFit/>
          </a:bodyPr>
          <a:lstStyle/>
          <a:p>
            <a:pPr>
              <a:defRPr/>
            </a:pPr>
            <a:r>
              <a:rPr kumimoji="0" lang="en-US" altLang="zh-CN" sz="2400" u="sng">
                <a:solidFill>
                  <a:srgbClr val="FF0000"/>
                </a:solidFill>
                <a:effectLst>
                  <a:outerShdw blurRad="38100" dist="38100" dir="2700000" algn="tl">
                    <a:srgbClr val="C0C0C0"/>
                  </a:outerShdw>
                </a:effectLst>
              </a:rPr>
              <a:t>1) </a:t>
            </a:r>
            <a:r>
              <a:rPr kumimoji="0" lang="zh-CN" altLang="en-US" sz="2400" u="sng">
                <a:solidFill>
                  <a:srgbClr val="FF0000"/>
                </a:solidFill>
                <a:effectLst>
                  <a:outerShdw blurRad="38100" dist="38100" dir="2700000" algn="tl">
                    <a:srgbClr val="C0C0C0"/>
                  </a:outerShdw>
                </a:effectLst>
              </a:rPr>
              <a:t>位置误差系数</a:t>
            </a:r>
          </a:p>
        </p:txBody>
      </p:sp>
      <p:sp>
        <p:nvSpPr>
          <p:cNvPr id="149521" name="Text Box 17"/>
          <p:cNvSpPr txBox="1">
            <a:spLocks noChangeArrowheads="1"/>
          </p:cNvSpPr>
          <p:nvPr/>
        </p:nvSpPr>
        <p:spPr bwMode="auto">
          <a:xfrm>
            <a:off x="990600" y="2017713"/>
            <a:ext cx="5781675"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对于单位阶跃输入，</a:t>
            </a:r>
            <a:r>
              <a:rPr kumimoji="0" lang="en-US" altLang="zh-CN" sz="2400" i="1" dirty="0">
                <a:effectLst>
                  <a:outerShdw blurRad="38100" dist="38100" dir="2700000" algn="tl">
                    <a:srgbClr val="C0C0C0"/>
                  </a:outerShdw>
                </a:effectLst>
              </a:rPr>
              <a:t>r</a:t>
            </a:r>
            <a:r>
              <a:rPr kumimoji="0" lang="en-US" altLang="zh-CN" sz="2400" dirty="0">
                <a:effectLst>
                  <a:outerShdw blurRad="38100" dist="38100" dir="2700000" algn="tl">
                    <a:srgbClr val="C0C0C0"/>
                  </a:outerShdw>
                </a:effectLst>
              </a:rPr>
              <a:t>(</a:t>
            </a:r>
            <a:r>
              <a:rPr kumimoji="0" lang="en-US" altLang="zh-CN" sz="2400" i="1" dirty="0">
                <a:effectLst>
                  <a:outerShdw blurRad="38100" dist="38100" dir="2700000" algn="tl">
                    <a:srgbClr val="C0C0C0"/>
                  </a:outerShdw>
                </a:effectLst>
              </a:rPr>
              <a:t>t</a:t>
            </a:r>
            <a:r>
              <a:rPr kumimoji="0" lang="en-US" altLang="zh-CN" sz="2400" dirty="0">
                <a:effectLst>
                  <a:outerShdw blurRad="38100" dist="38100" dir="2700000" algn="tl">
                    <a:srgbClr val="C0C0C0"/>
                  </a:outerShdw>
                </a:effectLst>
              </a:rPr>
              <a:t>)=1(</a:t>
            </a:r>
            <a:r>
              <a:rPr kumimoji="0" lang="en-US" altLang="zh-CN" sz="2400" i="1" dirty="0">
                <a:effectLst>
                  <a:outerShdw blurRad="38100" dist="38100" dir="2700000" algn="tl">
                    <a:srgbClr val="C0C0C0"/>
                  </a:outerShdw>
                </a:effectLst>
              </a:rPr>
              <a:t>t</a:t>
            </a:r>
            <a:r>
              <a:rPr kumimoji="0" lang="en-US" altLang="zh-CN" sz="2400" dirty="0">
                <a:effectLst>
                  <a:outerShdw blurRad="38100" dist="38100" dir="2700000" algn="tl">
                    <a:srgbClr val="C0C0C0"/>
                  </a:outerShdw>
                </a:effectLst>
              </a:rPr>
              <a:t>)</a:t>
            </a:r>
            <a:r>
              <a:rPr kumimoji="0" lang="zh-CN" altLang="en-US" sz="2400" dirty="0">
                <a:effectLst>
                  <a:outerShdw blurRad="38100" dist="38100" dir="2700000" algn="tl">
                    <a:srgbClr val="C0C0C0"/>
                  </a:outerShdw>
                </a:effectLst>
              </a:rPr>
              <a:t>，有</a:t>
            </a:r>
          </a:p>
        </p:txBody>
      </p:sp>
      <p:sp>
        <p:nvSpPr>
          <p:cNvPr id="149522" name="Rectangle 18"/>
          <p:cNvSpPr>
            <a:spLocks noChangeArrowheads="1"/>
          </p:cNvSpPr>
          <p:nvPr/>
        </p:nvSpPr>
        <p:spPr bwMode="auto">
          <a:xfrm>
            <a:off x="19050" y="27543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1922" name="Object 19"/>
          <p:cNvGraphicFramePr>
            <a:graphicFrameLocks noChangeAspect="1"/>
          </p:cNvGraphicFramePr>
          <p:nvPr/>
        </p:nvGraphicFramePr>
        <p:xfrm>
          <a:off x="5670550" y="1874838"/>
          <a:ext cx="1512888" cy="757237"/>
        </p:xfrm>
        <a:graphic>
          <a:graphicData uri="http://schemas.openxmlformats.org/presentationml/2006/ole">
            <mc:AlternateContent xmlns:mc="http://schemas.openxmlformats.org/markup-compatibility/2006">
              <mc:Choice xmlns:v="urn:schemas-microsoft-com:vml" Requires="v">
                <p:oleObj name="Equation" r:id="rId3" imgW="799753" imgH="393529" progId="Equation.DSMT4">
                  <p:embed/>
                </p:oleObj>
              </mc:Choice>
              <mc:Fallback>
                <p:oleObj name="Equation" r:id="rId3" imgW="799753" imgH="393529"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70550" y="1874838"/>
                        <a:ext cx="1512888" cy="7572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9524" name="Rectangle 20"/>
          <p:cNvSpPr>
            <a:spLocks noChangeArrowheads="1"/>
          </p:cNvSpPr>
          <p:nvPr/>
        </p:nvSpPr>
        <p:spPr bwMode="auto">
          <a:xfrm>
            <a:off x="19050" y="25257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1923" name="Object 21"/>
          <p:cNvGraphicFramePr>
            <a:graphicFrameLocks noChangeAspect="1"/>
          </p:cNvGraphicFramePr>
          <p:nvPr/>
        </p:nvGraphicFramePr>
        <p:xfrm>
          <a:off x="1495425" y="2593975"/>
          <a:ext cx="5761038" cy="1428750"/>
        </p:xfrm>
        <a:graphic>
          <a:graphicData uri="http://schemas.openxmlformats.org/presentationml/2006/ole">
            <mc:AlternateContent xmlns:mc="http://schemas.openxmlformats.org/markup-compatibility/2006">
              <mc:Choice xmlns:v="urn:schemas-microsoft-com:vml" Requires="v">
                <p:oleObj name="Equation" r:id="rId5" imgW="3644900" imgH="901700" progId="Equation.DSMT4">
                  <p:embed/>
                </p:oleObj>
              </mc:Choice>
              <mc:Fallback>
                <p:oleObj name="Equation" r:id="rId5" imgW="3644900" imgH="90170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495425" y="2593975"/>
                        <a:ext cx="5761038" cy="1428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9526" name="Rectangle 22"/>
          <p:cNvSpPr>
            <a:spLocks noChangeArrowheads="1"/>
          </p:cNvSpPr>
          <p:nvPr/>
        </p:nvSpPr>
        <p:spPr bwMode="auto">
          <a:xfrm>
            <a:off x="19050" y="28162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1924" name="Object 23"/>
          <p:cNvGraphicFramePr>
            <a:graphicFrameLocks noChangeAspect="1"/>
          </p:cNvGraphicFramePr>
          <p:nvPr/>
        </p:nvGraphicFramePr>
        <p:xfrm>
          <a:off x="1495425" y="4178300"/>
          <a:ext cx="5616575" cy="604838"/>
        </p:xfrm>
        <a:graphic>
          <a:graphicData uri="http://schemas.openxmlformats.org/presentationml/2006/ole">
            <mc:AlternateContent xmlns:mc="http://schemas.openxmlformats.org/markup-compatibility/2006">
              <mc:Choice xmlns:v="urn:schemas-microsoft-com:vml" Requires="v">
                <p:oleObj name="Equation" r:id="rId7" imgW="2565400" imgH="279400" progId="Equation.DSMT4">
                  <p:embed/>
                </p:oleObj>
              </mc:Choice>
              <mc:Fallback>
                <p:oleObj name="Equation" r:id="rId7" imgW="2565400" imgH="2794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495425" y="4178300"/>
                        <a:ext cx="5616575" cy="6048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49528" name="Text Box 24"/>
          <p:cNvSpPr txBox="1">
            <a:spLocks noChangeArrowheads="1"/>
          </p:cNvSpPr>
          <p:nvPr/>
        </p:nvSpPr>
        <p:spPr bwMode="auto">
          <a:xfrm>
            <a:off x="703263" y="5041900"/>
            <a:ext cx="3044825"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位置误差系数</a:t>
            </a:r>
          </a:p>
        </p:txBody>
      </p:sp>
      <p:sp>
        <p:nvSpPr>
          <p:cNvPr id="149529" name="Line 25"/>
          <p:cNvSpPr>
            <a:spLocks noChangeShapeType="1"/>
          </p:cNvSpPr>
          <p:nvPr/>
        </p:nvSpPr>
        <p:spPr bwMode="auto">
          <a:xfrm flipV="1">
            <a:off x="1566863" y="4610100"/>
            <a:ext cx="144462" cy="504825"/>
          </a:xfrm>
          <a:prstGeom prst="line">
            <a:avLst/>
          </a:prstGeom>
          <a:noFill/>
          <a:ln w="9525">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2" name="Text Box 17">
            <a:extLst>
              <a:ext uri="{FF2B5EF4-FFF2-40B4-BE49-F238E27FC236}">
                <a16:creationId xmlns:a16="http://schemas.microsoft.com/office/drawing/2014/main" id="{20A21222-EAC0-0ACC-6FAE-1E1B5CC7CF26}"/>
              </a:ext>
            </a:extLst>
          </p:cNvPr>
          <p:cNvSpPr txBox="1">
            <a:spLocks noChangeArrowheads="1"/>
          </p:cNvSpPr>
          <p:nvPr/>
        </p:nvSpPr>
        <p:spPr bwMode="auto">
          <a:xfrm>
            <a:off x="1187624" y="5546725"/>
            <a:ext cx="7632848" cy="830997"/>
          </a:xfrm>
          <a:prstGeom prst="rect">
            <a:avLst/>
          </a:prstGeom>
          <a:noFill/>
          <a:ln w="9525" algn="ctr">
            <a:noFill/>
            <a:miter lim="800000"/>
            <a:headEnd/>
            <a:tailEnd/>
          </a:ln>
          <a:effectLst/>
        </p:spPr>
        <p:txBody>
          <a:bodyPr wrap="square">
            <a:spAutoFit/>
          </a:bodyPr>
          <a:lstStyle/>
          <a:p>
            <a:pPr>
              <a:defRPr/>
            </a:pPr>
            <a:r>
              <a:rPr kumimoji="0" lang="zh-CN" altLang="en-US" sz="2400" dirty="0">
                <a:effectLst>
                  <a:outerShdw blurRad="38100" dist="38100" dir="2700000" algn="tl">
                    <a:srgbClr val="C0C0C0"/>
                  </a:outerShdw>
                </a:effectLst>
              </a:rPr>
              <a:t>若              ，则系统单位阶跃输入时稳态误差为零，此时            中有</a:t>
            </a:r>
            <a:r>
              <a:rPr kumimoji="0" lang="en-US" altLang="zh-CN" sz="2400" i="1" dirty="0">
                <a:effectLst>
                  <a:outerShdw blurRad="38100" dist="38100" dir="2700000" algn="tl">
                    <a:srgbClr val="C0C0C0"/>
                  </a:outerShdw>
                </a:effectLst>
              </a:rPr>
              <a:t>z</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的极点。</a:t>
            </a:r>
          </a:p>
        </p:txBody>
      </p:sp>
      <p:graphicFrame>
        <p:nvGraphicFramePr>
          <p:cNvPr id="3" name="Object 23">
            <a:extLst>
              <a:ext uri="{FF2B5EF4-FFF2-40B4-BE49-F238E27FC236}">
                <a16:creationId xmlns:a16="http://schemas.microsoft.com/office/drawing/2014/main" id="{622CC357-6C4F-FBBB-7FA9-F9DD222D5859}"/>
              </a:ext>
            </a:extLst>
          </p:cNvPr>
          <p:cNvGraphicFramePr>
            <a:graphicFrameLocks noChangeAspect="1"/>
          </p:cNvGraphicFramePr>
          <p:nvPr>
            <p:extLst>
              <p:ext uri="{D42A27DB-BD31-4B8C-83A1-F6EECF244321}">
                <p14:modId xmlns:p14="http://schemas.microsoft.com/office/powerpoint/2010/main" val="919923663"/>
              </p:ext>
            </p:extLst>
          </p:nvPr>
        </p:nvGraphicFramePr>
        <p:xfrm>
          <a:off x="1495425" y="5546725"/>
          <a:ext cx="1168400" cy="522287"/>
        </p:xfrm>
        <a:graphic>
          <a:graphicData uri="http://schemas.openxmlformats.org/presentationml/2006/ole">
            <mc:AlternateContent xmlns:mc="http://schemas.openxmlformats.org/markup-compatibility/2006">
              <mc:Choice xmlns:v="urn:schemas-microsoft-com:vml" Requires="v">
                <p:oleObj name="Equation" r:id="rId9" imgW="533160" imgH="241200" progId="Equation.DSMT4">
                  <p:embed/>
                </p:oleObj>
              </mc:Choice>
              <mc:Fallback>
                <p:oleObj name="Equation" r:id="rId9" imgW="533160" imgH="241200" progId="Equation.DSMT4">
                  <p:embed/>
                  <p:pic>
                    <p:nvPicPr>
                      <p:cNvPr id="81924" name="Object 23"/>
                      <p:cNvPicPr>
                        <a:picLocks noChangeAspect="1" noChangeArrowheads="1"/>
                      </p:cNvPicPr>
                      <p:nvPr/>
                    </p:nvPicPr>
                    <p:blipFill>
                      <a:blip r:embed="rId10"/>
                      <a:srcRect/>
                      <a:stretch>
                        <a:fillRect/>
                      </a:stretch>
                    </p:blipFill>
                    <p:spPr bwMode="auto">
                      <a:xfrm>
                        <a:off x="1495425" y="5546725"/>
                        <a:ext cx="1168400"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3">
            <a:extLst>
              <a:ext uri="{FF2B5EF4-FFF2-40B4-BE49-F238E27FC236}">
                <a16:creationId xmlns:a16="http://schemas.microsoft.com/office/drawing/2014/main" id="{2A111D88-5FB9-BED7-BD76-7FAFDAADE2E9}"/>
              </a:ext>
            </a:extLst>
          </p:cNvPr>
          <p:cNvGraphicFramePr>
            <a:graphicFrameLocks noChangeAspect="1"/>
          </p:cNvGraphicFramePr>
          <p:nvPr>
            <p:extLst>
              <p:ext uri="{D42A27DB-BD31-4B8C-83A1-F6EECF244321}">
                <p14:modId xmlns:p14="http://schemas.microsoft.com/office/powerpoint/2010/main" val="1181992978"/>
              </p:ext>
            </p:extLst>
          </p:nvPr>
        </p:nvGraphicFramePr>
        <p:xfrm>
          <a:off x="1595458" y="5929312"/>
          <a:ext cx="917575" cy="495300"/>
        </p:xfrm>
        <a:graphic>
          <a:graphicData uri="http://schemas.openxmlformats.org/presentationml/2006/ole">
            <mc:AlternateContent xmlns:mc="http://schemas.openxmlformats.org/markup-compatibility/2006">
              <mc:Choice xmlns:v="urn:schemas-microsoft-com:vml" Requires="v">
                <p:oleObj name="Equation" r:id="rId11" imgW="419040" imgH="228600" progId="Equation.DSMT4">
                  <p:embed/>
                </p:oleObj>
              </mc:Choice>
              <mc:Fallback>
                <p:oleObj name="Equation" r:id="rId11" imgW="419040" imgH="228600" progId="Equation.DSMT4">
                  <p:embed/>
                  <p:pic>
                    <p:nvPicPr>
                      <p:cNvPr id="81924" name="Object 23"/>
                      <p:cNvPicPr>
                        <a:picLocks noChangeAspect="1" noChangeArrowheads="1"/>
                      </p:cNvPicPr>
                      <p:nvPr/>
                    </p:nvPicPr>
                    <p:blipFill>
                      <a:blip r:embed="rId12"/>
                      <a:srcRect/>
                      <a:stretch>
                        <a:fillRect/>
                      </a:stretch>
                    </p:blipFill>
                    <p:spPr bwMode="auto">
                      <a:xfrm>
                        <a:off x="1595458" y="5929312"/>
                        <a:ext cx="9175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2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0547" name="Text Box 19"/>
          <p:cNvSpPr txBox="1">
            <a:spLocks noChangeArrowheads="1"/>
          </p:cNvSpPr>
          <p:nvPr/>
        </p:nvSpPr>
        <p:spPr bwMode="auto">
          <a:xfrm>
            <a:off x="1116013" y="1484313"/>
            <a:ext cx="3044825" cy="457200"/>
          </a:xfrm>
          <a:prstGeom prst="rect">
            <a:avLst/>
          </a:prstGeom>
          <a:noFill/>
          <a:ln w="9525" algn="ctr">
            <a:noFill/>
            <a:miter lim="800000"/>
            <a:headEnd/>
            <a:tailEnd/>
          </a:ln>
          <a:effectLst/>
        </p:spPr>
        <p:txBody>
          <a:bodyPr>
            <a:spAutoFit/>
          </a:bodyPr>
          <a:lstStyle/>
          <a:p>
            <a:pPr>
              <a:defRPr/>
            </a:pPr>
            <a:r>
              <a:rPr kumimoji="0" lang="en-US" altLang="zh-CN" sz="2400" u="sng">
                <a:solidFill>
                  <a:srgbClr val="FF0000"/>
                </a:solidFill>
                <a:effectLst>
                  <a:outerShdw blurRad="38100" dist="38100" dir="2700000" algn="tl">
                    <a:srgbClr val="C0C0C0"/>
                  </a:outerShdw>
                </a:effectLst>
              </a:rPr>
              <a:t>2) </a:t>
            </a:r>
            <a:r>
              <a:rPr kumimoji="0" lang="zh-CN" altLang="en-US" sz="2400" u="sng">
                <a:solidFill>
                  <a:srgbClr val="FF0000"/>
                </a:solidFill>
                <a:effectLst>
                  <a:outerShdw blurRad="38100" dist="38100" dir="2700000" algn="tl">
                    <a:srgbClr val="C0C0C0"/>
                  </a:outerShdw>
                </a:effectLst>
              </a:rPr>
              <a:t>速度误差系数</a:t>
            </a:r>
          </a:p>
        </p:txBody>
      </p:sp>
      <p:sp>
        <p:nvSpPr>
          <p:cNvPr id="150548" name="Text Box 20"/>
          <p:cNvSpPr txBox="1">
            <a:spLocks noChangeArrowheads="1"/>
          </p:cNvSpPr>
          <p:nvPr/>
        </p:nvSpPr>
        <p:spPr bwMode="auto">
          <a:xfrm>
            <a:off x="1136650" y="2060575"/>
            <a:ext cx="57816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对于单位速度输入，</a:t>
            </a:r>
            <a:r>
              <a:rPr kumimoji="0" lang="en-US" altLang="zh-CN" sz="2400" i="1">
                <a:effectLst>
                  <a:outerShdw blurRad="38100" dist="38100" dir="2700000" algn="tl">
                    <a:srgbClr val="C0C0C0"/>
                  </a:outerShdw>
                </a:effectLst>
              </a:rPr>
              <a:t>r</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﹒1(</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a:t>
            </a:r>
            <a:r>
              <a:rPr kumimoji="0" lang="zh-CN" altLang="en-US" sz="2400">
                <a:effectLst>
                  <a:outerShdw blurRad="38100" dist="38100" dir="2700000" algn="tl">
                    <a:srgbClr val="C0C0C0"/>
                  </a:outerShdw>
                </a:effectLst>
              </a:rPr>
              <a:t>，有</a:t>
            </a:r>
          </a:p>
        </p:txBody>
      </p:sp>
      <p:sp>
        <p:nvSpPr>
          <p:cNvPr id="150549" name="Text Box 21"/>
          <p:cNvSpPr txBox="1">
            <a:spLocks noChangeArrowheads="1"/>
          </p:cNvSpPr>
          <p:nvPr/>
        </p:nvSpPr>
        <p:spPr bwMode="auto">
          <a:xfrm>
            <a:off x="849313" y="5337175"/>
            <a:ext cx="3044825"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速度误差系数</a:t>
            </a:r>
          </a:p>
        </p:txBody>
      </p:sp>
      <p:sp>
        <p:nvSpPr>
          <p:cNvPr id="150550" name="Line 22"/>
          <p:cNvSpPr>
            <a:spLocks noChangeShapeType="1"/>
          </p:cNvSpPr>
          <p:nvPr/>
        </p:nvSpPr>
        <p:spPr bwMode="auto">
          <a:xfrm flipV="1">
            <a:off x="1712913" y="4905375"/>
            <a:ext cx="144462" cy="504825"/>
          </a:xfrm>
          <a:prstGeom prst="line">
            <a:avLst/>
          </a:prstGeom>
          <a:noFill/>
          <a:ln w="9525">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0551" name="Rectangle 23"/>
          <p:cNvSpPr>
            <a:spLocks noChangeArrowheads="1"/>
          </p:cNvSpPr>
          <p:nvPr/>
        </p:nvSpPr>
        <p:spPr bwMode="auto">
          <a:xfrm>
            <a:off x="165100" y="27781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2946" name="Object 24"/>
          <p:cNvGraphicFramePr>
            <a:graphicFrameLocks noChangeAspect="1"/>
          </p:cNvGraphicFramePr>
          <p:nvPr/>
        </p:nvGraphicFramePr>
        <p:xfrm>
          <a:off x="6321425" y="1989138"/>
          <a:ext cx="1584325" cy="720725"/>
        </p:xfrm>
        <a:graphic>
          <a:graphicData uri="http://schemas.openxmlformats.org/presentationml/2006/ole">
            <mc:AlternateContent xmlns:mc="http://schemas.openxmlformats.org/markup-compatibility/2006">
              <mc:Choice xmlns:v="urn:schemas-microsoft-com:vml" Requires="v">
                <p:oleObj name="Equation" r:id="rId3" imgW="965200" imgH="431800" progId="Equation.DSMT4">
                  <p:embed/>
                </p:oleObj>
              </mc:Choice>
              <mc:Fallback>
                <p:oleObj name="Equation" r:id="rId3" imgW="965200" imgH="4318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321425" y="1989138"/>
                        <a:ext cx="158432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0553" name="Rectangle 25"/>
          <p:cNvSpPr>
            <a:spLocks noChangeArrowheads="1"/>
          </p:cNvSpPr>
          <p:nvPr/>
        </p:nvSpPr>
        <p:spPr bwMode="auto">
          <a:xfrm>
            <a:off x="165100" y="25590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2947" name="Object 26"/>
          <p:cNvGraphicFramePr>
            <a:graphicFrameLocks noChangeAspect="1"/>
          </p:cNvGraphicFramePr>
          <p:nvPr/>
        </p:nvGraphicFramePr>
        <p:xfrm>
          <a:off x="1352550" y="2709863"/>
          <a:ext cx="6769100" cy="1417637"/>
        </p:xfrm>
        <a:graphic>
          <a:graphicData uri="http://schemas.openxmlformats.org/presentationml/2006/ole">
            <mc:AlternateContent xmlns:mc="http://schemas.openxmlformats.org/markup-compatibility/2006">
              <mc:Choice xmlns:v="urn:schemas-microsoft-com:vml" Requires="v">
                <p:oleObj name="Equation" r:id="rId5" imgW="4254500" imgH="889000" progId="Equation.DSMT4">
                  <p:embed/>
                </p:oleObj>
              </mc:Choice>
              <mc:Fallback>
                <p:oleObj name="Equation" r:id="rId5" imgW="4254500" imgH="88900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2550" y="2709863"/>
                        <a:ext cx="6769100" cy="14176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0555" name="Rectangle 27"/>
          <p:cNvSpPr>
            <a:spLocks noChangeArrowheads="1"/>
          </p:cNvSpPr>
          <p:nvPr/>
        </p:nvSpPr>
        <p:spPr bwMode="auto">
          <a:xfrm>
            <a:off x="165100" y="27971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2948" name="Object 28"/>
          <p:cNvGraphicFramePr>
            <a:graphicFrameLocks noChangeAspect="1"/>
          </p:cNvGraphicFramePr>
          <p:nvPr/>
        </p:nvGraphicFramePr>
        <p:xfrm>
          <a:off x="1712913" y="4402138"/>
          <a:ext cx="5616575" cy="798512"/>
        </p:xfrm>
        <a:graphic>
          <a:graphicData uri="http://schemas.openxmlformats.org/presentationml/2006/ole">
            <mc:AlternateContent xmlns:mc="http://schemas.openxmlformats.org/markup-compatibility/2006">
              <mc:Choice xmlns:v="urn:schemas-microsoft-com:vml" Requires="v">
                <p:oleObj name="Equation" r:id="rId7" imgW="2806700" imgH="393700" progId="Equation.DSMT4">
                  <p:embed/>
                </p:oleObj>
              </mc:Choice>
              <mc:Fallback>
                <p:oleObj name="Equation" r:id="rId7" imgW="2806700" imgH="3937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2913" y="4402138"/>
                        <a:ext cx="5616575" cy="7985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 name="Text Box 17">
            <a:extLst>
              <a:ext uri="{FF2B5EF4-FFF2-40B4-BE49-F238E27FC236}">
                <a16:creationId xmlns:a16="http://schemas.microsoft.com/office/drawing/2014/main" id="{FBFC4CDF-B9AC-0A03-3600-E175F9344ACF}"/>
              </a:ext>
            </a:extLst>
          </p:cNvPr>
          <p:cNvSpPr txBox="1">
            <a:spLocks noChangeArrowheads="1"/>
          </p:cNvSpPr>
          <p:nvPr/>
        </p:nvSpPr>
        <p:spPr bwMode="auto">
          <a:xfrm>
            <a:off x="1187624" y="5632450"/>
            <a:ext cx="7632848" cy="830997"/>
          </a:xfrm>
          <a:prstGeom prst="rect">
            <a:avLst/>
          </a:prstGeom>
          <a:noFill/>
          <a:ln w="9525" algn="ctr">
            <a:noFill/>
            <a:miter lim="800000"/>
            <a:headEnd/>
            <a:tailEnd/>
          </a:ln>
          <a:effectLst/>
        </p:spPr>
        <p:txBody>
          <a:bodyPr wrap="square">
            <a:spAutoFit/>
          </a:bodyPr>
          <a:lstStyle/>
          <a:p>
            <a:pPr>
              <a:defRPr/>
            </a:pPr>
            <a:r>
              <a:rPr kumimoji="0" lang="zh-CN" altLang="en-US" sz="2400" dirty="0">
                <a:effectLst>
                  <a:outerShdw blurRad="38100" dist="38100" dir="2700000" algn="tl">
                    <a:srgbClr val="C0C0C0"/>
                  </a:outerShdw>
                </a:effectLst>
              </a:rPr>
              <a:t>若              ，则系统单位速度输入时稳态误差为零，此时            中有</a:t>
            </a:r>
            <a:r>
              <a:rPr kumimoji="0" lang="en-US" altLang="zh-CN" sz="2400" i="1" dirty="0">
                <a:effectLst>
                  <a:outerShdw blurRad="38100" dist="38100" dir="2700000" algn="tl">
                    <a:srgbClr val="C0C0C0"/>
                  </a:outerShdw>
                </a:effectLst>
              </a:rPr>
              <a:t>z</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的双极点。</a:t>
            </a:r>
          </a:p>
        </p:txBody>
      </p:sp>
      <p:graphicFrame>
        <p:nvGraphicFramePr>
          <p:cNvPr id="3" name="Object 23">
            <a:extLst>
              <a:ext uri="{FF2B5EF4-FFF2-40B4-BE49-F238E27FC236}">
                <a16:creationId xmlns:a16="http://schemas.microsoft.com/office/drawing/2014/main" id="{EEA6A61B-8890-7F89-9A6C-133C676A6D66}"/>
              </a:ext>
            </a:extLst>
          </p:cNvPr>
          <p:cNvGraphicFramePr>
            <a:graphicFrameLocks noChangeAspect="1"/>
          </p:cNvGraphicFramePr>
          <p:nvPr>
            <p:extLst>
              <p:ext uri="{D42A27DB-BD31-4B8C-83A1-F6EECF244321}">
                <p14:modId xmlns:p14="http://schemas.microsoft.com/office/powerpoint/2010/main" val="3403658675"/>
              </p:ext>
            </p:extLst>
          </p:nvPr>
        </p:nvGraphicFramePr>
        <p:xfrm>
          <a:off x="1495425" y="5632450"/>
          <a:ext cx="1168400" cy="522287"/>
        </p:xfrm>
        <a:graphic>
          <a:graphicData uri="http://schemas.openxmlformats.org/presentationml/2006/ole">
            <mc:AlternateContent xmlns:mc="http://schemas.openxmlformats.org/markup-compatibility/2006">
              <mc:Choice xmlns:v="urn:schemas-microsoft-com:vml" Requires="v">
                <p:oleObj name="Equation" r:id="rId9" imgW="533160" imgH="241200" progId="Equation.DSMT4">
                  <p:embed/>
                </p:oleObj>
              </mc:Choice>
              <mc:Fallback>
                <p:oleObj name="Equation" r:id="rId9" imgW="533160" imgH="241200" progId="Equation.DSMT4">
                  <p:embed/>
                  <p:pic>
                    <p:nvPicPr>
                      <p:cNvPr id="3" name="Object 23">
                        <a:extLst>
                          <a:ext uri="{FF2B5EF4-FFF2-40B4-BE49-F238E27FC236}">
                            <a16:creationId xmlns:a16="http://schemas.microsoft.com/office/drawing/2014/main" id="{622CC357-6C4F-FBBB-7FA9-F9DD222D5859}"/>
                          </a:ext>
                        </a:extLst>
                      </p:cNvPr>
                      <p:cNvPicPr>
                        <a:picLocks noChangeAspect="1" noChangeArrowheads="1"/>
                      </p:cNvPicPr>
                      <p:nvPr/>
                    </p:nvPicPr>
                    <p:blipFill>
                      <a:blip r:embed="rId10"/>
                      <a:srcRect/>
                      <a:stretch>
                        <a:fillRect/>
                      </a:stretch>
                    </p:blipFill>
                    <p:spPr bwMode="auto">
                      <a:xfrm>
                        <a:off x="1495425" y="5632450"/>
                        <a:ext cx="1168400"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4" name="Object 23">
            <a:extLst>
              <a:ext uri="{FF2B5EF4-FFF2-40B4-BE49-F238E27FC236}">
                <a16:creationId xmlns:a16="http://schemas.microsoft.com/office/drawing/2014/main" id="{74C57403-A2F9-6E01-A801-E7EE3368BD2A}"/>
              </a:ext>
            </a:extLst>
          </p:cNvPr>
          <p:cNvGraphicFramePr>
            <a:graphicFrameLocks noChangeAspect="1"/>
          </p:cNvGraphicFramePr>
          <p:nvPr>
            <p:extLst>
              <p:ext uri="{D42A27DB-BD31-4B8C-83A1-F6EECF244321}">
                <p14:modId xmlns:p14="http://schemas.microsoft.com/office/powerpoint/2010/main" val="1104541882"/>
              </p:ext>
            </p:extLst>
          </p:nvPr>
        </p:nvGraphicFramePr>
        <p:xfrm>
          <a:off x="1595458" y="6015037"/>
          <a:ext cx="917575" cy="495300"/>
        </p:xfrm>
        <a:graphic>
          <a:graphicData uri="http://schemas.openxmlformats.org/presentationml/2006/ole">
            <mc:AlternateContent xmlns:mc="http://schemas.openxmlformats.org/markup-compatibility/2006">
              <mc:Choice xmlns:v="urn:schemas-microsoft-com:vml" Requires="v">
                <p:oleObj name="Equation" r:id="rId11" imgW="419040" imgH="228600" progId="Equation.DSMT4">
                  <p:embed/>
                </p:oleObj>
              </mc:Choice>
              <mc:Fallback>
                <p:oleObj name="Equation" r:id="rId11" imgW="419040" imgH="228600" progId="Equation.DSMT4">
                  <p:embed/>
                  <p:pic>
                    <p:nvPicPr>
                      <p:cNvPr id="4" name="Object 23">
                        <a:extLst>
                          <a:ext uri="{FF2B5EF4-FFF2-40B4-BE49-F238E27FC236}">
                            <a16:creationId xmlns:a16="http://schemas.microsoft.com/office/drawing/2014/main" id="{2A111D88-5FB9-BED7-BD76-7FAFDAADE2E9}"/>
                          </a:ext>
                        </a:extLst>
                      </p:cNvPr>
                      <p:cNvPicPr>
                        <a:picLocks noChangeAspect="1" noChangeArrowheads="1"/>
                      </p:cNvPicPr>
                      <p:nvPr/>
                    </p:nvPicPr>
                    <p:blipFill>
                      <a:blip r:embed="rId12"/>
                      <a:srcRect/>
                      <a:stretch>
                        <a:fillRect/>
                      </a:stretch>
                    </p:blipFill>
                    <p:spPr bwMode="auto">
                      <a:xfrm>
                        <a:off x="1595458" y="6015037"/>
                        <a:ext cx="9175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2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1569" name="Text Box 17"/>
          <p:cNvSpPr txBox="1">
            <a:spLocks noChangeArrowheads="1"/>
          </p:cNvSpPr>
          <p:nvPr/>
        </p:nvSpPr>
        <p:spPr bwMode="auto">
          <a:xfrm>
            <a:off x="971550" y="1196975"/>
            <a:ext cx="3044825" cy="457200"/>
          </a:xfrm>
          <a:prstGeom prst="rect">
            <a:avLst/>
          </a:prstGeom>
          <a:noFill/>
          <a:ln w="9525" algn="ctr">
            <a:noFill/>
            <a:miter lim="800000"/>
            <a:headEnd/>
            <a:tailEnd/>
          </a:ln>
          <a:effectLst/>
        </p:spPr>
        <p:txBody>
          <a:bodyPr>
            <a:spAutoFit/>
          </a:bodyPr>
          <a:lstStyle/>
          <a:p>
            <a:pPr>
              <a:defRPr/>
            </a:pPr>
            <a:r>
              <a:rPr kumimoji="0" lang="en-US" altLang="zh-CN" sz="2400" u="sng">
                <a:solidFill>
                  <a:srgbClr val="FF0000"/>
                </a:solidFill>
                <a:effectLst>
                  <a:outerShdw blurRad="38100" dist="38100" dir="2700000" algn="tl">
                    <a:srgbClr val="C0C0C0"/>
                  </a:outerShdw>
                </a:effectLst>
              </a:rPr>
              <a:t>3) </a:t>
            </a:r>
            <a:r>
              <a:rPr kumimoji="0" lang="zh-CN" altLang="en-US" sz="2400" u="sng">
                <a:solidFill>
                  <a:srgbClr val="FF0000"/>
                </a:solidFill>
                <a:effectLst>
                  <a:outerShdw blurRad="38100" dist="38100" dir="2700000" algn="tl">
                    <a:srgbClr val="C0C0C0"/>
                  </a:outerShdw>
                </a:effectLst>
              </a:rPr>
              <a:t>加速度误差系数</a:t>
            </a:r>
          </a:p>
        </p:txBody>
      </p:sp>
      <p:sp>
        <p:nvSpPr>
          <p:cNvPr id="151570" name="Text Box 18"/>
          <p:cNvSpPr txBox="1">
            <a:spLocks noChangeArrowheads="1"/>
          </p:cNvSpPr>
          <p:nvPr/>
        </p:nvSpPr>
        <p:spPr bwMode="auto">
          <a:xfrm>
            <a:off x="992188" y="1773238"/>
            <a:ext cx="57816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对于加速度输入，</a:t>
            </a:r>
          </a:p>
        </p:txBody>
      </p:sp>
      <p:sp>
        <p:nvSpPr>
          <p:cNvPr id="151571" name="Text Box 19"/>
          <p:cNvSpPr txBox="1">
            <a:spLocks noChangeArrowheads="1"/>
          </p:cNvSpPr>
          <p:nvPr/>
        </p:nvSpPr>
        <p:spPr bwMode="auto">
          <a:xfrm>
            <a:off x="1116013" y="5408613"/>
            <a:ext cx="3044825"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加速度误差系数</a:t>
            </a:r>
          </a:p>
        </p:txBody>
      </p:sp>
      <p:sp>
        <p:nvSpPr>
          <p:cNvPr id="151572" name="Line 20"/>
          <p:cNvSpPr>
            <a:spLocks noChangeShapeType="1"/>
          </p:cNvSpPr>
          <p:nvPr/>
        </p:nvSpPr>
        <p:spPr bwMode="auto">
          <a:xfrm flipV="1">
            <a:off x="1979613" y="4976813"/>
            <a:ext cx="144462" cy="504825"/>
          </a:xfrm>
          <a:prstGeom prst="line">
            <a:avLst/>
          </a:prstGeom>
          <a:noFill/>
          <a:ln w="9525">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1573" name="Rectangle 21"/>
          <p:cNvSpPr>
            <a:spLocks noChangeArrowheads="1"/>
          </p:cNvSpPr>
          <p:nvPr/>
        </p:nvSpPr>
        <p:spPr bwMode="auto">
          <a:xfrm>
            <a:off x="20638" y="27781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151574" name="Rectangle 22"/>
          <p:cNvSpPr>
            <a:spLocks noChangeArrowheads="1"/>
          </p:cNvSpPr>
          <p:nvPr/>
        </p:nvSpPr>
        <p:spPr bwMode="auto">
          <a:xfrm>
            <a:off x="20638" y="25590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151575" name="Rectangle 23"/>
          <p:cNvSpPr>
            <a:spLocks noChangeArrowheads="1"/>
          </p:cNvSpPr>
          <p:nvPr/>
        </p:nvSpPr>
        <p:spPr bwMode="auto">
          <a:xfrm>
            <a:off x="20638" y="27971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151576" name="Rectangle 24"/>
          <p:cNvSpPr>
            <a:spLocks noChangeArrowheads="1"/>
          </p:cNvSpPr>
          <p:nvPr/>
        </p:nvSpPr>
        <p:spPr bwMode="auto">
          <a:xfrm>
            <a:off x="20638" y="27971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3970" name="Object 25"/>
          <p:cNvGraphicFramePr>
            <a:graphicFrameLocks noChangeAspect="1"/>
          </p:cNvGraphicFramePr>
          <p:nvPr/>
        </p:nvGraphicFramePr>
        <p:xfrm>
          <a:off x="3440113" y="1630363"/>
          <a:ext cx="1800225" cy="720725"/>
        </p:xfrm>
        <a:graphic>
          <a:graphicData uri="http://schemas.openxmlformats.org/presentationml/2006/ole">
            <mc:AlternateContent xmlns:mc="http://schemas.openxmlformats.org/markup-compatibility/2006">
              <mc:Choice xmlns:v="urn:schemas-microsoft-com:vml" Requires="v">
                <p:oleObj name="Equation" r:id="rId3" imgW="1002865" imgH="393529" progId="Equation.DSMT4">
                  <p:embed/>
                </p:oleObj>
              </mc:Choice>
              <mc:Fallback>
                <p:oleObj name="Equation" r:id="rId3" imgW="1002865" imgH="393529"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40113" y="1630363"/>
                        <a:ext cx="1800225" cy="7207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1578" name="Rectangle 26"/>
          <p:cNvSpPr>
            <a:spLocks noChangeArrowheads="1"/>
          </p:cNvSpPr>
          <p:nvPr/>
        </p:nvSpPr>
        <p:spPr bwMode="auto">
          <a:xfrm>
            <a:off x="20638" y="27733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3971" name="Object 27"/>
          <p:cNvGraphicFramePr>
            <a:graphicFrameLocks noChangeAspect="1"/>
          </p:cNvGraphicFramePr>
          <p:nvPr/>
        </p:nvGraphicFramePr>
        <p:xfrm>
          <a:off x="5672138" y="1630363"/>
          <a:ext cx="1800225" cy="711200"/>
        </p:xfrm>
        <a:graphic>
          <a:graphicData uri="http://schemas.openxmlformats.org/presentationml/2006/ole">
            <mc:AlternateContent xmlns:mc="http://schemas.openxmlformats.org/markup-compatibility/2006">
              <mc:Choice xmlns:v="urn:schemas-microsoft-com:vml" Requires="v">
                <p:oleObj name="Equation" r:id="rId5" imgW="1129810" imgH="444307" progId="Equation.DSMT4">
                  <p:embed/>
                </p:oleObj>
              </mc:Choice>
              <mc:Fallback>
                <p:oleObj name="Equation" r:id="rId5" imgW="1129810" imgH="444307"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672138" y="1630363"/>
                        <a:ext cx="1800225"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1580" name="Rectangle 28"/>
          <p:cNvSpPr>
            <a:spLocks noChangeArrowheads="1"/>
          </p:cNvSpPr>
          <p:nvPr/>
        </p:nvSpPr>
        <p:spPr bwMode="auto">
          <a:xfrm>
            <a:off x="20638" y="27781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3972" name="Object 29"/>
          <p:cNvGraphicFramePr>
            <a:graphicFrameLocks noChangeAspect="1"/>
          </p:cNvGraphicFramePr>
          <p:nvPr/>
        </p:nvGraphicFramePr>
        <p:xfrm>
          <a:off x="1136650" y="2422525"/>
          <a:ext cx="7343775" cy="711200"/>
        </p:xfrm>
        <a:graphic>
          <a:graphicData uri="http://schemas.openxmlformats.org/presentationml/2006/ole">
            <mc:AlternateContent xmlns:mc="http://schemas.openxmlformats.org/markup-compatibility/2006">
              <mc:Choice xmlns:v="urn:schemas-microsoft-com:vml" Requires="v">
                <p:oleObj name="Equation" r:id="rId7" imgW="4775200" imgH="457200" progId="Equation.DSMT4">
                  <p:embed/>
                </p:oleObj>
              </mc:Choice>
              <mc:Fallback>
                <p:oleObj name="Equation" r:id="rId7" imgW="4775200" imgH="457200" progId="Equation.DSMT4">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136650" y="2422525"/>
                        <a:ext cx="7343775" cy="7112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1582" name="Rectangle 30"/>
          <p:cNvSpPr>
            <a:spLocks noChangeArrowheads="1"/>
          </p:cNvSpPr>
          <p:nvPr/>
        </p:nvSpPr>
        <p:spPr bwMode="auto">
          <a:xfrm>
            <a:off x="20638" y="27686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3973" name="Object 31"/>
          <p:cNvGraphicFramePr>
            <a:graphicFrameLocks noChangeAspect="1"/>
          </p:cNvGraphicFramePr>
          <p:nvPr/>
        </p:nvGraphicFramePr>
        <p:xfrm>
          <a:off x="1784350" y="3141663"/>
          <a:ext cx="3168650" cy="779462"/>
        </p:xfrm>
        <a:graphic>
          <a:graphicData uri="http://schemas.openxmlformats.org/presentationml/2006/ole">
            <mc:AlternateContent xmlns:mc="http://schemas.openxmlformats.org/markup-compatibility/2006">
              <mc:Choice xmlns:v="urn:schemas-microsoft-com:vml" Requires="v">
                <p:oleObj name="Equation" r:id="rId9" imgW="1854200" imgH="457200" progId="Equation.DSMT4">
                  <p:embed/>
                </p:oleObj>
              </mc:Choice>
              <mc:Fallback>
                <p:oleObj name="Equation" r:id="rId9" imgW="1854200" imgH="457200" progId="Equation.DSMT4">
                  <p:embed/>
                  <p:pic>
                    <p:nvPicPr>
                      <p:cNvPr id="0"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1784350" y="3141663"/>
                        <a:ext cx="3168650" cy="779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1584" name="Rectangle 32"/>
          <p:cNvSpPr>
            <a:spLocks noChangeArrowheads="1"/>
          </p:cNvSpPr>
          <p:nvPr/>
        </p:nvSpPr>
        <p:spPr bwMode="auto">
          <a:xfrm>
            <a:off x="20638" y="28019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3974" name="Object 33"/>
          <p:cNvGraphicFramePr>
            <a:graphicFrameLocks noChangeAspect="1"/>
          </p:cNvGraphicFramePr>
          <p:nvPr/>
        </p:nvGraphicFramePr>
        <p:xfrm>
          <a:off x="1979613" y="4471988"/>
          <a:ext cx="4968875" cy="708025"/>
        </p:xfrm>
        <a:graphic>
          <a:graphicData uri="http://schemas.openxmlformats.org/presentationml/2006/ole">
            <mc:AlternateContent xmlns:mc="http://schemas.openxmlformats.org/markup-compatibility/2006">
              <mc:Choice xmlns:v="urn:schemas-microsoft-com:vml" Requires="v">
                <p:oleObj name="Equation" r:id="rId11" imgW="2946400" imgH="419100" progId="Equation.DSMT4">
                  <p:embed/>
                </p:oleObj>
              </mc:Choice>
              <mc:Fallback>
                <p:oleObj name="Equation" r:id="rId11" imgW="2946400" imgH="419100" progId="Equation.DSMT4">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1979613" y="4471988"/>
                        <a:ext cx="4968875" cy="7080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5" name="Text Box 17">
            <a:extLst>
              <a:ext uri="{FF2B5EF4-FFF2-40B4-BE49-F238E27FC236}">
                <a16:creationId xmlns:a16="http://schemas.microsoft.com/office/drawing/2014/main" id="{11BA59EF-7DE2-E3B9-C5F9-BD2BD8FB0A14}"/>
              </a:ext>
            </a:extLst>
          </p:cNvPr>
          <p:cNvSpPr txBox="1">
            <a:spLocks noChangeArrowheads="1"/>
          </p:cNvSpPr>
          <p:nvPr/>
        </p:nvSpPr>
        <p:spPr bwMode="auto">
          <a:xfrm>
            <a:off x="611560" y="5693208"/>
            <a:ext cx="7632848" cy="830997"/>
          </a:xfrm>
          <a:prstGeom prst="rect">
            <a:avLst/>
          </a:prstGeom>
          <a:noFill/>
          <a:ln w="9525" algn="ctr">
            <a:noFill/>
            <a:miter lim="800000"/>
            <a:headEnd/>
            <a:tailEnd/>
          </a:ln>
          <a:effectLst/>
        </p:spPr>
        <p:txBody>
          <a:bodyPr wrap="square">
            <a:spAutoFit/>
          </a:bodyPr>
          <a:lstStyle/>
          <a:p>
            <a:pPr>
              <a:defRPr/>
            </a:pPr>
            <a:r>
              <a:rPr kumimoji="0" lang="zh-CN" altLang="en-US" sz="2400" dirty="0">
                <a:effectLst>
                  <a:outerShdw blurRad="38100" dist="38100" dir="2700000" algn="tl">
                    <a:srgbClr val="C0C0C0"/>
                  </a:outerShdw>
                </a:effectLst>
              </a:rPr>
              <a:t>若              ，则系统加速度输入时稳态误差为零，此时              中有</a:t>
            </a:r>
            <a:r>
              <a:rPr kumimoji="0" lang="en-US" altLang="zh-CN" sz="2400" i="1" dirty="0">
                <a:effectLst>
                  <a:outerShdw blurRad="38100" dist="38100" dir="2700000" algn="tl">
                    <a:srgbClr val="C0C0C0"/>
                  </a:outerShdw>
                </a:effectLst>
              </a:rPr>
              <a:t>z</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的三重极点。</a:t>
            </a:r>
          </a:p>
        </p:txBody>
      </p:sp>
      <p:graphicFrame>
        <p:nvGraphicFramePr>
          <p:cNvPr id="6" name="Object 23">
            <a:extLst>
              <a:ext uri="{FF2B5EF4-FFF2-40B4-BE49-F238E27FC236}">
                <a16:creationId xmlns:a16="http://schemas.microsoft.com/office/drawing/2014/main" id="{34F06A0B-2083-4114-7C1A-528C3DB1B717}"/>
              </a:ext>
            </a:extLst>
          </p:cNvPr>
          <p:cNvGraphicFramePr>
            <a:graphicFrameLocks noChangeAspect="1"/>
          </p:cNvGraphicFramePr>
          <p:nvPr>
            <p:extLst>
              <p:ext uri="{D42A27DB-BD31-4B8C-83A1-F6EECF244321}">
                <p14:modId xmlns:p14="http://schemas.microsoft.com/office/powerpoint/2010/main" val="3966443574"/>
              </p:ext>
            </p:extLst>
          </p:nvPr>
        </p:nvGraphicFramePr>
        <p:xfrm>
          <a:off x="919361" y="5693208"/>
          <a:ext cx="1168400" cy="522287"/>
        </p:xfrm>
        <a:graphic>
          <a:graphicData uri="http://schemas.openxmlformats.org/presentationml/2006/ole">
            <mc:AlternateContent xmlns:mc="http://schemas.openxmlformats.org/markup-compatibility/2006">
              <mc:Choice xmlns:v="urn:schemas-microsoft-com:vml" Requires="v">
                <p:oleObj name="Equation" r:id="rId13" imgW="533160" imgH="241200" progId="Equation.DSMT4">
                  <p:embed/>
                </p:oleObj>
              </mc:Choice>
              <mc:Fallback>
                <p:oleObj name="Equation" r:id="rId13" imgW="533160" imgH="241200" progId="Equation.DSMT4">
                  <p:embed/>
                  <p:pic>
                    <p:nvPicPr>
                      <p:cNvPr id="3" name="Object 23">
                        <a:extLst>
                          <a:ext uri="{FF2B5EF4-FFF2-40B4-BE49-F238E27FC236}">
                            <a16:creationId xmlns:a16="http://schemas.microsoft.com/office/drawing/2014/main" id="{EEA6A61B-8890-7F89-9A6C-133C676A6D66}"/>
                          </a:ext>
                        </a:extLst>
                      </p:cNvPr>
                      <p:cNvPicPr>
                        <a:picLocks noChangeAspect="1" noChangeArrowheads="1"/>
                      </p:cNvPicPr>
                      <p:nvPr/>
                    </p:nvPicPr>
                    <p:blipFill>
                      <a:blip r:embed="rId14"/>
                      <a:srcRect/>
                      <a:stretch>
                        <a:fillRect/>
                      </a:stretch>
                    </p:blipFill>
                    <p:spPr bwMode="auto">
                      <a:xfrm>
                        <a:off x="919361" y="5693208"/>
                        <a:ext cx="1168400" cy="522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7" name="Object 23">
            <a:extLst>
              <a:ext uri="{FF2B5EF4-FFF2-40B4-BE49-F238E27FC236}">
                <a16:creationId xmlns:a16="http://schemas.microsoft.com/office/drawing/2014/main" id="{79300003-381F-FADE-FAD1-6FFCE88C2041}"/>
              </a:ext>
            </a:extLst>
          </p:cNvPr>
          <p:cNvGraphicFramePr>
            <a:graphicFrameLocks noChangeAspect="1"/>
          </p:cNvGraphicFramePr>
          <p:nvPr>
            <p:extLst>
              <p:ext uri="{D42A27DB-BD31-4B8C-83A1-F6EECF244321}">
                <p14:modId xmlns:p14="http://schemas.microsoft.com/office/powerpoint/2010/main" val="3169980882"/>
              </p:ext>
            </p:extLst>
          </p:nvPr>
        </p:nvGraphicFramePr>
        <p:xfrm>
          <a:off x="7888919" y="5699211"/>
          <a:ext cx="917575" cy="495300"/>
        </p:xfrm>
        <a:graphic>
          <a:graphicData uri="http://schemas.openxmlformats.org/presentationml/2006/ole">
            <mc:AlternateContent xmlns:mc="http://schemas.openxmlformats.org/markup-compatibility/2006">
              <mc:Choice xmlns:v="urn:schemas-microsoft-com:vml" Requires="v">
                <p:oleObj name="Equation" r:id="rId15" imgW="419040" imgH="228600" progId="Equation.DSMT4">
                  <p:embed/>
                </p:oleObj>
              </mc:Choice>
              <mc:Fallback>
                <p:oleObj name="Equation" r:id="rId15" imgW="419040" imgH="228600" progId="Equation.DSMT4">
                  <p:embed/>
                  <p:pic>
                    <p:nvPicPr>
                      <p:cNvPr id="4" name="Object 23">
                        <a:extLst>
                          <a:ext uri="{FF2B5EF4-FFF2-40B4-BE49-F238E27FC236}">
                            <a16:creationId xmlns:a16="http://schemas.microsoft.com/office/drawing/2014/main" id="{74C57403-A2F9-6E01-A801-E7EE3368BD2A}"/>
                          </a:ext>
                        </a:extLst>
                      </p:cNvPr>
                      <p:cNvPicPr>
                        <a:picLocks noChangeAspect="1" noChangeArrowheads="1"/>
                      </p:cNvPicPr>
                      <p:nvPr/>
                    </p:nvPicPr>
                    <p:blipFill>
                      <a:blip r:embed="rId16"/>
                      <a:srcRect/>
                      <a:stretch>
                        <a:fillRect/>
                      </a:stretch>
                    </p:blipFill>
                    <p:spPr bwMode="auto">
                      <a:xfrm>
                        <a:off x="7888919" y="5699211"/>
                        <a:ext cx="917575" cy="495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2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2593" name="Text Box 17"/>
          <p:cNvSpPr txBox="1">
            <a:spLocks noChangeArrowheads="1"/>
          </p:cNvSpPr>
          <p:nvPr/>
        </p:nvSpPr>
        <p:spPr bwMode="auto">
          <a:xfrm>
            <a:off x="827088" y="476250"/>
            <a:ext cx="5329237"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3.6.2 </a:t>
            </a:r>
            <a:r>
              <a:rPr kumimoji="0" lang="zh-CN" altLang="en-US" sz="2800">
                <a:solidFill>
                  <a:srgbClr val="0000FF"/>
                </a:solidFill>
                <a:effectLst>
                  <a:outerShdw blurRad="38100" dist="38100" dir="2700000" algn="tl">
                    <a:srgbClr val="C0C0C0"/>
                  </a:outerShdw>
                </a:effectLst>
              </a:rPr>
              <a:t>系统类型与稳态误差</a:t>
            </a:r>
          </a:p>
        </p:txBody>
      </p:sp>
      <p:sp>
        <p:nvSpPr>
          <p:cNvPr id="152594" name="Text Box 18"/>
          <p:cNvSpPr txBox="1">
            <a:spLocks noChangeArrowheads="1"/>
          </p:cNvSpPr>
          <p:nvPr/>
        </p:nvSpPr>
        <p:spPr bwMode="auto">
          <a:xfrm>
            <a:off x="950913" y="1535113"/>
            <a:ext cx="65008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系统的开环脉冲传递函数写成如下形式：</a:t>
            </a:r>
          </a:p>
        </p:txBody>
      </p:sp>
      <p:sp>
        <p:nvSpPr>
          <p:cNvPr id="152595" name="Rectangle 19"/>
          <p:cNvSpPr>
            <a:spLocks noChangeArrowheads="1"/>
          </p:cNvSpPr>
          <p:nvPr/>
        </p:nvSpPr>
        <p:spPr bwMode="auto">
          <a:xfrm>
            <a:off x="71438" y="27654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4994" name="Object 20"/>
          <p:cNvGraphicFramePr>
            <a:graphicFrameLocks noChangeAspect="1"/>
          </p:cNvGraphicFramePr>
          <p:nvPr/>
        </p:nvGraphicFramePr>
        <p:xfrm>
          <a:off x="2411413" y="2111375"/>
          <a:ext cx="3671887" cy="841375"/>
        </p:xfrm>
        <a:graphic>
          <a:graphicData uri="http://schemas.openxmlformats.org/presentationml/2006/ole">
            <mc:AlternateContent xmlns:mc="http://schemas.openxmlformats.org/markup-compatibility/2006">
              <mc:Choice xmlns:v="urn:schemas-microsoft-com:vml" Requires="v">
                <p:oleObj name="Equation" r:id="rId3" imgW="1828800" imgH="419100" progId="Equation.DSMT4">
                  <p:embed/>
                </p:oleObj>
              </mc:Choice>
              <mc:Fallback>
                <p:oleObj name="Equation" r:id="rId3" imgW="1828800" imgH="419100"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11413" y="2111375"/>
                        <a:ext cx="3671887" cy="8413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2597" name="Text Box 21"/>
          <p:cNvSpPr txBox="1">
            <a:spLocks noChangeArrowheads="1"/>
          </p:cNvSpPr>
          <p:nvPr/>
        </p:nvSpPr>
        <p:spPr bwMode="auto">
          <a:xfrm>
            <a:off x="1835696" y="3223145"/>
            <a:ext cx="3776996" cy="2099742"/>
          </a:xfrm>
          <a:prstGeom prst="rect">
            <a:avLst/>
          </a:prstGeom>
          <a:noFill/>
          <a:ln w="9525" algn="ctr">
            <a:noFill/>
            <a:miter lim="800000"/>
            <a:headEnd/>
            <a:tailEnd/>
          </a:ln>
          <a:effectLst/>
        </p:spPr>
        <p:txBody>
          <a:bodyPr wrap="none">
            <a:spAutoFit/>
          </a:bodyPr>
          <a:lstStyle/>
          <a:p>
            <a:pPr>
              <a:lnSpc>
                <a:spcPct val="140000"/>
              </a:lnSpc>
              <a:buClr>
                <a:schemeClr val="accent2"/>
              </a:buClr>
              <a:defRPr/>
            </a:pPr>
            <a:r>
              <a:rPr kumimoji="0" lang="en-US" altLang="zh-CN" sz="2400" i="1" dirty="0">
                <a:effectLst>
                  <a:outerShdw blurRad="38100" dist="38100" dir="2700000" algn="tl">
                    <a:srgbClr val="C0C0C0"/>
                  </a:outerShdw>
                </a:effectLst>
              </a:rPr>
              <a:t>r</a:t>
            </a:r>
            <a:r>
              <a:rPr kumimoji="0" lang="zh-CN" altLang="en-US" sz="2400" dirty="0">
                <a:effectLst>
                  <a:outerShdw blurRad="38100" dist="38100" dir="2700000" algn="tl">
                    <a:srgbClr val="C0C0C0"/>
                  </a:outerShdw>
                </a:effectLst>
              </a:rPr>
              <a:t>为积分环节的阶次</a:t>
            </a:r>
            <a:r>
              <a:rPr kumimoji="0" lang="en-US" altLang="zh-CN" sz="2400" dirty="0">
                <a:effectLst>
                  <a:outerShdw blurRad="38100" dist="38100" dir="2700000" algn="tl">
                    <a:srgbClr val="C0C0C0"/>
                  </a:outerShdw>
                </a:effectLst>
              </a:rPr>
              <a:t> </a:t>
            </a:r>
          </a:p>
          <a:p>
            <a:pPr>
              <a:lnSpc>
                <a:spcPct val="140000"/>
              </a:lnSpc>
              <a:buClr>
                <a:schemeClr val="accent2"/>
              </a:buClr>
              <a:buFont typeface="Wingdings" pitchFamily="2" charset="2"/>
              <a:buChar char="p"/>
              <a:defRPr/>
            </a:pPr>
            <a:r>
              <a:rPr kumimoji="0" lang="en-US" altLang="zh-CN" sz="2400" i="1" dirty="0">
                <a:effectLst>
                  <a:outerShdw blurRad="38100" dist="38100" dir="2700000" algn="tl">
                    <a:srgbClr val="C0C0C0"/>
                  </a:outerShdw>
                </a:effectLst>
              </a:rPr>
              <a:t>r</a:t>
            </a:r>
            <a:r>
              <a:rPr kumimoji="0" lang="en-US" altLang="zh-CN" sz="2400" dirty="0">
                <a:effectLst>
                  <a:outerShdw blurRad="38100" dist="38100" dir="2700000" algn="tl">
                    <a:srgbClr val="C0C0C0"/>
                  </a:outerShdw>
                </a:effectLst>
              </a:rPr>
              <a:t> =0</a:t>
            </a:r>
            <a:r>
              <a:rPr kumimoji="0" lang="zh-CN" altLang="en-US" sz="2400" dirty="0">
                <a:effectLst>
                  <a:outerShdw blurRad="38100" dist="38100" dir="2700000" algn="tl">
                    <a:srgbClr val="C0C0C0"/>
                  </a:outerShdw>
                </a:effectLst>
              </a:rPr>
              <a:t>，则系统为</a:t>
            </a:r>
            <a:r>
              <a:rPr kumimoji="0" lang="en-US" altLang="zh-CN" sz="2400" dirty="0">
                <a:effectLst>
                  <a:outerShdw blurRad="38100" dist="38100" dir="2700000" algn="tl">
                    <a:srgbClr val="C0C0C0"/>
                  </a:outerShdw>
                </a:effectLst>
              </a:rPr>
              <a:t>0</a:t>
            </a:r>
            <a:r>
              <a:rPr kumimoji="0" lang="zh-CN" altLang="en-US" sz="2400" dirty="0">
                <a:effectLst>
                  <a:outerShdw blurRad="38100" dist="38100" dir="2700000" algn="tl">
                    <a:srgbClr val="C0C0C0"/>
                  </a:outerShdw>
                </a:effectLst>
              </a:rPr>
              <a:t>型系统</a:t>
            </a:r>
          </a:p>
          <a:p>
            <a:pPr>
              <a:lnSpc>
                <a:spcPct val="140000"/>
              </a:lnSpc>
              <a:buClr>
                <a:schemeClr val="accent2"/>
              </a:buClr>
              <a:buFont typeface="Wingdings" pitchFamily="2" charset="2"/>
              <a:buChar char="p"/>
              <a:defRPr/>
            </a:pPr>
            <a:r>
              <a:rPr kumimoji="0" lang="zh-CN" altLang="en-US" sz="2400" dirty="0">
                <a:effectLst>
                  <a:outerShdw blurRad="38100" dist="38100" dir="2700000" algn="tl">
                    <a:srgbClr val="C0C0C0"/>
                  </a:outerShdw>
                </a:effectLst>
              </a:rPr>
              <a:t> </a:t>
            </a:r>
            <a:r>
              <a:rPr kumimoji="0" lang="en-US" altLang="zh-CN" sz="2400" i="1" dirty="0">
                <a:effectLst>
                  <a:outerShdw blurRad="38100" dist="38100" dir="2700000" algn="tl">
                    <a:srgbClr val="C0C0C0"/>
                  </a:outerShdw>
                </a:effectLst>
              </a:rPr>
              <a:t>r</a:t>
            </a:r>
            <a:r>
              <a:rPr kumimoji="0" lang="en-US" altLang="zh-CN" sz="2400" dirty="0">
                <a:effectLst>
                  <a:outerShdw blurRad="38100" dist="38100" dir="2700000" algn="tl">
                    <a:srgbClr val="C0C0C0"/>
                  </a:outerShdw>
                </a:effectLst>
              </a:rPr>
              <a:t> =1</a:t>
            </a:r>
            <a:r>
              <a:rPr kumimoji="0" lang="zh-CN" altLang="en-US" sz="2400" dirty="0">
                <a:effectLst>
                  <a:outerShdw blurRad="38100" dist="38100" dir="2700000" algn="tl">
                    <a:srgbClr val="C0C0C0"/>
                  </a:outerShdw>
                </a:effectLst>
              </a:rPr>
              <a:t>，则系统为</a:t>
            </a:r>
            <a:r>
              <a:rPr kumimoji="0" lang="en-US" altLang="zh-CN" sz="2400" dirty="0">
                <a:effectLst>
                  <a:outerShdw blurRad="38100" dist="38100" dir="2700000" algn="tl">
                    <a:srgbClr val="C0C0C0"/>
                  </a:outerShdw>
                </a:effectLst>
              </a:rPr>
              <a:t>I</a:t>
            </a:r>
            <a:r>
              <a:rPr kumimoji="0" lang="zh-CN" altLang="en-US" sz="2400" dirty="0">
                <a:effectLst>
                  <a:outerShdw blurRad="38100" dist="38100" dir="2700000" algn="tl">
                    <a:srgbClr val="C0C0C0"/>
                  </a:outerShdw>
                </a:effectLst>
              </a:rPr>
              <a:t>型系统</a:t>
            </a:r>
          </a:p>
          <a:p>
            <a:pPr>
              <a:lnSpc>
                <a:spcPct val="140000"/>
              </a:lnSpc>
              <a:buClr>
                <a:schemeClr val="accent2"/>
              </a:buClr>
              <a:buFont typeface="Wingdings" pitchFamily="2" charset="2"/>
              <a:buChar char="p"/>
              <a:defRPr/>
            </a:pPr>
            <a:r>
              <a:rPr kumimoji="0" lang="zh-CN" altLang="en-US" sz="2400" dirty="0">
                <a:effectLst>
                  <a:outerShdw blurRad="38100" dist="38100" dir="2700000" algn="tl">
                    <a:srgbClr val="C0C0C0"/>
                  </a:outerShdw>
                </a:effectLst>
              </a:rPr>
              <a:t> </a:t>
            </a:r>
            <a:r>
              <a:rPr kumimoji="0" lang="en-US" altLang="zh-CN" sz="2400" i="1" dirty="0">
                <a:effectLst>
                  <a:outerShdw blurRad="38100" dist="38100" dir="2700000" algn="tl">
                    <a:srgbClr val="C0C0C0"/>
                  </a:outerShdw>
                </a:effectLst>
              </a:rPr>
              <a:t>r</a:t>
            </a:r>
            <a:r>
              <a:rPr kumimoji="0" lang="en-US" altLang="zh-CN" sz="2400" dirty="0">
                <a:effectLst>
                  <a:outerShdw blurRad="38100" dist="38100" dir="2700000" algn="tl">
                    <a:srgbClr val="C0C0C0"/>
                  </a:outerShdw>
                </a:effectLst>
              </a:rPr>
              <a:t> =2</a:t>
            </a:r>
            <a:r>
              <a:rPr kumimoji="0" lang="zh-CN" altLang="en-US" sz="2400" dirty="0">
                <a:effectLst>
                  <a:outerShdw blurRad="38100" dist="38100" dir="2700000" algn="tl">
                    <a:srgbClr val="C0C0C0"/>
                  </a:outerShdw>
                </a:effectLst>
              </a:rPr>
              <a:t>，则系统为</a:t>
            </a:r>
            <a:r>
              <a:rPr kumimoji="0" lang="en-US" altLang="zh-CN" sz="2400" dirty="0">
                <a:effectLst>
                  <a:outerShdw blurRad="38100" dist="38100" dir="2700000" algn="tl">
                    <a:srgbClr val="C0C0C0"/>
                  </a:outerShdw>
                </a:effectLst>
              </a:rPr>
              <a:t>II</a:t>
            </a:r>
            <a:r>
              <a:rPr kumimoji="0" lang="zh-CN" altLang="en-US" sz="2400" dirty="0">
                <a:effectLst>
                  <a:outerShdw blurRad="38100" dist="38100" dir="2700000" algn="tl">
                    <a:srgbClr val="C0C0C0"/>
                  </a:outerShdw>
                </a:effectLst>
              </a:rPr>
              <a:t>型系统</a:t>
            </a:r>
          </a:p>
        </p:txBody>
      </p:sp>
      <p:sp>
        <p:nvSpPr>
          <p:cNvPr id="152598" name="Line 22"/>
          <p:cNvSpPr>
            <a:spLocks noChangeShapeType="1"/>
          </p:cNvSpPr>
          <p:nvPr/>
        </p:nvSpPr>
        <p:spPr bwMode="auto">
          <a:xfrm flipH="1" flipV="1">
            <a:off x="5938838" y="2974975"/>
            <a:ext cx="576262" cy="431800"/>
          </a:xfrm>
          <a:prstGeom prst="line">
            <a:avLst/>
          </a:prstGeom>
          <a:noFill/>
          <a:ln w="9525">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2599" name="Text Box 23"/>
          <p:cNvSpPr txBox="1">
            <a:spLocks noChangeArrowheads="1"/>
          </p:cNvSpPr>
          <p:nvPr/>
        </p:nvSpPr>
        <p:spPr bwMode="auto">
          <a:xfrm>
            <a:off x="5938838" y="3479800"/>
            <a:ext cx="216058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积分环节</a:t>
            </a:r>
          </a:p>
        </p:txBody>
      </p:sp>
    </p:spTree>
  </p:cSld>
  <p:clrMapOvr>
    <a:masterClrMapping/>
  </p:clrMapOvr>
  <p:transition>
    <p:comb/>
  </p:transition>
</p:sld>
</file>

<file path=ppt/slides/slide12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3616" name="Text Box 16"/>
          <p:cNvSpPr txBox="1">
            <a:spLocks noChangeArrowheads="1"/>
          </p:cNvSpPr>
          <p:nvPr/>
        </p:nvSpPr>
        <p:spPr bwMode="auto">
          <a:xfrm>
            <a:off x="1475656" y="1196752"/>
            <a:ext cx="6481763"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表</a:t>
            </a:r>
            <a:r>
              <a:rPr kumimoji="0" lang="en-US" altLang="zh-CN" sz="2400">
                <a:solidFill>
                  <a:srgbClr val="0000FF"/>
                </a:solidFill>
                <a:effectLst>
                  <a:outerShdw blurRad="38100" dist="38100" dir="2700000" algn="tl">
                    <a:srgbClr val="C0C0C0"/>
                  </a:outerShdw>
                </a:effectLst>
              </a:rPr>
              <a:t>3.2 </a:t>
            </a:r>
            <a:r>
              <a:rPr kumimoji="0" lang="zh-CN" altLang="en-US" sz="2400">
                <a:solidFill>
                  <a:srgbClr val="0000FF"/>
                </a:solidFill>
                <a:effectLst>
                  <a:outerShdw blurRad="38100" dist="38100" dir="2700000" algn="tl">
                    <a:srgbClr val="C0C0C0"/>
                  </a:outerShdw>
                </a:effectLst>
              </a:rPr>
              <a:t>三种类型系统的误差系数与稳态误差</a:t>
            </a:r>
          </a:p>
        </p:txBody>
      </p:sp>
      <p:pic>
        <p:nvPicPr>
          <p:cNvPr id="138243" name="Picture 17"/>
          <p:cNvPicPr>
            <a:picLocks noChangeAspect="1" noChangeArrowheads="1"/>
          </p:cNvPicPr>
          <p:nvPr/>
        </p:nvPicPr>
        <p:blipFill>
          <a:blip r:embed="rId3" cstate="print"/>
          <a:srcRect/>
          <a:stretch>
            <a:fillRect/>
          </a:stretch>
        </p:blipFill>
        <p:spPr bwMode="auto">
          <a:xfrm>
            <a:off x="611560" y="1772816"/>
            <a:ext cx="8388350" cy="2703513"/>
          </a:xfrm>
          <a:prstGeom prst="rect">
            <a:avLst/>
          </a:prstGeom>
          <a:noFill/>
          <a:ln w="9525">
            <a:noFill/>
            <a:miter lim="800000"/>
            <a:headEnd/>
            <a:tailEnd/>
          </a:ln>
        </p:spPr>
      </p:pic>
      <p:sp>
        <p:nvSpPr>
          <p:cNvPr id="2" name="Text Box 21">
            <a:extLst>
              <a:ext uri="{FF2B5EF4-FFF2-40B4-BE49-F238E27FC236}">
                <a16:creationId xmlns:a16="http://schemas.microsoft.com/office/drawing/2014/main" id="{F80346B4-B00F-E0D0-06B9-C7879540A424}"/>
              </a:ext>
            </a:extLst>
          </p:cNvPr>
          <p:cNvSpPr txBox="1">
            <a:spLocks noChangeArrowheads="1"/>
          </p:cNvSpPr>
          <p:nvPr/>
        </p:nvSpPr>
        <p:spPr bwMode="auto">
          <a:xfrm>
            <a:off x="522362" y="4365104"/>
            <a:ext cx="8388350" cy="2120004"/>
          </a:xfrm>
          <a:prstGeom prst="rect">
            <a:avLst/>
          </a:prstGeom>
          <a:noFill/>
          <a:ln w="9525" algn="ctr">
            <a:noFill/>
            <a:miter lim="800000"/>
            <a:headEnd/>
            <a:tailEnd/>
          </a:ln>
          <a:effectLst/>
        </p:spPr>
        <p:txBody>
          <a:bodyPr wrap="square">
            <a:spAutoFit/>
          </a:bodyPr>
          <a:lstStyle/>
          <a:p>
            <a:pPr marL="171450" indent="-171450">
              <a:lnSpc>
                <a:spcPct val="140000"/>
              </a:lnSpc>
              <a:buClr>
                <a:schemeClr val="tx1"/>
              </a:buClr>
              <a:buFont typeface="Wingdings" panose="05000000000000000000" pitchFamily="2" charset="2"/>
              <a:buChar char="Ø"/>
              <a:defRPr/>
            </a:pPr>
            <a:r>
              <a:rPr kumimoji="0" lang="en-US" altLang="zh-CN" sz="1600" dirty="0">
                <a:effectLst>
                  <a:outerShdw blurRad="38100" dist="38100" dir="2700000" algn="tl">
                    <a:srgbClr val="C0C0C0"/>
                  </a:outerShdw>
                </a:effectLst>
              </a:rPr>
              <a:t>0</a:t>
            </a:r>
            <a:r>
              <a:rPr kumimoji="0" lang="zh-CN" altLang="en-US" sz="1600" dirty="0">
                <a:effectLst>
                  <a:outerShdw blurRad="38100" dist="38100" dir="2700000" algn="tl">
                    <a:srgbClr val="C0C0C0"/>
                  </a:outerShdw>
                </a:effectLst>
              </a:rPr>
              <a:t>型系统不能完全消除阶跃输入信号的稳态误差，对于单位速度信号和加速度信号输入的稳态误差无穷大。</a:t>
            </a:r>
          </a:p>
          <a:p>
            <a:pPr marL="171450" indent="-171450">
              <a:lnSpc>
                <a:spcPct val="140000"/>
              </a:lnSpc>
              <a:buFont typeface="Wingdings" panose="05000000000000000000" pitchFamily="2" charset="2"/>
              <a:buChar char="Ø"/>
              <a:defRPr/>
            </a:pPr>
            <a:r>
              <a:rPr kumimoji="0" lang="en-US" altLang="zh-CN" sz="1600" dirty="0">
                <a:effectLst>
                  <a:outerShdw blurRad="38100" dist="38100" dir="2700000" algn="tl">
                    <a:srgbClr val="C0C0C0"/>
                  </a:outerShdw>
                </a:effectLst>
              </a:rPr>
              <a:t>I</a:t>
            </a:r>
            <a:r>
              <a:rPr kumimoji="0" lang="zh-CN" altLang="en-US" sz="1600" dirty="0">
                <a:effectLst>
                  <a:outerShdw blurRad="38100" dist="38100" dir="2700000" algn="tl">
                    <a:srgbClr val="C0C0C0"/>
                  </a:outerShdw>
                </a:effectLst>
              </a:rPr>
              <a:t>型系统对阶跃输入信号能够完全消除稳态误差，对于单位速度信号也有一定复现能力，对加速度信号输入的稳态误差无穷大。</a:t>
            </a:r>
          </a:p>
          <a:p>
            <a:pPr marL="171450" indent="-171450">
              <a:lnSpc>
                <a:spcPct val="140000"/>
              </a:lnSpc>
              <a:buFont typeface="Wingdings" panose="05000000000000000000" pitchFamily="2" charset="2"/>
              <a:buChar char="Ø"/>
              <a:defRPr/>
            </a:pPr>
            <a:r>
              <a:rPr kumimoji="0" lang="en-US" altLang="zh-CN" sz="1600" dirty="0">
                <a:effectLst>
                  <a:outerShdw blurRad="38100" dist="38100" dir="2700000" algn="tl">
                    <a:srgbClr val="C0C0C0"/>
                  </a:outerShdw>
                </a:effectLst>
              </a:rPr>
              <a:t>II</a:t>
            </a:r>
            <a:r>
              <a:rPr kumimoji="0" lang="zh-CN" altLang="en-US" sz="1600" dirty="0">
                <a:effectLst>
                  <a:outerShdw blurRad="38100" dist="38100" dir="2700000" algn="tl">
                    <a:srgbClr val="C0C0C0"/>
                  </a:outerShdw>
                </a:effectLst>
              </a:rPr>
              <a:t>型系统能够完全消除阶跃输入信号和单位速度信号的稳态误差，对加速度信号有一定复现能力。</a:t>
            </a:r>
          </a:p>
        </p:txBody>
      </p:sp>
    </p:spTree>
  </p:cSld>
  <p:clrMapOvr>
    <a:masterClrMapping/>
  </p:clrMapOvr>
  <p:transition>
    <p:comb/>
  </p:transition>
</p:sld>
</file>

<file path=ppt/slides/slide13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4647" name="Text Box 23"/>
          <p:cNvSpPr txBox="1">
            <a:spLocks noChangeArrowheads="1"/>
          </p:cNvSpPr>
          <p:nvPr/>
        </p:nvSpPr>
        <p:spPr bwMode="auto">
          <a:xfrm>
            <a:off x="900113" y="476250"/>
            <a:ext cx="6861175"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3.6.3 </a:t>
            </a:r>
            <a:r>
              <a:rPr kumimoji="0" lang="zh-CN" altLang="en-US" sz="2800">
                <a:solidFill>
                  <a:srgbClr val="0000FF"/>
                </a:solidFill>
                <a:effectLst>
                  <a:outerShdw blurRad="38100" dist="38100" dir="2700000" algn="tl">
                    <a:srgbClr val="C0C0C0"/>
                  </a:outerShdw>
                </a:effectLst>
              </a:rPr>
              <a:t>采样周期对稳态误差的影响</a:t>
            </a:r>
          </a:p>
        </p:txBody>
      </p:sp>
      <p:sp>
        <p:nvSpPr>
          <p:cNvPr id="154648" name="Text Box 24"/>
          <p:cNvSpPr txBox="1">
            <a:spLocks noChangeArrowheads="1"/>
          </p:cNvSpPr>
          <p:nvPr/>
        </p:nvSpPr>
        <p:spPr bwMode="auto">
          <a:xfrm>
            <a:off x="704850" y="1658938"/>
            <a:ext cx="7704138" cy="457200"/>
          </a:xfrm>
          <a:prstGeom prst="rect">
            <a:avLst/>
          </a:prstGeom>
          <a:noFill/>
          <a:ln w="9525" algn="ctr">
            <a:noFill/>
            <a:miter lim="800000"/>
            <a:headEnd/>
            <a:tailEnd/>
          </a:ln>
          <a:effectLst/>
        </p:spPr>
        <p:txBody>
          <a:bodyPr>
            <a:spAutoFit/>
          </a:bodyPr>
          <a:lstStyle/>
          <a:p>
            <a:pPr>
              <a:defRPr/>
            </a:pPr>
            <a:r>
              <a:rPr kumimoji="0" lang="zh-CN" altLang="en-US" sz="2400" dirty="0">
                <a:solidFill>
                  <a:srgbClr val="0000FF"/>
                </a:solidFill>
                <a:effectLst>
                  <a:outerShdw blurRad="38100" dist="38100" dir="2700000" algn="tl">
                    <a:srgbClr val="C0C0C0"/>
                  </a:outerShdw>
                </a:effectLst>
              </a:rPr>
              <a:t>系统的稳态误差与采样周期</a:t>
            </a:r>
            <a:r>
              <a:rPr kumimoji="0" lang="en-US" altLang="zh-CN" sz="2400" i="1" dirty="0">
                <a:solidFill>
                  <a:srgbClr val="0000FF"/>
                </a:solidFill>
                <a:effectLst>
                  <a:outerShdw blurRad="38100" dist="38100" dir="2700000" algn="tl">
                    <a:srgbClr val="C0C0C0"/>
                  </a:outerShdw>
                </a:effectLst>
              </a:rPr>
              <a:t>T</a:t>
            </a:r>
            <a:r>
              <a:rPr kumimoji="0" lang="zh-CN" altLang="en-US" sz="2400" dirty="0">
                <a:solidFill>
                  <a:srgbClr val="0000FF"/>
                </a:solidFill>
                <a:effectLst>
                  <a:outerShdw blurRad="38100" dist="38100" dir="2700000" algn="tl">
                    <a:srgbClr val="C0C0C0"/>
                  </a:outerShdw>
                </a:effectLst>
              </a:rPr>
              <a:t>之间没有必然的联系：</a:t>
            </a:r>
          </a:p>
        </p:txBody>
      </p:sp>
      <p:sp>
        <p:nvSpPr>
          <p:cNvPr id="154649" name="Text Box 25"/>
          <p:cNvSpPr txBox="1">
            <a:spLocks noChangeArrowheads="1"/>
          </p:cNvSpPr>
          <p:nvPr/>
        </p:nvSpPr>
        <p:spPr bwMode="auto">
          <a:xfrm>
            <a:off x="827584" y="2306638"/>
            <a:ext cx="7488832" cy="3595536"/>
          </a:xfrm>
          <a:prstGeom prst="rect">
            <a:avLst/>
          </a:prstGeom>
          <a:noFill/>
          <a:ln w="9525" algn="ctr">
            <a:noFill/>
            <a:miter lim="800000"/>
            <a:headEnd/>
            <a:tailEnd/>
          </a:ln>
          <a:effectLst/>
        </p:spPr>
        <p:txBody>
          <a:bodyPr wrap="square">
            <a:spAutoFit/>
          </a:bodyPr>
          <a:lstStyle/>
          <a:p>
            <a:pPr algn="just">
              <a:lnSpc>
                <a:spcPct val="120000"/>
              </a:lnSpc>
              <a:defRPr/>
            </a:pP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）如果</a:t>
            </a:r>
            <a:r>
              <a:rPr kumimoji="0" lang="zh-CN" altLang="en-US" sz="2400" dirty="0">
                <a:solidFill>
                  <a:srgbClr val="FF0000"/>
                </a:solidFill>
                <a:effectLst>
                  <a:outerShdw blurRad="38100" dist="38100" dir="2700000" algn="tl">
                    <a:srgbClr val="C0C0C0"/>
                  </a:outerShdw>
                </a:effectLst>
              </a:rPr>
              <a:t>被控对象中包含</a:t>
            </a:r>
            <a:r>
              <a:rPr kumimoji="0" lang="zh-CN" altLang="en-US" sz="2400" dirty="0">
                <a:effectLst>
                  <a:outerShdw blurRad="38100" dist="38100" dir="2700000" algn="tl">
                    <a:srgbClr val="C0C0C0"/>
                  </a:outerShdw>
                </a:effectLst>
              </a:rPr>
              <a:t>与其</a:t>
            </a:r>
            <a:r>
              <a:rPr kumimoji="0" lang="zh-CN" altLang="en-US" sz="2400" dirty="0">
                <a:solidFill>
                  <a:srgbClr val="0000FF"/>
                </a:solidFill>
                <a:effectLst>
                  <a:outerShdw blurRad="38100" dist="38100" dir="2700000" algn="tl">
                    <a:srgbClr val="C0C0C0"/>
                  </a:outerShdw>
                </a:effectLst>
              </a:rPr>
              <a:t>类型相同（</a:t>
            </a:r>
            <a:r>
              <a:rPr kumimoji="0" lang="en-US" altLang="zh-CN" sz="2400" dirty="0">
                <a:solidFill>
                  <a:srgbClr val="0000FF"/>
                </a:solidFill>
                <a:effectLst>
                  <a:outerShdw blurRad="38100" dist="38100" dir="2700000" algn="tl">
                    <a:srgbClr val="C0C0C0"/>
                  </a:outerShdw>
                </a:effectLst>
              </a:rPr>
              <a:t>I</a:t>
            </a:r>
            <a:r>
              <a:rPr kumimoji="0" lang="zh-CN" altLang="en-US" sz="2400" dirty="0">
                <a:solidFill>
                  <a:srgbClr val="0000FF"/>
                </a:solidFill>
                <a:effectLst>
                  <a:outerShdw blurRad="38100" dist="38100" dir="2700000" algn="tl">
                    <a:srgbClr val="C0C0C0"/>
                  </a:outerShdw>
                </a:effectLst>
              </a:rPr>
              <a:t>型系统被控对象中要求有</a:t>
            </a:r>
            <a:r>
              <a:rPr kumimoji="0" lang="en-US" altLang="zh-CN" sz="2400" dirty="0">
                <a:solidFill>
                  <a:srgbClr val="0000FF"/>
                </a:solidFill>
                <a:effectLst>
                  <a:outerShdw blurRad="38100" dist="38100" dir="2700000" algn="tl">
                    <a:srgbClr val="C0C0C0"/>
                  </a:outerShdw>
                </a:effectLst>
              </a:rPr>
              <a:t>1</a:t>
            </a:r>
            <a:r>
              <a:rPr kumimoji="0" lang="zh-CN" altLang="en-US" sz="2400" dirty="0">
                <a:solidFill>
                  <a:srgbClr val="0000FF"/>
                </a:solidFill>
                <a:effectLst>
                  <a:outerShdw blurRad="38100" dist="38100" dir="2700000" algn="tl">
                    <a:srgbClr val="C0C0C0"/>
                  </a:outerShdw>
                </a:effectLst>
              </a:rPr>
              <a:t>个积分环节）</a:t>
            </a:r>
            <a:r>
              <a:rPr kumimoji="0" lang="zh-CN" altLang="en-US" sz="2400" dirty="0">
                <a:effectLst>
                  <a:outerShdw blurRad="38100" dist="38100" dir="2700000" algn="tl">
                    <a:srgbClr val="C0C0C0"/>
                  </a:outerShdw>
                </a:effectLst>
              </a:rPr>
              <a:t>的</a:t>
            </a:r>
            <a:r>
              <a:rPr kumimoji="0" lang="zh-CN" altLang="en-US" sz="2400" dirty="0">
                <a:solidFill>
                  <a:srgbClr val="0000FF"/>
                </a:solidFill>
                <a:effectLst>
                  <a:outerShdw blurRad="38100" dist="38100" dir="2700000" algn="tl">
                    <a:srgbClr val="C0C0C0"/>
                  </a:outerShdw>
                </a:effectLst>
              </a:rPr>
              <a:t>积分环节</a:t>
            </a:r>
            <a:r>
              <a:rPr kumimoji="0" lang="zh-CN" altLang="en-US" sz="2400" dirty="0">
                <a:effectLst>
                  <a:outerShdw blurRad="38100" dist="38100" dir="2700000" algn="tl">
                    <a:srgbClr val="C0C0C0"/>
                  </a:outerShdw>
                </a:effectLst>
              </a:rPr>
              <a:t>，则系统稳态误差只与系统的类型、放大系数和信号的形式有关，而与采样周期</a:t>
            </a:r>
            <a:r>
              <a:rPr kumimoji="0" lang="en-US" altLang="zh-CN" sz="2400" dirty="0">
                <a:effectLst>
                  <a:outerShdw blurRad="38100" dist="38100" dir="2700000" algn="tl">
                    <a:srgbClr val="C0C0C0"/>
                  </a:outerShdw>
                </a:effectLst>
              </a:rPr>
              <a:t>T</a:t>
            </a:r>
            <a:r>
              <a:rPr kumimoji="0" lang="zh-CN" altLang="en-US" sz="2400" dirty="0">
                <a:effectLst>
                  <a:outerShdw blurRad="38100" dist="38100" dir="2700000" algn="tl">
                    <a:srgbClr val="C0C0C0"/>
                  </a:outerShdw>
                </a:effectLst>
              </a:rPr>
              <a:t>无关；</a:t>
            </a:r>
          </a:p>
          <a:p>
            <a:pPr>
              <a:lnSpc>
                <a:spcPct val="120000"/>
              </a:lnSpc>
              <a:defRPr/>
            </a:pPr>
            <a:endParaRPr kumimoji="0" lang="zh-CN" altLang="en-US" sz="2400" dirty="0">
              <a:effectLst>
                <a:outerShdw blurRad="38100" dist="38100" dir="2700000" algn="tl">
                  <a:srgbClr val="C0C0C0"/>
                </a:outerShdw>
              </a:effectLst>
            </a:endParaRPr>
          </a:p>
          <a:p>
            <a:pPr algn="just">
              <a:lnSpc>
                <a:spcPct val="120000"/>
              </a:lnSpc>
              <a:defRPr/>
            </a:pP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2</a:t>
            </a:r>
            <a:r>
              <a:rPr kumimoji="0" lang="zh-CN" altLang="en-US" sz="2400" dirty="0">
                <a:effectLst>
                  <a:outerShdw blurRad="38100" dist="38100" dir="2700000" algn="tl">
                    <a:srgbClr val="C0C0C0"/>
                  </a:outerShdw>
                </a:effectLst>
              </a:rPr>
              <a:t>）如果</a:t>
            </a:r>
            <a:r>
              <a:rPr kumimoji="0" lang="zh-CN" altLang="en-US" sz="2400" dirty="0">
                <a:solidFill>
                  <a:srgbClr val="FF0000"/>
                </a:solidFill>
                <a:effectLst>
                  <a:outerShdw blurRad="38100" dist="38100" dir="2700000" algn="tl">
                    <a:srgbClr val="C0C0C0"/>
                  </a:outerShdw>
                </a:effectLst>
              </a:rPr>
              <a:t>被控对象中不包含</a:t>
            </a:r>
            <a:r>
              <a:rPr kumimoji="0" lang="zh-CN" altLang="en-US" sz="2400" dirty="0">
                <a:solidFill>
                  <a:srgbClr val="0000FF"/>
                </a:solidFill>
                <a:effectLst>
                  <a:outerShdw blurRad="38100" dist="38100" dir="2700000" algn="tl">
                    <a:srgbClr val="C0C0C0"/>
                  </a:outerShdw>
                </a:effectLst>
              </a:rPr>
              <a:t>足够多的积分环节</a:t>
            </a:r>
            <a:r>
              <a:rPr kumimoji="0" lang="zh-CN" altLang="en-US" sz="2400" dirty="0">
                <a:effectLst>
                  <a:outerShdw blurRad="38100" dist="38100" dir="2700000" algn="tl">
                    <a:srgbClr val="C0C0C0"/>
                  </a:outerShdw>
                </a:effectLst>
              </a:rPr>
              <a:t>，则稳态误差将与采样周期有关。采样周期越小，系统的稳态误差相应也就减小。</a:t>
            </a:r>
          </a:p>
        </p:txBody>
      </p:sp>
    </p:spTree>
  </p:cSld>
  <p:clrMapOvr>
    <a:masterClrMapping/>
  </p:clrMapOvr>
  <p:transition>
    <p:push/>
  </p:transition>
</p:sld>
</file>

<file path=ppt/slides/slide13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5676" name="Text Box 28"/>
          <p:cNvSpPr txBox="1">
            <a:spLocks noChangeArrowheads="1"/>
          </p:cNvSpPr>
          <p:nvPr/>
        </p:nvSpPr>
        <p:spPr bwMode="auto">
          <a:xfrm>
            <a:off x="827088" y="1268413"/>
            <a:ext cx="7581900" cy="1406525"/>
          </a:xfrm>
          <a:prstGeom prst="rect">
            <a:avLst/>
          </a:prstGeom>
          <a:noFill/>
          <a:ln w="9525" algn="ctr">
            <a:noFill/>
            <a:miter lim="800000"/>
            <a:headEnd/>
            <a:tailEnd/>
          </a:ln>
          <a:effectLst/>
        </p:spPr>
        <p:txBody>
          <a:bodyPr>
            <a:spAutoFit/>
          </a:bodyPr>
          <a:lstStyle/>
          <a:p>
            <a:pPr>
              <a:lnSpc>
                <a:spcPct val="120000"/>
              </a:lnSpc>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3.15</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输入为单位速度输入                    ，分析采样周期与系统稳态误差的关系。图中控制器传递函数和对象传递函数分别取如下两种形式：</a:t>
            </a:r>
          </a:p>
        </p:txBody>
      </p:sp>
      <p:sp>
        <p:nvSpPr>
          <p:cNvPr id="155677" name="Rectangle 29"/>
          <p:cNvSpPr>
            <a:spLocks noChangeArrowheads="1"/>
          </p:cNvSpPr>
          <p:nvPr/>
        </p:nvSpPr>
        <p:spPr bwMode="auto">
          <a:xfrm>
            <a:off x="0" y="2752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6018" name="Object 30"/>
          <p:cNvGraphicFramePr>
            <a:graphicFrameLocks noChangeAspect="1"/>
          </p:cNvGraphicFramePr>
          <p:nvPr/>
        </p:nvGraphicFramePr>
        <p:xfrm>
          <a:off x="4643438" y="1412875"/>
          <a:ext cx="1511300" cy="377825"/>
        </p:xfrm>
        <a:graphic>
          <a:graphicData uri="http://schemas.openxmlformats.org/presentationml/2006/ole">
            <mc:AlternateContent xmlns:mc="http://schemas.openxmlformats.org/markup-compatibility/2006">
              <mc:Choice xmlns:v="urn:schemas-microsoft-com:vml" Requires="v">
                <p:oleObj name="Equation" r:id="rId3" imgW="799753" imgH="203112" progId="Equation.DSMT4">
                  <p:embed/>
                </p:oleObj>
              </mc:Choice>
              <mc:Fallback>
                <p:oleObj name="Equation" r:id="rId3" imgW="799753" imgH="203112"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643438" y="1412875"/>
                        <a:ext cx="1511300"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679" name="Text Box 31"/>
          <p:cNvSpPr txBox="1">
            <a:spLocks noChangeArrowheads="1"/>
          </p:cNvSpPr>
          <p:nvPr/>
        </p:nvSpPr>
        <p:spPr bwMode="auto">
          <a:xfrm>
            <a:off x="900113" y="2873375"/>
            <a:ext cx="6500812"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a:t>
            </a:r>
            <a:r>
              <a:rPr kumimoji="0" lang="en-US" altLang="zh-CN" sz="2400" dirty="0">
                <a:effectLst>
                  <a:outerShdw blurRad="38100" dist="38100" dir="2700000" algn="tl">
                    <a:srgbClr val="C0C0C0"/>
                  </a:outerShdw>
                </a:effectLst>
              </a:rPr>
              <a:t>1</a:t>
            </a:r>
            <a:r>
              <a:rPr kumimoji="0" lang="zh-CN" altLang="en-US" sz="2400" dirty="0">
                <a:effectLst>
                  <a:outerShdw blurRad="38100" dist="38100" dir="2700000" algn="tl">
                    <a:srgbClr val="C0C0C0"/>
                  </a:outerShdw>
                </a:effectLst>
              </a:rPr>
              <a:t>）控制器为：                 对象模型为：</a:t>
            </a:r>
          </a:p>
        </p:txBody>
      </p:sp>
      <p:sp>
        <p:nvSpPr>
          <p:cNvPr id="155680" name="Rectangle 32"/>
          <p:cNvSpPr>
            <a:spLocks noChangeArrowheads="1"/>
          </p:cNvSpPr>
          <p:nvPr/>
        </p:nvSpPr>
        <p:spPr bwMode="auto">
          <a:xfrm>
            <a:off x="0" y="2752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6019" name="Object 33"/>
          <p:cNvGraphicFramePr>
            <a:graphicFrameLocks noChangeAspect="1"/>
          </p:cNvGraphicFramePr>
          <p:nvPr/>
        </p:nvGraphicFramePr>
        <p:xfrm>
          <a:off x="3152775" y="2925763"/>
          <a:ext cx="1187450" cy="384175"/>
        </p:xfrm>
        <a:graphic>
          <a:graphicData uri="http://schemas.openxmlformats.org/presentationml/2006/ole">
            <mc:AlternateContent xmlns:mc="http://schemas.openxmlformats.org/markup-compatibility/2006">
              <mc:Choice xmlns:v="urn:schemas-microsoft-com:vml" Requires="v">
                <p:oleObj name="Equation" r:id="rId5" imgW="622030" imgH="203112" progId="Equation.DSMT4">
                  <p:embed/>
                </p:oleObj>
              </mc:Choice>
              <mc:Fallback>
                <p:oleObj name="Equation" r:id="rId5" imgW="622030" imgH="203112"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152775" y="2925763"/>
                        <a:ext cx="1187450" cy="384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86020" name="Object 34"/>
          <p:cNvGraphicFramePr>
            <a:graphicFrameLocks noChangeAspect="1"/>
          </p:cNvGraphicFramePr>
          <p:nvPr/>
        </p:nvGraphicFramePr>
        <p:xfrm>
          <a:off x="6372225" y="2708275"/>
          <a:ext cx="1584325" cy="696913"/>
        </p:xfrm>
        <a:graphic>
          <a:graphicData uri="http://schemas.openxmlformats.org/presentationml/2006/ole">
            <mc:AlternateContent xmlns:mc="http://schemas.openxmlformats.org/markup-compatibility/2006">
              <mc:Choice xmlns:v="urn:schemas-microsoft-com:vml" Requires="v">
                <p:oleObj name="Equation" r:id="rId7" imgW="952087" imgH="418918" progId="Equation.DSMT4">
                  <p:embed/>
                </p:oleObj>
              </mc:Choice>
              <mc:Fallback>
                <p:oleObj name="Equation" r:id="rId7" imgW="952087" imgH="418918" progId="Equation.DSMT4">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6372225" y="2708275"/>
                        <a:ext cx="1584325" cy="6969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683" name="Text Box 35"/>
          <p:cNvSpPr txBox="1">
            <a:spLocks noChangeArrowheads="1"/>
          </p:cNvSpPr>
          <p:nvPr/>
        </p:nvSpPr>
        <p:spPr bwMode="auto">
          <a:xfrm>
            <a:off x="900113" y="3500438"/>
            <a:ext cx="6500812"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）控制器为：                 对象模型为：</a:t>
            </a:r>
          </a:p>
        </p:txBody>
      </p:sp>
      <p:sp>
        <p:nvSpPr>
          <p:cNvPr id="155684" name="Rectangle 36"/>
          <p:cNvSpPr>
            <a:spLocks noChangeArrowheads="1"/>
          </p:cNvSpPr>
          <p:nvPr/>
        </p:nvSpPr>
        <p:spPr bwMode="auto">
          <a:xfrm>
            <a:off x="0" y="26527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6021" name="Object 37"/>
          <p:cNvGraphicFramePr>
            <a:graphicFrameLocks noChangeAspect="1"/>
          </p:cNvGraphicFramePr>
          <p:nvPr/>
        </p:nvGraphicFramePr>
        <p:xfrm>
          <a:off x="3132138" y="3429000"/>
          <a:ext cx="1476375" cy="666750"/>
        </p:xfrm>
        <a:graphic>
          <a:graphicData uri="http://schemas.openxmlformats.org/presentationml/2006/ole">
            <mc:AlternateContent xmlns:mc="http://schemas.openxmlformats.org/markup-compatibility/2006">
              <mc:Choice xmlns:v="urn:schemas-microsoft-com:vml" Requires="v">
                <p:oleObj name="Equation" r:id="rId9" imgW="888614" imgH="393529" progId="Equation.DSMT4">
                  <p:embed/>
                </p:oleObj>
              </mc:Choice>
              <mc:Fallback>
                <p:oleObj name="Equation" r:id="rId9" imgW="888614" imgH="393529" progId="Equation.DSMT4">
                  <p:embed/>
                  <p:pic>
                    <p:nvPicPr>
                      <p:cNvPr id="0"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132138" y="3429000"/>
                        <a:ext cx="1476375" cy="6667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5686" name="Rectangle 38"/>
          <p:cNvSpPr>
            <a:spLocks noChangeArrowheads="1"/>
          </p:cNvSpPr>
          <p:nvPr/>
        </p:nvSpPr>
        <p:spPr bwMode="auto">
          <a:xfrm>
            <a:off x="0" y="26527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6022" name="Object 39"/>
          <p:cNvGraphicFramePr>
            <a:graphicFrameLocks noChangeAspect="1"/>
          </p:cNvGraphicFramePr>
          <p:nvPr/>
        </p:nvGraphicFramePr>
        <p:xfrm>
          <a:off x="6443663" y="3429000"/>
          <a:ext cx="1368425" cy="692150"/>
        </p:xfrm>
        <a:graphic>
          <a:graphicData uri="http://schemas.openxmlformats.org/presentationml/2006/ole">
            <mc:AlternateContent xmlns:mc="http://schemas.openxmlformats.org/markup-compatibility/2006">
              <mc:Choice xmlns:v="urn:schemas-microsoft-com:vml" Requires="v">
                <p:oleObj name="Equation" r:id="rId11" imgW="787058" imgH="393529" progId="Equation.DSMT4">
                  <p:embed/>
                </p:oleObj>
              </mc:Choice>
              <mc:Fallback>
                <p:oleObj name="Equation" r:id="rId11" imgW="787058" imgH="393529" progId="Equation.DSMT4">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6443663" y="3429000"/>
                        <a:ext cx="1368425" cy="692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86031" name="Picture 40"/>
          <p:cNvPicPr>
            <a:picLocks noChangeAspect="1" noChangeArrowheads="1"/>
          </p:cNvPicPr>
          <p:nvPr/>
        </p:nvPicPr>
        <p:blipFill>
          <a:blip r:embed="rId13" cstate="print"/>
          <a:srcRect/>
          <a:stretch>
            <a:fillRect/>
          </a:stretch>
        </p:blipFill>
        <p:spPr bwMode="auto">
          <a:xfrm>
            <a:off x="1547813" y="4076700"/>
            <a:ext cx="5832475" cy="1423988"/>
          </a:xfrm>
          <a:prstGeom prst="rect">
            <a:avLst/>
          </a:prstGeom>
          <a:noFill/>
          <a:ln w="9525">
            <a:noFill/>
            <a:miter lim="800000"/>
            <a:headEnd/>
            <a:tailEnd/>
          </a:ln>
        </p:spPr>
      </p:pic>
    </p:spTree>
  </p:cSld>
  <p:clrMapOvr>
    <a:masterClrMapping/>
  </p:clrMapOvr>
  <p:transition>
    <p:push/>
  </p:transition>
</p:sld>
</file>

<file path=ppt/slides/slide13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6687" name="Text Box 15"/>
          <p:cNvSpPr txBox="1">
            <a:spLocks noChangeArrowheads="1"/>
          </p:cNvSpPr>
          <p:nvPr/>
        </p:nvSpPr>
        <p:spPr bwMode="auto">
          <a:xfrm>
            <a:off x="827088" y="1412875"/>
            <a:ext cx="448468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第（</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）种情况：</a:t>
            </a:r>
          </a:p>
        </p:txBody>
      </p:sp>
      <p:sp>
        <p:nvSpPr>
          <p:cNvPr id="156688" name="Rectangle 16"/>
          <p:cNvSpPr>
            <a:spLocks noChangeArrowheads="1"/>
          </p:cNvSpPr>
          <p:nvPr/>
        </p:nvSpPr>
        <p:spPr bwMode="auto">
          <a:xfrm>
            <a:off x="19050" y="2752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7042" name="Object 17"/>
          <p:cNvGraphicFramePr>
            <a:graphicFrameLocks noChangeAspect="1"/>
          </p:cNvGraphicFramePr>
          <p:nvPr/>
        </p:nvGraphicFramePr>
        <p:xfrm>
          <a:off x="2430463" y="2039938"/>
          <a:ext cx="2881312" cy="852487"/>
        </p:xfrm>
        <a:graphic>
          <a:graphicData uri="http://schemas.openxmlformats.org/presentationml/2006/ole">
            <mc:AlternateContent xmlns:mc="http://schemas.openxmlformats.org/markup-compatibility/2006">
              <mc:Choice xmlns:v="urn:schemas-microsoft-com:vml" Requires="v">
                <p:oleObj name="Equation" r:id="rId3" imgW="1511300" imgH="444500" progId="Equation.DSMT4">
                  <p:embed/>
                </p:oleObj>
              </mc:Choice>
              <mc:Fallback>
                <p:oleObj name="Equation" r:id="rId3" imgW="1511300" imgH="4445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0463" y="2039938"/>
                        <a:ext cx="2881312" cy="8524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6690" name="Rectangle 18"/>
          <p:cNvSpPr>
            <a:spLocks noChangeArrowheads="1"/>
          </p:cNvSpPr>
          <p:nvPr/>
        </p:nvSpPr>
        <p:spPr bwMode="auto">
          <a:xfrm>
            <a:off x="19050" y="2752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7043" name="Object 19"/>
          <p:cNvGraphicFramePr>
            <a:graphicFrameLocks noChangeAspect="1"/>
          </p:cNvGraphicFramePr>
          <p:nvPr/>
        </p:nvGraphicFramePr>
        <p:xfrm>
          <a:off x="2359025" y="3048000"/>
          <a:ext cx="3960813" cy="738188"/>
        </p:xfrm>
        <a:graphic>
          <a:graphicData uri="http://schemas.openxmlformats.org/presentationml/2006/ole">
            <mc:AlternateContent xmlns:mc="http://schemas.openxmlformats.org/markup-compatibility/2006">
              <mc:Choice xmlns:v="urn:schemas-microsoft-com:vml" Requires="v">
                <p:oleObj name="Equation" r:id="rId5" imgW="2400300" imgH="444500" progId="Equation.DSMT4">
                  <p:embed/>
                </p:oleObj>
              </mc:Choice>
              <mc:Fallback>
                <p:oleObj name="Equation" r:id="rId5" imgW="2400300" imgH="44450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59025" y="3048000"/>
                        <a:ext cx="3960813" cy="738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6692" name="Rectangle 20"/>
          <p:cNvSpPr>
            <a:spLocks noChangeArrowheads="1"/>
          </p:cNvSpPr>
          <p:nvPr/>
        </p:nvSpPr>
        <p:spPr bwMode="auto">
          <a:xfrm>
            <a:off x="19050" y="2752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7044" name="Object 21"/>
          <p:cNvGraphicFramePr>
            <a:graphicFrameLocks noChangeAspect="1"/>
          </p:cNvGraphicFramePr>
          <p:nvPr/>
        </p:nvGraphicFramePr>
        <p:xfrm>
          <a:off x="2359025" y="4129088"/>
          <a:ext cx="5616575" cy="785812"/>
        </p:xfrm>
        <a:graphic>
          <a:graphicData uri="http://schemas.openxmlformats.org/presentationml/2006/ole">
            <mc:AlternateContent xmlns:mc="http://schemas.openxmlformats.org/markup-compatibility/2006">
              <mc:Choice xmlns:v="urn:schemas-microsoft-com:vml" Requires="v">
                <p:oleObj name="Equation" r:id="rId7" imgW="3200400" imgH="444500" progId="Equation.DSMT4">
                  <p:embed/>
                </p:oleObj>
              </mc:Choice>
              <mc:Fallback>
                <p:oleObj name="Equation" r:id="rId7" imgW="3200400" imgH="4445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359025" y="4129088"/>
                        <a:ext cx="5616575"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6694" name="Line 22"/>
          <p:cNvSpPr>
            <a:spLocks noChangeShapeType="1"/>
          </p:cNvSpPr>
          <p:nvPr/>
        </p:nvSpPr>
        <p:spPr bwMode="auto">
          <a:xfrm>
            <a:off x="5454650" y="4921250"/>
            <a:ext cx="649288" cy="0"/>
          </a:xfrm>
          <a:prstGeom prst="line">
            <a:avLst/>
          </a:prstGeom>
          <a:noFill/>
          <a:ln w="9525">
            <a:solidFill>
              <a:schemeClr val="accent2"/>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6695" name="Text Box 23"/>
          <p:cNvSpPr txBox="1">
            <a:spLocks noChangeArrowheads="1"/>
          </p:cNvSpPr>
          <p:nvPr/>
        </p:nvSpPr>
        <p:spPr bwMode="auto">
          <a:xfrm>
            <a:off x="5167313" y="4992688"/>
            <a:ext cx="2160587" cy="396875"/>
          </a:xfrm>
          <a:prstGeom prst="rect">
            <a:avLst/>
          </a:prstGeom>
          <a:noFill/>
          <a:ln w="9525" algn="ctr">
            <a:noFill/>
            <a:miter lim="800000"/>
            <a:headEnd/>
            <a:tailEnd/>
          </a:ln>
          <a:effectLst/>
        </p:spPr>
        <p:txBody>
          <a:bodyPr>
            <a:spAutoFit/>
          </a:bodyPr>
          <a:lstStyle/>
          <a:p>
            <a:pPr>
              <a:defRPr/>
            </a:pPr>
            <a:r>
              <a:rPr kumimoji="0" lang="en-US" altLang="zh-CN">
                <a:solidFill>
                  <a:srgbClr val="0000FF"/>
                </a:solidFill>
                <a:effectLst>
                  <a:outerShdw blurRad="38100" dist="38100" dir="2700000" algn="tl">
                    <a:srgbClr val="C0C0C0"/>
                  </a:outerShdw>
                </a:effectLst>
              </a:rPr>
              <a:t>I </a:t>
            </a:r>
            <a:r>
              <a:rPr kumimoji="0" lang="zh-CN" altLang="en-US">
                <a:solidFill>
                  <a:srgbClr val="0000FF"/>
                </a:solidFill>
                <a:effectLst>
                  <a:outerShdw blurRad="38100" dist="38100" dir="2700000" algn="tl">
                    <a:srgbClr val="C0C0C0"/>
                  </a:outerShdw>
                </a:effectLst>
              </a:rPr>
              <a:t>型系统</a:t>
            </a:r>
          </a:p>
        </p:txBody>
      </p:sp>
    </p:spTree>
  </p:cSld>
  <p:clrMapOvr>
    <a:masterClrMapping/>
  </p:clrMapOvr>
  <p:transition>
    <p:push/>
  </p:transition>
</p:sld>
</file>

<file path=ppt/slides/slide13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7716" name="Text Box 20"/>
          <p:cNvSpPr txBox="1">
            <a:spLocks noChangeArrowheads="1"/>
          </p:cNvSpPr>
          <p:nvPr/>
        </p:nvSpPr>
        <p:spPr bwMode="auto">
          <a:xfrm>
            <a:off x="755650" y="1844675"/>
            <a:ext cx="68611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单位速度输入下，系统的速度误差系数为：</a:t>
            </a:r>
          </a:p>
        </p:txBody>
      </p:sp>
      <p:sp>
        <p:nvSpPr>
          <p:cNvPr id="157717" name="Rectangle 21"/>
          <p:cNvSpPr>
            <a:spLocks noChangeArrowheads="1"/>
          </p:cNvSpPr>
          <p:nvPr/>
        </p:nvSpPr>
        <p:spPr bwMode="auto">
          <a:xfrm>
            <a:off x="0" y="32051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8066" name="Object 22"/>
          <p:cNvGraphicFramePr>
            <a:graphicFrameLocks noChangeAspect="1"/>
          </p:cNvGraphicFramePr>
          <p:nvPr/>
        </p:nvGraphicFramePr>
        <p:xfrm>
          <a:off x="1619250" y="2420938"/>
          <a:ext cx="6553200" cy="785812"/>
        </p:xfrm>
        <a:graphic>
          <a:graphicData uri="http://schemas.openxmlformats.org/presentationml/2006/ole">
            <mc:AlternateContent xmlns:mc="http://schemas.openxmlformats.org/markup-compatibility/2006">
              <mc:Choice xmlns:v="urn:schemas-microsoft-com:vml" Requires="v">
                <p:oleObj name="Equation" r:id="rId3" imgW="3733800" imgH="444500" progId="Equation.DSMT4">
                  <p:embed/>
                </p:oleObj>
              </mc:Choice>
              <mc:Fallback>
                <p:oleObj name="Equation" r:id="rId3" imgW="3733800" imgH="4445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19250" y="2420938"/>
                        <a:ext cx="6553200" cy="7858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19" name="Text Box 23"/>
          <p:cNvSpPr txBox="1">
            <a:spLocks noChangeArrowheads="1"/>
          </p:cNvSpPr>
          <p:nvPr/>
        </p:nvSpPr>
        <p:spPr bwMode="auto">
          <a:xfrm>
            <a:off x="900113" y="3500438"/>
            <a:ext cx="46291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系统的稳态误差为</a:t>
            </a:r>
            <a:r>
              <a:rPr kumimoji="0" lang="en-US" altLang="zh-CN" sz="2400">
                <a:effectLst>
                  <a:outerShdw blurRad="38100" dist="38100" dir="2700000" algn="tl">
                    <a:srgbClr val="C0C0C0"/>
                  </a:outerShdw>
                </a:effectLst>
              </a:rPr>
              <a:t>:</a:t>
            </a:r>
          </a:p>
        </p:txBody>
      </p:sp>
      <p:sp>
        <p:nvSpPr>
          <p:cNvPr id="157720" name="Rectangle 24"/>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8067" name="Object 25"/>
          <p:cNvGraphicFramePr>
            <a:graphicFrameLocks noChangeAspect="1"/>
          </p:cNvGraphicFramePr>
          <p:nvPr/>
        </p:nvGraphicFramePr>
        <p:xfrm>
          <a:off x="3779838" y="3284538"/>
          <a:ext cx="2232025" cy="904875"/>
        </p:xfrm>
        <a:graphic>
          <a:graphicData uri="http://schemas.openxmlformats.org/presentationml/2006/ole">
            <mc:AlternateContent xmlns:mc="http://schemas.openxmlformats.org/markup-compatibility/2006">
              <mc:Choice xmlns:v="urn:schemas-microsoft-com:vml" Requires="v">
                <p:oleObj name="Equation" r:id="rId5" imgW="1079032" imgH="431613" progId="Equation.DSMT4">
                  <p:embed/>
                </p:oleObj>
              </mc:Choice>
              <mc:Fallback>
                <p:oleObj name="Equation" r:id="rId5" imgW="1079032" imgH="431613"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779838" y="3284538"/>
                        <a:ext cx="2232025" cy="904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7722" name="Text Box 26"/>
          <p:cNvSpPr txBox="1">
            <a:spLocks noChangeArrowheads="1"/>
          </p:cNvSpPr>
          <p:nvPr/>
        </p:nvSpPr>
        <p:spPr bwMode="auto">
          <a:xfrm>
            <a:off x="950913" y="4508500"/>
            <a:ext cx="67167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结论：系统的稳态误差与采样周期无关。</a:t>
            </a:r>
          </a:p>
        </p:txBody>
      </p:sp>
    </p:spTree>
  </p:cSld>
  <p:clrMapOvr>
    <a:masterClrMapping/>
  </p:clrMapOvr>
  <p:transition>
    <p:push/>
  </p:transition>
</p:sld>
</file>

<file path=ppt/slides/slide13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8732" name="Text Box 12"/>
          <p:cNvSpPr txBox="1">
            <a:spLocks noChangeArrowheads="1"/>
          </p:cNvSpPr>
          <p:nvPr/>
        </p:nvSpPr>
        <p:spPr bwMode="auto">
          <a:xfrm>
            <a:off x="1042988" y="1484313"/>
            <a:ext cx="49879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第（</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）种情况：</a:t>
            </a:r>
          </a:p>
        </p:txBody>
      </p:sp>
      <p:sp>
        <p:nvSpPr>
          <p:cNvPr id="158733" name="Rectangle 13"/>
          <p:cNvSpPr>
            <a:spLocks noChangeArrowheads="1"/>
          </p:cNvSpPr>
          <p:nvPr/>
        </p:nvSpPr>
        <p:spPr bwMode="auto">
          <a:xfrm>
            <a:off x="19050" y="27670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9090" name="Object 14"/>
          <p:cNvGraphicFramePr>
            <a:graphicFrameLocks noChangeAspect="1"/>
          </p:cNvGraphicFramePr>
          <p:nvPr/>
        </p:nvGraphicFramePr>
        <p:xfrm>
          <a:off x="2360613" y="1824038"/>
          <a:ext cx="2447925" cy="763587"/>
        </p:xfrm>
        <a:graphic>
          <a:graphicData uri="http://schemas.openxmlformats.org/presentationml/2006/ole">
            <mc:AlternateContent xmlns:mc="http://schemas.openxmlformats.org/markup-compatibility/2006">
              <mc:Choice xmlns:v="urn:schemas-microsoft-com:vml" Requires="v">
                <p:oleObj name="Equation" r:id="rId3" imgW="1346200" imgH="419100" progId="Equation.DSMT4">
                  <p:embed/>
                </p:oleObj>
              </mc:Choice>
              <mc:Fallback>
                <p:oleObj name="Equation" r:id="rId3" imgW="1346200" imgH="4191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60613" y="1824038"/>
                        <a:ext cx="2447925" cy="7635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8735" name="Rectangle 15"/>
          <p:cNvSpPr>
            <a:spLocks noChangeArrowheads="1"/>
          </p:cNvSpPr>
          <p:nvPr/>
        </p:nvSpPr>
        <p:spPr bwMode="auto">
          <a:xfrm>
            <a:off x="19050" y="25050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9091" name="Object 16"/>
          <p:cNvGraphicFramePr>
            <a:graphicFrameLocks noChangeAspect="1"/>
          </p:cNvGraphicFramePr>
          <p:nvPr/>
        </p:nvGraphicFramePr>
        <p:xfrm>
          <a:off x="2287588" y="2689225"/>
          <a:ext cx="5976937" cy="1490663"/>
        </p:xfrm>
        <a:graphic>
          <a:graphicData uri="http://schemas.openxmlformats.org/presentationml/2006/ole">
            <mc:AlternateContent xmlns:mc="http://schemas.openxmlformats.org/markup-compatibility/2006">
              <mc:Choice xmlns:v="urn:schemas-microsoft-com:vml" Requires="v">
                <p:oleObj name="Equation" r:id="rId5" imgW="3784600" imgH="939800" progId="Equation.DSMT4">
                  <p:embed/>
                </p:oleObj>
              </mc:Choice>
              <mc:Fallback>
                <p:oleObj name="Equation" r:id="rId5" imgW="3784600" imgH="93980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87588" y="2689225"/>
                        <a:ext cx="5976937" cy="1490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8737" name="Rectangle 17"/>
          <p:cNvSpPr>
            <a:spLocks noChangeArrowheads="1"/>
          </p:cNvSpPr>
          <p:nvPr/>
        </p:nvSpPr>
        <p:spPr bwMode="auto">
          <a:xfrm>
            <a:off x="19050" y="27527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89092" name="Object 18"/>
          <p:cNvGraphicFramePr>
            <a:graphicFrameLocks noChangeAspect="1"/>
          </p:cNvGraphicFramePr>
          <p:nvPr/>
        </p:nvGraphicFramePr>
        <p:xfrm>
          <a:off x="2287588" y="4271963"/>
          <a:ext cx="3816350" cy="811212"/>
        </p:xfrm>
        <a:graphic>
          <a:graphicData uri="http://schemas.openxmlformats.org/presentationml/2006/ole">
            <mc:AlternateContent xmlns:mc="http://schemas.openxmlformats.org/markup-compatibility/2006">
              <mc:Choice xmlns:v="urn:schemas-microsoft-com:vml" Requires="v">
                <p:oleObj name="Equation" r:id="rId7" imgW="2108200" imgH="444500" progId="Equation.DSMT4">
                  <p:embed/>
                </p:oleObj>
              </mc:Choice>
              <mc:Fallback>
                <p:oleObj name="Equation" r:id="rId7" imgW="2108200" imgH="4445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287588" y="4271963"/>
                        <a:ext cx="3816350" cy="8112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8739" name="Line 19"/>
          <p:cNvSpPr>
            <a:spLocks noChangeShapeType="1"/>
          </p:cNvSpPr>
          <p:nvPr/>
        </p:nvSpPr>
        <p:spPr bwMode="auto">
          <a:xfrm>
            <a:off x="4518025" y="5065713"/>
            <a:ext cx="649288" cy="0"/>
          </a:xfrm>
          <a:prstGeom prst="line">
            <a:avLst/>
          </a:prstGeom>
          <a:noFill/>
          <a:ln w="9525">
            <a:solidFill>
              <a:schemeClr val="accent2"/>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58740" name="Text Box 20"/>
          <p:cNvSpPr txBox="1">
            <a:spLocks noChangeArrowheads="1"/>
          </p:cNvSpPr>
          <p:nvPr/>
        </p:nvSpPr>
        <p:spPr bwMode="auto">
          <a:xfrm>
            <a:off x="4230688" y="5137150"/>
            <a:ext cx="2016125" cy="396875"/>
          </a:xfrm>
          <a:prstGeom prst="rect">
            <a:avLst/>
          </a:prstGeom>
          <a:noFill/>
          <a:ln w="9525" algn="ctr">
            <a:noFill/>
            <a:miter lim="800000"/>
            <a:headEnd/>
            <a:tailEnd/>
          </a:ln>
          <a:effectLst/>
        </p:spPr>
        <p:txBody>
          <a:bodyPr>
            <a:spAutoFit/>
          </a:bodyPr>
          <a:lstStyle/>
          <a:p>
            <a:pPr>
              <a:defRPr/>
            </a:pPr>
            <a:r>
              <a:rPr kumimoji="0" lang="en-US" altLang="zh-CN">
                <a:solidFill>
                  <a:srgbClr val="0000FF"/>
                </a:solidFill>
                <a:effectLst>
                  <a:outerShdw blurRad="38100" dist="38100" dir="2700000" algn="tl">
                    <a:srgbClr val="C0C0C0"/>
                  </a:outerShdw>
                </a:effectLst>
              </a:rPr>
              <a:t>I </a:t>
            </a:r>
            <a:r>
              <a:rPr kumimoji="0" lang="zh-CN" altLang="en-US">
                <a:solidFill>
                  <a:srgbClr val="0000FF"/>
                </a:solidFill>
                <a:effectLst>
                  <a:outerShdw blurRad="38100" dist="38100" dir="2700000" algn="tl">
                    <a:srgbClr val="C0C0C0"/>
                  </a:outerShdw>
                </a:effectLst>
              </a:rPr>
              <a:t>型系统</a:t>
            </a:r>
          </a:p>
        </p:txBody>
      </p:sp>
    </p:spTree>
  </p:cSld>
  <p:clrMapOvr>
    <a:masterClrMapping/>
  </p:clrMapOvr>
  <p:transition>
    <p:push/>
  </p:transition>
</p:sld>
</file>

<file path=ppt/slides/slide13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59764" name="Text Box 20"/>
          <p:cNvSpPr txBox="1">
            <a:spLocks noChangeArrowheads="1"/>
          </p:cNvSpPr>
          <p:nvPr/>
        </p:nvSpPr>
        <p:spPr bwMode="auto">
          <a:xfrm>
            <a:off x="755650" y="1844675"/>
            <a:ext cx="68611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单位速度输入下，系统的速度误差系数为：</a:t>
            </a:r>
          </a:p>
        </p:txBody>
      </p:sp>
      <p:sp>
        <p:nvSpPr>
          <p:cNvPr id="159765" name="Text Box 21"/>
          <p:cNvSpPr txBox="1">
            <a:spLocks noChangeArrowheads="1"/>
          </p:cNvSpPr>
          <p:nvPr/>
        </p:nvSpPr>
        <p:spPr bwMode="auto">
          <a:xfrm>
            <a:off x="900113" y="3500438"/>
            <a:ext cx="46291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系统的稳态误差为</a:t>
            </a:r>
            <a:r>
              <a:rPr kumimoji="0" lang="en-US" altLang="zh-CN" sz="2400">
                <a:effectLst>
                  <a:outerShdw blurRad="38100" dist="38100" dir="2700000" algn="tl">
                    <a:srgbClr val="C0C0C0"/>
                  </a:outerShdw>
                </a:effectLst>
              </a:rPr>
              <a:t>:</a:t>
            </a:r>
          </a:p>
        </p:txBody>
      </p:sp>
      <p:sp>
        <p:nvSpPr>
          <p:cNvPr id="159766" name="Text Box 22"/>
          <p:cNvSpPr txBox="1">
            <a:spLocks noChangeArrowheads="1"/>
          </p:cNvSpPr>
          <p:nvPr/>
        </p:nvSpPr>
        <p:spPr bwMode="auto">
          <a:xfrm>
            <a:off x="950913" y="4508500"/>
            <a:ext cx="664527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结论：系统的稳态误差与采样周期有关。</a:t>
            </a:r>
          </a:p>
        </p:txBody>
      </p:sp>
      <p:sp>
        <p:nvSpPr>
          <p:cNvPr id="159767" name="Rectangle 23"/>
          <p:cNvSpPr>
            <a:spLocks noChangeArrowheads="1"/>
          </p:cNvSpPr>
          <p:nvPr/>
        </p:nvSpPr>
        <p:spPr bwMode="auto">
          <a:xfrm>
            <a:off x="0" y="32051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0114" name="Object 24"/>
          <p:cNvGraphicFramePr>
            <a:graphicFrameLocks noChangeAspect="1"/>
          </p:cNvGraphicFramePr>
          <p:nvPr/>
        </p:nvGraphicFramePr>
        <p:xfrm>
          <a:off x="1763713" y="2420938"/>
          <a:ext cx="4537075" cy="820737"/>
        </p:xfrm>
        <a:graphic>
          <a:graphicData uri="http://schemas.openxmlformats.org/presentationml/2006/ole">
            <mc:AlternateContent xmlns:mc="http://schemas.openxmlformats.org/markup-compatibility/2006">
              <mc:Choice xmlns:v="urn:schemas-microsoft-com:vml" Requires="v">
                <p:oleObj name="Equation" r:id="rId3" imgW="2476500" imgH="444500" progId="Equation.DSMT4">
                  <p:embed/>
                </p:oleObj>
              </mc:Choice>
              <mc:Fallback>
                <p:oleObj name="Equation" r:id="rId3" imgW="2476500" imgH="4445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63713" y="2420938"/>
                        <a:ext cx="4537075" cy="8207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59769" name="Rectangle 25"/>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0115" name="Object 26"/>
          <p:cNvGraphicFramePr>
            <a:graphicFrameLocks noChangeAspect="1"/>
          </p:cNvGraphicFramePr>
          <p:nvPr/>
        </p:nvGraphicFramePr>
        <p:xfrm>
          <a:off x="3851275" y="3357563"/>
          <a:ext cx="2233613" cy="906462"/>
        </p:xfrm>
        <a:graphic>
          <a:graphicData uri="http://schemas.openxmlformats.org/presentationml/2006/ole">
            <mc:AlternateContent xmlns:mc="http://schemas.openxmlformats.org/markup-compatibility/2006">
              <mc:Choice xmlns:v="urn:schemas-microsoft-com:vml" Requires="v">
                <p:oleObj name="Equation" r:id="rId5" imgW="1079032" imgH="431613" progId="Equation.DSMT4">
                  <p:embed/>
                </p:oleObj>
              </mc:Choice>
              <mc:Fallback>
                <p:oleObj name="Equation" r:id="rId5" imgW="1079032" imgH="431613"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851275" y="3357563"/>
                        <a:ext cx="2233613" cy="9064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p:transition>
</p:sld>
</file>

<file path=ppt/slides/slide13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0784" name="Text Box 16"/>
          <p:cNvSpPr txBox="1">
            <a:spLocks noChangeArrowheads="1"/>
          </p:cNvSpPr>
          <p:nvPr/>
        </p:nvSpPr>
        <p:spPr bwMode="auto">
          <a:xfrm>
            <a:off x="611188" y="333375"/>
            <a:ext cx="8281987" cy="641350"/>
          </a:xfrm>
          <a:prstGeom prst="rect">
            <a:avLst/>
          </a:prstGeom>
          <a:noFill/>
          <a:ln w="9525">
            <a:noFill/>
            <a:miter lim="800000"/>
            <a:headEnd/>
            <a:tailEnd/>
          </a:ln>
          <a:effectLst/>
        </p:spPr>
        <p:txBody>
          <a:bodyPr>
            <a:spAutoFit/>
          </a:bodyPr>
          <a:lstStyle/>
          <a:p>
            <a:pPr>
              <a:defRPr/>
            </a:pPr>
            <a:r>
              <a:rPr kumimoji="0" lang="en-US" altLang="zh-CN" sz="3600">
                <a:solidFill>
                  <a:srgbClr val="FF0000"/>
                </a:solidFill>
                <a:effectLst>
                  <a:outerShdw blurRad="38100" dist="38100" dir="2700000" algn="tl">
                    <a:srgbClr val="C0C0C0"/>
                  </a:outerShdw>
                </a:effectLst>
                <a:latin typeface="Arial" charset="0"/>
                <a:ea typeface="方正大黑简体" pitchFamily="2" charset="-122"/>
              </a:rPr>
              <a:t>3.7 </a:t>
            </a:r>
            <a:r>
              <a:rPr kumimoji="0" lang="zh-CN" altLang="en-US" sz="3600">
                <a:solidFill>
                  <a:srgbClr val="FF0000"/>
                </a:solidFill>
                <a:effectLst>
                  <a:outerShdw blurRad="38100" dist="38100" dir="2700000" algn="tl">
                    <a:srgbClr val="C0C0C0"/>
                  </a:outerShdw>
                </a:effectLst>
                <a:latin typeface="Arial" charset="0"/>
                <a:ea typeface="方正大黑简体" pitchFamily="2" charset="-122"/>
              </a:rPr>
              <a:t>计算机控制系统暂态过程分析</a:t>
            </a:r>
          </a:p>
        </p:txBody>
      </p:sp>
      <p:sp>
        <p:nvSpPr>
          <p:cNvPr id="160785" name="Text Box 17"/>
          <p:cNvSpPr txBox="1">
            <a:spLocks noChangeArrowheads="1"/>
          </p:cNvSpPr>
          <p:nvPr/>
        </p:nvSpPr>
        <p:spPr bwMode="auto">
          <a:xfrm>
            <a:off x="900113" y="1557338"/>
            <a:ext cx="7651750" cy="2282825"/>
          </a:xfrm>
          <a:prstGeom prst="rect">
            <a:avLst/>
          </a:prstGeom>
          <a:noFill/>
          <a:ln w="9525" algn="ctr">
            <a:noFill/>
            <a:miter lim="800000"/>
            <a:headEnd/>
            <a:tailEnd/>
          </a:ln>
          <a:effectLst/>
        </p:spPr>
        <p:txBody>
          <a:bodyPr>
            <a:spAutoFit/>
          </a:bodyPr>
          <a:lstStyle/>
          <a:p>
            <a:pPr>
              <a:lnSpc>
                <a:spcPct val="120000"/>
              </a:lnSpc>
              <a:defRPr/>
            </a:pPr>
            <a:r>
              <a:rPr kumimoji="0" lang="zh-CN" altLang="en-US" sz="2400" dirty="0">
                <a:effectLst>
                  <a:outerShdw blurRad="38100" dist="38100" dir="2700000" algn="tl">
                    <a:srgbClr val="C0C0C0"/>
                  </a:outerShdw>
                </a:effectLst>
              </a:rPr>
              <a:t>计算机控制系统的暂态性能主要用系统在单位阶跃输入信号作用下的相应特性来描述，它反映了控制系统的动态过程。主要性能指标用超调量         、上升时间 </a:t>
            </a:r>
            <a:r>
              <a:rPr kumimoji="0" lang="en-US" altLang="zh-CN" sz="2400" i="1" dirty="0">
                <a:effectLst>
                  <a:outerShdw blurRad="38100" dist="38100" dir="2700000" algn="tl">
                    <a:srgbClr val="C0C0C0"/>
                  </a:outerShdw>
                </a:effectLst>
              </a:rPr>
              <a:t>t</a:t>
            </a:r>
            <a:r>
              <a:rPr kumimoji="0" lang="en-US" altLang="zh-CN" sz="2400" i="1" baseline="-25000" dirty="0">
                <a:effectLst>
                  <a:outerShdw blurRad="38100" dist="38100" dir="2700000" algn="tl">
                    <a:srgbClr val="C0C0C0"/>
                  </a:outerShdw>
                </a:effectLst>
              </a:rPr>
              <a:t>r</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、峰值时间 </a:t>
            </a:r>
            <a:r>
              <a:rPr kumimoji="0" lang="en-US" altLang="zh-CN" sz="2400" i="1" dirty="0" err="1">
                <a:effectLst>
                  <a:outerShdw blurRad="38100" dist="38100" dir="2700000" algn="tl">
                    <a:srgbClr val="C0C0C0"/>
                  </a:outerShdw>
                </a:effectLst>
              </a:rPr>
              <a:t>t</a:t>
            </a:r>
            <a:r>
              <a:rPr kumimoji="0" lang="en-US" altLang="zh-CN" sz="2400" i="1" baseline="-25000" dirty="0" err="1">
                <a:effectLst>
                  <a:outerShdw blurRad="38100" dist="38100" dir="2700000" algn="tl">
                    <a:srgbClr val="C0C0C0"/>
                  </a:outerShdw>
                </a:effectLst>
              </a:rPr>
              <a:t>p</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和调节时间 </a:t>
            </a:r>
            <a:r>
              <a:rPr kumimoji="0" lang="en-US" altLang="zh-CN" sz="2400" i="1" dirty="0" err="1">
                <a:effectLst>
                  <a:outerShdw blurRad="38100" dist="38100" dir="2700000" algn="tl">
                    <a:srgbClr val="C0C0C0"/>
                  </a:outerShdw>
                </a:effectLst>
              </a:rPr>
              <a:t>t</a:t>
            </a:r>
            <a:r>
              <a:rPr kumimoji="0" lang="en-US" altLang="zh-CN" sz="2400" i="1" baseline="-25000" dirty="0" err="1">
                <a:effectLst>
                  <a:outerShdw blurRad="38100" dist="38100" dir="2700000" algn="tl">
                    <a:srgbClr val="C0C0C0"/>
                  </a:outerShdw>
                </a:effectLst>
              </a:rPr>
              <a:t>s</a:t>
            </a:r>
            <a:r>
              <a:rPr kumimoji="0" lang="en-US" altLang="zh-CN" sz="2400" dirty="0">
                <a:effectLst>
                  <a:outerShdw blurRad="38100" dist="38100" dir="2700000" algn="tl">
                    <a:srgbClr val="C0C0C0"/>
                  </a:outerShdw>
                </a:effectLst>
              </a:rPr>
              <a:t> </a:t>
            </a:r>
            <a:r>
              <a:rPr kumimoji="0" lang="zh-CN" altLang="en-US" sz="2400" dirty="0">
                <a:effectLst>
                  <a:outerShdw blurRad="38100" dist="38100" dir="2700000" algn="tl">
                    <a:srgbClr val="C0C0C0"/>
                  </a:outerShdw>
                </a:effectLst>
              </a:rPr>
              <a:t>表示，其定义与连续系统一致。</a:t>
            </a:r>
          </a:p>
          <a:p>
            <a:pPr>
              <a:lnSpc>
                <a:spcPct val="120000"/>
              </a:lnSpc>
              <a:defRPr/>
            </a:pPr>
            <a:endParaRPr kumimoji="0" lang="en-US" altLang="zh-CN" sz="2400" dirty="0">
              <a:effectLst>
                <a:outerShdw blurRad="38100" dist="38100" dir="2700000" algn="tl">
                  <a:srgbClr val="C0C0C0"/>
                </a:outerShdw>
              </a:effectLst>
            </a:endParaRPr>
          </a:p>
        </p:txBody>
      </p:sp>
      <p:sp>
        <p:nvSpPr>
          <p:cNvPr id="160786" name="Rectangle 18"/>
          <p:cNvSpPr>
            <a:spLocks noChangeArrowheads="1"/>
          </p:cNvSpPr>
          <p:nvPr/>
        </p:nvSpPr>
        <p:spPr bwMode="auto">
          <a:xfrm>
            <a:off x="0" y="29067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1138" name="Object 19"/>
          <p:cNvGraphicFramePr>
            <a:graphicFrameLocks noChangeAspect="1"/>
          </p:cNvGraphicFramePr>
          <p:nvPr>
            <p:extLst>
              <p:ext uri="{D42A27DB-BD31-4B8C-83A1-F6EECF244321}">
                <p14:modId xmlns:p14="http://schemas.microsoft.com/office/powerpoint/2010/main" val="893626356"/>
              </p:ext>
            </p:extLst>
          </p:nvPr>
        </p:nvGraphicFramePr>
        <p:xfrm>
          <a:off x="5292080" y="2487095"/>
          <a:ext cx="576263" cy="377825"/>
        </p:xfrm>
        <a:graphic>
          <a:graphicData uri="http://schemas.openxmlformats.org/presentationml/2006/ole">
            <mc:AlternateContent xmlns:mc="http://schemas.openxmlformats.org/markup-compatibility/2006">
              <mc:Choice xmlns:v="urn:schemas-microsoft-com:vml" Requires="v">
                <p:oleObj name="Equation" r:id="rId3" imgW="279158" imgH="177646" progId="Equation.DSMT4">
                  <p:embed/>
                </p:oleObj>
              </mc:Choice>
              <mc:Fallback>
                <p:oleObj name="Equation" r:id="rId3" imgW="279158" imgH="177646" progId="Equation.DSMT4">
                  <p:embed/>
                  <p:pic>
                    <p:nvPicPr>
                      <p:cNvPr id="0" name="Picture 4"/>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292080" y="2487095"/>
                        <a:ext cx="576263" cy="377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0788" name="Text Box 20"/>
          <p:cNvSpPr txBox="1">
            <a:spLocks noChangeArrowheads="1"/>
          </p:cNvSpPr>
          <p:nvPr/>
        </p:nvSpPr>
        <p:spPr bwMode="auto">
          <a:xfrm>
            <a:off x="1042988" y="3573463"/>
            <a:ext cx="2160587" cy="519112"/>
          </a:xfrm>
          <a:prstGeom prst="rect">
            <a:avLst/>
          </a:prstGeom>
          <a:noFill/>
          <a:ln w="9525" algn="ctr">
            <a:noFill/>
            <a:miter lim="800000"/>
            <a:headEnd/>
            <a:tailEnd/>
          </a:ln>
          <a:effectLst/>
        </p:spPr>
        <p:txBody>
          <a:bodyPr>
            <a:spAutoFit/>
          </a:bodyPr>
          <a:lstStyle/>
          <a:p>
            <a:pPr>
              <a:defRPr/>
            </a:pPr>
            <a:r>
              <a:rPr kumimoji="0" lang="zh-CN" altLang="en-US" sz="2800">
                <a:solidFill>
                  <a:srgbClr val="FF0000"/>
                </a:solidFill>
                <a:effectLst>
                  <a:outerShdw blurRad="38100" dist="38100" dir="2700000" algn="tl">
                    <a:srgbClr val="C0C0C0"/>
                  </a:outerShdw>
                </a:effectLst>
              </a:rPr>
              <a:t>注意：</a:t>
            </a:r>
          </a:p>
        </p:txBody>
      </p:sp>
      <p:sp>
        <p:nvSpPr>
          <p:cNvPr id="160789" name="Text Box 21"/>
          <p:cNvSpPr txBox="1">
            <a:spLocks noChangeArrowheads="1"/>
          </p:cNvSpPr>
          <p:nvPr/>
        </p:nvSpPr>
        <p:spPr bwMode="auto">
          <a:xfrm>
            <a:off x="971550" y="4076700"/>
            <a:ext cx="7561263" cy="1041400"/>
          </a:xfrm>
          <a:prstGeom prst="rect">
            <a:avLst/>
          </a:prstGeom>
          <a:noFill/>
          <a:ln w="9525" algn="ctr">
            <a:noFill/>
            <a:miter lim="800000"/>
            <a:headEnd/>
            <a:tailEnd/>
          </a:ln>
          <a:effectLst/>
        </p:spPr>
        <p:txBody>
          <a:bodyPr>
            <a:spAutoFit/>
          </a:bodyPr>
          <a:lstStyle/>
          <a:p>
            <a:pPr>
              <a:lnSpc>
                <a:spcPct val="130000"/>
              </a:lnSpc>
              <a:defRPr/>
            </a:pPr>
            <a:r>
              <a:rPr kumimoji="0" lang="zh-CN" altLang="en-US" sz="2400" dirty="0">
                <a:solidFill>
                  <a:srgbClr val="0000FF"/>
                </a:solidFill>
                <a:effectLst>
                  <a:outerShdw blurRad="38100" dist="38100" dir="2700000" algn="tl">
                    <a:srgbClr val="C0C0C0"/>
                  </a:outerShdw>
                </a:effectLst>
              </a:rPr>
              <a:t>计算机控制系统暂态特性是在</a:t>
            </a:r>
            <a:r>
              <a:rPr kumimoji="0" lang="en-US" altLang="zh-CN" sz="2400" dirty="0">
                <a:solidFill>
                  <a:srgbClr val="0000FF"/>
                </a:solidFill>
                <a:effectLst>
                  <a:outerShdw blurRad="38100" dist="38100" dir="2700000" algn="tl">
                    <a:srgbClr val="C0C0C0"/>
                  </a:outerShdw>
                </a:effectLst>
              </a:rPr>
              <a:t>z</a:t>
            </a:r>
            <a:r>
              <a:rPr kumimoji="0" lang="zh-CN" altLang="en-US" sz="2400" dirty="0">
                <a:solidFill>
                  <a:srgbClr val="0000FF"/>
                </a:solidFill>
                <a:effectLst>
                  <a:outerShdw blurRad="38100" dist="38100" dir="2700000" algn="tl">
                    <a:srgbClr val="C0C0C0"/>
                  </a:outerShdw>
                </a:effectLst>
              </a:rPr>
              <a:t>域进行分析，所得到的只是各采样时刻的值，是连续系统暂态特性的近似。</a:t>
            </a:r>
          </a:p>
        </p:txBody>
      </p:sp>
    </p:spTree>
  </p:cSld>
  <p:clrMapOvr>
    <a:masterClrMapping/>
  </p:clrMapOvr>
  <p:transition>
    <p:comb/>
  </p:transition>
</p:sld>
</file>

<file path=ppt/slides/slide13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40290" name="Picture 33"/>
          <p:cNvPicPr>
            <a:picLocks noChangeAspect="1" noChangeArrowheads="1"/>
          </p:cNvPicPr>
          <p:nvPr/>
        </p:nvPicPr>
        <p:blipFill>
          <a:blip r:embed="rId3" cstate="print"/>
          <a:srcRect/>
          <a:stretch>
            <a:fillRect/>
          </a:stretch>
        </p:blipFill>
        <p:spPr bwMode="auto">
          <a:xfrm>
            <a:off x="776288" y="1576388"/>
            <a:ext cx="7848600" cy="3178175"/>
          </a:xfrm>
          <a:prstGeom prst="rect">
            <a:avLst/>
          </a:prstGeom>
          <a:noFill/>
          <a:ln w="9525">
            <a:noFill/>
            <a:miter lim="800000"/>
            <a:headEnd/>
            <a:tailEnd/>
          </a:ln>
        </p:spPr>
      </p:pic>
      <p:sp>
        <p:nvSpPr>
          <p:cNvPr id="161826" name="Text Box 34"/>
          <p:cNvSpPr txBox="1">
            <a:spLocks noChangeArrowheads="1"/>
          </p:cNvSpPr>
          <p:nvPr/>
        </p:nvSpPr>
        <p:spPr bwMode="auto">
          <a:xfrm>
            <a:off x="1136650" y="4889500"/>
            <a:ext cx="7632700"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图</a:t>
            </a:r>
            <a:r>
              <a:rPr kumimoji="0" lang="en-US" altLang="zh-CN">
                <a:solidFill>
                  <a:srgbClr val="0000FF"/>
                </a:solidFill>
                <a:effectLst>
                  <a:outerShdw blurRad="38100" dist="38100" dir="2700000" algn="tl">
                    <a:srgbClr val="C0C0C0"/>
                  </a:outerShdw>
                </a:effectLst>
              </a:rPr>
              <a:t>3.19 </a:t>
            </a:r>
            <a:r>
              <a:rPr kumimoji="0" lang="zh-CN" altLang="en-US">
                <a:solidFill>
                  <a:srgbClr val="0000FF"/>
                </a:solidFill>
                <a:effectLst>
                  <a:outerShdw blurRad="38100" dist="38100" dir="2700000" algn="tl">
                    <a:srgbClr val="C0C0C0"/>
                  </a:outerShdw>
                </a:effectLst>
              </a:rPr>
              <a:t>系统阶跃响应特性              图</a:t>
            </a:r>
            <a:r>
              <a:rPr kumimoji="0" lang="en-US" altLang="zh-CN">
                <a:solidFill>
                  <a:srgbClr val="0000FF"/>
                </a:solidFill>
                <a:effectLst>
                  <a:outerShdw blurRad="38100" dist="38100" dir="2700000" algn="tl">
                    <a:srgbClr val="C0C0C0"/>
                  </a:outerShdw>
                </a:effectLst>
              </a:rPr>
              <a:t>3.20 </a:t>
            </a:r>
            <a:r>
              <a:rPr kumimoji="0" lang="zh-CN" altLang="en-US">
                <a:solidFill>
                  <a:srgbClr val="0000FF"/>
                </a:solidFill>
                <a:effectLst>
                  <a:outerShdw blurRad="38100" dist="38100" dir="2700000" algn="tl">
                    <a:srgbClr val="C0C0C0"/>
                  </a:outerShdw>
                </a:effectLst>
              </a:rPr>
              <a:t>系统阶跃响应的采样</a:t>
            </a:r>
          </a:p>
        </p:txBody>
      </p:sp>
      <p:sp>
        <p:nvSpPr>
          <p:cNvPr id="161827" name="Line 35"/>
          <p:cNvSpPr>
            <a:spLocks noChangeShapeType="1"/>
          </p:cNvSpPr>
          <p:nvPr/>
        </p:nvSpPr>
        <p:spPr bwMode="auto">
          <a:xfrm>
            <a:off x="5456238" y="1936750"/>
            <a:ext cx="936625" cy="792163"/>
          </a:xfrm>
          <a:prstGeom prst="line">
            <a:avLst/>
          </a:prstGeom>
          <a:noFill/>
          <a:ln w="9525">
            <a:solidFill>
              <a:srgbClr val="0000FF"/>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61828" name="Text Box 36"/>
          <p:cNvSpPr txBox="1">
            <a:spLocks noChangeArrowheads="1"/>
          </p:cNvSpPr>
          <p:nvPr/>
        </p:nvSpPr>
        <p:spPr bwMode="auto">
          <a:xfrm>
            <a:off x="4572000" y="1557338"/>
            <a:ext cx="1820863"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连续系统</a:t>
            </a:r>
          </a:p>
        </p:txBody>
      </p:sp>
      <p:sp>
        <p:nvSpPr>
          <p:cNvPr id="161829" name="Line 37"/>
          <p:cNvSpPr>
            <a:spLocks noChangeShapeType="1"/>
          </p:cNvSpPr>
          <p:nvPr/>
        </p:nvSpPr>
        <p:spPr bwMode="auto">
          <a:xfrm flipV="1">
            <a:off x="6464300" y="1865313"/>
            <a:ext cx="576263" cy="935037"/>
          </a:xfrm>
          <a:prstGeom prst="line">
            <a:avLst/>
          </a:prstGeom>
          <a:noFill/>
          <a:ln w="9525">
            <a:solidFill>
              <a:srgbClr val="FF3300"/>
            </a:solidFill>
            <a:round/>
            <a:headEnd type="triangle" w="med" len="me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61830" name="Text Box 38"/>
          <p:cNvSpPr txBox="1">
            <a:spLocks noChangeArrowheads="1"/>
          </p:cNvSpPr>
          <p:nvPr/>
        </p:nvSpPr>
        <p:spPr bwMode="auto">
          <a:xfrm>
            <a:off x="6732588" y="1484313"/>
            <a:ext cx="2181225" cy="396875"/>
          </a:xfrm>
          <a:prstGeom prst="rect">
            <a:avLst/>
          </a:prstGeom>
          <a:noFill/>
          <a:ln w="9525" algn="ctr">
            <a:noFill/>
            <a:miter lim="800000"/>
            <a:headEnd/>
            <a:tailEnd/>
          </a:ln>
          <a:effectLst/>
        </p:spPr>
        <p:txBody>
          <a:bodyPr>
            <a:spAutoFit/>
          </a:bodyPr>
          <a:lstStyle/>
          <a:p>
            <a:pPr>
              <a:defRPr/>
            </a:pPr>
            <a:r>
              <a:rPr kumimoji="0" lang="zh-CN" altLang="en-US">
                <a:solidFill>
                  <a:srgbClr val="FF3300"/>
                </a:solidFill>
                <a:effectLst>
                  <a:outerShdw blurRad="38100" dist="38100" dir="2700000" algn="tl">
                    <a:srgbClr val="C0C0C0"/>
                  </a:outerShdw>
                </a:effectLst>
              </a:rPr>
              <a:t>计算机系统</a:t>
            </a:r>
          </a:p>
        </p:txBody>
      </p:sp>
    </p:spTree>
  </p:cSld>
  <p:clrMapOvr>
    <a:masterClrMapping/>
  </p:clrMapOvr>
  <p:transition>
    <p:push/>
  </p:transition>
</p:sld>
</file>

<file path=ppt/slides/slide13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2839" name="Text Box 23"/>
          <p:cNvSpPr txBox="1">
            <a:spLocks noChangeArrowheads="1"/>
          </p:cNvSpPr>
          <p:nvPr/>
        </p:nvSpPr>
        <p:spPr bwMode="auto">
          <a:xfrm>
            <a:off x="755650" y="476250"/>
            <a:ext cx="7561263"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3.7.1 </a:t>
            </a:r>
            <a:r>
              <a:rPr kumimoji="0" lang="en-US" altLang="zh-CN" sz="2800" i="1">
                <a:solidFill>
                  <a:srgbClr val="0000FF"/>
                </a:solidFill>
                <a:effectLst>
                  <a:outerShdw blurRad="38100" dist="38100" dir="2700000" algn="tl">
                    <a:srgbClr val="C0C0C0"/>
                  </a:outerShdw>
                </a:effectLst>
              </a:rPr>
              <a:t>z </a:t>
            </a:r>
            <a:r>
              <a:rPr kumimoji="0" lang="zh-CN" altLang="en-US" sz="2800">
                <a:solidFill>
                  <a:srgbClr val="0000FF"/>
                </a:solidFill>
                <a:effectLst>
                  <a:outerShdw blurRad="38100" dist="38100" dir="2700000" algn="tl">
                    <a:srgbClr val="C0C0C0"/>
                  </a:outerShdw>
                </a:effectLst>
              </a:rPr>
              <a:t>平面极点分布与暂态响应的关系</a:t>
            </a:r>
          </a:p>
        </p:txBody>
      </p:sp>
      <p:sp>
        <p:nvSpPr>
          <p:cNvPr id="162840" name="Text Box 24"/>
          <p:cNvSpPr txBox="1">
            <a:spLocks noChangeArrowheads="1"/>
          </p:cNvSpPr>
          <p:nvPr/>
        </p:nvSpPr>
        <p:spPr bwMode="auto">
          <a:xfrm>
            <a:off x="950913" y="1628775"/>
            <a:ext cx="6645275" cy="457200"/>
          </a:xfrm>
          <a:prstGeom prst="rect">
            <a:avLst/>
          </a:prstGeom>
          <a:noFill/>
          <a:ln w="9525" algn="ctr">
            <a:noFill/>
            <a:miter lim="800000"/>
            <a:headEnd/>
            <a:tailEnd/>
          </a:ln>
          <a:effectLst/>
        </p:spPr>
        <p:txBody>
          <a:bodyPr>
            <a:spAutoFit/>
          </a:bodyPr>
          <a:lstStyle/>
          <a:p>
            <a:pPr>
              <a:defRPr/>
            </a:pPr>
            <a:r>
              <a:rPr kumimoji="0" lang="zh-CN" altLang="en-US" sz="2400" dirty="0">
                <a:effectLst>
                  <a:outerShdw blurRad="38100" dist="38100" dir="2700000" algn="tl">
                    <a:srgbClr val="C0C0C0"/>
                  </a:outerShdw>
                </a:effectLst>
              </a:rPr>
              <a:t>在单位阶跃输入下，系统的输出为：</a:t>
            </a:r>
          </a:p>
        </p:txBody>
      </p:sp>
      <p:sp>
        <p:nvSpPr>
          <p:cNvPr id="162841" name="Rectangle 25"/>
          <p:cNvSpPr>
            <a:spLocks noChangeArrowheads="1"/>
          </p:cNvSpPr>
          <p:nvPr/>
        </p:nvSpPr>
        <p:spPr bwMode="auto">
          <a:xfrm>
            <a:off x="0" y="26384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2162" name="Object 26"/>
          <p:cNvGraphicFramePr>
            <a:graphicFrameLocks noChangeAspect="1"/>
          </p:cNvGraphicFramePr>
          <p:nvPr/>
        </p:nvGraphicFramePr>
        <p:xfrm>
          <a:off x="2484438" y="2133600"/>
          <a:ext cx="2736850" cy="809625"/>
        </p:xfrm>
        <a:graphic>
          <a:graphicData uri="http://schemas.openxmlformats.org/presentationml/2006/ole">
            <mc:AlternateContent xmlns:mc="http://schemas.openxmlformats.org/markup-compatibility/2006">
              <mc:Choice xmlns:v="urn:schemas-microsoft-com:vml" Requires="v">
                <p:oleObj name="Equation" r:id="rId3" imgW="1447800" imgH="431800" progId="Equation.DSMT4">
                  <p:embed/>
                </p:oleObj>
              </mc:Choice>
              <mc:Fallback>
                <p:oleObj name="Equation" r:id="rId3" imgW="1447800" imgH="4318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84438" y="2133600"/>
                        <a:ext cx="2736850" cy="8096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2843" name="Text Box 27"/>
          <p:cNvSpPr txBox="1">
            <a:spLocks noChangeArrowheads="1"/>
          </p:cNvSpPr>
          <p:nvPr/>
        </p:nvSpPr>
        <p:spPr bwMode="auto">
          <a:xfrm>
            <a:off x="1042989" y="3429000"/>
            <a:ext cx="4033068" cy="457200"/>
          </a:xfrm>
          <a:prstGeom prst="rect">
            <a:avLst/>
          </a:prstGeom>
          <a:noFill/>
          <a:ln w="9525" algn="ctr">
            <a:noFill/>
            <a:miter lim="800000"/>
            <a:headEnd/>
            <a:tailEnd/>
          </a:ln>
          <a:effectLst/>
        </p:spPr>
        <p:txBody>
          <a:bodyPr wrap="square">
            <a:spAutoFit/>
          </a:bodyPr>
          <a:lstStyle/>
          <a:p>
            <a:pPr>
              <a:defRPr/>
            </a:pPr>
            <a:r>
              <a:rPr kumimoji="0" lang="en-US" altLang="zh-CN" sz="2400" i="1" dirty="0">
                <a:effectLst>
                  <a:outerShdw blurRad="38100" dist="38100" dir="2700000" algn="tl">
                    <a:srgbClr val="C0C0C0"/>
                  </a:outerShdw>
                </a:effectLst>
              </a:rPr>
              <a:t>z</a:t>
            </a:r>
            <a:r>
              <a:rPr kumimoji="0" lang="zh-CN" altLang="en-US" sz="2400" dirty="0">
                <a:effectLst>
                  <a:outerShdw blurRad="38100" dist="38100" dir="2700000" algn="tl">
                    <a:srgbClr val="C0C0C0"/>
                  </a:outerShdw>
                </a:effectLst>
              </a:rPr>
              <a:t>平面上的极点</a:t>
            </a:r>
            <a:r>
              <a:rPr kumimoji="0" lang="en-US" altLang="zh-CN" sz="2400" i="1" dirty="0" err="1">
                <a:effectLst>
                  <a:outerShdw blurRad="38100" dist="38100" dir="2700000" algn="tl">
                    <a:srgbClr val="C0C0C0"/>
                  </a:outerShdw>
                </a:effectLst>
              </a:rPr>
              <a:t>i</a:t>
            </a:r>
            <a:r>
              <a:rPr kumimoji="0" lang="zh-CN" altLang="en-US" sz="2400" dirty="0">
                <a:effectLst>
                  <a:outerShdw blurRad="38100" dist="38100" dir="2700000" algn="tl">
                    <a:srgbClr val="C0C0C0"/>
                  </a:outerShdw>
                </a:effectLst>
              </a:rPr>
              <a:t>，可表示为：</a:t>
            </a:r>
          </a:p>
        </p:txBody>
      </p:sp>
      <p:sp>
        <p:nvSpPr>
          <p:cNvPr id="162844" name="Rectangle 28"/>
          <p:cNvSpPr>
            <a:spLocks noChangeArrowheads="1"/>
          </p:cNvSpPr>
          <p:nvPr/>
        </p:nvSpPr>
        <p:spPr bwMode="auto">
          <a:xfrm>
            <a:off x="0" y="27241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2163" name="Object 29"/>
          <p:cNvGraphicFramePr>
            <a:graphicFrameLocks noChangeAspect="1"/>
          </p:cNvGraphicFramePr>
          <p:nvPr/>
        </p:nvGraphicFramePr>
        <p:xfrm>
          <a:off x="3059113" y="4076700"/>
          <a:ext cx="1511300" cy="574675"/>
        </p:xfrm>
        <a:graphic>
          <a:graphicData uri="http://schemas.openxmlformats.org/presentationml/2006/ole">
            <mc:AlternateContent xmlns:mc="http://schemas.openxmlformats.org/markup-compatibility/2006">
              <mc:Choice xmlns:v="urn:schemas-microsoft-com:vml" Requires="v">
                <p:oleObj name="Equation" r:id="rId5" imgW="672808" imgH="253890" progId="Equation.DSMT4">
                  <p:embed/>
                </p:oleObj>
              </mc:Choice>
              <mc:Fallback>
                <p:oleObj name="Equation" r:id="rId5" imgW="672808" imgH="25389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059113" y="4076700"/>
                        <a:ext cx="1511300" cy="5746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pic>
        <p:nvPicPr>
          <p:cNvPr id="92170" name="Picture 30"/>
          <p:cNvPicPr>
            <a:picLocks noChangeAspect="1" noChangeArrowheads="1"/>
          </p:cNvPicPr>
          <p:nvPr/>
        </p:nvPicPr>
        <p:blipFill>
          <a:blip r:embed="rId7" cstate="print"/>
          <a:srcRect/>
          <a:stretch>
            <a:fillRect/>
          </a:stretch>
        </p:blipFill>
        <p:spPr bwMode="auto">
          <a:xfrm>
            <a:off x="5148263" y="3141663"/>
            <a:ext cx="2879725" cy="2132012"/>
          </a:xfrm>
          <a:prstGeom prst="rect">
            <a:avLst/>
          </a:prstGeom>
          <a:noFill/>
          <a:ln w="9525">
            <a:noFill/>
            <a:miter lim="800000"/>
            <a:headEnd/>
            <a:tailEnd/>
          </a:ln>
        </p:spPr>
      </p:pic>
    </p:spTree>
  </p:cSld>
  <p:clrMapOvr>
    <a:masterClrMapping/>
  </p:clrMapOvr>
  <p:transition>
    <p:push/>
  </p:transition>
</p:sld>
</file>

<file path=ppt/slides/slide13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3860" name="Text Box 20"/>
          <p:cNvSpPr txBox="1">
            <a:spLocks noChangeArrowheads="1"/>
          </p:cNvSpPr>
          <p:nvPr/>
        </p:nvSpPr>
        <p:spPr bwMode="auto">
          <a:xfrm>
            <a:off x="1042988" y="1412875"/>
            <a:ext cx="59245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a:t>
            </a:r>
            <a:r>
              <a:rPr kumimoji="0" lang="en-US" altLang="zh-CN" sz="2400">
                <a:solidFill>
                  <a:srgbClr val="0000FF"/>
                </a:solidFill>
                <a:effectLst>
                  <a:outerShdw blurRad="38100" dist="38100" dir="2700000" algn="tl">
                    <a:srgbClr val="C0C0C0"/>
                  </a:outerShdw>
                </a:effectLst>
              </a:rPr>
              <a:t>1</a:t>
            </a:r>
            <a:r>
              <a:rPr kumimoji="0" lang="zh-CN" altLang="en-US" sz="2400">
                <a:solidFill>
                  <a:srgbClr val="0000FF"/>
                </a:solidFill>
                <a:effectLst>
                  <a:outerShdw blurRad="38100" dist="38100" dir="2700000" algn="tl">
                    <a:srgbClr val="C0C0C0"/>
                  </a:outerShdw>
                </a:effectLst>
              </a:rPr>
              <a:t>）极点位于 </a:t>
            </a:r>
            <a:r>
              <a:rPr kumimoji="0" lang="en-US" altLang="zh-CN" sz="2400" i="1">
                <a:solidFill>
                  <a:srgbClr val="0000FF"/>
                </a:solidFill>
                <a:effectLst>
                  <a:outerShdw blurRad="38100" dist="38100" dir="2700000" algn="tl">
                    <a:srgbClr val="C0C0C0"/>
                  </a:outerShdw>
                </a:effectLst>
              </a:rPr>
              <a:t>z</a:t>
            </a:r>
            <a:r>
              <a:rPr kumimoji="0" lang="en-US" altLang="zh-CN" sz="2400">
                <a:solidFill>
                  <a:srgbClr val="0000FF"/>
                </a:solidFill>
                <a:effectLst>
                  <a:outerShdw blurRad="38100" dist="38100" dir="2700000" algn="tl">
                    <a:srgbClr val="C0C0C0"/>
                  </a:outerShdw>
                </a:effectLst>
              </a:rPr>
              <a:t> </a:t>
            </a:r>
            <a:r>
              <a:rPr kumimoji="0" lang="zh-CN" altLang="en-US" sz="2400">
                <a:solidFill>
                  <a:srgbClr val="0000FF"/>
                </a:solidFill>
                <a:effectLst>
                  <a:outerShdw blurRad="38100" dist="38100" dir="2700000" algn="tl">
                    <a:srgbClr val="C0C0C0"/>
                  </a:outerShdw>
                </a:effectLst>
              </a:rPr>
              <a:t>平面实轴上的情况</a:t>
            </a:r>
          </a:p>
        </p:txBody>
      </p:sp>
      <p:sp>
        <p:nvSpPr>
          <p:cNvPr id="163861" name="Rectangle 21"/>
          <p:cNvSpPr>
            <a:spLocks noChangeArrowheads="1"/>
          </p:cNvSpPr>
          <p:nvPr/>
        </p:nvSpPr>
        <p:spPr bwMode="auto">
          <a:xfrm>
            <a:off x="19050" y="28384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3186" name="Object 22"/>
          <p:cNvGraphicFramePr>
            <a:graphicFrameLocks noChangeAspect="1"/>
          </p:cNvGraphicFramePr>
          <p:nvPr/>
        </p:nvGraphicFramePr>
        <p:xfrm>
          <a:off x="2430463" y="1968500"/>
          <a:ext cx="3168650" cy="560388"/>
        </p:xfrm>
        <a:graphic>
          <a:graphicData uri="http://schemas.openxmlformats.org/presentationml/2006/ole">
            <mc:AlternateContent xmlns:mc="http://schemas.openxmlformats.org/markup-compatibility/2006">
              <mc:Choice xmlns:v="urn:schemas-microsoft-com:vml" Requires="v">
                <p:oleObj name="Equation" r:id="rId3" imgW="1562100" imgH="279400" progId="Equation.DSMT4">
                  <p:embed/>
                </p:oleObj>
              </mc:Choice>
              <mc:Fallback>
                <p:oleObj name="Equation" r:id="rId3" imgW="1562100" imgH="279400" progId="Equation.DSMT4">
                  <p:embed/>
                  <p:pic>
                    <p:nvPicPr>
                      <p:cNvPr id="0" name="Picture 16"/>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430463" y="1968500"/>
                        <a:ext cx="3168650"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63" name="Text Box 23"/>
          <p:cNvSpPr txBox="1">
            <a:spLocks noChangeArrowheads="1"/>
          </p:cNvSpPr>
          <p:nvPr/>
        </p:nvSpPr>
        <p:spPr bwMode="auto">
          <a:xfrm>
            <a:off x="1495425" y="2689225"/>
            <a:ext cx="57086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当</a:t>
            </a:r>
            <a:r>
              <a:rPr kumimoji="0" lang="en-US" altLang="zh-CN" sz="2400" i="1">
                <a:effectLst>
                  <a:outerShdw blurRad="38100" dist="38100" dir="2700000" algn="tl">
                    <a:srgbClr val="C0C0C0"/>
                  </a:outerShdw>
                </a:effectLst>
              </a:rPr>
              <a:t>z</a:t>
            </a:r>
            <a:r>
              <a:rPr kumimoji="0" lang="en-US" altLang="zh-CN" sz="2400" i="1" baseline="-25000">
                <a:effectLst>
                  <a:outerShdw blurRad="38100" dist="38100" dir="2700000" algn="tl">
                    <a:srgbClr val="C0C0C0"/>
                  </a:outerShdw>
                </a:effectLst>
              </a:rPr>
              <a:t>i</a:t>
            </a:r>
            <a:r>
              <a:rPr kumimoji="0" lang="en-US" altLang="zh-CN" sz="2400" i="1">
                <a:effectLst>
                  <a:outerShdw blurRad="38100" dist="38100" dir="2700000" algn="tl">
                    <a:srgbClr val="C0C0C0"/>
                  </a:outerShdw>
                </a:effectLst>
              </a:rPr>
              <a:t> </a:t>
            </a:r>
            <a:r>
              <a:rPr kumimoji="0" lang="zh-CN" altLang="en-US" sz="2400">
                <a:effectLst>
                  <a:outerShdw blurRad="38100" dist="38100" dir="2700000" algn="tl">
                    <a:srgbClr val="C0C0C0"/>
                  </a:outerShdw>
                </a:effectLst>
              </a:rPr>
              <a:t>在正实轴上时，</a:t>
            </a:r>
            <a:r>
              <a:rPr kumimoji="0" lang="el-GR" altLang="zh-CN" sz="2400" i="1">
                <a:effectLst>
                  <a:outerShdw blurRad="38100" dist="38100" dir="2700000" algn="tl">
                    <a:srgbClr val="C0C0C0"/>
                  </a:outerShdw>
                </a:effectLst>
              </a:rPr>
              <a:t>θ</a:t>
            </a:r>
            <a:r>
              <a:rPr kumimoji="0" lang="en-US" altLang="zh-CN" sz="2400" i="1" baseline="-25000">
                <a:effectLst>
                  <a:outerShdw blurRad="38100" dist="38100" dir="2700000" algn="tl">
                    <a:srgbClr val="C0C0C0"/>
                  </a:outerShdw>
                </a:effectLst>
              </a:rPr>
              <a:t>i</a:t>
            </a:r>
            <a:r>
              <a:rPr kumimoji="0" lang="en-US" altLang="zh-CN" sz="2400">
                <a:effectLst>
                  <a:outerShdw blurRad="38100" dist="38100" dir="2700000" algn="tl">
                    <a:srgbClr val="C0C0C0"/>
                  </a:outerShdw>
                </a:effectLst>
              </a:rPr>
              <a:t>=0 </a:t>
            </a:r>
            <a:r>
              <a:rPr kumimoji="0" lang="zh-CN" altLang="en-US" sz="2400">
                <a:effectLst>
                  <a:outerShdw blurRad="38100" dist="38100" dir="2700000" algn="tl">
                    <a:srgbClr val="C0C0C0"/>
                  </a:outerShdw>
                </a:effectLst>
              </a:rPr>
              <a:t>，所以</a:t>
            </a:r>
          </a:p>
        </p:txBody>
      </p:sp>
      <p:sp>
        <p:nvSpPr>
          <p:cNvPr id="163864" name="Rectangle 24"/>
          <p:cNvSpPr>
            <a:spLocks noChangeArrowheads="1"/>
          </p:cNvSpPr>
          <p:nvPr/>
        </p:nvSpPr>
        <p:spPr bwMode="auto">
          <a:xfrm>
            <a:off x="19050" y="28384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3187" name="Object 25"/>
          <p:cNvGraphicFramePr>
            <a:graphicFrameLocks noChangeAspect="1"/>
          </p:cNvGraphicFramePr>
          <p:nvPr/>
        </p:nvGraphicFramePr>
        <p:xfrm>
          <a:off x="1350963" y="3840163"/>
          <a:ext cx="1944687" cy="612775"/>
        </p:xfrm>
        <a:graphic>
          <a:graphicData uri="http://schemas.openxmlformats.org/presentationml/2006/ole">
            <mc:AlternateContent xmlns:mc="http://schemas.openxmlformats.org/markup-compatibility/2006">
              <mc:Choice xmlns:v="urn:schemas-microsoft-com:vml" Requires="v">
                <p:oleObj name="Equation" r:id="rId5" imgW="876300" imgH="279400" progId="Equation.DSMT4">
                  <p:embed/>
                </p:oleObj>
              </mc:Choice>
              <mc:Fallback>
                <p:oleObj name="Equation" r:id="rId5" imgW="876300" imgH="279400" progId="Equation.DSMT4">
                  <p:embed/>
                  <p:pic>
                    <p:nvPicPr>
                      <p:cNvPr id="0" name="Picture 17"/>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350963" y="3840163"/>
                        <a:ext cx="1944687" cy="612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66" name="Line 26"/>
          <p:cNvSpPr>
            <a:spLocks noChangeShapeType="1"/>
          </p:cNvSpPr>
          <p:nvPr/>
        </p:nvSpPr>
        <p:spPr bwMode="auto">
          <a:xfrm>
            <a:off x="3511550" y="3336925"/>
            <a:ext cx="0" cy="2016125"/>
          </a:xfrm>
          <a:prstGeom prst="line">
            <a:avLst/>
          </a:prstGeom>
          <a:noFill/>
          <a:ln w="9525">
            <a:solidFill>
              <a:srgbClr val="FF33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63867" name="Rectangle 27"/>
          <p:cNvSpPr>
            <a:spLocks noChangeArrowheads="1"/>
          </p:cNvSpPr>
          <p:nvPr/>
        </p:nvSpPr>
        <p:spPr bwMode="auto">
          <a:xfrm>
            <a:off x="19050" y="28479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3188" name="Object 28"/>
          <p:cNvGraphicFramePr>
            <a:graphicFrameLocks noChangeAspect="1"/>
          </p:cNvGraphicFramePr>
          <p:nvPr/>
        </p:nvGraphicFramePr>
        <p:xfrm>
          <a:off x="3654425" y="3336925"/>
          <a:ext cx="792163" cy="498475"/>
        </p:xfrm>
        <a:graphic>
          <a:graphicData uri="http://schemas.openxmlformats.org/presentationml/2006/ole">
            <mc:AlternateContent xmlns:mc="http://schemas.openxmlformats.org/markup-compatibility/2006">
              <mc:Choice xmlns:v="urn:schemas-microsoft-com:vml" Requires="v">
                <p:oleObj name="Equation" r:id="rId7" imgW="406048" imgH="253780" progId="Equation.DSMT4">
                  <p:embed/>
                </p:oleObj>
              </mc:Choice>
              <mc:Fallback>
                <p:oleObj name="Equation" r:id="rId7" imgW="406048" imgH="253780" progId="Equation.DSMT4">
                  <p:embed/>
                  <p:pic>
                    <p:nvPicPr>
                      <p:cNvPr id="0" name="Picture 18"/>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654425" y="3336925"/>
                        <a:ext cx="79216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69" name="Text Box 29"/>
          <p:cNvSpPr txBox="1">
            <a:spLocks noChangeArrowheads="1"/>
          </p:cNvSpPr>
          <p:nvPr/>
        </p:nvSpPr>
        <p:spPr bwMode="auto">
          <a:xfrm>
            <a:off x="4591050" y="3408363"/>
            <a:ext cx="4103688"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为单调衰减过程</a:t>
            </a:r>
          </a:p>
        </p:txBody>
      </p:sp>
      <p:sp>
        <p:nvSpPr>
          <p:cNvPr id="163870" name="Text Box 30"/>
          <p:cNvSpPr txBox="1">
            <a:spLocks noChangeArrowheads="1"/>
          </p:cNvSpPr>
          <p:nvPr/>
        </p:nvSpPr>
        <p:spPr bwMode="auto">
          <a:xfrm>
            <a:off x="4591050" y="4056063"/>
            <a:ext cx="3889375"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为单调发散过程</a:t>
            </a:r>
          </a:p>
        </p:txBody>
      </p:sp>
      <p:sp>
        <p:nvSpPr>
          <p:cNvPr id="163871" name="Text Box 31"/>
          <p:cNvSpPr txBox="1">
            <a:spLocks noChangeArrowheads="1"/>
          </p:cNvSpPr>
          <p:nvPr/>
        </p:nvSpPr>
        <p:spPr bwMode="auto">
          <a:xfrm>
            <a:off x="4662488" y="4848225"/>
            <a:ext cx="4249737"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不变</a:t>
            </a:r>
          </a:p>
        </p:txBody>
      </p:sp>
      <p:sp>
        <p:nvSpPr>
          <p:cNvPr id="163872" name="Rectangle 32"/>
          <p:cNvSpPr>
            <a:spLocks noChangeArrowheads="1"/>
          </p:cNvSpPr>
          <p:nvPr/>
        </p:nvSpPr>
        <p:spPr bwMode="auto">
          <a:xfrm>
            <a:off x="19050" y="28479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3189" name="Object 33"/>
          <p:cNvGraphicFramePr>
            <a:graphicFrameLocks noChangeAspect="1"/>
          </p:cNvGraphicFramePr>
          <p:nvPr/>
        </p:nvGraphicFramePr>
        <p:xfrm>
          <a:off x="3654425" y="4056063"/>
          <a:ext cx="719138" cy="450850"/>
        </p:xfrm>
        <a:graphic>
          <a:graphicData uri="http://schemas.openxmlformats.org/presentationml/2006/ole">
            <mc:AlternateContent xmlns:mc="http://schemas.openxmlformats.org/markup-compatibility/2006">
              <mc:Choice xmlns:v="urn:schemas-microsoft-com:vml" Requires="v">
                <p:oleObj name="Equation" r:id="rId9" imgW="406048" imgH="253780" progId="Equation.DSMT4">
                  <p:embed/>
                </p:oleObj>
              </mc:Choice>
              <mc:Fallback>
                <p:oleObj name="Equation" r:id="rId9" imgW="406048" imgH="253780" progId="Equation.DSMT4">
                  <p:embed/>
                  <p:pic>
                    <p:nvPicPr>
                      <p:cNvPr id="0" name="Picture 19"/>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3654425" y="4056063"/>
                        <a:ext cx="719138"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63874" name="Rectangle 34"/>
          <p:cNvSpPr>
            <a:spLocks noChangeArrowheads="1"/>
          </p:cNvSpPr>
          <p:nvPr/>
        </p:nvSpPr>
        <p:spPr bwMode="auto">
          <a:xfrm>
            <a:off x="19050" y="28479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3190" name="Object 35"/>
          <p:cNvGraphicFramePr>
            <a:graphicFrameLocks noChangeAspect="1"/>
          </p:cNvGraphicFramePr>
          <p:nvPr/>
        </p:nvGraphicFramePr>
        <p:xfrm>
          <a:off x="3654425" y="4776788"/>
          <a:ext cx="755650" cy="474662"/>
        </p:xfrm>
        <a:graphic>
          <a:graphicData uri="http://schemas.openxmlformats.org/presentationml/2006/ole">
            <mc:AlternateContent xmlns:mc="http://schemas.openxmlformats.org/markup-compatibility/2006">
              <mc:Choice xmlns:v="urn:schemas-microsoft-com:vml" Requires="v">
                <p:oleObj name="Equation" r:id="rId11" imgW="406048" imgH="253780" progId="Equation.DSMT4">
                  <p:embed/>
                </p:oleObj>
              </mc:Choice>
              <mc:Fallback>
                <p:oleObj name="Equation" r:id="rId11" imgW="406048" imgH="253780" progId="Equation.DSMT4">
                  <p:embed/>
                  <p:pic>
                    <p:nvPicPr>
                      <p:cNvPr id="0" name="Picture 20"/>
                      <p:cNvPicPr>
                        <a:picLocks noChangeAspect="1" noChangeArrowheads="1"/>
                      </p:cNvPicPr>
                      <p:nvPr/>
                    </p:nvPicPr>
                    <p:blipFill>
                      <a:blip r:embed="rId12">
                        <a:extLst>
                          <a:ext uri="{28A0092B-C50C-407E-A947-70E740481C1C}">
                            <a14:useLocalDpi xmlns:a14="http://schemas.microsoft.com/office/drawing/2010/main" val="0"/>
                          </a:ext>
                        </a:extLst>
                      </a:blip>
                      <a:srcRect/>
                      <a:stretch>
                        <a:fillRect/>
                      </a:stretch>
                    </p:blipFill>
                    <p:spPr bwMode="auto">
                      <a:xfrm>
                        <a:off x="3654425" y="4776788"/>
                        <a:ext cx="755650" cy="4746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4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5130" name="Rectangle 26"/>
          <p:cNvSpPr>
            <a:spLocks noChangeArrowheads="1"/>
          </p:cNvSpPr>
          <p:nvPr/>
        </p:nvSpPr>
        <p:spPr bwMode="auto">
          <a:xfrm>
            <a:off x="-217488" y="1849438"/>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175131" name="Text Box 27"/>
          <p:cNvSpPr txBox="1">
            <a:spLocks noChangeArrowheads="1"/>
          </p:cNvSpPr>
          <p:nvPr/>
        </p:nvSpPr>
        <p:spPr bwMode="auto">
          <a:xfrm>
            <a:off x="1258888" y="1700213"/>
            <a:ext cx="57086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当</a:t>
            </a:r>
            <a:r>
              <a:rPr kumimoji="0" lang="en-US" altLang="zh-CN" sz="2400" i="1">
                <a:effectLst>
                  <a:outerShdw blurRad="38100" dist="38100" dir="2700000" algn="tl">
                    <a:srgbClr val="C0C0C0"/>
                  </a:outerShdw>
                </a:effectLst>
              </a:rPr>
              <a:t>z</a:t>
            </a:r>
            <a:r>
              <a:rPr kumimoji="0" lang="en-US" altLang="zh-CN" sz="2400" i="1" baseline="-25000">
                <a:effectLst>
                  <a:outerShdw blurRad="38100" dist="38100" dir="2700000" algn="tl">
                    <a:srgbClr val="C0C0C0"/>
                  </a:outerShdw>
                </a:effectLst>
              </a:rPr>
              <a:t>i</a:t>
            </a:r>
            <a:r>
              <a:rPr kumimoji="0" lang="en-US" altLang="zh-CN" sz="2400" i="1">
                <a:effectLst>
                  <a:outerShdw blurRad="38100" dist="38100" dir="2700000" algn="tl">
                    <a:srgbClr val="C0C0C0"/>
                  </a:outerShdw>
                </a:effectLst>
              </a:rPr>
              <a:t> </a:t>
            </a:r>
            <a:r>
              <a:rPr kumimoji="0" lang="zh-CN" altLang="en-US" sz="2400">
                <a:effectLst>
                  <a:outerShdw blurRad="38100" dist="38100" dir="2700000" algn="tl">
                    <a:srgbClr val="C0C0C0"/>
                  </a:outerShdw>
                </a:effectLst>
              </a:rPr>
              <a:t>在负实轴上时，</a:t>
            </a:r>
            <a:r>
              <a:rPr kumimoji="0" lang="el-GR" altLang="zh-CN" sz="2400" i="1">
                <a:effectLst>
                  <a:outerShdw blurRad="38100" dist="38100" dir="2700000" algn="tl">
                    <a:srgbClr val="C0C0C0"/>
                  </a:outerShdw>
                </a:effectLst>
              </a:rPr>
              <a:t>θ</a:t>
            </a:r>
            <a:r>
              <a:rPr kumimoji="0" lang="en-US" altLang="zh-CN" sz="2400" i="1" baseline="-25000">
                <a:effectLst>
                  <a:outerShdw blurRad="38100" dist="38100" dir="2700000" algn="tl">
                    <a:srgbClr val="C0C0C0"/>
                  </a:outerShdw>
                </a:effectLst>
              </a:rPr>
              <a:t>i</a:t>
            </a:r>
            <a:r>
              <a:rPr kumimoji="0" lang="en-US" altLang="zh-CN" sz="2400">
                <a:effectLst>
                  <a:outerShdw blurRad="38100" dist="38100" dir="2700000" algn="tl">
                    <a:srgbClr val="C0C0C0"/>
                  </a:outerShdw>
                </a:effectLst>
              </a:rPr>
              <a:t>=</a:t>
            </a:r>
            <a:r>
              <a:rPr kumimoji="0" lang="el-GR" altLang="zh-CN" sz="2400" i="1">
                <a:effectLst>
                  <a:outerShdw blurRad="38100" dist="38100" dir="2700000" algn="tl">
                    <a:srgbClr val="C0C0C0"/>
                  </a:outerShdw>
                </a:effectLst>
                <a:cs typeface="Times New Roman" pitchFamily="18" charset="0"/>
              </a:rPr>
              <a:t>π</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，所以</a:t>
            </a:r>
          </a:p>
        </p:txBody>
      </p:sp>
      <p:sp>
        <p:nvSpPr>
          <p:cNvPr id="175132" name="Rectangle 28"/>
          <p:cNvSpPr>
            <a:spLocks noChangeArrowheads="1"/>
          </p:cNvSpPr>
          <p:nvPr/>
        </p:nvSpPr>
        <p:spPr bwMode="auto">
          <a:xfrm>
            <a:off x="-217488" y="1849438"/>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175133" name="Line 29"/>
          <p:cNvSpPr>
            <a:spLocks noChangeShapeType="1"/>
          </p:cNvSpPr>
          <p:nvPr/>
        </p:nvSpPr>
        <p:spPr bwMode="auto">
          <a:xfrm>
            <a:off x="3276600" y="2563813"/>
            <a:ext cx="0" cy="2016125"/>
          </a:xfrm>
          <a:prstGeom prst="line">
            <a:avLst/>
          </a:prstGeom>
          <a:noFill/>
          <a:ln w="9525">
            <a:solidFill>
              <a:srgbClr val="FF33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75134" name="Rectangle 30"/>
          <p:cNvSpPr>
            <a:spLocks noChangeArrowheads="1"/>
          </p:cNvSpPr>
          <p:nvPr/>
        </p:nvSpPr>
        <p:spPr bwMode="auto">
          <a:xfrm>
            <a:off x="-217488" y="185896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4210" name="Object 31"/>
          <p:cNvGraphicFramePr>
            <a:graphicFrameLocks noChangeAspect="1"/>
          </p:cNvGraphicFramePr>
          <p:nvPr/>
        </p:nvGraphicFramePr>
        <p:xfrm>
          <a:off x="3419475" y="2563813"/>
          <a:ext cx="792163" cy="498475"/>
        </p:xfrm>
        <a:graphic>
          <a:graphicData uri="http://schemas.openxmlformats.org/presentationml/2006/ole">
            <mc:AlternateContent xmlns:mc="http://schemas.openxmlformats.org/markup-compatibility/2006">
              <mc:Choice xmlns:v="urn:schemas-microsoft-com:vml" Requires="v">
                <p:oleObj name="Equation" r:id="rId3" imgW="406048" imgH="253780" progId="Equation.DSMT4">
                  <p:embed/>
                </p:oleObj>
              </mc:Choice>
              <mc:Fallback>
                <p:oleObj name="Equation" r:id="rId3" imgW="406048" imgH="253780" progId="Equation.DSMT4">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19475" y="2563813"/>
                        <a:ext cx="79216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5136" name="Text Box 32"/>
          <p:cNvSpPr txBox="1">
            <a:spLocks noChangeArrowheads="1"/>
          </p:cNvSpPr>
          <p:nvPr/>
        </p:nvSpPr>
        <p:spPr bwMode="auto">
          <a:xfrm>
            <a:off x="4356100" y="2635250"/>
            <a:ext cx="4103688"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为振荡衰减过程</a:t>
            </a:r>
          </a:p>
        </p:txBody>
      </p:sp>
      <p:sp>
        <p:nvSpPr>
          <p:cNvPr id="175137" name="Text Box 33"/>
          <p:cNvSpPr txBox="1">
            <a:spLocks noChangeArrowheads="1"/>
          </p:cNvSpPr>
          <p:nvPr/>
        </p:nvSpPr>
        <p:spPr bwMode="auto">
          <a:xfrm>
            <a:off x="4356100" y="3282950"/>
            <a:ext cx="3889375"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为振荡发散过程</a:t>
            </a:r>
          </a:p>
        </p:txBody>
      </p:sp>
      <p:sp>
        <p:nvSpPr>
          <p:cNvPr id="175138" name="Text Box 34"/>
          <p:cNvSpPr txBox="1">
            <a:spLocks noChangeArrowheads="1"/>
          </p:cNvSpPr>
          <p:nvPr/>
        </p:nvSpPr>
        <p:spPr bwMode="auto">
          <a:xfrm>
            <a:off x="4427538" y="4075113"/>
            <a:ext cx="4249737"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为等幅振荡过程</a:t>
            </a:r>
          </a:p>
        </p:txBody>
      </p:sp>
      <p:sp>
        <p:nvSpPr>
          <p:cNvPr id="175139" name="Rectangle 35"/>
          <p:cNvSpPr>
            <a:spLocks noChangeArrowheads="1"/>
          </p:cNvSpPr>
          <p:nvPr/>
        </p:nvSpPr>
        <p:spPr bwMode="auto">
          <a:xfrm>
            <a:off x="-217488" y="1858963"/>
            <a:ext cx="9144001"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4211" name="Object 36"/>
          <p:cNvGraphicFramePr>
            <a:graphicFrameLocks noChangeAspect="1"/>
          </p:cNvGraphicFramePr>
          <p:nvPr/>
        </p:nvGraphicFramePr>
        <p:xfrm>
          <a:off x="3419475" y="3282950"/>
          <a:ext cx="719138" cy="450850"/>
        </p:xfrm>
        <a:graphic>
          <a:graphicData uri="http://schemas.openxmlformats.org/presentationml/2006/ole">
            <mc:AlternateContent xmlns:mc="http://schemas.openxmlformats.org/markup-compatibility/2006">
              <mc:Choice xmlns:v="urn:schemas-microsoft-com:vml" Requires="v">
                <p:oleObj name="Equation" r:id="rId5" imgW="406048" imgH="253780" progId="Equation.DSMT4">
                  <p:embed/>
                </p:oleObj>
              </mc:Choice>
              <mc:Fallback>
                <p:oleObj name="Equation" r:id="rId5" imgW="406048" imgH="253780" progId="Equation.DSMT4">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3419475" y="3282950"/>
                        <a:ext cx="719138"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4212" name="Object 37"/>
          <p:cNvGraphicFramePr>
            <a:graphicFrameLocks noChangeAspect="1"/>
          </p:cNvGraphicFramePr>
          <p:nvPr/>
        </p:nvGraphicFramePr>
        <p:xfrm>
          <a:off x="3419475" y="4003675"/>
          <a:ext cx="755650" cy="474663"/>
        </p:xfrm>
        <a:graphic>
          <a:graphicData uri="http://schemas.openxmlformats.org/presentationml/2006/ole">
            <mc:AlternateContent xmlns:mc="http://schemas.openxmlformats.org/markup-compatibility/2006">
              <mc:Choice xmlns:v="urn:schemas-microsoft-com:vml" Requires="v">
                <p:oleObj name="Equation" r:id="rId7" imgW="406048" imgH="253780" progId="Equation.DSMT4">
                  <p:embed/>
                </p:oleObj>
              </mc:Choice>
              <mc:Fallback>
                <p:oleObj name="Equation" r:id="rId7" imgW="406048" imgH="253780" progId="Equation.DSMT4">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3419475" y="4003675"/>
                        <a:ext cx="755650"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5142" name="Rectangle 38"/>
          <p:cNvSpPr>
            <a:spLocks noChangeArrowheads="1"/>
          </p:cNvSpPr>
          <p:nvPr/>
        </p:nvSpPr>
        <p:spPr bwMode="auto">
          <a:xfrm>
            <a:off x="71438" y="28575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4213" name="Object 39"/>
          <p:cNvGraphicFramePr>
            <a:graphicFrameLocks noChangeAspect="1"/>
          </p:cNvGraphicFramePr>
          <p:nvPr/>
        </p:nvGraphicFramePr>
        <p:xfrm>
          <a:off x="682625" y="2924175"/>
          <a:ext cx="2305050" cy="560388"/>
        </p:xfrm>
        <a:graphic>
          <a:graphicData uri="http://schemas.openxmlformats.org/presentationml/2006/ole">
            <mc:AlternateContent xmlns:mc="http://schemas.openxmlformats.org/markup-compatibility/2006">
              <mc:Choice xmlns:v="urn:schemas-microsoft-com:vml" Requires="v">
                <p:oleObj name="Equation" r:id="rId9" imgW="1130300" imgH="279400" progId="Equation.DSMT4">
                  <p:embed/>
                </p:oleObj>
              </mc:Choice>
              <mc:Fallback>
                <p:oleObj name="Equation" r:id="rId9" imgW="1130300" imgH="279400" progId="Equation.DSMT4">
                  <p:embed/>
                  <p:pic>
                    <p:nvPicPr>
                      <p:cNvPr id="0"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682625" y="2924175"/>
                        <a:ext cx="2305050" cy="5603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5144" name="Line 40"/>
          <p:cNvSpPr>
            <a:spLocks noChangeShapeType="1"/>
          </p:cNvSpPr>
          <p:nvPr/>
        </p:nvSpPr>
        <p:spPr bwMode="auto">
          <a:xfrm>
            <a:off x="755650" y="3571875"/>
            <a:ext cx="2016125" cy="0"/>
          </a:xfrm>
          <a:prstGeom prst="line">
            <a:avLst/>
          </a:prstGeom>
          <a:noFill/>
          <a:ln w="9525">
            <a:solidFill>
              <a:srgbClr val="FF00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75145" name="Text Box 41"/>
          <p:cNvSpPr txBox="1">
            <a:spLocks noChangeArrowheads="1"/>
          </p:cNvSpPr>
          <p:nvPr/>
        </p:nvSpPr>
        <p:spPr bwMode="auto">
          <a:xfrm>
            <a:off x="898525" y="3716338"/>
            <a:ext cx="1892300" cy="701675"/>
          </a:xfrm>
          <a:prstGeom prst="rect">
            <a:avLst/>
          </a:prstGeom>
          <a:noFill/>
          <a:ln w="9525" algn="ctr">
            <a:noFill/>
            <a:miter lim="800000"/>
            <a:headEnd/>
            <a:tailEnd/>
          </a:ln>
          <a:effectLst/>
        </p:spPr>
        <p:txBody>
          <a:bodyPr>
            <a:spAutoFit/>
          </a:bodyPr>
          <a:lstStyle/>
          <a:p>
            <a:pPr algn="ctr">
              <a:defRPr/>
            </a:pPr>
            <a:r>
              <a:rPr kumimoji="0" lang="zh-CN" altLang="en-US">
                <a:solidFill>
                  <a:srgbClr val="FF0000"/>
                </a:solidFill>
                <a:effectLst>
                  <a:outerShdw blurRad="38100" dist="38100" dir="2700000" algn="tl">
                    <a:srgbClr val="C0C0C0"/>
                  </a:outerShdw>
                </a:effectLst>
              </a:rPr>
              <a:t>为正负交替的振荡过程</a:t>
            </a:r>
          </a:p>
        </p:txBody>
      </p:sp>
      <p:graphicFrame>
        <p:nvGraphicFramePr>
          <p:cNvPr id="2" name="Object 39">
            <a:extLst>
              <a:ext uri="{FF2B5EF4-FFF2-40B4-BE49-F238E27FC236}">
                <a16:creationId xmlns:a16="http://schemas.microsoft.com/office/drawing/2014/main" id="{42458D10-E6DC-4BDF-4EDA-7581952A2888}"/>
              </a:ext>
            </a:extLst>
          </p:cNvPr>
          <p:cNvGraphicFramePr>
            <a:graphicFrameLocks noChangeAspect="1"/>
          </p:cNvGraphicFramePr>
          <p:nvPr>
            <p:extLst>
              <p:ext uri="{D42A27DB-BD31-4B8C-83A1-F6EECF244321}">
                <p14:modId xmlns:p14="http://schemas.microsoft.com/office/powerpoint/2010/main" val="2204474036"/>
              </p:ext>
            </p:extLst>
          </p:nvPr>
        </p:nvGraphicFramePr>
        <p:xfrm>
          <a:off x="381000" y="4698999"/>
          <a:ext cx="2927350" cy="458788"/>
        </p:xfrm>
        <a:graphic>
          <a:graphicData uri="http://schemas.openxmlformats.org/presentationml/2006/ole">
            <mc:AlternateContent xmlns:mc="http://schemas.openxmlformats.org/markup-compatibility/2006">
              <mc:Choice xmlns:v="urn:schemas-microsoft-com:vml" Requires="v">
                <p:oleObj name="Equation" r:id="rId11" imgW="1434960" imgH="228600" progId="Equation.DSMT4">
                  <p:embed/>
                </p:oleObj>
              </mc:Choice>
              <mc:Fallback>
                <p:oleObj name="Equation" r:id="rId11" imgW="1434960" imgH="228600" progId="Equation.DSMT4">
                  <p:embed/>
                  <p:pic>
                    <p:nvPicPr>
                      <p:cNvPr id="94213" name="Object 39"/>
                      <p:cNvPicPr>
                        <a:picLocks noChangeAspect="1" noChangeArrowheads="1"/>
                      </p:cNvPicPr>
                      <p:nvPr/>
                    </p:nvPicPr>
                    <p:blipFill>
                      <a:blip r:embed="rId12"/>
                      <a:srcRect/>
                      <a:stretch>
                        <a:fillRect/>
                      </a:stretch>
                    </p:blipFill>
                    <p:spPr bwMode="auto">
                      <a:xfrm>
                        <a:off x="381000" y="4698999"/>
                        <a:ext cx="2927350" cy="4587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comb/>
  </p:transition>
</p:sld>
</file>

<file path=ppt/slides/slide14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6165" name="Text Box 37"/>
          <p:cNvSpPr txBox="1">
            <a:spLocks noChangeArrowheads="1"/>
          </p:cNvSpPr>
          <p:nvPr/>
        </p:nvSpPr>
        <p:spPr bwMode="auto">
          <a:xfrm>
            <a:off x="827088" y="1412875"/>
            <a:ext cx="621188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a:t>
            </a:r>
            <a:r>
              <a:rPr kumimoji="0" lang="en-US" altLang="zh-CN" sz="2400">
                <a:solidFill>
                  <a:srgbClr val="0000FF"/>
                </a:solidFill>
                <a:effectLst>
                  <a:outerShdw blurRad="38100" dist="38100" dir="2700000" algn="tl">
                    <a:srgbClr val="C0C0C0"/>
                  </a:outerShdw>
                </a:effectLst>
              </a:rPr>
              <a:t>2</a:t>
            </a:r>
            <a:r>
              <a:rPr kumimoji="0" lang="zh-CN" altLang="en-US" sz="2400">
                <a:solidFill>
                  <a:srgbClr val="0000FF"/>
                </a:solidFill>
                <a:effectLst>
                  <a:outerShdw blurRad="38100" dist="38100" dir="2700000" algn="tl">
                    <a:srgbClr val="C0C0C0"/>
                  </a:outerShdw>
                </a:effectLst>
              </a:rPr>
              <a:t>）极点位于 </a:t>
            </a:r>
            <a:r>
              <a:rPr kumimoji="0" lang="en-US" altLang="zh-CN" sz="2400" i="1">
                <a:solidFill>
                  <a:srgbClr val="0000FF"/>
                </a:solidFill>
                <a:effectLst>
                  <a:outerShdw blurRad="38100" dist="38100" dir="2700000" algn="tl">
                    <a:srgbClr val="C0C0C0"/>
                  </a:outerShdw>
                </a:effectLst>
              </a:rPr>
              <a:t>z</a:t>
            </a:r>
            <a:r>
              <a:rPr kumimoji="0" lang="en-US" altLang="zh-CN" sz="2400">
                <a:solidFill>
                  <a:srgbClr val="0000FF"/>
                </a:solidFill>
                <a:effectLst>
                  <a:outerShdw blurRad="38100" dist="38100" dir="2700000" algn="tl">
                    <a:srgbClr val="C0C0C0"/>
                  </a:outerShdw>
                </a:effectLst>
              </a:rPr>
              <a:t> </a:t>
            </a:r>
            <a:r>
              <a:rPr kumimoji="0" lang="zh-CN" altLang="en-US" sz="2400">
                <a:solidFill>
                  <a:srgbClr val="0000FF"/>
                </a:solidFill>
                <a:effectLst>
                  <a:outerShdw blurRad="38100" dist="38100" dir="2700000" algn="tl">
                    <a:srgbClr val="C0C0C0"/>
                  </a:outerShdw>
                </a:effectLst>
              </a:rPr>
              <a:t>平面复平面上的情况</a:t>
            </a:r>
          </a:p>
        </p:txBody>
      </p:sp>
      <p:sp>
        <p:nvSpPr>
          <p:cNvPr id="176166" name="Rectangle 38"/>
          <p:cNvSpPr>
            <a:spLocks noChangeArrowheads="1"/>
          </p:cNvSpPr>
          <p:nvPr/>
        </p:nvSpPr>
        <p:spPr bwMode="auto">
          <a:xfrm>
            <a:off x="0" y="2806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5234" name="Object 39"/>
          <p:cNvGraphicFramePr>
            <a:graphicFrameLocks noChangeAspect="1"/>
          </p:cNvGraphicFramePr>
          <p:nvPr/>
        </p:nvGraphicFramePr>
        <p:xfrm>
          <a:off x="1979613" y="1989138"/>
          <a:ext cx="5545137" cy="1676400"/>
        </p:xfrm>
        <a:graphic>
          <a:graphicData uri="http://schemas.openxmlformats.org/presentationml/2006/ole">
            <mc:AlternateContent xmlns:mc="http://schemas.openxmlformats.org/markup-compatibility/2006">
              <mc:Choice xmlns:v="urn:schemas-microsoft-com:vml" Requires="v">
                <p:oleObj name="Equation" r:id="rId3" imgW="2692400" imgH="825500" progId="Equation.DSMT4">
                  <p:embed/>
                </p:oleObj>
              </mc:Choice>
              <mc:Fallback>
                <p:oleObj name="Equation" r:id="rId3" imgW="2692400" imgH="825500" progId="Equation.DSMT4">
                  <p:embed/>
                  <p:pic>
                    <p:nvPicPr>
                      <p:cNvPr id="0" name="Picture 13"/>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79613" y="1989138"/>
                        <a:ext cx="5545137" cy="16764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6168" name="Line 40"/>
          <p:cNvSpPr>
            <a:spLocks noChangeShapeType="1"/>
          </p:cNvSpPr>
          <p:nvPr/>
        </p:nvSpPr>
        <p:spPr bwMode="auto">
          <a:xfrm>
            <a:off x="1835150" y="3789363"/>
            <a:ext cx="1588" cy="1801812"/>
          </a:xfrm>
          <a:prstGeom prst="line">
            <a:avLst/>
          </a:prstGeom>
          <a:noFill/>
          <a:ln w="9525">
            <a:solidFill>
              <a:srgbClr val="FF3300"/>
            </a:solidFill>
            <a:round/>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graphicFrame>
        <p:nvGraphicFramePr>
          <p:cNvPr id="95235" name="Object 41"/>
          <p:cNvGraphicFramePr>
            <a:graphicFrameLocks noChangeAspect="1"/>
          </p:cNvGraphicFramePr>
          <p:nvPr/>
        </p:nvGraphicFramePr>
        <p:xfrm>
          <a:off x="2051050" y="3790950"/>
          <a:ext cx="792163" cy="498475"/>
        </p:xfrm>
        <a:graphic>
          <a:graphicData uri="http://schemas.openxmlformats.org/presentationml/2006/ole">
            <mc:AlternateContent xmlns:mc="http://schemas.openxmlformats.org/markup-compatibility/2006">
              <mc:Choice xmlns:v="urn:schemas-microsoft-com:vml" Requires="v">
                <p:oleObj name="Equation" r:id="rId5" imgW="406048" imgH="253780" progId="Equation.DSMT4">
                  <p:embed/>
                </p:oleObj>
              </mc:Choice>
              <mc:Fallback>
                <p:oleObj name="Equation" r:id="rId5" imgW="406048" imgH="253780" progId="Equation.DSMT4">
                  <p:embed/>
                  <p:pic>
                    <p:nvPicPr>
                      <p:cNvPr id="0" name="Picture 14"/>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051050" y="3790950"/>
                        <a:ext cx="792163" cy="4984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6170" name="Text Box 42"/>
          <p:cNvSpPr txBox="1">
            <a:spLocks noChangeArrowheads="1"/>
          </p:cNvSpPr>
          <p:nvPr/>
        </p:nvSpPr>
        <p:spPr bwMode="auto">
          <a:xfrm>
            <a:off x="2987675" y="3862388"/>
            <a:ext cx="4103688"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为振荡衰减过程</a:t>
            </a:r>
          </a:p>
        </p:txBody>
      </p:sp>
      <p:sp>
        <p:nvSpPr>
          <p:cNvPr id="176171" name="Text Box 43"/>
          <p:cNvSpPr txBox="1">
            <a:spLocks noChangeArrowheads="1"/>
          </p:cNvSpPr>
          <p:nvPr/>
        </p:nvSpPr>
        <p:spPr bwMode="auto">
          <a:xfrm>
            <a:off x="2987675" y="4437063"/>
            <a:ext cx="3889375"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为振荡发散过程</a:t>
            </a:r>
          </a:p>
        </p:txBody>
      </p:sp>
      <p:sp>
        <p:nvSpPr>
          <p:cNvPr id="176172" name="Text Box 44"/>
          <p:cNvSpPr txBox="1">
            <a:spLocks noChangeArrowheads="1"/>
          </p:cNvSpPr>
          <p:nvPr/>
        </p:nvSpPr>
        <p:spPr bwMode="auto">
          <a:xfrm>
            <a:off x="2987675" y="5086350"/>
            <a:ext cx="4249738" cy="396875"/>
          </a:xfrm>
          <a:prstGeom prst="rect">
            <a:avLst/>
          </a:prstGeom>
          <a:noFill/>
          <a:ln w="9525" algn="ctr">
            <a:noFill/>
            <a:miter lim="800000"/>
            <a:headEnd/>
            <a:tailEnd/>
          </a:ln>
          <a:effectLst/>
        </p:spPr>
        <p:txBody>
          <a:bodyPr>
            <a:spAutoFit/>
          </a:bodyPr>
          <a:lstStyle/>
          <a:p>
            <a:pPr>
              <a:defRPr/>
            </a:pPr>
            <a:r>
              <a:rPr kumimoji="0" lang="en-US" altLang="zh-CN" i="1">
                <a:solidFill>
                  <a:srgbClr val="0000FF"/>
                </a:solidFill>
                <a:effectLst>
                  <a:outerShdw blurRad="38100" dist="38100" dir="2700000" algn="tl">
                    <a:srgbClr val="C0C0C0"/>
                  </a:outerShdw>
                </a:effectLst>
              </a:rPr>
              <a:t>k </a:t>
            </a:r>
            <a:r>
              <a:rPr kumimoji="0" lang="zh-CN" altLang="en-US">
                <a:solidFill>
                  <a:srgbClr val="0000FF"/>
                </a:solidFill>
                <a:effectLst>
                  <a:outerShdw blurRad="38100" dist="38100" dir="2700000" algn="tl">
                    <a:srgbClr val="C0C0C0"/>
                  </a:outerShdw>
                </a:effectLst>
              </a:rPr>
              <a:t>增加时， </a:t>
            </a:r>
            <a:r>
              <a:rPr kumimoji="0" lang="en-US" altLang="zh-CN" i="1">
                <a:solidFill>
                  <a:srgbClr val="0000FF"/>
                </a:solidFill>
                <a:effectLst>
                  <a:outerShdw blurRad="38100" dist="38100" dir="2700000" algn="tl">
                    <a:srgbClr val="C0C0C0"/>
                  </a:outerShdw>
                </a:effectLst>
              </a:rPr>
              <a:t>y</a:t>
            </a:r>
            <a:r>
              <a:rPr kumimoji="0" lang="en-US" altLang="zh-CN" i="1" baseline="-25000">
                <a:solidFill>
                  <a:srgbClr val="0000FF"/>
                </a:solidFill>
                <a:effectLst>
                  <a:outerShdw blurRad="38100" dist="38100" dir="2700000" algn="tl">
                    <a:srgbClr val="C0C0C0"/>
                  </a:outerShdw>
                </a:effectLst>
              </a:rPr>
              <a:t>i</a:t>
            </a:r>
            <a:r>
              <a:rPr kumimoji="0" lang="en-US" altLang="zh-CN">
                <a:solidFill>
                  <a:srgbClr val="0000FF"/>
                </a:solidFill>
                <a:effectLst>
                  <a:outerShdw blurRad="38100" dist="38100" dir="2700000" algn="tl">
                    <a:srgbClr val="C0C0C0"/>
                  </a:outerShdw>
                </a:effectLst>
              </a:rPr>
              <a:t>(</a:t>
            </a:r>
            <a:r>
              <a:rPr kumimoji="0" lang="en-US" altLang="zh-CN" i="1">
                <a:solidFill>
                  <a:srgbClr val="0000FF"/>
                </a:solidFill>
                <a:effectLst>
                  <a:outerShdw blurRad="38100" dist="38100" dir="2700000" algn="tl">
                    <a:srgbClr val="C0C0C0"/>
                  </a:outerShdw>
                </a:effectLst>
              </a:rPr>
              <a:t>k</a:t>
            </a:r>
            <a:r>
              <a:rPr kumimoji="0" lang="en-US" altLang="zh-CN">
                <a:solidFill>
                  <a:srgbClr val="0000FF"/>
                </a:solidFill>
                <a:effectLst>
                  <a:outerShdw blurRad="38100" dist="38100" dir="2700000" algn="tl">
                    <a:srgbClr val="C0C0C0"/>
                  </a:outerShdw>
                </a:effectLst>
              </a:rPr>
              <a:t>)</a:t>
            </a:r>
            <a:r>
              <a:rPr kumimoji="0" lang="zh-CN" altLang="en-US">
                <a:solidFill>
                  <a:srgbClr val="0000FF"/>
                </a:solidFill>
                <a:effectLst>
                  <a:outerShdw blurRad="38100" dist="38100" dir="2700000" algn="tl">
                    <a:srgbClr val="C0C0C0"/>
                  </a:outerShdw>
                </a:effectLst>
              </a:rPr>
              <a:t>为等幅振荡过程</a:t>
            </a:r>
          </a:p>
        </p:txBody>
      </p:sp>
      <p:graphicFrame>
        <p:nvGraphicFramePr>
          <p:cNvPr id="95236" name="Object 45"/>
          <p:cNvGraphicFramePr>
            <a:graphicFrameLocks noChangeAspect="1"/>
          </p:cNvGraphicFramePr>
          <p:nvPr/>
        </p:nvGraphicFramePr>
        <p:xfrm>
          <a:off x="2051050" y="4437063"/>
          <a:ext cx="719138" cy="450850"/>
        </p:xfrm>
        <a:graphic>
          <a:graphicData uri="http://schemas.openxmlformats.org/presentationml/2006/ole">
            <mc:AlternateContent xmlns:mc="http://schemas.openxmlformats.org/markup-compatibility/2006">
              <mc:Choice xmlns:v="urn:schemas-microsoft-com:vml" Requires="v">
                <p:oleObj name="Equation" r:id="rId7" imgW="406048" imgH="253780" progId="Equation.DSMT4">
                  <p:embed/>
                </p:oleObj>
              </mc:Choice>
              <mc:Fallback>
                <p:oleObj name="Equation" r:id="rId7" imgW="406048" imgH="253780" progId="Equation.DSMT4">
                  <p:embed/>
                  <p:pic>
                    <p:nvPicPr>
                      <p:cNvPr id="0" name="Picture 15"/>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051050" y="4437063"/>
                        <a:ext cx="719138" cy="450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graphicFrame>
        <p:nvGraphicFramePr>
          <p:cNvPr id="95237" name="Object 46"/>
          <p:cNvGraphicFramePr>
            <a:graphicFrameLocks noChangeAspect="1"/>
          </p:cNvGraphicFramePr>
          <p:nvPr/>
        </p:nvGraphicFramePr>
        <p:xfrm>
          <a:off x="2051050" y="5013325"/>
          <a:ext cx="755650" cy="474663"/>
        </p:xfrm>
        <a:graphic>
          <a:graphicData uri="http://schemas.openxmlformats.org/presentationml/2006/ole">
            <mc:AlternateContent xmlns:mc="http://schemas.openxmlformats.org/markup-compatibility/2006">
              <mc:Choice xmlns:v="urn:schemas-microsoft-com:vml" Requires="v">
                <p:oleObj name="Equation" r:id="rId9" imgW="406048" imgH="253780" progId="Equation.DSMT4">
                  <p:embed/>
                </p:oleObj>
              </mc:Choice>
              <mc:Fallback>
                <p:oleObj name="Equation" r:id="rId9" imgW="406048" imgH="253780" progId="Equation.DSMT4">
                  <p:embed/>
                  <p:pic>
                    <p:nvPicPr>
                      <p:cNvPr id="0" name="Picture 16"/>
                      <p:cNvPicPr>
                        <a:picLocks noChangeAspect="1" noChangeArrowheads="1"/>
                      </p:cNvPicPr>
                      <p:nvPr/>
                    </p:nvPicPr>
                    <p:blipFill>
                      <a:blip r:embed="rId10">
                        <a:extLst>
                          <a:ext uri="{28A0092B-C50C-407E-A947-70E740481C1C}">
                            <a14:useLocalDpi xmlns:a14="http://schemas.microsoft.com/office/drawing/2010/main" val="0"/>
                          </a:ext>
                        </a:extLst>
                      </a:blip>
                      <a:srcRect/>
                      <a:stretch>
                        <a:fillRect/>
                      </a:stretch>
                    </p:blipFill>
                    <p:spPr bwMode="auto">
                      <a:xfrm>
                        <a:off x="2051050" y="5013325"/>
                        <a:ext cx="755650" cy="4746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6175" name="AutoShape 47"/>
          <p:cNvSpPr>
            <a:spLocks noChangeArrowheads="1"/>
          </p:cNvSpPr>
          <p:nvPr/>
        </p:nvSpPr>
        <p:spPr bwMode="auto">
          <a:xfrm>
            <a:off x="684213" y="3070225"/>
            <a:ext cx="1079500" cy="1368425"/>
          </a:xfrm>
          <a:prstGeom prst="curvedRightArrow">
            <a:avLst>
              <a:gd name="adj1" fmla="val 25353"/>
              <a:gd name="adj2" fmla="val 50706"/>
              <a:gd name="adj3" fmla="val 33333"/>
            </a:avLst>
          </a:prstGeom>
          <a:solidFill>
            <a:schemeClr val="accent1"/>
          </a:solidFill>
          <a:ln w="9525">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push/>
  </p:transition>
</p:sld>
</file>

<file path=ppt/slides/slide14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41314" name="Picture 14"/>
          <p:cNvPicPr>
            <a:picLocks noChangeAspect="1" noChangeArrowheads="1"/>
          </p:cNvPicPr>
          <p:nvPr/>
        </p:nvPicPr>
        <p:blipFill>
          <a:blip r:embed="rId3" cstate="print"/>
          <a:srcRect/>
          <a:stretch>
            <a:fillRect/>
          </a:stretch>
        </p:blipFill>
        <p:spPr bwMode="auto">
          <a:xfrm>
            <a:off x="1763713" y="1773238"/>
            <a:ext cx="5184775" cy="4238625"/>
          </a:xfrm>
          <a:prstGeom prst="rect">
            <a:avLst/>
          </a:prstGeom>
          <a:noFill/>
          <a:ln w="9525">
            <a:noFill/>
            <a:miter lim="800000"/>
            <a:headEnd/>
            <a:tailEnd/>
          </a:ln>
        </p:spPr>
      </p:pic>
      <p:sp>
        <p:nvSpPr>
          <p:cNvPr id="177167" name="Text Box 15"/>
          <p:cNvSpPr txBox="1">
            <a:spLocks noChangeArrowheads="1"/>
          </p:cNvSpPr>
          <p:nvPr/>
        </p:nvSpPr>
        <p:spPr bwMode="auto">
          <a:xfrm>
            <a:off x="1763713" y="1123950"/>
            <a:ext cx="640873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闭环极点分布与相应的动态响应形式</a:t>
            </a:r>
          </a:p>
        </p:txBody>
      </p:sp>
    </p:spTree>
  </p:cSld>
  <p:clrMapOvr>
    <a:masterClrMapping/>
  </p:clrMapOvr>
  <p:transition>
    <p:push/>
  </p:transition>
</p:sld>
</file>

<file path=ppt/slides/slide14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4886" name="Text Box 22"/>
          <p:cNvSpPr txBox="1">
            <a:spLocks noChangeArrowheads="1"/>
          </p:cNvSpPr>
          <p:nvPr/>
        </p:nvSpPr>
        <p:spPr bwMode="auto">
          <a:xfrm>
            <a:off x="900113" y="404813"/>
            <a:ext cx="6213475" cy="519112"/>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3.7.2 </a:t>
            </a:r>
            <a:r>
              <a:rPr kumimoji="0" lang="zh-CN" altLang="en-US" sz="2800">
                <a:solidFill>
                  <a:srgbClr val="0000FF"/>
                </a:solidFill>
                <a:effectLst>
                  <a:outerShdw blurRad="38100" dist="38100" dir="2700000" algn="tl">
                    <a:srgbClr val="C0C0C0"/>
                  </a:outerShdw>
                </a:effectLst>
              </a:rPr>
              <a:t>采样周期对暂态响应的影响</a:t>
            </a:r>
          </a:p>
        </p:txBody>
      </p:sp>
      <p:sp>
        <p:nvSpPr>
          <p:cNvPr id="164887" name="Text Box 23"/>
          <p:cNvSpPr txBox="1">
            <a:spLocks noChangeArrowheads="1"/>
          </p:cNvSpPr>
          <p:nvPr/>
        </p:nvSpPr>
        <p:spPr bwMode="auto">
          <a:xfrm>
            <a:off x="1044575" y="1658938"/>
            <a:ext cx="7219950" cy="1735137"/>
          </a:xfrm>
          <a:prstGeom prst="rect">
            <a:avLst/>
          </a:prstGeom>
          <a:noFill/>
          <a:ln w="9525" algn="ctr">
            <a:noFill/>
            <a:miter lim="800000"/>
            <a:headEnd/>
            <a:tailEnd/>
          </a:ln>
          <a:effectLst/>
        </p:spPr>
        <p:txBody>
          <a:bodyPr>
            <a:spAutoFit/>
          </a:bodyPr>
          <a:lstStyle/>
          <a:p>
            <a:pPr>
              <a:lnSpc>
                <a:spcPct val="150000"/>
              </a:lnSpc>
              <a:defRPr/>
            </a:pPr>
            <a:r>
              <a:rPr kumimoji="0" lang="zh-CN" altLang="en-US" sz="2400">
                <a:effectLst>
                  <a:outerShdw blurRad="38100" dist="38100" dir="2700000" algn="tl">
                    <a:srgbClr val="C0C0C0"/>
                  </a:outerShdw>
                </a:effectLst>
              </a:rPr>
              <a:t>采样周期的</a:t>
            </a:r>
            <a:r>
              <a:rPr kumimoji="0" lang="zh-CN" altLang="en-US" sz="2400" dirty="0">
                <a:effectLst>
                  <a:outerShdw blurRad="38100" dist="38100" dir="2700000" algn="tl">
                    <a:srgbClr val="C0C0C0"/>
                  </a:outerShdw>
                </a:effectLst>
              </a:rPr>
              <a:t>大小是影响计算机控制系统暂态响应特性的重要参数。一般来说，采样周期大对系统稳定性不利，对系统动态品质影响也不利。</a:t>
            </a:r>
          </a:p>
        </p:txBody>
      </p:sp>
    </p:spTree>
  </p:cSld>
  <p:clrMapOvr>
    <a:masterClrMapping/>
  </p:clrMapOvr>
  <p:transition>
    <p:push/>
  </p:transition>
</p:sld>
</file>

<file path=ppt/slides/slide14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5909" name="Text Box 21"/>
          <p:cNvSpPr txBox="1">
            <a:spLocks noChangeArrowheads="1"/>
          </p:cNvSpPr>
          <p:nvPr/>
        </p:nvSpPr>
        <p:spPr bwMode="auto">
          <a:xfrm>
            <a:off x="971550" y="1557338"/>
            <a:ext cx="7150100" cy="1406525"/>
          </a:xfrm>
          <a:prstGeom prst="rect">
            <a:avLst/>
          </a:prstGeom>
          <a:noFill/>
          <a:ln w="9525" algn="ctr">
            <a:noFill/>
            <a:miter lim="800000"/>
            <a:headEnd/>
            <a:tailEnd/>
          </a:ln>
          <a:effectLst/>
        </p:spPr>
        <p:txBody>
          <a:bodyPr>
            <a:spAutoFit/>
          </a:bodyPr>
          <a:lstStyle/>
          <a:p>
            <a:pPr>
              <a:lnSpc>
                <a:spcPct val="120000"/>
              </a:lnSpc>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3.16</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计算机控制系统结构如下图所示，分析当采样周期 </a:t>
            </a:r>
            <a:r>
              <a:rPr kumimoji="0" lang="en-US" altLang="zh-CN" sz="2400" i="1">
                <a:effectLst>
                  <a:outerShdw blurRad="38100" dist="38100" dir="2700000" algn="tl">
                    <a:srgbClr val="C0C0C0"/>
                  </a:outerShdw>
                </a:effectLst>
              </a:rPr>
              <a:t>T </a:t>
            </a:r>
            <a:r>
              <a:rPr kumimoji="0" lang="zh-CN" altLang="en-US" sz="2400">
                <a:effectLst>
                  <a:outerShdw blurRad="38100" dist="38100" dir="2700000" algn="tl">
                    <a:srgbClr val="C0C0C0"/>
                  </a:outerShdw>
                </a:effectLst>
              </a:rPr>
              <a:t>分别为</a:t>
            </a:r>
            <a:r>
              <a:rPr kumimoji="0" lang="en-US" altLang="zh-CN" sz="2400">
                <a:effectLst>
                  <a:outerShdw blurRad="38100" dist="38100" dir="2700000" algn="tl">
                    <a:srgbClr val="C0C0C0"/>
                  </a:outerShdw>
                </a:effectLst>
              </a:rPr>
              <a:t>0.5</a:t>
            </a: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秒时，系统的暂态响应特性。</a:t>
            </a:r>
          </a:p>
        </p:txBody>
      </p:sp>
      <p:pic>
        <p:nvPicPr>
          <p:cNvPr id="143363" name="Picture 22"/>
          <p:cNvPicPr>
            <a:picLocks noChangeAspect="1" noChangeArrowheads="1"/>
          </p:cNvPicPr>
          <p:nvPr/>
        </p:nvPicPr>
        <p:blipFill>
          <a:blip r:embed="rId3" cstate="print"/>
          <a:srcRect/>
          <a:stretch>
            <a:fillRect/>
          </a:stretch>
        </p:blipFill>
        <p:spPr bwMode="auto">
          <a:xfrm>
            <a:off x="1063625" y="3214688"/>
            <a:ext cx="7127875" cy="1758950"/>
          </a:xfrm>
          <a:prstGeom prst="rect">
            <a:avLst/>
          </a:prstGeom>
          <a:noFill/>
          <a:ln w="9525">
            <a:noFill/>
            <a:miter lim="800000"/>
            <a:headEnd/>
            <a:tailEnd/>
          </a:ln>
        </p:spPr>
      </p:pic>
    </p:spTree>
  </p:cSld>
  <p:clrMapOvr>
    <a:masterClrMapping/>
  </p:clrMapOvr>
  <p:transition>
    <p:push/>
  </p:transition>
</p:sld>
</file>

<file path=ppt/slides/slide14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6934" name="Text Box 22"/>
          <p:cNvSpPr txBox="1">
            <a:spLocks noChangeArrowheads="1"/>
          </p:cNvSpPr>
          <p:nvPr/>
        </p:nvSpPr>
        <p:spPr bwMode="auto">
          <a:xfrm>
            <a:off x="950913" y="1504950"/>
            <a:ext cx="52054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=0.5</a:t>
            </a:r>
            <a:r>
              <a:rPr kumimoji="0" lang="zh-CN" altLang="en-US" sz="2400">
                <a:effectLst>
                  <a:outerShdw blurRad="38100" dist="38100" dir="2700000" algn="tl">
                    <a:srgbClr val="C0C0C0"/>
                  </a:outerShdw>
                </a:effectLst>
              </a:rPr>
              <a:t>秒的情况</a:t>
            </a:r>
          </a:p>
        </p:txBody>
      </p:sp>
      <p:pic>
        <p:nvPicPr>
          <p:cNvPr id="144387" name="Picture 23"/>
          <p:cNvPicPr>
            <a:picLocks noChangeAspect="1" noChangeArrowheads="1"/>
          </p:cNvPicPr>
          <p:nvPr/>
        </p:nvPicPr>
        <p:blipFill>
          <a:blip r:embed="rId3" cstate="print"/>
          <a:srcRect/>
          <a:stretch>
            <a:fillRect/>
          </a:stretch>
        </p:blipFill>
        <p:spPr bwMode="auto">
          <a:xfrm>
            <a:off x="1547813" y="2060575"/>
            <a:ext cx="5400675" cy="3040063"/>
          </a:xfrm>
          <a:prstGeom prst="rect">
            <a:avLst/>
          </a:prstGeom>
          <a:noFill/>
          <a:ln w="9525">
            <a:noFill/>
            <a:miter lim="800000"/>
            <a:headEnd/>
            <a:tailEnd/>
          </a:ln>
        </p:spPr>
      </p:pic>
    </p:spTree>
  </p:cSld>
  <p:clrMapOvr>
    <a:masterClrMapping/>
  </p:clrMapOvr>
  <p:transition>
    <p:comb/>
  </p:transition>
</p:sld>
</file>

<file path=ppt/slides/slide14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7959" name="Text Box 23"/>
          <p:cNvSpPr txBox="1">
            <a:spLocks noChangeArrowheads="1"/>
          </p:cNvSpPr>
          <p:nvPr/>
        </p:nvSpPr>
        <p:spPr bwMode="auto">
          <a:xfrm>
            <a:off x="1023938" y="1649413"/>
            <a:ext cx="47720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=1</a:t>
            </a:r>
            <a:r>
              <a:rPr kumimoji="0" lang="zh-CN" altLang="en-US" sz="2400">
                <a:effectLst>
                  <a:outerShdw blurRad="38100" dist="38100" dir="2700000" algn="tl">
                    <a:srgbClr val="C0C0C0"/>
                  </a:outerShdw>
                </a:effectLst>
              </a:rPr>
              <a:t>秒的情况</a:t>
            </a:r>
          </a:p>
        </p:txBody>
      </p:sp>
      <p:pic>
        <p:nvPicPr>
          <p:cNvPr id="145411" name="Picture 24"/>
          <p:cNvPicPr>
            <a:picLocks noChangeAspect="1" noChangeArrowheads="1"/>
          </p:cNvPicPr>
          <p:nvPr/>
        </p:nvPicPr>
        <p:blipFill>
          <a:blip r:embed="rId3" cstate="print"/>
          <a:srcRect/>
          <a:stretch>
            <a:fillRect/>
          </a:stretch>
        </p:blipFill>
        <p:spPr bwMode="auto">
          <a:xfrm>
            <a:off x="1619250" y="2205038"/>
            <a:ext cx="5400675" cy="3060700"/>
          </a:xfrm>
          <a:prstGeom prst="rect">
            <a:avLst/>
          </a:prstGeom>
          <a:noFill/>
          <a:ln w="9525">
            <a:noFill/>
            <a:miter lim="800000"/>
            <a:headEnd/>
            <a:tailEnd/>
          </a:ln>
        </p:spPr>
      </p:pic>
    </p:spTree>
  </p:cSld>
  <p:clrMapOvr>
    <a:masterClrMapping/>
  </p:clrMapOvr>
  <p:transition>
    <p:comb/>
  </p:transition>
</p:sld>
</file>

<file path=ppt/slides/slide14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68994" name="Text Box 34"/>
          <p:cNvSpPr txBox="1">
            <a:spLocks noChangeArrowheads="1"/>
          </p:cNvSpPr>
          <p:nvPr/>
        </p:nvSpPr>
        <p:spPr bwMode="auto">
          <a:xfrm>
            <a:off x="950913" y="1506538"/>
            <a:ext cx="57816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=2</a:t>
            </a:r>
            <a:r>
              <a:rPr kumimoji="0" lang="zh-CN" altLang="en-US" sz="2400">
                <a:effectLst>
                  <a:outerShdw blurRad="38100" dist="38100" dir="2700000" algn="tl">
                    <a:srgbClr val="C0C0C0"/>
                  </a:outerShdw>
                </a:effectLst>
              </a:rPr>
              <a:t>秒的情况</a:t>
            </a:r>
          </a:p>
        </p:txBody>
      </p:sp>
      <p:pic>
        <p:nvPicPr>
          <p:cNvPr id="146435" name="Picture 35"/>
          <p:cNvPicPr>
            <a:picLocks noChangeAspect="1" noChangeArrowheads="1"/>
          </p:cNvPicPr>
          <p:nvPr/>
        </p:nvPicPr>
        <p:blipFill>
          <a:blip r:embed="rId3" cstate="print"/>
          <a:srcRect/>
          <a:stretch>
            <a:fillRect/>
          </a:stretch>
        </p:blipFill>
        <p:spPr bwMode="auto">
          <a:xfrm>
            <a:off x="1619250" y="2133600"/>
            <a:ext cx="5327650" cy="3084513"/>
          </a:xfrm>
          <a:prstGeom prst="rect">
            <a:avLst/>
          </a:prstGeom>
          <a:noFill/>
          <a:ln w="9525">
            <a:noFill/>
            <a:miter lim="800000"/>
            <a:headEnd/>
            <a:tailEnd/>
          </a:ln>
        </p:spPr>
      </p:pic>
    </p:spTree>
  </p:cSld>
  <p:clrMapOvr>
    <a:masterClrMapping/>
  </p:clrMapOvr>
  <p:transition>
    <p:push/>
  </p:transition>
</p:sld>
</file>

<file path=ppt/slides/slide14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0004" name="Text Box 20"/>
          <p:cNvSpPr txBox="1">
            <a:spLocks noChangeArrowheads="1"/>
          </p:cNvSpPr>
          <p:nvPr/>
        </p:nvSpPr>
        <p:spPr bwMode="auto">
          <a:xfrm>
            <a:off x="971550" y="1557338"/>
            <a:ext cx="43211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a:t>
            </a:r>
            <a:r>
              <a:rPr kumimoji="0" lang="en-US" altLang="zh-CN" sz="2400">
                <a:effectLst>
                  <a:outerShdw blurRad="38100" dist="38100" dir="2700000" algn="tl">
                    <a:srgbClr val="C0C0C0"/>
                  </a:outerShdw>
                </a:effectLst>
              </a:rPr>
              <a:t>4</a:t>
            </a:r>
            <a:r>
              <a:rPr kumimoji="0" lang="zh-CN" altLang="en-US"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T</a:t>
            </a:r>
            <a:r>
              <a:rPr kumimoji="0" lang="en-US" altLang="zh-CN" sz="2400">
                <a:effectLst>
                  <a:outerShdw blurRad="38100" dist="38100" dir="2700000" algn="tl">
                    <a:srgbClr val="C0C0C0"/>
                  </a:outerShdw>
                </a:effectLst>
              </a:rPr>
              <a:t>=3</a:t>
            </a:r>
            <a:r>
              <a:rPr kumimoji="0" lang="zh-CN" altLang="en-US" sz="2400">
                <a:effectLst>
                  <a:outerShdw blurRad="38100" dist="38100" dir="2700000" algn="tl">
                    <a:srgbClr val="C0C0C0"/>
                  </a:outerShdw>
                </a:effectLst>
              </a:rPr>
              <a:t>秒的情况</a:t>
            </a:r>
          </a:p>
        </p:txBody>
      </p:sp>
      <p:pic>
        <p:nvPicPr>
          <p:cNvPr id="147459" name="Picture 21"/>
          <p:cNvPicPr>
            <a:picLocks noChangeAspect="1" noChangeArrowheads="1"/>
          </p:cNvPicPr>
          <p:nvPr/>
        </p:nvPicPr>
        <p:blipFill>
          <a:blip r:embed="rId3" cstate="print"/>
          <a:srcRect/>
          <a:stretch>
            <a:fillRect/>
          </a:stretch>
        </p:blipFill>
        <p:spPr bwMode="auto">
          <a:xfrm>
            <a:off x="1547813" y="2060575"/>
            <a:ext cx="5616575" cy="3194050"/>
          </a:xfrm>
          <a:prstGeom prst="rect">
            <a:avLst/>
          </a:prstGeom>
          <a:noFill/>
          <a:ln w="9525">
            <a:noFill/>
            <a:miter lim="800000"/>
            <a:headEnd/>
            <a:tailEnd/>
          </a:ln>
        </p:spPr>
      </p:pic>
    </p:spTree>
  </p:cSld>
  <p:clrMapOvr>
    <a:masterClrMapping/>
  </p:clrMapOvr>
  <p:transition>
    <p:push/>
  </p:transition>
</p:sld>
</file>

<file path=ppt/slides/slide14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1134" name="Text Box 126"/>
          <p:cNvSpPr txBox="1">
            <a:spLocks noChangeArrowheads="1"/>
          </p:cNvSpPr>
          <p:nvPr/>
        </p:nvSpPr>
        <p:spPr bwMode="auto">
          <a:xfrm>
            <a:off x="611188" y="333375"/>
            <a:ext cx="8281987" cy="641350"/>
          </a:xfrm>
          <a:prstGeom prst="rect">
            <a:avLst/>
          </a:prstGeom>
          <a:noFill/>
          <a:ln w="9525">
            <a:noFill/>
            <a:miter lim="800000"/>
            <a:headEnd/>
            <a:tailEnd/>
          </a:ln>
          <a:effectLst/>
        </p:spPr>
        <p:txBody>
          <a:bodyPr>
            <a:spAutoFit/>
          </a:bodyPr>
          <a:lstStyle/>
          <a:p>
            <a:pPr>
              <a:defRPr/>
            </a:pPr>
            <a:r>
              <a:rPr kumimoji="0" lang="en-US" altLang="zh-CN" sz="3600" dirty="0">
                <a:solidFill>
                  <a:srgbClr val="FF0000"/>
                </a:solidFill>
                <a:effectLst>
                  <a:outerShdw blurRad="38100" dist="38100" dir="2700000" algn="tl">
                    <a:srgbClr val="C0C0C0"/>
                  </a:outerShdw>
                </a:effectLst>
                <a:latin typeface="Arial" charset="0"/>
                <a:ea typeface="方正大黑简体" pitchFamily="2" charset="-122"/>
              </a:rPr>
              <a:t>3.8 </a:t>
            </a:r>
            <a:r>
              <a:rPr kumimoji="0" lang="zh-CN" altLang="en-US" sz="3600" dirty="0">
                <a:solidFill>
                  <a:srgbClr val="FF0000"/>
                </a:solidFill>
                <a:effectLst>
                  <a:outerShdw blurRad="38100" dist="38100" dir="2700000" algn="tl">
                    <a:srgbClr val="C0C0C0"/>
                  </a:outerShdw>
                </a:effectLst>
                <a:latin typeface="Arial" charset="0"/>
                <a:ea typeface="方正大黑简体" pitchFamily="2" charset="-122"/>
              </a:rPr>
              <a:t>计算机控制系统的频域特性分析</a:t>
            </a:r>
          </a:p>
        </p:txBody>
      </p:sp>
      <p:sp>
        <p:nvSpPr>
          <p:cNvPr id="171135" name="Text Box 127"/>
          <p:cNvSpPr txBox="1">
            <a:spLocks noChangeArrowheads="1"/>
          </p:cNvSpPr>
          <p:nvPr/>
        </p:nvSpPr>
        <p:spPr bwMode="auto">
          <a:xfrm>
            <a:off x="735013" y="1382713"/>
            <a:ext cx="5781675" cy="519112"/>
          </a:xfrm>
          <a:prstGeom prst="rect">
            <a:avLst/>
          </a:prstGeom>
          <a:noFill/>
          <a:ln w="9525" algn="ctr">
            <a:noFill/>
            <a:miter lim="800000"/>
            <a:headEnd/>
            <a:tailEnd/>
          </a:ln>
          <a:effectLst/>
        </p:spPr>
        <p:txBody>
          <a:bodyPr>
            <a:spAutoFit/>
          </a:bodyPr>
          <a:lstStyle/>
          <a:p>
            <a:pPr>
              <a:defRPr/>
            </a:pPr>
            <a:r>
              <a:rPr kumimoji="0" lang="en-US" altLang="zh-CN" sz="2800" dirty="0">
                <a:solidFill>
                  <a:srgbClr val="0000FF"/>
                </a:solidFill>
                <a:effectLst>
                  <a:outerShdw blurRad="38100" dist="38100" dir="2700000" algn="tl">
                    <a:srgbClr val="C0C0C0"/>
                  </a:outerShdw>
                </a:effectLst>
              </a:rPr>
              <a:t>3.8.1 </a:t>
            </a:r>
            <a:r>
              <a:rPr kumimoji="0" lang="zh-CN" altLang="en-US" sz="2800" dirty="0">
                <a:solidFill>
                  <a:srgbClr val="0000FF"/>
                </a:solidFill>
                <a:effectLst>
                  <a:outerShdw blurRad="38100" dist="38100" dir="2700000" algn="tl">
                    <a:srgbClr val="C0C0C0"/>
                  </a:outerShdw>
                </a:effectLst>
              </a:rPr>
              <a:t>离散系统的频域描述</a:t>
            </a:r>
          </a:p>
        </p:txBody>
      </p:sp>
      <p:sp>
        <p:nvSpPr>
          <p:cNvPr id="171136" name="Text Box 128"/>
          <p:cNvSpPr txBox="1">
            <a:spLocks noChangeArrowheads="1"/>
          </p:cNvSpPr>
          <p:nvPr/>
        </p:nvSpPr>
        <p:spPr bwMode="auto">
          <a:xfrm>
            <a:off x="900113" y="2060575"/>
            <a:ext cx="7148512" cy="2647950"/>
          </a:xfrm>
          <a:prstGeom prst="rect">
            <a:avLst/>
          </a:prstGeom>
          <a:noFill/>
          <a:ln w="9525" algn="ctr">
            <a:noFill/>
            <a:miter lim="800000"/>
            <a:headEnd/>
            <a:tailEnd/>
          </a:ln>
          <a:effectLst/>
        </p:spPr>
        <p:txBody>
          <a:bodyPr>
            <a:spAutoFit/>
          </a:bodyPr>
          <a:lstStyle/>
          <a:p>
            <a:pPr>
              <a:defRPr/>
            </a:pPr>
            <a:r>
              <a:rPr kumimoji="0" lang="zh-CN" altLang="en-US" sz="2400" dirty="0">
                <a:solidFill>
                  <a:schemeClr val="accent2"/>
                </a:solidFill>
                <a:effectLst>
                  <a:outerShdw blurRad="38100" dist="38100" dir="2700000" algn="tl">
                    <a:srgbClr val="C0C0C0"/>
                  </a:outerShdw>
                </a:effectLst>
              </a:rPr>
              <a:t>连续系统频率特性：</a:t>
            </a:r>
          </a:p>
          <a:p>
            <a:pPr>
              <a:defRPr/>
            </a:pPr>
            <a:r>
              <a:rPr kumimoji="0" lang="zh-CN" altLang="en-US" sz="2400" dirty="0">
                <a:effectLst>
                  <a:outerShdw blurRad="38100" dist="38100" dir="2700000" algn="tl">
                    <a:srgbClr val="C0C0C0"/>
                  </a:outerShdw>
                </a:effectLst>
              </a:rPr>
              <a:t>    在正弦信号作用下，系统或环节的稳态输出与输入的复数比随输入信号频率变化的特性。</a:t>
            </a:r>
          </a:p>
          <a:p>
            <a:pPr>
              <a:defRPr/>
            </a:pPr>
            <a:endParaRPr kumimoji="0" lang="zh-CN" altLang="en-US" sz="2400" dirty="0">
              <a:effectLst>
                <a:outerShdw blurRad="38100" dist="38100" dir="2700000" algn="tl">
                  <a:srgbClr val="C0C0C0"/>
                </a:outerShdw>
              </a:effectLst>
            </a:endParaRPr>
          </a:p>
          <a:p>
            <a:pPr>
              <a:defRPr/>
            </a:pPr>
            <a:r>
              <a:rPr kumimoji="0" lang="zh-CN" altLang="en-US" sz="2400" dirty="0">
                <a:solidFill>
                  <a:schemeClr val="accent2"/>
                </a:solidFill>
                <a:effectLst>
                  <a:outerShdw blurRad="38100" dist="38100" dir="2700000" algn="tl">
                    <a:srgbClr val="C0C0C0"/>
                  </a:outerShdw>
                </a:effectLst>
              </a:rPr>
              <a:t>离散系统频率特性：</a:t>
            </a:r>
          </a:p>
          <a:p>
            <a:pPr>
              <a:defRPr/>
            </a:pPr>
            <a:r>
              <a:rPr kumimoji="0" lang="zh-CN" altLang="en-US" sz="2400" dirty="0">
                <a:effectLst>
                  <a:outerShdw blurRad="38100" dist="38100" dir="2700000" algn="tl">
                    <a:srgbClr val="C0C0C0"/>
                  </a:outerShdw>
                </a:effectLst>
              </a:rPr>
              <a:t>与连续系统相同，但此时输入及输出信号均取离散值。</a:t>
            </a:r>
          </a:p>
        </p:txBody>
      </p:sp>
    </p:spTree>
  </p:cSld>
  <p:clrMapOvr>
    <a:masterClrMapping/>
  </p:clrMapOvr>
  <p:transition>
    <p:push/>
  </p:transition>
</p:sld>
</file>

<file path=ppt/slides/slide15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2059" name="Text Box 27"/>
          <p:cNvSpPr txBox="1">
            <a:spLocks noChangeArrowheads="1"/>
          </p:cNvSpPr>
          <p:nvPr/>
        </p:nvSpPr>
        <p:spPr bwMode="auto">
          <a:xfrm>
            <a:off x="1042988" y="1628775"/>
            <a:ext cx="57086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由连续系统的频率特性：</a:t>
            </a:r>
          </a:p>
        </p:txBody>
      </p:sp>
      <p:sp>
        <p:nvSpPr>
          <p:cNvPr id="172060" name="Rectangle 28"/>
          <p:cNvSpPr>
            <a:spLocks noChangeArrowheads="1"/>
          </p:cNvSpPr>
          <p:nvPr/>
        </p:nvSpPr>
        <p:spPr bwMode="auto">
          <a:xfrm>
            <a:off x="19050" y="30940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6258" name="Object 29"/>
          <p:cNvGraphicFramePr>
            <a:graphicFrameLocks noChangeAspect="1"/>
          </p:cNvGraphicFramePr>
          <p:nvPr/>
        </p:nvGraphicFramePr>
        <p:xfrm>
          <a:off x="4591050" y="1628775"/>
          <a:ext cx="2592388" cy="519113"/>
        </p:xfrm>
        <a:graphic>
          <a:graphicData uri="http://schemas.openxmlformats.org/presentationml/2006/ole">
            <mc:AlternateContent xmlns:mc="http://schemas.openxmlformats.org/markup-compatibility/2006">
              <mc:Choice xmlns:v="urn:schemas-microsoft-com:vml" Requires="v">
                <p:oleObj name="Equation" r:id="rId3" imgW="1193800" imgH="241300" progId="Equation.DSMT4">
                  <p:embed/>
                </p:oleObj>
              </mc:Choice>
              <mc:Fallback>
                <p:oleObj name="Equation" r:id="rId3" imgW="1193800" imgH="2413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4591050" y="1628775"/>
                        <a:ext cx="2592388" cy="51911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2062" name="Text Box 30"/>
          <p:cNvSpPr txBox="1">
            <a:spLocks noChangeArrowheads="1"/>
          </p:cNvSpPr>
          <p:nvPr/>
        </p:nvSpPr>
        <p:spPr bwMode="auto">
          <a:xfrm>
            <a:off x="1114425" y="2492375"/>
            <a:ext cx="57816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可以推得离散系统的频率特性：</a:t>
            </a:r>
          </a:p>
        </p:txBody>
      </p:sp>
      <p:sp>
        <p:nvSpPr>
          <p:cNvPr id="172063" name="Rectangle 31"/>
          <p:cNvSpPr>
            <a:spLocks noChangeArrowheads="1"/>
          </p:cNvSpPr>
          <p:nvPr/>
        </p:nvSpPr>
        <p:spPr bwMode="auto">
          <a:xfrm>
            <a:off x="19050" y="30845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6259" name="Object 32"/>
          <p:cNvGraphicFramePr>
            <a:graphicFrameLocks noChangeAspect="1"/>
          </p:cNvGraphicFramePr>
          <p:nvPr/>
        </p:nvGraphicFramePr>
        <p:xfrm>
          <a:off x="5599113" y="2420938"/>
          <a:ext cx="2881312" cy="560387"/>
        </p:xfrm>
        <a:graphic>
          <a:graphicData uri="http://schemas.openxmlformats.org/presentationml/2006/ole">
            <mc:AlternateContent xmlns:mc="http://schemas.openxmlformats.org/markup-compatibility/2006">
              <mc:Choice xmlns:v="urn:schemas-microsoft-com:vml" Requires="v">
                <p:oleObj name="Equation" r:id="rId5" imgW="1320227" imgH="253890" progId="Equation.DSMT4">
                  <p:embed/>
                </p:oleObj>
              </mc:Choice>
              <mc:Fallback>
                <p:oleObj name="Equation" r:id="rId5" imgW="1320227" imgH="25389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599113" y="2420938"/>
                        <a:ext cx="2881312" cy="5603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2065" name="Text Box 33"/>
          <p:cNvSpPr txBox="1">
            <a:spLocks noChangeArrowheads="1"/>
          </p:cNvSpPr>
          <p:nvPr/>
        </p:nvSpPr>
        <p:spPr bwMode="auto">
          <a:xfrm>
            <a:off x="1114425" y="3284538"/>
            <a:ext cx="61404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正弦脉冲传递函数</a:t>
            </a:r>
            <a:r>
              <a:rPr kumimoji="0" lang="zh-CN" altLang="en-US" sz="2400">
                <a:effectLst>
                  <a:outerShdw blurRad="38100" dist="38100" dir="2700000" algn="tl">
                    <a:srgbClr val="C0C0C0"/>
                  </a:outerShdw>
                </a:effectLst>
              </a:rPr>
              <a:t>，其表达式为：</a:t>
            </a:r>
          </a:p>
        </p:txBody>
      </p:sp>
      <p:sp>
        <p:nvSpPr>
          <p:cNvPr id="172066" name="Line 34"/>
          <p:cNvSpPr>
            <a:spLocks noChangeShapeType="1"/>
          </p:cNvSpPr>
          <p:nvPr/>
        </p:nvSpPr>
        <p:spPr bwMode="auto">
          <a:xfrm flipV="1">
            <a:off x="2430463" y="2852738"/>
            <a:ext cx="3455987" cy="431800"/>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72067" name="Rectangle 35"/>
          <p:cNvSpPr>
            <a:spLocks noChangeArrowheads="1"/>
          </p:cNvSpPr>
          <p:nvPr/>
        </p:nvSpPr>
        <p:spPr bwMode="auto">
          <a:xfrm>
            <a:off x="19050" y="3098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6260" name="Object 36"/>
          <p:cNvGraphicFramePr>
            <a:graphicFrameLocks noChangeAspect="1"/>
          </p:cNvGraphicFramePr>
          <p:nvPr/>
        </p:nvGraphicFramePr>
        <p:xfrm>
          <a:off x="1998663" y="3860800"/>
          <a:ext cx="4321175" cy="511175"/>
        </p:xfrm>
        <a:graphic>
          <a:graphicData uri="http://schemas.openxmlformats.org/presentationml/2006/ole">
            <mc:AlternateContent xmlns:mc="http://schemas.openxmlformats.org/markup-compatibility/2006">
              <mc:Choice xmlns:v="urn:schemas-microsoft-com:vml" Requires="v">
                <p:oleObj name="Equation" r:id="rId7" imgW="1930400" imgH="228600" progId="Equation.DSMT4">
                  <p:embed/>
                </p:oleObj>
              </mc:Choice>
              <mc:Fallback>
                <p:oleObj name="Equation" r:id="rId7" imgW="1930400" imgH="2286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98663" y="3860800"/>
                        <a:ext cx="4321175" cy="5111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2069" name="Text Box 37"/>
          <p:cNvSpPr txBox="1">
            <a:spLocks noChangeArrowheads="1"/>
          </p:cNvSpPr>
          <p:nvPr/>
        </p:nvSpPr>
        <p:spPr bwMode="auto">
          <a:xfrm>
            <a:off x="3222625" y="4797425"/>
            <a:ext cx="2016125"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幅频特性</a:t>
            </a:r>
          </a:p>
        </p:txBody>
      </p:sp>
      <p:sp>
        <p:nvSpPr>
          <p:cNvPr id="172070" name="Line 38"/>
          <p:cNvSpPr>
            <a:spLocks noChangeShapeType="1"/>
          </p:cNvSpPr>
          <p:nvPr/>
        </p:nvSpPr>
        <p:spPr bwMode="auto">
          <a:xfrm flipV="1">
            <a:off x="3870325" y="4292600"/>
            <a:ext cx="215900" cy="504825"/>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72071" name="Text Box 39"/>
          <p:cNvSpPr txBox="1">
            <a:spLocks noChangeArrowheads="1"/>
          </p:cNvSpPr>
          <p:nvPr/>
        </p:nvSpPr>
        <p:spPr bwMode="auto">
          <a:xfrm>
            <a:off x="5075238" y="4797425"/>
            <a:ext cx="2684462" cy="457200"/>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相频特性</a:t>
            </a:r>
          </a:p>
        </p:txBody>
      </p:sp>
      <p:sp>
        <p:nvSpPr>
          <p:cNvPr id="172072" name="Line 40"/>
          <p:cNvSpPr>
            <a:spLocks noChangeShapeType="1"/>
          </p:cNvSpPr>
          <p:nvPr/>
        </p:nvSpPr>
        <p:spPr bwMode="auto">
          <a:xfrm flipH="1" flipV="1">
            <a:off x="5527675" y="4365625"/>
            <a:ext cx="215900" cy="431800"/>
          </a:xfrm>
          <a:prstGeom prst="line">
            <a:avLst/>
          </a:prstGeom>
          <a:noFill/>
          <a:ln w="9525">
            <a:solidFill>
              <a:schemeClr val="tx1"/>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Tree>
  </p:cSld>
  <p:clrMapOvr>
    <a:masterClrMapping/>
  </p:clrMapOvr>
  <p:transition>
    <p:push/>
  </p:transition>
</p:sld>
</file>

<file path=ppt/slides/slide15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73068" name="Text Box 12"/>
          <p:cNvSpPr txBox="1">
            <a:spLocks noChangeArrowheads="1"/>
          </p:cNvSpPr>
          <p:nvPr/>
        </p:nvSpPr>
        <p:spPr bwMode="auto">
          <a:xfrm>
            <a:off x="1404938" y="2781300"/>
            <a:ext cx="626427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因此                   是 </a:t>
            </a:r>
            <a:r>
              <a:rPr kumimoji="0" lang="el-GR" altLang="zh-CN" sz="2400" i="1">
                <a:effectLst>
                  <a:outerShdw blurRad="38100" dist="38100" dir="2700000" algn="tl">
                    <a:srgbClr val="C0C0C0"/>
                  </a:outerShdw>
                </a:effectLst>
                <a:cs typeface="Times New Roman" pitchFamily="18" charset="0"/>
              </a:rPr>
              <a:t>ω</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的周期函数。</a:t>
            </a:r>
          </a:p>
        </p:txBody>
      </p:sp>
      <p:sp>
        <p:nvSpPr>
          <p:cNvPr id="173069" name="Text Box 13"/>
          <p:cNvSpPr txBox="1">
            <a:spLocks noChangeArrowheads="1"/>
          </p:cNvSpPr>
          <p:nvPr/>
        </p:nvSpPr>
        <p:spPr bwMode="auto">
          <a:xfrm>
            <a:off x="1476375" y="1989138"/>
            <a:ext cx="3260725"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由于</a:t>
            </a:r>
          </a:p>
        </p:txBody>
      </p:sp>
      <p:sp>
        <p:nvSpPr>
          <p:cNvPr id="173070" name="Rectangle 14"/>
          <p:cNvSpPr>
            <a:spLocks noChangeArrowheads="1"/>
          </p:cNvSpPr>
          <p:nvPr/>
        </p:nvSpPr>
        <p:spPr bwMode="auto">
          <a:xfrm>
            <a:off x="288925" y="31130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7282" name="Object 15"/>
          <p:cNvGraphicFramePr>
            <a:graphicFrameLocks noChangeAspect="1"/>
          </p:cNvGraphicFramePr>
          <p:nvPr/>
        </p:nvGraphicFramePr>
        <p:xfrm>
          <a:off x="2773363" y="1989138"/>
          <a:ext cx="4248150" cy="492125"/>
        </p:xfrm>
        <a:graphic>
          <a:graphicData uri="http://schemas.openxmlformats.org/presentationml/2006/ole">
            <mc:AlternateContent xmlns:mc="http://schemas.openxmlformats.org/markup-compatibility/2006">
              <mc:Choice xmlns:v="urn:schemas-microsoft-com:vml" Requires="v">
                <p:oleObj name="Equation" r:id="rId3" imgW="1726451" imgH="203112" progId="Equation.DSMT4">
                  <p:embed/>
                </p:oleObj>
              </mc:Choice>
              <mc:Fallback>
                <p:oleObj name="Equation" r:id="rId3" imgW="1726451" imgH="203112"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773363" y="1989138"/>
                        <a:ext cx="4248150" cy="492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3072" name="Rectangle 16"/>
          <p:cNvSpPr>
            <a:spLocks noChangeArrowheads="1"/>
          </p:cNvSpPr>
          <p:nvPr/>
        </p:nvSpPr>
        <p:spPr bwMode="auto">
          <a:xfrm>
            <a:off x="288925" y="3098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7283" name="Object 17"/>
          <p:cNvGraphicFramePr>
            <a:graphicFrameLocks noChangeAspect="1"/>
          </p:cNvGraphicFramePr>
          <p:nvPr/>
        </p:nvGraphicFramePr>
        <p:xfrm>
          <a:off x="2339975" y="2781300"/>
          <a:ext cx="1081088" cy="463550"/>
        </p:xfrm>
        <a:graphic>
          <a:graphicData uri="http://schemas.openxmlformats.org/presentationml/2006/ole">
            <mc:AlternateContent xmlns:mc="http://schemas.openxmlformats.org/markup-compatibility/2006">
              <mc:Choice xmlns:v="urn:schemas-microsoft-com:vml" Requires="v">
                <p:oleObj name="Equation" r:id="rId5" imgW="533169" imgH="228501" progId="Equation.DSMT4">
                  <p:embed/>
                </p:oleObj>
              </mc:Choice>
              <mc:Fallback>
                <p:oleObj name="Equation" r:id="rId5" imgW="533169" imgH="228501"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339975" y="2781300"/>
                        <a:ext cx="1081088" cy="4635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3074" name="Rectangle 18"/>
          <p:cNvSpPr>
            <a:spLocks noChangeArrowheads="1"/>
          </p:cNvSpPr>
          <p:nvPr/>
        </p:nvSpPr>
        <p:spPr bwMode="auto">
          <a:xfrm>
            <a:off x="288925" y="30988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7284" name="Object 19"/>
          <p:cNvGraphicFramePr>
            <a:graphicFrameLocks noChangeAspect="1"/>
          </p:cNvGraphicFramePr>
          <p:nvPr/>
        </p:nvGraphicFramePr>
        <p:xfrm>
          <a:off x="4429125" y="3717925"/>
          <a:ext cx="1657350" cy="530225"/>
        </p:xfrm>
        <a:graphic>
          <a:graphicData uri="http://schemas.openxmlformats.org/presentationml/2006/ole">
            <mc:AlternateContent xmlns:mc="http://schemas.openxmlformats.org/markup-compatibility/2006">
              <mc:Choice xmlns:v="urn:schemas-microsoft-com:vml" Requires="v">
                <p:oleObj name="Equation" r:id="rId7" imgW="711200" imgH="228600" progId="Equation.DSMT4">
                  <p:embed/>
                </p:oleObj>
              </mc:Choice>
              <mc:Fallback>
                <p:oleObj name="Equation" r:id="rId7" imgW="711200" imgH="2286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4429125" y="3717925"/>
                        <a:ext cx="1657350" cy="5302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73076" name="Text Box 20"/>
          <p:cNvSpPr txBox="1">
            <a:spLocks noChangeArrowheads="1"/>
          </p:cNvSpPr>
          <p:nvPr/>
        </p:nvSpPr>
        <p:spPr bwMode="auto">
          <a:xfrm>
            <a:off x="1476375" y="3717925"/>
            <a:ext cx="318770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周期为采样频率：</a:t>
            </a:r>
          </a:p>
        </p:txBody>
      </p:sp>
    </p:spTree>
  </p:cSld>
  <p:clrMapOvr>
    <a:masterClrMapping/>
  </p:clrMapOvr>
  <p:transition>
    <p:push/>
  </p:transition>
</p:sld>
</file>

<file path=ppt/slides/slide15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0238" name="Text Box 14"/>
          <p:cNvSpPr txBox="1">
            <a:spLocks noChangeArrowheads="1"/>
          </p:cNvSpPr>
          <p:nvPr/>
        </p:nvSpPr>
        <p:spPr bwMode="auto">
          <a:xfrm>
            <a:off x="827088" y="404813"/>
            <a:ext cx="6840537" cy="519112"/>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3.8.2 </a:t>
            </a:r>
            <a:r>
              <a:rPr kumimoji="0" lang="zh-CN" altLang="en-US" sz="2800">
                <a:solidFill>
                  <a:srgbClr val="0000FF"/>
                </a:solidFill>
                <a:effectLst>
                  <a:outerShdw blurRad="38100" dist="38100" dir="2700000" algn="tl">
                    <a:srgbClr val="C0C0C0"/>
                  </a:outerShdw>
                </a:effectLst>
              </a:rPr>
              <a:t>离散系统频域稳定性分析</a:t>
            </a:r>
          </a:p>
        </p:txBody>
      </p:sp>
      <p:sp>
        <p:nvSpPr>
          <p:cNvPr id="180239" name="Text Box 15"/>
          <p:cNvSpPr txBox="1">
            <a:spLocks noChangeArrowheads="1"/>
          </p:cNvSpPr>
          <p:nvPr/>
        </p:nvSpPr>
        <p:spPr bwMode="auto">
          <a:xfrm>
            <a:off x="827088" y="1917700"/>
            <a:ext cx="75803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奈奎斯特（</a:t>
            </a:r>
            <a:r>
              <a:rPr kumimoji="0" lang="en-US" altLang="zh-CN" sz="2400">
                <a:solidFill>
                  <a:srgbClr val="0000FF"/>
                </a:solidFill>
                <a:effectLst>
                  <a:outerShdw blurRad="38100" dist="38100" dir="2700000" algn="tl">
                    <a:srgbClr val="C0C0C0"/>
                  </a:outerShdw>
                </a:effectLst>
              </a:rPr>
              <a:t>Nyquist</a:t>
            </a:r>
            <a:r>
              <a:rPr kumimoji="0" lang="zh-CN" altLang="en-US" sz="2400">
                <a:solidFill>
                  <a:srgbClr val="0000FF"/>
                </a:solidFill>
                <a:effectLst>
                  <a:outerShdw blurRad="38100" dist="38100" dir="2700000" algn="tl">
                    <a:srgbClr val="C0C0C0"/>
                  </a:outerShdw>
                </a:effectLst>
              </a:rPr>
              <a:t>）稳定判据（简称奈氏判据）：</a:t>
            </a:r>
          </a:p>
        </p:txBody>
      </p:sp>
      <p:sp>
        <p:nvSpPr>
          <p:cNvPr id="180240" name="Text Box 16"/>
          <p:cNvSpPr txBox="1">
            <a:spLocks noChangeArrowheads="1"/>
          </p:cNvSpPr>
          <p:nvPr/>
        </p:nvSpPr>
        <p:spPr bwMode="auto">
          <a:xfrm>
            <a:off x="900113" y="2638425"/>
            <a:ext cx="7292975" cy="9683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effectLst>
                  <a:outerShdw blurRad="38100" dist="38100" dir="2700000" algn="tl">
                    <a:srgbClr val="C0C0C0"/>
                  </a:outerShdw>
                </a:effectLst>
              </a:rPr>
              <a:t>依据复变函数的幅角原理，利用开环频率特性来判别闭环系统的稳定性。</a:t>
            </a:r>
          </a:p>
        </p:txBody>
      </p:sp>
    </p:spTree>
  </p:cSld>
  <p:clrMapOvr>
    <a:masterClrMapping/>
  </p:clrMapOvr>
  <p:transition>
    <p:push/>
  </p:transition>
</p:sld>
</file>

<file path=ppt/slides/slide15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1286" name="Text Box 38"/>
          <p:cNvSpPr txBox="1">
            <a:spLocks noChangeArrowheads="1"/>
          </p:cNvSpPr>
          <p:nvPr/>
        </p:nvSpPr>
        <p:spPr bwMode="auto">
          <a:xfrm>
            <a:off x="900113" y="1484313"/>
            <a:ext cx="6572250"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离散系统开环脉冲传递函数为：</a:t>
            </a:r>
          </a:p>
        </p:txBody>
      </p:sp>
      <p:sp>
        <p:nvSpPr>
          <p:cNvPr id="181287" name="Rectangle 39"/>
          <p:cNvSpPr>
            <a:spLocks noChangeArrowheads="1"/>
          </p:cNvSpPr>
          <p:nvPr/>
        </p:nvSpPr>
        <p:spPr bwMode="auto">
          <a:xfrm>
            <a:off x="0" y="28590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8306" name="Object 40"/>
          <p:cNvGraphicFramePr>
            <a:graphicFrameLocks noChangeAspect="1"/>
          </p:cNvGraphicFramePr>
          <p:nvPr/>
        </p:nvGraphicFramePr>
        <p:xfrm>
          <a:off x="5651500" y="1339850"/>
          <a:ext cx="1584325" cy="704850"/>
        </p:xfrm>
        <a:graphic>
          <a:graphicData uri="http://schemas.openxmlformats.org/presentationml/2006/ole">
            <mc:AlternateContent xmlns:mc="http://schemas.openxmlformats.org/markup-compatibility/2006">
              <mc:Choice xmlns:v="urn:schemas-microsoft-com:vml" Requires="v">
                <p:oleObj name="Equation" r:id="rId3" imgW="939800" imgH="419100" progId="Equation.DSMT4">
                  <p:embed/>
                </p:oleObj>
              </mc:Choice>
              <mc:Fallback>
                <p:oleObj name="Equation" r:id="rId3" imgW="939800" imgH="4191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651500" y="1339850"/>
                        <a:ext cx="1584325" cy="7048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1289" name="Text Box 41"/>
          <p:cNvSpPr txBox="1">
            <a:spLocks noChangeArrowheads="1"/>
          </p:cNvSpPr>
          <p:nvPr/>
        </p:nvSpPr>
        <p:spPr bwMode="auto">
          <a:xfrm>
            <a:off x="900113" y="1989138"/>
            <a:ext cx="6408737"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单位反馈系统的闭环脉冲传递函数为：</a:t>
            </a:r>
          </a:p>
        </p:txBody>
      </p:sp>
      <p:sp>
        <p:nvSpPr>
          <p:cNvPr id="181290" name="Rectangle 42"/>
          <p:cNvSpPr>
            <a:spLocks noChangeArrowheads="1"/>
          </p:cNvSpPr>
          <p:nvPr/>
        </p:nvSpPr>
        <p:spPr bwMode="auto">
          <a:xfrm>
            <a:off x="0" y="28543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8307" name="Object 43"/>
          <p:cNvGraphicFramePr>
            <a:graphicFrameLocks noChangeAspect="1"/>
          </p:cNvGraphicFramePr>
          <p:nvPr/>
        </p:nvGraphicFramePr>
        <p:xfrm>
          <a:off x="2124075" y="2493963"/>
          <a:ext cx="4392613" cy="719137"/>
        </p:xfrm>
        <a:graphic>
          <a:graphicData uri="http://schemas.openxmlformats.org/presentationml/2006/ole">
            <mc:AlternateContent xmlns:mc="http://schemas.openxmlformats.org/markup-compatibility/2006">
              <mc:Choice xmlns:v="urn:schemas-microsoft-com:vml" Requires="v">
                <p:oleObj name="Equation" r:id="rId5" imgW="2616200" imgH="431800" progId="Equation.DSMT4">
                  <p:embed/>
                </p:oleObj>
              </mc:Choice>
              <mc:Fallback>
                <p:oleObj name="Equation" r:id="rId5" imgW="2616200" imgH="431800"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124075" y="2493963"/>
                        <a:ext cx="4392613" cy="71913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1292" name="Text Box 44"/>
          <p:cNvSpPr txBox="1">
            <a:spLocks noChangeArrowheads="1"/>
          </p:cNvSpPr>
          <p:nvPr/>
        </p:nvSpPr>
        <p:spPr bwMode="auto">
          <a:xfrm>
            <a:off x="971550" y="3213100"/>
            <a:ext cx="455771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系统闭环特征方程为：</a:t>
            </a:r>
          </a:p>
        </p:txBody>
      </p:sp>
      <p:sp>
        <p:nvSpPr>
          <p:cNvPr id="181293" name="Rectangle 45"/>
          <p:cNvSpPr>
            <a:spLocks noChangeArrowheads="1"/>
          </p:cNvSpPr>
          <p:nvPr/>
        </p:nvSpPr>
        <p:spPr bwMode="auto">
          <a:xfrm>
            <a:off x="0" y="28590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8308" name="Object 46"/>
          <p:cNvGraphicFramePr>
            <a:graphicFrameLocks noChangeAspect="1"/>
          </p:cNvGraphicFramePr>
          <p:nvPr/>
        </p:nvGraphicFramePr>
        <p:xfrm>
          <a:off x="1928813" y="3789363"/>
          <a:ext cx="4897437" cy="758825"/>
        </p:xfrm>
        <a:graphic>
          <a:graphicData uri="http://schemas.openxmlformats.org/presentationml/2006/ole">
            <mc:AlternateContent xmlns:mc="http://schemas.openxmlformats.org/markup-compatibility/2006">
              <mc:Choice xmlns:v="urn:schemas-microsoft-com:vml" Requires="v">
                <p:oleObj name="Equation" r:id="rId7" imgW="2705100" imgH="419100" progId="Equation.DSMT4">
                  <p:embed/>
                </p:oleObj>
              </mc:Choice>
              <mc:Fallback>
                <p:oleObj name="Equation" r:id="rId7" imgW="2705100" imgH="4191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928813" y="3789363"/>
                        <a:ext cx="4897437" cy="7588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1295" name="Text Box 47"/>
          <p:cNvSpPr txBox="1">
            <a:spLocks noChangeArrowheads="1"/>
          </p:cNvSpPr>
          <p:nvPr/>
        </p:nvSpPr>
        <p:spPr bwMode="auto">
          <a:xfrm>
            <a:off x="5148263" y="4652963"/>
            <a:ext cx="2900362" cy="396875"/>
          </a:xfrm>
          <a:prstGeom prst="rect">
            <a:avLst/>
          </a:prstGeom>
          <a:noFill/>
          <a:ln w="9525" algn="ctr">
            <a:noFill/>
            <a:miter lim="800000"/>
            <a:headEnd/>
            <a:tailEnd/>
          </a:ln>
          <a:effectLst/>
        </p:spPr>
        <p:txBody>
          <a:bodyPr>
            <a:spAutoFit/>
          </a:bodyPr>
          <a:lstStyle/>
          <a:p>
            <a:pPr>
              <a:defRPr/>
            </a:pPr>
            <a:r>
              <a:rPr kumimoji="0" lang="zh-CN" altLang="en-US">
                <a:solidFill>
                  <a:srgbClr val="0000FF"/>
                </a:solidFill>
                <a:effectLst>
                  <a:outerShdw blurRad="38100" dist="38100" dir="2700000" algn="tl">
                    <a:srgbClr val="C0C0C0"/>
                  </a:outerShdw>
                </a:effectLst>
              </a:rPr>
              <a:t>开环特征多项式</a:t>
            </a:r>
          </a:p>
        </p:txBody>
      </p:sp>
      <p:sp>
        <p:nvSpPr>
          <p:cNvPr id="181296" name="Line 48"/>
          <p:cNvSpPr>
            <a:spLocks noChangeShapeType="1"/>
          </p:cNvSpPr>
          <p:nvPr/>
        </p:nvSpPr>
        <p:spPr bwMode="auto">
          <a:xfrm flipV="1">
            <a:off x="5816600" y="4510088"/>
            <a:ext cx="144463" cy="215900"/>
          </a:xfrm>
          <a:prstGeom prst="line">
            <a:avLst/>
          </a:prstGeom>
          <a:noFill/>
          <a:ln w="9525">
            <a:solidFill>
              <a:srgbClr val="0000FF"/>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81297" name="Text Box 49"/>
          <p:cNvSpPr txBox="1">
            <a:spLocks noChangeArrowheads="1"/>
          </p:cNvSpPr>
          <p:nvPr/>
        </p:nvSpPr>
        <p:spPr bwMode="auto">
          <a:xfrm>
            <a:off x="5651500" y="3213100"/>
            <a:ext cx="2971800" cy="396875"/>
          </a:xfrm>
          <a:prstGeom prst="rect">
            <a:avLst/>
          </a:prstGeom>
          <a:noFill/>
          <a:ln w="9525" algn="ctr">
            <a:noFill/>
            <a:miter lim="800000"/>
            <a:headEnd/>
            <a:tailEnd/>
          </a:ln>
          <a:effectLst/>
        </p:spPr>
        <p:txBody>
          <a:bodyPr>
            <a:spAutoFit/>
          </a:bodyPr>
          <a:lstStyle/>
          <a:p>
            <a:pPr>
              <a:defRPr/>
            </a:pPr>
            <a:r>
              <a:rPr kumimoji="0" lang="zh-CN" altLang="en-US">
                <a:solidFill>
                  <a:srgbClr val="FF0000"/>
                </a:solidFill>
                <a:effectLst>
                  <a:outerShdw blurRad="38100" dist="38100" dir="2700000" algn="tl">
                    <a:srgbClr val="C0C0C0"/>
                  </a:outerShdw>
                </a:effectLst>
              </a:rPr>
              <a:t>闭环特征多项式</a:t>
            </a:r>
          </a:p>
        </p:txBody>
      </p:sp>
      <p:sp>
        <p:nvSpPr>
          <p:cNvPr id="181298" name="Line 50"/>
          <p:cNvSpPr>
            <a:spLocks noChangeShapeType="1"/>
          </p:cNvSpPr>
          <p:nvPr/>
        </p:nvSpPr>
        <p:spPr bwMode="auto">
          <a:xfrm flipH="1">
            <a:off x="6176963" y="3644900"/>
            <a:ext cx="215900" cy="215900"/>
          </a:xfrm>
          <a:prstGeom prst="line">
            <a:avLst/>
          </a:prstGeom>
          <a:noFill/>
          <a:ln w="9525">
            <a:solidFill>
              <a:schemeClr val="accent2"/>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81299" name="Text Box 51"/>
          <p:cNvSpPr txBox="1">
            <a:spLocks noChangeArrowheads="1"/>
          </p:cNvSpPr>
          <p:nvPr/>
        </p:nvSpPr>
        <p:spPr bwMode="auto">
          <a:xfrm>
            <a:off x="971550" y="5013325"/>
            <a:ext cx="7345363" cy="822325"/>
          </a:xfrm>
          <a:prstGeom prst="rect">
            <a:avLst/>
          </a:prstGeom>
          <a:noFill/>
          <a:ln w="9525" algn="ctr">
            <a:noFill/>
            <a:miter lim="800000"/>
            <a:headEnd/>
            <a:tailEnd/>
          </a:ln>
          <a:effectLst/>
        </p:spPr>
        <p:txBody>
          <a:bodyPr>
            <a:spAutoFit/>
          </a:bodyPr>
          <a:lstStyle/>
          <a:p>
            <a:pPr>
              <a:defRPr/>
            </a:pPr>
            <a:r>
              <a:rPr kumimoji="0" lang="zh-CN" altLang="en-US" sz="2400">
                <a:solidFill>
                  <a:srgbClr val="FF0000"/>
                </a:solidFill>
                <a:effectLst>
                  <a:outerShdw blurRad="38100" dist="38100" dir="2700000" algn="tl">
                    <a:srgbClr val="C0C0C0"/>
                  </a:outerShdw>
                </a:effectLst>
              </a:rPr>
              <a:t>闭环系统稳定的充要条件是：</a:t>
            </a:r>
            <a:r>
              <a:rPr kumimoji="0" lang="en-US" altLang="zh-CN" sz="2400" i="1">
                <a:solidFill>
                  <a:srgbClr val="1E86B4"/>
                </a:solidFill>
                <a:effectLst>
                  <a:outerShdw blurRad="38100" dist="38100" dir="2700000" algn="tl">
                    <a:srgbClr val="C0C0C0"/>
                  </a:outerShdw>
                </a:effectLst>
              </a:rPr>
              <a:t>F</a:t>
            </a:r>
            <a:r>
              <a:rPr kumimoji="0" lang="en-US" altLang="zh-CN" sz="2400">
                <a:solidFill>
                  <a:srgbClr val="1E86B4"/>
                </a:solidFill>
                <a:effectLst>
                  <a:outerShdw blurRad="38100" dist="38100" dir="2700000" algn="tl">
                    <a:srgbClr val="C0C0C0"/>
                  </a:outerShdw>
                </a:effectLst>
              </a:rPr>
              <a:t>(</a:t>
            </a:r>
            <a:r>
              <a:rPr kumimoji="0" lang="en-US" altLang="zh-CN" sz="2400" i="1">
                <a:solidFill>
                  <a:srgbClr val="1E86B4"/>
                </a:solidFill>
                <a:effectLst>
                  <a:outerShdw blurRad="38100" dist="38100" dir="2700000" algn="tl">
                    <a:srgbClr val="C0C0C0"/>
                  </a:outerShdw>
                </a:effectLst>
              </a:rPr>
              <a:t>z</a:t>
            </a:r>
            <a:r>
              <a:rPr kumimoji="0" lang="en-US" altLang="zh-CN" sz="2400">
                <a:solidFill>
                  <a:srgbClr val="1E86B4"/>
                </a:solidFill>
                <a:effectLst>
                  <a:outerShdw blurRad="38100" dist="38100" dir="2700000" algn="tl">
                    <a:srgbClr val="C0C0C0"/>
                  </a:outerShdw>
                </a:effectLst>
              </a:rPr>
              <a:t>)</a:t>
            </a:r>
            <a:r>
              <a:rPr kumimoji="0" lang="zh-CN" altLang="en-US" sz="2400">
                <a:solidFill>
                  <a:srgbClr val="1E86B4"/>
                </a:solidFill>
                <a:effectLst>
                  <a:outerShdw blurRad="38100" dist="38100" dir="2700000" algn="tl">
                    <a:srgbClr val="C0C0C0"/>
                  </a:outerShdw>
                </a:effectLst>
              </a:rPr>
              <a:t>或</a:t>
            </a:r>
            <a:r>
              <a:rPr kumimoji="0" lang="en-US" altLang="zh-CN" sz="2400" i="1">
                <a:solidFill>
                  <a:srgbClr val="1E86B4"/>
                </a:solidFill>
                <a:effectLst>
                  <a:outerShdw blurRad="38100" dist="38100" dir="2700000" algn="tl">
                    <a:srgbClr val="C0C0C0"/>
                  </a:outerShdw>
                </a:effectLst>
              </a:rPr>
              <a:t>P</a:t>
            </a:r>
            <a:r>
              <a:rPr kumimoji="0" lang="en-US" altLang="zh-CN" sz="2400">
                <a:solidFill>
                  <a:srgbClr val="1E86B4"/>
                </a:solidFill>
                <a:effectLst>
                  <a:outerShdw blurRad="38100" dist="38100" dir="2700000" algn="tl">
                    <a:srgbClr val="C0C0C0"/>
                  </a:outerShdw>
                </a:effectLst>
              </a:rPr>
              <a:t>(</a:t>
            </a:r>
            <a:r>
              <a:rPr kumimoji="0" lang="en-US" altLang="zh-CN" sz="2400" i="1">
                <a:solidFill>
                  <a:srgbClr val="1E86B4"/>
                </a:solidFill>
                <a:effectLst>
                  <a:outerShdw blurRad="38100" dist="38100" dir="2700000" algn="tl">
                    <a:srgbClr val="C0C0C0"/>
                  </a:outerShdw>
                </a:effectLst>
              </a:rPr>
              <a:t>z</a:t>
            </a:r>
            <a:r>
              <a:rPr kumimoji="0" lang="en-US" altLang="zh-CN" sz="2400">
                <a:solidFill>
                  <a:srgbClr val="1E86B4"/>
                </a:solidFill>
                <a:effectLst>
                  <a:outerShdw blurRad="38100" dist="38100" dir="2700000" algn="tl">
                    <a:srgbClr val="C0C0C0"/>
                  </a:outerShdw>
                </a:effectLst>
              </a:rPr>
              <a:t>)</a:t>
            </a:r>
            <a:r>
              <a:rPr kumimoji="0" lang="zh-CN" altLang="en-US" sz="2400">
                <a:solidFill>
                  <a:srgbClr val="1E86B4"/>
                </a:solidFill>
                <a:effectLst>
                  <a:outerShdw blurRad="38100" dist="38100" dir="2700000" algn="tl">
                    <a:srgbClr val="C0C0C0"/>
                  </a:outerShdw>
                </a:effectLst>
              </a:rPr>
              <a:t>在单位圆外无零点。</a:t>
            </a:r>
          </a:p>
        </p:txBody>
      </p:sp>
    </p:spTree>
  </p:cSld>
  <p:clrMapOvr>
    <a:masterClrMapping/>
  </p:clrMapOvr>
  <p:transition>
    <p:push/>
  </p:transition>
</p:sld>
</file>

<file path=ppt/slides/slide15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50530" name="Picture 22"/>
          <p:cNvPicPr>
            <a:picLocks noChangeAspect="1" noChangeArrowheads="1"/>
          </p:cNvPicPr>
          <p:nvPr/>
        </p:nvPicPr>
        <p:blipFill>
          <a:blip r:embed="rId3" cstate="print"/>
          <a:srcRect/>
          <a:stretch>
            <a:fillRect/>
          </a:stretch>
        </p:blipFill>
        <p:spPr bwMode="auto">
          <a:xfrm>
            <a:off x="611188" y="1989138"/>
            <a:ext cx="7343775" cy="3235325"/>
          </a:xfrm>
          <a:prstGeom prst="rect">
            <a:avLst/>
          </a:prstGeom>
          <a:noFill/>
          <a:ln w="9525">
            <a:noFill/>
            <a:miter lim="800000"/>
            <a:headEnd/>
            <a:tailEnd/>
          </a:ln>
        </p:spPr>
      </p:pic>
      <p:sp>
        <p:nvSpPr>
          <p:cNvPr id="182295" name="Text Box 23"/>
          <p:cNvSpPr txBox="1">
            <a:spLocks noChangeArrowheads="1"/>
          </p:cNvSpPr>
          <p:nvPr/>
        </p:nvSpPr>
        <p:spPr bwMode="auto">
          <a:xfrm>
            <a:off x="2824163" y="5443538"/>
            <a:ext cx="4556125"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3.28 </a:t>
            </a:r>
            <a:r>
              <a:rPr kumimoji="0" lang="zh-CN" altLang="en-US">
                <a:effectLst>
                  <a:outerShdw blurRad="38100" dist="38100" dir="2700000" algn="tl">
                    <a:srgbClr val="C0C0C0"/>
                  </a:outerShdw>
                </a:effectLst>
              </a:rPr>
              <a:t>离散系统的奈氏围线</a:t>
            </a:r>
          </a:p>
        </p:txBody>
      </p:sp>
      <p:sp>
        <p:nvSpPr>
          <p:cNvPr id="182296" name="Line 24"/>
          <p:cNvSpPr>
            <a:spLocks noChangeShapeType="1"/>
          </p:cNvSpPr>
          <p:nvPr/>
        </p:nvSpPr>
        <p:spPr bwMode="auto">
          <a:xfrm flipV="1">
            <a:off x="2771775" y="1412875"/>
            <a:ext cx="1439863" cy="1512888"/>
          </a:xfrm>
          <a:prstGeom prst="line">
            <a:avLst/>
          </a:prstGeom>
          <a:noFill/>
          <a:ln w="9525">
            <a:solidFill>
              <a:srgbClr val="FF0000"/>
            </a:solidFill>
            <a:round/>
            <a:headEnd type="triangle" w="med" len="me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82297" name="Line 25"/>
          <p:cNvSpPr>
            <a:spLocks noChangeShapeType="1"/>
          </p:cNvSpPr>
          <p:nvPr/>
        </p:nvSpPr>
        <p:spPr bwMode="auto">
          <a:xfrm>
            <a:off x="4211638" y="1412875"/>
            <a:ext cx="2305050" cy="1944688"/>
          </a:xfrm>
          <a:prstGeom prst="line">
            <a:avLst/>
          </a:prstGeom>
          <a:noFill/>
          <a:ln w="9525">
            <a:solidFill>
              <a:srgbClr val="0000FF"/>
            </a:solidFill>
            <a:round/>
            <a:headEnd/>
            <a:tailEnd type="triangle" w="med" len="me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82298" name="Text Box 26"/>
          <p:cNvSpPr txBox="1">
            <a:spLocks noChangeArrowheads="1"/>
          </p:cNvSpPr>
          <p:nvPr/>
        </p:nvSpPr>
        <p:spPr bwMode="auto">
          <a:xfrm>
            <a:off x="2771775" y="1052513"/>
            <a:ext cx="3506788" cy="396875"/>
          </a:xfrm>
          <a:prstGeom prst="rect">
            <a:avLst/>
          </a:prstGeom>
          <a:noFill/>
          <a:ln w="9525" algn="ctr">
            <a:noFill/>
            <a:miter lim="800000"/>
            <a:headEnd/>
            <a:tailEnd/>
          </a:ln>
          <a:effectLst/>
        </p:spPr>
        <p:txBody>
          <a:bodyPr wrap="none">
            <a:spAutoFit/>
          </a:bodyPr>
          <a:lstStyle/>
          <a:p>
            <a:pPr>
              <a:defRPr/>
            </a:pPr>
            <a:r>
              <a:rPr kumimoji="0" lang="zh-CN" altLang="en-US">
                <a:solidFill>
                  <a:srgbClr val="FF0000"/>
                </a:solidFill>
                <a:effectLst>
                  <a:outerShdw blurRad="38100" dist="38100" dir="2700000" algn="tl">
                    <a:srgbClr val="C0C0C0"/>
                  </a:outerShdw>
                </a:effectLst>
              </a:rPr>
              <a:t>奈氏围线包围的单位圆外区域</a:t>
            </a:r>
          </a:p>
        </p:txBody>
      </p:sp>
    </p:spTree>
  </p:cSld>
  <p:clrMapOvr>
    <a:masterClrMapping/>
  </p:clrMapOvr>
  <p:transition>
    <p:push/>
  </p:transition>
</p:sld>
</file>

<file path=ppt/slides/slide15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3310" name="Text Box 14"/>
          <p:cNvSpPr txBox="1">
            <a:spLocks noChangeArrowheads="1"/>
          </p:cNvSpPr>
          <p:nvPr/>
        </p:nvSpPr>
        <p:spPr bwMode="auto">
          <a:xfrm>
            <a:off x="827088" y="1484313"/>
            <a:ext cx="7653337" cy="118745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若函数                         在奈氏围线内（即单位圆外）有 </a:t>
            </a:r>
            <a:r>
              <a:rPr kumimoji="0" lang="en-US" altLang="zh-CN" sz="2400" i="1">
                <a:solidFill>
                  <a:srgbClr val="FF0000"/>
                </a:solidFill>
                <a:effectLst>
                  <a:outerShdw blurRad="38100" dist="38100" dir="2700000" algn="tl">
                    <a:srgbClr val="C0C0C0"/>
                  </a:outerShdw>
                </a:effectLst>
              </a:rPr>
              <a:t>N</a:t>
            </a:r>
            <a:r>
              <a:rPr kumimoji="0" lang="en-US" altLang="zh-CN" sz="2400" i="1" baseline="-25000">
                <a:solidFill>
                  <a:srgbClr val="FF0000"/>
                </a:solidFill>
                <a:effectLst>
                  <a:outerShdw blurRad="38100" dist="38100" dir="2700000" algn="tl">
                    <a:srgbClr val="C0C0C0"/>
                  </a:outerShdw>
                </a:effectLst>
              </a:rPr>
              <a:t>z</a:t>
            </a:r>
            <a:r>
              <a:rPr kumimoji="0" lang="zh-CN" altLang="en-US" sz="2400">
                <a:solidFill>
                  <a:srgbClr val="FF0000"/>
                </a:solidFill>
                <a:effectLst>
                  <a:outerShdw blurRad="38100" dist="38100" dir="2700000" algn="tl">
                    <a:srgbClr val="C0C0C0"/>
                  </a:outerShdw>
                </a:effectLst>
              </a:rPr>
              <a:t>个零点</a:t>
            </a:r>
            <a:r>
              <a:rPr kumimoji="0" lang="zh-CN" altLang="en-US" sz="2400">
                <a:effectLst>
                  <a:outerShdw blurRad="38100" dist="38100" dir="2700000" algn="tl">
                    <a:srgbClr val="C0C0C0"/>
                  </a:outerShdw>
                </a:effectLst>
              </a:rPr>
              <a:t>（即闭环极点），</a:t>
            </a:r>
            <a:r>
              <a:rPr kumimoji="0" lang="en-US" altLang="zh-CN" sz="2400" i="1">
                <a:solidFill>
                  <a:srgbClr val="FF0000"/>
                </a:solidFill>
                <a:effectLst>
                  <a:outerShdw blurRad="38100" dist="38100" dir="2700000" algn="tl">
                    <a:srgbClr val="C0C0C0"/>
                  </a:outerShdw>
                </a:effectLst>
              </a:rPr>
              <a:t>N</a:t>
            </a:r>
            <a:r>
              <a:rPr kumimoji="0" lang="en-US" altLang="zh-CN" sz="2400" i="1" baseline="-25000">
                <a:solidFill>
                  <a:srgbClr val="FF0000"/>
                </a:solidFill>
                <a:effectLst>
                  <a:outerShdw blurRad="38100" dist="38100" dir="2700000" algn="tl">
                    <a:srgbClr val="C0C0C0"/>
                  </a:outerShdw>
                </a:effectLst>
              </a:rPr>
              <a:t>P</a:t>
            </a:r>
            <a:r>
              <a:rPr kumimoji="0" lang="en-US" altLang="zh-CN" sz="2400" i="1">
                <a:solidFill>
                  <a:srgbClr val="FF0000"/>
                </a:solidFill>
                <a:effectLst>
                  <a:outerShdw blurRad="38100" dist="38100" dir="2700000" algn="tl">
                    <a:srgbClr val="C0C0C0"/>
                  </a:outerShdw>
                </a:effectLst>
              </a:rPr>
              <a:t> </a:t>
            </a:r>
            <a:r>
              <a:rPr kumimoji="0" lang="zh-CN" altLang="en-US" sz="2400">
                <a:solidFill>
                  <a:srgbClr val="FF0000"/>
                </a:solidFill>
                <a:effectLst>
                  <a:outerShdw blurRad="38100" dist="38100" dir="2700000" algn="tl">
                    <a:srgbClr val="C0C0C0"/>
                  </a:outerShdw>
                </a:effectLst>
              </a:rPr>
              <a:t>个极点</a:t>
            </a:r>
            <a:r>
              <a:rPr kumimoji="0" lang="zh-CN" altLang="en-US" sz="2400">
                <a:effectLst>
                  <a:outerShdw blurRad="38100" dist="38100" dir="2700000" algn="tl">
                    <a:srgbClr val="C0C0C0"/>
                  </a:outerShdw>
                </a:effectLst>
              </a:rPr>
              <a:t>（即开环极点），则          的奈氏图顺时针绕 </a:t>
            </a:r>
            <a:r>
              <a:rPr kumimoji="0" lang="en-US" altLang="zh-CN" sz="2400">
                <a:solidFill>
                  <a:srgbClr val="FF0000"/>
                </a:solidFill>
                <a:effectLst>
                  <a:outerShdw blurRad="38100" dist="38100" dir="2700000" algn="tl">
                    <a:srgbClr val="C0C0C0"/>
                  </a:outerShdw>
                </a:effectLst>
              </a:rPr>
              <a:t>(-1, </a:t>
            </a:r>
            <a:r>
              <a:rPr kumimoji="0" lang="en-US" altLang="zh-CN" sz="2400" i="1">
                <a:solidFill>
                  <a:srgbClr val="FF0000"/>
                </a:solidFill>
                <a:effectLst>
                  <a:outerShdw blurRad="38100" dist="38100" dir="2700000" algn="tl">
                    <a:srgbClr val="C0C0C0"/>
                  </a:outerShdw>
                </a:effectLst>
              </a:rPr>
              <a:t>j</a:t>
            </a:r>
            <a:r>
              <a:rPr kumimoji="0" lang="en-US" altLang="zh-CN" sz="2400">
                <a:solidFill>
                  <a:srgbClr val="FF0000"/>
                </a:solidFill>
                <a:effectLst>
                  <a:outerShdw blurRad="38100" dist="38100" dir="2700000" algn="tl">
                    <a:srgbClr val="C0C0C0"/>
                  </a:outerShdw>
                </a:effectLst>
              </a:rPr>
              <a:t>0) </a:t>
            </a:r>
            <a:r>
              <a:rPr kumimoji="0" lang="zh-CN" altLang="en-US" sz="2400">
                <a:solidFill>
                  <a:srgbClr val="FF0000"/>
                </a:solidFill>
                <a:effectLst>
                  <a:outerShdw blurRad="38100" dist="38100" dir="2700000" algn="tl">
                    <a:srgbClr val="C0C0C0"/>
                  </a:outerShdw>
                </a:effectLst>
              </a:rPr>
              <a:t>点</a:t>
            </a:r>
            <a:r>
              <a:rPr kumimoji="0" lang="zh-CN" altLang="en-US" sz="2400">
                <a:effectLst>
                  <a:outerShdw blurRad="38100" dist="38100" dir="2700000" algn="tl">
                    <a:srgbClr val="C0C0C0"/>
                  </a:outerShdw>
                </a:effectLst>
              </a:rPr>
              <a:t>的圈数</a:t>
            </a:r>
            <a:r>
              <a:rPr kumimoji="0" lang="en-US" altLang="zh-CN" sz="2400" i="1">
                <a:effectLst>
                  <a:outerShdw blurRad="38100" dist="38100" dir="2700000" algn="tl">
                    <a:srgbClr val="C0C0C0"/>
                  </a:outerShdw>
                </a:effectLst>
              </a:rPr>
              <a:t>N</a:t>
            </a:r>
            <a:r>
              <a:rPr kumimoji="0" lang="zh-CN" altLang="en-US" sz="2400">
                <a:effectLst>
                  <a:outerShdw blurRad="38100" dist="38100" dir="2700000" algn="tl">
                    <a:srgbClr val="C0C0C0"/>
                  </a:outerShdw>
                </a:effectLst>
              </a:rPr>
              <a:t>为：</a:t>
            </a:r>
          </a:p>
        </p:txBody>
      </p:sp>
      <p:sp>
        <p:nvSpPr>
          <p:cNvPr id="183311" name="Rectangle 15"/>
          <p:cNvSpPr>
            <a:spLocks noChangeArrowheads="1"/>
          </p:cNvSpPr>
          <p:nvPr/>
        </p:nvSpPr>
        <p:spPr bwMode="auto">
          <a:xfrm>
            <a:off x="71438" y="28098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9330" name="Object 16"/>
          <p:cNvGraphicFramePr>
            <a:graphicFrameLocks noChangeAspect="1"/>
          </p:cNvGraphicFramePr>
          <p:nvPr/>
        </p:nvGraphicFramePr>
        <p:xfrm>
          <a:off x="1279525" y="2276475"/>
          <a:ext cx="720725" cy="393700"/>
        </p:xfrm>
        <a:graphic>
          <a:graphicData uri="http://schemas.openxmlformats.org/presentationml/2006/ole">
            <mc:AlternateContent xmlns:mc="http://schemas.openxmlformats.org/markup-compatibility/2006">
              <mc:Choice xmlns:v="urn:schemas-microsoft-com:vml" Requires="v">
                <p:oleObj name="Equation" r:id="rId3" imgW="419100" imgH="228600" progId="Equation.DSMT4">
                  <p:embed/>
                </p:oleObj>
              </mc:Choice>
              <mc:Fallback>
                <p:oleObj name="Equation" r:id="rId3" imgW="419100" imgH="228600"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279525" y="2276475"/>
                        <a:ext cx="720725" cy="3937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3313" name="Rectangle 17"/>
          <p:cNvSpPr>
            <a:spLocks noChangeArrowheads="1"/>
          </p:cNvSpPr>
          <p:nvPr/>
        </p:nvSpPr>
        <p:spPr bwMode="auto">
          <a:xfrm>
            <a:off x="71438" y="28098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9331" name="Object 18"/>
          <p:cNvGraphicFramePr>
            <a:graphicFrameLocks noChangeAspect="1"/>
          </p:cNvGraphicFramePr>
          <p:nvPr/>
        </p:nvGraphicFramePr>
        <p:xfrm>
          <a:off x="1784350" y="1525588"/>
          <a:ext cx="1978025" cy="436562"/>
        </p:xfrm>
        <a:graphic>
          <a:graphicData uri="http://schemas.openxmlformats.org/presentationml/2006/ole">
            <mc:AlternateContent xmlns:mc="http://schemas.openxmlformats.org/markup-compatibility/2006">
              <mc:Choice xmlns:v="urn:schemas-microsoft-com:vml" Requires="v">
                <p:oleObj name="Equation" r:id="rId5" imgW="1040948" imgH="228501" progId="Equation.DSMT4">
                  <p:embed/>
                </p:oleObj>
              </mc:Choice>
              <mc:Fallback>
                <p:oleObj name="Equation" r:id="rId5" imgW="1040948" imgH="228501"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784350" y="1525588"/>
                        <a:ext cx="1978025" cy="4365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3315" name="Rectangle 19"/>
          <p:cNvSpPr>
            <a:spLocks noChangeArrowheads="1"/>
          </p:cNvSpPr>
          <p:nvPr/>
        </p:nvSpPr>
        <p:spPr bwMode="auto">
          <a:xfrm>
            <a:off x="71438" y="28098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99332" name="Object 20"/>
          <p:cNvGraphicFramePr>
            <a:graphicFrameLocks noChangeAspect="1"/>
          </p:cNvGraphicFramePr>
          <p:nvPr/>
        </p:nvGraphicFramePr>
        <p:xfrm>
          <a:off x="2914650" y="2779713"/>
          <a:ext cx="2089150" cy="576262"/>
        </p:xfrm>
        <a:graphic>
          <a:graphicData uri="http://schemas.openxmlformats.org/presentationml/2006/ole">
            <mc:AlternateContent xmlns:mc="http://schemas.openxmlformats.org/markup-compatibility/2006">
              <mc:Choice xmlns:v="urn:schemas-microsoft-com:vml" Requires="v">
                <p:oleObj name="Equation" r:id="rId7" imgW="825500" imgH="228600" progId="Equation.DSMT4">
                  <p:embed/>
                </p:oleObj>
              </mc:Choice>
              <mc:Fallback>
                <p:oleObj name="Equation" r:id="rId7" imgW="825500" imgH="228600"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14650" y="2779713"/>
                        <a:ext cx="2089150" cy="5762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3317" name="Text Box 21"/>
          <p:cNvSpPr txBox="1">
            <a:spLocks noChangeArrowheads="1"/>
          </p:cNvSpPr>
          <p:nvPr/>
        </p:nvSpPr>
        <p:spPr bwMode="auto">
          <a:xfrm>
            <a:off x="879475" y="3427413"/>
            <a:ext cx="7580313" cy="118745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闭环系统稳定的充要条件是：</a:t>
            </a:r>
          </a:p>
          <a:p>
            <a:pPr>
              <a:defRPr/>
            </a:pPr>
            <a:r>
              <a:rPr kumimoji="0" lang="zh-CN" altLang="en-US" sz="2400">
                <a:solidFill>
                  <a:srgbClr val="0000FF"/>
                </a:solidFill>
                <a:effectLst>
                  <a:outerShdw blurRad="38100" dist="38100" dir="2700000" algn="tl">
                    <a:srgbClr val="C0C0C0"/>
                  </a:outerShdw>
                </a:effectLst>
              </a:rPr>
              <a:t>      </a:t>
            </a:r>
            <a:r>
              <a:rPr kumimoji="0" lang="en-US" altLang="zh-CN" sz="2400" i="1">
                <a:effectLst>
                  <a:outerShdw blurRad="38100" dist="38100" dir="2700000" algn="tl">
                    <a:srgbClr val="C0C0C0"/>
                  </a:outerShdw>
                </a:effectLst>
              </a:rPr>
              <a:t>W</a:t>
            </a:r>
            <a:r>
              <a:rPr kumimoji="0" lang="en-US" altLang="zh-CN" sz="2400" i="1" baseline="-25000">
                <a:effectLst>
                  <a:outerShdw blurRad="38100" dist="38100" dir="2700000" algn="tl">
                    <a:srgbClr val="C0C0C0"/>
                  </a:outerShdw>
                </a:effectLst>
              </a:rPr>
              <a:t>K</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z</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的奈氏图顺时针绕 </a:t>
            </a:r>
            <a:r>
              <a:rPr kumimoji="0" lang="en-US" altLang="zh-CN" sz="2400">
                <a:effectLst>
                  <a:outerShdw blurRad="38100" dist="38100" dir="2700000" algn="tl">
                    <a:srgbClr val="C0C0C0"/>
                  </a:outerShdw>
                </a:effectLst>
              </a:rPr>
              <a:t>(-1, </a:t>
            </a:r>
            <a:r>
              <a:rPr kumimoji="0" lang="en-US" altLang="zh-CN" sz="2400" i="1">
                <a:effectLst>
                  <a:outerShdw blurRad="38100" dist="38100" dir="2700000" algn="tl">
                    <a:srgbClr val="C0C0C0"/>
                  </a:outerShdw>
                </a:effectLst>
              </a:rPr>
              <a:t>j</a:t>
            </a:r>
            <a:r>
              <a:rPr kumimoji="0" lang="en-US" altLang="zh-CN" sz="2400">
                <a:effectLst>
                  <a:outerShdw blurRad="38100" dist="38100" dir="2700000" algn="tl">
                    <a:srgbClr val="C0C0C0"/>
                  </a:outerShdw>
                </a:effectLst>
              </a:rPr>
              <a:t>0)</a:t>
            </a:r>
            <a:r>
              <a:rPr kumimoji="0" lang="zh-CN" altLang="en-US" sz="2400">
                <a:effectLst>
                  <a:outerShdw blurRad="38100" dist="38100" dir="2700000" algn="tl">
                    <a:srgbClr val="C0C0C0"/>
                  </a:outerShdw>
                </a:effectLst>
              </a:rPr>
              <a:t>点的圈数为 </a:t>
            </a:r>
            <a:r>
              <a:rPr kumimoji="0" lang="en-US" altLang="zh-CN" sz="2400">
                <a:effectLst>
                  <a:outerShdw blurRad="38100" dist="38100" dir="2700000" algn="tl">
                    <a:srgbClr val="C0C0C0"/>
                  </a:outerShdw>
                </a:effectLst>
              </a:rPr>
              <a:t>-</a:t>
            </a:r>
            <a:r>
              <a:rPr kumimoji="0" lang="en-US" altLang="zh-CN" sz="2400" i="1">
                <a:effectLst>
                  <a:outerShdw blurRad="38100" dist="38100" dir="2700000" algn="tl">
                    <a:srgbClr val="C0C0C0"/>
                  </a:outerShdw>
                </a:effectLst>
              </a:rPr>
              <a:t>N</a:t>
            </a:r>
            <a:r>
              <a:rPr kumimoji="0" lang="en-US" altLang="zh-CN" sz="2400" i="1" baseline="-25000">
                <a:effectLst>
                  <a:outerShdw blurRad="38100" dist="38100" dir="2700000" algn="tl">
                    <a:srgbClr val="C0C0C0"/>
                  </a:outerShdw>
                </a:effectLst>
              </a:rPr>
              <a:t>P</a:t>
            </a:r>
            <a:r>
              <a:rPr kumimoji="0" lang="zh-CN" altLang="en-US" sz="2400">
                <a:effectLst>
                  <a:outerShdw blurRad="38100" dist="38100" dir="2700000" algn="tl">
                    <a:srgbClr val="C0C0C0"/>
                  </a:outerShdw>
                </a:effectLst>
              </a:rPr>
              <a:t>，即逆时针绕 </a:t>
            </a:r>
            <a:r>
              <a:rPr kumimoji="0" lang="en-US" altLang="zh-CN" sz="2400">
                <a:effectLst>
                  <a:outerShdw blurRad="38100" dist="38100" dir="2700000" algn="tl">
                    <a:srgbClr val="C0C0C0"/>
                  </a:outerShdw>
                </a:effectLst>
              </a:rPr>
              <a:t>(-1, </a:t>
            </a:r>
            <a:r>
              <a:rPr kumimoji="0" lang="en-US" altLang="zh-CN" sz="2400" i="1">
                <a:effectLst>
                  <a:outerShdw blurRad="38100" dist="38100" dir="2700000" algn="tl">
                    <a:srgbClr val="C0C0C0"/>
                  </a:outerShdw>
                </a:effectLst>
              </a:rPr>
              <a:t>j</a:t>
            </a:r>
            <a:r>
              <a:rPr kumimoji="0" lang="en-US" altLang="zh-CN" sz="2400">
                <a:effectLst>
                  <a:outerShdw blurRad="38100" dist="38100" dir="2700000" algn="tl">
                    <a:srgbClr val="C0C0C0"/>
                  </a:outerShdw>
                </a:effectLst>
              </a:rPr>
              <a:t>0)</a:t>
            </a:r>
            <a:r>
              <a:rPr kumimoji="0" lang="zh-CN" altLang="en-US" sz="2400">
                <a:effectLst>
                  <a:outerShdw blurRad="38100" dist="38100" dir="2700000" algn="tl">
                    <a:srgbClr val="C0C0C0"/>
                  </a:outerShdw>
                </a:effectLst>
              </a:rPr>
              <a:t>点 </a:t>
            </a:r>
            <a:r>
              <a:rPr kumimoji="0" lang="en-US" altLang="zh-CN" sz="2400" i="1">
                <a:effectLst>
                  <a:outerShdw blurRad="38100" dist="38100" dir="2700000" algn="tl">
                    <a:srgbClr val="C0C0C0"/>
                  </a:outerShdw>
                </a:effectLst>
              </a:rPr>
              <a:t>N</a:t>
            </a:r>
            <a:r>
              <a:rPr kumimoji="0" lang="en-US" altLang="zh-CN" sz="2400" i="1" baseline="-25000">
                <a:effectLst>
                  <a:outerShdw blurRad="38100" dist="38100" dir="2700000" algn="tl">
                    <a:srgbClr val="C0C0C0"/>
                  </a:outerShdw>
                </a:effectLst>
              </a:rPr>
              <a:t>P</a:t>
            </a:r>
            <a:r>
              <a:rPr kumimoji="0" lang="zh-CN" altLang="en-US" sz="2400">
                <a:effectLst>
                  <a:outerShdw blurRad="38100" dist="38100" dir="2700000" algn="tl">
                    <a:srgbClr val="C0C0C0"/>
                  </a:outerShdw>
                </a:effectLst>
              </a:rPr>
              <a:t>圈。</a:t>
            </a:r>
            <a:r>
              <a:rPr kumimoji="0" lang="zh-CN" altLang="en-US" sz="2400">
                <a:solidFill>
                  <a:srgbClr val="FF0000"/>
                </a:solidFill>
                <a:effectLst>
                  <a:outerShdw blurRad="38100" dist="38100" dir="2700000" algn="tl">
                    <a:srgbClr val="C0C0C0"/>
                  </a:outerShdw>
                </a:effectLst>
              </a:rPr>
              <a:t>（此时</a:t>
            </a:r>
            <a:r>
              <a:rPr kumimoji="0" lang="en-US" altLang="zh-CN" sz="2400" i="1">
                <a:solidFill>
                  <a:srgbClr val="FF0000"/>
                </a:solidFill>
                <a:effectLst>
                  <a:outerShdw blurRad="38100" dist="38100" dir="2700000" algn="tl">
                    <a:srgbClr val="C0C0C0"/>
                  </a:outerShdw>
                </a:effectLst>
              </a:rPr>
              <a:t>N</a:t>
            </a:r>
            <a:r>
              <a:rPr kumimoji="0" lang="en-US" altLang="zh-CN" sz="2400" i="1" baseline="-25000">
                <a:solidFill>
                  <a:srgbClr val="FF0000"/>
                </a:solidFill>
                <a:effectLst>
                  <a:outerShdw blurRad="38100" dist="38100" dir="2700000" algn="tl">
                    <a:srgbClr val="C0C0C0"/>
                  </a:outerShdw>
                </a:effectLst>
              </a:rPr>
              <a:t>Z</a:t>
            </a:r>
            <a:r>
              <a:rPr kumimoji="0" lang="en-US" altLang="zh-CN" sz="2400">
                <a:solidFill>
                  <a:srgbClr val="FF0000"/>
                </a:solidFill>
                <a:effectLst>
                  <a:outerShdw blurRad="38100" dist="38100" dir="2700000" algn="tl">
                    <a:srgbClr val="C0C0C0"/>
                  </a:outerShdw>
                </a:effectLst>
              </a:rPr>
              <a:t>=0</a:t>
            </a:r>
            <a:r>
              <a:rPr kumimoji="0" lang="zh-CN" altLang="en-US" sz="2400">
                <a:solidFill>
                  <a:srgbClr val="FF0000"/>
                </a:solidFill>
                <a:effectLst>
                  <a:outerShdw blurRad="38100" dist="38100" dir="2700000" algn="tl">
                    <a:srgbClr val="C0C0C0"/>
                  </a:outerShdw>
                </a:effectLst>
              </a:rPr>
              <a:t>）</a:t>
            </a:r>
          </a:p>
        </p:txBody>
      </p:sp>
      <p:sp>
        <p:nvSpPr>
          <p:cNvPr id="183318" name="Text Box 22"/>
          <p:cNvSpPr txBox="1">
            <a:spLocks noChangeArrowheads="1"/>
          </p:cNvSpPr>
          <p:nvPr/>
        </p:nvSpPr>
        <p:spPr bwMode="auto">
          <a:xfrm>
            <a:off x="971550" y="4652963"/>
            <a:ext cx="7416800" cy="822325"/>
          </a:xfrm>
          <a:prstGeom prst="rect">
            <a:avLst/>
          </a:prstGeom>
          <a:noFill/>
          <a:ln w="9525" algn="ctr">
            <a:noFill/>
            <a:miter lim="800000"/>
            <a:headEnd/>
            <a:tailEnd/>
          </a:ln>
          <a:effectLst/>
        </p:spPr>
        <p:txBody>
          <a:bodyPr>
            <a:spAutoFit/>
          </a:bodyPr>
          <a:lstStyle/>
          <a:p>
            <a:pPr>
              <a:defRPr/>
            </a:pPr>
            <a:r>
              <a:rPr kumimoji="0" lang="en-US" altLang="zh-CN" sz="2400" i="1">
                <a:solidFill>
                  <a:srgbClr val="1E86B4"/>
                </a:solidFill>
                <a:effectLst>
                  <a:outerShdw blurRad="38100" dist="38100" dir="2700000" algn="tl">
                    <a:srgbClr val="C0C0C0"/>
                  </a:outerShdw>
                </a:effectLst>
              </a:rPr>
              <a:t>    </a:t>
            </a:r>
            <a:r>
              <a:rPr kumimoji="0" lang="zh-CN" altLang="en-US" sz="2400">
                <a:solidFill>
                  <a:srgbClr val="1E86B4"/>
                </a:solidFill>
                <a:effectLst>
                  <a:outerShdw blurRad="38100" dist="38100" dir="2700000" algn="tl">
                    <a:srgbClr val="C0C0C0"/>
                  </a:outerShdw>
                </a:effectLst>
              </a:rPr>
              <a:t>进一步，若</a:t>
            </a:r>
            <a:r>
              <a:rPr kumimoji="0" lang="en-US" altLang="zh-CN" sz="2400" i="1">
                <a:solidFill>
                  <a:srgbClr val="1E86B4"/>
                </a:solidFill>
                <a:effectLst>
                  <a:outerShdw blurRad="38100" dist="38100" dir="2700000" algn="tl">
                    <a:srgbClr val="C0C0C0"/>
                  </a:outerShdw>
                </a:effectLst>
              </a:rPr>
              <a:t>N</a:t>
            </a:r>
            <a:r>
              <a:rPr kumimoji="0" lang="en-US" altLang="zh-CN" sz="2400" i="1" baseline="-25000">
                <a:solidFill>
                  <a:srgbClr val="1E86B4"/>
                </a:solidFill>
                <a:effectLst>
                  <a:outerShdw blurRad="38100" dist="38100" dir="2700000" algn="tl">
                    <a:srgbClr val="C0C0C0"/>
                  </a:outerShdw>
                </a:effectLst>
              </a:rPr>
              <a:t>P</a:t>
            </a:r>
            <a:r>
              <a:rPr kumimoji="0" lang="en-US" altLang="zh-CN" sz="2400">
                <a:solidFill>
                  <a:srgbClr val="1E86B4"/>
                </a:solidFill>
                <a:effectLst>
                  <a:outerShdw blurRad="38100" dist="38100" dir="2700000" algn="tl">
                    <a:srgbClr val="C0C0C0"/>
                  </a:outerShdw>
                </a:effectLst>
              </a:rPr>
              <a:t>=0</a:t>
            </a:r>
            <a:r>
              <a:rPr kumimoji="0" lang="zh-CN" altLang="en-US" sz="2400">
                <a:solidFill>
                  <a:srgbClr val="1E86B4"/>
                </a:solidFill>
                <a:effectLst>
                  <a:outerShdw blurRad="38100" dist="38100" dir="2700000" algn="tl">
                    <a:srgbClr val="C0C0C0"/>
                  </a:outerShdw>
                </a:effectLst>
              </a:rPr>
              <a:t>，则</a:t>
            </a:r>
            <a:r>
              <a:rPr kumimoji="0" lang="en-US" altLang="zh-CN" sz="2400" i="1">
                <a:solidFill>
                  <a:srgbClr val="1E86B4"/>
                </a:solidFill>
                <a:effectLst>
                  <a:outerShdw blurRad="38100" dist="38100" dir="2700000" algn="tl">
                    <a:srgbClr val="C0C0C0"/>
                  </a:outerShdw>
                </a:effectLst>
              </a:rPr>
              <a:t>W</a:t>
            </a:r>
            <a:r>
              <a:rPr kumimoji="0" lang="en-US" altLang="zh-CN" sz="2400" i="1" baseline="-25000">
                <a:solidFill>
                  <a:srgbClr val="1E86B4"/>
                </a:solidFill>
                <a:effectLst>
                  <a:outerShdw blurRad="38100" dist="38100" dir="2700000" algn="tl">
                    <a:srgbClr val="C0C0C0"/>
                  </a:outerShdw>
                </a:effectLst>
              </a:rPr>
              <a:t>K</a:t>
            </a:r>
            <a:r>
              <a:rPr kumimoji="0" lang="en-US" altLang="zh-CN" sz="2400">
                <a:solidFill>
                  <a:srgbClr val="1E86B4"/>
                </a:solidFill>
                <a:effectLst>
                  <a:outerShdw blurRad="38100" dist="38100" dir="2700000" algn="tl">
                    <a:srgbClr val="C0C0C0"/>
                  </a:outerShdw>
                </a:effectLst>
              </a:rPr>
              <a:t>(</a:t>
            </a:r>
            <a:r>
              <a:rPr kumimoji="0" lang="en-US" altLang="zh-CN" sz="2400" i="1">
                <a:solidFill>
                  <a:srgbClr val="1E86B4"/>
                </a:solidFill>
                <a:effectLst>
                  <a:outerShdw blurRad="38100" dist="38100" dir="2700000" algn="tl">
                    <a:srgbClr val="C0C0C0"/>
                  </a:outerShdw>
                </a:effectLst>
              </a:rPr>
              <a:t>z</a:t>
            </a:r>
            <a:r>
              <a:rPr kumimoji="0" lang="en-US" altLang="zh-CN" sz="2400">
                <a:solidFill>
                  <a:srgbClr val="1E86B4"/>
                </a:solidFill>
                <a:effectLst>
                  <a:outerShdw blurRad="38100" dist="38100" dir="2700000" algn="tl">
                    <a:srgbClr val="C0C0C0"/>
                  </a:outerShdw>
                </a:effectLst>
              </a:rPr>
              <a:t>) </a:t>
            </a:r>
            <a:r>
              <a:rPr kumimoji="0" lang="zh-CN" altLang="en-US" sz="2400">
                <a:solidFill>
                  <a:srgbClr val="1E86B4"/>
                </a:solidFill>
                <a:effectLst>
                  <a:outerShdw blurRad="38100" dist="38100" dir="2700000" algn="tl">
                    <a:srgbClr val="C0C0C0"/>
                  </a:outerShdw>
                </a:effectLst>
              </a:rPr>
              <a:t>的奈氏图不包围</a:t>
            </a:r>
            <a:r>
              <a:rPr kumimoji="0" lang="en-US" altLang="zh-CN" sz="2400">
                <a:solidFill>
                  <a:srgbClr val="1E86B4"/>
                </a:solidFill>
                <a:effectLst>
                  <a:outerShdw blurRad="38100" dist="38100" dir="2700000" algn="tl">
                    <a:srgbClr val="C0C0C0"/>
                  </a:outerShdw>
                </a:effectLst>
              </a:rPr>
              <a:t>(-1, </a:t>
            </a:r>
            <a:r>
              <a:rPr kumimoji="0" lang="en-US" altLang="zh-CN" sz="2400" i="1">
                <a:solidFill>
                  <a:srgbClr val="1E86B4"/>
                </a:solidFill>
                <a:effectLst>
                  <a:outerShdw blurRad="38100" dist="38100" dir="2700000" algn="tl">
                    <a:srgbClr val="C0C0C0"/>
                  </a:outerShdw>
                </a:effectLst>
              </a:rPr>
              <a:t>j</a:t>
            </a:r>
            <a:r>
              <a:rPr kumimoji="0" lang="en-US" altLang="zh-CN" sz="2400">
                <a:solidFill>
                  <a:srgbClr val="1E86B4"/>
                </a:solidFill>
                <a:effectLst>
                  <a:outerShdw blurRad="38100" dist="38100" dir="2700000" algn="tl">
                    <a:srgbClr val="C0C0C0"/>
                  </a:outerShdw>
                </a:effectLst>
              </a:rPr>
              <a:t>0)</a:t>
            </a:r>
            <a:r>
              <a:rPr kumimoji="0" lang="zh-CN" altLang="en-US" sz="2400">
                <a:solidFill>
                  <a:srgbClr val="1E86B4"/>
                </a:solidFill>
                <a:effectLst>
                  <a:outerShdw blurRad="38100" dist="38100" dir="2700000" algn="tl">
                    <a:srgbClr val="C0C0C0"/>
                  </a:outerShdw>
                </a:effectLst>
              </a:rPr>
              <a:t>点 ，此时系统</a:t>
            </a:r>
            <a:r>
              <a:rPr kumimoji="0" lang="zh-CN" altLang="en-US" sz="2400">
                <a:solidFill>
                  <a:srgbClr val="FF0000"/>
                </a:solidFill>
                <a:effectLst>
                  <a:outerShdw blurRad="38100" dist="38100" dir="2700000" algn="tl">
                    <a:srgbClr val="C0C0C0"/>
                  </a:outerShdw>
                </a:effectLst>
              </a:rPr>
              <a:t>开环稳定</a:t>
            </a:r>
            <a:r>
              <a:rPr kumimoji="0" lang="zh-CN" altLang="en-US" sz="2400">
                <a:solidFill>
                  <a:srgbClr val="1E86B4"/>
                </a:solidFill>
                <a:effectLst>
                  <a:outerShdw blurRad="38100" dist="38100" dir="2700000" algn="tl">
                    <a:srgbClr val="C0C0C0"/>
                  </a:outerShdw>
                </a:effectLst>
              </a:rPr>
              <a:t>。</a:t>
            </a:r>
          </a:p>
        </p:txBody>
      </p:sp>
    </p:spTree>
  </p:cSld>
  <p:clrMapOvr>
    <a:masterClrMapping/>
  </p:clrMapOvr>
  <p:transition>
    <p:push/>
  </p:transition>
</p:sld>
</file>

<file path=ppt/slides/slide15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4341" name="Text Box 21"/>
          <p:cNvSpPr txBox="1">
            <a:spLocks noChangeArrowheads="1"/>
          </p:cNvSpPr>
          <p:nvPr/>
        </p:nvSpPr>
        <p:spPr bwMode="auto">
          <a:xfrm>
            <a:off x="900113" y="1341438"/>
            <a:ext cx="4845050" cy="549275"/>
          </a:xfrm>
          <a:prstGeom prst="rect">
            <a:avLst/>
          </a:prstGeom>
          <a:noFill/>
          <a:ln w="9525" algn="ctr">
            <a:noFill/>
            <a:miter lim="800000"/>
            <a:headEnd/>
            <a:tailEnd/>
          </a:ln>
          <a:effectLst/>
        </p:spPr>
        <p:txBody>
          <a:bodyPr>
            <a:spAutoFit/>
          </a:bodyPr>
          <a:lstStyle/>
          <a:p>
            <a:pPr>
              <a:lnSpc>
                <a:spcPct val="125000"/>
              </a:lnSpc>
              <a:defRPr/>
            </a:pPr>
            <a:r>
              <a:rPr kumimoji="0" lang="zh-CN" altLang="en-US" sz="2400">
                <a:solidFill>
                  <a:srgbClr val="0000FF"/>
                </a:solidFill>
                <a:effectLst>
                  <a:outerShdw blurRad="38100" dist="38100" dir="2700000" algn="tl">
                    <a:srgbClr val="C0C0C0"/>
                  </a:outerShdw>
                </a:effectLst>
              </a:rPr>
              <a:t>离散系统奈氏判据为：</a:t>
            </a:r>
          </a:p>
        </p:txBody>
      </p:sp>
      <p:sp>
        <p:nvSpPr>
          <p:cNvPr id="184342" name="Text Box 22"/>
          <p:cNvSpPr txBox="1">
            <a:spLocks noChangeArrowheads="1"/>
          </p:cNvSpPr>
          <p:nvPr/>
        </p:nvSpPr>
        <p:spPr bwMode="auto">
          <a:xfrm>
            <a:off x="971550" y="2060575"/>
            <a:ext cx="7508875" cy="1463675"/>
          </a:xfrm>
          <a:prstGeom prst="rect">
            <a:avLst/>
          </a:prstGeom>
          <a:noFill/>
          <a:ln w="9525" algn="ctr">
            <a:noFill/>
            <a:miter lim="800000"/>
            <a:headEnd/>
            <a:tailEnd/>
          </a:ln>
          <a:effectLst/>
        </p:spPr>
        <p:txBody>
          <a:bodyPr>
            <a:spAutoFit/>
          </a:bodyPr>
          <a:lstStyle/>
          <a:p>
            <a:pPr>
              <a:lnSpc>
                <a:spcPct val="125000"/>
              </a:lnSpc>
              <a:defRPr/>
            </a:pPr>
            <a:r>
              <a:rPr kumimoji="0" lang="zh-CN" altLang="en-US" sz="2400" dirty="0">
                <a:solidFill>
                  <a:srgbClr val="FF0000"/>
                </a:solidFill>
                <a:effectLst>
                  <a:outerShdw blurRad="38100" dist="38100" dir="2700000" algn="tl">
                    <a:srgbClr val="C0C0C0"/>
                  </a:outerShdw>
                </a:effectLst>
              </a:rPr>
              <a:t>若开环系统不稳定：</a:t>
            </a:r>
            <a:r>
              <a:rPr kumimoji="0" lang="zh-CN" altLang="en-US" sz="2400" dirty="0">
                <a:effectLst>
                  <a:outerShdw blurRad="38100" dist="38100" dir="2700000" algn="tl">
                    <a:srgbClr val="C0C0C0"/>
                  </a:outerShdw>
                </a:effectLst>
              </a:rPr>
              <a:t>开环系统在单位圆外有 </a:t>
            </a:r>
            <a:r>
              <a:rPr kumimoji="0" lang="en-US" altLang="zh-CN" sz="2400" i="1" dirty="0">
                <a:effectLst>
                  <a:outerShdw blurRad="38100" dist="38100" dir="2700000" algn="tl">
                    <a:srgbClr val="C0C0C0"/>
                  </a:outerShdw>
                </a:effectLst>
              </a:rPr>
              <a:t>N</a:t>
            </a:r>
            <a:r>
              <a:rPr kumimoji="0" lang="en-US" altLang="zh-CN" sz="2400" i="1" baseline="-25000" dirty="0">
                <a:effectLst>
                  <a:outerShdw blurRad="38100" dist="38100" dir="2700000" algn="tl">
                    <a:srgbClr val="C0C0C0"/>
                  </a:outerShdw>
                </a:effectLst>
              </a:rPr>
              <a:t>P</a:t>
            </a:r>
            <a:r>
              <a:rPr kumimoji="0" lang="zh-CN" altLang="en-US" sz="2400" dirty="0">
                <a:effectLst>
                  <a:outerShdw blurRad="38100" dist="38100" dir="2700000" algn="tl">
                    <a:srgbClr val="C0C0C0"/>
                  </a:outerShdw>
                </a:effectLst>
              </a:rPr>
              <a:t>个极点，则闭环系统稳定的充要条件是：系统的开环频率特性                 逆时针绕 </a:t>
            </a:r>
            <a:r>
              <a:rPr kumimoji="0" lang="en-US" altLang="zh-CN" sz="2400" dirty="0">
                <a:effectLst>
                  <a:outerShdw blurRad="38100" dist="38100" dir="2700000" algn="tl">
                    <a:srgbClr val="C0C0C0"/>
                  </a:outerShdw>
                </a:effectLst>
              </a:rPr>
              <a:t>(-1, </a:t>
            </a:r>
            <a:r>
              <a:rPr kumimoji="0" lang="en-US" altLang="zh-CN" sz="2400" i="1" dirty="0">
                <a:effectLst>
                  <a:outerShdw blurRad="38100" dist="38100" dir="2700000" algn="tl">
                    <a:srgbClr val="C0C0C0"/>
                  </a:outerShdw>
                </a:effectLst>
              </a:rPr>
              <a:t>j</a:t>
            </a:r>
            <a:r>
              <a:rPr kumimoji="0" lang="en-US" altLang="zh-CN" sz="2400" dirty="0">
                <a:effectLst>
                  <a:outerShdw blurRad="38100" dist="38100" dir="2700000" algn="tl">
                    <a:srgbClr val="C0C0C0"/>
                  </a:outerShdw>
                </a:effectLst>
              </a:rPr>
              <a:t>0) </a:t>
            </a:r>
            <a:r>
              <a:rPr kumimoji="0" lang="zh-CN" altLang="en-US" sz="2400" dirty="0">
                <a:effectLst>
                  <a:outerShdw blurRad="38100" dist="38100" dir="2700000" algn="tl">
                    <a:srgbClr val="C0C0C0"/>
                  </a:outerShdw>
                </a:effectLst>
              </a:rPr>
              <a:t>点 </a:t>
            </a:r>
            <a:r>
              <a:rPr kumimoji="0" lang="en-US" altLang="zh-CN" sz="2400" i="1" dirty="0">
                <a:effectLst>
                  <a:outerShdw blurRad="38100" dist="38100" dir="2700000" algn="tl">
                    <a:srgbClr val="C0C0C0"/>
                  </a:outerShdw>
                </a:effectLst>
              </a:rPr>
              <a:t>N</a:t>
            </a:r>
            <a:r>
              <a:rPr kumimoji="0" lang="en-US" altLang="zh-CN" sz="2400" i="1" baseline="-25000" dirty="0">
                <a:effectLst>
                  <a:outerShdw blurRad="38100" dist="38100" dir="2700000" algn="tl">
                    <a:srgbClr val="C0C0C0"/>
                  </a:outerShdw>
                </a:effectLst>
              </a:rPr>
              <a:t>P </a:t>
            </a:r>
            <a:r>
              <a:rPr kumimoji="0" lang="zh-CN" altLang="en-US" sz="2400" dirty="0">
                <a:effectLst>
                  <a:outerShdw blurRad="38100" dist="38100" dir="2700000" algn="tl">
                    <a:srgbClr val="C0C0C0"/>
                  </a:outerShdw>
                </a:effectLst>
              </a:rPr>
              <a:t>圈。</a:t>
            </a:r>
          </a:p>
        </p:txBody>
      </p:sp>
      <p:sp>
        <p:nvSpPr>
          <p:cNvPr id="184343" name="Rectangle 23"/>
          <p:cNvSpPr>
            <a:spLocks noChangeArrowheads="1"/>
          </p:cNvSpPr>
          <p:nvPr/>
        </p:nvSpPr>
        <p:spPr bwMode="auto">
          <a:xfrm>
            <a:off x="20638" y="30940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0354" name="Object 24"/>
          <p:cNvGraphicFramePr>
            <a:graphicFrameLocks noChangeAspect="1"/>
          </p:cNvGraphicFramePr>
          <p:nvPr/>
        </p:nvGraphicFramePr>
        <p:xfrm>
          <a:off x="8101013" y="2565400"/>
          <a:ext cx="1008062" cy="400050"/>
        </p:xfrm>
        <a:graphic>
          <a:graphicData uri="http://schemas.openxmlformats.org/presentationml/2006/ole">
            <mc:AlternateContent xmlns:mc="http://schemas.openxmlformats.org/markup-compatibility/2006">
              <mc:Choice xmlns:v="urn:schemas-microsoft-com:vml" Requires="v">
                <p:oleObj name="Equation" r:id="rId3" imgW="596900" imgH="241300" progId="Equation.DSMT4">
                  <p:embed/>
                </p:oleObj>
              </mc:Choice>
              <mc:Fallback>
                <p:oleObj name="Equation" r:id="rId3" imgW="596900" imgH="2413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101013" y="2565400"/>
                        <a:ext cx="1008062" cy="4000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4345" name="Text Box 25"/>
          <p:cNvSpPr txBox="1">
            <a:spLocks noChangeArrowheads="1"/>
          </p:cNvSpPr>
          <p:nvPr/>
        </p:nvSpPr>
        <p:spPr bwMode="auto">
          <a:xfrm>
            <a:off x="920750" y="3717925"/>
            <a:ext cx="7508875" cy="1006475"/>
          </a:xfrm>
          <a:prstGeom prst="rect">
            <a:avLst/>
          </a:prstGeom>
          <a:noFill/>
          <a:ln w="9525" algn="ctr">
            <a:noFill/>
            <a:miter lim="800000"/>
            <a:headEnd/>
            <a:tailEnd/>
          </a:ln>
          <a:effectLst/>
        </p:spPr>
        <p:txBody>
          <a:bodyPr>
            <a:spAutoFit/>
          </a:bodyPr>
          <a:lstStyle/>
          <a:p>
            <a:pPr>
              <a:lnSpc>
                <a:spcPct val="125000"/>
              </a:lnSpc>
              <a:defRPr/>
            </a:pPr>
            <a:r>
              <a:rPr kumimoji="0" lang="zh-CN" altLang="en-US" sz="2400" dirty="0">
                <a:solidFill>
                  <a:srgbClr val="FF0000"/>
                </a:solidFill>
                <a:effectLst>
                  <a:outerShdw blurRad="38100" dist="38100" dir="2700000" algn="tl">
                    <a:srgbClr val="C0C0C0"/>
                  </a:outerShdw>
                </a:effectLst>
              </a:rPr>
              <a:t>若开环系统稳定：</a:t>
            </a:r>
            <a:r>
              <a:rPr kumimoji="0" lang="zh-CN" altLang="en-US" sz="2400" dirty="0">
                <a:effectLst>
                  <a:outerShdw blurRad="38100" dist="38100" dir="2700000" algn="tl">
                    <a:srgbClr val="C0C0C0"/>
                  </a:outerShdw>
                </a:effectLst>
              </a:rPr>
              <a:t>则闭环系统稳定的充要条件是：系统的开环频率特性              不包围 </a:t>
            </a:r>
            <a:r>
              <a:rPr kumimoji="0" lang="en-US" altLang="zh-CN" sz="2400" dirty="0">
                <a:effectLst>
                  <a:outerShdw blurRad="38100" dist="38100" dir="2700000" algn="tl">
                    <a:srgbClr val="C0C0C0"/>
                  </a:outerShdw>
                </a:effectLst>
              </a:rPr>
              <a:t>(-1, </a:t>
            </a:r>
            <a:r>
              <a:rPr kumimoji="0" lang="en-US" altLang="zh-CN" sz="2400" i="1" dirty="0">
                <a:effectLst>
                  <a:outerShdw blurRad="38100" dist="38100" dir="2700000" algn="tl">
                    <a:srgbClr val="C0C0C0"/>
                  </a:outerShdw>
                </a:effectLst>
              </a:rPr>
              <a:t>j</a:t>
            </a:r>
            <a:r>
              <a:rPr kumimoji="0" lang="en-US" altLang="zh-CN" sz="2400" dirty="0">
                <a:effectLst>
                  <a:outerShdw blurRad="38100" dist="38100" dir="2700000" algn="tl">
                    <a:srgbClr val="C0C0C0"/>
                  </a:outerShdw>
                </a:effectLst>
              </a:rPr>
              <a:t>0) </a:t>
            </a:r>
            <a:r>
              <a:rPr kumimoji="0" lang="zh-CN" altLang="en-US" sz="2400" dirty="0">
                <a:effectLst>
                  <a:outerShdw blurRad="38100" dist="38100" dir="2700000" algn="tl">
                    <a:srgbClr val="C0C0C0"/>
                  </a:outerShdw>
                </a:effectLst>
              </a:rPr>
              <a:t>点。</a:t>
            </a:r>
          </a:p>
        </p:txBody>
      </p:sp>
      <p:graphicFrame>
        <p:nvGraphicFramePr>
          <p:cNvPr id="100355" name="Object 26"/>
          <p:cNvGraphicFramePr>
            <a:graphicFrameLocks noChangeAspect="1"/>
          </p:cNvGraphicFramePr>
          <p:nvPr/>
        </p:nvGraphicFramePr>
        <p:xfrm>
          <a:off x="3470275" y="4251325"/>
          <a:ext cx="1081088" cy="438150"/>
        </p:xfrm>
        <a:graphic>
          <a:graphicData uri="http://schemas.openxmlformats.org/presentationml/2006/ole">
            <mc:AlternateContent xmlns:mc="http://schemas.openxmlformats.org/markup-compatibility/2006">
              <mc:Choice xmlns:v="urn:schemas-microsoft-com:vml" Requires="v">
                <p:oleObj name="Equation" r:id="rId5" imgW="596900" imgH="241300" progId="Equation.DSMT4">
                  <p:embed/>
                </p:oleObj>
              </mc:Choice>
              <mc:Fallback>
                <p:oleObj name="Equation" r:id="rId5" imgW="596900" imgH="241300" progId="Equation.DSMT4">
                  <p:embed/>
                  <p:pic>
                    <p:nvPicPr>
                      <p:cNvPr id="0" name="Picture 8"/>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470275" y="4251325"/>
                        <a:ext cx="1081088" cy="43815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57.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5356" name="Text Box 12"/>
          <p:cNvSpPr txBox="1">
            <a:spLocks noChangeArrowheads="1"/>
          </p:cNvSpPr>
          <p:nvPr/>
        </p:nvSpPr>
        <p:spPr bwMode="auto">
          <a:xfrm>
            <a:off x="755650" y="1557338"/>
            <a:ext cx="7653338"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3.17</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设计算机控制系统的开环脉冲传递函数为</a:t>
            </a:r>
          </a:p>
        </p:txBody>
      </p:sp>
      <p:sp>
        <p:nvSpPr>
          <p:cNvPr id="185357" name="Rectangle 13"/>
          <p:cNvSpPr>
            <a:spLocks noChangeArrowheads="1"/>
          </p:cNvSpPr>
          <p:nvPr/>
        </p:nvSpPr>
        <p:spPr bwMode="auto">
          <a:xfrm>
            <a:off x="20638" y="29321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1378" name="Object 14"/>
          <p:cNvGraphicFramePr>
            <a:graphicFrameLocks noChangeAspect="1"/>
          </p:cNvGraphicFramePr>
          <p:nvPr/>
        </p:nvGraphicFramePr>
        <p:xfrm>
          <a:off x="2647950" y="2133600"/>
          <a:ext cx="3168650" cy="825500"/>
        </p:xfrm>
        <a:graphic>
          <a:graphicData uri="http://schemas.openxmlformats.org/presentationml/2006/ole">
            <mc:AlternateContent xmlns:mc="http://schemas.openxmlformats.org/markup-compatibility/2006">
              <mc:Choice xmlns:v="urn:schemas-microsoft-com:vml" Requires="v">
                <p:oleObj name="Equation" r:id="rId3" imgW="1612900" imgH="419100" progId="Equation.DSMT4">
                  <p:embed/>
                </p:oleObj>
              </mc:Choice>
              <mc:Fallback>
                <p:oleObj name="Equation" r:id="rId3" imgW="1612900" imgH="4191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647950" y="2133600"/>
                        <a:ext cx="3168650" cy="8255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5359" name="Text Box 15"/>
          <p:cNvSpPr txBox="1">
            <a:spLocks noChangeArrowheads="1"/>
          </p:cNvSpPr>
          <p:nvPr/>
        </p:nvSpPr>
        <p:spPr bwMode="auto">
          <a:xfrm>
            <a:off x="828675" y="2997200"/>
            <a:ext cx="5780088"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试用奈氏判据判别系统的稳定性。</a:t>
            </a:r>
          </a:p>
        </p:txBody>
      </p:sp>
      <p:sp>
        <p:nvSpPr>
          <p:cNvPr id="185360" name="Text Box 16"/>
          <p:cNvSpPr txBox="1">
            <a:spLocks noChangeArrowheads="1"/>
          </p:cNvSpPr>
          <p:nvPr/>
        </p:nvSpPr>
        <p:spPr bwMode="auto">
          <a:xfrm>
            <a:off x="900113" y="3644900"/>
            <a:ext cx="4484687"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开环频率特性为：</a:t>
            </a:r>
          </a:p>
        </p:txBody>
      </p:sp>
      <p:sp>
        <p:nvSpPr>
          <p:cNvPr id="185361" name="Rectangle 17"/>
          <p:cNvSpPr>
            <a:spLocks noChangeArrowheads="1"/>
          </p:cNvSpPr>
          <p:nvPr/>
        </p:nvSpPr>
        <p:spPr bwMode="auto">
          <a:xfrm>
            <a:off x="20638" y="291782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1379" name="Object 18"/>
          <p:cNvGraphicFramePr>
            <a:graphicFrameLocks noChangeAspect="1"/>
          </p:cNvGraphicFramePr>
          <p:nvPr/>
        </p:nvGraphicFramePr>
        <p:xfrm>
          <a:off x="1568450" y="4365625"/>
          <a:ext cx="5329238" cy="795338"/>
        </p:xfrm>
        <a:graphic>
          <a:graphicData uri="http://schemas.openxmlformats.org/presentationml/2006/ole">
            <mc:AlternateContent xmlns:mc="http://schemas.openxmlformats.org/markup-compatibility/2006">
              <mc:Choice xmlns:v="urn:schemas-microsoft-com:vml" Requires="v">
                <p:oleObj name="Equation" r:id="rId5" imgW="2997200" imgH="444500" progId="Equation.DSMT4">
                  <p:embed/>
                </p:oleObj>
              </mc:Choice>
              <mc:Fallback>
                <p:oleObj name="Equation" r:id="rId5" imgW="2997200" imgH="44450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1568450" y="4365625"/>
                        <a:ext cx="5329238" cy="7953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58.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51554" name="Picture 11"/>
          <p:cNvPicPr>
            <a:picLocks noChangeAspect="1" noChangeArrowheads="1"/>
          </p:cNvPicPr>
          <p:nvPr/>
        </p:nvPicPr>
        <p:blipFill>
          <a:blip r:embed="rId3" cstate="print"/>
          <a:srcRect/>
          <a:stretch>
            <a:fillRect/>
          </a:stretch>
        </p:blipFill>
        <p:spPr bwMode="auto">
          <a:xfrm>
            <a:off x="539750" y="1341438"/>
            <a:ext cx="5256213" cy="4605337"/>
          </a:xfrm>
          <a:prstGeom prst="rect">
            <a:avLst/>
          </a:prstGeom>
          <a:noFill/>
          <a:ln w="9525">
            <a:noFill/>
            <a:miter lim="800000"/>
            <a:headEnd/>
            <a:tailEnd/>
          </a:ln>
        </p:spPr>
      </p:pic>
      <p:sp>
        <p:nvSpPr>
          <p:cNvPr id="186380" name="Text Box 12"/>
          <p:cNvSpPr txBox="1">
            <a:spLocks noChangeArrowheads="1"/>
          </p:cNvSpPr>
          <p:nvPr/>
        </p:nvSpPr>
        <p:spPr bwMode="auto">
          <a:xfrm>
            <a:off x="1619250" y="6092825"/>
            <a:ext cx="4052888"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a:t>
            </a:r>
            <a:r>
              <a:rPr kumimoji="0" lang="en-US" altLang="zh-CN">
                <a:effectLst>
                  <a:outerShdw blurRad="38100" dist="38100" dir="2700000" algn="tl">
                    <a:srgbClr val="C0C0C0"/>
                  </a:outerShdw>
                </a:effectLst>
              </a:rPr>
              <a:t>3.29 </a:t>
            </a:r>
            <a:r>
              <a:rPr kumimoji="0" lang="zh-CN" altLang="en-US">
                <a:effectLst>
                  <a:outerShdw blurRad="38100" dist="38100" dir="2700000" algn="tl">
                    <a:srgbClr val="C0C0C0"/>
                  </a:outerShdw>
                </a:effectLst>
              </a:rPr>
              <a:t>系统开环频率特性</a:t>
            </a:r>
          </a:p>
        </p:txBody>
      </p:sp>
      <p:sp>
        <p:nvSpPr>
          <p:cNvPr id="186381" name="Text Box 13"/>
          <p:cNvSpPr txBox="1">
            <a:spLocks noChangeArrowheads="1"/>
          </p:cNvSpPr>
          <p:nvPr/>
        </p:nvSpPr>
        <p:spPr bwMode="auto">
          <a:xfrm>
            <a:off x="6156325" y="2349500"/>
            <a:ext cx="2447925" cy="2282825"/>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结论：</a:t>
            </a:r>
          </a:p>
          <a:p>
            <a:pPr>
              <a:defRPr/>
            </a:pPr>
            <a:r>
              <a:rPr kumimoji="0" lang="zh-CN" altLang="en-US" sz="2400">
                <a:effectLst>
                  <a:outerShdw blurRad="38100" dist="38100" dir="2700000" algn="tl">
                    <a:srgbClr val="C0C0C0"/>
                  </a:outerShdw>
                </a:effectLst>
              </a:rPr>
              <a:t>由图可知，该系统开环频率特性不包围 </a:t>
            </a:r>
            <a:r>
              <a:rPr kumimoji="0" lang="en-US" altLang="zh-CN" sz="2400">
                <a:effectLst>
                  <a:outerShdw blurRad="38100" dist="38100" dir="2700000" algn="tl">
                    <a:srgbClr val="C0C0C0"/>
                  </a:outerShdw>
                </a:effectLst>
              </a:rPr>
              <a:t>(-1, </a:t>
            </a:r>
            <a:r>
              <a:rPr kumimoji="0" lang="en-US" altLang="zh-CN" sz="2400" i="1">
                <a:effectLst>
                  <a:outerShdw blurRad="38100" dist="38100" dir="2700000" algn="tl">
                    <a:srgbClr val="C0C0C0"/>
                  </a:outerShdw>
                </a:effectLst>
              </a:rPr>
              <a:t>j</a:t>
            </a:r>
            <a:r>
              <a:rPr kumimoji="0" lang="en-US" altLang="zh-CN" sz="2400">
                <a:effectLst>
                  <a:outerShdw blurRad="38100" dist="38100" dir="2700000" algn="tl">
                    <a:srgbClr val="C0C0C0"/>
                  </a:outerShdw>
                </a:effectLst>
              </a:rPr>
              <a:t>0) </a:t>
            </a:r>
            <a:r>
              <a:rPr kumimoji="0" lang="zh-CN" altLang="en-US" sz="2400">
                <a:effectLst>
                  <a:outerShdw blurRad="38100" dist="38100" dir="2700000" algn="tl">
                    <a:srgbClr val="C0C0C0"/>
                  </a:outerShdw>
                </a:effectLst>
              </a:rPr>
              <a:t>点，所以</a:t>
            </a:r>
            <a:r>
              <a:rPr kumimoji="0" lang="zh-CN" altLang="en-US" sz="2400">
                <a:solidFill>
                  <a:srgbClr val="FF0000"/>
                </a:solidFill>
                <a:effectLst>
                  <a:outerShdw blurRad="38100" dist="38100" dir="2700000" algn="tl">
                    <a:srgbClr val="C0C0C0"/>
                  </a:outerShdw>
                </a:effectLst>
              </a:rPr>
              <a:t>系统闭环稳定</a:t>
            </a:r>
            <a:r>
              <a:rPr kumimoji="0" lang="zh-CN" altLang="en-US" sz="2400">
                <a:effectLst>
                  <a:outerShdw blurRad="38100" dist="38100" dir="2700000" algn="tl">
                    <a:srgbClr val="C0C0C0"/>
                  </a:outerShdw>
                </a:effectLst>
              </a:rPr>
              <a:t>。</a:t>
            </a:r>
          </a:p>
        </p:txBody>
      </p:sp>
    </p:spTree>
  </p:cSld>
  <p:clrMapOvr>
    <a:masterClrMapping/>
  </p:clrMapOvr>
  <p:transition>
    <p:push/>
  </p:transition>
</p:sld>
</file>

<file path=ppt/slides/slide159.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7413" name="Text Box 21"/>
          <p:cNvSpPr txBox="1">
            <a:spLocks noChangeArrowheads="1"/>
          </p:cNvSpPr>
          <p:nvPr/>
        </p:nvSpPr>
        <p:spPr bwMode="auto">
          <a:xfrm>
            <a:off x="900113" y="476250"/>
            <a:ext cx="6767512" cy="519113"/>
          </a:xfrm>
          <a:prstGeom prst="rect">
            <a:avLst/>
          </a:prstGeom>
          <a:noFill/>
          <a:ln w="9525" algn="ctr">
            <a:noFill/>
            <a:miter lim="800000"/>
            <a:headEnd/>
            <a:tailEnd/>
          </a:ln>
          <a:effectLst/>
        </p:spPr>
        <p:txBody>
          <a:bodyPr>
            <a:spAutoFit/>
          </a:bodyPr>
          <a:lstStyle/>
          <a:p>
            <a:pPr>
              <a:defRPr/>
            </a:pPr>
            <a:r>
              <a:rPr kumimoji="0" lang="en-US" altLang="zh-CN" sz="2800">
                <a:solidFill>
                  <a:srgbClr val="0000FF"/>
                </a:solidFill>
                <a:effectLst>
                  <a:outerShdw blurRad="38100" dist="38100" dir="2700000" algn="tl">
                    <a:srgbClr val="C0C0C0"/>
                  </a:outerShdw>
                </a:effectLst>
              </a:rPr>
              <a:t>3.8.3 </a:t>
            </a:r>
            <a:r>
              <a:rPr kumimoji="0" lang="zh-CN" altLang="en-US" sz="2800">
                <a:solidFill>
                  <a:srgbClr val="0000FF"/>
                </a:solidFill>
                <a:effectLst>
                  <a:outerShdw blurRad="38100" dist="38100" dir="2700000" algn="tl">
                    <a:srgbClr val="C0C0C0"/>
                  </a:outerShdw>
                </a:effectLst>
              </a:rPr>
              <a:t>离散系统伯德图（</a:t>
            </a:r>
            <a:r>
              <a:rPr kumimoji="0" lang="en-US" altLang="zh-CN" sz="2800">
                <a:solidFill>
                  <a:srgbClr val="0000FF"/>
                </a:solidFill>
                <a:effectLst>
                  <a:outerShdw blurRad="38100" dist="38100" dir="2700000" algn="tl">
                    <a:srgbClr val="C0C0C0"/>
                  </a:outerShdw>
                </a:effectLst>
              </a:rPr>
              <a:t>Bode</a:t>
            </a:r>
            <a:r>
              <a:rPr kumimoji="0" lang="zh-CN" altLang="en-US" sz="2800">
                <a:solidFill>
                  <a:srgbClr val="0000FF"/>
                </a:solidFill>
                <a:effectLst>
                  <a:outerShdw blurRad="38100" dist="38100" dir="2700000" algn="tl">
                    <a:srgbClr val="C0C0C0"/>
                  </a:outerShdw>
                </a:effectLst>
              </a:rPr>
              <a:t>）分析</a:t>
            </a:r>
          </a:p>
        </p:txBody>
      </p:sp>
      <p:sp>
        <p:nvSpPr>
          <p:cNvPr id="187414" name="Text Box 22"/>
          <p:cNvSpPr txBox="1">
            <a:spLocks noChangeArrowheads="1"/>
          </p:cNvSpPr>
          <p:nvPr/>
        </p:nvSpPr>
        <p:spPr bwMode="auto">
          <a:xfrm>
            <a:off x="1116013" y="1484313"/>
            <a:ext cx="6932612" cy="18446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solidFill>
                  <a:srgbClr val="0000FF"/>
                </a:solidFill>
                <a:effectLst>
                  <a:outerShdw blurRad="38100" dist="38100" dir="2700000" algn="tl">
                    <a:srgbClr val="C0C0C0"/>
                  </a:outerShdw>
                </a:effectLst>
              </a:rPr>
              <a:t>伯德图（</a:t>
            </a:r>
            <a:r>
              <a:rPr kumimoji="0" lang="en-US" altLang="zh-CN" sz="2400">
                <a:solidFill>
                  <a:srgbClr val="0000FF"/>
                </a:solidFill>
                <a:effectLst>
                  <a:outerShdw blurRad="38100" dist="38100" dir="2700000" algn="tl">
                    <a:srgbClr val="C0C0C0"/>
                  </a:outerShdw>
                </a:effectLst>
              </a:rPr>
              <a:t>Bode</a:t>
            </a:r>
            <a:r>
              <a:rPr kumimoji="0" lang="zh-CN" altLang="en-US" sz="2400">
                <a:solidFill>
                  <a:srgbClr val="0000FF"/>
                </a:solidFill>
                <a:effectLst>
                  <a:outerShdw blurRad="38100" dist="38100" dir="2700000" algn="tl">
                    <a:srgbClr val="C0C0C0"/>
                  </a:outerShdw>
                </a:effectLst>
              </a:rPr>
              <a:t>）原理：</a:t>
            </a:r>
          </a:p>
          <a:p>
            <a:pPr>
              <a:lnSpc>
                <a:spcPct val="120000"/>
              </a:lnSpc>
              <a:defRPr/>
            </a:pPr>
            <a:r>
              <a:rPr kumimoji="0" lang="zh-CN" altLang="en-US" sz="2400">
                <a:effectLst>
                  <a:outerShdw blurRad="38100" dist="38100" dir="2700000" algn="tl">
                    <a:srgbClr val="C0C0C0"/>
                  </a:outerShdw>
                </a:effectLst>
              </a:rPr>
              <a:t>利用开环系统的对数频率特性，对系统的稳定性、稳态性能和暂态性能进行分析，是工程上常用的系统频域特性的性能分析和校正环节设计方法。</a:t>
            </a:r>
          </a:p>
        </p:txBody>
      </p:sp>
      <p:sp>
        <p:nvSpPr>
          <p:cNvPr id="187415" name="Text Box 23"/>
          <p:cNvSpPr txBox="1">
            <a:spLocks noChangeArrowheads="1"/>
          </p:cNvSpPr>
          <p:nvPr/>
        </p:nvSpPr>
        <p:spPr bwMode="auto">
          <a:xfrm>
            <a:off x="1168400" y="3643313"/>
            <a:ext cx="48450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离散系统伯德图：</a:t>
            </a:r>
          </a:p>
        </p:txBody>
      </p:sp>
      <p:sp>
        <p:nvSpPr>
          <p:cNvPr id="187416" name="Text Box 24"/>
          <p:cNvSpPr txBox="1">
            <a:spLocks noChangeArrowheads="1"/>
          </p:cNvSpPr>
          <p:nvPr/>
        </p:nvSpPr>
        <p:spPr bwMode="auto">
          <a:xfrm>
            <a:off x="1239838" y="4240213"/>
            <a:ext cx="6934200" cy="968375"/>
          </a:xfrm>
          <a:prstGeom prst="rect">
            <a:avLst/>
          </a:prstGeom>
          <a:noFill/>
          <a:ln w="9525" algn="ctr">
            <a:noFill/>
            <a:miter lim="800000"/>
            <a:headEnd/>
            <a:tailEnd/>
          </a:ln>
          <a:effectLst/>
        </p:spPr>
        <p:txBody>
          <a:bodyPr>
            <a:spAutoFit/>
          </a:bodyPr>
          <a:lstStyle/>
          <a:p>
            <a:pPr>
              <a:lnSpc>
                <a:spcPct val="120000"/>
              </a:lnSpc>
              <a:defRPr/>
            </a:pPr>
            <a:r>
              <a:rPr kumimoji="0" lang="zh-CN" altLang="en-US" sz="2400">
                <a:effectLst>
                  <a:outerShdw blurRad="38100" dist="38100" dir="2700000" algn="tl">
                    <a:srgbClr val="C0C0C0"/>
                  </a:outerShdw>
                </a:effectLst>
              </a:rPr>
              <a:t>需要经过</a:t>
            </a: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变换，将开环系统的频率特性             变成频率    的有理分式函数。</a:t>
            </a:r>
          </a:p>
        </p:txBody>
      </p:sp>
      <p:sp>
        <p:nvSpPr>
          <p:cNvPr id="187417" name="Rectangle 25"/>
          <p:cNvSpPr>
            <a:spLocks noChangeArrowheads="1"/>
          </p:cNvSpPr>
          <p:nvPr/>
        </p:nvSpPr>
        <p:spPr bwMode="auto">
          <a:xfrm>
            <a:off x="73025" y="2809875"/>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2402" name="Object 26"/>
          <p:cNvGraphicFramePr>
            <a:graphicFrameLocks noChangeAspect="1"/>
          </p:cNvGraphicFramePr>
          <p:nvPr/>
        </p:nvGraphicFramePr>
        <p:xfrm>
          <a:off x="6805613" y="4364038"/>
          <a:ext cx="900112" cy="385762"/>
        </p:xfrm>
        <a:graphic>
          <a:graphicData uri="http://schemas.openxmlformats.org/presentationml/2006/ole">
            <mc:AlternateContent xmlns:mc="http://schemas.openxmlformats.org/markup-compatibility/2006">
              <mc:Choice xmlns:v="urn:schemas-microsoft-com:vml" Requires="v">
                <p:oleObj name="Equation" r:id="rId3" imgW="533169" imgH="228501" progId="Equation.DSMT4">
                  <p:embed/>
                </p:oleObj>
              </mc:Choice>
              <mc:Fallback>
                <p:oleObj name="Equation" r:id="rId3" imgW="533169" imgH="228501"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6805613" y="4364038"/>
                        <a:ext cx="900112" cy="38576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7419" name="Rectangle 27"/>
          <p:cNvSpPr>
            <a:spLocks noChangeArrowheads="1"/>
          </p:cNvSpPr>
          <p:nvPr/>
        </p:nvSpPr>
        <p:spPr bwMode="auto">
          <a:xfrm>
            <a:off x="73025" y="285273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2403" name="Object 28"/>
          <p:cNvGraphicFramePr>
            <a:graphicFrameLocks noChangeAspect="1"/>
          </p:cNvGraphicFramePr>
          <p:nvPr/>
        </p:nvGraphicFramePr>
        <p:xfrm>
          <a:off x="2254250" y="4838700"/>
          <a:ext cx="287338" cy="269875"/>
        </p:xfrm>
        <a:graphic>
          <a:graphicData uri="http://schemas.openxmlformats.org/presentationml/2006/ole">
            <mc:AlternateContent xmlns:mc="http://schemas.openxmlformats.org/markup-compatibility/2006">
              <mc:Choice xmlns:v="urn:schemas-microsoft-com:vml" Requires="v">
                <p:oleObj name="Equation" r:id="rId5" imgW="152334" imgH="139639" progId="Equation.DSMT4">
                  <p:embed/>
                </p:oleObj>
              </mc:Choice>
              <mc:Fallback>
                <p:oleObj name="Equation" r:id="rId5" imgW="152334" imgH="139639"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254250" y="4838700"/>
                        <a:ext cx="287338" cy="2698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60.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88431" name="Text Box 15"/>
          <p:cNvSpPr txBox="1">
            <a:spLocks noChangeArrowheads="1"/>
          </p:cNvSpPr>
          <p:nvPr/>
        </p:nvSpPr>
        <p:spPr bwMode="auto">
          <a:xfrm>
            <a:off x="1116013" y="1700213"/>
            <a:ext cx="5276850" cy="457200"/>
          </a:xfrm>
          <a:prstGeom prst="rect">
            <a:avLst/>
          </a:prstGeom>
          <a:noFill/>
          <a:ln w="9525" algn="ctr">
            <a:noFill/>
            <a:miter lim="800000"/>
            <a:headEnd/>
            <a:tailEnd/>
          </a:ln>
          <a:effectLst/>
        </p:spPr>
        <p:txBody>
          <a:bodyPr>
            <a:spAutoFit/>
          </a:bodyPr>
          <a:lstStyle/>
          <a:p>
            <a:pPr>
              <a:defRPr/>
            </a:pPr>
            <a:r>
              <a:rPr kumimoji="0" lang="en-US" altLang="zh-CN" sz="2400" i="1">
                <a:effectLst>
                  <a:outerShdw blurRad="38100" dist="38100" dir="2700000" algn="tl">
                    <a:srgbClr val="C0C0C0"/>
                  </a:outerShdw>
                </a:effectLst>
              </a:rPr>
              <a:t>w</a:t>
            </a:r>
            <a:r>
              <a:rPr kumimoji="0" lang="zh-CN" altLang="en-US" sz="2400">
                <a:effectLst>
                  <a:outerShdw blurRad="38100" dist="38100" dir="2700000" algn="tl">
                    <a:srgbClr val="C0C0C0"/>
                  </a:outerShdw>
                </a:effectLst>
              </a:rPr>
              <a:t>变换（双线性变换）：</a:t>
            </a:r>
          </a:p>
        </p:txBody>
      </p:sp>
      <p:sp>
        <p:nvSpPr>
          <p:cNvPr id="188432" name="Rectangle 16"/>
          <p:cNvSpPr>
            <a:spLocks noChangeArrowheads="1"/>
          </p:cNvSpPr>
          <p:nvPr/>
        </p:nvSpPr>
        <p:spPr bwMode="auto">
          <a:xfrm>
            <a:off x="20638" y="28305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3426" name="Object 17"/>
          <p:cNvGraphicFramePr>
            <a:graphicFrameLocks noChangeAspect="1"/>
          </p:cNvGraphicFramePr>
          <p:nvPr/>
        </p:nvGraphicFramePr>
        <p:xfrm>
          <a:off x="1712913" y="2400300"/>
          <a:ext cx="1296987" cy="1368425"/>
        </p:xfrm>
        <a:graphic>
          <a:graphicData uri="http://schemas.openxmlformats.org/presentationml/2006/ole">
            <mc:AlternateContent xmlns:mc="http://schemas.openxmlformats.org/markup-compatibility/2006">
              <mc:Choice xmlns:v="urn:schemas-microsoft-com:vml" Requires="v">
                <p:oleObj name="Equation" r:id="rId3" imgW="723586" imgH="761669" progId="Equation.DSMT4">
                  <p:embed/>
                </p:oleObj>
              </mc:Choice>
              <mc:Fallback>
                <p:oleObj name="Equation" r:id="rId3" imgW="723586" imgH="761669" progId="Equation.DSMT4">
                  <p:embed/>
                  <p:pic>
                    <p:nvPicPr>
                      <p:cNvPr id="0" name="Picture 10"/>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712913" y="2400300"/>
                        <a:ext cx="1296987" cy="13684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8434" name="AutoShape 18"/>
          <p:cNvSpPr>
            <a:spLocks noChangeArrowheads="1"/>
          </p:cNvSpPr>
          <p:nvPr/>
        </p:nvSpPr>
        <p:spPr bwMode="auto">
          <a:xfrm>
            <a:off x="3513138" y="2976563"/>
            <a:ext cx="863600" cy="431800"/>
          </a:xfrm>
          <a:custGeom>
            <a:avLst/>
            <a:gdLst>
              <a:gd name="G0" fmla="+- 16200 0 0"/>
              <a:gd name="G1" fmla="+- 5400 0 0"/>
              <a:gd name="G2" fmla="+- 21600 0 5400"/>
              <a:gd name="G3" fmla="+- 10800 0 5400"/>
              <a:gd name="G4" fmla="+- 21600 0 16200"/>
              <a:gd name="G5" fmla="*/ G4 G3 10800"/>
              <a:gd name="G6" fmla="+- 21600 0 G5"/>
              <a:gd name="T0" fmla="*/ 16200 w 21600"/>
              <a:gd name="T1" fmla="*/ 0 h 21600"/>
              <a:gd name="T2" fmla="*/ 0 w 21600"/>
              <a:gd name="T3" fmla="*/ 10800 h 21600"/>
              <a:gd name="T4" fmla="*/ 16200 w 21600"/>
              <a:gd name="T5" fmla="*/ 21600 h 21600"/>
              <a:gd name="T6" fmla="*/ 21600 w 21600"/>
              <a:gd name="T7" fmla="*/ 10800 h 21600"/>
              <a:gd name="T8" fmla="*/ 17694720 60000 65536"/>
              <a:gd name="T9" fmla="*/ 11796480 60000 65536"/>
              <a:gd name="T10" fmla="*/ 5898240 60000 65536"/>
              <a:gd name="T11" fmla="*/ 0 60000 65536"/>
              <a:gd name="T12" fmla="*/ 3375 w 21600"/>
              <a:gd name="T13" fmla="*/ G1 h 21600"/>
              <a:gd name="T14" fmla="*/ G6 w 21600"/>
              <a:gd name="T15" fmla="*/ G2 h 21600"/>
            </a:gdLst>
            <a:ahLst/>
            <a:cxnLst>
              <a:cxn ang="T8">
                <a:pos x="T0" y="T1"/>
              </a:cxn>
              <a:cxn ang="T9">
                <a:pos x="T2" y="T3"/>
              </a:cxn>
              <a:cxn ang="T10">
                <a:pos x="T4" y="T5"/>
              </a:cxn>
              <a:cxn ang="T11">
                <a:pos x="T6" y="T7"/>
              </a:cxn>
            </a:cxnLst>
            <a:rect l="T12" t="T13" r="T14" b="T15"/>
            <a:pathLst>
              <a:path w="21600" h="21600">
                <a:moveTo>
                  <a:pt x="16200" y="0"/>
                </a:moveTo>
                <a:lnTo>
                  <a:pt x="16200" y="5400"/>
                </a:lnTo>
                <a:lnTo>
                  <a:pt x="3375" y="5400"/>
                </a:lnTo>
                <a:lnTo>
                  <a:pt x="3375" y="16200"/>
                </a:lnTo>
                <a:lnTo>
                  <a:pt x="16200" y="16200"/>
                </a:lnTo>
                <a:lnTo>
                  <a:pt x="16200" y="21600"/>
                </a:lnTo>
                <a:lnTo>
                  <a:pt x="21600" y="10800"/>
                </a:lnTo>
                <a:close/>
              </a:path>
              <a:path w="21600" h="21600">
                <a:moveTo>
                  <a:pt x="1350" y="5400"/>
                </a:moveTo>
                <a:lnTo>
                  <a:pt x="1350" y="16200"/>
                </a:lnTo>
                <a:lnTo>
                  <a:pt x="2700" y="16200"/>
                </a:lnTo>
                <a:lnTo>
                  <a:pt x="2700" y="5400"/>
                </a:lnTo>
                <a:close/>
              </a:path>
              <a:path w="21600" h="21600">
                <a:moveTo>
                  <a:pt x="0" y="5400"/>
                </a:moveTo>
                <a:lnTo>
                  <a:pt x="0" y="16200"/>
                </a:lnTo>
                <a:lnTo>
                  <a:pt x="675" y="16200"/>
                </a:lnTo>
                <a:lnTo>
                  <a:pt x="675" y="5400"/>
                </a:lnTo>
                <a:close/>
              </a:path>
            </a:pathLst>
          </a:custGeom>
          <a:solidFill>
            <a:schemeClr val="accent1"/>
          </a:solidFill>
          <a:ln w="9525" algn="ctr">
            <a:solidFill>
              <a:schemeClr val="tx1"/>
            </a:solidFill>
            <a:miter lim="800000"/>
            <a:headEnd/>
            <a:tailEnd/>
          </a:ln>
          <a:effectLst/>
        </p:spPr>
        <p:txBody>
          <a:bodyPr wrap="none" anchor="ctr"/>
          <a:lstStyle/>
          <a:p>
            <a:pPr>
              <a:defRPr/>
            </a:pPr>
            <a:endParaRPr lang="zh-CN" altLang="en-US">
              <a:effectLst>
                <a:outerShdw blurRad="38100" dist="38100" dir="2700000" algn="tl">
                  <a:srgbClr val="000000">
                    <a:alpha val="43137"/>
                  </a:srgbClr>
                </a:outerShdw>
              </a:effectLst>
            </a:endParaRPr>
          </a:p>
        </p:txBody>
      </p:sp>
      <p:sp>
        <p:nvSpPr>
          <p:cNvPr id="188435" name="Rectangle 19"/>
          <p:cNvSpPr>
            <a:spLocks noChangeArrowheads="1"/>
          </p:cNvSpPr>
          <p:nvPr/>
        </p:nvSpPr>
        <p:spPr bwMode="auto">
          <a:xfrm>
            <a:off x="20638" y="29972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3427" name="Object 20"/>
          <p:cNvGraphicFramePr>
            <a:graphicFrameLocks noChangeAspect="1"/>
          </p:cNvGraphicFramePr>
          <p:nvPr/>
        </p:nvGraphicFramePr>
        <p:xfrm>
          <a:off x="4737100" y="2687638"/>
          <a:ext cx="1439863" cy="776287"/>
        </p:xfrm>
        <a:graphic>
          <a:graphicData uri="http://schemas.openxmlformats.org/presentationml/2006/ole">
            <mc:AlternateContent xmlns:mc="http://schemas.openxmlformats.org/markup-compatibility/2006">
              <mc:Choice xmlns:v="urn:schemas-microsoft-com:vml" Requires="v">
                <p:oleObj name="Equation" r:id="rId5" imgW="723586" imgH="393529" progId="Equation.DSMT4">
                  <p:embed/>
                </p:oleObj>
              </mc:Choice>
              <mc:Fallback>
                <p:oleObj name="Equation" r:id="rId5" imgW="723586" imgH="393529" progId="Equation.DSMT4">
                  <p:embed/>
                  <p:pic>
                    <p:nvPicPr>
                      <p:cNvPr id="0" name="Picture 11"/>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4737100" y="2687638"/>
                        <a:ext cx="1439863" cy="776287"/>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188437" name="Text Box 21"/>
          <p:cNvSpPr txBox="1">
            <a:spLocks noChangeArrowheads="1"/>
          </p:cNvSpPr>
          <p:nvPr/>
        </p:nvSpPr>
        <p:spPr bwMode="auto">
          <a:xfrm>
            <a:off x="1063625" y="3840163"/>
            <a:ext cx="4341813" cy="457200"/>
          </a:xfrm>
          <a:prstGeom prst="rect">
            <a:avLst/>
          </a:prstGeom>
          <a:noFill/>
          <a:ln w="9525" algn="ctr">
            <a:noFill/>
            <a:miter lim="800000"/>
            <a:headEnd/>
            <a:tailEnd/>
          </a:ln>
          <a:effectLst/>
        </p:spPr>
        <p:txBody>
          <a:bodyPr>
            <a:spAutoFit/>
          </a:bodyPr>
          <a:lstStyle/>
          <a:p>
            <a:pPr>
              <a:defRPr/>
            </a:pPr>
            <a:r>
              <a:rPr kumimoji="0" lang="zh-CN" altLang="en-US" sz="2400">
                <a:effectLst>
                  <a:outerShdw blurRad="38100" dist="38100" dir="2700000" algn="tl">
                    <a:srgbClr val="C0C0C0"/>
                  </a:outerShdw>
                </a:effectLst>
              </a:rPr>
              <a:t>与</a:t>
            </a:r>
            <a:r>
              <a:rPr kumimoji="0" lang="en-US" altLang="zh-CN" sz="2400" i="1">
                <a:effectLst>
                  <a:outerShdw blurRad="38100" dist="38100" dir="2700000" algn="tl">
                    <a:srgbClr val="C0C0C0"/>
                  </a:outerShdw>
                </a:effectLst>
              </a:rPr>
              <a:t>s</a:t>
            </a:r>
            <a:r>
              <a:rPr kumimoji="0" lang="zh-CN" altLang="en-US" sz="2400">
                <a:effectLst>
                  <a:outerShdw blurRad="38100" dist="38100" dir="2700000" algn="tl">
                    <a:srgbClr val="C0C0C0"/>
                  </a:outerShdw>
                </a:effectLst>
              </a:rPr>
              <a:t>平面的频率对应关系：</a:t>
            </a:r>
          </a:p>
        </p:txBody>
      </p:sp>
      <p:sp>
        <p:nvSpPr>
          <p:cNvPr id="188438" name="Rectangle 22"/>
          <p:cNvSpPr>
            <a:spLocks noChangeArrowheads="1"/>
          </p:cNvSpPr>
          <p:nvPr/>
        </p:nvSpPr>
        <p:spPr bwMode="auto">
          <a:xfrm>
            <a:off x="20638" y="29972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sp>
        <p:nvSpPr>
          <p:cNvPr id="188439" name="Rectangle 23"/>
          <p:cNvSpPr>
            <a:spLocks noChangeArrowheads="1"/>
          </p:cNvSpPr>
          <p:nvPr/>
        </p:nvSpPr>
        <p:spPr bwMode="auto">
          <a:xfrm>
            <a:off x="20638" y="29781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3428" name="Object 24"/>
          <p:cNvGraphicFramePr>
            <a:graphicFrameLocks noChangeAspect="1"/>
          </p:cNvGraphicFramePr>
          <p:nvPr/>
        </p:nvGraphicFramePr>
        <p:xfrm>
          <a:off x="2936875" y="4416425"/>
          <a:ext cx="2160588" cy="846138"/>
        </p:xfrm>
        <a:graphic>
          <a:graphicData uri="http://schemas.openxmlformats.org/presentationml/2006/ole">
            <mc:AlternateContent xmlns:mc="http://schemas.openxmlformats.org/markup-compatibility/2006">
              <mc:Choice xmlns:v="urn:schemas-microsoft-com:vml" Requires="v">
                <p:oleObj name="Equation" r:id="rId7" imgW="1091726" imgH="431613" progId="Equation.DSMT4">
                  <p:embed/>
                </p:oleObj>
              </mc:Choice>
              <mc:Fallback>
                <p:oleObj name="Equation" r:id="rId7" imgW="1091726" imgH="431613" progId="Equation.DSMT4">
                  <p:embed/>
                  <p:pic>
                    <p:nvPicPr>
                      <p:cNvPr id="0" name="Picture 12"/>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2936875" y="4416425"/>
                        <a:ext cx="2160588" cy="84613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61.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52578" name="Picture 12"/>
          <p:cNvPicPr>
            <a:picLocks noChangeAspect="1" noChangeArrowheads="1"/>
          </p:cNvPicPr>
          <p:nvPr/>
        </p:nvPicPr>
        <p:blipFill>
          <a:blip r:embed="rId3" cstate="print"/>
          <a:srcRect/>
          <a:stretch>
            <a:fillRect/>
          </a:stretch>
        </p:blipFill>
        <p:spPr bwMode="auto">
          <a:xfrm>
            <a:off x="611188" y="1989138"/>
            <a:ext cx="7848600" cy="2800350"/>
          </a:xfrm>
          <a:prstGeom prst="rect">
            <a:avLst/>
          </a:prstGeom>
          <a:noFill/>
          <a:ln w="9525">
            <a:noFill/>
            <a:miter lim="800000"/>
            <a:headEnd/>
            <a:tailEnd/>
          </a:ln>
        </p:spPr>
      </p:pic>
      <p:sp>
        <p:nvSpPr>
          <p:cNvPr id="206861" name="Text Box 13"/>
          <p:cNvSpPr txBox="1">
            <a:spLocks noChangeArrowheads="1"/>
          </p:cNvSpPr>
          <p:nvPr/>
        </p:nvSpPr>
        <p:spPr bwMode="auto">
          <a:xfrm>
            <a:off x="2608263" y="5083175"/>
            <a:ext cx="4987925" cy="396875"/>
          </a:xfrm>
          <a:prstGeom prst="rect">
            <a:avLst/>
          </a:prstGeom>
          <a:noFill/>
          <a:ln w="9525" algn="ctr">
            <a:noFill/>
            <a:miter lim="800000"/>
            <a:headEnd/>
            <a:tailEnd/>
          </a:ln>
          <a:effectLst/>
        </p:spPr>
        <p:txBody>
          <a:bodyPr>
            <a:spAutoFit/>
          </a:bodyPr>
          <a:lstStyle/>
          <a:p>
            <a:pPr>
              <a:defRPr/>
            </a:pPr>
            <a:r>
              <a:rPr kumimoji="0" lang="zh-CN" altLang="en-US">
                <a:effectLst>
                  <a:outerShdw blurRad="38100" dist="38100" dir="2700000" algn="tl">
                    <a:srgbClr val="C0C0C0"/>
                  </a:outerShdw>
                </a:effectLst>
              </a:rPr>
              <a:t>图 </a:t>
            </a:r>
            <a:r>
              <a:rPr kumimoji="0" lang="en-US" altLang="zh-CN">
                <a:effectLst>
                  <a:outerShdw blurRad="38100" dist="38100" dir="2700000" algn="tl">
                    <a:srgbClr val="C0C0C0"/>
                  </a:outerShdw>
                </a:effectLst>
              </a:rPr>
              <a:t>3.30  </a:t>
            </a:r>
            <a:r>
              <a:rPr kumimoji="0" lang="en-US" altLang="zh-CN" i="1">
                <a:effectLst>
                  <a:outerShdw blurRad="38100" dist="38100" dir="2700000" algn="tl">
                    <a:srgbClr val="C0C0C0"/>
                  </a:outerShdw>
                </a:effectLst>
              </a:rPr>
              <a:t>s</a:t>
            </a:r>
            <a:r>
              <a:rPr kumimoji="0" lang="zh-CN" altLang="en-US">
                <a:effectLst>
                  <a:outerShdw blurRad="38100" dist="38100" dir="2700000" algn="tl">
                    <a:srgbClr val="C0C0C0"/>
                  </a:outerShdw>
                </a:effectLst>
              </a:rPr>
              <a:t>－</a:t>
            </a:r>
            <a:r>
              <a:rPr kumimoji="0" lang="en-US" altLang="zh-CN" i="1">
                <a:effectLst>
                  <a:outerShdw blurRad="38100" dist="38100" dir="2700000" algn="tl">
                    <a:srgbClr val="C0C0C0"/>
                  </a:outerShdw>
                </a:effectLst>
              </a:rPr>
              <a:t>z</a:t>
            </a:r>
            <a:r>
              <a:rPr kumimoji="0" lang="zh-CN" altLang="en-US">
                <a:effectLst>
                  <a:outerShdw blurRad="38100" dist="38100" dir="2700000" algn="tl">
                    <a:srgbClr val="C0C0C0"/>
                  </a:outerShdw>
                </a:effectLst>
              </a:rPr>
              <a:t>－</a:t>
            </a:r>
            <a:r>
              <a:rPr kumimoji="0" lang="en-US" altLang="zh-CN" i="1">
                <a:effectLst>
                  <a:outerShdw blurRad="38100" dist="38100" dir="2700000" algn="tl">
                    <a:srgbClr val="C0C0C0"/>
                  </a:outerShdw>
                </a:effectLst>
              </a:rPr>
              <a:t>w</a:t>
            </a:r>
            <a:r>
              <a:rPr kumimoji="0" lang="zh-CN" altLang="en-US">
                <a:effectLst>
                  <a:outerShdw blurRad="38100" dist="38100" dir="2700000" algn="tl">
                    <a:srgbClr val="C0C0C0"/>
                  </a:outerShdw>
                </a:effectLst>
              </a:rPr>
              <a:t>平面的对应关系</a:t>
            </a:r>
          </a:p>
        </p:txBody>
      </p:sp>
    </p:spTree>
  </p:cSld>
  <p:clrMapOvr>
    <a:masterClrMapping/>
  </p:clrMapOvr>
  <p:transition>
    <p:push/>
  </p:transition>
</p:sld>
</file>

<file path=ppt/slides/slide162.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04455" name="Picture 12" descr="829"/>
          <p:cNvPicPr>
            <a:picLocks noChangeAspect="1" noChangeArrowheads="1"/>
          </p:cNvPicPr>
          <p:nvPr/>
        </p:nvPicPr>
        <p:blipFill>
          <a:blip r:embed="rId3" cstate="print"/>
          <a:srcRect/>
          <a:stretch>
            <a:fillRect/>
          </a:stretch>
        </p:blipFill>
        <p:spPr bwMode="auto">
          <a:xfrm>
            <a:off x="2308225" y="1052513"/>
            <a:ext cx="4413250" cy="5157787"/>
          </a:xfrm>
          <a:prstGeom prst="rect">
            <a:avLst/>
          </a:prstGeom>
          <a:noFill/>
          <a:ln w="9525">
            <a:noFill/>
            <a:miter lim="800000"/>
            <a:headEnd/>
            <a:tailEnd/>
          </a:ln>
        </p:spPr>
      </p:pic>
      <p:sp>
        <p:nvSpPr>
          <p:cNvPr id="207885" name="Text Box 13"/>
          <p:cNvSpPr txBox="1">
            <a:spLocks noChangeArrowheads="1"/>
          </p:cNvSpPr>
          <p:nvPr/>
        </p:nvSpPr>
        <p:spPr bwMode="auto">
          <a:xfrm>
            <a:off x="2484438" y="6237288"/>
            <a:ext cx="4845050" cy="366712"/>
          </a:xfrm>
          <a:prstGeom prst="rect">
            <a:avLst/>
          </a:prstGeom>
          <a:noFill/>
          <a:ln w="9525" algn="ctr">
            <a:noFill/>
            <a:miter lim="800000"/>
            <a:headEnd/>
            <a:tailEnd/>
          </a:ln>
          <a:effectLst/>
        </p:spPr>
        <p:txBody>
          <a:bodyPr>
            <a:spAutoFit/>
          </a:bodyPr>
          <a:lstStyle/>
          <a:p>
            <a:pPr>
              <a:defRPr/>
            </a:pPr>
            <a:r>
              <a:rPr kumimoji="0" lang="zh-CN" altLang="en-US" sz="1800">
                <a:solidFill>
                  <a:srgbClr val="0000FF"/>
                </a:solidFill>
                <a:effectLst>
                  <a:outerShdw blurRad="38100" dist="38100" dir="2700000" algn="tl">
                    <a:srgbClr val="C0C0C0"/>
                  </a:outerShdw>
                </a:effectLst>
              </a:rPr>
              <a:t>图</a:t>
            </a:r>
            <a:r>
              <a:rPr kumimoji="0" lang="en-US" altLang="zh-CN" sz="1800">
                <a:solidFill>
                  <a:srgbClr val="0000FF"/>
                </a:solidFill>
                <a:effectLst>
                  <a:outerShdw blurRad="38100" dist="38100" dir="2700000" algn="tl">
                    <a:srgbClr val="C0C0C0"/>
                  </a:outerShdw>
                </a:effectLst>
              </a:rPr>
              <a:t>3.31  </a:t>
            </a:r>
            <a:r>
              <a:rPr kumimoji="0" lang="zh-CN" altLang="en-US" sz="1800">
                <a:solidFill>
                  <a:srgbClr val="0000FF"/>
                </a:solidFill>
                <a:effectLst>
                  <a:outerShdw blurRad="38100" dist="38100" dir="2700000" algn="tl">
                    <a:srgbClr val="C0C0C0"/>
                  </a:outerShdw>
                </a:effectLst>
              </a:rPr>
              <a:t>离散系统各典型环节伯德图</a:t>
            </a:r>
          </a:p>
        </p:txBody>
      </p:sp>
      <p:sp>
        <p:nvSpPr>
          <p:cNvPr id="207886" name="Rectangle 14"/>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lgn="ctr">
              <a:defRPr/>
            </a:pPr>
            <a:endParaRPr kumimoji="0" lang="zh-CN" altLang="zh-CN" sz="2400">
              <a:effectLst>
                <a:outerShdw blurRad="38100" dist="38100" dir="2700000" algn="tl">
                  <a:srgbClr val="C0C0C0"/>
                </a:outerShdw>
              </a:effectLst>
            </a:endParaRPr>
          </a:p>
        </p:txBody>
      </p:sp>
      <p:graphicFrame>
        <p:nvGraphicFramePr>
          <p:cNvPr id="104450" name="Object 15"/>
          <p:cNvGraphicFramePr>
            <a:graphicFrameLocks noChangeAspect="1"/>
          </p:cNvGraphicFramePr>
          <p:nvPr/>
        </p:nvGraphicFramePr>
        <p:xfrm>
          <a:off x="539750" y="1989138"/>
          <a:ext cx="1584325" cy="392112"/>
        </p:xfrm>
        <a:graphic>
          <a:graphicData uri="http://schemas.openxmlformats.org/presentationml/2006/ole">
            <mc:AlternateContent xmlns:mc="http://schemas.openxmlformats.org/markup-compatibility/2006">
              <mc:Choice xmlns:v="urn:schemas-microsoft-com:vml" Requires="v">
                <p:oleObj name="Equation" r:id="rId4" imgW="927100" imgH="228600" progId="Equation.DSMT4">
                  <p:embed/>
                </p:oleObj>
              </mc:Choice>
              <mc:Fallback>
                <p:oleObj name="Equation" r:id="rId4" imgW="927100" imgH="228600" progId="Equation.DSMT4">
                  <p:embed/>
                  <p:pic>
                    <p:nvPicPr>
                      <p:cNvPr id="0" name="Picture 13"/>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39750" y="1989138"/>
                        <a:ext cx="1584325" cy="392112"/>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7888" name="Rectangle 16"/>
          <p:cNvSpPr>
            <a:spLocks noChangeArrowheads="1"/>
          </p:cNvSpPr>
          <p:nvPr/>
        </p:nvSpPr>
        <p:spPr bwMode="auto">
          <a:xfrm>
            <a:off x="0" y="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4451" name="Object 17"/>
          <p:cNvGraphicFramePr>
            <a:graphicFrameLocks noChangeAspect="1"/>
          </p:cNvGraphicFramePr>
          <p:nvPr/>
        </p:nvGraphicFramePr>
        <p:xfrm>
          <a:off x="6948488" y="1773238"/>
          <a:ext cx="1368425" cy="609600"/>
        </p:xfrm>
        <a:graphic>
          <a:graphicData uri="http://schemas.openxmlformats.org/presentationml/2006/ole">
            <mc:AlternateContent xmlns:mc="http://schemas.openxmlformats.org/markup-compatibility/2006">
              <mc:Choice xmlns:v="urn:schemas-microsoft-com:vml" Requires="v">
                <p:oleObj name="Equation" r:id="rId6" imgW="965200" imgH="431800" progId="Equation.DSMT4">
                  <p:embed/>
                </p:oleObj>
              </mc:Choice>
              <mc:Fallback>
                <p:oleObj name="Equation" r:id="rId6" imgW="965200" imgH="431800" progId="Equation.DSMT4">
                  <p:embed/>
                  <p:pic>
                    <p:nvPicPr>
                      <p:cNvPr id="0" name="Picture 14"/>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948488" y="1773238"/>
                        <a:ext cx="1368425" cy="6096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7890" name="Rectangle 18"/>
          <p:cNvSpPr>
            <a:spLocks noChangeArrowheads="1"/>
          </p:cNvSpPr>
          <p:nvPr/>
        </p:nvSpPr>
        <p:spPr bwMode="auto">
          <a:xfrm>
            <a:off x="0" y="331470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4452" name="Object 19"/>
          <p:cNvGraphicFramePr>
            <a:graphicFrameLocks noChangeAspect="1"/>
          </p:cNvGraphicFramePr>
          <p:nvPr/>
        </p:nvGraphicFramePr>
        <p:xfrm>
          <a:off x="323850" y="4724400"/>
          <a:ext cx="1908175" cy="360363"/>
        </p:xfrm>
        <a:graphic>
          <a:graphicData uri="http://schemas.openxmlformats.org/presentationml/2006/ole">
            <mc:AlternateContent xmlns:mc="http://schemas.openxmlformats.org/markup-compatibility/2006">
              <mc:Choice xmlns:v="urn:schemas-microsoft-com:vml" Requires="v">
                <p:oleObj name="Equation" r:id="rId8" imgW="1206500" imgH="228600" progId="Equation.DSMT4">
                  <p:embed/>
                </p:oleObj>
              </mc:Choice>
              <mc:Fallback>
                <p:oleObj name="Equation" r:id="rId8" imgW="1206500" imgH="228600" progId="Equation.DSMT4">
                  <p:embed/>
                  <p:pic>
                    <p:nvPicPr>
                      <p:cNvPr id="0" name="Picture 15"/>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23850" y="4724400"/>
                        <a:ext cx="1908175" cy="360363"/>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7892" name="Rectangle 20"/>
          <p:cNvSpPr>
            <a:spLocks noChangeArrowheads="1"/>
          </p:cNvSpPr>
          <p:nvPr/>
        </p:nvSpPr>
        <p:spPr bwMode="auto">
          <a:xfrm>
            <a:off x="0" y="3214688"/>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4453" name="Object 21"/>
          <p:cNvGraphicFramePr>
            <a:graphicFrameLocks noChangeAspect="1"/>
          </p:cNvGraphicFramePr>
          <p:nvPr/>
        </p:nvGraphicFramePr>
        <p:xfrm>
          <a:off x="6804025" y="4652963"/>
          <a:ext cx="1800225" cy="619125"/>
        </p:xfrm>
        <a:graphic>
          <a:graphicData uri="http://schemas.openxmlformats.org/presentationml/2006/ole">
            <mc:AlternateContent xmlns:mc="http://schemas.openxmlformats.org/markup-compatibility/2006">
              <mc:Choice xmlns:v="urn:schemas-microsoft-com:vml" Requires="v">
                <p:oleObj name="Equation" r:id="rId10" imgW="1244600" imgH="431800" progId="Equation.DSMT4">
                  <p:embed/>
                </p:oleObj>
              </mc:Choice>
              <mc:Fallback>
                <p:oleObj name="Equation" r:id="rId10" imgW="1244600" imgH="431800" progId="Equation.DSMT4">
                  <p:embed/>
                  <p:pic>
                    <p:nvPicPr>
                      <p:cNvPr id="0" name="Picture 16"/>
                      <p:cNvPicPr>
                        <a:picLocks noChangeAspect="1" noChangeArrowheads="1"/>
                      </p:cNvPicPr>
                      <p:nvPr/>
                    </p:nvPicPr>
                    <p:blipFill>
                      <a:blip r:embed="rId11">
                        <a:extLst>
                          <a:ext uri="{28A0092B-C50C-407E-A947-70E740481C1C}">
                            <a14:useLocalDpi xmlns:a14="http://schemas.microsoft.com/office/drawing/2010/main" val="0"/>
                          </a:ext>
                        </a:extLst>
                      </a:blip>
                      <a:srcRect/>
                      <a:stretch>
                        <a:fillRect/>
                      </a:stretch>
                    </p:blipFill>
                    <p:spPr bwMode="auto">
                      <a:xfrm>
                        <a:off x="6804025" y="4652963"/>
                        <a:ext cx="1800225" cy="61912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63.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8908" name="Text Box 12"/>
          <p:cNvSpPr txBox="1">
            <a:spLocks noChangeArrowheads="1"/>
          </p:cNvSpPr>
          <p:nvPr/>
        </p:nvSpPr>
        <p:spPr bwMode="auto">
          <a:xfrm>
            <a:off x="1116013" y="1412875"/>
            <a:ext cx="6284912"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例</a:t>
            </a:r>
            <a:r>
              <a:rPr kumimoji="0" lang="en-US" altLang="zh-CN" sz="2400">
                <a:solidFill>
                  <a:srgbClr val="0000FF"/>
                </a:solidFill>
                <a:effectLst>
                  <a:outerShdw blurRad="38100" dist="38100" dir="2700000" algn="tl">
                    <a:srgbClr val="C0C0C0"/>
                  </a:outerShdw>
                </a:effectLst>
              </a:rPr>
              <a:t>3.18</a:t>
            </a:r>
            <a:r>
              <a:rPr kumimoji="0" lang="en-US" altLang="zh-CN" sz="2400">
                <a:effectLst>
                  <a:outerShdw blurRad="38100" dist="38100" dir="2700000" algn="tl">
                    <a:srgbClr val="C0C0C0"/>
                  </a:outerShdw>
                </a:effectLst>
              </a:rPr>
              <a:t> </a:t>
            </a:r>
            <a:r>
              <a:rPr kumimoji="0" lang="zh-CN" altLang="en-US" sz="2400">
                <a:effectLst>
                  <a:outerShdw blurRad="38100" dist="38100" dir="2700000" algn="tl">
                    <a:srgbClr val="C0C0C0"/>
                  </a:outerShdw>
                </a:effectLst>
              </a:rPr>
              <a:t>画出下图所示系统的伯德图。</a:t>
            </a:r>
          </a:p>
        </p:txBody>
      </p:sp>
      <p:pic>
        <p:nvPicPr>
          <p:cNvPr id="105477" name="Picture 13"/>
          <p:cNvPicPr>
            <a:picLocks noChangeAspect="1" noChangeArrowheads="1"/>
          </p:cNvPicPr>
          <p:nvPr/>
        </p:nvPicPr>
        <p:blipFill>
          <a:blip r:embed="rId3" cstate="print"/>
          <a:srcRect/>
          <a:stretch>
            <a:fillRect/>
          </a:stretch>
        </p:blipFill>
        <p:spPr bwMode="auto">
          <a:xfrm>
            <a:off x="1423988" y="2039938"/>
            <a:ext cx="5688012" cy="1806575"/>
          </a:xfrm>
          <a:prstGeom prst="rect">
            <a:avLst/>
          </a:prstGeom>
          <a:noFill/>
          <a:ln w="9525">
            <a:noFill/>
            <a:miter lim="800000"/>
            <a:headEnd/>
            <a:tailEnd/>
          </a:ln>
        </p:spPr>
      </p:pic>
      <p:sp>
        <p:nvSpPr>
          <p:cNvPr id="208910" name="Text Box 14"/>
          <p:cNvSpPr txBox="1">
            <a:spLocks noChangeArrowheads="1"/>
          </p:cNvSpPr>
          <p:nvPr/>
        </p:nvSpPr>
        <p:spPr bwMode="auto">
          <a:xfrm>
            <a:off x="1116013" y="3911600"/>
            <a:ext cx="6356350" cy="457200"/>
          </a:xfrm>
          <a:prstGeom prst="rect">
            <a:avLst/>
          </a:prstGeom>
          <a:noFill/>
          <a:ln w="9525" algn="ctr">
            <a:noFill/>
            <a:miter lim="800000"/>
            <a:headEnd/>
            <a:tailEnd/>
          </a:ln>
          <a:effectLst/>
        </p:spPr>
        <p:txBody>
          <a:bodyPr>
            <a:spAutoFit/>
          </a:bodyPr>
          <a:lstStyle/>
          <a:p>
            <a:pPr>
              <a:defRPr/>
            </a:pPr>
            <a:r>
              <a:rPr kumimoji="0" lang="zh-CN" altLang="en-US" sz="2400">
                <a:solidFill>
                  <a:srgbClr val="0000FF"/>
                </a:solidFill>
                <a:effectLst>
                  <a:outerShdw blurRad="38100" dist="38100" dir="2700000" algn="tl">
                    <a:srgbClr val="C0C0C0"/>
                  </a:outerShdw>
                </a:effectLst>
              </a:rPr>
              <a:t>解：</a:t>
            </a:r>
            <a:r>
              <a:rPr kumimoji="0" lang="zh-CN" altLang="en-US" sz="2400">
                <a:effectLst>
                  <a:outerShdw blurRad="38100" dist="38100" dir="2700000" algn="tl">
                    <a:srgbClr val="C0C0C0"/>
                  </a:outerShdw>
                </a:effectLst>
              </a:rPr>
              <a:t>系统开环脉冲传递函数为</a:t>
            </a:r>
          </a:p>
        </p:txBody>
      </p:sp>
      <p:sp>
        <p:nvSpPr>
          <p:cNvPr id="208911" name="Rectangle 15"/>
          <p:cNvSpPr>
            <a:spLocks noChangeArrowheads="1"/>
          </p:cNvSpPr>
          <p:nvPr/>
        </p:nvSpPr>
        <p:spPr bwMode="auto">
          <a:xfrm>
            <a:off x="20638" y="2495550"/>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5474" name="Object 16"/>
          <p:cNvGraphicFramePr>
            <a:graphicFrameLocks noChangeAspect="1"/>
          </p:cNvGraphicFramePr>
          <p:nvPr/>
        </p:nvGraphicFramePr>
        <p:xfrm>
          <a:off x="1855788" y="4560888"/>
          <a:ext cx="5113337" cy="739775"/>
        </p:xfrm>
        <a:graphic>
          <a:graphicData uri="http://schemas.openxmlformats.org/presentationml/2006/ole">
            <mc:AlternateContent xmlns:mc="http://schemas.openxmlformats.org/markup-compatibility/2006">
              <mc:Choice xmlns:v="urn:schemas-microsoft-com:vml" Requires="v">
                <p:oleObj name="Equation" r:id="rId4" imgW="3149600" imgH="457200" progId="Equation.DSMT4">
                  <p:embed/>
                </p:oleObj>
              </mc:Choice>
              <mc:Fallback>
                <p:oleObj name="Equation" r:id="rId4" imgW="3149600" imgH="457200" progId="Equation.DSMT4">
                  <p:embed/>
                  <p:pic>
                    <p:nvPicPr>
                      <p:cNvPr id="0" name="Picture 4"/>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855788" y="4560888"/>
                        <a:ext cx="5113337" cy="739775"/>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64.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209932" name="Rectangle 12"/>
          <p:cNvSpPr>
            <a:spLocks noChangeArrowheads="1"/>
          </p:cNvSpPr>
          <p:nvPr/>
        </p:nvSpPr>
        <p:spPr bwMode="auto">
          <a:xfrm>
            <a:off x="0" y="294481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6498" name="Object 13"/>
          <p:cNvGraphicFramePr>
            <a:graphicFrameLocks noChangeAspect="1"/>
          </p:cNvGraphicFramePr>
          <p:nvPr/>
        </p:nvGraphicFramePr>
        <p:xfrm>
          <a:off x="2339975" y="1844675"/>
          <a:ext cx="3705225" cy="738188"/>
        </p:xfrm>
        <a:graphic>
          <a:graphicData uri="http://schemas.openxmlformats.org/presentationml/2006/ole">
            <mc:AlternateContent xmlns:mc="http://schemas.openxmlformats.org/markup-compatibility/2006">
              <mc:Choice xmlns:v="urn:schemas-microsoft-com:vml" Requires="v">
                <p:oleObj name="Equation" r:id="rId3" imgW="2120900" imgH="419100" progId="Equation.DSMT4">
                  <p:embed/>
                </p:oleObj>
              </mc:Choice>
              <mc:Fallback>
                <p:oleObj name="Equation" r:id="rId3" imgW="2120900" imgH="419100" progId="Equation.DSMT4">
                  <p:embed/>
                  <p:pic>
                    <p:nvPicPr>
                      <p:cNvPr id="0" name="Picture 7"/>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339975" y="1844675"/>
                        <a:ext cx="3705225" cy="738188"/>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
        <p:nvSpPr>
          <p:cNvPr id="209934" name="Rectangle 14"/>
          <p:cNvSpPr>
            <a:spLocks noChangeArrowheads="1"/>
          </p:cNvSpPr>
          <p:nvPr/>
        </p:nvSpPr>
        <p:spPr bwMode="auto">
          <a:xfrm>
            <a:off x="0" y="2925763"/>
            <a:ext cx="9144000" cy="0"/>
          </a:xfrm>
          <a:prstGeom prst="rect">
            <a:avLst/>
          </a:prstGeom>
          <a:noFill/>
          <a:ln w="9525" algn="ctr">
            <a:noFill/>
            <a:miter lim="800000"/>
            <a:headEnd/>
            <a:tailEnd/>
          </a:ln>
          <a:effectLst/>
        </p:spPr>
        <p:txBody>
          <a:bodyPr wrap="none" anchor="ctr">
            <a:spAutoFit/>
          </a:bodyPr>
          <a:lstStyle/>
          <a:p>
            <a:pPr>
              <a:defRPr/>
            </a:pPr>
            <a:endParaRPr lang="zh-CN" altLang="en-US">
              <a:effectLst>
                <a:outerShdw blurRad="38100" dist="38100" dir="2700000" algn="tl">
                  <a:srgbClr val="000000">
                    <a:alpha val="43137"/>
                  </a:srgbClr>
                </a:outerShdw>
              </a:effectLst>
            </a:endParaRPr>
          </a:p>
        </p:txBody>
      </p:sp>
      <p:graphicFrame>
        <p:nvGraphicFramePr>
          <p:cNvPr id="106499" name="Object 15"/>
          <p:cNvGraphicFramePr>
            <a:graphicFrameLocks noChangeAspect="1"/>
          </p:cNvGraphicFramePr>
          <p:nvPr/>
        </p:nvGraphicFramePr>
        <p:xfrm>
          <a:off x="900113" y="2995613"/>
          <a:ext cx="7372350" cy="1511300"/>
        </p:xfrm>
        <a:graphic>
          <a:graphicData uri="http://schemas.openxmlformats.org/presentationml/2006/ole">
            <mc:AlternateContent xmlns:mc="http://schemas.openxmlformats.org/markup-compatibility/2006">
              <mc:Choice xmlns:v="urn:schemas-microsoft-com:vml" Requires="v">
                <p:oleObj name="Equation" r:id="rId5" imgW="4064000" imgH="838200" progId="Equation.DSMT4">
                  <p:embed/>
                </p:oleObj>
              </mc:Choice>
              <mc:Fallback>
                <p:oleObj name="Equation" r:id="rId5" imgW="4064000" imgH="838200" progId="Equation.DSMT4">
                  <p:embed/>
                  <p:pic>
                    <p:nvPicPr>
                      <p:cNvPr id="0" name="Picture 8"/>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900113" y="2995613"/>
                        <a:ext cx="7372350" cy="1511300"/>
                      </a:xfrm>
                      <a:prstGeom prst="rect">
                        <a:avLst/>
                      </a:prstGeom>
                      <a:noFill/>
                      <a:extLst>
                        <a:ext uri="{909E8E84-426E-40DD-AFC4-6F175D3DCCD1}">
                          <a14:hiddenFill xmlns:a14="http://schemas.microsoft.com/office/drawing/2010/main">
                            <a:solidFill>
                              <a:srgbClr val="FFFFFF"/>
                            </a:solidFill>
                          </a14:hiddenFill>
                        </a:ext>
                      </a:extLst>
                    </p:spPr>
                  </p:pic>
                </p:oleObj>
              </mc:Fallback>
            </mc:AlternateContent>
          </a:graphicData>
        </a:graphic>
      </p:graphicFrame>
    </p:spTree>
  </p:cSld>
  <p:clrMapOvr>
    <a:masterClrMapping/>
  </p:clrMapOvr>
  <p:transition>
    <p:push/>
  </p:transition>
</p:sld>
</file>

<file path=ppt/slides/slide165.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pic>
        <p:nvPicPr>
          <p:cNvPr id="153602" name="Picture 12"/>
          <p:cNvPicPr>
            <a:picLocks noChangeAspect="1" noChangeArrowheads="1"/>
          </p:cNvPicPr>
          <p:nvPr/>
        </p:nvPicPr>
        <p:blipFill>
          <a:blip r:embed="rId3" cstate="print"/>
          <a:srcRect/>
          <a:stretch>
            <a:fillRect/>
          </a:stretch>
        </p:blipFill>
        <p:spPr bwMode="auto">
          <a:xfrm>
            <a:off x="1835150" y="1268413"/>
            <a:ext cx="5113338" cy="4692650"/>
          </a:xfrm>
          <a:prstGeom prst="rect">
            <a:avLst/>
          </a:prstGeom>
          <a:noFill/>
          <a:ln w="9525">
            <a:noFill/>
            <a:miter lim="800000"/>
            <a:headEnd/>
            <a:tailEnd/>
          </a:ln>
        </p:spPr>
      </p:pic>
    </p:spTree>
  </p:cSld>
  <p:clrMapOvr>
    <a:masterClrMapping/>
  </p:clrMapOvr>
  <p:transition>
    <p:push/>
  </p:transition>
</p:sld>
</file>

<file path=ppt/slides/slide166.xml><?xml version="1.0" encoding="utf-8"?>
<p:sld xmlns:a="http://schemas.openxmlformats.org/drawingml/2006/main" xmlns:r="http://schemas.openxmlformats.org/officeDocument/2006/relationships" xmlns:p="http://schemas.openxmlformats.org/presentationml/2006/main">
  <p:cSld>
    <p:bg>
      <p:bgPr>
        <a:blipFill dpi="0" rotWithShape="0">
          <a:blip r:embed="rId2" cstate="print"/>
          <a:srcRect/>
          <a:stretch>
            <a:fillRect/>
          </a:stretch>
        </a:blipFill>
        <a:effectLst/>
      </p:bgPr>
    </p:bg>
    <p:spTree>
      <p:nvGrpSpPr>
        <p:cNvPr id="1" name=""/>
        <p:cNvGrpSpPr/>
        <p:nvPr/>
      </p:nvGrpSpPr>
      <p:grpSpPr>
        <a:xfrm>
          <a:off x="0" y="0"/>
          <a:ext cx="0" cy="0"/>
          <a:chOff x="0" y="0"/>
          <a:chExt cx="0" cy="0"/>
        </a:xfrm>
      </p:grpSpPr>
      <p:sp>
        <p:nvSpPr>
          <p:cNvPr id="10243" name="Text Box 3"/>
          <p:cNvSpPr txBox="1">
            <a:spLocks noChangeArrowheads="1"/>
          </p:cNvSpPr>
          <p:nvPr/>
        </p:nvSpPr>
        <p:spPr bwMode="auto">
          <a:xfrm>
            <a:off x="1835150" y="2636838"/>
            <a:ext cx="5616575" cy="1189037"/>
          </a:xfrm>
          <a:prstGeom prst="rect">
            <a:avLst/>
          </a:prstGeom>
          <a:noFill/>
          <a:ln w="9525">
            <a:noFill/>
            <a:miter lim="800000"/>
            <a:headEnd/>
            <a:tailEnd/>
          </a:ln>
          <a:effectLst/>
        </p:spPr>
        <p:txBody>
          <a:bodyPr>
            <a:spAutoFit/>
          </a:bodyPr>
          <a:lstStyle/>
          <a:p>
            <a:pPr algn="ctr">
              <a:defRPr/>
            </a:pPr>
            <a:r>
              <a:rPr kumimoji="0" lang="en-US" altLang="zh-CN" sz="7200">
                <a:solidFill>
                  <a:srgbClr val="0033CC"/>
                </a:solidFill>
                <a:effectLst>
                  <a:outerShdw blurRad="38100" dist="38100" dir="2700000" algn="tl">
                    <a:srgbClr val="C0C0C0"/>
                  </a:outerShdw>
                </a:effectLst>
                <a:ea typeface="隶书" pitchFamily="49" charset="-122"/>
              </a:rPr>
              <a:t>·</a:t>
            </a:r>
            <a:r>
              <a:rPr kumimoji="0" lang="zh-CN" altLang="en-US" sz="7200">
                <a:solidFill>
                  <a:srgbClr val="0033CC"/>
                </a:solidFill>
                <a:effectLst>
                  <a:outerShdw blurRad="38100" dist="38100" dir="2700000" algn="tl">
                    <a:srgbClr val="C0C0C0"/>
                  </a:outerShdw>
                </a:effectLst>
                <a:ea typeface="隶书" pitchFamily="49" charset="-122"/>
              </a:rPr>
              <a:t>本章结束</a:t>
            </a:r>
            <a:r>
              <a:rPr kumimoji="0" lang="en-US" altLang="zh-CN" sz="7200">
                <a:solidFill>
                  <a:srgbClr val="0033CC"/>
                </a:solidFill>
                <a:effectLst>
                  <a:outerShdw blurRad="38100" dist="38100" dir="2700000" algn="tl">
                    <a:srgbClr val="C0C0C0"/>
                  </a:outerShdw>
                </a:effectLst>
                <a:ea typeface="隶书" pitchFamily="49" charset="-122"/>
              </a:rPr>
              <a:t>·</a:t>
            </a:r>
          </a:p>
        </p:txBody>
      </p:sp>
    </p:spTree>
  </p:cSld>
  <p:clrMapOvr>
    <a:masterClrMapping/>
  </p:clrMapOvr>
  <p:transition>
    <p:split orient="vert" dir="in"/>
  </p:transition>
</p:sld>
</file>

<file path=ppt/slides/slide1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1" name="图片 10">
            <a:extLst>
              <a:ext uri="{FF2B5EF4-FFF2-40B4-BE49-F238E27FC236}">
                <a16:creationId xmlns:a16="http://schemas.microsoft.com/office/drawing/2014/main" id="{25210FC9-1008-0CD0-D9D5-E04E84044FB8}"/>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899592" y="980727"/>
            <a:ext cx="7200800" cy="4540585"/>
          </a:xfrm>
          <a:prstGeom prst="rect">
            <a:avLst/>
          </a:prstGeom>
        </p:spPr>
      </p:pic>
    </p:spTree>
    <p:extLst>
      <p:ext uri="{BB962C8B-B14F-4D97-AF65-F5344CB8AC3E}">
        <p14:creationId xmlns:p14="http://schemas.microsoft.com/office/powerpoint/2010/main" val="2594018945"/>
      </p:ext>
    </p:extLst>
  </p:cSld>
  <p:clrMapOvr>
    <a:masterClrMapping/>
  </p:clrMapOvr>
</p:sld>
</file>

<file path=ppt/theme/theme1.xml><?xml version="1.0" encoding="utf-8"?>
<a:theme xmlns:a="http://schemas.openxmlformats.org/drawingml/2006/main" name="默认设计模板">
  <a:themeElements>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默认设计模板">
      <a:majorFont>
        <a:latin typeface="Times New Roman"/>
        <a:ea typeface="宋体"/>
        <a:cs typeface=""/>
      </a:majorFont>
      <a:minorFont>
        <a:latin typeface="Times New Roman"/>
        <a:ea typeface="宋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000" b="1"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spPr>
      <a:bodyPr vert="horz" wrap="square" lIns="91440" tIns="45720" rIns="91440" bIns="45720" numCol="1" anchor="t" anchorCtr="0" compatLnSpc="1">
        <a:prstTxWarp prst="textNoShape">
          <a:avLst/>
        </a:prstTxWarp>
      </a:bodyPr>
      <a:lstStyle>
        <a:defPPr marL="0" marR="0" indent="0" algn="l" defTabSz="914400" rtl="0" eaLnBrk="1" fontAlgn="base" latinLnBrk="0" hangingPunct="1">
          <a:lnSpc>
            <a:spcPct val="100000"/>
          </a:lnSpc>
          <a:spcBef>
            <a:spcPct val="0"/>
          </a:spcBef>
          <a:spcAft>
            <a:spcPct val="0"/>
          </a:spcAft>
          <a:buClrTx/>
          <a:buSzTx/>
          <a:buFontTx/>
          <a:buNone/>
          <a:tabLst/>
          <a:defRPr kumimoji="1" lang="zh-CN" altLang="en-US" sz="2000" b="1" i="0" u="none" strike="noStrike" cap="none" normalizeH="0" baseline="0" smtClean="0">
            <a:ln>
              <a:noFill/>
            </a:ln>
            <a:solidFill>
              <a:schemeClr val="tx1"/>
            </a:solidFill>
            <a:effectLst>
              <a:outerShdw blurRad="38100" dist="38100" dir="2700000" algn="tl">
                <a:srgbClr val="000000">
                  <a:alpha val="43137"/>
                </a:srgbClr>
              </a:outerShdw>
            </a:effectLst>
            <a:latin typeface="Times New Roman" pitchFamily="18" charset="0"/>
            <a:ea typeface="宋体" pitchFamily="2" charset="-122"/>
          </a:defRPr>
        </a:defPPr>
      </a:lstStyle>
    </a:lnDef>
  </a:objectDefaults>
  <a:extraClrSchemeLst>
    <a:extraClrScheme>
      <a:clrScheme name="默认设计模板 1">
        <a:dk1>
          <a:srgbClr val="000000"/>
        </a:dk1>
        <a:lt1>
          <a:srgbClr val="FFFFFF"/>
        </a:lt1>
        <a:dk2>
          <a:srgbClr val="0000FF"/>
        </a:dk2>
        <a:lt2>
          <a:srgbClr val="FFFF00"/>
        </a:lt2>
        <a:accent1>
          <a:srgbClr val="FF9900"/>
        </a:accent1>
        <a:accent2>
          <a:srgbClr val="00FFFF"/>
        </a:accent2>
        <a:accent3>
          <a:srgbClr val="AAAAFF"/>
        </a:accent3>
        <a:accent4>
          <a:srgbClr val="DADADA"/>
        </a:accent4>
        <a:accent5>
          <a:srgbClr val="FFCAAA"/>
        </a:accent5>
        <a:accent6>
          <a:srgbClr val="00E7E7"/>
        </a:accent6>
        <a:hlink>
          <a:srgbClr val="FF0000"/>
        </a:hlink>
        <a:folHlink>
          <a:srgbClr val="969696"/>
        </a:folHlink>
      </a:clrScheme>
      <a:clrMap bg1="dk2" tx1="lt1" bg2="dk1" tx2="lt2" accent1="accent1" accent2="accent2" accent3="accent3" accent4="accent4" accent5="accent5" accent6="accent6" hlink="hlink" folHlink="folHlink"/>
    </a:extraClrScheme>
    <a:extraClrScheme>
      <a:clrScheme name="默认设计模板 2">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clrMap bg1="lt1" tx1="dk1" bg2="lt2" tx2="dk2" accent1="accent1" accent2="accent2" accent3="accent3" accent4="accent4" accent5="accent5" accent6="accent6" hlink="hlink" folHlink="folHlink"/>
    </a:extraClrScheme>
    <a:extraClrScheme>
      <a:clrScheme name="默认设计模板 3">
        <a:dk1>
          <a:srgbClr val="000000"/>
        </a:dk1>
        <a:lt1>
          <a:srgbClr val="FFFFFF"/>
        </a:lt1>
        <a:dk2>
          <a:srgbClr val="000000"/>
        </a:dk2>
        <a:lt2>
          <a:srgbClr val="333333"/>
        </a:lt2>
        <a:accent1>
          <a:srgbClr val="DDDDDD"/>
        </a:accent1>
        <a:accent2>
          <a:srgbClr val="808080"/>
        </a:accent2>
        <a:accent3>
          <a:srgbClr val="FFFFFF"/>
        </a:accent3>
        <a:accent4>
          <a:srgbClr val="000000"/>
        </a:accent4>
        <a:accent5>
          <a:srgbClr val="EBEBEB"/>
        </a:accent5>
        <a:accent6>
          <a:srgbClr val="737373"/>
        </a:accent6>
        <a:hlink>
          <a:srgbClr val="4D4D4D"/>
        </a:hlink>
        <a:folHlink>
          <a:srgbClr val="EAEAEA"/>
        </a:folHlink>
      </a:clrScheme>
      <a:clrMap bg1="lt1" tx1="dk1" bg2="lt2" tx2="dk2" accent1="accent1" accent2="accent2" accent3="accent3" accent4="accent4" accent5="accent5" accent6="accent6" hlink="hlink" folHlink="folHlink"/>
    </a:extraClrScheme>
    <a:extraClrScheme>
      <a:clrScheme name="默认设计模板 4">
        <a:dk1>
          <a:srgbClr val="000000"/>
        </a:dk1>
        <a:lt1>
          <a:srgbClr val="FFFFCC"/>
        </a:lt1>
        <a:dk2>
          <a:srgbClr val="808000"/>
        </a:dk2>
        <a:lt2>
          <a:srgbClr val="666633"/>
        </a:lt2>
        <a:accent1>
          <a:srgbClr val="339933"/>
        </a:accent1>
        <a:accent2>
          <a:srgbClr val="800000"/>
        </a:accent2>
        <a:accent3>
          <a:srgbClr val="FFFFE2"/>
        </a:accent3>
        <a:accent4>
          <a:srgbClr val="000000"/>
        </a:accent4>
        <a:accent5>
          <a:srgbClr val="ADCAAD"/>
        </a:accent5>
        <a:accent6>
          <a:srgbClr val="730000"/>
        </a:accent6>
        <a:hlink>
          <a:srgbClr val="0033CC"/>
        </a:hlink>
        <a:folHlink>
          <a:srgbClr val="FFCC66"/>
        </a:folHlink>
      </a:clrScheme>
      <a:clrMap bg1="lt1" tx1="dk1" bg2="lt2" tx2="dk2" accent1="accent1" accent2="accent2" accent3="accent3" accent4="accent4" accent5="accent5" accent6="accent6" hlink="hlink" folHlink="folHlink"/>
    </a:extraClrScheme>
    <a:extraClrScheme>
      <a:clrScheme name="默认设计模板 5">
        <a:dk1>
          <a:srgbClr val="000000"/>
        </a:dk1>
        <a:lt1>
          <a:srgbClr val="FFFFFF"/>
        </a:lt1>
        <a:dk2>
          <a:srgbClr val="000000"/>
        </a:dk2>
        <a:lt2>
          <a:srgbClr val="808080"/>
        </a:lt2>
        <a:accent1>
          <a:srgbClr val="FFCC66"/>
        </a:accent1>
        <a:accent2>
          <a:srgbClr val="0000FF"/>
        </a:accent2>
        <a:accent3>
          <a:srgbClr val="FFFFFF"/>
        </a:accent3>
        <a:accent4>
          <a:srgbClr val="000000"/>
        </a:accent4>
        <a:accent5>
          <a:srgbClr val="FFE2B8"/>
        </a:accent5>
        <a:accent6>
          <a:srgbClr val="0000E7"/>
        </a:accent6>
        <a:hlink>
          <a:srgbClr val="CC00CC"/>
        </a:hlink>
        <a:folHlink>
          <a:srgbClr val="C0C0C0"/>
        </a:folHlink>
      </a:clrScheme>
      <a:clrMap bg1="lt1" tx1="dk1" bg2="lt2" tx2="dk2" accent1="accent1" accent2="accent2" accent3="accent3" accent4="accent4" accent5="accent5" accent6="accent6" hlink="hlink" folHlink="folHlink"/>
    </a:extraClrScheme>
    <a:extraClrScheme>
      <a:clrScheme name="默认设计模板 6">
        <a:dk1>
          <a:srgbClr val="000000"/>
        </a:dk1>
        <a:lt1>
          <a:srgbClr val="FFFFFF"/>
        </a:lt1>
        <a:dk2>
          <a:srgbClr val="000000"/>
        </a:dk2>
        <a:lt2>
          <a:srgbClr val="808080"/>
        </a:lt2>
        <a:accent1>
          <a:srgbClr val="C0C0C0"/>
        </a:accent1>
        <a:accent2>
          <a:srgbClr val="0066FF"/>
        </a:accent2>
        <a:accent3>
          <a:srgbClr val="FFFFFF"/>
        </a:accent3>
        <a:accent4>
          <a:srgbClr val="000000"/>
        </a:accent4>
        <a:accent5>
          <a:srgbClr val="DCDCDC"/>
        </a:accent5>
        <a:accent6>
          <a:srgbClr val="005CE7"/>
        </a:accent6>
        <a:hlink>
          <a:srgbClr val="FF0000"/>
        </a:hlink>
        <a:folHlink>
          <a:srgbClr val="009900"/>
        </a:folHlink>
      </a:clrScheme>
      <a:clrMap bg1="lt1" tx1="dk1" bg2="lt2" tx2="dk2" accent1="accent1" accent2="accent2" accent3="accent3" accent4="accent4" accent5="accent5" accent6="accent6" hlink="hlink" folHlink="folHlink"/>
    </a:extraClrScheme>
    <a:extraClrScheme>
      <a:clrScheme name="默认设计模板 7">
        <a:dk1>
          <a:srgbClr val="000000"/>
        </a:dk1>
        <a:lt1>
          <a:srgbClr val="FFFFFF"/>
        </a:lt1>
        <a:dk2>
          <a:srgbClr val="000000"/>
        </a:dk2>
        <a:lt2>
          <a:srgbClr val="808080"/>
        </a:lt2>
        <a:accent1>
          <a:srgbClr val="3399FF"/>
        </a:accent1>
        <a:accent2>
          <a:srgbClr val="99FFCC"/>
        </a:accent2>
        <a:accent3>
          <a:srgbClr val="FFFFFF"/>
        </a:accent3>
        <a:accent4>
          <a:srgbClr val="000000"/>
        </a:accent4>
        <a:accent5>
          <a:srgbClr val="ADCAFF"/>
        </a:accent5>
        <a:accent6>
          <a:srgbClr val="8AE7B9"/>
        </a:accent6>
        <a:hlink>
          <a:srgbClr val="CC00CC"/>
        </a:hlink>
        <a:folHlink>
          <a:srgbClr val="B2B2B2"/>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5585</TotalTime>
  <Words>5216</Words>
  <Application>Microsoft Office PowerPoint</Application>
  <PresentationFormat>全屏显示(4:3)</PresentationFormat>
  <Paragraphs>1297</Paragraphs>
  <Slides>167</Slides>
  <Notes>3</Notes>
  <HiddenSlides>3</HiddenSlides>
  <MMClips>0</MMClips>
  <ScaleCrop>false</ScaleCrop>
  <HeadingPairs>
    <vt:vector size="8" baseType="variant">
      <vt:variant>
        <vt:lpstr>已用的字体</vt:lpstr>
      </vt:variant>
      <vt:variant>
        <vt:i4>10</vt:i4>
      </vt:variant>
      <vt:variant>
        <vt:lpstr>主题</vt:lpstr>
      </vt:variant>
      <vt:variant>
        <vt:i4>1</vt:i4>
      </vt:variant>
      <vt:variant>
        <vt:lpstr>嵌入 OLE 服务器</vt:lpstr>
      </vt:variant>
      <vt:variant>
        <vt:i4>5</vt:i4>
      </vt:variant>
      <vt:variant>
        <vt:lpstr>幻灯片标题</vt:lpstr>
      </vt:variant>
      <vt:variant>
        <vt:i4>167</vt:i4>
      </vt:variant>
    </vt:vector>
  </HeadingPairs>
  <TitlesOfParts>
    <vt:vector size="183" baseType="lpstr">
      <vt:lpstr>黑体</vt:lpstr>
      <vt:lpstr>华文细黑</vt:lpstr>
      <vt:lpstr>隶书</vt:lpstr>
      <vt:lpstr>宋体</vt:lpstr>
      <vt:lpstr>宋体-方正超大字符集</vt:lpstr>
      <vt:lpstr>微软雅黑</vt:lpstr>
      <vt:lpstr>Arial</vt:lpstr>
      <vt:lpstr>Tahoma</vt:lpstr>
      <vt:lpstr>Times New Roman</vt:lpstr>
      <vt:lpstr>Wingdings</vt:lpstr>
      <vt:lpstr>默认设计模板</vt:lpstr>
      <vt:lpstr>Equation</vt:lpstr>
      <vt:lpstr>Microsoft Equation 3.0</vt:lpstr>
      <vt:lpstr>公式</vt:lpstr>
      <vt:lpstr>Visio.Drawing.11</vt:lpstr>
      <vt:lpstr>MathType 6.0 Equation</vt:lpstr>
      <vt:lpstr>计算机控制系统</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538</cp:revision>
  <cp:lastPrinted>2019-02-27T09:17:02Z</cp:lastPrinted>
  <dcterms:created xsi:type="dcterms:W3CDTF">2005-11-09T06:08:36Z</dcterms:created>
  <dcterms:modified xsi:type="dcterms:W3CDTF">2025-03-27T01:35:40Z</dcterms:modified>
</cp:coreProperties>
</file>