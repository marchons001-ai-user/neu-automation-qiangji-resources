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9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9144000" cy="6858000" type="screen4x3"/>
  <p:notesSz cx="6648450" cy="97821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66CC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FFFF"/>
    <a:srgbClr val="FF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6429" autoAdjust="0"/>
  </p:normalViewPr>
  <p:slideViewPr>
    <p:cSldViewPr>
      <p:cViewPr varScale="1">
        <p:scale>
          <a:sx n="113" d="100"/>
          <a:sy n="113" d="100"/>
        </p:scale>
        <p:origin x="117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2273D1A-8896-4E2A-8907-AF5DAE3250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D6AB7E4-D38D-4DC9-AF75-B027B64718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13F02D6C-6078-43CE-A896-D5750D3C126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1A43AA02-2ACB-4B8B-B081-0139DBABA2D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fld id="{14F6A1CA-AD98-4D51-8228-26A07997A1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1879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60A53C8-2316-4D1B-BBAA-29CE8D067F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1B88126-2406-4AD1-BA82-5BA9236344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F407B0F0-E01D-4860-8A62-1B28B3953A5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5013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38F5D39-D89F-4387-876B-216226D05FE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DAF9653-A443-4137-8B77-9D55986B56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261CA24D-8F80-4D94-94F3-5566C9FBE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fld id="{F65FB049-2F8C-402E-8ACF-03CC1AAC712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7650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6937101F-FA26-4294-A4B0-E4A60CD93F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91D07152-B52E-42B7-9F05-99449187E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3DFDAE89-4D27-4DC4-B3F2-9171D505E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5854F9-C853-4CDD-8784-C840AFF04169}" type="slidenum">
              <a:rPr lang="zh-CN" altLang="en-US" sz="1200" smtClean="0"/>
              <a:pPr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38630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89828FFA-B969-473C-B9CD-58EA8B786E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ADDE1536-982A-4E97-9A99-514861718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C6CEB5CC-4299-4946-81B8-FD52D9A64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BD9F5C-03B0-4153-8ACC-DD2A9D49ECD2}" type="slidenum">
              <a:rPr lang="zh-CN" altLang="en-US" sz="1200" smtClean="0"/>
              <a:pPr/>
              <a:t>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367733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6A6E6F39-5945-4D2B-8EFE-D10995D8BA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BC4D914C-A819-415B-B4AD-6737C1EFC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34975"/>
            <a:endParaRPr lang="en-US" altLang="zh-CN" sz="2400">
              <a:latin typeface="宋体" panose="02010600030101010101" pitchFamily="2" charset="-122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2EEED843-BFE3-4490-A2DB-FDBCEE163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89CB68-1935-400C-BA28-105CE4E3C65E}" type="slidenum">
              <a:rPr lang="zh-CN" altLang="en-US" sz="1200" smtClean="0"/>
              <a:pPr/>
              <a:t>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018686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E2B18A66-8CC9-4198-A6AD-549EBCDEA7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E6463F1-1C5D-4DD9-8BF1-2801073B4D65}" type="slidenum">
              <a:rPr lang="zh-CN" altLang="en-US" sz="1200" smtClean="0"/>
              <a:pPr/>
              <a:t>6</a:t>
            </a:fld>
            <a:endParaRPr lang="en-US" altLang="zh-CN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A3619E4-9ABE-4908-8D82-A6B324A460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CBA60FB-D177-4B25-99DA-DB4254969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python </a:t>
            </a:r>
            <a:r>
              <a:rPr lang="zh-CN" altLang="en-US"/>
              <a:t>是一种解释性脚本语言，不像</a:t>
            </a:r>
            <a:r>
              <a:rPr lang="en-US" altLang="zh-CN"/>
              <a:t>c++/java</a:t>
            </a:r>
            <a:r>
              <a:rPr lang="zh-CN" altLang="en-US"/>
              <a:t>那样的高级语言，需要编译成字节码之后才能运行，</a:t>
            </a:r>
            <a:r>
              <a:rPr lang="en-US" altLang="zh-CN"/>
              <a:t>python</a:t>
            </a:r>
            <a:r>
              <a:rPr lang="zh-CN" altLang="en-US"/>
              <a:t>可以边运行边解释</a:t>
            </a:r>
            <a:endParaRPr lang="en-US" altLang="zh-CN"/>
          </a:p>
          <a:p>
            <a:pPr eaLnBrk="1" hangingPunct="1"/>
            <a:r>
              <a:rPr lang="en-US" altLang="zh-CN"/>
              <a:t>Python </a:t>
            </a:r>
            <a:r>
              <a:rPr lang="zh-CN" altLang="en-US"/>
              <a:t>是一门面向对象的解释型的脚本语言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脚本语言属于解释型。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7431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92A3DAC-9CF9-4598-841F-51AA191A6A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E265B31-E613-40FC-B613-C4C6A374D12D}" type="slidenum">
              <a:rPr lang="zh-CN" altLang="en-US" sz="1200" smtClean="0"/>
              <a:pPr/>
              <a:t>7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8FFDE7F-B07F-467F-8E78-7AD7CD2BC3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A6431FFE-48EF-49AE-B590-C209BBF6E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VFP</a:t>
            </a:r>
            <a:r>
              <a:rPr lang="zh-CN" altLang="en-US"/>
              <a:t>，</a:t>
            </a:r>
            <a:r>
              <a:rPr lang="en-US" altLang="zh-CN"/>
              <a:t> JAVA</a:t>
            </a:r>
            <a:r>
              <a:rPr lang="zh-CN" altLang="en-US"/>
              <a:t>都属于混合型的。 </a:t>
            </a:r>
            <a:r>
              <a:rPr lang="en-US" altLang="zh-CN"/>
              <a:t>asp.net</a:t>
            </a:r>
            <a:r>
              <a:rPr lang="zh-CN" altLang="en-US"/>
              <a:t>不再是解释型代码，支持代码和页面内容的分离，执行时代码被编译为一种中间语言</a:t>
            </a:r>
            <a:r>
              <a:rPr lang="en-US" altLang="zh-CN"/>
              <a:t>MSIL</a:t>
            </a:r>
            <a:r>
              <a:rPr lang="zh-CN" altLang="en-US"/>
              <a:t>，所以执行速度比较快。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347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1EE4D921-2A1E-4F05-BD76-C2D639E993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7C4CD6DF-4367-4419-8A47-1151B97B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主要想说明：计算机的程序都是以文件的形式存储的。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 jikann</a:t>
            </a:r>
            <a:endParaRPr lang="zh-CN" altLang="en-US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8010317C-6CC7-4D60-9AA8-ECDB4F54C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3DB71AE-6188-49BF-AB15-8FA98A887073}" type="slidenum">
              <a:rPr lang="zh-CN" altLang="en-US" sz="1200" smtClean="0"/>
              <a:pPr/>
              <a:t>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308759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15FCAB3D-7BDC-4DF3-803C-CF069AAC2F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27B24361-FA69-430F-907F-EF4E9D539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ABB23CB1-855D-4852-951B-FE72D67A8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79F835E-EA09-4BB5-B01E-117E8ECE7A70}" type="slidenum">
              <a:rPr lang="zh-CN" altLang="en-US" sz="1200" smtClean="0"/>
              <a:pPr/>
              <a:t>10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647038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11835B38-F0B8-43FD-8780-E33C38C2CF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4A7B2E57-3F61-4CC9-B2F1-2FAD25C69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62013" lvl="1">
              <a:lnSpc>
                <a:spcPct val="9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</a:rPr>
              <a:t>开发工具支持，</a:t>
            </a:r>
            <a:r>
              <a:rPr lang="zh-CN" altLang="en-US" sz="2000">
                <a:latin typeface="宋体" panose="02010600030101010101" pitchFamily="2" charset="-122"/>
              </a:rPr>
              <a:t>开发工具的选择根据所开发程序的需求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</a:rPr>
              <a:t>编辑工具，开发软件用编辑工具输入程序，包括</a:t>
            </a: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</a:rPr>
              <a:t>文本编辑程序</a:t>
            </a:r>
            <a:r>
              <a:rPr lang="zh-CN" altLang="en-US" sz="1800">
                <a:latin typeface="宋体" panose="02010600030101010101" pitchFamily="2" charset="-122"/>
              </a:rPr>
              <a:t>，</a:t>
            </a: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</a:rPr>
              <a:t>图像编辑程序</a:t>
            </a:r>
            <a:r>
              <a:rPr lang="zh-CN" altLang="en-US" sz="1800">
                <a:latin typeface="宋体" panose="02010600030101010101" pitchFamily="2" charset="-122"/>
              </a:rPr>
              <a:t>，等等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</a:rPr>
              <a:t>编译器（编译程序）和 调试器（调试程序）</a:t>
            </a:r>
          </a:p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E355F170-B72D-42AA-92F7-0B5ABB878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2B25E87-7FCB-45B3-9CAA-9263F5FBFB28}" type="slidenum">
              <a:rPr lang="zh-CN" altLang="en-US" sz="1200" smtClean="0"/>
              <a:pPr/>
              <a:t>11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981579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A9B96F9A-14FA-4B41-8D8A-AC9535251D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512B4B70-C1D9-4E75-8AE7-AF73FDA9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7F30D471-55A4-4580-B605-BB498D01D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CD54F94-E9A1-4E7F-B041-3A2018BDBC16}" type="slidenum">
              <a:rPr lang="zh-CN" altLang="en-US" sz="1200" smtClean="0"/>
              <a:pPr/>
              <a:t>12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41198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B8E26E8E-1BC3-4020-ABE1-BAAE1D06B3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BB3D318A-2D2F-4582-9264-73E1B655F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程序语言的基本要素，是我们要复习的重点内容。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可执行程序中的地址表类似于内存当中的变量地址表，只不过地址是相对地址。</a:t>
            </a: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772056EA-2F62-4505-8E5D-A49A6C8FB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52FCA6B-625B-46DB-9350-ACD60E4A161A}" type="slidenum">
              <a:rPr lang="zh-CN" altLang="en-US" sz="1200" smtClean="0"/>
              <a:pPr/>
              <a:t>13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789678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7FDA80C7-7D1F-4AC5-849A-E4FD38A45D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EFB3514A-5499-4D1F-ADA1-9BD8792B6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62013" lvl="1">
              <a:lnSpc>
                <a:spcPct val="90000"/>
              </a:lnSpc>
            </a:pPr>
            <a:endParaRPr lang="en-US" altLang="zh-CN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81F380B6-D4A3-4FBD-AE5F-F04BD5EC6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0C8F344-CA20-4155-9273-B7908F07A1B8}" type="slidenum">
              <a:rPr lang="zh-CN" altLang="en-US" sz="1200" smtClean="0"/>
              <a:pPr/>
              <a:t>14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102206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768A2AFA-D71E-4D41-9628-32C0D7B857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7FD1564-0D8C-4D82-8643-B641BD1381B7}" type="slidenum">
              <a:rPr lang="zh-CN" altLang="en-US" sz="1200" smtClean="0"/>
              <a:pPr/>
              <a:t>15</a:t>
            </a:fld>
            <a:endParaRPr lang="en-US" altLang="zh-CN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D4B51294-36EA-475D-8682-10331DDE56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A85178C-F21F-44F6-848B-90AFF5A9F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3">
              <a:lnSpc>
                <a:spcPct val="90000"/>
              </a:lnSpc>
            </a:pPr>
            <a:r>
              <a:rPr lang="en-US" altLang="zh-CN">
                <a:latin typeface="宋体" panose="02010600030101010101" pitchFamily="2" charset="-122"/>
              </a:rPr>
              <a:t>==========</a:t>
            </a:r>
          </a:p>
          <a:p>
            <a:pPr marL="0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</a:rPr>
              <a:t>硬件执行的操作，加(+)、减(-)、乘(*)、除(/)，执行速度快，尤以加减为最快</a:t>
            </a:r>
          </a:p>
          <a:p>
            <a:pPr marL="0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</a:rPr>
              <a:t>函数模块或过程模块，</a:t>
            </a:r>
            <a:r>
              <a:rPr lang="en-US" altLang="zh-CN">
                <a:latin typeface="宋体" panose="02010600030101010101" pitchFamily="2" charset="-122"/>
              </a:rPr>
              <a:t>sqrt(x)</a:t>
            </a:r>
            <a:r>
              <a:rPr lang="zh-CN" altLang="en-US">
                <a:latin typeface="宋体" panose="02010600030101010101" pitchFamily="2" charset="-122"/>
              </a:rPr>
              <a:t>开方函数，速度慢，例如，3*3 的执行速度 要比 </a:t>
            </a:r>
            <a:r>
              <a:rPr lang="en-US" altLang="zh-CN">
                <a:latin typeface="宋体" panose="02010600030101010101" pitchFamily="2" charset="-122"/>
              </a:rPr>
              <a:t>pow(3,2)</a:t>
            </a:r>
            <a:r>
              <a:rPr lang="zh-CN" altLang="en-US">
                <a:latin typeface="宋体" panose="02010600030101010101" pitchFamily="2" charset="-122"/>
              </a:rPr>
              <a:t>快得多</a:t>
            </a:r>
            <a:endParaRPr lang="en-US" altLang="zh-CN">
              <a:latin typeface="宋体" panose="02010600030101010101" pitchFamily="2" charset="-122"/>
            </a:endParaRPr>
          </a:p>
          <a:p>
            <a:pPr marL="0" lvl="3">
              <a:lnSpc>
                <a:spcPct val="90000"/>
              </a:lnSpc>
            </a:pPr>
            <a:r>
              <a:rPr lang="en-US" altLang="zh-CN"/>
              <a:t>C</a:t>
            </a:r>
            <a:r>
              <a:rPr lang="zh-CN" altLang="en-US"/>
              <a:t>语言中</a:t>
            </a:r>
            <a:r>
              <a:rPr lang="en-US" altLang="zh-CN"/>
              <a:t>,</a:t>
            </a:r>
            <a:r>
              <a:rPr lang="zh-CN" altLang="en-US"/>
              <a:t>双精度</a:t>
            </a:r>
            <a:r>
              <a:rPr lang="en-US" altLang="zh-CN"/>
              <a:t>(double)</a:t>
            </a:r>
            <a:r>
              <a:rPr lang="zh-CN" altLang="en-US"/>
              <a:t>型占</a:t>
            </a:r>
            <a:r>
              <a:rPr lang="en-US" altLang="zh-CN"/>
              <a:t>8 </a:t>
            </a:r>
            <a:r>
              <a:rPr lang="zh-CN" altLang="en-US"/>
              <a:t>个字节</a:t>
            </a:r>
            <a:r>
              <a:rPr lang="en-US" altLang="zh-CN"/>
              <a:t>(64</a:t>
            </a:r>
            <a:r>
              <a:rPr lang="zh-CN" altLang="en-US"/>
              <a:t>位</a:t>
            </a:r>
            <a:r>
              <a:rPr lang="en-US" altLang="zh-CN"/>
              <a:t>)</a:t>
            </a:r>
            <a:r>
              <a:rPr lang="zh-CN" altLang="en-US"/>
              <a:t>内存空间，其数值范围为</a:t>
            </a:r>
            <a:r>
              <a:rPr lang="en-US" altLang="zh-CN"/>
              <a:t>1.7E-308~1.7E 308</a:t>
            </a:r>
            <a:r>
              <a:rPr lang="zh-CN" altLang="en-US"/>
              <a:t>，可提供</a:t>
            </a:r>
            <a:r>
              <a:rPr lang="en-US" altLang="zh-CN"/>
              <a:t>16</a:t>
            </a:r>
            <a:r>
              <a:rPr lang="zh-CN" altLang="en-US"/>
              <a:t>位有效数字。 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463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66DFD698-8BD7-4DBD-AC03-87DD31A6F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B477AB-D8BE-432C-8C99-D3D429A0CEA1}" type="slidenum">
              <a:rPr lang="zh-CN" altLang="en-US" sz="1200" smtClean="0"/>
              <a:pPr/>
              <a:t>16</a:t>
            </a:fld>
            <a:endParaRPr lang="en-US" altLang="zh-CN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146945D-302E-4833-BC64-A92AFD3142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A4CDA399-14FB-4A2A-B8C8-0E5332BEE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600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4CEBE9B7-7EED-4137-B984-CD97CFFBD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691E7155-0693-43BA-B751-5681CF4C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结构化数据类型包括：数组、结构</a:t>
            </a: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757E9099-FF91-4272-9F2A-41331E109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DEE914-4AC6-44B6-B215-DFC174B4937D}" type="slidenum">
              <a:rPr lang="zh-CN" altLang="en-US" sz="1200" smtClean="0"/>
              <a:pPr/>
              <a:t>17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997653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94339CE5-0288-4CCC-88F4-CE12F320A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E3623B13-887F-4520-B26C-C2A724F42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04DE8037-6D4E-47C7-ACA4-7BD3DB3E0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CEED082-C6BF-42CD-8840-F3FCBB8B2109}" type="slidenum">
              <a:rPr lang="zh-CN" altLang="en-US" sz="1200" smtClean="0"/>
              <a:pPr/>
              <a:t>18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679398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9B572BEA-3DF0-4D43-B1D9-C030616A1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08ED18A2-F51E-48FE-8D0A-5725C0945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在数据结构当中，会经常用到指针的概念。  指针型的变量：变量的值是一个“地址”。</a:t>
            </a:r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91EC4C6C-844D-432C-8D4C-43F8A03F5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A3E135A-DA4E-49B3-9470-5B93975C926C}" type="slidenum">
              <a:rPr lang="zh-CN" altLang="en-US" sz="1200" smtClean="0"/>
              <a:pPr/>
              <a:t>20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723450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50CA81AE-A2FF-48F7-A0D6-5188BDCAEA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4130E99-6819-4CA0-8DDB-9CE25B3BD4F8}" type="slidenum">
              <a:rPr lang="zh-CN" altLang="en-US" sz="1200" smtClean="0"/>
              <a:pPr/>
              <a:t>22</a:t>
            </a:fld>
            <a:endParaRPr lang="en-US" altLang="zh-CN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321BAB0C-FBC3-4E44-B8C9-D803CC941F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4F6A103-C183-43BE-8012-ABD8D3CF0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不同语言数据类型的转换方式也不同。实际应用当中也经常涉及到类型转换的问题。例如：把字符串转换为数值等。</a:t>
            </a:r>
            <a:endParaRPr lang="en-US" altLang="zh-CN"/>
          </a:p>
          <a:p>
            <a:pPr eaLnBrk="1" hangingPunct="1"/>
            <a:r>
              <a:rPr lang="zh-CN" altLang="en-US"/>
              <a:t>有的语言可以自动转换，例如</a:t>
            </a:r>
            <a:r>
              <a:rPr lang="en-US" altLang="zh-CN"/>
              <a:t>SQL</a:t>
            </a:r>
            <a:r>
              <a:rPr lang="zh-CN" altLang="en-US"/>
              <a:t>中，有些情况下会自动匹配数据类型并进行转换。</a:t>
            </a:r>
          </a:p>
        </p:txBody>
      </p:sp>
    </p:spTree>
    <p:extLst>
      <p:ext uri="{BB962C8B-B14F-4D97-AF65-F5344CB8AC3E}">
        <p14:creationId xmlns:p14="http://schemas.microsoft.com/office/powerpoint/2010/main" val="876617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6F21F740-BA68-4F2D-B602-B906F0477E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3879FD13-0545-4EF5-9E1B-2ABC66A40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77F8E75B-2C84-4249-9EB1-6FFA88929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BC4987-10E2-4097-BECC-B8672BEA28E3}" type="slidenum">
              <a:rPr lang="zh-CN" altLang="en-US" sz="1200" smtClean="0"/>
              <a:pPr/>
              <a:t>23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457313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5B9E5BD-925D-4588-B379-C8A69CC215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F94CA15-F3B6-4836-A75C-68B57DB830A7}" type="slidenum">
              <a:rPr lang="zh-CN" altLang="en-US" sz="1200" smtClean="0"/>
              <a:pPr/>
              <a:t>24</a:t>
            </a:fld>
            <a:endParaRPr lang="en-US" altLang="zh-CN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4A14896-8941-4330-9C96-0F3E4BA25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C848D2E4-DC5E-4992-90E1-CC14CBA84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任何程序语言当中，都会有一些标识符、定义符等，我们把他们称作关键字。</a:t>
            </a:r>
            <a:endParaRPr lang="en-US" altLang="zh-CN"/>
          </a:p>
          <a:p>
            <a:pPr eaLnBrk="1" hangingPunct="1"/>
            <a:r>
              <a:rPr lang="zh-CN" altLang="en-US"/>
              <a:t>如果用关键字做变量，一般无法通过编译，在编译的时候就会报错。</a:t>
            </a:r>
          </a:p>
        </p:txBody>
      </p:sp>
    </p:spTree>
    <p:extLst>
      <p:ext uri="{BB962C8B-B14F-4D97-AF65-F5344CB8AC3E}">
        <p14:creationId xmlns:p14="http://schemas.microsoft.com/office/powerpoint/2010/main" val="27464285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04169707-3ED3-43AA-94A6-6C74B30931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154CC4-36CE-4978-BA58-83460B19A4BB}" type="slidenum">
              <a:rPr lang="zh-CN" altLang="en-US" sz="1200" smtClean="0"/>
              <a:pPr/>
              <a:t>25</a:t>
            </a:fld>
            <a:endParaRPr lang="en-US" altLang="zh-CN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D19B20C4-158E-4CA7-8F6A-DA57C88B7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DFB3BB1-71AC-4194-AF0F-CDE9E0F88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逻辑运算符通常针对数字类数据，逻辑操作符针对布尔型数据。</a:t>
            </a:r>
            <a:endParaRPr lang="en-US" altLang="zh-CN"/>
          </a:p>
          <a:p>
            <a:pPr eaLnBrk="1" hangingPunct="1"/>
            <a:r>
              <a:rPr lang="zh-CN" altLang="en-US"/>
              <a:t>算术表达式的结果是数值，而逻辑表达式的结果是布尔值。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783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1588D17A-19CC-4292-AF7D-97A166B2F9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088427DB-A395-4D9F-BB92-65D402FD9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标记为红色的，实验中可能用到。</a:t>
            </a:r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456BF486-1F82-44E0-B349-3760C7E6C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EC1E7A9-4644-4C8B-8126-E3425112876E}" type="slidenum">
              <a:rPr lang="zh-CN" altLang="en-US" sz="1200" smtClean="0"/>
              <a:pPr/>
              <a:t>26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864300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DFAB5AB1-FB80-4816-8F9C-68C61BD94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8BC43777-6706-47FA-BE61-973FF7005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标记为红色的，实验中可能用到。</a:t>
            </a:r>
          </a:p>
          <a:p>
            <a:endParaRPr lang="zh-CN" altLang="en-US"/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B57F5A37-0D3C-430A-AE4F-49E51AFF5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05E071D-1D16-4D5F-BDBF-944B9B2012B8}" type="slidenum">
              <a:rPr lang="zh-CN" altLang="en-US" sz="1200" smtClean="0"/>
              <a:pPr/>
              <a:t>27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971052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5E80B3D7-91DB-41E4-BB5E-F231F0BBFF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388DD90-914B-4534-9251-AADD80B3F1F4}" type="slidenum">
              <a:rPr lang="zh-CN" altLang="en-US" sz="1200" smtClean="0"/>
              <a:pPr/>
              <a:t>28</a:t>
            </a:fld>
            <a:endParaRPr lang="en-US" altLang="zh-CN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E3BF99A-8AF0-4E7F-9993-2B4471E16D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4C328B55-AB00-426D-8522-D3F62E643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再介绍一个常用的术语“程序块”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395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048DADC-38AD-4B93-B8BC-D1EEC76B5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34C65BB-8D01-42EA-9364-00702E296F0E}" type="slidenum">
              <a:rPr lang="zh-CN" altLang="en-US" sz="1200" smtClean="0"/>
              <a:pPr/>
              <a:t>29</a:t>
            </a:fld>
            <a:endParaRPr lang="en-US" altLang="zh-CN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64E4D5C-1D32-407A-AF0F-96B323EC12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7B3664A0-4D33-4E50-9149-54AB7DBF9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重点介绍右侧的例子。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有的语言，</a:t>
            </a:r>
            <a:r>
              <a:rPr lang="en-US" altLang="zh-CN"/>
              <a:t>select case</a:t>
            </a:r>
          </a:p>
          <a:p>
            <a:pPr eaLnBrk="1" hangingPunct="1"/>
            <a:r>
              <a:rPr lang="en-US" altLang="zh-CN"/>
              <a:t>Case </a:t>
            </a:r>
            <a:r>
              <a:rPr lang="zh-CN" altLang="en-US"/>
              <a:t>语句，有的需要</a:t>
            </a:r>
            <a:r>
              <a:rPr lang="en-US" altLang="zh-CN"/>
              <a:t>break</a:t>
            </a:r>
            <a:r>
              <a:rPr lang="zh-CN" altLang="en-US"/>
              <a:t>，有的不需要。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67780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1C529B1E-FB24-4C51-AF48-1C8340BBA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DB884103-0B3C-4484-8511-1C4988370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循环控制机制相对复杂一些，循环的形式多，相关的语句也多。</a:t>
            </a:r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62642852-DC4C-4C6A-B188-282FC084A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D4B5CD2-DC3C-44BF-93CC-735C94589AF0}" type="slidenum">
              <a:rPr lang="zh-CN" altLang="en-US" sz="1200" smtClean="0"/>
              <a:pPr/>
              <a:t>30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1812814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>
            <a:extLst>
              <a:ext uri="{FF2B5EF4-FFF2-40B4-BE49-F238E27FC236}">
                <a16:creationId xmlns:a16="http://schemas.microsoft.com/office/drawing/2014/main" id="{83047850-EB76-47E7-A76A-BA9DBAD73F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>
            <a:extLst>
              <a:ext uri="{FF2B5EF4-FFF2-40B4-BE49-F238E27FC236}">
                <a16:creationId xmlns:a16="http://schemas.microsoft.com/office/drawing/2014/main" id="{1AF1A278-286B-4C16-B329-DDF7E1274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FA51448B-68F0-4102-8D8A-1EA417620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349D950-DB32-4697-8210-F63E3887A1AB}" type="slidenum">
              <a:rPr lang="zh-CN" altLang="en-US" sz="1200" smtClean="0"/>
              <a:pPr/>
              <a:t>31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6482988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id="{729EE2C7-9249-470E-AD6E-42149CFA0D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id="{2191CB1C-ADCD-4878-87ED-DABE508E1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17370A54-CC54-4745-8C58-817A2C3A0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E08A70E-727A-4BB6-8A70-F9D68C755FFF}" type="slidenum">
              <a:rPr lang="zh-CN" altLang="en-US" sz="1200" smtClean="0"/>
              <a:pPr/>
              <a:t>32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38544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>
            <a:extLst>
              <a:ext uri="{FF2B5EF4-FFF2-40B4-BE49-F238E27FC236}">
                <a16:creationId xmlns:a16="http://schemas.microsoft.com/office/drawing/2014/main" id="{F1AB472B-BC44-4330-88E3-625FCB378A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>
            <a:extLst>
              <a:ext uri="{FF2B5EF4-FFF2-40B4-BE49-F238E27FC236}">
                <a16:creationId xmlns:a16="http://schemas.microsoft.com/office/drawing/2014/main" id="{A527CCED-7E23-43D1-8CA1-4C0980672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454E3EE8-EB73-45CA-85D4-87668C4CE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476FF2E-B39C-48DB-8740-C6C5ABF05830}" type="slidenum">
              <a:rPr lang="zh-CN" altLang="en-US" sz="1200" smtClean="0"/>
              <a:pPr/>
              <a:t>33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563362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6DBB5876-C656-4ACB-A2C3-C6340AF55E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88F39406-CC99-46C6-873D-EBFF6F648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Matlab </a:t>
            </a:r>
            <a:r>
              <a:rPr lang="zh-CN" altLang="en-US"/>
              <a:t>算编程语言吗？</a:t>
            </a:r>
            <a:endParaRPr lang="en-US" altLang="zh-CN"/>
          </a:p>
          <a:p>
            <a:r>
              <a:rPr lang="en-US" altLang="zh-CN"/>
              <a:t>MATLAB</a:t>
            </a:r>
            <a:r>
              <a:rPr lang="zh-CN" altLang="en-US"/>
              <a:t>是矩阵实验室</a:t>
            </a:r>
            <a:r>
              <a:rPr lang="en-US" altLang="zh-CN"/>
              <a:t>(Matrix Laboratory)</a:t>
            </a:r>
            <a:r>
              <a:rPr lang="zh-CN" altLang="en-US"/>
              <a:t>的简称，和</a:t>
            </a:r>
            <a:r>
              <a:rPr lang="en-US" altLang="zh-CN"/>
              <a:t>MathemaTIca</a:t>
            </a:r>
            <a:r>
              <a:rPr lang="zh-CN" altLang="en-US"/>
              <a:t>、</a:t>
            </a:r>
            <a:r>
              <a:rPr lang="en-US" altLang="zh-CN"/>
              <a:t>Maple</a:t>
            </a:r>
            <a:r>
              <a:rPr lang="zh-CN" altLang="en-US"/>
              <a:t>并称为三大数学软件</a:t>
            </a:r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A2FC7C8A-89B3-4874-B380-944B989D0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942D80F-E0FC-4EE6-BA34-4B84BDAC9785}" type="slidenum">
              <a:rPr lang="zh-CN" altLang="en-US" sz="1200" smtClean="0"/>
              <a:pPr/>
              <a:t>35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865678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>
            <a:extLst>
              <a:ext uri="{FF2B5EF4-FFF2-40B4-BE49-F238E27FC236}">
                <a16:creationId xmlns:a16="http://schemas.microsoft.com/office/drawing/2014/main" id="{1CC0D839-8720-4D83-973D-2969A6E2FC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>
            <a:extLst>
              <a:ext uri="{FF2B5EF4-FFF2-40B4-BE49-F238E27FC236}">
                <a16:creationId xmlns:a16="http://schemas.microsoft.com/office/drawing/2014/main" id="{2DD90D78-7391-40FD-A8A4-307D13E88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属于软件工程的内容，在此仅做简单的介绍。</a:t>
            </a:r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70B180ED-C87F-42CD-B47D-3488DC7E0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B5F9E94-9E77-4D3F-B236-D1002A8AAF33}" type="slidenum">
              <a:rPr lang="zh-CN" altLang="en-US" sz="1200" smtClean="0"/>
              <a:pPr/>
              <a:t>36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7542686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D7328CA8-899D-4409-B268-62703038D7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47156A1F-6937-4B4A-8433-371078BFA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1584E98D-E1BF-479C-B3E1-B496EC8D6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5902ACD-400F-4DC2-A1ED-B224296CC7CB}" type="slidenum">
              <a:rPr lang="zh-CN" altLang="en-US" sz="1200" smtClean="0"/>
              <a:pPr/>
              <a:t>39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924517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6249B622-5E18-4A1A-9D7B-E1B4B9DDA7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218910-5F04-4187-BF5F-A43A057B634F}" type="slidenum">
              <a:rPr lang="zh-CN" altLang="en-US" sz="1200" smtClean="0"/>
              <a:pPr/>
              <a:t>40</a:t>
            </a:fld>
            <a:endParaRPr lang="en-US" altLang="zh-CN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2BFD976B-3B34-4193-B755-617C041AD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0D620E8F-FB1A-42BA-BB1D-24991C68E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参见编程规则，</a:t>
            </a:r>
            <a:r>
              <a:rPr lang="en-US" altLang="zh-CN"/>
              <a:t>C++</a:t>
            </a:r>
            <a:r>
              <a:rPr lang="zh-CN" altLang="en-US"/>
              <a:t>例子程序。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37535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A492C87-E585-43CA-AE0F-48FB71B99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9DEE85C-F1ED-44E6-9584-53FD7B3349E7}" type="slidenum">
              <a:rPr lang="zh-CN" altLang="en-US" sz="1200" smtClean="0"/>
              <a:pPr/>
              <a:t>41</a:t>
            </a:fld>
            <a:endParaRPr lang="en-US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6A4CAAF-E042-4ABD-8502-E9EAEB354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465BCCA-23D3-48F3-B74D-B482BBC05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3753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72C65-5F67-4980-873F-27FDBAD3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F24EC-19CC-4117-A705-47D64562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28A4EB-31CB-4D4E-917E-779AD8CD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D2537-827D-485B-A05C-9F019F5DE14C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903580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0F4A45-28E5-4C91-AEE3-468E7AC8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06D178-65C3-465B-A95C-91409B22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E5B9D-5F59-417E-A081-DC9D13FA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27A0E-1276-4EBC-AD55-EC56DEDFCCD3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528663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99597-2FA5-460E-8371-F5556FCB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44CD35-0885-4841-8FAE-356B8E7F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3F27E5-ED2E-46AE-9DBF-B68DE6CA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550CF-9FF9-43AB-93B8-D21A0857C8FB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105314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1213" y="1101725"/>
            <a:ext cx="4421187" cy="5476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552B0A-EA9F-41A4-A618-A6C3C135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2F5B2E-2412-47EE-8F34-934EE6FD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90F5D-0BFF-4709-9A66-13FB4C8E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8C719-8805-47B7-B274-466B42BA2C15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121345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FD3E6E-BF52-4DF2-8882-3C5AC6471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9DC38-DA6D-434A-9AFA-C2BB3B02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4D6623-013A-4809-AA82-9A4D93ED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BF204C-8744-40E4-BEE0-31CE5BCC62B9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91650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D9FDAD-54EF-4506-ADF4-9E79D336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067B7F-10E9-46D9-898C-C62036AA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934559-1D0E-4AD3-B72B-1649D845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F8714-A2BC-4F55-AA5A-6F112EAA50B6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800005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375982-3CDE-41BE-B4C9-029A0487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7F4A5C-9C4E-43F5-90C1-4E16CBAA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30B51-81D0-491B-A873-DE8EC011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98CE9-EEAE-48DA-91B0-18BF00B90805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822171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395773-69EF-4EEA-8FDE-05EF9DE1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FFD1F4-2968-420D-A5FB-5ECE7D0A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645B1-655F-4A31-A655-3DA25C196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89665-AE48-40F3-94CB-5A642005FA02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490590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93C45E-1EE0-405D-9BBD-25DE6DAE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77649F-36A5-4A53-A045-FB383DD9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5897A-BE2E-4076-8271-5ADAB2C5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A4042-4CB3-4720-AC07-D848B6F30DD5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827359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280B3F-0FAD-4BDC-9BDA-8C563135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C2B57-CA73-44DC-80F7-9B9B34C1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E629E7-F6CC-4933-85BE-B98E5127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F6177-6DB7-42D7-B1B9-94A81222A1FA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937796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4500" y="44450"/>
            <a:ext cx="2247900" cy="65341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213" y="44450"/>
            <a:ext cx="6592887" cy="65341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E422AC-5DE6-4F5E-81B8-EF46F7F46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846465-F0C6-412D-AF82-EC0546A5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93DB8-A950-4A46-9287-A2F1814A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DC7E0-9672-406F-BA30-8A020468078E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406687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1213" y="1101725"/>
            <a:ext cx="4421187" cy="2662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1213" y="3916363"/>
            <a:ext cx="4421187" cy="26622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B2CB984-B8A2-45F4-B8D0-BA4E2229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2CB6FE2-FE3A-49B1-AEDC-DC6A3DE9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A668DD4-C708-40C4-829D-DDC95091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0707D-9AAE-469D-BB7A-C9F5D45E3A2B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798608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21213" y="1101725"/>
            <a:ext cx="4421187" cy="54768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B2A53E-1BFB-4106-A8A6-E5E1924D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857925-D46A-4D62-A2EF-532CC820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9CFC59-5706-4703-9B12-F71B5CEF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493F2-9BB1-4A89-AB54-0E10197C8444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333267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A1C6FB-70A8-485E-9B73-96F323BA0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4425F4-9D2B-43F2-8331-F7DA0F52B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3" y="1101725"/>
            <a:ext cx="8993187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9063D92-E776-48F4-B630-402F3C2AF9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681E1BD-5394-43C8-B84B-DDE0F50B05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D501D9-44FE-4F39-AEBE-E828F3FB0B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1050" y="6524625"/>
            <a:ext cx="1905000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4D7EA81-D6EF-4444-8751-78E00D4B06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975" r:id="rId1"/>
    <p:sldLayoutId id="2147484976" r:id="rId2"/>
    <p:sldLayoutId id="2147484977" r:id="rId3"/>
    <p:sldLayoutId id="2147484978" r:id="rId4"/>
    <p:sldLayoutId id="2147484979" r:id="rId5"/>
    <p:sldLayoutId id="2147484980" r:id="rId6"/>
    <p:sldLayoutId id="2147484981" r:id="rId7"/>
    <p:sldLayoutId id="2147484982" r:id="rId8"/>
    <p:sldLayoutId id="2147484983" r:id="rId9"/>
    <p:sldLayoutId id="2147484984" r:id="rId10"/>
    <p:sldLayoutId id="2147484985" r:id="rId11"/>
    <p:sldLayoutId id="2147484986" r:id="rId12"/>
    <p:sldLayoutId id="2147484987" r:id="rId13"/>
  </p:sldLayoutIdLst>
  <p:transition advClick="0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bg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CSample.ppt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CSample.pp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CSample.pp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32DD3AD-843A-4F00-937B-314BDB503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数据结构与操作系统</a:t>
            </a:r>
            <a:b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（第二讲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7C4C3816-1D53-47F2-B88D-31F9EE8D8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张瑞友 教授</a:t>
            </a:r>
            <a:endParaRPr lang="en-US" altLang="zh-CN" dirty="0"/>
          </a:p>
          <a:p>
            <a:r>
              <a:rPr lang="zh-CN" altLang="en-US" dirty="0"/>
              <a:t>人工智能系</a:t>
            </a:r>
            <a:endParaRPr lang="en-US" altLang="zh-CN" dirty="0"/>
          </a:p>
          <a:p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2B63CB-2F14-412C-8F5C-07DFC78A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FE639-C234-4E9A-910A-19A90FCCCE3E}" type="slidenum">
              <a:rPr lang="zh-CN" altLang="en-US" smtClean="0"/>
              <a:pPr>
                <a:defRPr/>
              </a:pPr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791548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C5B0B2F9-7A2D-4581-A53D-C4C6B00A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D2E580-6FBC-4745-B207-D792BAD4E628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1E49CF8-03B4-43C9-B1D6-D215D050F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内容介绍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D35C111-0321-4B19-836A-96651E515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03313"/>
            <a:ext cx="4319587" cy="5638800"/>
          </a:xfrm>
        </p:spPr>
        <p:txBody>
          <a:bodyPr/>
          <a:lstStyle/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2.1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什么是编程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2.2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编程语言与开发环境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2.3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程序语言的基本要素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数据的存储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变量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什么是数据类型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变量的声明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关键字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操作符类型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内置函数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</p:txBody>
      </p:sp>
      <p:sp>
        <p:nvSpPr>
          <p:cNvPr id="19461" name="Rectangle 16">
            <a:extLst>
              <a:ext uri="{FF2B5EF4-FFF2-40B4-BE49-F238E27FC236}">
                <a16:creationId xmlns:a16="http://schemas.microsoft.com/office/drawing/2014/main" id="{79693122-A673-46CD-9D96-4BF013027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1074738"/>
            <a:ext cx="3433763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862013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2.4 </a:t>
            </a:r>
            <a:r>
              <a:rPr lang="zh-CN" altLang="en-US" sz="2800">
                <a:latin typeface="宋体" panose="02010600030101010101" pitchFamily="2" charset="-122"/>
              </a:rPr>
              <a:t>程序语言分类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2.5 </a:t>
            </a:r>
            <a:r>
              <a:rPr lang="zh-CN" altLang="en-US" sz="2800">
                <a:latin typeface="宋体" panose="02010600030101010101" pitchFamily="2" charset="-122"/>
              </a:rPr>
              <a:t>编程基本原则</a:t>
            </a:r>
          </a:p>
          <a:p>
            <a:pPr lvl="1">
              <a:spcBef>
                <a:spcPct val="0"/>
              </a:spcBef>
            </a:pPr>
            <a:r>
              <a:rPr lang="zh-CN" altLang="en-US" sz="1400">
                <a:latin typeface="宋体" panose="02010600030101010101" pitchFamily="2" charset="-122"/>
              </a:rPr>
              <a:t>分解组合、</a:t>
            </a:r>
            <a:endParaRPr lang="en-US" altLang="zh-CN" sz="1400"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zh-CN" altLang="en-US" sz="1400">
                <a:latin typeface="宋体" panose="02010600030101010101" pitchFamily="2" charset="-122"/>
              </a:rPr>
              <a:t>抽象化模块</a:t>
            </a:r>
          </a:p>
          <a:p>
            <a:pPr lvl="1">
              <a:spcBef>
                <a:spcPct val="0"/>
              </a:spcBef>
            </a:pPr>
            <a:r>
              <a:rPr lang="zh-CN" altLang="en-US" sz="1400">
                <a:latin typeface="宋体" panose="02010600030101010101" pitchFamily="2" charset="-122"/>
              </a:rPr>
              <a:t>封装化模块</a:t>
            </a:r>
          </a:p>
          <a:p>
            <a:pPr lvl="1">
              <a:spcBef>
                <a:spcPct val="0"/>
              </a:spcBef>
            </a:pPr>
            <a:r>
              <a:rPr lang="zh-CN" altLang="en-US" sz="1400">
                <a:latin typeface="宋体" panose="02010600030101010101" pitchFamily="2" charset="-122"/>
              </a:rPr>
              <a:t>等等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2.6 </a:t>
            </a:r>
            <a:r>
              <a:rPr lang="zh-CN" altLang="en-US" sz="2800">
                <a:latin typeface="宋体" panose="02010600030101010101" pitchFamily="2" charset="-122"/>
              </a:rPr>
              <a:t>编程的学习方法</a:t>
            </a:r>
          </a:p>
        </p:txBody>
      </p:sp>
      <p:sp>
        <p:nvSpPr>
          <p:cNvPr id="7" name="AutoShape 64">
            <a:extLst>
              <a:ext uri="{FF2B5EF4-FFF2-40B4-BE49-F238E27FC236}">
                <a16:creationId xmlns:a16="http://schemas.microsoft.com/office/drawing/2014/main" id="{5FD7D821-0C41-4520-A49A-5BB1086C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714375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AutoShape 6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F93FB6F8-164C-4303-B333-673185CEB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4429125"/>
            <a:ext cx="2590800" cy="2295525"/>
          </a:xfrm>
          <a:prstGeom prst="cloudCallout">
            <a:avLst>
              <a:gd name="adj1" fmla="val -52037"/>
              <a:gd name="adj2" fmla="val -59565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dirty="0"/>
              <a:t>本章的内容</a:t>
            </a:r>
            <a:r>
              <a:rPr lang="en-US" altLang="zh-CN" dirty="0"/>
              <a:t>,</a:t>
            </a:r>
            <a:r>
              <a:rPr lang="zh-CN" altLang="en-US" dirty="0"/>
              <a:t>是在已学计算机语言的基础上，对编程方法的一个简单归纳总结。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这里所介绍的一些原理，适用于大部分开发语言。</a:t>
            </a:r>
            <a:endParaRPr lang="en-US" altLang="zh-CN" dirty="0"/>
          </a:p>
        </p:txBody>
      </p:sp>
    </p:spTree>
  </p:cSld>
  <p:clrMapOvr>
    <a:masterClrMapping/>
  </p:clrMapOvr>
  <p:transition advClick="0" advTm="42253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2671" objId="7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30D80F9F-56D4-4A4B-84B3-69BC52EF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6B7A70-551F-48F8-903B-40578BFC6704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376304D-AE6C-48D5-BF13-A3CD1551B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2700"/>
            <a:ext cx="7772400" cy="9096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2.1 什么是编程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0C1F61C-CC98-48AF-ADED-D570A6775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543925" cy="3303587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编程 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用计算机程序语言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描述和实现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所需功能的过程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所需功能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是指计算机可实现的功能，是编程的目的</a:t>
            </a:r>
          </a:p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程序语言（又称程序设计语言）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计算机可理解的语言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与自然语言不同，程序语言是一种行为描述语言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是人与计算机的交流桥梁</a:t>
            </a:r>
          </a:p>
        </p:txBody>
      </p:sp>
      <p:grpSp>
        <p:nvGrpSpPr>
          <p:cNvPr id="21509" name="Group 10">
            <a:extLst>
              <a:ext uri="{FF2B5EF4-FFF2-40B4-BE49-F238E27FC236}">
                <a16:creationId xmlns:a16="http://schemas.microsoft.com/office/drawing/2014/main" id="{3D2F2A43-6637-47EA-8E96-5A58DD8D7F8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724400"/>
            <a:ext cx="6858000" cy="1219200"/>
            <a:chOff x="576" y="2565"/>
            <a:chExt cx="4320" cy="768"/>
          </a:xfrm>
        </p:grpSpPr>
        <p:sp>
          <p:nvSpPr>
            <p:cNvPr id="21511" name="Text Box 5">
              <a:extLst>
                <a:ext uri="{FF2B5EF4-FFF2-40B4-BE49-F238E27FC236}">
                  <a16:creationId xmlns:a16="http://schemas.microsoft.com/office/drawing/2014/main" id="{C48D5C8F-A737-4C79-9AD5-5CC6BFE5D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640"/>
              <a:ext cx="1056" cy="62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342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计算机系统</a:t>
              </a:r>
            </a:p>
          </p:txBody>
        </p:sp>
        <p:sp>
          <p:nvSpPr>
            <p:cNvPr id="21512" name="Oval 6">
              <a:extLst>
                <a:ext uri="{FF2B5EF4-FFF2-40B4-BE49-F238E27FC236}">
                  <a16:creationId xmlns:a16="http://schemas.microsoft.com/office/drawing/2014/main" id="{E23570D5-EACE-4DB3-AC8E-6BC880FCA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640"/>
              <a:ext cx="1152" cy="62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开发人员</a:t>
              </a:r>
            </a:p>
          </p:txBody>
        </p:sp>
        <p:sp>
          <p:nvSpPr>
            <p:cNvPr id="21513" name="AutoShape 7">
              <a:extLst>
                <a:ext uri="{FF2B5EF4-FFF2-40B4-BE49-F238E27FC236}">
                  <a16:creationId xmlns:a16="http://schemas.microsoft.com/office/drawing/2014/main" id="{DFD9A9D3-546E-45C5-91C8-599D88A05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4" y="2565"/>
              <a:ext cx="1360" cy="768"/>
            </a:xfrm>
            <a:prstGeom prst="flowChartAlternateProcess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程序语言与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开发环境</a:t>
              </a:r>
            </a:p>
          </p:txBody>
        </p:sp>
        <p:sp>
          <p:nvSpPr>
            <p:cNvPr id="21514" name="AutoShape 8">
              <a:extLst>
                <a:ext uri="{FF2B5EF4-FFF2-40B4-BE49-F238E27FC236}">
                  <a16:creationId xmlns:a16="http://schemas.microsoft.com/office/drawing/2014/main" id="{B8FB232E-1792-432E-BCC9-4696491FA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" y="2805"/>
              <a:ext cx="360" cy="288"/>
            </a:xfrm>
            <a:prstGeom prst="leftRightArrow">
              <a:avLst>
                <a:gd name="adj1" fmla="val 50000"/>
                <a:gd name="adj2" fmla="val 25000"/>
              </a:avLst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15" name="AutoShape 9">
              <a:extLst>
                <a:ext uri="{FF2B5EF4-FFF2-40B4-BE49-F238E27FC236}">
                  <a16:creationId xmlns:a16="http://schemas.microsoft.com/office/drawing/2014/main" id="{63A3F706-830F-4A2A-B65B-12568EEEF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805"/>
              <a:ext cx="360" cy="288"/>
            </a:xfrm>
            <a:prstGeom prst="leftRightArrow">
              <a:avLst>
                <a:gd name="adj1" fmla="val 50000"/>
                <a:gd name="adj2" fmla="val 25000"/>
              </a:avLst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510" name="Text Box 11">
            <a:extLst>
              <a:ext uri="{FF2B5EF4-FFF2-40B4-BE49-F238E27FC236}">
                <a16:creationId xmlns:a16="http://schemas.microsoft.com/office/drawing/2014/main" id="{399BD767-79DB-410D-9240-2333B0450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6021388"/>
            <a:ext cx="2087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例如：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.Net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环境</a:t>
            </a:r>
          </a:p>
        </p:txBody>
      </p:sp>
    </p:spTree>
  </p:cSld>
  <p:clrMapOvr>
    <a:masterClrMapping/>
  </p:clrMapOvr>
  <p:transition advClick="0" advTm="29877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FDE62677-B921-44D1-A8B2-D9ABDEB2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CF0D55-FC2E-4976-B74D-F0BEE48791C9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C35E657-F79E-4F40-96BB-133E9BE67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4A5AB34-3B0E-4329-8B01-27158F72C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79488"/>
            <a:ext cx="8964612" cy="5545137"/>
          </a:xfrm>
        </p:spPr>
        <p:txBody>
          <a:bodyPr/>
          <a:lstStyle/>
          <a:p>
            <a:pPr marL="285750" indent="-285750"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程序语言介绍</a:t>
            </a:r>
          </a:p>
          <a:p>
            <a:pPr marL="862013" lvl="1"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程序语言随着计算机技术的发展而发展</a:t>
            </a:r>
          </a:p>
          <a:p>
            <a:pPr marL="862013" lvl="1"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程序语言的进化过程</a:t>
            </a:r>
          </a:p>
          <a:p>
            <a:pPr marL="1333500" lvl="2">
              <a:defRPr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机器语言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，机器指令的集合，可直接在计算机硬件上执行，由0和1的代码串表示</a:t>
            </a:r>
          </a:p>
          <a:p>
            <a:pPr marL="1806575" lvl="3"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1011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可表示为赋值</a:t>
            </a:r>
          </a:p>
          <a:p>
            <a:pPr marL="1806575" lvl="3">
              <a:defRPr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与计算机硬件密切相关</a:t>
            </a:r>
          </a:p>
          <a:p>
            <a:pPr marL="1806575" lvl="3"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由机器语言编写或表示的程序，称为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目标程序</a:t>
            </a:r>
          </a:p>
          <a:p>
            <a:pPr marL="1333500" lvl="2">
              <a:defRPr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汇编语言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，为方便机器语言的编写而设计的编程语言，用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字符串来表示难记的0/1代码串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，简化了机器语言的编程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90700" lvl="3"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例如，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1011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符号表示赋值操作</a:t>
            </a:r>
          </a:p>
          <a:p>
            <a:pPr marL="1806575" lvl="3">
              <a:defRPr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与计算机硬件相关</a:t>
            </a:r>
          </a:p>
          <a:p>
            <a:pPr marL="1806575" lvl="3">
              <a:defRPr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06575" lvl="3">
              <a:buFontTx/>
              <a:buNone/>
              <a:defRPr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AutoShape 64">
            <a:extLst>
              <a:ext uri="{FF2B5EF4-FFF2-40B4-BE49-F238E27FC236}">
                <a16:creationId xmlns:a16="http://schemas.microsoft.com/office/drawing/2014/main" id="{CEB04B94-3047-4B08-95D2-041FB8CF8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286000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utoShape 6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ADBFBB55-1852-4932-B362-9AE39DBD6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28625"/>
            <a:ext cx="3143250" cy="1311275"/>
          </a:xfrm>
          <a:prstGeom prst="cloudCallout">
            <a:avLst>
              <a:gd name="adj1" fmla="val -16903"/>
              <a:gd name="adj2" fmla="val 78236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在计算机软件发展当中，我们对程序语言做过简要的介绍，在此对有关概念做一下详细的说明。</a:t>
            </a:r>
          </a:p>
        </p:txBody>
      </p:sp>
    </p:spTree>
  </p:cSld>
  <p:clrMapOvr>
    <a:masterClrMapping/>
  </p:clrMapOvr>
  <p:transition advClick="0" advTm="65612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11045" objId="6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72D39025-5FA3-43CF-857D-6FFA7C16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EF99F3-E021-4820-9FED-48A41DCFF795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4673A14-3909-4EAA-97AE-1019429C8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191E52A-BA4E-46CE-A4C3-258519F9E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79488"/>
            <a:ext cx="8964612" cy="5545137"/>
          </a:xfrm>
        </p:spPr>
        <p:txBody>
          <a:bodyPr/>
          <a:lstStyle/>
          <a:p>
            <a:pPr marL="285750" indent="-2857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程序语言介绍</a:t>
            </a:r>
          </a:p>
          <a:p>
            <a:pPr marL="862013" lvl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程序语言的进化过程</a:t>
            </a:r>
          </a:p>
          <a:p>
            <a:pPr marL="1333500" lvl="2"/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汇编语言</a:t>
            </a:r>
          </a:p>
          <a:p>
            <a:pPr marL="180657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由汇编语言编写或表示的程序，称为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汇编程序</a:t>
            </a:r>
            <a:endParaRPr lang="en-US" altLang="zh-CN" sz="24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0657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需要由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翻译程序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把汇编语言翻译为目标程序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0657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由于汇编程序与目标程序（机器指令）最接近，所以运行速度最快。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/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高级语言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，使用更接近自然语言的语法规则实现编程，需要由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翻译程序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把高级语言翻译为目标程序</a:t>
            </a:r>
          </a:p>
          <a:p>
            <a:pPr marL="180657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例如，用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表示赋值操作</a:t>
            </a:r>
          </a:p>
          <a:p>
            <a:pPr marL="1806575" lvl="3"/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与计算机硬件无关</a:t>
            </a:r>
          </a:p>
          <a:p>
            <a:pPr marL="180657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由高级语言编写或表示的程序，称为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高级程序</a:t>
            </a:r>
          </a:p>
          <a:p>
            <a:pPr marL="180657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一种高级语言的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翻译程序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可以由汇编语言或其他高级语言编写</a:t>
            </a:r>
          </a:p>
        </p:txBody>
      </p:sp>
    </p:spTree>
  </p:cSld>
  <p:clrMapOvr>
    <a:masterClrMapping/>
  </p:clrMapOvr>
  <p:transition advClick="0" advTm="70407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24" name="AutoShape 56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133BC574-1799-4A94-A20A-9A3F09D5D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2228850"/>
            <a:ext cx="4448175" cy="984250"/>
          </a:xfrm>
          <a:prstGeom prst="cloudCallout">
            <a:avLst>
              <a:gd name="adj1" fmla="val -28435"/>
              <a:gd name="adj2" fmla="val -101384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纯粹的解释型翻译程序比较少。解释型</a:t>
            </a:r>
            <a:r>
              <a:rPr lang="en-US" altLang="zh-CN" dirty="0"/>
              <a:t>BASIC</a:t>
            </a:r>
            <a:r>
              <a:rPr lang="zh-CN" altLang="en-US" dirty="0"/>
              <a:t>，脚本语言一般是解释型的</a:t>
            </a:r>
            <a:endParaRPr lang="en-US" altLang="zh-CN" dirty="0"/>
          </a:p>
          <a:p>
            <a:pPr algn="ctr">
              <a:defRPr/>
            </a:pPr>
            <a:r>
              <a:rPr lang="en-US" altLang="zh-CN" dirty="0" err="1"/>
              <a:t>Localhost</a:t>
            </a:r>
            <a:r>
              <a:rPr lang="en-US" altLang="zh-CN" dirty="0"/>
              <a:t>/sample/</a:t>
            </a:r>
            <a:r>
              <a:rPr lang="zh-CN" altLang="en-US" dirty="0"/>
              <a:t>解释型翻译程序</a:t>
            </a:r>
            <a:r>
              <a:rPr lang="en-US" altLang="zh-CN" dirty="0"/>
              <a:t>.asp</a:t>
            </a:r>
          </a:p>
        </p:txBody>
      </p:sp>
      <p:sp>
        <p:nvSpPr>
          <p:cNvPr id="26627" name="灯片编号占位符 5">
            <a:extLst>
              <a:ext uri="{FF2B5EF4-FFF2-40B4-BE49-F238E27FC236}">
                <a16:creationId xmlns:a16="http://schemas.microsoft.com/office/drawing/2014/main" id="{D6C3BB43-9FC3-4BF5-B97C-C3185D4B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52C2C-803A-4D93-B719-8D65B4B0712B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0B6DAFCC-E345-490B-A095-612ECA9DB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62EC8B40-7D19-4DE7-892C-17AA0AF69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52513"/>
            <a:ext cx="8686800" cy="1538287"/>
          </a:xfrm>
        </p:spPr>
        <p:txBody>
          <a:bodyPr/>
          <a:lstStyle/>
          <a:p>
            <a:pPr marL="285750" indent="-28575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高级语言的翻译方法</a:t>
            </a:r>
          </a:p>
          <a:p>
            <a:pPr marL="862013" lvl="1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解释型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翻译程序（解释程序，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Interpreter），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翻译一句执行一句</a:t>
            </a:r>
          </a:p>
          <a:p>
            <a:pPr marL="862013" lvl="1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编译型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翻译程序（编译程序，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Compiler），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整个高级程序全翻译后再执行</a:t>
            </a:r>
          </a:p>
        </p:txBody>
      </p:sp>
      <p:sp>
        <p:nvSpPr>
          <p:cNvPr id="58423" name="AutoShape 55">
            <a:extLst>
              <a:ext uri="{FF2B5EF4-FFF2-40B4-BE49-F238E27FC236}">
                <a16:creationId xmlns:a16="http://schemas.microsoft.com/office/drawing/2014/main" id="{3637CF1F-BC4D-4926-804D-90F495199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557338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427" name="AutoShape 59">
            <a:extLst>
              <a:ext uri="{FF2B5EF4-FFF2-40B4-BE49-F238E27FC236}">
                <a16:creationId xmlns:a16="http://schemas.microsoft.com/office/drawing/2014/main" id="{C32B6614-BDCD-47AB-8666-469C849BA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916113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428" name="AutoShape 60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FEE9DAC0-8C07-4169-A315-4DC599684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2357438"/>
            <a:ext cx="3090863" cy="655637"/>
          </a:xfrm>
          <a:prstGeom prst="cloudCallout">
            <a:avLst>
              <a:gd name="adj1" fmla="val -40403"/>
              <a:gd name="adj2" fmla="val -10441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CN" dirty="0"/>
              <a:t>VC</a:t>
            </a:r>
            <a:r>
              <a:rPr lang="zh-CN" altLang="en-US" dirty="0"/>
              <a:t>，</a:t>
            </a:r>
            <a:r>
              <a:rPr lang="en-US" altLang="zh-CN" dirty="0"/>
              <a:t>VB</a:t>
            </a:r>
            <a:r>
              <a:rPr lang="zh-CN" altLang="en-US" dirty="0"/>
              <a:t>，</a:t>
            </a:r>
            <a:r>
              <a:rPr lang="en-US" altLang="zh-CN" dirty="0"/>
              <a:t>COBLE</a:t>
            </a:r>
            <a:r>
              <a:rPr lang="zh-CN" altLang="en-US" dirty="0"/>
              <a:t>，</a:t>
            </a:r>
            <a:r>
              <a:rPr lang="en-US" altLang="zh-CN" dirty="0"/>
              <a:t>C#…</a:t>
            </a:r>
            <a:r>
              <a:rPr lang="zh-CN" altLang="en-US" dirty="0"/>
              <a:t>例</a:t>
            </a:r>
            <a:r>
              <a:rPr lang="en-US" altLang="zh-CN" dirty="0" err="1"/>
              <a:t>CSample</a:t>
            </a:r>
            <a:endParaRPr lang="en-US" altLang="zh-CN" dirty="0"/>
          </a:p>
        </p:txBody>
      </p:sp>
      <p:grpSp>
        <p:nvGrpSpPr>
          <p:cNvPr id="26633" name="Group 32">
            <a:extLst>
              <a:ext uri="{FF2B5EF4-FFF2-40B4-BE49-F238E27FC236}">
                <a16:creationId xmlns:a16="http://schemas.microsoft.com/office/drawing/2014/main" id="{6C63E852-0B1E-4DB7-B321-FD0EFC3B8262}"/>
              </a:ext>
            </a:extLst>
          </p:cNvPr>
          <p:cNvGrpSpPr>
            <a:grpSpLocks/>
          </p:cNvGrpSpPr>
          <p:nvPr/>
        </p:nvGrpSpPr>
        <p:grpSpPr bwMode="auto">
          <a:xfrm>
            <a:off x="3535363" y="3275013"/>
            <a:ext cx="1800225" cy="1800225"/>
            <a:chOff x="2078" y="2764"/>
            <a:chExt cx="1134" cy="1134"/>
          </a:xfrm>
        </p:grpSpPr>
        <p:sp>
          <p:nvSpPr>
            <p:cNvPr id="26663" name="Oval 33">
              <a:extLst>
                <a:ext uri="{FF2B5EF4-FFF2-40B4-BE49-F238E27FC236}">
                  <a16:creationId xmlns:a16="http://schemas.microsoft.com/office/drawing/2014/main" id="{53839D7C-C59E-41D0-BA85-5B065300E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2764"/>
              <a:ext cx="1134" cy="113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4" name="computr1">
              <a:extLst>
                <a:ext uri="{FF2B5EF4-FFF2-40B4-BE49-F238E27FC236}">
                  <a16:creationId xmlns:a16="http://schemas.microsoft.com/office/drawing/2014/main" id="{4F8CDD28-F963-44FF-BD96-7E356B73B66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366" y="2947"/>
              <a:ext cx="570" cy="5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4926 w 21600"/>
                <a:gd name="T43" fmla="*/ 2552 h 21600"/>
                <a:gd name="T44" fmla="*/ 16749 w 21600"/>
                <a:gd name="T45" fmla="*/ 11162 h 216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600" h="21600" extrusionOk="0">
                  <a:moveTo>
                    <a:pt x="16994" y="15388"/>
                  </a:moveTo>
                  <a:lnTo>
                    <a:pt x="16994" y="13553"/>
                  </a:lnTo>
                  <a:lnTo>
                    <a:pt x="19535" y="13553"/>
                  </a:lnTo>
                  <a:lnTo>
                    <a:pt x="19535" y="10729"/>
                  </a:lnTo>
                  <a:lnTo>
                    <a:pt x="19535" y="6776"/>
                  </a:lnTo>
                  <a:lnTo>
                    <a:pt x="19535" y="0"/>
                  </a:lnTo>
                  <a:lnTo>
                    <a:pt x="10800" y="0"/>
                  </a:lnTo>
                  <a:lnTo>
                    <a:pt x="2065" y="0"/>
                  </a:lnTo>
                  <a:lnTo>
                    <a:pt x="2065" y="6776"/>
                  </a:lnTo>
                  <a:lnTo>
                    <a:pt x="2065" y="10729"/>
                  </a:lnTo>
                  <a:lnTo>
                    <a:pt x="2065" y="13553"/>
                  </a:lnTo>
                  <a:lnTo>
                    <a:pt x="4606" y="13553"/>
                  </a:lnTo>
                  <a:lnTo>
                    <a:pt x="4606" y="15388"/>
                  </a:lnTo>
                  <a:lnTo>
                    <a:pt x="0" y="15388"/>
                  </a:lnTo>
                  <a:lnTo>
                    <a:pt x="0" y="21600"/>
                  </a:lnTo>
                  <a:lnTo>
                    <a:pt x="10800" y="21600"/>
                  </a:lnTo>
                  <a:lnTo>
                    <a:pt x="21600" y="21600"/>
                  </a:lnTo>
                  <a:lnTo>
                    <a:pt x="21600" y="15388"/>
                  </a:lnTo>
                  <a:lnTo>
                    <a:pt x="16994" y="15388"/>
                  </a:lnTo>
                  <a:close/>
                </a:path>
                <a:path w="21600" h="21600" extrusionOk="0">
                  <a:moveTo>
                    <a:pt x="4606" y="15388"/>
                  </a:moveTo>
                  <a:lnTo>
                    <a:pt x="4606" y="13553"/>
                  </a:lnTo>
                  <a:lnTo>
                    <a:pt x="16994" y="13553"/>
                  </a:lnTo>
                  <a:lnTo>
                    <a:pt x="16994" y="15388"/>
                  </a:lnTo>
                  <a:lnTo>
                    <a:pt x="4606" y="15388"/>
                  </a:lnTo>
                </a:path>
                <a:path w="21600" h="21600" extrusionOk="0">
                  <a:moveTo>
                    <a:pt x="4606" y="11294"/>
                  </a:moveTo>
                  <a:lnTo>
                    <a:pt x="4606" y="2259"/>
                  </a:lnTo>
                  <a:lnTo>
                    <a:pt x="16994" y="2259"/>
                  </a:lnTo>
                  <a:lnTo>
                    <a:pt x="16994" y="11294"/>
                  </a:lnTo>
                  <a:lnTo>
                    <a:pt x="4606" y="11294"/>
                  </a:lnTo>
                  <a:moveTo>
                    <a:pt x="13976" y="17082"/>
                  </a:moveTo>
                  <a:lnTo>
                    <a:pt x="13976" y="16376"/>
                  </a:lnTo>
                  <a:lnTo>
                    <a:pt x="20171" y="16376"/>
                  </a:lnTo>
                  <a:lnTo>
                    <a:pt x="20171" y="17082"/>
                  </a:lnTo>
                  <a:lnTo>
                    <a:pt x="13976" y="17082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5" name="Text Box 35">
              <a:extLst>
                <a:ext uri="{FF2B5EF4-FFF2-40B4-BE49-F238E27FC236}">
                  <a16:creationId xmlns:a16="http://schemas.microsoft.com/office/drawing/2014/main" id="{FD53ADC6-444D-48FD-9E38-1D0AB6D29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7" y="3043"/>
              <a:ext cx="33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latin typeface="Times New Roman" panose="02020603050405020304" pitchFamily="18" charset="0"/>
                </a:rPr>
                <a:t>裸机</a:t>
              </a:r>
            </a:p>
          </p:txBody>
        </p:sp>
        <p:sp>
          <p:nvSpPr>
            <p:cNvPr id="26666" name="Text Box 36">
              <a:extLst>
                <a:ext uri="{FF2B5EF4-FFF2-40B4-BE49-F238E27FC236}">
                  <a16:creationId xmlns:a16="http://schemas.microsoft.com/office/drawing/2014/main" id="{1ECC88AC-2898-4935-8549-E97569294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" y="3592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操作系统</a:t>
              </a:r>
            </a:p>
          </p:txBody>
        </p:sp>
      </p:grpSp>
      <p:sp>
        <p:nvSpPr>
          <p:cNvPr id="26634" name="AutoShape 37">
            <a:extLst>
              <a:ext uri="{FF2B5EF4-FFF2-40B4-BE49-F238E27FC236}">
                <a16:creationId xmlns:a16="http://schemas.microsoft.com/office/drawing/2014/main" id="{87E078EC-C189-44CC-A5F9-F28876E019F1}"/>
              </a:ext>
            </a:extLst>
          </p:cNvPr>
          <p:cNvSpPr>
            <a:spLocks noChangeArrowheads="1"/>
          </p:cNvSpPr>
          <p:nvPr/>
        </p:nvSpPr>
        <p:spPr bwMode="auto">
          <a:xfrm rot="-1756768">
            <a:off x="1998663" y="5119688"/>
            <a:ext cx="1890712" cy="250825"/>
          </a:xfrm>
          <a:prstGeom prst="rightArrow">
            <a:avLst>
              <a:gd name="adj1" fmla="val 50000"/>
              <a:gd name="adj2" fmla="val 74821"/>
            </a:avLst>
          </a:prstGeom>
          <a:solidFill>
            <a:schemeClr val="tx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6635" name="Group 56">
            <a:extLst>
              <a:ext uri="{FF2B5EF4-FFF2-40B4-BE49-F238E27FC236}">
                <a16:creationId xmlns:a16="http://schemas.microsoft.com/office/drawing/2014/main" id="{B040C3CB-188F-412D-8C28-16F19A683AD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000375"/>
            <a:ext cx="7767638" cy="3638550"/>
            <a:chOff x="384" y="1595"/>
            <a:chExt cx="4893" cy="2292"/>
          </a:xfrm>
        </p:grpSpPr>
        <p:sp>
          <p:nvSpPr>
            <p:cNvPr id="26648" name="AutoShape 5">
              <a:extLst>
                <a:ext uri="{FF2B5EF4-FFF2-40B4-BE49-F238E27FC236}">
                  <a16:creationId xmlns:a16="http://schemas.microsoft.com/office/drawing/2014/main" id="{1B03B7E7-AD78-4F9E-A07D-D9176ED21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727"/>
              <a:ext cx="912" cy="624"/>
            </a:xfrm>
            <a:prstGeom prst="flowChartDocumen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1: 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line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2: line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3: module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49" name="Oval 6">
              <a:extLst>
                <a:ext uri="{FF2B5EF4-FFF2-40B4-BE49-F238E27FC236}">
                  <a16:creationId xmlns:a16="http://schemas.microsoft.com/office/drawing/2014/main" id="{3D0C8B1B-709D-47F6-97A6-BB4D378A9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620"/>
              <a:ext cx="1009" cy="37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解释程序 (</a:t>
              </a: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bin/exe)</a:t>
              </a:r>
            </a:p>
          </p:txBody>
        </p:sp>
        <p:sp>
          <p:nvSpPr>
            <p:cNvPr id="26650" name="AutoShape 7">
              <a:extLst>
                <a:ext uri="{FF2B5EF4-FFF2-40B4-BE49-F238E27FC236}">
                  <a16:creationId xmlns:a16="http://schemas.microsoft.com/office/drawing/2014/main" id="{1F9982D3-2975-464E-BE8F-1049A24D8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" y="3263"/>
              <a:ext cx="934" cy="624"/>
            </a:xfrm>
            <a:prstGeom prst="flowChartDocument">
              <a:avLst/>
            </a:prstGeom>
            <a:noFill/>
            <a:ln w="38100">
              <a:solidFill>
                <a:schemeClr val="tx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A: content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B: content 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C: content</a:t>
              </a: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1" name="Line 13">
              <a:extLst>
                <a:ext uri="{FF2B5EF4-FFF2-40B4-BE49-F238E27FC236}">
                  <a16:creationId xmlns:a16="http://schemas.microsoft.com/office/drawing/2014/main" id="{2F1389E3-66E9-43E5-AE86-752908349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" y="2323"/>
              <a:ext cx="0" cy="2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Text Box 15">
              <a:extLst>
                <a:ext uri="{FF2B5EF4-FFF2-40B4-BE49-F238E27FC236}">
                  <a16:creationId xmlns:a16="http://schemas.microsoft.com/office/drawing/2014/main" id="{B5C552FA-9105-4323-B310-AEBBC56E1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" y="2384"/>
              <a:ext cx="65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1,        2,       3</a:t>
              </a:r>
            </a:p>
          </p:txBody>
        </p:sp>
        <p:sp>
          <p:nvSpPr>
            <p:cNvPr id="26653" name="Text Box 20">
              <a:extLst>
                <a:ext uri="{FF2B5EF4-FFF2-40B4-BE49-F238E27FC236}">
                  <a16:creationId xmlns:a16="http://schemas.microsoft.com/office/drawing/2014/main" id="{111821AF-26CB-4361-86D6-C64E21083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851"/>
              <a:ext cx="3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高级程序(</a:t>
              </a: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text)</a:t>
              </a:r>
            </a:p>
          </p:txBody>
        </p:sp>
        <p:sp>
          <p:nvSpPr>
            <p:cNvPr id="26654" name="Text Box 21">
              <a:extLst>
                <a:ext uri="{FF2B5EF4-FFF2-40B4-BE49-F238E27FC236}">
                  <a16:creationId xmlns:a16="http://schemas.microsoft.com/office/drawing/2014/main" id="{7B2DE400-3DD2-4AB8-A48A-7E5F99DAE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" y="3395"/>
              <a:ext cx="5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目标程序(</a:t>
              </a: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bin/exe)</a:t>
              </a:r>
            </a:p>
          </p:txBody>
        </p:sp>
        <p:sp>
          <p:nvSpPr>
            <p:cNvPr id="26655" name="Line 39">
              <a:extLst>
                <a:ext uri="{FF2B5EF4-FFF2-40B4-BE49-F238E27FC236}">
                  <a16:creationId xmlns:a16="http://schemas.microsoft.com/office/drawing/2014/main" id="{FA145960-68B5-4D5C-9BA3-E64B3EC12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1" y="3004"/>
              <a:ext cx="0" cy="2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6" name="Text Box 40">
              <a:extLst>
                <a:ext uri="{FF2B5EF4-FFF2-40B4-BE49-F238E27FC236}">
                  <a16:creationId xmlns:a16="http://schemas.microsoft.com/office/drawing/2014/main" id="{3C3F93D7-4C6F-4531-961E-B3953A39B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23"/>
              <a:ext cx="6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A,        B,     C</a:t>
              </a: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7" name="Line 13">
              <a:extLst>
                <a:ext uri="{FF2B5EF4-FFF2-40B4-BE49-F238E27FC236}">
                  <a16:creationId xmlns:a16="http://schemas.microsoft.com/office/drawing/2014/main" id="{07C24E7A-6B05-4A73-8B36-7D5E05EC3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2360"/>
              <a:ext cx="0" cy="2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Line 13">
              <a:extLst>
                <a:ext uri="{FF2B5EF4-FFF2-40B4-BE49-F238E27FC236}">
                  <a16:creationId xmlns:a16="http://schemas.microsoft.com/office/drawing/2014/main" id="{52F8ACEF-8355-4EA3-B21B-1508E47A0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2256"/>
              <a:ext cx="0" cy="3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Line 39">
              <a:extLst>
                <a:ext uri="{FF2B5EF4-FFF2-40B4-BE49-F238E27FC236}">
                  <a16:creationId xmlns:a16="http://schemas.microsoft.com/office/drawing/2014/main" id="{262D0B32-ECED-49C1-B081-3A8B6B158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966"/>
              <a:ext cx="0" cy="2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0" name="Line 39">
              <a:extLst>
                <a:ext uri="{FF2B5EF4-FFF2-40B4-BE49-F238E27FC236}">
                  <a16:creationId xmlns:a16="http://schemas.microsoft.com/office/drawing/2014/main" id="{76BE589F-E228-48BD-B6DA-CD7864AEE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2971"/>
              <a:ext cx="0" cy="2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AutoShape 5">
              <a:extLst>
                <a:ext uri="{FF2B5EF4-FFF2-40B4-BE49-F238E27FC236}">
                  <a16:creationId xmlns:a16="http://schemas.microsoft.com/office/drawing/2014/main" id="{F2BC4F23-885F-4EB5-B03A-FD7931B0F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1595"/>
              <a:ext cx="912" cy="596"/>
            </a:xfrm>
            <a:prstGeom prst="flowChartDocumen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1: 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line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2: line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3: module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2" name="AutoShape 7">
              <a:extLst>
                <a:ext uri="{FF2B5EF4-FFF2-40B4-BE49-F238E27FC236}">
                  <a16:creationId xmlns:a16="http://schemas.microsoft.com/office/drawing/2014/main" id="{DB34228D-A376-4E05-A77D-72ADA2DB0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136"/>
              <a:ext cx="932" cy="624"/>
            </a:xfrm>
            <a:prstGeom prst="flowChartDocument">
              <a:avLst/>
            </a:prstGeom>
            <a:noFill/>
            <a:ln w="38100">
              <a:solidFill>
                <a:schemeClr val="tx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A: content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B: content 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C: content</a:t>
              </a: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636" name="AutoShape 38">
            <a:extLst>
              <a:ext uri="{FF2B5EF4-FFF2-40B4-BE49-F238E27FC236}">
                <a16:creationId xmlns:a16="http://schemas.microsoft.com/office/drawing/2014/main" id="{8F63464A-9B1A-43BE-AB98-5A158E7935A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80681" y="5193507"/>
            <a:ext cx="500063" cy="304800"/>
          </a:xfrm>
          <a:prstGeom prst="leftArrow">
            <a:avLst>
              <a:gd name="adj1" fmla="val 50000"/>
              <a:gd name="adj2" fmla="val 41016"/>
            </a:avLst>
          </a:prstGeom>
          <a:solidFill>
            <a:schemeClr val="tx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7" name="Oval 24">
            <a:extLst>
              <a:ext uri="{FF2B5EF4-FFF2-40B4-BE49-F238E27FC236}">
                <a16:creationId xmlns:a16="http://schemas.microsoft.com/office/drawing/2014/main" id="{864F01B6-BE32-4B1B-9EF5-C5FBA8A54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075" y="4400550"/>
            <a:ext cx="1601788" cy="593725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编译程序 (</a:t>
            </a:r>
            <a:r>
              <a:rPr lang="en-US" altLang="zh-CN" sz="1200">
                <a:solidFill>
                  <a:schemeClr val="tx2"/>
                </a:solidFill>
                <a:latin typeface="Times New Roman" panose="02020603050405020304" pitchFamily="18" charset="0"/>
              </a:rPr>
              <a:t>bin/exe)</a:t>
            </a:r>
          </a:p>
        </p:txBody>
      </p:sp>
      <p:sp>
        <p:nvSpPr>
          <p:cNvPr id="26638" name="AutoShape 25">
            <a:extLst>
              <a:ext uri="{FF2B5EF4-FFF2-40B4-BE49-F238E27FC236}">
                <a16:creationId xmlns:a16="http://schemas.microsoft.com/office/drawing/2014/main" id="{B2354EB1-EAFF-45EB-B89B-F4C5529A3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607050"/>
            <a:ext cx="1447800" cy="914400"/>
          </a:xfrm>
          <a:prstGeom prst="flowChartDocument">
            <a:avLst/>
          </a:prstGeom>
          <a:noFill/>
          <a:ln w="38100">
            <a:solidFill>
              <a:schemeClr val="tx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可执行目标程序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200">
                <a:solidFill>
                  <a:schemeClr val="tx2"/>
                </a:solidFill>
                <a:latin typeface="Times New Roman" panose="02020603050405020304" pitchFamily="18" charset="0"/>
              </a:rPr>
              <a:t>bin/exe)</a:t>
            </a:r>
          </a:p>
        </p:txBody>
      </p:sp>
      <p:sp>
        <p:nvSpPr>
          <p:cNvPr id="26639" name="Text Box 26">
            <a:extLst>
              <a:ext uri="{FF2B5EF4-FFF2-40B4-BE49-F238E27FC236}">
                <a16:creationId xmlns:a16="http://schemas.microsoft.com/office/drawing/2014/main" id="{4FCF9163-D9CB-41BC-9818-2154DD981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575" y="4014788"/>
            <a:ext cx="7191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t>1, 2, 3</a:t>
            </a:r>
          </a:p>
        </p:txBody>
      </p:sp>
      <p:sp>
        <p:nvSpPr>
          <p:cNvPr id="26640" name="Text Box 27">
            <a:extLst>
              <a:ext uri="{FF2B5EF4-FFF2-40B4-BE49-F238E27FC236}">
                <a16:creationId xmlns:a16="http://schemas.microsoft.com/office/drawing/2014/main" id="{72E7310A-4CB5-436B-8616-5BA685E67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575" y="5029200"/>
            <a:ext cx="7191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</a:rPr>
              <a:t>A, B, C</a:t>
            </a:r>
          </a:p>
        </p:txBody>
      </p:sp>
      <p:sp>
        <p:nvSpPr>
          <p:cNvPr id="26641" name="AutoShape 28">
            <a:extLst>
              <a:ext uri="{FF2B5EF4-FFF2-40B4-BE49-F238E27FC236}">
                <a16:creationId xmlns:a16="http://schemas.microsoft.com/office/drawing/2014/main" id="{93F03403-15DC-4EB8-BF00-559C9B257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75" y="3917950"/>
            <a:ext cx="230188" cy="468313"/>
          </a:xfrm>
          <a:prstGeom prst="downArrow">
            <a:avLst>
              <a:gd name="adj1" fmla="val 50000"/>
              <a:gd name="adj2" fmla="val 50862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2" name="AutoShape 29">
            <a:extLst>
              <a:ext uri="{FF2B5EF4-FFF2-40B4-BE49-F238E27FC236}">
                <a16:creationId xmlns:a16="http://schemas.microsoft.com/office/drawing/2014/main" id="{B8DB3006-896A-479E-A031-195F36F48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4997450"/>
            <a:ext cx="230187" cy="409575"/>
          </a:xfrm>
          <a:prstGeom prst="downArrow">
            <a:avLst>
              <a:gd name="adj1" fmla="val 50000"/>
              <a:gd name="adj2" fmla="val 44483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3" name="Text Box 30">
            <a:extLst>
              <a:ext uri="{FF2B5EF4-FFF2-40B4-BE49-F238E27FC236}">
                <a16:creationId xmlns:a16="http://schemas.microsoft.com/office/drawing/2014/main" id="{4B691ABF-C2B6-4C0C-B9DC-40FE904F0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575" y="3179763"/>
            <a:ext cx="61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高级程序(</a:t>
            </a:r>
            <a:r>
              <a:rPr lang="en-US" altLang="zh-CN" sz="1200">
                <a:solidFill>
                  <a:schemeClr val="tx2"/>
                </a:solidFill>
                <a:latin typeface="Times New Roman" panose="02020603050405020304" pitchFamily="18" charset="0"/>
              </a:rPr>
              <a:t>text)</a:t>
            </a:r>
          </a:p>
        </p:txBody>
      </p:sp>
      <p:sp>
        <p:nvSpPr>
          <p:cNvPr id="26644" name="Text Box 31">
            <a:extLst>
              <a:ext uri="{FF2B5EF4-FFF2-40B4-BE49-F238E27FC236}">
                <a16:creationId xmlns:a16="http://schemas.microsoft.com/office/drawing/2014/main" id="{F47A11F7-58D8-4B57-906F-C5E1D6FC2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5643563"/>
            <a:ext cx="78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目标程序(</a:t>
            </a:r>
            <a:r>
              <a:rPr lang="en-US" altLang="zh-CN" sz="1200">
                <a:solidFill>
                  <a:schemeClr val="tx2"/>
                </a:solidFill>
                <a:latin typeface="Times New Roman" panose="02020603050405020304" pitchFamily="18" charset="0"/>
              </a:rPr>
              <a:t>bin/unexe)</a:t>
            </a:r>
          </a:p>
        </p:txBody>
      </p:sp>
      <p:sp>
        <p:nvSpPr>
          <p:cNvPr id="26645" name="Oval 45">
            <a:extLst>
              <a:ext uri="{FF2B5EF4-FFF2-40B4-BE49-F238E27FC236}">
                <a16:creationId xmlns:a16="http://schemas.microsoft.com/office/drawing/2014/main" id="{4C19D1DA-66BC-4074-9C4F-0AF6A7387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5345113"/>
            <a:ext cx="749300" cy="13716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链接程序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tx2"/>
                </a:solidFill>
                <a:latin typeface="Times New Roman" panose="02020603050405020304" pitchFamily="18" charset="0"/>
              </a:rPr>
              <a:t>Linker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tx2"/>
                </a:solidFill>
                <a:latin typeface="Times New Roman" panose="02020603050405020304" pitchFamily="18" charset="0"/>
              </a:rPr>
              <a:t>(bin/exe)</a:t>
            </a:r>
          </a:p>
        </p:txBody>
      </p:sp>
      <p:sp>
        <p:nvSpPr>
          <p:cNvPr id="26646" name="AutoShape 46">
            <a:extLst>
              <a:ext uri="{FF2B5EF4-FFF2-40B4-BE49-F238E27FC236}">
                <a16:creationId xmlns:a16="http://schemas.microsoft.com/office/drawing/2014/main" id="{205452D8-165C-4DDA-9FA8-78461F8736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9382" y="5849144"/>
            <a:ext cx="230187" cy="409575"/>
          </a:xfrm>
          <a:prstGeom prst="downArrow">
            <a:avLst>
              <a:gd name="adj1" fmla="val 50000"/>
              <a:gd name="adj2" fmla="val 44483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7" name="AutoShape 47">
            <a:extLst>
              <a:ext uri="{FF2B5EF4-FFF2-40B4-BE49-F238E27FC236}">
                <a16:creationId xmlns:a16="http://schemas.microsoft.com/office/drawing/2014/main" id="{6D547A43-BB02-4AD2-A6F1-1F5331520D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291932" y="5849144"/>
            <a:ext cx="230187" cy="409575"/>
          </a:xfrm>
          <a:prstGeom prst="downArrow">
            <a:avLst>
              <a:gd name="adj1" fmla="val 50000"/>
              <a:gd name="adj2" fmla="val 44483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 advTm="8484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423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8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 nodeType="clickPar">
                      <p:stCondLst>
                        <p:cond delay="0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427"/>
                  </p:tgtEl>
                </p:cond>
              </p:nextCondLst>
            </p:seq>
          </p:childTnLst>
        </p:cTn>
      </p:par>
    </p:tnLst>
    <p:bldLst>
      <p:bldP spid="58424" grpId="0" animBg="1" autoUpdateAnimBg="0"/>
      <p:bldP spid="58428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13334" objId="58423"/>
        <p14:triggerEvt type="onClick" time="45832" objId="58423"/>
        <p14:triggerEvt type="onClick" time="47502" objId="58427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BB6E1DB0-07B3-41FC-B31E-9014CBE6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765287-D8BB-4362-9B79-F6FAD345EAB4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8675" name="Rectangle 69">
            <a:extLst>
              <a:ext uri="{FF2B5EF4-FFF2-40B4-BE49-F238E27FC236}">
                <a16:creationId xmlns:a16="http://schemas.microsoft.com/office/drawing/2014/main" id="{5FE67FAB-F209-481A-BCE2-55C8E5208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175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8676" name="Rectangle 70">
            <a:extLst>
              <a:ext uri="{FF2B5EF4-FFF2-40B4-BE49-F238E27FC236}">
                <a16:creationId xmlns:a16="http://schemas.microsoft.com/office/drawing/2014/main" id="{D445B597-4339-417B-8E24-E74BDCA39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54100"/>
            <a:ext cx="9144000" cy="20891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高级语言的翻译方法</a:t>
            </a:r>
          </a:p>
          <a:p>
            <a:pPr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混合型</a:t>
            </a:r>
            <a:r>
              <a:rPr lang="zh-CN" altLang="en-US" sz="2000">
                <a:ea typeface="宋体" panose="02010600030101010101" pitchFamily="2" charset="-122"/>
              </a:rPr>
              <a:t>翻译程序</a:t>
            </a:r>
            <a:r>
              <a:rPr lang="en-US" altLang="zh-CN" sz="2000">
                <a:ea typeface="宋体" panose="02010600030101010101" pitchFamily="2" charset="-122"/>
              </a:rPr>
              <a:t>，</a:t>
            </a:r>
            <a:r>
              <a:rPr lang="zh-CN" altLang="en-US" sz="2000">
                <a:ea typeface="宋体" panose="02010600030101010101" pitchFamily="2" charset="-122"/>
              </a:rPr>
              <a:t>先整个翻译为中间语言程序，再由执行器对中间语言一句一句执行</a:t>
            </a:r>
          </a:p>
          <a:p>
            <a:pPr lvl="1">
              <a:lnSpc>
                <a:spcPct val="80000"/>
              </a:lnSpc>
            </a:pPr>
            <a:r>
              <a:rPr lang="zh-CN" altLang="en-US" sz="2000">
                <a:ea typeface="宋体" panose="02010600030101010101" pitchFamily="2" charset="-122"/>
              </a:rPr>
              <a:t>链接程序（</a:t>
            </a:r>
            <a:r>
              <a:rPr lang="en-US" altLang="zh-CN" sz="2000">
                <a:ea typeface="宋体" panose="02010600030101010101" pitchFamily="2" charset="-122"/>
              </a:rPr>
              <a:t>Linker），</a:t>
            </a:r>
            <a:r>
              <a:rPr lang="zh-CN" altLang="en-US" sz="2000">
                <a:ea typeface="宋体" panose="02010600030101010101" pitchFamily="2" charset="-122"/>
              </a:rPr>
              <a:t>把一些模块化的小目标程序（一般是不可执行</a:t>
            </a:r>
            <a:r>
              <a:rPr lang="en-US" altLang="zh-CN" sz="2000">
                <a:ea typeface="宋体" panose="02010600030101010101" pitchFamily="2" charset="-122"/>
              </a:rPr>
              <a:t>bin</a:t>
            </a:r>
            <a:r>
              <a:rPr lang="zh-CN" altLang="en-US" sz="2000">
                <a:ea typeface="宋体" panose="02010600030101010101" pitchFamily="2" charset="-122"/>
              </a:rPr>
              <a:t>程序</a:t>
            </a:r>
            <a:r>
              <a:rPr lang="en-US" altLang="zh-CN" sz="2000">
                <a:ea typeface="宋体" panose="02010600030101010101" pitchFamily="2" charset="-122"/>
              </a:rPr>
              <a:t>.obj</a:t>
            </a:r>
            <a:r>
              <a:rPr lang="zh-CN" altLang="en-US" sz="2000">
                <a:ea typeface="宋体" panose="02010600030101010101" pitchFamily="2" charset="-122"/>
              </a:rPr>
              <a:t>）以及一些现有的库程序（</a:t>
            </a:r>
            <a:r>
              <a:rPr lang="en-US" altLang="zh-CN" sz="2000">
                <a:ea typeface="宋体" panose="02010600030101010101" pitchFamily="2" charset="-122"/>
              </a:rPr>
              <a:t>.lib</a:t>
            </a:r>
            <a:r>
              <a:rPr lang="zh-CN" altLang="en-US" sz="2000">
                <a:ea typeface="宋体" panose="02010600030101010101" pitchFamily="2" charset="-122"/>
              </a:rPr>
              <a:t>）用链接程序链接在一起，形成一个大的可执行程序</a:t>
            </a:r>
          </a:p>
          <a:p>
            <a:pPr lvl="1">
              <a:lnSpc>
                <a:spcPct val="80000"/>
              </a:lnSpc>
            </a:pPr>
            <a:r>
              <a:rPr lang="zh-CN" altLang="en-US" sz="2000">
                <a:ea typeface="宋体" panose="02010600030101010101" pitchFamily="2" charset="-122"/>
              </a:rPr>
              <a:t>执行器（</a:t>
            </a:r>
            <a:r>
              <a:rPr lang="en-US" altLang="zh-CN" sz="2000">
                <a:ea typeface="宋体" panose="02010600030101010101" pitchFamily="2" charset="-122"/>
              </a:rPr>
              <a:t>Executor)</a:t>
            </a:r>
            <a:r>
              <a:rPr lang="zh-CN" altLang="en-US" sz="2000">
                <a:ea typeface="宋体" panose="02010600030101010101" pitchFamily="2" charset="-122"/>
              </a:rPr>
              <a:t>，用于解释型程序语言的</a:t>
            </a:r>
          </a:p>
        </p:txBody>
      </p:sp>
      <p:grpSp>
        <p:nvGrpSpPr>
          <p:cNvPr id="28677" name="Group 59">
            <a:extLst>
              <a:ext uri="{FF2B5EF4-FFF2-40B4-BE49-F238E27FC236}">
                <a16:creationId xmlns:a16="http://schemas.microsoft.com/office/drawing/2014/main" id="{B51B8643-908F-497A-B6C8-4976BC83487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52738"/>
            <a:ext cx="7815263" cy="3863975"/>
            <a:chOff x="384" y="1502"/>
            <a:chExt cx="4923" cy="2434"/>
          </a:xfrm>
        </p:grpSpPr>
        <p:grpSp>
          <p:nvGrpSpPr>
            <p:cNvPr id="28684" name="Group 32">
              <a:extLst>
                <a:ext uri="{FF2B5EF4-FFF2-40B4-BE49-F238E27FC236}">
                  <a16:creationId xmlns:a16="http://schemas.microsoft.com/office/drawing/2014/main" id="{94BF0AAF-5BDB-4850-BCBB-095D726740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7" y="1768"/>
              <a:ext cx="1134" cy="1134"/>
              <a:chOff x="2078" y="2764"/>
              <a:chExt cx="1134" cy="1134"/>
            </a:xfrm>
          </p:grpSpPr>
          <p:sp>
            <p:nvSpPr>
              <p:cNvPr id="28718" name="Oval 33">
                <a:extLst>
                  <a:ext uri="{FF2B5EF4-FFF2-40B4-BE49-F238E27FC236}">
                    <a16:creationId xmlns:a16="http://schemas.microsoft.com/office/drawing/2014/main" id="{61A64F3F-3044-4495-B27A-AC8C26D85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8" y="2764"/>
                <a:ext cx="1134" cy="113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9" name="computr1">
                <a:extLst>
                  <a:ext uri="{FF2B5EF4-FFF2-40B4-BE49-F238E27FC236}">
                    <a16:creationId xmlns:a16="http://schemas.microsoft.com/office/drawing/2014/main" id="{7ED762FD-452A-4FAC-A911-3F86D2019688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2366" y="2947"/>
                <a:ext cx="570" cy="56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4926 w 21600"/>
                  <a:gd name="T43" fmla="*/ 2552 h 21600"/>
                  <a:gd name="T44" fmla="*/ 16749 w 21600"/>
                  <a:gd name="T45" fmla="*/ 11162 h 216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1600" h="21600" extrusionOk="0">
                    <a:moveTo>
                      <a:pt x="16994" y="15388"/>
                    </a:moveTo>
                    <a:lnTo>
                      <a:pt x="16994" y="13553"/>
                    </a:lnTo>
                    <a:lnTo>
                      <a:pt x="19535" y="13553"/>
                    </a:lnTo>
                    <a:lnTo>
                      <a:pt x="19535" y="10729"/>
                    </a:lnTo>
                    <a:lnTo>
                      <a:pt x="19535" y="6776"/>
                    </a:lnTo>
                    <a:lnTo>
                      <a:pt x="19535" y="0"/>
                    </a:lnTo>
                    <a:lnTo>
                      <a:pt x="10800" y="0"/>
                    </a:lnTo>
                    <a:lnTo>
                      <a:pt x="2065" y="0"/>
                    </a:lnTo>
                    <a:lnTo>
                      <a:pt x="2065" y="6776"/>
                    </a:lnTo>
                    <a:lnTo>
                      <a:pt x="2065" y="10729"/>
                    </a:lnTo>
                    <a:lnTo>
                      <a:pt x="2065" y="13553"/>
                    </a:lnTo>
                    <a:lnTo>
                      <a:pt x="4606" y="13553"/>
                    </a:lnTo>
                    <a:lnTo>
                      <a:pt x="4606" y="15388"/>
                    </a:lnTo>
                    <a:lnTo>
                      <a:pt x="0" y="15388"/>
                    </a:lnTo>
                    <a:lnTo>
                      <a:pt x="0" y="21600"/>
                    </a:lnTo>
                    <a:lnTo>
                      <a:pt x="10800" y="21600"/>
                    </a:lnTo>
                    <a:lnTo>
                      <a:pt x="21600" y="21600"/>
                    </a:lnTo>
                    <a:lnTo>
                      <a:pt x="21600" y="15388"/>
                    </a:lnTo>
                    <a:lnTo>
                      <a:pt x="16994" y="15388"/>
                    </a:lnTo>
                    <a:close/>
                  </a:path>
                  <a:path w="21600" h="21600" extrusionOk="0">
                    <a:moveTo>
                      <a:pt x="4606" y="15388"/>
                    </a:moveTo>
                    <a:lnTo>
                      <a:pt x="4606" y="13553"/>
                    </a:lnTo>
                    <a:lnTo>
                      <a:pt x="16994" y="13553"/>
                    </a:lnTo>
                    <a:lnTo>
                      <a:pt x="16994" y="15388"/>
                    </a:lnTo>
                    <a:lnTo>
                      <a:pt x="4606" y="15388"/>
                    </a:lnTo>
                  </a:path>
                  <a:path w="21600" h="21600" extrusionOk="0">
                    <a:moveTo>
                      <a:pt x="4606" y="11294"/>
                    </a:moveTo>
                    <a:lnTo>
                      <a:pt x="4606" y="2259"/>
                    </a:lnTo>
                    <a:lnTo>
                      <a:pt x="16994" y="2259"/>
                    </a:lnTo>
                    <a:lnTo>
                      <a:pt x="16994" y="11294"/>
                    </a:lnTo>
                    <a:lnTo>
                      <a:pt x="4606" y="11294"/>
                    </a:lnTo>
                    <a:moveTo>
                      <a:pt x="13976" y="17082"/>
                    </a:moveTo>
                    <a:lnTo>
                      <a:pt x="13976" y="16376"/>
                    </a:lnTo>
                    <a:lnTo>
                      <a:pt x="20171" y="16376"/>
                    </a:lnTo>
                    <a:lnTo>
                      <a:pt x="20171" y="17082"/>
                    </a:lnTo>
                    <a:lnTo>
                      <a:pt x="13976" y="17082"/>
                    </a:lnTo>
                  </a:path>
                </a:pathLst>
              </a:cu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0" name="Text Box 35">
                <a:extLst>
                  <a:ext uri="{FF2B5EF4-FFF2-40B4-BE49-F238E27FC236}">
                    <a16:creationId xmlns:a16="http://schemas.microsoft.com/office/drawing/2014/main" id="{C31DB6DD-8F6A-4186-A66C-FEF201554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7" y="3043"/>
                <a:ext cx="3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latin typeface="Times New Roman" panose="02020603050405020304" pitchFamily="18" charset="0"/>
                  </a:rPr>
                  <a:t>裸机</a:t>
                </a:r>
              </a:p>
            </p:txBody>
          </p:sp>
          <p:sp>
            <p:nvSpPr>
              <p:cNvPr id="28721" name="Text Box 36">
                <a:extLst>
                  <a:ext uri="{FF2B5EF4-FFF2-40B4-BE49-F238E27FC236}">
                    <a16:creationId xmlns:a16="http://schemas.microsoft.com/office/drawing/2014/main" id="{EBA778A0-BBE6-4E1F-8977-5006F4640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3" y="3592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操作系统</a:t>
                </a:r>
              </a:p>
            </p:txBody>
          </p:sp>
        </p:grpSp>
        <p:sp>
          <p:nvSpPr>
            <p:cNvPr id="28685" name="AutoShape 37">
              <a:extLst>
                <a:ext uri="{FF2B5EF4-FFF2-40B4-BE49-F238E27FC236}">
                  <a16:creationId xmlns:a16="http://schemas.microsoft.com/office/drawing/2014/main" id="{927F7C22-08F1-44FF-AE65-2B278976E2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001265">
              <a:off x="1878" y="2816"/>
              <a:ext cx="574" cy="192"/>
            </a:xfrm>
            <a:prstGeom prst="rightArrow">
              <a:avLst>
                <a:gd name="adj1" fmla="val 50000"/>
                <a:gd name="adj2" fmla="val 74740"/>
              </a:avLst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8686" name="Group 56">
              <a:extLst>
                <a:ext uri="{FF2B5EF4-FFF2-40B4-BE49-F238E27FC236}">
                  <a16:creationId xmlns:a16="http://schemas.microsoft.com/office/drawing/2014/main" id="{8D629B07-1FF2-4F1E-917F-7A49962188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727"/>
              <a:ext cx="1706" cy="2209"/>
              <a:chOff x="384" y="1727"/>
              <a:chExt cx="1706" cy="2209"/>
            </a:xfrm>
          </p:grpSpPr>
          <p:sp>
            <p:nvSpPr>
              <p:cNvPr id="28702" name="AutoShape 5">
                <a:extLst>
                  <a:ext uri="{FF2B5EF4-FFF2-40B4-BE49-F238E27FC236}">
                    <a16:creationId xmlns:a16="http://schemas.microsoft.com/office/drawing/2014/main" id="{116C6D2E-2950-4861-9AE8-D6D7F53B1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1727"/>
                <a:ext cx="912" cy="624"/>
              </a:xfrm>
              <a:prstGeom prst="flowChartDocument">
                <a:avLst/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1: </a:t>
                </a: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line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2: line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3: module</a:t>
                </a:r>
                <a:endPara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3" name="Oval 6">
                <a:extLst>
                  <a:ext uri="{FF2B5EF4-FFF2-40B4-BE49-F238E27FC236}">
                    <a16:creationId xmlns:a16="http://schemas.microsoft.com/office/drawing/2014/main" id="{42D19AA4-727F-47AD-BE02-97847920A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620"/>
                <a:ext cx="1009" cy="37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编译程序 (</a:t>
                </a: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bin/exe)</a:t>
                </a:r>
              </a:p>
            </p:txBody>
          </p:sp>
          <p:sp>
            <p:nvSpPr>
              <p:cNvPr id="28704" name="AutoShape 7">
                <a:extLst>
                  <a:ext uri="{FF2B5EF4-FFF2-40B4-BE49-F238E27FC236}">
                    <a16:creationId xmlns:a16="http://schemas.microsoft.com/office/drawing/2014/main" id="{80C78EAE-E28C-44EE-9350-8D8E3362C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3263"/>
                <a:ext cx="912" cy="624"/>
              </a:xfrm>
              <a:prstGeom prst="flowChartDocument">
                <a:avLst/>
              </a:prstGeom>
              <a:noFill/>
              <a:ln w="3810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A: content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B: content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C: content</a:t>
                </a:r>
                <a:endPara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5" name="Line 10">
                <a:extLst>
                  <a:ext uri="{FF2B5EF4-FFF2-40B4-BE49-F238E27FC236}">
                    <a16:creationId xmlns:a16="http://schemas.microsoft.com/office/drawing/2014/main" id="{CFBEE623-D378-4DE0-BF19-E01520378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492" y="3167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6" name="Line 12">
                <a:extLst>
                  <a:ext uri="{FF2B5EF4-FFF2-40B4-BE49-F238E27FC236}">
                    <a16:creationId xmlns:a16="http://schemas.microsoft.com/office/drawing/2014/main" id="{2EC28F8E-89A4-4B5A-92D7-E0A32FC86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492" y="3551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7" name="Line 13">
                <a:extLst>
                  <a:ext uri="{FF2B5EF4-FFF2-40B4-BE49-F238E27FC236}">
                    <a16:creationId xmlns:a16="http://schemas.microsoft.com/office/drawing/2014/main" id="{69E0E993-38D1-4816-A8B0-0DCAED749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3" y="2323"/>
                <a:ext cx="0" cy="2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8" name="Line 14">
                <a:extLst>
                  <a:ext uri="{FF2B5EF4-FFF2-40B4-BE49-F238E27FC236}">
                    <a16:creationId xmlns:a16="http://schemas.microsoft.com/office/drawing/2014/main" id="{045B8989-5F95-4FAF-82A8-DCEDF2EA1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481" y="3370"/>
                <a:ext cx="0" cy="2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9" name="Text Box 15">
                <a:extLst>
                  <a:ext uri="{FF2B5EF4-FFF2-40B4-BE49-F238E27FC236}">
                    <a16:creationId xmlns:a16="http://schemas.microsoft.com/office/drawing/2014/main" id="{AC188FAB-906D-4175-B14B-4825562766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" y="2384"/>
                <a:ext cx="40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1, 2, 3</a:t>
                </a:r>
              </a:p>
            </p:txBody>
          </p:sp>
          <p:sp>
            <p:nvSpPr>
              <p:cNvPr id="28710" name="Text Box 17">
                <a:extLst>
                  <a:ext uri="{FF2B5EF4-FFF2-40B4-BE49-F238E27FC236}">
                    <a16:creationId xmlns:a16="http://schemas.microsoft.com/office/drawing/2014/main" id="{18EA5E4A-BD77-447C-9CE2-03E57867B1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3152"/>
                <a:ext cx="14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8711" name="Text Box 18">
                <a:extLst>
                  <a:ext uri="{FF2B5EF4-FFF2-40B4-BE49-F238E27FC236}">
                    <a16:creationId xmlns:a16="http://schemas.microsoft.com/office/drawing/2014/main" id="{C100154B-2E29-4790-ADAD-251FE70B49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3344"/>
                <a:ext cx="14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8712" name="Text Box 19">
                <a:extLst>
                  <a:ext uri="{FF2B5EF4-FFF2-40B4-BE49-F238E27FC236}">
                    <a16:creationId xmlns:a16="http://schemas.microsoft.com/office/drawing/2014/main" id="{C10FA7E3-0E1E-4BE2-821E-DE56840157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3536"/>
                <a:ext cx="14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28713" name="Text Box 20">
                <a:extLst>
                  <a:ext uri="{FF2B5EF4-FFF2-40B4-BE49-F238E27FC236}">
                    <a16:creationId xmlns:a16="http://schemas.microsoft.com/office/drawing/2014/main" id="{D58B6BEE-E477-404B-80C7-2BD9C46E53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" y="1851"/>
                <a:ext cx="3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高级程序(</a:t>
                </a: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text)</a:t>
                </a:r>
              </a:p>
            </p:txBody>
          </p:sp>
          <p:sp>
            <p:nvSpPr>
              <p:cNvPr id="28714" name="Text Box 21">
                <a:extLst>
                  <a:ext uri="{FF2B5EF4-FFF2-40B4-BE49-F238E27FC236}">
                    <a16:creationId xmlns:a16="http://schemas.microsoft.com/office/drawing/2014/main" id="{EADA5B31-2B48-4239-84EB-36708A3FB7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" y="3395"/>
                <a:ext cx="46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目标程序(</a:t>
                </a: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bin/unexe)</a:t>
                </a:r>
              </a:p>
            </p:txBody>
          </p:sp>
          <p:sp>
            <p:nvSpPr>
              <p:cNvPr id="28715" name="Line 39">
                <a:extLst>
                  <a:ext uri="{FF2B5EF4-FFF2-40B4-BE49-F238E27FC236}">
                    <a16:creationId xmlns:a16="http://schemas.microsoft.com/office/drawing/2014/main" id="{8200499C-E627-4690-B458-1DE9368D7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1" y="3004"/>
                <a:ext cx="0" cy="25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6" name="Text Box 40">
                <a:extLst>
                  <a:ext uri="{FF2B5EF4-FFF2-40B4-BE49-F238E27FC236}">
                    <a16:creationId xmlns:a16="http://schemas.microsoft.com/office/drawing/2014/main" id="{D300D514-D3EA-437A-9177-D9473A1AC0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3023"/>
                <a:ext cx="40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A, B, C</a:t>
                </a:r>
                <a:endPara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7" name="Oval 42">
                <a:extLst>
                  <a:ext uri="{FF2B5EF4-FFF2-40B4-BE49-F238E27FC236}">
                    <a16:creationId xmlns:a16="http://schemas.microsoft.com/office/drawing/2014/main" id="{228433A2-6161-4D0F-90BA-1B9E5829D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" y="3072"/>
                <a:ext cx="472" cy="86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执行器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Executor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(bin/exe)</a:t>
                </a:r>
              </a:p>
            </p:txBody>
          </p:sp>
        </p:grpSp>
        <p:sp>
          <p:nvSpPr>
            <p:cNvPr id="28687" name="AutoShape 38">
              <a:extLst>
                <a:ext uri="{FF2B5EF4-FFF2-40B4-BE49-F238E27FC236}">
                  <a16:creationId xmlns:a16="http://schemas.microsoft.com/office/drawing/2014/main" id="{8B4B2F60-1CEF-4399-BA08-5EC4587A43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33" y="2977"/>
              <a:ext cx="315" cy="192"/>
            </a:xfrm>
            <a:prstGeom prst="leftArrow">
              <a:avLst>
                <a:gd name="adj1" fmla="val 50000"/>
                <a:gd name="adj2" fmla="val 41016"/>
              </a:avLst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8688" name="Group 58">
              <a:extLst>
                <a:ext uri="{FF2B5EF4-FFF2-40B4-BE49-F238E27FC236}">
                  <a16:creationId xmlns:a16="http://schemas.microsoft.com/office/drawing/2014/main" id="{7B16F458-BF1E-436F-A3C7-58B231C63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02"/>
              <a:ext cx="2955" cy="2434"/>
              <a:chOff x="2352" y="1502"/>
              <a:chExt cx="2955" cy="2434"/>
            </a:xfrm>
          </p:grpSpPr>
          <p:sp>
            <p:nvSpPr>
              <p:cNvPr id="28689" name="Oval 24">
                <a:extLst>
                  <a:ext uri="{FF2B5EF4-FFF2-40B4-BE49-F238E27FC236}">
                    <a16:creationId xmlns:a16="http://schemas.microsoft.com/office/drawing/2014/main" id="{BED4BCB3-9905-43C7-9D59-4244F4FB7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8" y="2477"/>
                <a:ext cx="1009" cy="37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编译程序 (</a:t>
                </a: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bin/exe)</a:t>
                </a:r>
              </a:p>
            </p:txBody>
          </p:sp>
          <p:sp>
            <p:nvSpPr>
              <p:cNvPr id="28690" name="AutoShape 25">
                <a:extLst>
                  <a:ext uri="{FF2B5EF4-FFF2-40B4-BE49-F238E27FC236}">
                    <a16:creationId xmlns:a16="http://schemas.microsoft.com/office/drawing/2014/main" id="{90391454-75B7-4D80-9457-6B8D6A5D9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237"/>
                <a:ext cx="912" cy="576"/>
              </a:xfrm>
              <a:prstGeom prst="flowChartDocument">
                <a:avLst/>
              </a:prstGeom>
              <a:noFill/>
              <a:ln w="3810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可执行目标程序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bin/exe)</a:t>
                </a:r>
              </a:p>
            </p:txBody>
          </p:sp>
          <p:sp>
            <p:nvSpPr>
              <p:cNvPr id="28691" name="Text Box 26">
                <a:extLst>
                  <a:ext uri="{FF2B5EF4-FFF2-40B4-BE49-F238E27FC236}">
                    <a16:creationId xmlns:a16="http://schemas.microsoft.com/office/drawing/2014/main" id="{63EB631F-D96C-4E44-9572-CAEA639438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8" y="2234"/>
                <a:ext cx="45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1, 2, 3</a:t>
                </a:r>
              </a:p>
            </p:txBody>
          </p:sp>
          <p:sp>
            <p:nvSpPr>
              <p:cNvPr id="28692" name="Text Box 27">
                <a:extLst>
                  <a:ext uri="{FF2B5EF4-FFF2-40B4-BE49-F238E27FC236}">
                    <a16:creationId xmlns:a16="http://schemas.microsoft.com/office/drawing/2014/main" id="{CC76BE0B-D285-4CC7-B8BA-E7D3342C76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8" y="2873"/>
                <a:ext cx="45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A, B, C</a:t>
                </a:r>
              </a:p>
            </p:txBody>
          </p:sp>
          <p:sp>
            <p:nvSpPr>
              <p:cNvPr id="28693" name="AutoShape 28">
                <a:extLst>
                  <a:ext uri="{FF2B5EF4-FFF2-40B4-BE49-F238E27FC236}">
                    <a16:creationId xmlns:a16="http://schemas.microsoft.com/office/drawing/2014/main" id="{B9E449B1-5D8C-4F90-8724-2C979A996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2173"/>
                <a:ext cx="145" cy="295"/>
              </a:xfrm>
              <a:prstGeom prst="downArrow">
                <a:avLst>
                  <a:gd name="adj1" fmla="val 50000"/>
                  <a:gd name="adj2" fmla="val 50862"/>
                </a:avLst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400" b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4" name="AutoShape 29">
                <a:extLst>
                  <a:ext uri="{FF2B5EF4-FFF2-40B4-BE49-F238E27FC236}">
                    <a16:creationId xmlns:a16="http://schemas.microsoft.com/office/drawing/2014/main" id="{C6C8592D-C14F-4358-8287-4C5EF8922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5" y="2853"/>
                <a:ext cx="145" cy="258"/>
              </a:xfrm>
              <a:prstGeom prst="downArrow">
                <a:avLst>
                  <a:gd name="adj1" fmla="val 50000"/>
                  <a:gd name="adj2" fmla="val 44483"/>
                </a:avLst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5" name="Text Box 30">
                <a:extLst>
                  <a:ext uri="{FF2B5EF4-FFF2-40B4-BE49-F238E27FC236}">
                    <a16:creationId xmlns:a16="http://schemas.microsoft.com/office/drawing/2014/main" id="{59C2125B-8F1C-4029-9E68-6437A53E87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38" y="1708"/>
                <a:ext cx="3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高级程序(</a:t>
                </a: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text)</a:t>
                </a:r>
              </a:p>
            </p:txBody>
          </p:sp>
          <p:sp>
            <p:nvSpPr>
              <p:cNvPr id="28696" name="Text Box 31">
                <a:extLst>
                  <a:ext uri="{FF2B5EF4-FFF2-40B4-BE49-F238E27FC236}">
                    <a16:creationId xmlns:a16="http://schemas.microsoft.com/office/drawing/2014/main" id="{B7EEAF0B-214F-4780-ABBC-164CBC1974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371"/>
                <a:ext cx="4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目标程序(</a:t>
                </a: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bin/unexe)</a:t>
                </a:r>
              </a:p>
            </p:txBody>
          </p:sp>
          <p:sp>
            <p:nvSpPr>
              <p:cNvPr id="28697" name="AutoShape 43">
                <a:extLst>
                  <a:ext uri="{FF2B5EF4-FFF2-40B4-BE49-F238E27FC236}">
                    <a16:creationId xmlns:a16="http://schemas.microsoft.com/office/drawing/2014/main" id="{A6DCE67E-B322-4599-ACBF-93FE9F62A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4" y="1502"/>
                <a:ext cx="912" cy="720"/>
              </a:xfrm>
              <a:prstGeom prst="flowChartMultidocument">
                <a:avLst/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1: </a:t>
                </a: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line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2: line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3: module</a:t>
                </a:r>
                <a:endPara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8" name="AutoShape 44">
                <a:extLst>
                  <a:ext uri="{FF2B5EF4-FFF2-40B4-BE49-F238E27FC236}">
                    <a16:creationId xmlns:a16="http://schemas.microsoft.com/office/drawing/2014/main" id="{739DBDB4-5E1B-49CE-915F-ABCACFDCD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1" y="3120"/>
                <a:ext cx="1015" cy="720"/>
              </a:xfrm>
              <a:prstGeom prst="flowChartMultidocument">
                <a:avLst/>
              </a:prstGeom>
              <a:noFill/>
              <a:ln w="38100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A: content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B: content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C: content</a:t>
                </a:r>
                <a:endPara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9" name="Oval 45">
                <a:extLst>
                  <a:ext uri="{FF2B5EF4-FFF2-40B4-BE49-F238E27FC236}">
                    <a16:creationId xmlns:a16="http://schemas.microsoft.com/office/drawing/2014/main" id="{33A1BDE0-CBA5-4818-919D-AD8E7F6E3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" y="3072"/>
                <a:ext cx="472" cy="86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链接程序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Linker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(bin/exe)</a:t>
                </a:r>
              </a:p>
            </p:txBody>
          </p:sp>
          <p:sp>
            <p:nvSpPr>
              <p:cNvPr id="28700" name="AutoShape 46">
                <a:extLst>
                  <a:ext uri="{FF2B5EF4-FFF2-40B4-BE49-F238E27FC236}">
                    <a16:creationId xmlns:a16="http://schemas.microsoft.com/office/drawing/2014/main" id="{61D6955F-7BB2-406F-9D02-8ABD93093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081" y="3389"/>
                <a:ext cx="145" cy="258"/>
              </a:xfrm>
              <a:prstGeom prst="downArrow">
                <a:avLst>
                  <a:gd name="adj1" fmla="val 50000"/>
                  <a:gd name="adj2" fmla="val 44483"/>
                </a:avLst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1" name="AutoShape 47">
                <a:extLst>
                  <a:ext uri="{FF2B5EF4-FFF2-40B4-BE49-F238E27FC236}">
                    <a16:creationId xmlns:a16="http://schemas.microsoft.com/office/drawing/2014/main" id="{5F298D08-CE55-4248-9E21-98599EA6E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334" y="3389"/>
                <a:ext cx="145" cy="258"/>
              </a:xfrm>
              <a:prstGeom prst="downArrow">
                <a:avLst>
                  <a:gd name="adj1" fmla="val 50000"/>
                  <a:gd name="adj2" fmla="val 44483"/>
                </a:avLst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9452" name="AutoShape 60">
            <a:extLst>
              <a:ext uri="{FF2B5EF4-FFF2-40B4-BE49-F238E27FC236}">
                <a16:creationId xmlns:a16="http://schemas.microsoft.com/office/drawing/2014/main" id="{C2C76203-9386-4937-9AAF-44750106F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33513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53" name="AutoShape 61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FC02D50A-F941-4E71-9DAA-0D097FA62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44450"/>
            <a:ext cx="2589213" cy="665163"/>
          </a:xfrm>
          <a:prstGeom prst="cloudCallout">
            <a:avLst>
              <a:gd name="adj1" fmla="val -34426"/>
              <a:gd name="adj2" fmla="val 79593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/>
              <a:t>如：</a:t>
            </a:r>
            <a:r>
              <a:rPr lang="en-US" altLang="zh-CN"/>
              <a:t>VFP: comp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en-US" altLang="zh-CN"/>
              <a:t>.fxp</a:t>
            </a:r>
          </a:p>
          <a:p>
            <a:pPr algn="ctr">
              <a:defRPr/>
            </a:pPr>
            <a:r>
              <a:rPr lang="en-US" altLang="zh-CN"/>
              <a:t>JAVA:</a:t>
            </a:r>
            <a:r>
              <a:rPr lang="en-US" altLang="zh-CN">
                <a:sym typeface="Wingdings" pitchFamily="2" charset="2"/>
              </a:rPr>
              <a:t>.class</a:t>
            </a:r>
            <a:endParaRPr lang="en-US" altLang="zh-CN"/>
          </a:p>
        </p:txBody>
      </p:sp>
      <p:sp>
        <p:nvSpPr>
          <p:cNvPr id="59454" name="AutoShape 62">
            <a:extLst>
              <a:ext uri="{FF2B5EF4-FFF2-40B4-BE49-F238E27FC236}">
                <a16:creationId xmlns:a16="http://schemas.microsoft.com/office/drawing/2014/main" id="{DDABEA9B-C695-4D79-BB7B-90992385B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971675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55" name="AutoShape 63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DA20182-4FF7-4F00-AA55-8EAA7712E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2589212" cy="338138"/>
          </a:xfrm>
          <a:prstGeom prst="cloudCallout">
            <a:avLst>
              <a:gd name="adj1" fmla="val -18671"/>
              <a:gd name="adj2" fmla="val 15610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/>
              <a:t>如：</a:t>
            </a:r>
            <a:r>
              <a:rPr lang="en-US" altLang="zh-CN"/>
              <a:t>VB,VC</a:t>
            </a:r>
            <a:r>
              <a:rPr lang="zh-CN" altLang="en-US"/>
              <a:t>等</a:t>
            </a:r>
          </a:p>
        </p:txBody>
      </p:sp>
      <p:sp>
        <p:nvSpPr>
          <p:cNvPr id="59456" name="AutoShape 64">
            <a:extLst>
              <a:ext uri="{FF2B5EF4-FFF2-40B4-BE49-F238E27FC236}">
                <a16:creationId xmlns:a16="http://schemas.microsoft.com/office/drawing/2014/main" id="{F4058727-3CD6-4C99-9169-6D6D62C37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733675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57" name="AutoShape 6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7F01A436-6110-432F-8C60-4EE49364B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4450"/>
            <a:ext cx="2590800" cy="661988"/>
          </a:xfrm>
          <a:prstGeom prst="cloudCallout">
            <a:avLst>
              <a:gd name="adj1" fmla="val -29949"/>
              <a:gd name="adj2" fmla="val 11612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如</a:t>
            </a:r>
            <a:r>
              <a:rPr lang="en-US" altLang="zh-CN" dirty="0"/>
              <a:t>:VFP,JAVA</a:t>
            </a:r>
            <a:r>
              <a:rPr lang="zh-CN" altLang="en-US" dirty="0"/>
              <a:t>虚拟机   例：</a:t>
            </a:r>
            <a:r>
              <a:rPr lang="en-US" altLang="zh-CN" dirty="0" err="1"/>
              <a:t>VfpSample</a:t>
            </a:r>
            <a:endParaRPr lang="en-US" altLang="zh-CN" dirty="0"/>
          </a:p>
        </p:txBody>
      </p:sp>
    </p:spTree>
  </p:cSld>
  <p:clrMapOvr>
    <a:masterClrMapping/>
  </p:clrMapOvr>
  <p:transition advClick="0" advTm="116865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4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452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9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 nodeType="clickPar">
                      <p:stCondLst>
                        <p:cond delay="0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4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45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9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 nodeType="clickPar">
                      <p:stCondLst>
                        <p:cond delay="0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4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456"/>
                  </p:tgtEl>
                </p:cond>
              </p:nextCondLst>
            </p:seq>
          </p:childTnLst>
        </p:cTn>
      </p:par>
    </p:tnLst>
    <p:bldLst>
      <p:bldP spid="59453" grpId="0" animBg="1" autoUpdateAnimBg="0"/>
      <p:bldP spid="59455" grpId="0" animBg="1" autoUpdateAnimBg="0"/>
      <p:bldP spid="59457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5349" objId="59452"/>
        <p14:triggerEvt type="onClick" time="51286" objId="59452"/>
        <p14:triggerEvt type="onClick" time="59482" objId="59454"/>
        <p14:triggerEvt type="onClick" time="96203" objId="59456"/>
        <p14:triggerEvt type="onClick" time="98194" objId="59454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82609844-6748-4EA8-B52F-A050F4129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CAE96B-476D-4A56-8C1B-5F536E3BC82D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F7BF0E1-57D8-456D-9F76-814E2DDB6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EADA8CED-1D5B-42C9-A0CA-B3CBEB631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964612" cy="5545137"/>
          </a:xfrm>
        </p:spPr>
        <p:txBody>
          <a:bodyPr/>
          <a:lstStyle/>
          <a:p>
            <a:pPr marL="285750" indent="-285750">
              <a:lnSpc>
                <a:spcPct val="8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文件与计算机程序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代码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，计算机可识别的0-1串所表示的各种数据形式，基本的形式有：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文本形式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：一般指人可读的字符串，如：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China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中国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二进制形式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：一般指计算机或计算机程序可识别的二进制串，例如：可执行程序，图像，声音等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file）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：计算机操作系统用来存储代码的（数据或字符的集合）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文件名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：标识文件的符号（字符串）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一个文件名通常分为两部分，用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链接，例如：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NEU.doc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06575" lvl="3">
              <a:lnSpc>
                <a:spcPct val="80000"/>
              </a:lnSpc>
            </a:pP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文件名标识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，用来标识和区别不同文件，例如，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NEU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06575" lvl="3">
              <a:lnSpc>
                <a:spcPct val="80000"/>
              </a:lnSpc>
            </a:pP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文件扩展名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用来标识和区分文件的种类的，例如，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doc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-&gt;Word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标识文件所用的符号是有限制的，例如，英文的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:？*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等不能出现在文件名中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有些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OS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区分大小写，如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NEU.doc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neu.doc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是两个不同的文件</a:t>
            </a:r>
          </a:p>
          <a:p>
            <a:pPr marL="1333500" lvl="2">
              <a:lnSpc>
                <a:spcPct val="80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操作系统中，文件名是不区分大小写的</a:t>
            </a:r>
          </a:p>
        </p:txBody>
      </p:sp>
    </p:spTree>
  </p:cSld>
  <p:clrMapOvr>
    <a:masterClrMapping/>
  </p:clrMapOvr>
  <p:transition advClick="0" advTm="83187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A687C2F5-CB37-4A76-8FF9-FECF51F1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874400-4DB7-498E-B436-A59E66955E0B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6B8A446-C388-4FEF-9F58-91C16B06E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FDF8180-40DA-42FD-AB13-42726410E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52513"/>
            <a:ext cx="8686800" cy="5876925"/>
          </a:xfrm>
        </p:spPr>
        <p:txBody>
          <a:bodyPr/>
          <a:lstStyle/>
          <a:p>
            <a:pPr marL="285750" indent="-285750">
              <a:lnSpc>
                <a:spcPct val="8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文件与计算机程序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文件种类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可分为很多种，通常通过扩展名进行识别：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可执行文件，在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中称为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应用程序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，以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exe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为扩展名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辅助可执行文件，在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中称为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应用程序扩展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，以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dll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为扩展名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目标程序文件或中间程序，在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中称为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目标文件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，以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obj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为扩展名</a:t>
            </a:r>
          </a:p>
          <a:p>
            <a:pPr marL="1333500" lvl="2">
              <a:lnSpc>
                <a:spcPct val="80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Word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文件，以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doc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为扩展名</a:t>
            </a:r>
          </a:p>
          <a:p>
            <a:pPr marL="862013" lvl="1">
              <a:lnSpc>
                <a:spcPct val="80000"/>
              </a:lnSpc>
            </a:pPr>
            <a:endParaRPr lang="en-US" altLang="zh-CN" sz="240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计算机程序是以文件的形式存储的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一个计算机程序可以由一个或多个文件组成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程序可以有多种，可执行文件的源文件（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source codes）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和各种数据文件（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data, image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等）</a:t>
            </a:r>
          </a:p>
        </p:txBody>
      </p:sp>
    </p:spTree>
  </p:cSld>
  <p:clrMapOvr>
    <a:masterClrMapping/>
  </p:clrMapOvr>
  <p:transition advClick="0" advTm="28949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F9E6A5C0-519D-44A9-B8A5-BBDC6ACA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7D9BD9-21E5-4FC6-A838-2C35508F612E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D87794B-29A1-462B-B172-8ADBC03D4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6C74173-D28C-489D-9936-66AF8714A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25538"/>
            <a:ext cx="8785225" cy="5472112"/>
          </a:xfrm>
          <a:noFill/>
        </p:spPr>
        <p:txBody>
          <a:bodyPr/>
          <a:lstStyle/>
          <a:p>
            <a:pPr marL="285750" indent="-285750">
              <a:lnSpc>
                <a:spcPct val="8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程序的运行环境（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run-time environment)，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面向程序最终使用者的程序执行环境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是一个抽象的概念，是指计算机程序在执行时所需的各种条件的集合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硬件要求，包括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CPU，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内存，硬盘，显示卡内存等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运行该程序的操作系统，例如，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Windows 2000/XP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数据库支持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网络支持，例如，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TCP/IP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相关的支持程序，例如，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DirectX 9.0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可执行文件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辅助可执行文件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运行配置文件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数据文件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对操作人员的要求</a:t>
            </a:r>
          </a:p>
        </p:txBody>
      </p:sp>
      <p:grpSp>
        <p:nvGrpSpPr>
          <p:cNvPr id="33797" name="Group 45">
            <a:extLst>
              <a:ext uri="{FF2B5EF4-FFF2-40B4-BE49-F238E27FC236}">
                <a16:creationId xmlns:a16="http://schemas.microsoft.com/office/drawing/2014/main" id="{8167F42C-F322-4270-9B20-5673039F219C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4076700"/>
            <a:ext cx="3527425" cy="2447925"/>
            <a:chOff x="3264" y="2496"/>
            <a:chExt cx="1968" cy="1296"/>
          </a:xfrm>
        </p:grpSpPr>
        <p:sp>
          <p:nvSpPr>
            <p:cNvPr id="33800" name="Oval 43">
              <a:extLst>
                <a:ext uri="{FF2B5EF4-FFF2-40B4-BE49-F238E27FC236}">
                  <a16:creationId xmlns:a16="http://schemas.microsoft.com/office/drawing/2014/main" id="{76B21917-004D-4735-9444-C688BC4E9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496"/>
              <a:ext cx="1968" cy="129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程序运行环境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3" name="AutoShape 44">
              <a:extLst>
                <a:ext uri="{FF2B5EF4-FFF2-40B4-BE49-F238E27FC236}">
                  <a16:creationId xmlns:a16="http://schemas.microsoft.com/office/drawing/2014/main" id="{023270EC-96A2-4DCB-9CC2-B0D35934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4" y="3130"/>
              <a:ext cx="569" cy="567"/>
            </a:xfrm>
            <a:prstGeom prst="smileyFace">
              <a:avLst>
                <a:gd name="adj" fmla="val 465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1800" b="1"/>
            </a:p>
            <a:p>
              <a:pPr algn="ctr">
                <a:defRPr/>
              </a:pPr>
              <a:r>
                <a:rPr lang="zh-CN" altLang="en-US" sz="1800" b="1">
                  <a:solidFill>
                    <a:schemeClr val="tx2"/>
                  </a:solidFill>
                </a:rPr>
                <a:t>程序</a:t>
              </a:r>
            </a:p>
          </p:txBody>
        </p:sp>
      </p:grpSp>
      <p:sp>
        <p:nvSpPr>
          <p:cNvPr id="9" name="AutoShape 64">
            <a:extLst>
              <a:ext uri="{FF2B5EF4-FFF2-40B4-BE49-F238E27FC236}">
                <a16:creationId xmlns:a16="http://schemas.microsoft.com/office/drawing/2014/main" id="{E6FD25ED-C71D-414C-9145-32E893924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038" y="5000625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AutoShape 6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3C469D82-7599-45B3-90CB-0848319C5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6243638"/>
            <a:ext cx="3429000" cy="655637"/>
          </a:xfrm>
          <a:prstGeom prst="cloudCallout">
            <a:avLst>
              <a:gd name="adj1" fmla="val 43394"/>
              <a:gd name="adj2" fmla="val -177176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/>
              <a:t>运行环境是任何一个软件说明中所必须的</a:t>
            </a:r>
            <a:r>
              <a:rPr lang="en-US" altLang="zh-CN"/>
              <a:t>…</a:t>
            </a:r>
            <a:r>
              <a:rPr lang="zh-CN" altLang="en-US"/>
              <a:t>。例如</a:t>
            </a:r>
            <a:r>
              <a:rPr lang="en-US" altLang="zh-CN"/>
              <a:t>…</a:t>
            </a:r>
          </a:p>
        </p:txBody>
      </p:sp>
    </p:spTree>
  </p:cSld>
  <p:clrMapOvr>
    <a:masterClrMapping/>
  </p:clrMapOvr>
  <p:transition advClick="0" advTm="60093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0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13083" objId="9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3D74D4B8-FF0C-4D33-8133-B832AA5D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B16F0A-439D-4736-80BA-6018D57ABF80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EA8948E-6E96-4ED1-B6E4-AD081B274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22017649-3FAC-4F83-8F87-C92109BA7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81075"/>
            <a:ext cx="9144000" cy="2952750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程序的开发环境</a:t>
            </a:r>
            <a:r>
              <a:rPr lang="en-US" altLang="zh-CN" sz="280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design-time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environment，development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environment</a:t>
            </a:r>
            <a:r>
              <a:rPr lang="en-US" altLang="zh-CN" sz="2800" dirty="0">
                <a:latin typeface="宋体" pitchFamily="2" charset="-122"/>
                <a:ea typeface="宋体" pitchFamily="2" charset="-122"/>
              </a:rPr>
              <a:t>)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面向程序开发者的程序执行环境</a:t>
            </a:r>
            <a:endParaRPr lang="en-US" altLang="zh-CN" sz="24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也是一个抽象的概念，是指计算机程序在开发时所需的各种条件的集合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为了适应调试的要求，开发环境包括运行环境的条件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为了提高开发工作效率，有些开发环境的要求要高于运行环境的要求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以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C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语言程序的开发环境为例：</a:t>
            </a:r>
          </a:p>
        </p:txBody>
      </p:sp>
      <p:grpSp>
        <p:nvGrpSpPr>
          <p:cNvPr id="35845" name="Group 60">
            <a:extLst>
              <a:ext uri="{FF2B5EF4-FFF2-40B4-BE49-F238E27FC236}">
                <a16:creationId xmlns:a16="http://schemas.microsoft.com/office/drawing/2014/main" id="{9B1F068D-323B-4D8F-B629-E7BE4B6BE732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149725"/>
            <a:ext cx="7632700" cy="2157413"/>
            <a:chOff x="672" y="2516"/>
            <a:chExt cx="4464" cy="1359"/>
          </a:xfrm>
        </p:grpSpPr>
        <p:sp>
          <p:nvSpPr>
            <p:cNvPr id="35846" name="Text Box 43">
              <a:extLst>
                <a:ext uri="{FF2B5EF4-FFF2-40B4-BE49-F238E27FC236}">
                  <a16:creationId xmlns:a16="http://schemas.microsoft.com/office/drawing/2014/main" id="{60587F33-8E80-4EC6-A6FD-7982E3B4B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545"/>
              <a:ext cx="1584" cy="227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5400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开发人员使用的计算机环境</a:t>
              </a:r>
            </a:p>
          </p:txBody>
        </p:sp>
        <p:sp>
          <p:nvSpPr>
            <p:cNvPr id="35847" name="Text Box 44">
              <a:extLst>
                <a:ext uri="{FF2B5EF4-FFF2-40B4-BE49-F238E27FC236}">
                  <a16:creationId xmlns:a16="http://schemas.microsoft.com/office/drawing/2014/main" id="{314AA127-8C64-4A20-A3E4-E646531DE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516"/>
              <a:ext cx="2784" cy="29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由开发人员配置，包括：编辑程序，编译程序的配置，调试工具的配置等</a:t>
              </a:r>
            </a:p>
          </p:txBody>
        </p:sp>
        <p:sp>
          <p:nvSpPr>
            <p:cNvPr id="35848" name="Text Box 45">
              <a:extLst>
                <a:ext uri="{FF2B5EF4-FFF2-40B4-BE49-F238E27FC236}">
                  <a16:creationId xmlns:a16="http://schemas.microsoft.com/office/drawing/2014/main" id="{879C1A9C-E264-4D56-87BA-86BCD8CEC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820"/>
              <a:ext cx="1584" cy="227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5400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C </a:t>
              </a: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语言的使用环境</a:t>
              </a:r>
            </a:p>
          </p:txBody>
        </p:sp>
        <p:sp>
          <p:nvSpPr>
            <p:cNvPr id="35849" name="Text Box 46">
              <a:extLst>
                <a:ext uri="{FF2B5EF4-FFF2-40B4-BE49-F238E27FC236}">
                  <a16:creationId xmlns:a16="http://schemas.microsoft.com/office/drawing/2014/main" id="{44AA8F2D-A4BD-4637-9F0A-B29FF915B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096"/>
              <a:ext cx="1584" cy="227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5400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操作系统环境</a:t>
              </a:r>
            </a:p>
          </p:txBody>
        </p:sp>
        <p:sp>
          <p:nvSpPr>
            <p:cNvPr id="35850" name="Text Box 47">
              <a:extLst>
                <a:ext uri="{FF2B5EF4-FFF2-40B4-BE49-F238E27FC236}">
                  <a16:creationId xmlns:a16="http://schemas.microsoft.com/office/drawing/2014/main" id="{4E353C92-C4E9-4B17-BD37-1DB368091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372"/>
              <a:ext cx="1584" cy="227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5400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计算机硬件环境</a:t>
              </a:r>
            </a:p>
          </p:txBody>
        </p:sp>
        <p:sp>
          <p:nvSpPr>
            <p:cNvPr id="35851" name="Text Box 48">
              <a:extLst>
                <a:ext uri="{FF2B5EF4-FFF2-40B4-BE49-F238E27FC236}">
                  <a16:creationId xmlns:a16="http://schemas.microsoft.com/office/drawing/2014/main" id="{B21BB07B-848B-40ED-B65C-B48141DE8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648"/>
              <a:ext cx="1584" cy="227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5400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计算机的硬件实物</a:t>
              </a:r>
            </a:p>
          </p:txBody>
        </p:sp>
        <p:sp>
          <p:nvSpPr>
            <p:cNvPr id="35852" name="Text Box 49">
              <a:extLst>
                <a:ext uri="{FF2B5EF4-FFF2-40B4-BE49-F238E27FC236}">
                  <a16:creationId xmlns:a16="http://schemas.microsoft.com/office/drawing/2014/main" id="{EE694BF7-7A8A-484F-8D14-8E80E5F7C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792"/>
              <a:ext cx="2784" cy="3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由开发人员安装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语言开发工具，例如，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Microsoft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的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Visual Studio .NET，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包括，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IDE，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编译器，调试器， 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语言库文件等</a:t>
              </a:r>
            </a:p>
          </p:txBody>
        </p:sp>
        <p:sp>
          <p:nvSpPr>
            <p:cNvPr id="35853" name="Text Box 50">
              <a:extLst>
                <a:ext uri="{FF2B5EF4-FFF2-40B4-BE49-F238E27FC236}">
                  <a16:creationId xmlns:a16="http://schemas.microsoft.com/office/drawing/2014/main" id="{38F9BEB1-8DDF-4C43-8203-C8F6659B9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068"/>
              <a:ext cx="2784" cy="3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由开发人员安装或配置，例如，硬盘分区，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Windows 2000/XP，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网络配置，数据库配置，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Web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服务器，各种开发相关支持软件</a:t>
              </a:r>
            </a:p>
          </p:txBody>
        </p:sp>
        <p:sp>
          <p:nvSpPr>
            <p:cNvPr id="35854" name="Text Box 51">
              <a:extLst>
                <a:ext uri="{FF2B5EF4-FFF2-40B4-BE49-F238E27FC236}">
                  <a16:creationId xmlns:a16="http://schemas.microsoft.com/office/drawing/2014/main" id="{A7D432BE-791C-4040-B300-5F2B6A25F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344"/>
              <a:ext cx="2784" cy="3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由开发人员配置，包括：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BIOS（Basic Input/Output System）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或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CMOS</a:t>
              </a: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55" name="Text Box 52">
              <a:extLst>
                <a:ext uri="{FF2B5EF4-FFF2-40B4-BE49-F238E27FC236}">
                  <a16:creationId xmlns:a16="http://schemas.microsoft.com/office/drawing/2014/main" id="{70ED4180-E0E1-4A33-AA2F-215A868A9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674"/>
              <a:ext cx="2784" cy="1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由开发人员配置，包括：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CPU，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内存，硬盘，显示卡</a:t>
              </a:r>
            </a:p>
          </p:txBody>
        </p:sp>
        <p:sp>
          <p:nvSpPr>
            <p:cNvPr id="35856" name="Line 54">
              <a:extLst>
                <a:ext uri="{FF2B5EF4-FFF2-40B4-BE49-F238E27FC236}">
                  <a16:creationId xmlns:a16="http://schemas.microsoft.com/office/drawing/2014/main" id="{BBA5BBDA-E225-4FC8-8797-0DF2CD0F7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791"/>
              <a:ext cx="28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7" name="Line 55">
              <a:extLst>
                <a:ext uri="{FF2B5EF4-FFF2-40B4-BE49-F238E27FC236}">
                  <a16:creationId xmlns:a16="http://schemas.microsoft.com/office/drawing/2014/main" id="{3C84C45B-7587-4A60-8E97-77076988C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067"/>
              <a:ext cx="28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8" name="Line 57">
              <a:extLst>
                <a:ext uri="{FF2B5EF4-FFF2-40B4-BE49-F238E27FC236}">
                  <a16:creationId xmlns:a16="http://schemas.microsoft.com/office/drawing/2014/main" id="{A0EE808E-4810-4734-9F6A-CC3447E7B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344"/>
              <a:ext cx="28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9" name="Line 58">
              <a:extLst>
                <a:ext uri="{FF2B5EF4-FFF2-40B4-BE49-F238E27FC236}">
                  <a16:creationId xmlns:a16="http://schemas.microsoft.com/office/drawing/2014/main" id="{3869A93C-7423-40B3-B06C-387BD9FEE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621"/>
              <a:ext cx="28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advClick="0" advTm="109177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67B80C2B-C1F5-4791-83BB-7F58D8CF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025496-1F7C-448C-939F-793F0E872D34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7891" name="Rectangle 36">
            <a:extLst>
              <a:ext uri="{FF2B5EF4-FFF2-40B4-BE49-F238E27FC236}">
                <a16:creationId xmlns:a16="http://schemas.microsoft.com/office/drawing/2014/main" id="{20079261-1A13-4491-B981-43FD64034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ea typeface="宋体" panose="02010600030101010101" pitchFamily="2" charset="-122"/>
              </a:rPr>
              <a:t>2.2 程序语言与开发环境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37892" name="Rectangle 37">
            <a:extLst>
              <a:ext uri="{FF2B5EF4-FFF2-40B4-BE49-F238E27FC236}">
                <a16:creationId xmlns:a16="http://schemas.microsoft.com/office/drawing/2014/main" id="{186F955D-9A90-44E9-B214-E6C3E4326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25538"/>
            <a:ext cx="6804025" cy="3816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>
                <a:ea typeface="宋体" panose="02010600030101010101" pitchFamily="2" charset="-122"/>
              </a:rPr>
              <a:t>开发环境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800">
                <a:ea typeface="宋体" panose="02010600030101010101" pitchFamily="2" charset="-122"/>
              </a:rPr>
              <a:t>与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>
                <a:ea typeface="宋体" panose="02010600030101010101" pitchFamily="2" charset="-122"/>
              </a:rPr>
              <a:t>运行环境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sz="28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ea typeface="宋体" panose="02010600030101010101" pitchFamily="2" charset="-122"/>
              </a:rPr>
              <a:t>开发环境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ea typeface="宋体" panose="02010600030101010101" pitchFamily="2" charset="-122"/>
              </a:rPr>
              <a:t>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ea typeface="宋体" panose="02010600030101010101" pitchFamily="2" charset="-122"/>
              </a:rPr>
              <a:t>运行环境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ea typeface="宋体" panose="02010600030101010101" pitchFamily="2" charset="-122"/>
              </a:rPr>
              <a:t>可以不同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开发环境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硬件开发环境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软件开发环境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运行环境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硬件运行环境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软件运行环境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宋体" panose="02010600030101010101" pitchFamily="2" charset="-122"/>
              </a:rPr>
              <a:t>硬件环境和软件环境可以在一定条件下相互转换</a:t>
            </a:r>
          </a:p>
        </p:txBody>
      </p:sp>
      <p:grpSp>
        <p:nvGrpSpPr>
          <p:cNvPr id="37893" name="Group 31">
            <a:extLst>
              <a:ext uri="{FF2B5EF4-FFF2-40B4-BE49-F238E27FC236}">
                <a16:creationId xmlns:a16="http://schemas.microsoft.com/office/drawing/2014/main" id="{6AD8A782-952F-43D7-9413-F02858C8D15D}"/>
              </a:ext>
            </a:extLst>
          </p:cNvPr>
          <p:cNvGrpSpPr>
            <a:grpSpLocks/>
          </p:cNvGrpSpPr>
          <p:nvPr/>
        </p:nvGrpSpPr>
        <p:grpSpPr bwMode="auto">
          <a:xfrm>
            <a:off x="6986588" y="1524000"/>
            <a:ext cx="1906587" cy="4248150"/>
            <a:chOff x="3360" y="1009"/>
            <a:chExt cx="1201" cy="2676"/>
          </a:xfrm>
        </p:grpSpPr>
        <p:sp>
          <p:nvSpPr>
            <p:cNvPr id="37901" name="Oval 20">
              <a:extLst>
                <a:ext uri="{FF2B5EF4-FFF2-40B4-BE49-F238E27FC236}">
                  <a16:creationId xmlns:a16="http://schemas.microsoft.com/office/drawing/2014/main" id="{A75766C3-63B9-4BDA-917A-2D70858A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345"/>
              <a:ext cx="1200" cy="34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运行环境</a:t>
              </a:r>
            </a:p>
          </p:txBody>
        </p:sp>
        <p:sp>
          <p:nvSpPr>
            <p:cNvPr id="37902" name="Oval 21">
              <a:extLst>
                <a:ext uri="{FF2B5EF4-FFF2-40B4-BE49-F238E27FC236}">
                  <a16:creationId xmlns:a16="http://schemas.microsoft.com/office/drawing/2014/main" id="{5802F17F-F75C-4D3B-8C4C-53B4978C9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82"/>
              <a:ext cx="1200" cy="34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开发环境</a:t>
              </a:r>
            </a:p>
          </p:txBody>
        </p:sp>
        <p:sp>
          <p:nvSpPr>
            <p:cNvPr id="37903" name="AutoShape 24">
              <a:extLst>
                <a:ext uri="{FF2B5EF4-FFF2-40B4-BE49-F238E27FC236}">
                  <a16:creationId xmlns:a16="http://schemas.microsoft.com/office/drawing/2014/main" id="{251A7338-FFF1-42C0-88B0-BF5FE5B22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1009"/>
              <a:ext cx="1152" cy="672"/>
            </a:xfrm>
            <a:prstGeom prst="flowChartMultidocumen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118800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源程序、数据文件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source codes)</a:t>
              </a: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04" name="AutoShape 25">
              <a:extLst>
                <a:ext uri="{FF2B5EF4-FFF2-40B4-BE49-F238E27FC236}">
                  <a16:creationId xmlns:a16="http://schemas.microsoft.com/office/drawing/2014/main" id="{FCB2E2E5-1FC6-4E2A-A102-FAF39D32A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639"/>
              <a:ext cx="145" cy="227"/>
            </a:xfrm>
            <a:prstGeom prst="downArrow">
              <a:avLst>
                <a:gd name="adj1" fmla="val 50000"/>
                <a:gd name="adj2" fmla="val 39138"/>
              </a:avLst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05" name="AutoShape 28">
              <a:extLst>
                <a:ext uri="{FF2B5EF4-FFF2-40B4-BE49-F238E27FC236}">
                  <a16:creationId xmlns:a16="http://schemas.microsoft.com/office/drawing/2014/main" id="{7C21DF12-A23D-4B03-B3B1-5C920E37E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229"/>
              <a:ext cx="145" cy="227"/>
            </a:xfrm>
            <a:prstGeom prst="downArrow">
              <a:avLst>
                <a:gd name="adj1" fmla="val 50000"/>
                <a:gd name="adj2" fmla="val 39138"/>
              </a:avLst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06" name="AutoShape 29">
              <a:extLst>
                <a:ext uri="{FF2B5EF4-FFF2-40B4-BE49-F238E27FC236}">
                  <a16:creationId xmlns:a16="http://schemas.microsoft.com/office/drawing/2014/main" id="{17582C0E-1F38-4FBE-B0F5-5D20107A7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2469"/>
              <a:ext cx="1152" cy="672"/>
            </a:xfrm>
            <a:prstGeom prst="flowChartMultidocumen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82800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可执行程序、数据集合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 (</a:t>
              </a: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executable codes)</a:t>
              </a: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07" name="AutoShape 30">
              <a:extLst>
                <a:ext uri="{FF2B5EF4-FFF2-40B4-BE49-F238E27FC236}">
                  <a16:creationId xmlns:a16="http://schemas.microsoft.com/office/drawing/2014/main" id="{E79646D9-5128-4629-A27E-E0C86172E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00"/>
              <a:ext cx="145" cy="227"/>
            </a:xfrm>
            <a:prstGeom prst="downArrow">
              <a:avLst>
                <a:gd name="adj1" fmla="val 50000"/>
                <a:gd name="adj2" fmla="val 39138"/>
              </a:avLst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894" name="Group 35">
            <a:extLst>
              <a:ext uri="{FF2B5EF4-FFF2-40B4-BE49-F238E27FC236}">
                <a16:creationId xmlns:a16="http://schemas.microsoft.com/office/drawing/2014/main" id="{D366AF7E-DFA0-4EC6-BD25-DEBD08752ECC}"/>
              </a:ext>
            </a:extLst>
          </p:cNvPr>
          <p:cNvGrpSpPr>
            <a:grpSpLocks/>
          </p:cNvGrpSpPr>
          <p:nvPr/>
        </p:nvGrpSpPr>
        <p:grpSpPr bwMode="auto">
          <a:xfrm>
            <a:off x="1830388" y="4946650"/>
            <a:ext cx="3462337" cy="1362075"/>
            <a:chOff x="480" y="2742"/>
            <a:chExt cx="2181" cy="858"/>
          </a:xfrm>
        </p:grpSpPr>
        <p:sp>
          <p:nvSpPr>
            <p:cNvPr id="37895" name="Oval 15">
              <a:extLst>
                <a:ext uri="{FF2B5EF4-FFF2-40B4-BE49-F238E27FC236}">
                  <a16:creationId xmlns:a16="http://schemas.microsoft.com/office/drawing/2014/main" id="{CF03962C-9501-4154-9E4E-C4B7C42E0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742"/>
              <a:ext cx="1200" cy="48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软件开发环境</a:t>
              </a:r>
            </a:p>
          </p:txBody>
        </p:sp>
        <p:sp>
          <p:nvSpPr>
            <p:cNvPr id="37896" name="Oval 16">
              <a:extLst>
                <a:ext uri="{FF2B5EF4-FFF2-40B4-BE49-F238E27FC236}">
                  <a16:creationId xmlns:a16="http://schemas.microsoft.com/office/drawing/2014/main" id="{5C47BAD9-5049-410D-8E43-ACCB8A640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120"/>
              <a:ext cx="1200" cy="48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硬件开发环境</a:t>
              </a:r>
            </a:p>
          </p:txBody>
        </p:sp>
        <p:sp>
          <p:nvSpPr>
            <p:cNvPr id="37897" name="Oval 17">
              <a:extLst>
                <a:ext uri="{FF2B5EF4-FFF2-40B4-BE49-F238E27FC236}">
                  <a16:creationId xmlns:a16="http://schemas.microsoft.com/office/drawing/2014/main" id="{6EE08159-5AA1-4FDD-81D8-75D042CC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1" y="2742"/>
              <a:ext cx="1200" cy="48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软件运行环境</a:t>
              </a:r>
            </a:p>
          </p:txBody>
        </p:sp>
        <p:sp>
          <p:nvSpPr>
            <p:cNvPr id="37898" name="Oval 18">
              <a:extLst>
                <a:ext uri="{FF2B5EF4-FFF2-40B4-BE49-F238E27FC236}">
                  <a16:creationId xmlns:a16="http://schemas.microsoft.com/office/drawing/2014/main" id="{5BD15F9D-DA1B-4032-B832-673801684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1" y="3120"/>
              <a:ext cx="1200" cy="48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硬件运行环境</a:t>
              </a:r>
            </a:p>
          </p:txBody>
        </p:sp>
        <p:sp>
          <p:nvSpPr>
            <p:cNvPr id="37899" name="AutoShape 33">
              <a:extLst>
                <a:ext uri="{FF2B5EF4-FFF2-40B4-BE49-F238E27FC236}">
                  <a16:creationId xmlns:a16="http://schemas.microsoft.com/office/drawing/2014/main" id="{188C95CA-2BA0-48F8-8E6E-1EC3807AF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58"/>
              <a:ext cx="192" cy="227"/>
            </a:xfrm>
            <a:prstGeom prst="upDownArrow">
              <a:avLst>
                <a:gd name="adj1" fmla="val 50000"/>
                <a:gd name="adj2" fmla="val 23646"/>
              </a:avLst>
            </a:prstGeom>
            <a:solidFill>
              <a:schemeClr val="tx2"/>
            </a:solidFill>
            <a:ln w="38100">
              <a:solidFill>
                <a:schemeClr val="bg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00" name="AutoShape 34">
              <a:extLst>
                <a:ext uri="{FF2B5EF4-FFF2-40B4-BE49-F238E27FC236}">
                  <a16:creationId xmlns:a16="http://schemas.microsoft.com/office/drawing/2014/main" id="{940CE7C3-9966-4040-BCD3-E55822FE0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" y="3058"/>
              <a:ext cx="192" cy="227"/>
            </a:xfrm>
            <a:prstGeom prst="upDownArrow">
              <a:avLst>
                <a:gd name="adj1" fmla="val 50000"/>
                <a:gd name="adj2" fmla="val 23646"/>
              </a:avLst>
            </a:prstGeom>
            <a:solidFill>
              <a:schemeClr val="tx2"/>
            </a:solidFill>
            <a:ln w="38100">
              <a:solidFill>
                <a:schemeClr val="bg2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advClick="0" advTm="4709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E3ED71C4-2B5B-4877-AA45-74740A9B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F16D26-FF06-4976-847E-F998454B082E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EF1A653-5D90-4A25-9172-7B0BBC370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686800" cy="2519363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本节介绍程序语言的共性，不依赖于任何一种程序语言，你可以在任何程序语言中找到这些基本要素的影子</a:t>
            </a:r>
          </a:p>
          <a:p>
            <a:pPr marL="285750" indent="-285750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数据的存储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在高级语言中，以变量的形式标记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在可执行程序中，映射变量到地址表位置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在内存储器中，以存储单元存储</a:t>
            </a: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6B0DD22C-A40D-41A8-A563-7D3515241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9941" name="Group 68">
            <a:extLst>
              <a:ext uri="{FF2B5EF4-FFF2-40B4-BE49-F238E27FC236}">
                <a16:creationId xmlns:a16="http://schemas.microsoft.com/office/drawing/2014/main" id="{D52BC91A-F703-4241-8B17-CFD71CF636D2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068638"/>
            <a:ext cx="7848600" cy="3578225"/>
            <a:chOff x="528" y="1612"/>
            <a:chExt cx="4944" cy="2254"/>
          </a:xfrm>
        </p:grpSpPr>
        <p:sp>
          <p:nvSpPr>
            <p:cNvPr id="39943" name="Text Box 43">
              <a:extLst>
                <a:ext uri="{FF2B5EF4-FFF2-40B4-BE49-F238E27FC236}">
                  <a16:creationId xmlns:a16="http://schemas.microsoft.com/office/drawing/2014/main" id="{45B6F250-3CA6-4BD1-B0B1-477C5B1C7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2764"/>
              <a:ext cx="975" cy="179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71</a:t>
              </a:r>
            </a:p>
          </p:txBody>
        </p:sp>
        <p:sp>
          <p:nvSpPr>
            <p:cNvPr id="39944" name="Text Box 44">
              <a:extLst>
                <a:ext uri="{FF2B5EF4-FFF2-40B4-BE49-F238E27FC236}">
                  <a16:creationId xmlns:a16="http://schemas.microsoft.com/office/drawing/2014/main" id="{34A2C0E6-85BD-4146-9044-01F8F0EE9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2586"/>
              <a:ext cx="975" cy="179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5" name="Text Box 45">
              <a:extLst>
                <a:ext uri="{FF2B5EF4-FFF2-40B4-BE49-F238E27FC236}">
                  <a16:creationId xmlns:a16="http://schemas.microsoft.com/office/drawing/2014/main" id="{1AE60977-2DF0-4C31-842C-744BB60A2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2942"/>
              <a:ext cx="975" cy="179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6" name="AutoShape 46">
              <a:extLst>
                <a:ext uri="{FF2B5EF4-FFF2-40B4-BE49-F238E27FC236}">
                  <a16:creationId xmlns:a16="http://schemas.microsoft.com/office/drawing/2014/main" id="{B5DC1FE4-34B3-48B8-B2D2-5EE16F0DF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579"/>
              <a:ext cx="48" cy="576"/>
            </a:xfrm>
            <a:prstGeom prst="rightBrace">
              <a:avLst>
                <a:gd name="adj1" fmla="val 100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7" name="Text Box 47">
              <a:extLst>
                <a:ext uri="{FF2B5EF4-FFF2-40B4-BE49-F238E27FC236}">
                  <a16:creationId xmlns:a16="http://schemas.microsoft.com/office/drawing/2014/main" id="{F62B7B7F-B8F5-4DA5-9901-AEB041F21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4" y="2693"/>
              <a:ext cx="61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8/16/32/64 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bits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存储单元</a:t>
              </a:r>
            </a:p>
          </p:txBody>
        </p:sp>
        <p:sp>
          <p:nvSpPr>
            <p:cNvPr id="39948" name="Text Box 48">
              <a:extLst>
                <a:ext uri="{FF2B5EF4-FFF2-40B4-BE49-F238E27FC236}">
                  <a16:creationId xmlns:a16="http://schemas.microsoft.com/office/drawing/2014/main" id="{8B85AC67-6683-4162-B7A1-C81374BDC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" y="2755"/>
              <a:ext cx="31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grade:</a:t>
              </a:r>
            </a:p>
          </p:txBody>
        </p:sp>
        <p:sp>
          <p:nvSpPr>
            <p:cNvPr id="39949" name="Text Box 49">
              <a:extLst>
                <a:ext uri="{FF2B5EF4-FFF2-40B4-BE49-F238E27FC236}">
                  <a16:creationId xmlns:a16="http://schemas.microsoft.com/office/drawing/2014/main" id="{299D6A08-A2DD-4ACD-BBB1-9FB73F529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7" y="3168"/>
              <a:ext cx="2962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十进制的 71 对应的二进制表示为 1000111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FFAB02 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是存储 71 的存储单元的内存地址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grade 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是存储 71 的存储单元的字符串标识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地址表位置信息 是 在编译、链接时放入可执行程序中的，是相对地址</a:t>
              </a:r>
            </a:p>
          </p:txBody>
        </p:sp>
        <p:sp>
          <p:nvSpPr>
            <p:cNvPr id="39950" name="Text Box 50">
              <a:extLst>
                <a:ext uri="{FF2B5EF4-FFF2-40B4-BE49-F238E27FC236}">
                  <a16:creationId xmlns:a16="http://schemas.microsoft.com/office/drawing/2014/main" id="{643B95CA-F4AD-4165-9660-C2B3BD377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" y="2600"/>
              <a:ext cx="390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FFAB01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FFAB02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FFAB03</a:t>
              </a:r>
            </a:p>
          </p:txBody>
        </p:sp>
        <p:sp>
          <p:nvSpPr>
            <p:cNvPr id="39951" name="Text Box 51">
              <a:extLst>
                <a:ext uri="{FF2B5EF4-FFF2-40B4-BE49-F238E27FC236}">
                  <a16:creationId xmlns:a16="http://schemas.microsoft.com/office/drawing/2014/main" id="{062FEE2D-43C3-4A4B-8118-8C1F41EED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36"/>
              <a:ext cx="861" cy="57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rIns="0" bIns="1188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grade = 71;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</a:t>
              </a:r>
            </a:p>
          </p:txBody>
        </p:sp>
        <p:sp>
          <p:nvSpPr>
            <p:cNvPr id="39952" name="Text Box 52">
              <a:extLst>
                <a:ext uri="{FF2B5EF4-FFF2-40B4-BE49-F238E27FC236}">
                  <a16:creationId xmlns:a16="http://schemas.microsoft.com/office/drawing/2014/main" id="{4A3A62E8-F098-4DF8-95F4-9678D23D7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" y="2044"/>
              <a:ext cx="86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 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语言程序</a:t>
              </a:r>
            </a:p>
          </p:txBody>
        </p:sp>
        <p:sp>
          <p:nvSpPr>
            <p:cNvPr id="39953" name="Text Box 53">
              <a:extLst>
                <a:ext uri="{FF2B5EF4-FFF2-40B4-BE49-F238E27FC236}">
                  <a16:creationId xmlns:a16="http://schemas.microsoft.com/office/drawing/2014/main" id="{EA045E5E-28E4-4360-9A28-2BE1F84CA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1975"/>
              <a:ext cx="975" cy="179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‘grade’  |  FFAB02</a:t>
              </a:r>
            </a:p>
          </p:txBody>
        </p:sp>
        <p:sp>
          <p:nvSpPr>
            <p:cNvPr id="39954" name="Text Box 54">
              <a:extLst>
                <a:ext uri="{FF2B5EF4-FFF2-40B4-BE49-F238E27FC236}">
                  <a16:creationId xmlns:a16="http://schemas.microsoft.com/office/drawing/2014/main" id="{4D1EF68D-3393-4A88-B7F3-C78BBDC07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1797"/>
              <a:ext cx="975" cy="179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5" name="Text Box 55">
              <a:extLst>
                <a:ext uri="{FF2B5EF4-FFF2-40B4-BE49-F238E27FC236}">
                  <a16:creationId xmlns:a16="http://schemas.microsoft.com/office/drawing/2014/main" id="{7274F4FA-D3DF-4678-85DD-5149F7364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2153"/>
              <a:ext cx="975" cy="179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6" name="Text Box 56">
              <a:extLst>
                <a:ext uri="{FF2B5EF4-FFF2-40B4-BE49-F238E27FC236}">
                  <a16:creationId xmlns:a16="http://schemas.microsoft.com/office/drawing/2014/main" id="{B0CCC800-40BD-42D4-ADD4-2A1B85673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7" y="2333"/>
              <a:ext cx="975" cy="254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</a:t>
              </a:r>
            </a:p>
          </p:txBody>
        </p:sp>
        <p:sp>
          <p:nvSpPr>
            <p:cNvPr id="39957" name="Text Box 57">
              <a:extLst>
                <a:ext uri="{FF2B5EF4-FFF2-40B4-BE49-F238E27FC236}">
                  <a16:creationId xmlns:a16="http://schemas.microsoft.com/office/drawing/2014/main" id="{8EF478ED-1D58-4366-BA1F-0DB9284DC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" y="1804"/>
              <a:ext cx="390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DCD04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DCE04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DCF04</a:t>
              </a:r>
            </a:p>
          </p:txBody>
        </p:sp>
        <p:sp>
          <p:nvSpPr>
            <p:cNvPr id="39958" name="AutoShape 58">
              <a:extLst>
                <a:ext uri="{FF2B5EF4-FFF2-40B4-BE49-F238E27FC236}">
                  <a16:creationId xmlns:a16="http://schemas.microsoft.com/office/drawing/2014/main" id="{056D5E3C-DF2A-4F9B-9070-2E5F3A9C6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777"/>
              <a:ext cx="48" cy="576"/>
            </a:xfrm>
            <a:prstGeom prst="rightBrace">
              <a:avLst>
                <a:gd name="adj1" fmla="val 100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9" name="Text Box 59">
              <a:extLst>
                <a:ext uri="{FF2B5EF4-FFF2-40B4-BE49-F238E27FC236}">
                  <a16:creationId xmlns:a16="http://schemas.microsoft.com/office/drawing/2014/main" id="{7E9C6B73-A452-439D-AF8B-566F995F8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4" y="1974"/>
              <a:ext cx="618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 变量地址表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256 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bytes / </a:t>
              </a: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单元</a:t>
              </a:r>
            </a:p>
          </p:txBody>
        </p:sp>
        <p:sp>
          <p:nvSpPr>
            <p:cNvPr id="39960" name="AutoShape 61">
              <a:extLst>
                <a:ext uri="{FF2B5EF4-FFF2-40B4-BE49-F238E27FC236}">
                  <a16:creationId xmlns:a16="http://schemas.microsoft.com/office/drawing/2014/main" id="{257AB334-71F2-4336-912C-D6AC55380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236"/>
              <a:ext cx="1008" cy="576"/>
            </a:xfrm>
            <a:prstGeom prst="flowChartDocumen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可执行程序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（含有地址表位置信息）</a:t>
              </a:r>
            </a:p>
          </p:txBody>
        </p:sp>
        <p:sp>
          <p:nvSpPr>
            <p:cNvPr id="39961" name="AutoShape 62">
              <a:extLst>
                <a:ext uri="{FF2B5EF4-FFF2-40B4-BE49-F238E27FC236}">
                  <a16:creationId xmlns:a16="http://schemas.microsoft.com/office/drawing/2014/main" id="{2ADD11AF-F533-419D-9701-9809425F6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9" y="2434"/>
              <a:ext cx="322" cy="144"/>
            </a:xfrm>
            <a:prstGeom prst="rightArrow">
              <a:avLst>
                <a:gd name="adj1" fmla="val 50000"/>
                <a:gd name="adj2" fmla="val 55903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62" name="Freeform 63">
              <a:extLst>
                <a:ext uri="{FF2B5EF4-FFF2-40B4-BE49-F238E27FC236}">
                  <a16:creationId xmlns:a16="http://schemas.microsoft.com/office/drawing/2014/main" id="{2AA4487F-0594-49AE-A085-DCE22D477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1991"/>
              <a:ext cx="576" cy="677"/>
            </a:xfrm>
            <a:custGeom>
              <a:avLst/>
              <a:gdLst>
                <a:gd name="T0" fmla="*/ 0 w 576"/>
                <a:gd name="T1" fmla="*/ 15931 h 632"/>
                <a:gd name="T2" fmla="*/ 192 w 576"/>
                <a:gd name="T3" fmla="*/ 17472 h 632"/>
                <a:gd name="T4" fmla="*/ 288 w 576"/>
                <a:gd name="T5" fmla="*/ 2503 h 632"/>
                <a:gd name="T6" fmla="*/ 576 w 576"/>
                <a:gd name="T7" fmla="*/ 2503 h 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632"/>
                <a:gd name="T14" fmla="*/ 576 w 576"/>
                <a:gd name="T15" fmla="*/ 632 h 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632">
                  <a:moveTo>
                    <a:pt x="0" y="512"/>
                  </a:moveTo>
                  <a:cubicBezTo>
                    <a:pt x="72" y="572"/>
                    <a:pt x="144" y="632"/>
                    <a:pt x="192" y="560"/>
                  </a:cubicBezTo>
                  <a:cubicBezTo>
                    <a:pt x="240" y="488"/>
                    <a:pt x="224" y="160"/>
                    <a:pt x="288" y="80"/>
                  </a:cubicBezTo>
                  <a:cubicBezTo>
                    <a:pt x="352" y="0"/>
                    <a:pt x="528" y="80"/>
                    <a:pt x="576" y="80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3" name="Text Box 64">
              <a:extLst>
                <a:ext uri="{FF2B5EF4-FFF2-40B4-BE49-F238E27FC236}">
                  <a16:creationId xmlns:a16="http://schemas.microsoft.com/office/drawing/2014/main" id="{60B85FFA-0482-4E25-8CE0-9CE967687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956"/>
              <a:ext cx="72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编译、链接</a:t>
              </a:r>
            </a:p>
          </p:txBody>
        </p:sp>
        <p:sp>
          <p:nvSpPr>
            <p:cNvPr id="39964" name="Text Box 65">
              <a:extLst>
                <a:ext uri="{FF2B5EF4-FFF2-40B4-BE49-F238E27FC236}">
                  <a16:creationId xmlns:a16="http://schemas.microsoft.com/office/drawing/2014/main" id="{49A7B581-D78A-4CE3-9E6C-BD15F621B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3" y="1612"/>
              <a:ext cx="93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内存储器（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memory）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91607E-EDC4-4F01-9F7C-FAE60160751E}"/>
              </a:ext>
            </a:extLst>
          </p:cNvPr>
          <p:cNvSpPr txBox="1"/>
          <p:nvPr/>
        </p:nvSpPr>
        <p:spPr>
          <a:xfrm>
            <a:off x="9612313" y="981075"/>
            <a:ext cx="4824412" cy="1939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/>
              <a:t>如果把程序看做是菜的话，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编程就是种菜，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编译连接以后变成做好的菜，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这时的菜还在锅里（硬盘上），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由操作系统把它放到碗里（内存）。。。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你，就可以吃了（运行）</a:t>
            </a:r>
          </a:p>
        </p:txBody>
      </p:sp>
    </p:spTree>
  </p:cSld>
  <p:clrMapOvr>
    <a:masterClrMapping/>
  </p:clrMapOvr>
  <p:transition advClick="0" advTm="79277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24016ADB-0C07-44E1-AE0B-7E25B8BF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A34E8F-2061-41B3-9877-51C8B0278531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78DF767-6614-4755-B4F4-9DD7C4C5B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000125"/>
            <a:ext cx="8856663" cy="5857875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90000"/>
              </a:lnSpc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变量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变量是用来标识数据，说明数据含义的，在上例中，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grade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标识的数据是数值 71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变量名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，编程人员可自定义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变量作用域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，变量的有效作用范围，变量名在作用域内不能重名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全局变量（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global variable），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在所有程序模块中都有效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局部变量（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local variable），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在单个程序模块中有效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变量的生命周期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life cycle）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变量声明，声明变量为某一数据类型的数据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初始化，给变量一个初始值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使用，赋值，参与各种操作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释放（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release）</a:t>
            </a:r>
          </a:p>
          <a:p>
            <a:pPr marL="285750" indent="-285750">
              <a:lnSpc>
                <a:spcPct val="90000"/>
              </a:lnSpc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常量</a:t>
            </a:r>
            <a:endParaRPr lang="en-US" altLang="zh-CN" sz="28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一个值绑定到一个名字，这个值是不可变的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可参与操作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例如，#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define MAX 30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F767921-3DDC-44DF-84A4-34AC7F0E3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550" name="AutoShape 14">
            <a:extLst>
              <a:ext uri="{FF2B5EF4-FFF2-40B4-BE49-F238E27FC236}">
                <a16:creationId xmlns:a16="http://schemas.microsoft.com/office/drawing/2014/main" id="{1F5B8FE2-359C-4C85-A1C8-16CBD1527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950" y="3235325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51" name="AutoShape 1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78401072-67CF-4A90-BFE0-205B3FA7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450" y="4100513"/>
            <a:ext cx="2051050" cy="1317625"/>
          </a:xfrm>
          <a:prstGeom prst="cloudCallout">
            <a:avLst>
              <a:gd name="adj1" fmla="val 8059"/>
              <a:gd name="adj2" fmla="val -91793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zh-CN" dirty="0"/>
              <a:t>VC++</a:t>
            </a:r>
            <a:r>
              <a:rPr lang="zh-CN" altLang="en-US" dirty="0"/>
              <a:t>中，函数体内的变量和函数体外的变量</a:t>
            </a:r>
            <a:endParaRPr lang="en-US" altLang="zh-CN" dirty="0"/>
          </a:p>
          <a:p>
            <a:pPr algn="ctr">
              <a:defRPr/>
            </a:pPr>
            <a:r>
              <a:rPr lang="en-US" altLang="zh-CN" dirty="0"/>
              <a:t>Csample.cpp</a:t>
            </a:r>
          </a:p>
        </p:txBody>
      </p:sp>
      <p:sp>
        <p:nvSpPr>
          <p:cNvPr id="7" name="爆炸形 1 6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D9FE6D41-2CB4-4FA0-A18E-61C03AC58442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64797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5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550"/>
                  </p:tgtEl>
                </p:cond>
              </p:nextCondLst>
            </p:seq>
          </p:childTnLst>
        </p:cTn>
      </p:par>
    </p:tnLst>
    <p:bldLst>
      <p:bldP spid="65551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35713" objId="65550"/>
      </p14:showEvt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A1DD23B8-1584-44F6-849D-5B7D4730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ADB482-1ADD-492C-9C9D-65E9588B72C7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CE894BF-D550-40A0-A96A-0A5C50B85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713787" cy="5805488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什么是数据类型</a:t>
            </a:r>
          </a:p>
          <a:p>
            <a:pPr marL="862013" lvl="1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程序语言所支持的数据表示形式，一个程序语言所支持的数据类型可有多种</a:t>
            </a:r>
          </a:p>
          <a:p>
            <a:pPr marL="862013" lvl="1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数据类型的定义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，有如下三个方面</a:t>
            </a:r>
          </a:p>
          <a:p>
            <a:pPr marL="1333500" lvl="2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标识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90700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例如，在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语言中，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int-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整数标识，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float-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浮点数，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double-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双精度数，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bool-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布尔型</a:t>
            </a:r>
          </a:p>
          <a:p>
            <a:pPr marL="1333500" lvl="2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值的定义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90700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的值域范围是(-2</a:t>
            </a:r>
            <a:r>
              <a:rPr lang="en-US" altLang="zh-CN" baseline="30000">
                <a:latin typeface="宋体" panose="02010600030101010101" pitchFamily="2" charset="-122"/>
                <a:ea typeface="宋体" panose="02010600030101010101" pitchFamily="2" charset="-122"/>
              </a:rPr>
              <a:t>31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= -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2147483648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to (2</a:t>
            </a:r>
            <a:r>
              <a:rPr lang="en-US" altLang="zh-CN" baseline="30000">
                <a:latin typeface="宋体" panose="02010600030101010101" pitchFamily="2" charset="-122"/>
                <a:ea typeface="宋体" panose="02010600030101010101" pitchFamily="2" charset="-122"/>
              </a:rPr>
              <a:t>31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-1= </a:t>
            </a:r>
            <a:r>
              <a:rPr lang="en-US" altLang="zh-CN">
                <a:ea typeface="宋体" panose="02010600030101010101" pitchFamily="2" charset="-122"/>
              </a:rPr>
              <a:t>2147483647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)，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在存储器里所占的存储空间是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32bits(4 bytes, 1 byte = 8 bits)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的值域范围（</a:t>
            </a:r>
            <a:r>
              <a:rPr lang="en-US" altLang="zh-CN">
                <a:ea typeface="宋体" panose="02010600030101010101" pitchFamily="2" charset="-122"/>
              </a:rPr>
              <a:t>-3.4*10</a:t>
            </a:r>
            <a:r>
              <a:rPr lang="en-US" altLang="zh-CN" baseline="30000">
                <a:ea typeface="宋体" panose="02010600030101010101" pitchFamily="2" charset="-122"/>
              </a:rPr>
              <a:t>38</a:t>
            </a:r>
            <a:r>
              <a:rPr lang="zh-CN" altLang="en-US">
                <a:ea typeface="宋体" panose="02010600030101010101" pitchFamily="2" charset="-122"/>
              </a:rPr>
              <a:t>～</a:t>
            </a:r>
            <a:r>
              <a:rPr lang="en-US" altLang="zh-CN">
                <a:ea typeface="宋体" panose="02010600030101010101" pitchFamily="2" charset="-122"/>
              </a:rPr>
              <a:t>3.4*10</a:t>
            </a:r>
            <a:r>
              <a:rPr lang="en-US" altLang="zh-CN" baseline="30000">
                <a:ea typeface="宋体" panose="02010600030101010101" pitchFamily="2" charset="-122"/>
              </a:rPr>
              <a:t>38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zh-CN" altLang="en-US">
                <a:ea typeface="宋体" panose="02010600030101010101" pitchFamily="2" charset="-122"/>
              </a:rPr>
              <a:t>，占用存储空间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32bits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，有效数字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6-7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操作的定义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90700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例如，加(+)、减(-)、乘(*)、除(/)等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90700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还有一些函数，例如，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sqrt(x)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pow(3,2)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35083A3-CB78-4F9F-832C-5C0C519A5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爆炸形 1 3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466302E7-5F9D-41BE-B838-23E1F4B14E5F}"/>
              </a:ext>
            </a:extLst>
          </p:cNvPr>
          <p:cNvSpPr/>
          <p:nvPr/>
        </p:nvSpPr>
        <p:spPr bwMode="auto">
          <a:xfrm>
            <a:off x="8820150" y="909638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54305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714E4E69-D68F-4803-89BE-A83E8274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AB66F8-FDCA-4BA8-9B28-D1687035E68F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D871AC8-9910-447C-AD4B-B75F38F76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534400" cy="5688013"/>
          </a:xfrm>
        </p:spPr>
        <p:txBody>
          <a:bodyPr/>
          <a:lstStyle/>
          <a:p>
            <a:pPr marL="285750" indent="-2857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什么是数据类型</a:t>
            </a:r>
          </a:p>
          <a:p>
            <a:pPr marL="862013" lvl="1"/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简单（基本）数据类型</a:t>
            </a:r>
          </a:p>
          <a:p>
            <a:pPr marL="1333500" lvl="2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整数（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Integer），71，256</a:t>
            </a:r>
          </a:p>
          <a:p>
            <a:pPr marL="1333500" lvl="2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实型（浮点型，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Floating-Point Real Number），3.141592654</a:t>
            </a:r>
          </a:p>
          <a:p>
            <a:pPr marL="1333500" lvl="2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字符型（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Char），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‘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A’，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一般习惯用单引号</a:t>
            </a:r>
          </a:p>
          <a:p>
            <a:pPr marL="1333500" lvl="2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字符串（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String），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NEU”，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一般习惯用双引号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布尔型（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Boolean），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只有两个值：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True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False</a:t>
            </a:r>
          </a:p>
          <a:p>
            <a:pPr marL="1333500" lvl="2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枚举型（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Enumeration），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enum EmployeeSex { Male, Female };</a:t>
            </a:r>
            <a:r>
              <a:rPr lang="zh-CN" altLang="en-US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枚举类型把一组变量定义为整数常量，使代码清晰易读。用好了很方便。</a:t>
            </a:r>
            <a:endParaRPr lang="en-US" altLang="zh-CN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其它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FBD52B4-A5DB-49EA-BB5A-1C0E25284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C8097CD3-B2BE-420B-850A-8D2C4D779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700213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utoShape 13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4B974CE4-706A-42AE-A38F-EC7C3F38F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49275"/>
            <a:ext cx="2305050" cy="1639888"/>
          </a:xfrm>
          <a:prstGeom prst="cloudCallout">
            <a:avLst>
              <a:gd name="adj1" fmla="val -95622"/>
              <a:gd name="adj2" fmla="val 24609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zh-CN" altLang="en-US" dirty="0"/>
              <a:t>这些基本数据类型，几乎任何语言都有，无非是在不同的语言中标识符不一样而已。</a:t>
            </a:r>
          </a:p>
        </p:txBody>
      </p:sp>
      <p:sp>
        <p:nvSpPr>
          <p:cNvPr id="9" name="爆炸形 1 8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9313F70C-6962-4B53-9344-0C42720F82D2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55274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5606" objId="6"/>
        <p14:triggerEvt type="onClick" time="47306" objId="6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1667E1FB-AA6F-4DA3-8810-FD6C5DD7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86E27E-B2D3-4571-A9B6-DD754979636E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3203CC8-FFD5-4F0F-AD20-E26CC46C5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964612" cy="5616575"/>
          </a:xfrm>
        </p:spPr>
        <p:txBody>
          <a:bodyPr/>
          <a:lstStyle/>
          <a:p>
            <a:pPr marL="285750" indent="-285750">
              <a:defRPr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什么是数据类型</a:t>
            </a:r>
          </a:p>
          <a:p>
            <a:pPr marL="862013" lvl="1"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结构化数据类型</a:t>
            </a:r>
          </a:p>
          <a:p>
            <a:pPr marL="1333500" lvl="2">
              <a:defRPr/>
            </a:pP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（向量，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Array，Vector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），</a:t>
            </a:r>
            <a:r>
              <a:rPr lang="zh-CN" altLang="en-US" sz="20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数据类型“相同”的一组数据元素（</a:t>
            </a:r>
            <a:r>
              <a:rPr lang="en-US" altLang="zh-CN" sz="20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element）</a:t>
            </a:r>
            <a:r>
              <a:rPr lang="zh-CN" altLang="en-US" sz="20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的集合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，例如，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语言中，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char name[20]</a:t>
            </a:r>
          </a:p>
          <a:p>
            <a:pPr marL="1806575" lvl="3">
              <a:defRPr/>
            </a:pPr>
            <a:r>
              <a:rPr lang="zh-CN" altLang="en-US" sz="1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数组中数据元素的数目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，称为 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数组长度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length）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或 数组大小（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size）</a:t>
            </a:r>
          </a:p>
          <a:p>
            <a:pPr marL="1806575" lvl="3">
              <a:defRPr/>
            </a:pPr>
            <a:r>
              <a:rPr lang="zh-CN" altLang="en-US" sz="1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一般数组长度是固定的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fixed），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有些程序语言允许可变长的数组</a:t>
            </a:r>
          </a:p>
          <a:p>
            <a:pPr marL="1806575" lvl="3"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一个数据元素在数组中所处的位置，称为 </a:t>
            </a:r>
            <a:r>
              <a:rPr lang="zh-CN" altLang="en-US" sz="1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元素标号 或 元素索引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index）</a:t>
            </a:r>
          </a:p>
          <a:p>
            <a:pPr marL="1806575" lvl="3">
              <a:defRPr/>
            </a:pPr>
            <a:r>
              <a:rPr lang="zh-CN" altLang="en-US" sz="1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标号的计算方法</a:t>
            </a:r>
          </a:p>
          <a:p>
            <a:pPr marL="2289175" lvl="4"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有的程序语言的数组标号从 0 算起，例如，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语言中，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char name[20]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name[0]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name[19]</a:t>
            </a:r>
          </a:p>
          <a:p>
            <a:pPr marL="2289175" lvl="4"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有的程序语言的数组标号从 1 算起，从 [1] 到 [20]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>
              <a:defRPr/>
            </a:pPr>
            <a:r>
              <a:rPr lang="zh-CN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还有的语言，分配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</a:t>
            </a:r>
            <a:r>
              <a:rPr lang="zh-CN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个存储单元，从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、从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算起，都不会出错</a:t>
            </a:r>
          </a:p>
          <a:p>
            <a:pPr marL="1806575" lvl="3">
              <a:defRPr/>
            </a:pPr>
            <a:r>
              <a:rPr lang="zh-CN" altLang="en-US" sz="1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数组元素的引用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，数组名[标号]，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name[8]</a:t>
            </a:r>
          </a:p>
          <a:p>
            <a:pPr marL="1806575" lvl="3">
              <a:defRPr/>
            </a:pPr>
            <a:r>
              <a:rPr lang="zh-CN" altLang="en-US" sz="18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使用操作时，速度比较快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1F01CB9-86E3-418F-97AA-3E97604E8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DEF06D06-510A-49E1-A6DA-E08FD7F2A977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66594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393BECD5-9CF4-4012-9DDF-3F823018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A80531-2702-4CDC-B60A-8639D97E9FA6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705966B-42A9-472F-8AEB-6005229BC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964612" cy="5327650"/>
          </a:xfrm>
        </p:spPr>
        <p:txBody>
          <a:bodyPr/>
          <a:lstStyle/>
          <a:p>
            <a:pPr marL="285750" indent="-285750"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什么是数据类型</a:t>
            </a:r>
          </a:p>
          <a:p>
            <a:pPr marL="862013" lvl="1"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结构化数据类型</a:t>
            </a:r>
          </a:p>
          <a:p>
            <a:pPr marL="1333500" lvl="2">
              <a:defRPr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结构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Structure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记录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，Record），</a:t>
            </a:r>
            <a:r>
              <a:rPr lang="zh-CN" altLang="en-US" sz="2000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数据类型可以是“不同”的一组数据项（</a:t>
            </a:r>
            <a:r>
              <a:rPr lang="en-US" altLang="zh-CN" sz="2000" dirty="0" err="1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item，component</a:t>
            </a:r>
            <a:r>
              <a:rPr lang="en-US" altLang="zh-CN" sz="2000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）</a:t>
            </a:r>
            <a:r>
              <a:rPr lang="zh-CN" altLang="en-US" sz="2000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的集合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，例如，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C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语言中，一个结构可定义如下：</a:t>
            </a:r>
          </a:p>
          <a:p>
            <a:pPr marL="1806575" lvl="3">
              <a:buFontTx/>
              <a:buNone/>
              <a:defRPr/>
            </a:pP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struct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EmployeeType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{</a:t>
            </a:r>
          </a:p>
          <a:p>
            <a:pPr marL="1806575" lvl="3">
              <a:buFontTx/>
              <a:buNone/>
              <a:defRPr/>
            </a:pP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   char name[20];</a:t>
            </a:r>
          </a:p>
          <a:p>
            <a:pPr marL="1806575" lvl="3">
              <a:buFontTx/>
              <a:buNone/>
              <a:defRPr/>
            </a:pP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Age;</a:t>
            </a:r>
          </a:p>
          <a:p>
            <a:pPr marL="1806575" lvl="3">
              <a:buFontTx/>
              <a:buNone/>
              <a:defRPr/>
            </a:pP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   char Dept[20];</a:t>
            </a:r>
          </a:p>
          <a:p>
            <a:pPr marL="1806575" lvl="3">
              <a:buFontTx/>
              <a:buNone/>
              <a:defRPr/>
            </a:pP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} Employee;</a:t>
            </a:r>
          </a:p>
          <a:p>
            <a:pPr marL="1806575" lvl="3">
              <a:buFontTx/>
              <a:buNone/>
              <a:defRPr/>
            </a:pP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struct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EmployeeType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emp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marL="1806575" lvl="3"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结构中，数据项的数据类型可以不同</a:t>
            </a:r>
          </a:p>
          <a:p>
            <a:pPr marL="1806575" lvl="3">
              <a:defRPr/>
            </a:pPr>
            <a:r>
              <a:rPr lang="zh-CN" altLang="en-US" sz="1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数据项的引用，结构名.数据项名，</a:t>
            </a:r>
            <a:r>
              <a:rPr lang="en-US" altLang="zh-CN" sz="1800" dirty="0" err="1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emp.Age</a:t>
            </a:r>
            <a:endParaRPr lang="en-US" altLang="zh-CN" sz="1800" dirty="0">
              <a:solidFill>
                <a:schemeClr val="tx2"/>
              </a:solidFill>
              <a:latin typeface="宋体" pitchFamily="2" charset="-122"/>
              <a:ea typeface="宋体" pitchFamily="2" charset="-122"/>
            </a:endParaRPr>
          </a:p>
          <a:p>
            <a:pPr marL="1806575" lvl="3"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使用操作时，速度比数组稍慢一点，但</a:t>
            </a:r>
            <a:r>
              <a:rPr lang="zh-CN" altLang="en-US" sz="1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比数组元素的含义更明了</a:t>
            </a:r>
          </a:p>
          <a:p>
            <a:pPr marL="1806575" lvl="3">
              <a:buFontTx/>
              <a:buNone/>
              <a:defRPr/>
            </a:pPr>
            <a:endParaRPr lang="en-US" altLang="zh-CN" sz="18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2F66D108-3FC5-42A1-9195-00DC34269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14A92533-CA87-4238-9372-7094B25329D6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39720"/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1817262C-F0FC-4AEE-9586-45AD3A30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6D3DAA-25BC-4475-A7A4-D3255D750493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9BCCDFC-187F-458B-9AD5-3E02F7AD8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534400" cy="5616575"/>
          </a:xfrm>
        </p:spPr>
        <p:txBody>
          <a:bodyPr/>
          <a:lstStyle/>
          <a:p>
            <a:pPr marL="285750" indent="-285750"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什么是数据类型</a:t>
            </a:r>
          </a:p>
          <a:p>
            <a:pPr marL="862013" lvl="1"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结构化数据类型</a:t>
            </a:r>
          </a:p>
          <a:p>
            <a:pPr marL="1333500" lvl="2">
              <a:defRPr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结构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Structure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，记录，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Record）</a:t>
            </a:r>
            <a:endParaRPr lang="zh-CN" altLang="en-US" sz="2000" dirty="0">
              <a:latin typeface="宋体" pitchFamily="2" charset="-122"/>
              <a:ea typeface="宋体" pitchFamily="2" charset="-122"/>
            </a:endParaRPr>
          </a:p>
          <a:p>
            <a:pPr marL="1806575" lvl="3"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一个结构中可以包含另外一个结构，即，结构定义是</a:t>
            </a:r>
            <a:r>
              <a:rPr lang="zh-CN" altLang="en-US" sz="1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可嵌套的</a:t>
            </a:r>
          </a:p>
          <a:p>
            <a:pPr marL="2289175" lvl="4">
              <a:buFontTx/>
              <a:buNone/>
              <a:defRPr/>
            </a:pP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struct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NameType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{</a:t>
            </a:r>
          </a:p>
          <a:p>
            <a:pPr marL="2289175" lvl="4"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char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firstName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[10];</a:t>
            </a:r>
          </a:p>
          <a:p>
            <a:pPr marL="2289175" lvl="4"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char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lastName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[10];</a:t>
            </a:r>
          </a:p>
          <a:p>
            <a:pPr marL="2289175" lvl="4">
              <a:buFontTx/>
              <a:buNone/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}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Name;</a:t>
            </a:r>
          </a:p>
          <a:p>
            <a:pPr marL="2289175" lvl="4">
              <a:buFontTx/>
              <a:buNone/>
              <a:defRPr/>
            </a:pP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struct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EmployeeType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{</a:t>
            </a:r>
          </a:p>
          <a:p>
            <a:pPr marL="2289175" lvl="4"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struct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NameType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 name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</a:t>
            </a:r>
          </a:p>
          <a:p>
            <a:pPr marL="2289175" lvl="4"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Age;</a:t>
            </a:r>
          </a:p>
          <a:p>
            <a:pPr marL="2289175" lvl="4">
              <a:buFontTx/>
              <a:buNone/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} </a:t>
            </a:r>
            <a:r>
              <a:rPr lang="en-US" altLang="zh-CN" sz="1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Employee[20]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</a:t>
            </a:r>
          </a:p>
          <a:p>
            <a:pPr marL="862013" lvl="1">
              <a:defRPr/>
            </a:pPr>
            <a:endParaRPr lang="en-US" altLang="zh-CN" sz="1800" dirty="0">
              <a:solidFill>
                <a:schemeClr val="tx2"/>
              </a:solidFill>
              <a:latin typeface="宋体" pitchFamily="2" charset="-122"/>
              <a:ea typeface="宋体" pitchFamily="2" charset="-122"/>
            </a:endParaRPr>
          </a:p>
          <a:p>
            <a:pPr marL="862013" lvl="1"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数组元素的数据类型 可以为“结构”；结构中数据项也可定义为“数组”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E95CB10-2101-4FFE-853D-57476E4ED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2" action="ppaction://hlinkpres?slideindex=1&amp;slidetitle="/>
            <a:extLst>
              <a:ext uri="{FF2B5EF4-FFF2-40B4-BE49-F238E27FC236}">
                <a16:creationId xmlns:a16="http://schemas.microsoft.com/office/drawing/2014/main" id="{2B4898A8-9D73-4967-A901-A3B1E045E324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29713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E316C98D-3269-4942-9246-992F3BA5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7541BD-715E-4133-835E-7B96CE8836EA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F3D3AC46-8CF9-47D6-AA16-EF3F22F77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670925" cy="1727200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什么是数据类型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指针型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Pointer，Access），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一种特殊、重要的数据类型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几乎所有的数据类型都有相应的指针型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指针的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效率高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，使用它有助于提高程序执行速度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使用时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容易出错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，而且查错和纠错很难，不到万不得已，尽量少用指针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26493AF8-2B62-47F8-B4B7-4EFDE0D74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3253" name="组合 34">
            <a:extLst>
              <a:ext uri="{FF2B5EF4-FFF2-40B4-BE49-F238E27FC236}">
                <a16:creationId xmlns:a16="http://schemas.microsoft.com/office/drawing/2014/main" id="{F350D0B3-2012-452B-8995-15C6D54B4634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781300"/>
            <a:ext cx="8964612" cy="3333750"/>
            <a:chOff x="179388" y="3068638"/>
            <a:chExt cx="8964612" cy="3333751"/>
          </a:xfrm>
        </p:grpSpPr>
        <p:sp>
          <p:nvSpPr>
            <p:cNvPr id="53256" name="Text Box 5">
              <a:extLst>
                <a:ext uri="{FF2B5EF4-FFF2-40B4-BE49-F238E27FC236}">
                  <a16:creationId xmlns:a16="http://schemas.microsoft.com/office/drawing/2014/main" id="{42F7421C-6704-4B1D-988F-37DC17162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4897438"/>
              <a:ext cx="1717865" cy="28416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53257" name="Text Box 6">
              <a:extLst>
                <a:ext uri="{FF2B5EF4-FFF2-40B4-BE49-F238E27FC236}">
                  <a16:creationId xmlns:a16="http://schemas.microsoft.com/office/drawing/2014/main" id="{33EA81BC-5BD5-410E-A95A-42A31D1793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4614863"/>
              <a:ext cx="1717865" cy="28416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58" name="Text Box 7">
              <a:extLst>
                <a:ext uri="{FF2B5EF4-FFF2-40B4-BE49-F238E27FC236}">
                  <a16:creationId xmlns:a16="http://schemas.microsoft.com/office/drawing/2014/main" id="{239C3040-C9C5-4713-90D4-4A5CE3804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5180013"/>
              <a:ext cx="1717865" cy="28416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59" name="AutoShape 8">
              <a:extLst>
                <a:ext uri="{FF2B5EF4-FFF2-40B4-BE49-F238E27FC236}">
                  <a16:creationId xmlns:a16="http://schemas.microsoft.com/office/drawing/2014/main" id="{5C2E4E29-79E6-48EA-B8DB-00906F8A8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51" y="4603751"/>
              <a:ext cx="84572" cy="914400"/>
            </a:xfrm>
            <a:prstGeom prst="rightBrace">
              <a:avLst>
                <a:gd name="adj1" fmla="val 10001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0" name="Text Box 9">
              <a:extLst>
                <a:ext uri="{FF2B5EF4-FFF2-40B4-BE49-F238E27FC236}">
                  <a16:creationId xmlns:a16="http://schemas.microsoft.com/office/drawing/2014/main" id="{D952FCE0-3732-4431-85A3-565B247FD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0566" y="4784726"/>
              <a:ext cx="1088862" cy="83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8/16/32/64 </a:t>
              </a: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bits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存储单元</a:t>
              </a:r>
            </a:p>
          </p:txBody>
        </p:sp>
        <p:sp>
          <p:nvSpPr>
            <p:cNvPr id="53261" name="Text Box 10">
              <a:extLst>
                <a:ext uri="{FF2B5EF4-FFF2-40B4-BE49-F238E27FC236}">
                  <a16:creationId xmlns:a16="http://schemas.microsoft.com/office/drawing/2014/main" id="{9B1D5C49-F509-44F4-AA72-FFAD08DB2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7599" y="4883151"/>
              <a:ext cx="558526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grade:</a:t>
              </a:r>
            </a:p>
          </p:txBody>
        </p:sp>
        <p:sp>
          <p:nvSpPr>
            <p:cNvPr id="53262" name="Text Box 12">
              <a:extLst>
                <a:ext uri="{FF2B5EF4-FFF2-40B4-BE49-F238E27FC236}">
                  <a16:creationId xmlns:a16="http://schemas.microsoft.com/office/drawing/2014/main" id="{6CBCE43C-31C7-4F7F-9F2D-A0B2F042A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467" y="4572001"/>
              <a:ext cx="687146" cy="942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FFAB01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FFAB02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FFAB03</a:t>
              </a:r>
            </a:p>
          </p:txBody>
        </p:sp>
        <p:sp>
          <p:nvSpPr>
            <p:cNvPr id="53263" name="Text Box 13">
              <a:extLst>
                <a:ext uri="{FF2B5EF4-FFF2-40B4-BE49-F238E27FC236}">
                  <a16:creationId xmlns:a16="http://schemas.microsoft.com/office/drawing/2014/main" id="{E6B5BAC9-DC6E-4BB6-B5B2-28C11B1A0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388" y="3448051"/>
              <a:ext cx="1686150" cy="23622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rIns="0" bIns="1188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int grade;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int *p;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grade = 71;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grade = grade + 1;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p = &amp;grade;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*p = *p + 2;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</a:t>
              </a:r>
            </a:p>
          </p:txBody>
        </p:sp>
        <p:sp>
          <p:nvSpPr>
            <p:cNvPr id="53264" name="Text Box 14">
              <a:extLst>
                <a:ext uri="{FF2B5EF4-FFF2-40B4-BE49-F238E27FC236}">
                  <a16:creationId xmlns:a16="http://schemas.microsoft.com/office/drawing/2014/main" id="{84A84C33-F840-42C6-8CB4-1E37672C6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626" y="3143251"/>
              <a:ext cx="151700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C </a:t>
              </a: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语言程序</a:t>
              </a:r>
            </a:p>
          </p:txBody>
        </p:sp>
        <p:sp>
          <p:nvSpPr>
            <p:cNvPr id="53265" name="Text Box 15">
              <a:extLst>
                <a:ext uri="{FF2B5EF4-FFF2-40B4-BE49-F238E27FC236}">
                  <a16:creationId xmlns:a16="http://schemas.microsoft.com/office/drawing/2014/main" id="{4A118620-57D1-40A0-953B-4C3BBE6F1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3644901"/>
              <a:ext cx="1717865" cy="28416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‘grade’  |  FFAB02</a:t>
              </a:r>
            </a:p>
          </p:txBody>
        </p:sp>
        <p:sp>
          <p:nvSpPr>
            <p:cNvPr id="53266" name="Text Box 16">
              <a:extLst>
                <a:ext uri="{FF2B5EF4-FFF2-40B4-BE49-F238E27FC236}">
                  <a16:creationId xmlns:a16="http://schemas.microsoft.com/office/drawing/2014/main" id="{4EDE8D5A-D85D-48F4-A84F-0012471AA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3362326"/>
              <a:ext cx="1717865" cy="28416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7" name="Text Box 17">
              <a:extLst>
                <a:ext uri="{FF2B5EF4-FFF2-40B4-BE49-F238E27FC236}">
                  <a16:creationId xmlns:a16="http://schemas.microsoft.com/office/drawing/2014/main" id="{C0FED956-1111-4E53-B68D-F40E9607A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3927476"/>
              <a:ext cx="1717865" cy="28416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8" name="Text Box 18">
              <a:extLst>
                <a:ext uri="{FF2B5EF4-FFF2-40B4-BE49-F238E27FC236}">
                  <a16:creationId xmlns:a16="http://schemas.microsoft.com/office/drawing/2014/main" id="{C24B4458-E519-4400-AB9D-A50FBE99B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125" y="4213226"/>
              <a:ext cx="1717865" cy="403225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</a:t>
              </a:r>
            </a:p>
          </p:txBody>
        </p:sp>
        <p:sp>
          <p:nvSpPr>
            <p:cNvPr id="53269" name="Text Box 19">
              <a:extLst>
                <a:ext uri="{FF2B5EF4-FFF2-40B4-BE49-F238E27FC236}">
                  <a16:creationId xmlns:a16="http://schemas.microsoft.com/office/drawing/2014/main" id="{DBBF4EB4-A6B6-4F70-910F-5EAD8B633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467" y="3357563"/>
              <a:ext cx="687146" cy="942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DCD04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DCE04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DCF04</a:t>
              </a:r>
            </a:p>
          </p:txBody>
        </p:sp>
        <p:sp>
          <p:nvSpPr>
            <p:cNvPr id="53270" name="AutoShape 20">
              <a:extLst>
                <a:ext uri="{FF2B5EF4-FFF2-40B4-BE49-F238E27FC236}">
                  <a16:creationId xmlns:a16="http://schemas.microsoft.com/office/drawing/2014/main" id="{153E17BD-DA2D-456C-9172-8CB72269F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51" y="3330576"/>
              <a:ext cx="84572" cy="914400"/>
            </a:xfrm>
            <a:prstGeom prst="rightBrace">
              <a:avLst>
                <a:gd name="adj1" fmla="val 10001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71" name="Text Box 21">
              <a:extLst>
                <a:ext uri="{FF2B5EF4-FFF2-40B4-BE49-F238E27FC236}">
                  <a16:creationId xmlns:a16="http://schemas.microsoft.com/office/drawing/2014/main" id="{B6B3FAD6-A2DC-4E8B-B146-B871B03BD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7756" y="3643313"/>
              <a:ext cx="1256244" cy="630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 变量地址表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256 </a:t>
              </a: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bytes /</a:t>
              </a: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单元</a:t>
              </a:r>
            </a:p>
          </p:txBody>
        </p:sp>
        <p:sp>
          <p:nvSpPr>
            <p:cNvPr id="53272" name="AutoShape 22">
              <a:extLst>
                <a:ext uri="{FF2B5EF4-FFF2-40B4-BE49-F238E27FC236}">
                  <a16:creationId xmlns:a16="http://schemas.microsoft.com/office/drawing/2014/main" id="{6109D9E4-821C-45C9-B5A5-C86EBEB6E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2827" y="4059238"/>
              <a:ext cx="1776008" cy="914400"/>
            </a:xfrm>
            <a:prstGeom prst="flowChartDocumen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可执行程序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（含有地址表位置信息）</a:t>
              </a:r>
            </a:p>
          </p:txBody>
        </p:sp>
        <p:sp>
          <p:nvSpPr>
            <p:cNvPr id="53273" name="AutoShape 23">
              <a:extLst>
                <a:ext uri="{FF2B5EF4-FFF2-40B4-BE49-F238E27FC236}">
                  <a16:creationId xmlns:a16="http://schemas.microsoft.com/office/drawing/2014/main" id="{A43E1E21-471E-4AEF-9696-5ABCD04A4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3158" y="4373563"/>
              <a:ext cx="567336" cy="228600"/>
            </a:xfrm>
            <a:prstGeom prst="rightArrow">
              <a:avLst>
                <a:gd name="adj1" fmla="val 50000"/>
                <a:gd name="adj2" fmla="val 55898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74" name="Freeform 24">
              <a:extLst>
                <a:ext uri="{FF2B5EF4-FFF2-40B4-BE49-F238E27FC236}">
                  <a16:creationId xmlns:a16="http://schemas.microsoft.com/office/drawing/2014/main" id="{F1F132F1-221A-4ACB-9CD5-DD4DD0D2D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835" y="3670301"/>
              <a:ext cx="1014862" cy="1074738"/>
            </a:xfrm>
            <a:custGeom>
              <a:avLst/>
              <a:gdLst>
                <a:gd name="T0" fmla="*/ 0 w 576"/>
                <a:gd name="T1" fmla="*/ 2147483646 h 632"/>
                <a:gd name="T2" fmla="*/ 2147483646 w 576"/>
                <a:gd name="T3" fmla="*/ 2147483646 h 632"/>
                <a:gd name="T4" fmla="*/ 2147483646 w 576"/>
                <a:gd name="T5" fmla="*/ 2147483646 h 632"/>
                <a:gd name="T6" fmla="*/ 2147483646 w 576"/>
                <a:gd name="T7" fmla="*/ 2147483646 h 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632"/>
                <a:gd name="T14" fmla="*/ 576 w 576"/>
                <a:gd name="T15" fmla="*/ 632 h 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632">
                  <a:moveTo>
                    <a:pt x="0" y="512"/>
                  </a:moveTo>
                  <a:cubicBezTo>
                    <a:pt x="72" y="572"/>
                    <a:pt x="144" y="632"/>
                    <a:pt x="192" y="560"/>
                  </a:cubicBezTo>
                  <a:cubicBezTo>
                    <a:pt x="240" y="488"/>
                    <a:pt x="224" y="160"/>
                    <a:pt x="288" y="80"/>
                  </a:cubicBezTo>
                  <a:cubicBezTo>
                    <a:pt x="352" y="0"/>
                    <a:pt x="528" y="80"/>
                    <a:pt x="576" y="80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5" name="Text Box 25">
              <a:extLst>
                <a:ext uri="{FF2B5EF4-FFF2-40B4-BE49-F238E27FC236}">
                  <a16:creationId xmlns:a16="http://schemas.microsoft.com/office/drawing/2014/main" id="{53E773E8-35F0-49E3-A81B-8F8B1D04B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8396" y="4568826"/>
              <a:ext cx="445764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编译链接</a:t>
              </a:r>
            </a:p>
          </p:txBody>
        </p:sp>
        <p:sp>
          <p:nvSpPr>
            <p:cNvPr id="53276" name="Text Box 26">
              <a:extLst>
                <a:ext uri="{FF2B5EF4-FFF2-40B4-BE49-F238E27FC236}">
                  <a16:creationId xmlns:a16="http://schemas.microsoft.com/office/drawing/2014/main" id="{51A0A0E5-BF9D-404A-9701-8343AFE48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5935" y="3068638"/>
              <a:ext cx="1654436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内存储器（</a:t>
              </a: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memory</a:t>
              </a: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53277" name="Text Box 27">
              <a:extLst>
                <a:ext uri="{FF2B5EF4-FFF2-40B4-BE49-F238E27FC236}">
                  <a16:creationId xmlns:a16="http://schemas.microsoft.com/office/drawing/2014/main" id="{9B650451-83D1-4F90-8ED5-CD308EED4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5461001"/>
              <a:ext cx="1717865" cy="403225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</a:t>
              </a:r>
            </a:p>
          </p:txBody>
        </p:sp>
        <p:sp>
          <p:nvSpPr>
            <p:cNvPr id="53278" name="Text Box 28">
              <a:extLst>
                <a:ext uri="{FF2B5EF4-FFF2-40B4-BE49-F238E27FC236}">
                  <a16:creationId xmlns:a16="http://schemas.microsoft.com/office/drawing/2014/main" id="{0ED0332B-2751-43E2-9BBE-E98CD1553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363" y="5864226"/>
              <a:ext cx="1717865" cy="28416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FFAB02</a:t>
              </a:r>
            </a:p>
          </p:txBody>
        </p:sp>
        <p:sp>
          <p:nvSpPr>
            <p:cNvPr id="53279" name="Text Box 29">
              <a:extLst>
                <a:ext uri="{FF2B5EF4-FFF2-40B4-BE49-F238E27FC236}">
                  <a16:creationId xmlns:a16="http://schemas.microsoft.com/office/drawing/2014/main" id="{F334688D-C214-4585-9C5C-E3BCAE016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7599" y="5875338"/>
              <a:ext cx="558526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p:</a:t>
              </a:r>
            </a:p>
          </p:txBody>
        </p:sp>
        <p:sp>
          <p:nvSpPr>
            <p:cNvPr id="53280" name="Text Box 30">
              <a:extLst>
                <a:ext uri="{FF2B5EF4-FFF2-40B4-BE49-F238E27FC236}">
                  <a16:creationId xmlns:a16="http://schemas.microsoft.com/office/drawing/2014/main" id="{F7E01AE6-6F21-466D-B9F4-4F685864B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0851" y="5886451"/>
              <a:ext cx="1353149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32 </a:t>
              </a: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bits</a:t>
              </a: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存储单元</a:t>
              </a:r>
            </a:p>
          </p:txBody>
        </p:sp>
        <p:sp>
          <p:nvSpPr>
            <p:cNvPr id="53281" name="Text Box 31">
              <a:extLst>
                <a:ext uri="{FF2B5EF4-FFF2-40B4-BE49-F238E27FC236}">
                  <a16:creationId xmlns:a16="http://schemas.microsoft.com/office/drawing/2014/main" id="{17C3A19F-21AF-47C1-8455-BDC073031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467" y="5876926"/>
              <a:ext cx="687146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FFAF36</a:t>
              </a:r>
            </a:p>
          </p:txBody>
        </p:sp>
        <p:sp>
          <p:nvSpPr>
            <p:cNvPr id="53282" name="Text Box 33">
              <a:extLst>
                <a:ext uri="{FF2B5EF4-FFF2-40B4-BE49-F238E27FC236}">
                  <a16:creationId xmlns:a16="http://schemas.microsoft.com/office/drawing/2014/main" id="{9A5C2292-B565-4A10-A058-2B5E37FAF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8255" y="5124451"/>
              <a:ext cx="2368011" cy="127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*p = *p + 2; </a:t>
              </a: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相当于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*(FFAB02) =*(FFAB02)+2;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*p = *(p+2); </a:t>
              </a: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相当于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*(FFAB02) = *(FFAB04);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83" name="TextBox 33">
              <a:extLst>
                <a:ext uri="{FF2B5EF4-FFF2-40B4-BE49-F238E27FC236}">
                  <a16:creationId xmlns:a16="http://schemas.microsoft.com/office/drawing/2014/main" id="{F1B7F77A-C5A4-4459-B670-675EE1777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286" y="3915418"/>
              <a:ext cx="136665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‘p’     |  FFAF36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3254" name="TextBox 33">
            <a:extLst>
              <a:ext uri="{FF2B5EF4-FFF2-40B4-BE49-F238E27FC236}">
                <a16:creationId xmlns:a16="http://schemas.microsoft.com/office/drawing/2014/main" id="{482CBA17-243F-46BC-AE0B-DEC549F9F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092825"/>
            <a:ext cx="5832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int *p;  </a:t>
            </a:r>
            <a:r>
              <a:rPr lang="en-US" altLang="zh-CN" sz="1800">
                <a:solidFill>
                  <a:srgbClr val="0000CC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</a:rPr>
              <a:t>是一个指针型变量，</a:t>
            </a:r>
            <a:r>
              <a:rPr lang="en-US" altLang="zh-CN" sz="1800">
                <a:solidFill>
                  <a:srgbClr val="0000CC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</a:rPr>
              <a:t>的“值”是一个“地址”，在“地址”中保存的“值”是一个“整数”</a:t>
            </a:r>
          </a:p>
        </p:txBody>
      </p:sp>
      <p:sp>
        <p:nvSpPr>
          <p:cNvPr id="35" name="爆炸形 1 3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2589CE76-4F67-4AB7-A077-81EF9F2F43C6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98516"/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5B27716D-BD13-4FFF-A1BF-403DE260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0AA3D0-85EC-4A09-8D0B-8857D1865558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445ACA7-ACB8-4858-9D45-4FD8F2284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566150" cy="5876925"/>
          </a:xfrm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什么是数据类型</a:t>
            </a:r>
          </a:p>
          <a:p>
            <a:pPr marL="862013" lvl="1"/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时间类型</a:t>
            </a:r>
          </a:p>
          <a:p>
            <a:pPr marL="862013" lvl="1"/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日期类型</a:t>
            </a:r>
          </a:p>
          <a:p>
            <a:pPr marL="862013" lvl="1"/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语言中，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FILE *stream</a:t>
            </a:r>
          </a:p>
          <a:p>
            <a:pPr marL="862013" lvl="1"/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其它数据类型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列表（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List）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集合（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Set）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等等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5794E6A-94EE-4002-AAFD-5EFE8EE59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2" action="ppaction://hlinkpres?slideindex=1&amp;slidetitle="/>
            <a:extLst>
              <a:ext uri="{FF2B5EF4-FFF2-40B4-BE49-F238E27FC236}">
                <a16:creationId xmlns:a16="http://schemas.microsoft.com/office/drawing/2014/main" id="{0C78DAC8-0920-460C-9621-EBBFE2426702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14638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>
            <a:extLst>
              <a:ext uri="{FF2B5EF4-FFF2-40B4-BE49-F238E27FC236}">
                <a16:creationId xmlns:a16="http://schemas.microsoft.com/office/drawing/2014/main" id="{01FA8395-1B66-4CFF-90BF-F5CCB632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CD7AD8-6B96-4EE7-A86B-084991F7474E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66D77B1-479D-49EB-A3E8-D0555C0E3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566150" cy="5876925"/>
          </a:xfrm>
        </p:spPr>
        <p:txBody>
          <a:bodyPr/>
          <a:lstStyle/>
          <a:p>
            <a:pPr marL="285750" indent="-285750"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什么是数据类型</a:t>
            </a:r>
          </a:p>
          <a:p>
            <a:pPr marL="862013" lvl="1"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数据类型之间的转换</a:t>
            </a:r>
            <a:r>
              <a:rPr lang="zh-CN" altLang="en-US" sz="16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lang="zh-CN" altLang="en-US" sz="1600" dirty="0">
                <a:solidFill>
                  <a:schemeClr val="accent1"/>
                </a:solidFill>
                <a:latin typeface="宋体" pitchFamily="2" charset="-122"/>
                <a:ea typeface="宋体" pitchFamily="2" charset="-122"/>
              </a:rPr>
              <a:t>编程中经常用到</a:t>
            </a:r>
            <a:r>
              <a:rPr lang="zh-CN" altLang="en-US" sz="16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）</a:t>
            </a:r>
          </a:p>
          <a:p>
            <a:pPr marL="1333500" lvl="2">
              <a:defRPr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有的可以转换，有的不可以转换</a:t>
            </a:r>
          </a:p>
          <a:p>
            <a:pPr marL="1333500" lvl="2">
              <a:defRPr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数据类型的转换函数（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Conversion），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例如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 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语言中</a:t>
            </a:r>
          </a:p>
          <a:p>
            <a:pPr marL="1806575" lvl="3">
              <a:defRPr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atoi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(x)，Convert string to </a:t>
            </a: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int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2263775" lvl="4">
              <a:defRPr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atoi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(“18”)-&gt;18</a:t>
            </a:r>
          </a:p>
          <a:p>
            <a:pPr marL="1806575" lvl="3">
              <a:defRPr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atof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(x)，Convert string to float</a:t>
            </a:r>
          </a:p>
          <a:p>
            <a:pPr marL="2263775" lvl="4">
              <a:defRPr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atof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(“18.12”)-&gt;18.12</a:t>
            </a:r>
          </a:p>
          <a:p>
            <a:pPr marL="1806575" lvl="3">
              <a:defRPr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ltoa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(x)，Convert long to string</a:t>
            </a:r>
          </a:p>
          <a:p>
            <a:pPr marL="2263775" lvl="4">
              <a:defRPr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ltoa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(12345)-&gt;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“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12345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”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1349375" lvl="2">
              <a:defRPr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强制类型转换，例如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语言中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1806575" lvl="3">
              <a:defRPr/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)x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Convert float to </a:t>
            </a: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int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2263775" lvl="4">
              <a:defRPr/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)18.12 -&gt; 18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1513F3F9-A49F-424B-A937-D592B2D19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D8159C82-6193-4FD0-A237-9A7465A74E17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33577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>
            <a:extLst>
              <a:ext uri="{FF2B5EF4-FFF2-40B4-BE49-F238E27FC236}">
                <a16:creationId xmlns:a16="http://schemas.microsoft.com/office/drawing/2014/main" id="{6DCF3BE0-962A-412C-BCAE-E6ECDD59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089AD7-28AC-4055-B6BE-EA9ADB7C0CF8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CAA141EE-3957-461A-A6AD-B2F8F76D6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964612" cy="5876925"/>
          </a:xfrm>
        </p:spPr>
        <p:txBody>
          <a:bodyPr/>
          <a:lstStyle/>
          <a:p>
            <a:pPr marL="285750" indent="-285750">
              <a:lnSpc>
                <a:spcPct val="8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变量的声明（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declare variable）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前面介绍了变量和数据类型，变量的声明是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为一个变量指定一个数据类型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变量在使用前要声明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有些程序语言不需要声明（比如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BASIC)，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但这不是一个编程的好习惯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一般都是在使用该变量的程序的开头进行声明，这样读程序时较容易一些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变量的命名规则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（编程令人头疼的一件事儿）</a:t>
            </a:r>
          </a:p>
          <a:p>
            <a:pPr marL="1333500" lvl="2">
              <a:lnSpc>
                <a:spcPct val="80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EmployeeName，employeeName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szEmployeeName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不要用类似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a1，b2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难记忆的变量名</a:t>
            </a:r>
          </a:p>
          <a:p>
            <a:pPr marL="285750" indent="-285750">
              <a:lnSpc>
                <a:spcPct val="8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变量的操作（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operation)，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影响变量值或状态的命令语句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定义、赋值操作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运算操作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函数操作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3002CEE9-D26C-49CB-B99C-7E95EA275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708" name="AutoShape 4">
            <a:extLst>
              <a:ext uri="{FF2B5EF4-FFF2-40B4-BE49-F238E27FC236}">
                <a16:creationId xmlns:a16="http://schemas.microsoft.com/office/drawing/2014/main" id="{6BDE40F7-2098-4E11-96B6-7609703E9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860800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9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F3103A8A-7AC8-4541-824D-4C45BD4D7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4452938"/>
            <a:ext cx="4203700" cy="1639887"/>
          </a:xfrm>
          <a:prstGeom prst="cloudCallout">
            <a:avLst>
              <a:gd name="adj1" fmla="val -48830"/>
              <a:gd name="adj2" fmla="val -3702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dirty="0"/>
              <a:t>最常用的是：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Pascal(</a:t>
            </a:r>
            <a:r>
              <a:rPr lang="zh-CN" altLang="en-US" dirty="0"/>
              <a:t>大驼峰</a:t>
            </a:r>
            <a:r>
              <a:rPr lang="en-US" altLang="zh-CN" dirty="0"/>
              <a:t>)</a:t>
            </a:r>
            <a:r>
              <a:rPr lang="zh-CN" altLang="en-US" dirty="0"/>
              <a:t>命名法：</a:t>
            </a:r>
            <a:r>
              <a:rPr lang="en-US" dirty="0"/>
              <a:t> </a:t>
            </a:r>
            <a:r>
              <a:rPr lang="en-US" dirty="0" err="1"/>
              <a:t>FirstName</a:t>
            </a:r>
            <a:endParaRPr lang="en-US" dirty="0"/>
          </a:p>
          <a:p>
            <a:pPr>
              <a:defRPr/>
            </a:pPr>
            <a:r>
              <a:rPr lang="zh-CN" altLang="en-US" dirty="0"/>
              <a:t>小驼峰式命名法：</a:t>
            </a:r>
            <a:r>
              <a:rPr lang="en-US" dirty="0"/>
              <a:t> </a:t>
            </a:r>
            <a:r>
              <a:rPr lang="en-US" dirty="0" err="1"/>
              <a:t>firstName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匈牙利命名法：</a:t>
            </a:r>
            <a:r>
              <a:rPr lang="en-US" altLang="zh-CN" dirty="0" err="1"/>
              <a:t>nMyAge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</p:txBody>
      </p:sp>
      <p:sp>
        <p:nvSpPr>
          <p:cNvPr id="7" name="爆炸形 1 6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8A08B444-9841-4F73-B115-2423B0532722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9764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27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708"/>
                  </p:tgtEl>
                </p:cond>
              </p:nextCondLst>
            </p:seq>
          </p:childTnLst>
        </p:cTn>
      </p:par>
    </p:tnLst>
    <p:bldLst>
      <p:bldP spid="72709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53308" objId="72708"/>
      </p14:showEvt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5D93F469-CD86-4929-AC10-98882538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F7A6FA-F699-43DC-BAF8-F5943378605A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8C78F33-8E05-43DD-B3E8-13532623B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382000" cy="5327650"/>
          </a:xfrm>
        </p:spPr>
        <p:txBody>
          <a:bodyPr/>
          <a:lstStyle/>
          <a:p>
            <a:pPr marL="285750" indent="-285750"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关键字（</a:t>
            </a:r>
            <a:r>
              <a:rPr lang="en-US" altLang="zh-CN" sz="2800" dirty="0">
                <a:latin typeface="宋体" pitchFamily="2" charset="-122"/>
                <a:ea typeface="宋体" pitchFamily="2" charset="-122"/>
              </a:rPr>
              <a:t>keyword）</a:t>
            </a:r>
          </a:p>
          <a:p>
            <a:pPr marL="862013" lvl="1">
              <a:defRPr/>
            </a:pP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任何程序语言当中都会有一些标识符、定义符等，我们称其为关键字。</a:t>
            </a:r>
          </a:p>
          <a:p>
            <a:pPr marL="862013" lvl="1"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关键字主要包括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数据类型定义，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long，char，float，double，struct，enum，typedef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等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声明，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static，define，include，extern，public，private，signed，unsigned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等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语句标识符，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if，else，switch，case，for，do，break，continue，return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等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其它，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sizeof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等</a:t>
            </a:r>
          </a:p>
          <a:p>
            <a:pPr marL="862013" lvl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关键字不能再用作变量名</a:t>
            </a:r>
          </a:p>
          <a:p>
            <a:pPr marL="862013" lvl="1"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不要使用与关键字相近的变量名</a:t>
            </a:r>
            <a:endParaRPr lang="en-US" altLang="zh-CN" sz="2400" dirty="0">
              <a:latin typeface="宋体" pitchFamily="2" charset="-122"/>
              <a:ea typeface="宋体" pitchFamily="2" charset="-122"/>
            </a:endParaRPr>
          </a:p>
          <a:p>
            <a:pPr marL="1262063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例如，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struct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ure;</a:t>
            </a:r>
            <a:endParaRPr lang="zh-CN" altLang="en-US" sz="2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F6C6593-F614-427C-A9BE-3B7CFAE71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96EF5C8-7935-45A1-AE9F-E54EA6D70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143000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45B314CB-C0BE-4CF9-9239-CC7416B10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09538"/>
            <a:ext cx="3451225" cy="1311275"/>
          </a:xfrm>
          <a:prstGeom prst="cloudCallout">
            <a:avLst>
              <a:gd name="adj1" fmla="val -74129"/>
              <a:gd name="adj2" fmla="val 36709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在一些高级文本编辑器或</a:t>
            </a:r>
            <a:r>
              <a:rPr lang="en-US" altLang="zh-CN" dirty="0"/>
              <a:t>IDE</a:t>
            </a:r>
            <a:r>
              <a:rPr lang="zh-CN" altLang="en-US" dirty="0"/>
              <a:t>环境中的编辑器中，会自动识别语言的关键字，并采用不同的颜色加以区分。</a:t>
            </a:r>
            <a:endParaRPr lang="en-US" altLang="zh-CN" dirty="0"/>
          </a:p>
        </p:txBody>
      </p:sp>
      <p:sp>
        <p:nvSpPr>
          <p:cNvPr id="8" name="爆炸形 1 7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EFA576C8-B7CA-44A6-8BEE-FE3D8F99203E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75721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12853" objId="6"/>
      </p14:showEvt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3858983E-CCD7-48B0-9107-924AD8CE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010506-C93A-4E76-835A-63F2FC16E3FB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9CC48F8-56CB-41BE-ACAA-2840A5587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009650"/>
            <a:ext cx="8686800" cy="5848350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操作符类型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操作符用于标识在数据类型上所进行的操作，包括：运算、比较等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算术运算符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，加、减、乘、除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逻辑运算符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，与(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and,&amp;)、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或(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or,|)、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非(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not,~)、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异或(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xor,^)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通常操作对象是数值数据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比较操作符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，大于(&gt;)、小于(&lt;)、等于(==)、(&gt;=)、(&lt;=)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</a:t>
            </a:r>
            <a:r>
              <a:rPr lang="zh-CN" altLang="en-US" sz="24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符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，&amp;&amp;，||，!，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对象是布尔型数据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有些程序语言的操作符是字符串形式的关键字</a:t>
            </a:r>
          </a:p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算术表达式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，1+2/100，1+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x/y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结果是数值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逻辑表达式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x||y，(x==y)&amp;&amp;(z==y), 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结果是布尔值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语言，使用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= 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时要注意，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a=2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a= =2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的意义是不同的，为了避免这样的失误改写为(2= =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a)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FFA0B727-7A5B-46E5-8029-E7927F6B1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588" name="AutoShape 4">
            <a:extLst>
              <a:ext uri="{FF2B5EF4-FFF2-40B4-BE49-F238E27FC236}">
                <a16:creationId xmlns:a16="http://schemas.microsoft.com/office/drawing/2014/main" id="{BB96DDEF-0E55-4D23-A62D-235DD94EF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6165850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9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AAE16092-95E5-4831-8D80-02A966170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4724400"/>
            <a:ext cx="3451225" cy="661988"/>
          </a:xfrm>
          <a:prstGeom prst="cloudCallout">
            <a:avLst>
              <a:gd name="adj1" fmla="val -18171"/>
              <a:gd name="adj2" fmla="val 88611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/>
              <a:t>这是一个非常良好的编程习惯，</a:t>
            </a:r>
            <a:r>
              <a:rPr lang="en-US" altLang="zh-CN"/>
              <a:t>2=a</a:t>
            </a:r>
            <a:r>
              <a:rPr lang="zh-CN" altLang="en-US"/>
              <a:t>会导致编译错误。</a:t>
            </a:r>
            <a:endParaRPr lang="en-US" altLang="zh-CN"/>
          </a:p>
        </p:txBody>
      </p:sp>
      <p:sp>
        <p:nvSpPr>
          <p:cNvPr id="7" name="爆炸形 1 6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C73EA0AD-9DF2-4541-9241-8B0B859738A0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59606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5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588"/>
                  </p:tgtEl>
                </p:cond>
              </p:nextCondLst>
            </p:seq>
          </p:childTnLst>
        </p:cTn>
      </p:par>
    </p:tnLst>
    <p:bldLst>
      <p:bldP spid="6758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>
            <a:extLst>
              <a:ext uri="{FF2B5EF4-FFF2-40B4-BE49-F238E27FC236}">
                <a16:creationId xmlns:a16="http://schemas.microsoft.com/office/drawing/2014/main" id="{B43E3BF8-B23B-49F3-817B-ABC9CCA13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21ED44-C020-4B3C-849B-295AB539C23F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FC250C3-6026-467B-83D7-9DB5E4004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009650"/>
            <a:ext cx="8686800" cy="5443538"/>
          </a:xfrm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内置函数（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built-in function)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程序语言一般都提供给编程人员一些基本函数，以方便编程，例如：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三角函数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sin(x),cos(x),tg(x),ctg(x)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输入输出函数（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I/O），printf(x,y)，scanf(x,y)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数值计算函数，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max(x)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min(x)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pow(x)，sqrt(x)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时间函数，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time()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日期函数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，date()</a:t>
            </a:r>
          </a:p>
          <a:p>
            <a:pPr marL="1333500" lvl="2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字符串处理函数，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strcpy()，strcat()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文件操作函数，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fopen()，fwrite()，fread()，fclose()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系统管理函数</a:t>
            </a:r>
          </a:p>
          <a:p>
            <a:pPr marL="1806575" lvl="3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出错处理函数，用于处理程序运行中出现的错误</a:t>
            </a:r>
          </a:p>
          <a:p>
            <a:pPr marL="1806575" lvl="3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系统调用函数，调用操作系统所提供的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API（Application Programming Interface）</a:t>
            </a:r>
          </a:p>
          <a:p>
            <a:pPr marL="1333500" lvl="2"/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DAE73F5-DD58-4929-9530-C335C1040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78585645-A846-4390-BB81-A8E6BF1696F7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5307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>
            <a:extLst>
              <a:ext uri="{FF2B5EF4-FFF2-40B4-BE49-F238E27FC236}">
                <a16:creationId xmlns:a16="http://schemas.microsoft.com/office/drawing/2014/main" id="{8BB1534B-D2EA-4B76-9E7B-D421A81D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3F0DDA-5806-4656-A784-FEA036B3BA22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2FD584F-B6D7-4844-820C-6CA3667F07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000125"/>
            <a:ext cx="8686800" cy="5688013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90000"/>
              </a:lnSpc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内置函数（</a:t>
            </a:r>
            <a:r>
              <a:rPr lang="en-US" altLang="zh-CN" sz="2800" dirty="0">
                <a:latin typeface="宋体" pitchFamily="2" charset="-122"/>
                <a:ea typeface="宋体" pitchFamily="2" charset="-122"/>
              </a:rPr>
              <a:t>built-in function)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内存管理函数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，管理内存的分配、使用、释放</a:t>
            </a:r>
          </a:p>
          <a:p>
            <a:pPr marL="1806575" lvl="3">
              <a:lnSpc>
                <a:spcPct val="90000"/>
              </a:lnSpc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内存分配后，千万不要忘记 释放；否则，不但程序运行会出问题，操作系统也会因内存资源的耗尽而崩溃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数据转换函数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网络编程接口，例如，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TCP/IP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编程用的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Socket API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图形处理函数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音频和视频编程接口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其它函数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要避免内置函数与变量名重名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有的程序语言在使用内置函数前，需要在程序的开始处声明</a:t>
            </a:r>
          </a:p>
          <a:p>
            <a:pPr marL="1333500" lvl="2">
              <a:lnSpc>
                <a:spcPct val="9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#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include &lt;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stdio.h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&gt;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有的程序语言还以扩展库（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Library）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的形式，给程序员提供更多的函数；该程序语言也因此功能强大</a:t>
            </a:r>
            <a:endParaRPr lang="en-US" altLang="zh-CN" sz="2400" dirty="0">
              <a:latin typeface="宋体" pitchFamily="2" charset="-122"/>
              <a:ea typeface="宋体" pitchFamily="2" charset="-122"/>
            </a:endParaRPr>
          </a:p>
          <a:p>
            <a:pPr lvl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在面向对象的语言当中，例如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C#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JAVA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等，内置函数被系统所提供的一些类所代替</a:t>
            </a:r>
            <a:endParaRPr lang="en-US" altLang="zh-CN" sz="2400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只要调用相应类中的方法，就可以实现相应的功能。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lvl="2">
              <a:defRPr/>
            </a:pPr>
            <a:r>
              <a:rPr lang="zh-CN" altLang="en-US" sz="2100" dirty="0">
                <a:latin typeface="宋体" pitchFamily="2" charset="-122"/>
                <a:ea typeface="宋体" pitchFamily="2" charset="-122"/>
              </a:rPr>
              <a:t>例如：</a:t>
            </a:r>
            <a:r>
              <a:rPr lang="en-US" altLang="zh-CN" sz="2100" dirty="0">
                <a:latin typeface="宋体" pitchFamily="2" charset="-122"/>
                <a:ea typeface="宋体" pitchFamily="2" charset="-122"/>
              </a:rPr>
              <a:t>y = </a:t>
            </a:r>
            <a:r>
              <a:rPr lang="en-US" altLang="zh-CN" sz="2100" dirty="0" err="1">
                <a:latin typeface="宋体" pitchFamily="2" charset="-122"/>
                <a:ea typeface="宋体" pitchFamily="2" charset="-122"/>
              </a:rPr>
              <a:t>System.Math.Sin</a:t>
            </a:r>
            <a:r>
              <a:rPr lang="en-US" altLang="zh-CN" sz="2100" dirty="0">
                <a:latin typeface="宋体" pitchFamily="2" charset="-122"/>
                <a:ea typeface="宋体" pitchFamily="2" charset="-122"/>
              </a:rPr>
              <a:t>(x)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4CAB99E-01BB-445A-8C51-D16E1A257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CBA2E15F-D295-4154-8B23-F70032A06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786063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869C8C12-2A0A-428F-B08F-3A4D9CB6C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420938"/>
            <a:ext cx="3451225" cy="1639887"/>
          </a:xfrm>
          <a:prstGeom prst="cloudCallout">
            <a:avLst>
              <a:gd name="adj1" fmla="val -75634"/>
              <a:gd name="adj2" fmla="val -463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/>
              <a:t>在应用一种语言开发程序时，首先浏览一下手册，了解一下系统都提供了哪些内置函数，对于开发程序很有帮助，可以少走很多弯路。</a:t>
            </a:r>
            <a:endParaRPr lang="en-US" altLang="zh-CN"/>
          </a:p>
        </p:txBody>
      </p:sp>
    </p:spTree>
  </p:cSld>
  <p:clrMapOvr>
    <a:masterClrMapping/>
  </p:clrMapOvr>
  <p:transition advClick="0" advTm="69185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26178" objId="6"/>
      </p14:showEvt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>
            <a:extLst>
              <a:ext uri="{FF2B5EF4-FFF2-40B4-BE49-F238E27FC236}">
                <a16:creationId xmlns:a16="http://schemas.microsoft.com/office/drawing/2014/main" id="{6140A485-9E6F-4F26-B8F8-0C1E8C64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91F9FB-4A4F-4DD7-8631-AE536153ABD8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CD9B8482-B64B-49F5-A8E9-84A3F3937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76313"/>
            <a:ext cx="8785225" cy="4613275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  <a:p>
            <a:pPr marL="862013" lvl="1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控制程序执行的顺序（流程）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几种典型控制机制</a:t>
            </a:r>
          </a:p>
          <a:p>
            <a:pPr marL="1333500" lvl="2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顺序执行（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sequence control）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程序语句按出现的次序被执行，主要由程序语言中的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赋值语句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</a:p>
          <a:p>
            <a:pPr marL="1806575" lvl="3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a = 1;</a:t>
            </a:r>
          </a:p>
          <a:p>
            <a:pPr marL="1806575" lvl="3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b = 2;</a:t>
            </a:r>
          </a:p>
          <a:p>
            <a:pPr marL="1806575" lvl="3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c = ( a + b ) / 2.0;</a:t>
            </a:r>
          </a:p>
          <a:p>
            <a:pPr marL="1333500" lvl="2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程序块（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block）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上下文相关的一组程序语句的集合，在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C#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等语言中，用大括号{}来标识，程序块内的语句按出现的次序 顺序执行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1133D93-DAF4-443D-837C-1E5B5C835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430" name="AutoShape 6">
            <a:extLst>
              <a:ext uri="{FF2B5EF4-FFF2-40B4-BE49-F238E27FC236}">
                <a16:creationId xmlns:a16="http://schemas.microsoft.com/office/drawing/2014/main" id="{EA89DC78-B5D2-48EF-BD9E-23424123C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071688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31" name="AutoShape 7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C19F1D10-4D24-404E-ACCA-510729A2E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88913"/>
            <a:ext cx="2808288" cy="2295525"/>
          </a:xfrm>
          <a:prstGeom prst="cloudCallout">
            <a:avLst>
              <a:gd name="adj1" fmla="val -76983"/>
              <a:gd name="adj2" fmla="val 3117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b="1" dirty="0"/>
              <a:t>结构化程序设计当中，有三大基本结构：</a:t>
            </a:r>
          </a:p>
          <a:p>
            <a:pPr algn="ctr">
              <a:defRPr/>
            </a:pPr>
            <a:r>
              <a:rPr lang="zh-CN" altLang="en-US" b="1" dirty="0"/>
              <a:t>顺序、分支、循环</a:t>
            </a:r>
          </a:p>
          <a:p>
            <a:pPr algn="ctr">
              <a:defRPr/>
            </a:pPr>
            <a:r>
              <a:rPr lang="en-US" altLang="zh-CN" b="1" dirty="0"/>
              <a:t>No GOTO!</a:t>
            </a:r>
          </a:p>
          <a:p>
            <a:pPr algn="ctr">
              <a:defRPr/>
            </a:pPr>
            <a:r>
              <a:rPr lang="zh-CN" altLang="en-US" b="1" dirty="0"/>
              <a:t>任何复杂的逻辑关系，都可以利用三大基本结构来实现</a:t>
            </a:r>
            <a:endParaRPr lang="en-US" altLang="zh-CN" b="1" dirty="0"/>
          </a:p>
        </p:txBody>
      </p:sp>
      <p:sp>
        <p:nvSpPr>
          <p:cNvPr id="7" name="爆炸形 1 6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8DED0E4D-5950-4970-89FC-AF6E5B795B79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 dirty="0"/>
          </a:p>
        </p:txBody>
      </p:sp>
    </p:spTree>
  </p:cSld>
  <p:clrMapOvr>
    <a:masterClrMapping/>
  </p:clrMapOvr>
  <p:transition advClick="0" advTm="4114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3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430"/>
                  </p:tgtEl>
                </p:cond>
              </p:nextCondLst>
            </p:seq>
          </p:childTnLst>
        </p:cTn>
      </p:par>
    </p:tnLst>
    <p:bldLst>
      <p:bldP spid="103431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4856" objId="103430"/>
      </p14:showEvt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>
            <a:extLst>
              <a:ext uri="{FF2B5EF4-FFF2-40B4-BE49-F238E27FC236}">
                <a16:creationId xmlns:a16="http://schemas.microsoft.com/office/drawing/2014/main" id="{B95DD161-0FB1-4965-86A3-A1C06DF4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74C42B-C59C-4BBB-B979-D2228AF3D676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7A10B046-C37A-4FED-9F4B-66CC60081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76313"/>
            <a:ext cx="6553200" cy="5881687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  <a:p>
            <a:pPr marL="862013" lvl="1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几种典型控制机制</a:t>
            </a:r>
          </a:p>
          <a:p>
            <a:pPr marL="1333500" lvl="2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分支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(branch)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根据条件判断的结果决定程序下一步执行那一程序块，由程序语言的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分支语句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实现，包括，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if-else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语句，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switch-case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endParaRPr lang="en-US" altLang="zh-CN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06575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分支语句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标识符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if，else，switch</a:t>
            </a:r>
          </a:p>
          <a:p>
            <a:pPr marL="1806575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分支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判断条件</a:t>
            </a:r>
          </a:p>
          <a:p>
            <a:pPr marL="2289175" lvl="4"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单个判断条件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if (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条件)</a:t>
            </a:r>
          </a:p>
          <a:p>
            <a:pPr marL="2289175" lvl="4"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多个判断条件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case (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条件)</a:t>
            </a:r>
          </a:p>
          <a:p>
            <a:pPr marL="2289175" lvl="4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也可用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if - else if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else)</a:t>
            </a:r>
          </a:p>
          <a:p>
            <a:pPr marL="1806575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分支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程序块</a:t>
            </a:r>
          </a:p>
          <a:p>
            <a:pPr marL="2289175" lvl="4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判断条件为真时 执行的程序块</a:t>
            </a:r>
          </a:p>
          <a:p>
            <a:pPr marL="2289175" lvl="4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判断条件为假时 执行的程序块</a:t>
            </a:r>
          </a:p>
          <a:p>
            <a:pPr marL="2289175" lvl="4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缺省 执行的程序块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2C4E6C32-8DC5-409C-A61B-615750C01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613" name="Text Box 4">
            <a:extLst>
              <a:ext uri="{FF2B5EF4-FFF2-40B4-BE49-F238E27FC236}">
                <a16:creationId xmlns:a16="http://schemas.microsoft.com/office/drawing/2014/main" id="{865FE1C7-8810-474B-B37A-EB3C2EB11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700" y="3933825"/>
            <a:ext cx="1966913" cy="2536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switch ( b ) 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</a:rPr>
              <a:t>case 1: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c = 100;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break;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</a:rPr>
              <a:t>case 2: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c = 90;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break;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default: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c = 80;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2" name="Text Box 5">
            <a:extLst>
              <a:ext uri="{FF2B5EF4-FFF2-40B4-BE49-F238E27FC236}">
                <a16:creationId xmlns:a16="http://schemas.microsoft.com/office/drawing/2014/main" id="{E2DE900B-E7CD-4233-9075-521B04E5F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1773238"/>
            <a:ext cx="18288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a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c = 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( 2 == a)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b = a + 1;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} else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b = a + 2;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c = c +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0" name="AutoShape 8">
            <a:extLst>
              <a:ext uri="{FF2B5EF4-FFF2-40B4-BE49-F238E27FC236}">
                <a16:creationId xmlns:a16="http://schemas.microsoft.com/office/drawing/2014/main" id="{7FD4550E-3CFC-47D3-871E-691D2E78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5715000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1" name="AutoShape 9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B952FFEC-5CA1-421A-AB3E-BD304E3BB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188913"/>
            <a:ext cx="2555875" cy="1316037"/>
          </a:xfrm>
          <a:prstGeom prst="cloudCallout">
            <a:avLst>
              <a:gd name="adj1" fmla="val -7018"/>
              <a:gd name="adj2" fmla="val 80778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/>
              <a:t>要养成一个良好的编程风格。哪怕只有两种</a:t>
            </a:r>
            <a:r>
              <a:rPr lang="en-US" altLang="zh-CN"/>
              <a:t>Case, </a:t>
            </a:r>
            <a:r>
              <a:rPr lang="zh-CN" altLang="en-US"/>
              <a:t>也要加</a:t>
            </a:r>
            <a:r>
              <a:rPr lang="en-US" altLang="zh-CN"/>
              <a:t>default</a:t>
            </a:r>
            <a:r>
              <a:rPr lang="zh-CN" altLang="en-US"/>
              <a:t>语句。</a:t>
            </a:r>
          </a:p>
        </p:txBody>
      </p:sp>
      <p:sp>
        <p:nvSpPr>
          <p:cNvPr id="9" name="爆炸形 1 8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27E597F7-C61B-4099-A650-EB410C8154DB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54771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4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760"/>
                  </p:tgtEl>
                </p:cond>
              </p:nextCondLst>
            </p:seq>
          </p:childTnLst>
        </p:cTn>
      </p:par>
    </p:tnLst>
    <p:bldLst>
      <p:bldP spid="74761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38090" objId="74760"/>
      </p14:showEvt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>
            <a:extLst>
              <a:ext uri="{FF2B5EF4-FFF2-40B4-BE49-F238E27FC236}">
                <a16:creationId xmlns:a16="http://schemas.microsoft.com/office/drawing/2014/main" id="{171680D2-B7A2-424E-83B4-4274B5D3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F68F1B-9759-4861-A365-150B86D5B70B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88ABE35-9AD2-4EAA-9599-EB6ED53504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785225" cy="5876925"/>
          </a:xfrm>
          <a:noFill/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几种典型控制机制</a:t>
            </a:r>
          </a:p>
          <a:p>
            <a:pPr marL="1333500" lvl="2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(loop，iteration)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程序块在判断条件满足的情况下被重复执行，由程序语言中的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循环语句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</a:p>
          <a:p>
            <a:pPr marL="1806575" lvl="3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循环语句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标识符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while，do-while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lang="en-US" altLang="zh-CN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</a:t>
            </a:r>
          </a:p>
          <a:p>
            <a:pPr marL="1806575" lvl="3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循环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判断条件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while (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条件)</a:t>
            </a:r>
          </a:p>
          <a:p>
            <a:pPr marL="2289175" lvl="4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循环变量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，是指参与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循环判断条件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操作的所有变量，可有多个，一般情况。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推荐只用一个，这样可使逻辑更清晰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前判断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条件，先判断条件是否满足，再根据判断结果决定是否执行程序块</a:t>
            </a:r>
          </a:p>
          <a:p>
            <a:pPr marL="2289175" lvl="4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后判断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条件，先执行程序块，再判断条件是否满足，根据判断结果决定是否再次执行程序块。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程序块至少执行一次。</a:t>
            </a:r>
            <a:endParaRPr lang="en-US" altLang="zh-CN" sz="18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判断条件的前后，有时执行的结果是不同的</a:t>
            </a:r>
          </a:p>
          <a:p>
            <a:pPr marL="1806575" lvl="3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循环程序块</a:t>
            </a: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判断条件为真时 执行的程序块</a:t>
            </a: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判断条件为假时 跳过程序块 执行循环语句后的下一条语句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D3F74FE8-FAD7-40D9-8FE1-2419E2739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D8FA0C02-C069-4238-822E-D2819CD0896C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78323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>
            <a:extLst>
              <a:ext uri="{FF2B5EF4-FFF2-40B4-BE49-F238E27FC236}">
                <a16:creationId xmlns:a16="http://schemas.microsoft.com/office/drawing/2014/main" id="{B349F05E-D05D-4F65-B5F2-5C650601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593EFE-527C-42A0-839C-BE88BB19B943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BC5DD5F-C96A-48BF-B8AF-57DF1C65F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785225" cy="5616575"/>
          </a:xfrm>
          <a:noFill/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几种典型控制机制</a:t>
            </a:r>
          </a:p>
          <a:p>
            <a:pPr marL="1333500" lvl="2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与循环相关的语句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marL="1806575" lvl="3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初始化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语句，所有循环变量的初始化</a:t>
            </a:r>
          </a:p>
          <a:p>
            <a:pPr marL="1806575" lvl="3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条件改变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语句，在程序块内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必须有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可以改变循环判断条件结果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的语句；否则循环判断条件的结果永不改变，从而陷入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死循环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虽然程序块内可以有多个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条件改变语句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但强烈推荐 程序块内只使用一条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条件改变语句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lang="zh-CN" altLang="en-US" sz="18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/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条件改变语句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在程序块内的位置的不同，也可导致不同的执行结果</a:t>
            </a:r>
          </a:p>
          <a:p>
            <a:pPr marL="1806575" lvl="3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重新循环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判断语句，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continue，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出现在循环程序块内</a:t>
            </a: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停止循环程序块的执行</a:t>
            </a: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执行循环判断条件的语句</a:t>
            </a:r>
          </a:p>
          <a:p>
            <a:pPr marL="1806575" lvl="3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跳出循环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的语句，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break，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出现在循环程序块内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跳过 循环程序块和判断语句</a:t>
            </a:r>
          </a:p>
          <a:p>
            <a:pPr marL="2289175" lvl="4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执行循环语句后的下一条语句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/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7216CD1-598D-4D27-AFA4-02A7E702B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爆炸形 1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90B3DB1F-9F06-4EBC-B244-4994E381F234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79384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>
            <a:extLst>
              <a:ext uri="{FF2B5EF4-FFF2-40B4-BE49-F238E27FC236}">
                <a16:creationId xmlns:a16="http://schemas.microsoft.com/office/drawing/2014/main" id="{6D78BD80-4221-4101-8824-1322FEDD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7F5EDF-BF47-4B61-899B-61B9178456F1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E0C978A5-D55A-4E57-B0D0-F87149FCD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23950"/>
            <a:ext cx="8713787" cy="1800225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80000"/>
              </a:lnSpc>
              <a:defRPr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  <a:p>
            <a:pPr marL="862013" lvl="1">
              <a:lnSpc>
                <a:spcPct val="80000"/>
              </a:lnSpc>
              <a:defRPr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几种典型控制机制</a:t>
            </a:r>
          </a:p>
          <a:p>
            <a:pPr marL="1333500" lvl="2">
              <a:lnSpc>
                <a:spcPct val="80000"/>
              </a:lnSpc>
              <a:defRPr/>
            </a:pPr>
            <a:r>
              <a:rPr lang="zh-CN" altLang="en-US" sz="19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循环（</a:t>
            </a:r>
            <a:r>
              <a:rPr lang="en-US" altLang="zh-CN" sz="19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loop，iteration</a:t>
            </a:r>
            <a:r>
              <a:rPr lang="en-US" altLang="zh-CN" sz="19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19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80000"/>
              </a:lnSpc>
              <a:defRPr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循环实例：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for</a:t>
            </a:r>
            <a:r>
              <a:rPr lang="zh-CN" altLang="en-US" sz="2200" dirty="0">
                <a:ea typeface="宋体" panose="02010600030101010101" pitchFamily="2" charset="-122"/>
              </a:rPr>
              <a:t>的条件通常是变量</a:t>
            </a:r>
            <a:r>
              <a:rPr lang="en-US" altLang="zh-CN" sz="2200" dirty="0">
                <a:ea typeface="宋体" panose="02010600030101010101" pitchFamily="2" charset="-122"/>
              </a:rPr>
              <a:t>+1</a:t>
            </a:r>
            <a:r>
              <a:rPr lang="zh-CN" altLang="en-US" sz="2200" dirty="0">
                <a:ea typeface="宋体" panose="02010600030101010101" pitchFamily="2" charset="-122"/>
              </a:rPr>
              <a:t>的情形，而</a:t>
            </a:r>
            <a:r>
              <a:rPr lang="en-US" altLang="zh-CN" sz="2200" dirty="0">
                <a:ea typeface="宋体" panose="02010600030101010101" pitchFamily="2" charset="-122"/>
              </a:rPr>
              <a:t>while</a:t>
            </a:r>
            <a:r>
              <a:rPr lang="zh-CN" altLang="en-US" sz="2200" dirty="0">
                <a:ea typeface="宋体" panose="02010600030101010101" pitchFamily="2" charset="-122"/>
              </a:rPr>
              <a:t>的条件可以很复杂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for</a:t>
            </a:r>
            <a:r>
              <a:rPr lang="zh-CN" altLang="en-US" sz="2200" dirty="0">
                <a:ea typeface="宋体" panose="02010600030101010101" pitchFamily="2" charset="-122"/>
              </a:rPr>
              <a:t>的循环变量初始化、判断条件、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r>
              <a:rPr lang="zh-CN" altLang="en-US" sz="2200" dirty="0">
                <a:ea typeface="宋体" panose="02010600030101010101" pitchFamily="2" charset="-122"/>
              </a:rPr>
              <a:t>条件改变语句都在一行当中</a:t>
            </a:r>
          </a:p>
          <a:p>
            <a:pPr marL="862013" lvl="1">
              <a:lnSpc>
                <a:spcPct val="80000"/>
              </a:lnSpc>
              <a:defRPr/>
            </a:pP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06575" lvl="3">
              <a:lnSpc>
                <a:spcPct val="80000"/>
              </a:lnSpc>
              <a:defRPr/>
            </a:pP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0F069DC1-9BBF-4848-AC74-A6613D29D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805" name="Text Box 4">
            <a:extLst>
              <a:ext uri="{FF2B5EF4-FFF2-40B4-BE49-F238E27FC236}">
                <a16:creationId xmlns:a16="http://schemas.microsoft.com/office/drawing/2014/main" id="{0BDBBA48-84B3-4FEE-AC69-4B40B8010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038" y="2919413"/>
            <a:ext cx="2652712" cy="2057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// 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后判断条件</a:t>
            </a:r>
            <a:endParaRPr lang="en-US" altLang="zh-CN" sz="16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 i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do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printf( "\n%d", i 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1600" i="1">
                <a:solidFill>
                  <a:schemeClr val="tx2"/>
                </a:solidFill>
                <a:latin typeface="Times New Roman" panose="02020603050405020304" pitchFamily="18" charset="0"/>
              </a:rPr>
              <a:t>i++;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} </a:t>
            </a: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( i &lt; 3 );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a = 0; </a:t>
            </a:r>
          </a:p>
        </p:txBody>
      </p:sp>
      <p:sp>
        <p:nvSpPr>
          <p:cNvPr id="76806" name="Text Box 5">
            <a:extLst>
              <a:ext uri="{FF2B5EF4-FFF2-40B4-BE49-F238E27FC236}">
                <a16:creationId xmlns:a16="http://schemas.microsoft.com/office/drawing/2014/main" id="{E90128B6-29E2-4A5A-955A-3D824BB6A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911475"/>
            <a:ext cx="2663825" cy="2057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// 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前判断条件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 i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( i &lt; 3 )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printf( "\n%d", i 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1600" i="1">
                <a:solidFill>
                  <a:schemeClr val="tx2"/>
                </a:solidFill>
                <a:latin typeface="Times New Roman" panose="02020603050405020304" pitchFamily="18" charset="0"/>
              </a:rPr>
              <a:t>i = i + 1;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a = 0;</a:t>
            </a:r>
          </a:p>
        </p:txBody>
      </p:sp>
      <p:sp>
        <p:nvSpPr>
          <p:cNvPr id="76807" name="Text Box 6">
            <a:extLst>
              <a:ext uri="{FF2B5EF4-FFF2-40B4-BE49-F238E27FC236}">
                <a16:creationId xmlns:a16="http://schemas.microsoft.com/office/drawing/2014/main" id="{AF1E5656-E549-462F-A14E-D4C9E7B30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038" y="2914650"/>
            <a:ext cx="2989262" cy="378618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// for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判断条件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前判断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nMax = 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 i=0; i&lt; nMax; i++)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if (i &lt; 2)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continue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printf( "\n%d", i 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if (i &gt; 6)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>
                <a:solidFill>
                  <a:schemeClr val="accent1"/>
                </a:solidFill>
                <a:latin typeface="Times New Roman" panose="02020603050405020304" pitchFamily="18" charset="0"/>
              </a:rPr>
              <a:t>break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a = 0;</a:t>
            </a:r>
          </a:p>
        </p:txBody>
      </p:sp>
      <p:sp>
        <p:nvSpPr>
          <p:cNvPr id="9" name="云形标注 8">
            <a:extLst>
              <a:ext uri="{FF2B5EF4-FFF2-40B4-BE49-F238E27FC236}">
                <a16:creationId xmlns:a16="http://schemas.microsoft.com/office/drawing/2014/main" id="{316E2110-638E-401A-8AC0-3FB532B20596}"/>
              </a:ext>
            </a:extLst>
          </p:cNvPr>
          <p:cNvSpPr/>
          <p:nvPr/>
        </p:nvSpPr>
        <p:spPr bwMode="auto">
          <a:xfrm>
            <a:off x="785813" y="5157788"/>
            <a:ext cx="4357687" cy="1017587"/>
          </a:xfrm>
          <a:prstGeom prst="cloudCallout">
            <a:avLst>
              <a:gd name="adj1" fmla="val 28024"/>
              <a:gd name="adj2" fmla="val -78396"/>
            </a:avLst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dirty="0"/>
              <a:t>循环语句标识、（前后）判断条件、循环变量、循环程序块、初始化、条件改变、继续循环、跳出循环</a:t>
            </a:r>
          </a:p>
        </p:txBody>
      </p:sp>
      <p:sp>
        <p:nvSpPr>
          <p:cNvPr id="10" name="爆炸形 1 9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84FD0C4F-7E47-4FE8-B9AA-2FAA378DD343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38126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>
            <a:extLst>
              <a:ext uri="{FF2B5EF4-FFF2-40B4-BE49-F238E27FC236}">
                <a16:creationId xmlns:a16="http://schemas.microsoft.com/office/drawing/2014/main" id="{FE92D291-ABD7-4C48-A0CD-82873D2A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8BA601-96FD-4283-91EE-4FBB2DFCEE10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F7B60C4-3E68-4CEB-8063-70A28CE19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26525" cy="5876925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  <a:p>
            <a:pPr marL="862013" lvl="1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几种典型控制机制</a:t>
            </a:r>
          </a:p>
          <a:p>
            <a:pPr marL="1333500" lvl="2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注释语句（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comment）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用以说明程序、解释程序、方便自己或他人读程序的旁白</a:t>
            </a:r>
          </a:p>
          <a:p>
            <a:pPr marL="1806575" lvl="3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以注释符标识的一行或多行文字描述</a:t>
            </a:r>
          </a:p>
          <a:p>
            <a:pPr marL="1806575" lvl="3"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不同程序语言可能注释符标识有所不同</a:t>
            </a:r>
          </a:p>
          <a:p>
            <a:pPr marL="2289175" lvl="4">
              <a:lnSpc>
                <a:spcPct val="9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BASIC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语言使用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REM</a:t>
            </a:r>
          </a:p>
          <a:p>
            <a:pPr marL="2289175" lvl="4">
              <a:lnSpc>
                <a:spcPct val="9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语言使用 /*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</a:p>
          <a:p>
            <a:pPr marL="2289175" lvl="4">
              <a:lnSpc>
                <a:spcPct val="90000"/>
              </a:lnSpc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语言使用 /*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*/ 或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</a:p>
          <a:p>
            <a:pPr marL="2289175" lvl="4">
              <a:lnSpc>
                <a:spcPct val="9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VFP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中使用 *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&amp;&amp; </a:t>
            </a:r>
          </a:p>
          <a:p>
            <a:pPr marL="2289175" lvl="4">
              <a:lnSpc>
                <a:spcPct val="90000"/>
              </a:lnSpc>
              <a:buFontTx/>
              <a:buNone/>
            </a:pPr>
            <a:r>
              <a:rPr lang="en-US" altLang="zh-CN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这是一个循环语句</a:t>
            </a:r>
          </a:p>
          <a:p>
            <a:pPr marL="2289175" lvl="4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int i = 0;</a:t>
            </a:r>
          </a:p>
          <a:p>
            <a:pPr marL="2289175" lvl="4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do {</a:t>
            </a:r>
          </a:p>
          <a:p>
            <a:pPr marL="2289175" lvl="4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printf( "\n%d", i );</a:t>
            </a:r>
          </a:p>
          <a:p>
            <a:pPr marL="2289175" lvl="4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i = i + 1;</a:t>
            </a:r>
          </a:p>
          <a:p>
            <a:pPr marL="2289175" lvl="4">
              <a:lnSpc>
                <a:spcPct val="90000"/>
              </a:lnSpc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} while ( i &lt; 3 );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5B197885-F632-4DE4-A1D9-79E17CE1B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E6FD6F8-B189-440F-8E6D-BCB6DF2D3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225" y="2082800"/>
            <a:ext cx="142875" cy="144463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EE0E949-A37A-4446-A819-44B9C585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84538"/>
            <a:ext cx="1582738" cy="1639887"/>
          </a:xfrm>
          <a:prstGeom prst="cloudCallout">
            <a:avLst>
              <a:gd name="adj1" fmla="val 10596"/>
              <a:gd name="adj2" fmla="val -100602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注释语句算不上控制机制，但很有必要一提。</a:t>
            </a:r>
          </a:p>
          <a:p>
            <a:pPr algn="ctr">
              <a:defRPr/>
            </a:pPr>
            <a:endParaRPr lang="en-US" altLang="zh-CN" dirty="0"/>
          </a:p>
        </p:txBody>
      </p:sp>
      <p:sp>
        <p:nvSpPr>
          <p:cNvPr id="8" name="爆炸形 1 7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D003908A-5420-4626-BA01-3F582A048BD4}"/>
              </a:ext>
            </a:extLst>
          </p:cNvPr>
          <p:cNvSpPr/>
          <p:nvPr/>
        </p:nvSpPr>
        <p:spPr bwMode="auto">
          <a:xfrm>
            <a:off x="8820150" y="873125"/>
            <a:ext cx="325438" cy="215900"/>
          </a:xfrm>
          <a:prstGeom prst="irregularSeal1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advClick="0" advTm="44658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9650" objId="6"/>
      </p14:showEvt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>
            <a:extLst>
              <a:ext uri="{FF2B5EF4-FFF2-40B4-BE49-F238E27FC236}">
                <a16:creationId xmlns:a16="http://schemas.microsoft.com/office/drawing/2014/main" id="{4A72B214-78C9-44E4-B83B-9E9F2EE9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F869EE-76F7-4336-8B11-A4D49D275C49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102DFF4-AE6C-4AC6-B40F-EB669C50D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" y="954088"/>
            <a:ext cx="9026525" cy="5715000"/>
          </a:xfrm>
        </p:spPr>
        <p:txBody>
          <a:bodyPr/>
          <a:lstStyle/>
          <a:p>
            <a:pPr marL="285750" indent="-2857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程序控制机制</a:t>
            </a:r>
          </a:p>
          <a:p>
            <a:pPr marL="862013" lvl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几种典型控制机制</a:t>
            </a:r>
          </a:p>
          <a:p>
            <a:pPr marL="1333500" lvl="2"/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注释语句：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说明、解释程序、方便自己或他人阅读</a:t>
            </a:r>
          </a:p>
          <a:p>
            <a:pPr marL="1806575" lvl="3"/>
            <a:r>
              <a:rPr lang="zh-CN" altLang="en-US" i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注释语句的重要性</a:t>
            </a:r>
          </a:p>
          <a:p>
            <a:pPr marL="2289175" lvl="4"/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方便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自己或他人的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阅读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理解</a:t>
            </a:r>
          </a:p>
          <a:p>
            <a:pPr marL="2289175" lvl="4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使程序的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可重用性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提高（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reusable)</a:t>
            </a:r>
          </a:p>
          <a:p>
            <a:pPr marL="2289175" lvl="4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千万要打消这个念头：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注释语句是废话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9175" lvl="4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高水准的程序员，注释的使用量占到整个程序的 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50%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甚至更多</a:t>
            </a:r>
          </a:p>
          <a:p>
            <a:pPr marL="2289175" lvl="4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有价值、恰当、易懂的注释 是程序员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素质高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的一个象征</a:t>
            </a:r>
          </a:p>
          <a:p>
            <a:pPr marL="2289175" lvl="4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程序员往往为了赶工而忽略注释，结果是：在将来的某个时间，让自己或他人花费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成倍的时间去补偿</a:t>
            </a:r>
          </a:p>
          <a:p>
            <a:pPr marL="2289175" lvl="4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良好的注释习惯也是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团队精神的一种体现</a:t>
            </a:r>
          </a:p>
          <a:p>
            <a:pPr marL="1806575" lvl="3"/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究竟如何来注释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>
                <a:ea typeface="宋体" panose="02010600030101010101" pitchFamily="2" charset="-122"/>
              </a:rPr>
              <a:t>没有规矩不成方圆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2709191C-FC26-40C2-BDD1-89A295BB0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2.3 程序语言的基本要素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572" name="AutoShape 4">
            <a:extLst>
              <a:ext uri="{FF2B5EF4-FFF2-40B4-BE49-F238E27FC236}">
                <a16:creationId xmlns:a16="http://schemas.microsoft.com/office/drawing/2014/main" id="{052D9DF6-C49E-4D41-939C-A9E6AC6AC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6121400"/>
            <a:ext cx="142875" cy="144463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3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E2D3582-955D-4F47-9B6F-86442D2C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2781300"/>
            <a:ext cx="1979612" cy="2622550"/>
          </a:xfrm>
          <a:prstGeom prst="cloudCallout">
            <a:avLst>
              <a:gd name="adj1" fmla="val 51843"/>
              <a:gd name="adj2" fmla="val 60713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注释规则：</a:t>
            </a:r>
          </a:p>
          <a:p>
            <a:pPr algn="ctr">
              <a:buFontTx/>
              <a:buChar char="•"/>
              <a:defRPr/>
            </a:pPr>
            <a:r>
              <a:rPr lang="zh-CN" altLang="en-US" dirty="0"/>
              <a:t>程序头注释</a:t>
            </a:r>
            <a:r>
              <a:rPr lang="en-US" altLang="zh-CN" dirty="0"/>
              <a:t>…</a:t>
            </a:r>
          </a:p>
          <a:p>
            <a:pPr algn="ctr">
              <a:buFontTx/>
              <a:buChar char="•"/>
              <a:defRPr/>
            </a:pPr>
            <a:r>
              <a:rPr lang="zh-CN" altLang="en-US" dirty="0"/>
              <a:t>函数注释</a:t>
            </a:r>
            <a:r>
              <a:rPr lang="en-US" altLang="zh-CN" dirty="0"/>
              <a:t>…</a:t>
            </a:r>
          </a:p>
          <a:p>
            <a:pPr algn="ctr">
              <a:buFontTx/>
              <a:buChar char="•"/>
              <a:defRPr/>
            </a:pPr>
            <a:r>
              <a:rPr lang="zh-CN" altLang="en-US" dirty="0"/>
              <a:t>变量注释</a:t>
            </a:r>
            <a:r>
              <a:rPr lang="en-US" altLang="zh-CN" dirty="0"/>
              <a:t>…</a:t>
            </a:r>
          </a:p>
          <a:p>
            <a:pPr algn="ctr">
              <a:buFontTx/>
              <a:buChar char="•"/>
              <a:defRPr/>
            </a:pPr>
            <a:r>
              <a:rPr lang="zh-CN" altLang="en-US" dirty="0"/>
              <a:t>功能注释</a:t>
            </a:r>
            <a:r>
              <a:rPr lang="en-US" altLang="zh-CN" dirty="0"/>
              <a:t>…</a:t>
            </a:r>
          </a:p>
          <a:p>
            <a:pPr algn="ctr">
              <a:buFontTx/>
              <a:buChar char="•"/>
              <a:defRPr/>
            </a:pPr>
            <a:endParaRPr lang="en-US" altLang="zh-CN" dirty="0"/>
          </a:p>
          <a:p>
            <a:pPr algn="ctr">
              <a:defRPr/>
            </a:pPr>
            <a:r>
              <a:rPr lang="zh-CN" altLang="en-US" dirty="0"/>
              <a:t>参见注释例子</a:t>
            </a:r>
            <a:r>
              <a:rPr lang="en-US" altLang="zh-CN" dirty="0"/>
              <a:t>…</a:t>
            </a:r>
          </a:p>
          <a:p>
            <a:pPr algn="ctr">
              <a:defRPr/>
            </a:pPr>
            <a:endParaRPr lang="en-US" altLang="zh-CN" dirty="0"/>
          </a:p>
        </p:txBody>
      </p:sp>
    </p:spTree>
  </p:cSld>
  <p:clrMapOvr>
    <a:masterClrMapping/>
  </p:clrMapOvr>
  <p:transition advClick="0" advTm="7020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9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572"/>
                  </p:tgtEl>
                </p:cond>
              </p:nextCondLst>
            </p:seq>
          </p:childTnLst>
        </p:cTn>
      </p:par>
    </p:tnLst>
    <p:bldLst>
      <p:bldP spid="109573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58043" objId="109572"/>
      </p14:showEvt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>
            <a:extLst>
              <a:ext uri="{FF2B5EF4-FFF2-40B4-BE49-F238E27FC236}">
                <a16:creationId xmlns:a16="http://schemas.microsoft.com/office/drawing/2014/main" id="{39ECE351-3E81-4BF9-8C37-4EE89424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BC4FDA-50AF-4010-9628-E43C1D965FAA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E6DF836-3503-407D-B44E-D37ECCD32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5876925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过程（命令）语言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顺序执行的语句改变着内存中某些位置的状态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和硬件有很强的关系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属于较低层次的语言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C,C++,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Basic,Fortran,Pascal，Ada，COBOL，Algol，PL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</a:p>
          <a:p>
            <a:pPr marL="285750" indent="-285750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功能（应用）语言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强调功能过于强调数据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和硬件关系较弱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属于较高层次的语言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Lisp，ML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</a:p>
          <a:p>
            <a:pPr marL="285750" indent="-285750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推理语言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以事实和规则控制程序的执行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规则由条件和动作两部分组成，满足条件，则发生动作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属于较高层次的语言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Prolog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在自然语言理解、机器定理证明、专家系统等方面应用广泛</a:t>
            </a:r>
          </a:p>
          <a:p>
            <a:pPr marL="285750" indent="-285750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面向对象语言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以对象为中心</a:t>
            </a:r>
          </a:p>
          <a:p>
            <a:pPr marL="862013" lvl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例如：纯面向对象的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Smalltalk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Eiffel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C#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，在过程语言的基础上增加面向对象机制的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C++ </a:t>
            </a:r>
            <a:r>
              <a:rPr lang="zh-CN" altLang="en-US" sz="2000" dirty="0"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ea typeface="宋体" panose="02010600030101010101" pitchFamily="2" charset="-122"/>
              </a:rPr>
              <a:t>Object-C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ea typeface="宋体" panose="02010600030101010101" pitchFamily="2" charset="-122"/>
              </a:rPr>
              <a:t>Object Pascal </a:t>
            </a:r>
            <a:r>
              <a:rPr lang="zh-CN" altLang="en-US" sz="2000" dirty="0"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ea typeface="宋体" panose="02010600030101010101" pitchFamily="2" charset="-122"/>
              </a:rPr>
              <a:t>Ada 95 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FF555E04-908F-4748-920F-D4E624DC7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2.4 程序语言分类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 advTm="30864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>
            <a:extLst>
              <a:ext uri="{FF2B5EF4-FFF2-40B4-BE49-F238E27FC236}">
                <a16:creationId xmlns:a16="http://schemas.microsoft.com/office/drawing/2014/main" id="{0018F8D2-B55F-4875-9FAC-A4D44EA4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C411E2-F967-4960-A142-071F120E6821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A03FA542-C128-4080-A477-1027C69D24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5876925"/>
          </a:xfrm>
        </p:spPr>
        <p:txBody>
          <a:bodyPr/>
          <a:lstStyle/>
          <a:p>
            <a:pPr marL="285750" indent="-285750">
              <a:lnSpc>
                <a:spcPct val="8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分解组合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(decomposition，composition，integration)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先把复杂的大问题分解为简单、容易解决的小问题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针对这些小问题，逐一解决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把解决小问题的方法组合起来，用于解决复杂的大问题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分解不是简单的肢解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分析小问题的可解性、小问题之间的联系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尽量把联系简单化、彼此之间影响最小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组合也不是简单的堆砌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确定小问题组合时的协调机制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以方便大问题的求解为中心 考虑组合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尽量以方便编程的方式进行组合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低耦合（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couple），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简化模块之间的关系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高内聚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(cohesion)，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增加模块自身的独立性，完整性；减少对模块外部的依赖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模块之间的联系以调用或发送消息的形式实现，尽量避免使用全局变量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如果大问题很复杂，也可考虑分层次划分小问题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BE03C108-CAF3-4F98-9820-CAA47230C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2.5 编程基本原则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F3C1A7CD-58DD-4378-A020-8CF3CD87D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125538"/>
            <a:ext cx="142875" cy="144462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9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EED24D6-F21B-47F3-8242-B1CEB7094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788" y="3068638"/>
            <a:ext cx="2589212" cy="984250"/>
          </a:xfrm>
          <a:prstGeom prst="cloudCallout">
            <a:avLst>
              <a:gd name="adj1" fmla="val -15356"/>
              <a:gd name="adj2" fmla="val -86384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结构化分析问题解决问题的方法。</a:t>
            </a:r>
          </a:p>
          <a:p>
            <a:pPr algn="ctr">
              <a:defRPr/>
            </a:pPr>
            <a:r>
              <a:rPr lang="zh-CN" altLang="en-US" dirty="0"/>
              <a:t>自顶向下，逐步求精</a:t>
            </a:r>
          </a:p>
        </p:txBody>
      </p:sp>
    </p:spTree>
  </p:cSld>
  <p:clrMapOvr>
    <a:masterClrMapping/>
  </p:clrMapOvr>
  <p:transition advClick="0" advTm="8985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82949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8116" objId="2"/>
      </p14:showEvtLst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>
            <a:extLst>
              <a:ext uri="{FF2B5EF4-FFF2-40B4-BE49-F238E27FC236}">
                <a16:creationId xmlns:a16="http://schemas.microsoft.com/office/drawing/2014/main" id="{E161552C-48B0-4CE7-95D3-01315DE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668D5B-72BC-434B-8FA2-8C5380BAC497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13D9B23-5328-4C0B-B9FE-112872149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5876925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抽象化（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abstraction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从现实环境中，提取总结问题的实质性（最关键、最主要）的核心内容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属性的抽象化，把描述问题对象的基本因素从众多的因素里区分出来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特征属性，用于区别不同问题对象的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描述属性，描述问题对象的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辅助属性，用于协助实现对象功能的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功能的抽象化，把问题对象的基本功能从复杂的功能表象里提取出来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原功能（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primitive function），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对于该问题对象来讲，最基本的不可再分割的功能，原功能可用于实现本对象或其它对象的一些功能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扩展功能，由原功能实现的复杂功能。如：</a:t>
            </a:r>
          </a:p>
          <a:p>
            <a:pPr marL="1806575" lvl="3">
              <a:lnSpc>
                <a:spcPct val="9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转换功能（对属性进行转换）、</a:t>
            </a:r>
          </a:p>
          <a:p>
            <a:pPr marL="1806575" lvl="3">
              <a:lnSpc>
                <a:spcPct val="9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解释功能（对属性进行解释）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抽象是把复杂问题进行合理的简化的过程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不恰当的抽象有可能破坏原问题的完整性，仔细分析本对象与外界的联系有助于减少此类现象的发生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对问题对象进行抽象化的同时，要考虑实现的可能性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层次化的抽象方法可以简化更加复杂的问题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1B6E969C-E796-46E8-AD41-B4BCD2AEC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2.5 编程基本原则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900" name="AutoShape 4">
            <a:extLst>
              <a:ext uri="{FF2B5EF4-FFF2-40B4-BE49-F238E27FC236}">
                <a16:creationId xmlns:a16="http://schemas.microsoft.com/office/drawing/2014/main" id="{D509DE1A-3467-4D07-B5F7-9006D8F89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125538"/>
            <a:ext cx="142875" cy="144462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1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0028603A-AEEA-43F5-B9A1-B2EA2247A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33375"/>
            <a:ext cx="2376488" cy="665163"/>
          </a:xfrm>
          <a:prstGeom prst="cloudCallout">
            <a:avLst>
              <a:gd name="adj1" fmla="val -100704"/>
              <a:gd name="adj2" fmla="val 79356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面向对象的分析问题解决问题的方法</a:t>
            </a:r>
          </a:p>
        </p:txBody>
      </p:sp>
    </p:spTree>
  </p:cSld>
  <p:clrMapOvr>
    <a:masterClrMapping/>
  </p:clrMapOvr>
  <p:transition advClick="0" advTm="48987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0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900"/>
                  </p:tgtEl>
                </p:cond>
              </p:nextCondLst>
            </p:seq>
          </p:childTnLst>
        </p:cTn>
      </p:par>
    </p:tnLst>
    <p:bldLst>
      <p:bldP spid="80901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7123" objId="80900"/>
      </p14:showEvtLst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>
            <a:extLst>
              <a:ext uri="{FF2B5EF4-FFF2-40B4-BE49-F238E27FC236}">
                <a16:creationId xmlns:a16="http://schemas.microsoft.com/office/drawing/2014/main" id="{F44F496F-9212-402A-A5FE-07ECA9D0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DFBE85-4159-432F-9E3D-B530C9CEAAA8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8C42D6F7-AEA9-434C-9BE2-62B823A7A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5876925"/>
          </a:xfrm>
        </p:spPr>
        <p:txBody>
          <a:bodyPr/>
          <a:lstStyle/>
          <a:p>
            <a:pPr marL="285750" indent="-285750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封装化（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encapsulation）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在进行分析描述以及实现抽象、分解、组合等编程原则时，考虑问题对象的完备性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概念封装，从概念上把对象与其它对象区分开来，让每个对象在概念上相对独立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功能封装，以低耦合高内聚的原则对功能进行划分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封装一般发生在横向平级的对象范围内</a:t>
            </a:r>
          </a:p>
          <a:p>
            <a:pPr marL="285750" indent="-285750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继承性（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inheritance）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子对象继承父对象的一切属性和功能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子对象可以定义父对象所没有的属性和功能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建立对象间关系的一种方式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在纵向上建立的关系，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继承关系可以用于进行层次化的抽象</a:t>
            </a:r>
          </a:p>
          <a:p>
            <a:pPr marL="285750" indent="-285750"/>
            <a:r>
              <a:rPr lang="zh-CN" altLang="en-US" sz="2000" b="0" i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简单、明了、易懂、和谐 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这并不是容易做到的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以最直接的方法实现编程</a:t>
            </a:r>
          </a:p>
          <a:p>
            <a:pPr marL="862013" lvl="1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有的时候为了作到这一点，可以承受性能上的一些损失</a:t>
            </a: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6DA568D3-889A-423D-B6C4-A51C270BD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2.5 编程基本原则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924" name="AutoShape 4">
            <a:extLst>
              <a:ext uri="{FF2B5EF4-FFF2-40B4-BE49-F238E27FC236}">
                <a16:creationId xmlns:a16="http://schemas.microsoft.com/office/drawing/2014/main" id="{95C987A6-A18F-4E98-8171-6F9A437F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5356225"/>
            <a:ext cx="287338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5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4B883BB1-871C-4054-B471-B7C84AD01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860800"/>
            <a:ext cx="3133725" cy="1968500"/>
          </a:xfrm>
          <a:prstGeom prst="cloudCallout">
            <a:avLst>
              <a:gd name="adj1" fmla="val -78153"/>
              <a:gd name="adj2" fmla="val 25089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dirty="0"/>
              <a:t>不论采用什么编程方法，都要尽可能做到这一点。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要想真正做到这一点，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不仅仅是一种技术，</a:t>
            </a:r>
          </a:p>
          <a:p>
            <a:pPr>
              <a:defRPr/>
            </a:pPr>
            <a:r>
              <a:rPr lang="zh-CN" altLang="en-US" dirty="0"/>
              <a:t>有时是一种艺术</a:t>
            </a:r>
            <a:endParaRPr lang="en-US" altLang="zh-CN" dirty="0"/>
          </a:p>
        </p:txBody>
      </p:sp>
    </p:spTree>
  </p:cSld>
  <p:clrMapOvr>
    <a:masterClrMapping/>
  </p:clrMapOvr>
  <p:transition advClick="0" advTm="90642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1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24"/>
                  </p:tgtEl>
                </p:cond>
              </p:nextCondLst>
            </p:seq>
          </p:childTnLst>
        </p:cTn>
      </p:par>
    </p:tnLst>
    <p:bldLst>
      <p:bldP spid="81925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52576" objId="81924"/>
      </p14:showEvtLst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>
            <a:extLst>
              <a:ext uri="{FF2B5EF4-FFF2-40B4-BE49-F238E27FC236}">
                <a16:creationId xmlns:a16="http://schemas.microsoft.com/office/drawing/2014/main" id="{4573CA4C-9E2A-4DF0-8FA3-3EDCD575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23DA0D-1E55-4ECE-B763-C17ADA038AEE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148DDD30-27C8-4114-9A20-5638C496A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5876925"/>
          </a:xfrm>
          <a:noFill/>
        </p:spPr>
        <p:txBody>
          <a:bodyPr/>
          <a:lstStyle/>
          <a:p>
            <a:pPr marL="285750" indent="-28575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学习一门新程序语言的大概步骤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安装该程序语言的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开发工具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到计算机上，包括：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程序编辑器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解释器 或 编译器，在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IDE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开发环境中，程序编辑器和解释器（或编译器）是集成在一起的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帮助文件、开发工具所自带的编程例子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熟悉该程序语言的各种基本要素（2.3节），学习开发环境的使用方法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编写第一个程序，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HelloWorld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一般在开发工具所自带的编程例子中，都含有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HelloWorld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这样的入门程序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体会该程序语言的编程过程和特点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学习一些与自己编程任务有关的编程例子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照猫画虎，编写自己的任务程序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编程的主要步骤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按设计要求编写代码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编译程序、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调试程序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、测试程序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打包/制作安装程序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1F7C37AE-BF33-4EF7-A0CB-FF135375F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2.6 编程的学习方法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876" name="AutoShape 4">
            <a:extLst>
              <a:ext uri="{FF2B5EF4-FFF2-40B4-BE49-F238E27FC236}">
                <a16:creationId xmlns:a16="http://schemas.microsoft.com/office/drawing/2014/main" id="{E227ED63-B0D4-400F-BA5C-9CEC34B07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941888"/>
            <a:ext cx="287337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7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11838A90-F891-44E4-9A77-36F46695F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5122863"/>
            <a:ext cx="3313113" cy="2014537"/>
          </a:xfrm>
          <a:prstGeom prst="cloudCallout">
            <a:avLst>
              <a:gd name="adj1" fmla="val -69145"/>
              <a:gd name="adj2" fmla="val -48838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sz="1200" dirty="0"/>
              <a:t>带着问题去寻求解决方案。</a:t>
            </a:r>
          </a:p>
          <a:p>
            <a:pPr algn="ctr">
              <a:defRPr/>
            </a:pPr>
            <a:r>
              <a:rPr lang="zh-CN" altLang="en-US" sz="1200" dirty="0"/>
              <a:t>软件开发能力是实践出来的而不是从书本上看出来的。</a:t>
            </a:r>
            <a:endParaRPr lang="en-US" altLang="zh-CN" sz="1200" dirty="0"/>
          </a:p>
          <a:p>
            <a:pPr algn="ctr">
              <a:defRPr/>
            </a:pPr>
            <a:endParaRPr lang="en-US" altLang="zh-CN" sz="1200" dirty="0"/>
          </a:p>
          <a:p>
            <a:pPr algn="ctr">
              <a:defRPr/>
            </a:pPr>
            <a:r>
              <a:rPr lang="zh-CN" altLang="en-US" sz="1200" b="1" dirty="0"/>
              <a:t>只看书不实践，没有任何用处；</a:t>
            </a:r>
            <a:endParaRPr lang="en-US" altLang="zh-CN" sz="1200" b="1" dirty="0"/>
          </a:p>
          <a:p>
            <a:pPr algn="ctr">
              <a:defRPr/>
            </a:pPr>
            <a:r>
              <a:rPr lang="zh-CN" altLang="en-US" sz="1200" b="1" dirty="0"/>
              <a:t>不看书就实践，会走很多弯路。</a:t>
            </a:r>
          </a:p>
          <a:p>
            <a:pPr algn="ctr">
              <a:defRPr/>
            </a:pPr>
            <a:endParaRPr lang="en-US" altLang="zh-CN" sz="1200" dirty="0"/>
          </a:p>
        </p:txBody>
      </p:sp>
    </p:spTree>
  </p:cSld>
  <p:clrMapOvr>
    <a:masterClrMapping/>
  </p:clrMapOvr>
  <p:transition advClick="0" advTm="114812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98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876"/>
                  </p:tgtEl>
                </p:cond>
              </p:nextCondLst>
            </p:seq>
          </p:childTnLst>
        </p:cTn>
      </p:par>
    </p:tnLst>
    <p:bldLst>
      <p:bldP spid="79877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71107" objId="79876"/>
      </p14:showEvt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>
            <a:extLst>
              <a:ext uri="{FF2B5EF4-FFF2-40B4-BE49-F238E27FC236}">
                <a16:creationId xmlns:a16="http://schemas.microsoft.com/office/drawing/2014/main" id="{CDF075B1-9CF2-40C9-807E-42D17215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0CC8B6-0A4E-4C5A-B472-482E9838DFA5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r>
              <a:rPr lang="en-US" altLang="zh-CN" sz="1400" b="0">
                <a:latin typeface="Arial" panose="020B0604020202020204" pitchFamily="34" charset="0"/>
              </a:rPr>
              <a:t>·</a:t>
            </a:r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90115" name="Rectangle 6">
            <a:extLst>
              <a:ext uri="{FF2B5EF4-FFF2-40B4-BE49-F238E27FC236}">
                <a16:creationId xmlns:a16="http://schemas.microsoft.com/office/drawing/2014/main" id="{D7B90859-8829-4D1D-8572-14EBBA248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2. 编程原理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 sz="2400">
                <a:ea typeface="宋体" panose="02010600030101010101" pitchFamily="2" charset="-122"/>
              </a:rPr>
              <a:t>2.6 编程的学习方法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90116" name="Rectangle 7">
            <a:extLst>
              <a:ext uri="{FF2B5EF4-FFF2-40B4-BE49-F238E27FC236}">
                <a16:creationId xmlns:a16="http://schemas.microsoft.com/office/drawing/2014/main" id="{CA7EB4D0-E80A-41CA-9C6C-41FAFA9EDD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713" y="981075"/>
            <a:ext cx="8851900" cy="4392613"/>
          </a:xfrm>
        </p:spPr>
        <p:txBody>
          <a:bodyPr/>
          <a:lstStyle/>
          <a:p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养成良好的编程习惯</a:t>
            </a:r>
          </a:p>
          <a:p>
            <a:pPr lvl="1"/>
            <a:r>
              <a:rPr lang="zh-CN" altLang="en-US" sz="2400">
                <a:ea typeface="宋体" panose="02010600030101010101" pitchFamily="2" charset="-122"/>
              </a:rPr>
              <a:t>规范书写程序</a:t>
            </a:r>
          </a:p>
          <a:p>
            <a:pPr lvl="2"/>
            <a:r>
              <a:rPr lang="zh-CN" altLang="en-US" sz="2000">
                <a:ea typeface="宋体" panose="02010600030101010101" pitchFamily="2" charset="-122"/>
              </a:rPr>
              <a:t>缩进方式书写，使程序有层次感，易懂</a:t>
            </a:r>
          </a:p>
          <a:p>
            <a:pPr lvl="2"/>
            <a:r>
              <a:rPr lang="zh-CN" altLang="en-US" sz="2000">
                <a:ea typeface="宋体" panose="02010600030101010101" pitchFamily="2" charset="-122"/>
              </a:rPr>
              <a:t>在适当的地方，用好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>
                <a:ea typeface="宋体" panose="02010600030101010101" pitchFamily="2" charset="-122"/>
              </a:rPr>
              <a:t>（）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>
                <a:ea typeface="宋体" panose="02010600030101010101" pitchFamily="2" charset="-122"/>
              </a:rPr>
              <a:t>和空格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sz="2000">
              <a:ea typeface="宋体" panose="02010600030101010101" pitchFamily="2" charset="-122"/>
            </a:endParaRPr>
          </a:p>
          <a:p>
            <a:pPr lvl="2"/>
            <a:r>
              <a:rPr lang="zh-CN" altLang="en-US" sz="2000">
                <a:ea typeface="宋体" panose="02010600030101010101" pitchFamily="2" charset="-122"/>
              </a:rPr>
              <a:t>程序的书写过程要尽量统一</a:t>
            </a:r>
          </a:p>
          <a:p>
            <a:pPr lvl="1"/>
            <a:r>
              <a:rPr lang="zh-CN" altLang="en-US" sz="2400">
                <a:ea typeface="宋体" panose="02010600030101010101" pitchFamily="2" charset="-122"/>
              </a:rPr>
              <a:t>合理地使用注释</a:t>
            </a:r>
          </a:p>
          <a:p>
            <a:pPr lvl="1"/>
            <a:r>
              <a:rPr lang="zh-CN" altLang="en-US" sz="2400">
                <a:ea typeface="宋体" panose="02010600030101010101" pitchFamily="2" charset="-122"/>
              </a:rPr>
              <a:t>注意变量名、函数名、过程名的命名方法，要统一协调</a:t>
            </a:r>
          </a:p>
          <a:p>
            <a:pPr lvl="1"/>
            <a:r>
              <a:rPr lang="zh-CN" altLang="en-US" sz="2400">
                <a:ea typeface="宋体" panose="02010600030101010101" pitchFamily="2" charset="-122"/>
              </a:rPr>
              <a:t>编写可重用的程序</a:t>
            </a:r>
          </a:p>
          <a:p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多多上机练习</a:t>
            </a:r>
          </a:p>
        </p:txBody>
      </p:sp>
      <p:sp>
        <p:nvSpPr>
          <p:cNvPr id="83972" name="AutoShape 4">
            <a:extLst>
              <a:ext uri="{FF2B5EF4-FFF2-40B4-BE49-F238E27FC236}">
                <a16:creationId xmlns:a16="http://schemas.microsoft.com/office/drawing/2014/main" id="{D4D5122F-FB7D-4A4F-8F8D-F41C5FFB6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628775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3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D41B3C2-4C2F-4412-87A2-17ACFD151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908050"/>
            <a:ext cx="2665412" cy="1546225"/>
          </a:xfrm>
          <a:prstGeom prst="cloudCallout">
            <a:avLst>
              <a:gd name="adj1" fmla="val -108370"/>
              <a:gd name="adj2" fmla="val 63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dirty="0"/>
              <a:t>编程要有规则，</a:t>
            </a:r>
            <a:endParaRPr lang="en-US" altLang="zh-CN" dirty="0"/>
          </a:p>
          <a:p>
            <a:pPr algn="ctr">
              <a:defRPr/>
            </a:pPr>
            <a:r>
              <a:rPr lang="zh-CN" altLang="en-US" dirty="0"/>
              <a:t>没有规矩不成方圆</a:t>
            </a:r>
          </a:p>
          <a:p>
            <a:pPr algn="ctr">
              <a:defRPr/>
            </a:pPr>
            <a:endParaRPr lang="en-US" altLang="zh-CN" sz="1000" dirty="0"/>
          </a:p>
          <a:p>
            <a:pPr algn="ctr">
              <a:defRPr/>
            </a:pPr>
            <a:r>
              <a:rPr lang="zh-CN" altLang="en-US" dirty="0"/>
              <a:t>高质量</a:t>
            </a:r>
            <a:r>
              <a:rPr lang="en-US" altLang="zh-CN" dirty="0"/>
              <a:t>C++/C</a:t>
            </a:r>
            <a:r>
              <a:rPr lang="zh-CN" altLang="en-US" dirty="0"/>
              <a:t>编程指南</a:t>
            </a:r>
          </a:p>
          <a:p>
            <a:pPr algn="ctr">
              <a:defRPr/>
            </a:pPr>
            <a:r>
              <a:rPr lang="zh-CN" altLang="en-US" dirty="0"/>
              <a:t>一本不错的编程规范</a:t>
            </a:r>
            <a:endParaRPr lang="en-US" altLang="zh-CN" dirty="0"/>
          </a:p>
        </p:txBody>
      </p:sp>
    </p:spTree>
  </p:cSld>
  <p:clrMapOvr>
    <a:masterClrMapping/>
  </p:clrMapOvr>
  <p:transition advClick="0" advTm="91209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3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972"/>
                  </p:tgtEl>
                </p:cond>
              </p:nextCondLst>
            </p:seq>
          </p:childTnLst>
        </p:cTn>
      </p:par>
    </p:tnLst>
    <p:bldLst>
      <p:bldP spid="83973" grpId="0" animBg="1" autoUpdateAnimBg="0"/>
    </p:bldLst>
  </p:timing>
  <p:extLst mod="1">
    <p:ext uri="{E180D4A7-C9FB-4DFB-919C-405C955672EB}">
      <p14:showEvtLst xmlns:p14="http://schemas.microsoft.com/office/powerpoint/2010/main">
        <p14:triggerEvt type="onClick" time="10476" objId="83972"/>
      </p14:showEvtLst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>
            <a:extLst>
              <a:ext uri="{FF2B5EF4-FFF2-40B4-BE49-F238E27FC236}">
                <a16:creationId xmlns:a16="http://schemas.microsoft.com/office/drawing/2014/main" id="{22235561-91BB-4533-853A-A752322E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5FF6C1-B4DD-47F5-B237-6F9CBA3815CF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7456CF5-9EC6-4978-B25A-10D94ED34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28800"/>
            <a:ext cx="7772400" cy="2057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8000" b="1">
                <a:latin typeface="宋体" panose="02010600030101010101" pitchFamily="2" charset="-122"/>
                <a:ea typeface="宋体" panose="02010600030101010101" pitchFamily="2" charset="-122"/>
              </a:rPr>
              <a:t>End</a:t>
            </a:r>
            <a:endParaRPr lang="en-US" altLang="zh-CN" sz="8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 advTm="9184"/>
</p:sld>
</file>

<file path=ppt/theme/theme1.xml><?xml version="1.0" encoding="utf-8"?>
<a:theme xmlns:a="http://schemas.openxmlformats.org/drawingml/2006/main" name="InternetComputing">
  <a:themeElements>
    <a:clrScheme name="软件技术基础">
      <a:dk1>
        <a:srgbClr val="000000"/>
      </a:dk1>
      <a:lt1>
        <a:srgbClr val="FF0000"/>
      </a:lt1>
      <a:dk2>
        <a:srgbClr val="000000"/>
      </a:dk2>
      <a:lt2>
        <a:srgbClr val="FF0000"/>
      </a:lt2>
      <a:accent1>
        <a:srgbClr val="0000D4"/>
      </a:accent1>
      <a:accent2>
        <a:srgbClr val="FFCBCC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InternetComputing">
      <a:majorFont>
        <a:latin typeface="Arial"/>
        <a:ea typeface=""/>
        <a:cs typeface=""/>
      </a:majorFont>
      <a:minorFont>
        <a:latin typeface="Book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InternetComput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etComputin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28125</TotalTime>
  <Words>6894</Words>
  <Application>Microsoft Office PowerPoint</Application>
  <PresentationFormat>全屏显示(4:3)</PresentationFormat>
  <Paragraphs>854</Paragraphs>
  <Slides>41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Bookman</vt:lpstr>
      <vt:lpstr>宋体</vt:lpstr>
      <vt:lpstr>微软雅黑</vt:lpstr>
      <vt:lpstr>Arial</vt:lpstr>
      <vt:lpstr>Times New Roman</vt:lpstr>
      <vt:lpstr>Wingdings</vt:lpstr>
      <vt:lpstr>InternetComputing</vt:lpstr>
      <vt:lpstr>数据结构与操作系统 （第二讲）</vt:lpstr>
      <vt:lpstr>2. 编程原理 内容介绍</vt:lpstr>
      <vt:lpstr>2. 编程原理 2.1 什么是编程</vt:lpstr>
      <vt:lpstr>2. 编程原理 2.2 程序语言与开发环境</vt:lpstr>
      <vt:lpstr>2. 编程原理 2.2 程序语言与开发环境</vt:lpstr>
      <vt:lpstr>2. 编程原理 2.2 程序语言与开发环境</vt:lpstr>
      <vt:lpstr>2. 编程原理 2.2 程序语言与开发环境</vt:lpstr>
      <vt:lpstr>2. 编程原理 2.2 程序语言与开发环境</vt:lpstr>
      <vt:lpstr>2. 编程原理 2.2 程序语言与开发环境</vt:lpstr>
      <vt:lpstr>2. 编程原理 2.2 程序语言与开发环境</vt:lpstr>
      <vt:lpstr>2. 编程原理 2.2 程序语言与开发环境</vt:lpstr>
      <vt:lpstr>2. 编程原理 2.2 程序语言与开发环境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2.3 程序语言的基本要素</vt:lpstr>
      <vt:lpstr>2. 编程原理 2.4 程序语言分类</vt:lpstr>
      <vt:lpstr>2. 编程原理 2.5 编程基本原则</vt:lpstr>
      <vt:lpstr>2. 编程原理 2.5 编程基本原则</vt:lpstr>
      <vt:lpstr>2. 编程原理 2.5 编程基本原则</vt:lpstr>
      <vt:lpstr>2. 编程原理 2.6 编程的学习方法</vt:lpstr>
      <vt:lpstr>2. 编程原理 2.6 编程的学习方法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1132</cp:revision>
  <dcterms:created xsi:type="dcterms:W3CDTF">1999-12-08T03:20:02Z</dcterms:created>
  <dcterms:modified xsi:type="dcterms:W3CDTF">2024-03-05T01:26:30Z</dcterms:modified>
</cp:coreProperties>
</file>