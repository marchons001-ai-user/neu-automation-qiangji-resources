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32"/>
  </p:handoutMasterIdLst>
  <p:sldIdLst>
    <p:sldId id="284" r:id="rId3"/>
    <p:sldId id="257" r:id="rId4"/>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9144000" cy="6858000" type="screen4x3"/>
  <p:notesSz cx="6648450" cy="9782175"/>
  <p:custDataLst>
    <p:tags r:id="rId36"/>
  </p:custDataLst>
  <p:defaultTextStyle>
    <a:defPPr>
      <a:defRPr lang="en-US"/>
    </a:defPPr>
    <a:lvl1pPr algn="l" rtl="0" eaLnBrk="0" fontAlgn="base" hangingPunct="0">
      <a:spcBef>
        <a:spcPct val="0"/>
      </a:spcBef>
      <a:spcAft>
        <a:spcPct val="0"/>
      </a:spcAft>
      <a:defRPr sz="1400" kern="1200">
        <a:solidFill>
          <a:schemeClr val="tx1"/>
        </a:solidFill>
        <a:latin typeface="Times New Roman" panose="02020603050405020304" pitchFamily="18" charset="0"/>
        <a:ea typeface="宋体" panose="02010600030101010101" pitchFamily="2" charset="-122"/>
        <a:cs typeface="+mn-cs"/>
      </a:defRPr>
    </a:lvl1pPr>
    <a:lvl2pPr marL="455930" indent="1905" algn="l" rtl="0" eaLnBrk="0" fontAlgn="base" hangingPunct="0">
      <a:spcBef>
        <a:spcPct val="0"/>
      </a:spcBef>
      <a:spcAft>
        <a:spcPct val="0"/>
      </a:spcAft>
      <a:defRPr sz="1400" kern="1200">
        <a:solidFill>
          <a:schemeClr val="tx1"/>
        </a:solidFill>
        <a:latin typeface="Times New Roman" panose="02020603050405020304" pitchFamily="18" charset="0"/>
        <a:ea typeface="宋体" panose="02010600030101010101" pitchFamily="2" charset="-122"/>
        <a:cs typeface="+mn-cs"/>
      </a:defRPr>
    </a:lvl2pPr>
    <a:lvl3pPr marL="913130" indent="1905" algn="l" rtl="0" eaLnBrk="0" fontAlgn="base" hangingPunct="0">
      <a:spcBef>
        <a:spcPct val="0"/>
      </a:spcBef>
      <a:spcAft>
        <a:spcPct val="0"/>
      </a:spcAft>
      <a:defRPr sz="1400" kern="1200">
        <a:solidFill>
          <a:schemeClr val="tx1"/>
        </a:solidFill>
        <a:latin typeface="Times New Roman" panose="02020603050405020304" pitchFamily="18" charset="0"/>
        <a:ea typeface="宋体" panose="02010600030101010101" pitchFamily="2" charset="-122"/>
        <a:cs typeface="+mn-cs"/>
      </a:defRPr>
    </a:lvl3pPr>
    <a:lvl4pPr marL="1370330" indent="1905" algn="l" rtl="0" eaLnBrk="0" fontAlgn="base" hangingPunct="0">
      <a:spcBef>
        <a:spcPct val="0"/>
      </a:spcBef>
      <a:spcAft>
        <a:spcPct val="0"/>
      </a:spcAft>
      <a:defRPr sz="1400" kern="1200">
        <a:solidFill>
          <a:schemeClr val="tx1"/>
        </a:solidFill>
        <a:latin typeface="Times New Roman" panose="02020603050405020304" pitchFamily="18" charset="0"/>
        <a:ea typeface="宋体" panose="02010600030101010101" pitchFamily="2" charset="-122"/>
        <a:cs typeface="+mn-cs"/>
      </a:defRPr>
    </a:lvl4pPr>
    <a:lvl5pPr marL="1827530" indent="1905" algn="l" rtl="0" eaLnBrk="0" fontAlgn="base" hangingPunct="0">
      <a:spcBef>
        <a:spcPct val="0"/>
      </a:spcBef>
      <a:spcAft>
        <a:spcPct val="0"/>
      </a:spcAft>
      <a:defRPr sz="1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1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1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1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66CC"/>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FFFFFF"/>
    <a:srgbClr val="FF66CC"/>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38" autoAdjust="0"/>
    <p:restoredTop sz="94683" autoAdjust="0"/>
  </p:normalViewPr>
  <p:slideViewPr>
    <p:cSldViewPr showGuides="1">
      <p:cViewPr varScale="1">
        <p:scale>
          <a:sx n="113" d="100"/>
          <a:sy n="113" d="100"/>
        </p:scale>
        <p:origin x="155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2658" y="-78"/>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6" Type="http://schemas.openxmlformats.org/officeDocument/2006/relationships/tags" Target="tags/tag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2881313" cy="488950"/>
          </a:xfrm>
          <a:prstGeom prst="rect">
            <a:avLst/>
          </a:prstGeom>
          <a:noFill/>
          <a:ln w="9525">
            <a:noFill/>
            <a:miter lim="800000"/>
          </a:ln>
          <a:effectLst/>
        </p:spPr>
        <p:txBody>
          <a:bodyPr vert="horz" wrap="square" lIns="93878" tIns="46939" rIns="93878" bIns="46939" numCol="1" anchor="t" anchorCtr="0" compatLnSpc="1"/>
          <a:lstStyle>
            <a:lvl1pPr algn="l" defTabSz="938530">
              <a:defRPr sz="1200"/>
            </a:lvl1pPr>
          </a:lstStyle>
          <a:p>
            <a:pPr>
              <a:defRPr/>
            </a:pPr>
            <a:endParaRPr lang="zh-CN" altLang="en-US"/>
          </a:p>
        </p:txBody>
      </p:sp>
      <p:sp>
        <p:nvSpPr>
          <p:cNvPr id="34819" name="Rectangle 3"/>
          <p:cNvSpPr>
            <a:spLocks noGrp="1" noChangeArrowheads="1"/>
          </p:cNvSpPr>
          <p:nvPr>
            <p:ph type="dt" sz="quarter" idx="1"/>
          </p:nvPr>
        </p:nvSpPr>
        <p:spPr bwMode="auto">
          <a:xfrm>
            <a:off x="3767138" y="0"/>
            <a:ext cx="2881312" cy="488950"/>
          </a:xfrm>
          <a:prstGeom prst="rect">
            <a:avLst/>
          </a:prstGeom>
          <a:noFill/>
          <a:ln w="9525">
            <a:noFill/>
            <a:miter lim="800000"/>
          </a:ln>
          <a:effectLst/>
        </p:spPr>
        <p:txBody>
          <a:bodyPr vert="horz" wrap="square" lIns="93878" tIns="46939" rIns="93878" bIns="46939" numCol="1" anchor="t" anchorCtr="0" compatLnSpc="1"/>
          <a:lstStyle>
            <a:lvl1pPr algn="r" defTabSz="938530">
              <a:defRPr sz="1200"/>
            </a:lvl1pPr>
          </a:lstStyle>
          <a:p>
            <a:pPr>
              <a:defRPr/>
            </a:pPr>
            <a:endParaRPr lang="en-US" altLang="zh-CN"/>
          </a:p>
        </p:txBody>
      </p:sp>
      <p:sp>
        <p:nvSpPr>
          <p:cNvPr id="34820" name="Rectangle 4"/>
          <p:cNvSpPr>
            <a:spLocks noGrp="1" noChangeArrowheads="1"/>
          </p:cNvSpPr>
          <p:nvPr>
            <p:ph type="ftr" sz="quarter" idx="2"/>
          </p:nvPr>
        </p:nvSpPr>
        <p:spPr bwMode="auto">
          <a:xfrm>
            <a:off x="0" y="9293225"/>
            <a:ext cx="2881313" cy="488950"/>
          </a:xfrm>
          <a:prstGeom prst="rect">
            <a:avLst/>
          </a:prstGeom>
          <a:noFill/>
          <a:ln w="9525">
            <a:noFill/>
            <a:miter lim="800000"/>
          </a:ln>
          <a:effectLst/>
        </p:spPr>
        <p:txBody>
          <a:bodyPr vert="horz" wrap="square" lIns="93878" tIns="46939" rIns="93878" bIns="46939" numCol="1" anchor="b" anchorCtr="0" compatLnSpc="1"/>
          <a:lstStyle>
            <a:lvl1pPr algn="l" defTabSz="938530">
              <a:defRPr sz="1200"/>
            </a:lvl1pPr>
          </a:lstStyle>
          <a:p>
            <a:pPr>
              <a:defRPr/>
            </a:pPr>
            <a:endParaRPr lang="en-US" altLang="zh-CN"/>
          </a:p>
        </p:txBody>
      </p:sp>
      <p:sp>
        <p:nvSpPr>
          <p:cNvPr id="34821" name="Rectangle 5"/>
          <p:cNvSpPr>
            <a:spLocks noGrp="1" noChangeArrowheads="1"/>
          </p:cNvSpPr>
          <p:nvPr>
            <p:ph type="sldNum" sz="quarter" idx="3"/>
          </p:nvPr>
        </p:nvSpPr>
        <p:spPr bwMode="auto">
          <a:xfrm>
            <a:off x="3767138" y="9293225"/>
            <a:ext cx="2881312" cy="488950"/>
          </a:xfrm>
          <a:prstGeom prst="rect">
            <a:avLst/>
          </a:prstGeom>
          <a:noFill/>
          <a:ln w="9525">
            <a:noFill/>
            <a:miter lim="800000"/>
          </a:ln>
          <a:effectLst/>
        </p:spPr>
        <p:txBody>
          <a:bodyPr vert="horz" wrap="square" lIns="93878" tIns="46939" rIns="93878" bIns="46939" numCol="1" anchor="b" anchorCtr="0" compatLnSpc="1"/>
          <a:lstStyle>
            <a:lvl1pPr algn="r" defTabSz="938530">
              <a:defRPr sz="1200"/>
            </a:lvl1pPr>
          </a:lstStyle>
          <a:p>
            <a:fld id="{BB82EBA6-5DA4-4448-B23D-0C2C38F88B83}"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881313" cy="488950"/>
          </a:xfrm>
          <a:prstGeom prst="rect">
            <a:avLst/>
          </a:prstGeom>
          <a:noFill/>
          <a:ln w="9525">
            <a:noFill/>
            <a:miter lim="800000"/>
          </a:ln>
          <a:effectLst/>
        </p:spPr>
        <p:txBody>
          <a:bodyPr vert="horz" wrap="square" lIns="93878" tIns="46939" rIns="93878" bIns="46939" numCol="1" anchor="t" anchorCtr="0" compatLnSpc="1"/>
          <a:lstStyle>
            <a:lvl1pPr algn="l" defTabSz="938530">
              <a:defRPr sz="1200"/>
            </a:lvl1pPr>
          </a:lstStyle>
          <a:p>
            <a:pPr>
              <a:defRPr/>
            </a:pPr>
            <a:endParaRPr lang="zh-CN" altLang="en-US"/>
          </a:p>
        </p:txBody>
      </p:sp>
      <p:sp>
        <p:nvSpPr>
          <p:cNvPr id="3075" name="Rectangle 3"/>
          <p:cNvSpPr>
            <a:spLocks noGrp="1" noChangeArrowheads="1"/>
          </p:cNvSpPr>
          <p:nvPr>
            <p:ph type="dt" idx="1"/>
          </p:nvPr>
        </p:nvSpPr>
        <p:spPr bwMode="auto">
          <a:xfrm>
            <a:off x="3767138" y="0"/>
            <a:ext cx="2881312" cy="488950"/>
          </a:xfrm>
          <a:prstGeom prst="rect">
            <a:avLst/>
          </a:prstGeom>
          <a:noFill/>
          <a:ln w="9525">
            <a:noFill/>
            <a:miter lim="800000"/>
          </a:ln>
          <a:effectLst/>
        </p:spPr>
        <p:txBody>
          <a:bodyPr vert="horz" wrap="square" lIns="93878" tIns="46939" rIns="93878" bIns="46939" numCol="1" anchor="t" anchorCtr="0" compatLnSpc="1"/>
          <a:lstStyle>
            <a:lvl1pPr algn="r" defTabSz="938530">
              <a:defRPr sz="1200"/>
            </a:lvl1pPr>
          </a:lstStyle>
          <a:p>
            <a:pPr>
              <a:defRPr/>
            </a:pPr>
            <a:endParaRPr lang="en-US" altLang="zh-CN"/>
          </a:p>
        </p:txBody>
      </p:sp>
      <p:sp>
        <p:nvSpPr>
          <p:cNvPr id="16388" name="Rectangle 4"/>
          <p:cNvSpPr>
            <a:spLocks noGrp="1" noRot="1" noChangeAspect="1" noChangeArrowheads="1" noTextEdit="1"/>
          </p:cNvSpPr>
          <p:nvPr>
            <p:ph type="sldImg" idx="2"/>
          </p:nvPr>
        </p:nvSpPr>
        <p:spPr bwMode="auto">
          <a:xfrm>
            <a:off x="879475" y="735013"/>
            <a:ext cx="4889500" cy="366712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885825" y="4646613"/>
            <a:ext cx="4876800" cy="4400550"/>
          </a:xfrm>
          <a:prstGeom prst="rect">
            <a:avLst/>
          </a:prstGeom>
          <a:noFill/>
          <a:ln w="9525">
            <a:noFill/>
            <a:miter lim="800000"/>
          </a:ln>
          <a:effectLst/>
        </p:spPr>
        <p:txBody>
          <a:bodyPr vert="horz" wrap="square" lIns="93878" tIns="46939" rIns="93878" bIns="46939"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3078" name="Rectangle 6"/>
          <p:cNvSpPr>
            <a:spLocks noGrp="1" noChangeArrowheads="1"/>
          </p:cNvSpPr>
          <p:nvPr>
            <p:ph type="ftr" sz="quarter" idx="4"/>
          </p:nvPr>
        </p:nvSpPr>
        <p:spPr bwMode="auto">
          <a:xfrm>
            <a:off x="0" y="9293225"/>
            <a:ext cx="2881313" cy="488950"/>
          </a:xfrm>
          <a:prstGeom prst="rect">
            <a:avLst/>
          </a:prstGeom>
          <a:noFill/>
          <a:ln w="9525">
            <a:noFill/>
            <a:miter lim="800000"/>
          </a:ln>
          <a:effectLst/>
        </p:spPr>
        <p:txBody>
          <a:bodyPr vert="horz" wrap="square" lIns="93878" tIns="46939" rIns="93878" bIns="46939" numCol="1" anchor="b" anchorCtr="0" compatLnSpc="1"/>
          <a:lstStyle>
            <a:lvl1pPr algn="l" defTabSz="938530">
              <a:defRPr sz="1200"/>
            </a:lvl1pPr>
          </a:lstStyle>
          <a:p>
            <a:pPr>
              <a:defRPr/>
            </a:pPr>
            <a:endParaRPr lang="en-US" altLang="zh-CN"/>
          </a:p>
        </p:txBody>
      </p:sp>
      <p:sp>
        <p:nvSpPr>
          <p:cNvPr id="3079" name="Rectangle 7"/>
          <p:cNvSpPr>
            <a:spLocks noGrp="1" noChangeArrowheads="1"/>
          </p:cNvSpPr>
          <p:nvPr>
            <p:ph type="sldNum" sz="quarter" idx="5"/>
          </p:nvPr>
        </p:nvSpPr>
        <p:spPr bwMode="auto">
          <a:xfrm>
            <a:off x="3767138" y="9293225"/>
            <a:ext cx="2881312" cy="488950"/>
          </a:xfrm>
          <a:prstGeom prst="rect">
            <a:avLst/>
          </a:prstGeom>
          <a:noFill/>
          <a:ln w="9525">
            <a:noFill/>
            <a:miter lim="800000"/>
          </a:ln>
          <a:effectLst/>
        </p:spPr>
        <p:txBody>
          <a:bodyPr vert="horz" wrap="square" lIns="93878" tIns="46939" rIns="93878" bIns="46939" numCol="1" anchor="b" anchorCtr="0" compatLnSpc="1"/>
          <a:lstStyle>
            <a:lvl1pPr algn="r" defTabSz="938530">
              <a:defRPr sz="1200"/>
            </a:lvl1pPr>
          </a:lstStyle>
          <a:p>
            <a:fld id="{4DE12281-EF4E-4721-BA3E-6D9147FF827C}"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593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313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033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753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9E00767E-BAFB-4B44-9A09-CEFE5915BBB4}" type="slidenum">
              <a:rPr lang="zh-CN" altLang="en-US" sz="1200"/>
            </a:fld>
            <a:endParaRPr lang="en-US" altLang="zh-CN"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p:sp>
      <p:sp>
        <p:nvSpPr>
          <p:cNvPr id="266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6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67620CF7-1A69-4A25-811A-B7AC90589A51}" type="slidenum">
              <a:rPr lang="zh-CN" altLang="en-US" sz="1200"/>
            </a:fld>
            <a:endParaRPr lang="en-US" altLang="zh-CN"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p:sp>
      <p:sp>
        <p:nvSpPr>
          <p:cNvPr id="2867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性质</a:t>
            </a:r>
            <a:r>
              <a:rPr lang="en-US" altLang="zh-CN"/>
              <a:t>3</a:t>
            </a:r>
            <a:r>
              <a:rPr lang="zh-CN" altLang="en-US"/>
              <a:t>，满二叉树，满足条件；如果减少一个叶子节点，同时也会减少一个度为</a:t>
            </a:r>
            <a:r>
              <a:rPr lang="en-US" altLang="zh-CN"/>
              <a:t>2</a:t>
            </a:r>
            <a:r>
              <a:rPr lang="zh-CN" altLang="en-US"/>
              <a:t>的节点，所以仍然成立；如果减少两个兄弟叶子节点，会减少一个度为</a:t>
            </a:r>
            <a:r>
              <a:rPr lang="en-US" altLang="zh-CN"/>
              <a:t>2</a:t>
            </a:r>
            <a:r>
              <a:rPr lang="zh-CN" altLang="en-US"/>
              <a:t>的父节点，同时父节点变为叶子节点，所以关系仍然成立，依此类推。</a:t>
            </a:r>
            <a:endParaRPr lang="zh-CN" altLang="en-US"/>
          </a:p>
        </p:txBody>
      </p:sp>
      <p:sp>
        <p:nvSpPr>
          <p:cNvPr id="2867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6FFE2610-50E9-4F62-A53D-4E96159D07F8}" type="slidenum">
              <a:rPr lang="zh-CN" altLang="en-US" sz="1200"/>
            </a:fld>
            <a:endParaRPr lang="en-US" altLang="zh-CN"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DA4FDF8B-ED97-4AE9-A8BF-7AF59F8CCE39}" type="slidenum">
              <a:rPr lang="zh-CN" altLang="en-US" sz="1200"/>
            </a:fld>
            <a:endParaRPr lang="en-US" altLang="zh-CN" sz="1200"/>
          </a:p>
        </p:txBody>
      </p:sp>
      <p:sp>
        <p:nvSpPr>
          <p:cNvPr id="30723" name="Rectangle 2"/>
          <p:cNvSpPr>
            <a:spLocks noGrp="1" noRot="1" noChangeAspect="1" noChangeArrowheads="1" noTextEdit="1"/>
          </p:cNvSpPr>
          <p:nvPr>
            <p:ph type="sldImg"/>
          </p:nvPr>
        </p:nvSpPr>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二叉树的性质说：深度为 </a:t>
            </a:r>
            <a:r>
              <a:rPr lang="en-US" altLang="zh-CN"/>
              <a:t>h </a:t>
            </a:r>
            <a:r>
              <a:rPr lang="zh-CN" altLang="en-US"/>
              <a:t>最多含有 2</a:t>
            </a:r>
            <a:r>
              <a:rPr lang="en-US" altLang="zh-CN"/>
              <a:t> </a:t>
            </a:r>
            <a:r>
              <a:rPr lang="en-US" altLang="zh-CN" baseline="30000"/>
              <a:t>h</a:t>
            </a:r>
            <a:r>
              <a:rPr lang="en-US" altLang="zh-CN"/>
              <a:t> </a:t>
            </a:r>
            <a:r>
              <a:rPr lang="zh-CN" altLang="en-US"/>
              <a:t>– 1 个结点，满二叉树就是深度为</a:t>
            </a:r>
            <a:r>
              <a:rPr lang="en-US" altLang="zh-CN"/>
              <a:t>h</a:t>
            </a:r>
            <a:r>
              <a:rPr lang="zh-CN" altLang="en-US"/>
              <a:t>且含有最多节点的二叉树。</a:t>
            </a:r>
            <a:endParaRPr lang="en-US" altLang="zh-CN"/>
          </a:p>
          <a:p>
            <a:pPr eaLnBrk="1" hangingPunct="1"/>
            <a:r>
              <a:rPr lang="zh-CN" altLang="en-US"/>
              <a:t>按广度优先的顺序进行编号</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p:sp>
      <p:sp>
        <p:nvSpPr>
          <p:cNvPr id="327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如果完全二叉树少结点的话，只能是少编号最大的结点。</a:t>
            </a:r>
            <a:endParaRPr lang="zh-CN" altLang="en-US"/>
          </a:p>
        </p:txBody>
      </p:sp>
      <p:sp>
        <p:nvSpPr>
          <p:cNvPr id="327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61A51A57-972F-4DAF-9518-4F7D9DA2CE56}" type="slidenum">
              <a:rPr lang="zh-CN" altLang="en-US" sz="1200"/>
            </a:fld>
            <a:endParaRPr lang="en-US" altLang="zh-CN"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p:sp>
      <p:sp>
        <p:nvSpPr>
          <p:cNvPr id="378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对根、左右子树的不同访问顺序，构成不同的遍历方法。</a:t>
            </a:r>
            <a:endParaRPr lang="en-US" altLang="zh-CN"/>
          </a:p>
          <a:p>
            <a:r>
              <a:rPr lang="zh-CN" altLang="en-US"/>
              <a:t>总共有</a:t>
            </a:r>
            <a:r>
              <a:rPr lang="en-US" altLang="zh-CN"/>
              <a:t>6</a:t>
            </a:r>
            <a:r>
              <a:rPr lang="zh-CN" altLang="en-US"/>
              <a:t>种排列方法，如果考虑左子树在前，右子树在后，就剩下了</a:t>
            </a:r>
            <a:r>
              <a:rPr lang="en-US" altLang="zh-CN"/>
              <a:t>3</a:t>
            </a:r>
            <a:r>
              <a:rPr lang="zh-CN" altLang="en-US"/>
              <a:t>种。根据访问根的先后顺序，可以分为：先序、中序和后续遍历。</a:t>
            </a:r>
            <a:endParaRPr lang="zh-CN" altLang="en-US"/>
          </a:p>
        </p:txBody>
      </p:sp>
      <p:sp>
        <p:nvSpPr>
          <p:cNvPr id="378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81EB6EAC-7A36-4360-B7F0-5D30AAFABF99}" type="slidenum">
              <a:rPr lang="zh-CN" altLang="en-US" sz="1200"/>
            </a:fld>
            <a:endParaRPr lang="en-US" altLang="zh-CN"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p:sp>
      <p:sp>
        <p:nvSpPr>
          <p:cNvPr id="399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99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1EC27C16-B36C-4EDC-9358-59005D080F82}" type="slidenum">
              <a:rPr lang="zh-CN" altLang="en-US" sz="1200"/>
            </a:fld>
            <a:endParaRPr lang="en-US" altLang="zh-CN"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p:sp>
      <p:sp>
        <p:nvSpPr>
          <p:cNvPr id="430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请同学做后续遍历，给出遍历的结点序列。</a:t>
            </a:r>
            <a:endParaRPr lang="zh-CN" altLang="en-US"/>
          </a:p>
        </p:txBody>
      </p:sp>
      <p:sp>
        <p:nvSpPr>
          <p:cNvPr id="4301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80686325-7245-4BE6-8EC1-0FFABD1EE5AB}" type="slidenum">
              <a:rPr lang="zh-CN" altLang="en-US" sz="1200"/>
            </a:fld>
            <a:endParaRPr lang="en-US" altLang="zh-CN"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p:sp>
      <p:sp>
        <p:nvSpPr>
          <p:cNvPr id="471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BE004C04-2CB7-4C54-9BC6-5F83D2F06EE7}" type="slidenum">
              <a:rPr lang="zh-CN" altLang="en-US" sz="1200"/>
            </a:fld>
            <a:endParaRPr lang="en-US" altLang="zh-CN"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p:sp>
      <p:sp>
        <p:nvSpPr>
          <p:cNvPr id="522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例如评选优秀学生：学习成绩</a:t>
            </a:r>
            <a:r>
              <a:rPr lang="en-US" altLang="zh-CN"/>
              <a:t>100</a:t>
            </a:r>
            <a:r>
              <a:rPr lang="zh-CN" altLang="en-US"/>
              <a:t>分*</a:t>
            </a:r>
            <a:r>
              <a:rPr lang="en-US" altLang="zh-CN"/>
              <a:t>0.9+</a:t>
            </a:r>
            <a:r>
              <a:rPr lang="zh-CN" altLang="en-US"/>
              <a:t>思想品德</a:t>
            </a:r>
            <a:r>
              <a:rPr lang="en-US" altLang="zh-CN"/>
              <a:t>100</a:t>
            </a:r>
            <a:r>
              <a:rPr lang="zh-CN" altLang="en-US"/>
              <a:t>分*</a:t>
            </a:r>
            <a:r>
              <a:rPr lang="en-US" altLang="zh-CN"/>
              <a:t>0.1</a:t>
            </a:r>
            <a:r>
              <a:rPr lang="zh-CN" altLang="en-US"/>
              <a:t>。</a:t>
            </a:r>
            <a:endParaRPr lang="zh-CN" altLang="en-US"/>
          </a:p>
        </p:txBody>
      </p:sp>
      <p:sp>
        <p:nvSpPr>
          <p:cNvPr id="522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defTabSz="938530">
              <a:defRPr sz="1400">
                <a:solidFill>
                  <a:schemeClr val="tx1"/>
                </a:solidFill>
                <a:latin typeface="Times New Roman" panose="02020603050405020304" pitchFamily="18" charset="0"/>
                <a:ea typeface="宋体" panose="02010600030101010101" pitchFamily="2" charset="-122"/>
              </a:defRPr>
            </a:lvl2pPr>
            <a:lvl3pPr defTabSz="938530">
              <a:defRPr sz="1400">
                <a:solidFill>
                  <a:schemeClr val="tx1"/>
                </a:solidFill>
                <a:latin typeface="Times New Roman" panose="02020603050405020304" pitchFamily="18" charset="0"/>
                <a:ea typeface="宋体" panose="02010600030101010101" pitchFamily="2" charset="-122"/>
              </a:defRPr>
            </a:lvl3pPr>
            <a:lvl4pPr defTabSz="938530">
              <a:defRPr sz="1400">
                <a:solidFill>
                  <a:schemeClr val="tx1"/>
                </a:solidFill>
                <a:latin typeface="Times New Roman" panose="02020603050405020304" pitchFamily="18" charset="0"/>
                <a:ea typeface="宋体" panose="02010600030101010101" pitchFamily="2" charset="-122"/>
              </a:defRPr>
            </a:lvl4pPr>
            <a:lvl5pPr defTabSz="938530">
              <a:defRPr sz="1400">
                <a:solidFill>
                  <a:schemeClr val="tx1"/>
                </a:solidFill>
                <a:latin typeface="Times New Roman" panose="02020603050405020304" pitchFamily="18" charset="0"/>
                <a:ea typeface="宋体" panose="02010600030101010101" pitchFamily="2" charset="-122"/>
              </a:defRPr>
            </a:lvl5pPr>
            <a:lvl6pPr marL="2284730" indent="1905"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741930" indent="1905"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199130" indent="1905"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656330" indent="1905"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598A7A44-C141-4A2B-96FD-70F7A3F82FA7}" type="slidenum">
              <a:rPr lang="zh-CN" altLang="en-US" sz="1200"/>
            </a:fld>
            <a:endParaRPr lang="en-US" altLang="zh-CN"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1D3FE24F-5177-4D24-AC43-F0204A8A5466}" type="slidenum">
              <a:rPr lang="zh-CN" altLang="en-US" sz="1200"/>
            </a:fld>
            <a:endParaRPr lang="en-US" altLang="zh-CN" sz="1200"/>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t>kokomade</a:t>
            </a:r>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p:sp>
      <p:sp>
        <p:nvSpPr>
          <p:cNvPr id="573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通过正常思维下算法的比较次数分析，</a:t>
            </a:r>
            <a:r>
              <a:rPr lang="en-US" altLang="zh-CN"/>
              <a:t>100</a:t>
            </a:r>
            <a:r>
              <a:rPr lang="zh-CN" altLang="en-US"/>
              <a:t>个学生的比较次数是</a:t>
            </a:r>
            <a:r>
              <a:rPr lang="en-US" altLang="zh-CN"/>
              <a:t>315</a:t>
            </a:r>
            <a:r>
              <a:rPr lang="zh-CN" altLang="en-US"/>
              <a:t>，平均比较次数是</a:t>
            </a:r>
            <a:r>
              <a:rPr lang="en-US" altLang="zh-CN"/>
              <a:t>3.15</a:t>
            </a:r>
            <a:r>
              <a:rPr lang="zh-CN" altLang="en-US"/>
              <a:t>，而</a:t>
            </a:r>
            <a:r>
              <a:rPr lang="en-US" altLang="zh-CN"/>
              <a:t>WPL=3.15</a:t>
            </a:r>
            <a:r>
              <a:rPr lang="zh-CN" altLang="en-US"/>
              <a:t>，说明带权路径长度就是算法平均比较次数。而带权路径长度最小的是哈夫曼树，所以通过哈夫曼树构造算法，应该平均比较次数最少。</a:t>
            </a:r>
            <a:endParaRPr lang="en-US" altLang="zh-CN"/>
          </a:p>
          <a:p>
            <a:endParaRPr lang="zh-CN" altLang="en-US"/>
          </a:p>
        </p:txBody>
      </p:sp>
      <p:sp>
        <p:nvSpPr>
          <p:cNvPr id="573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C80D375F-67BE-4E34-8744-7FBE3FACEE8E}" type="slidenum">
              <a:rPr lang="zh-CN" altLang="en-US" sz="1200"/>
            </a:fld>
            <a:endParaRPr lang="en-US" altLang="zh-CN"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p:sp>
      <p:sp>
        <p:nvSpPr>
          <p:cNvPr id="593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26</a:t>
            </a:r>
            <a:r>
              <a:rPr lang="zh-CN" altLang="en-US"/>
              <a:t>个字母，用定长编码，可以用</a:t>
            </a:r>
            <a:r>
              <a:rPr lang="en-US" altLang="zh-CN"/>
              <a:t>5</a:t>
            </a:r>
            <a:r>
              <a:rPr lang="zh-CN" altLang="en-US"/>
              <a:t>位二进制</a:t>
            </a:r>
            <a:r>
              <a:rPr lang="en-US" altLang="zh-CN"/>
              <a:t>01</a:t>
            </a:r>
            <a:r>
              <a:rPr lang="zh-CN" altLang="en-US"/>
              <a:t>串进行编码。</a:t>
            </a:r>
            <a:endParaRPr lang="zh-CN" altLang="en-US"/>
          </a:p>
        </p:txBody>
      </p:sp>
      <p:sp>
        <p:nvSpPr>
          <p:cNvPr id="593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151284D7-1E57-4513-BA80-55A13B50DC30}" type="slidenum">
              <a:rPr lang="zh-CN" altLang="en-US" sz="1200"/>
            </a:fld>
            <a:endParaRPr lang="en-US" altLang="zh-CN"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defRPr sz="1400">
                <a:solidFill>
                  <a:schemeClr val="tx1"/>
                </a:solidFill>
                <a:latin typeface="Times New Roman" panose="02020603050405020304" pitchFamily="18" charset="0"/>
                <a:ea typeface="宋体" panose="02010600030101010101" pitchFamily="2" charset="-122"/>
              </a:defRPr>
            </a:lvl1pPr>
            <a:lvl2pPr marL="742950" indent="-285750" defTabSz="938530">
              <a:defRPr sz="1400">
                <a:solidFill>
                  <a:schemeClr val="tx1"/>
                </a:solidFill>
                <a:latin typeface="Times New Roman" panose="02020603050405020304" pitchFamily="18" charset="0"/>
                <a:ea typeface="宋体" panose="02010600030101010101" pitchFamily="2" charset="-122"/>
              </a:defRPr>
            </a:lvl2pPr>
            <a:lvl3pPr marL="1143000" indent="-228600" defTabSz="938530">
              <a:defRPr sz="1400">
                <a:solidFill>
                  <a:schemeClr val="tx1"/>
                </a:solidFill>
                <a:latin typeface="Times New Roman" panose="02020603050405020304" pitchFamily="18" charset="0"/>
                <a:ea typeface="宋体" panose="02010600030101010101" pitchFamily="2" charset="-122"/>
              </a:defRPr>
            </a:lvl3pPr>
            <a:lvl4pPr marL="1600200" indent="-228600" defTabSz="938530">
              <a:defRPr sz="1400">
                <a:solidFill>
                  <a:schemeClr val="tx1"/>
                </a:solidFill>
                <a:latin typeface="Times New Roman" panose="02020603050405020304" pitchFamily="18" charset="0"/>
                <a:ea typeface="宋体" panose="02010600030101010101" pitchFamily="2" charset="-122"/>
              </a:defRPr>
            </a:lvl4pPr>
            <a:lvl5pPr marL="2057400" indent="-228600" defTabSz="938530">
              <a:defRPr sz="1400">
                <a:solidFill>
                  <a:schemeClr val="tx1"/>
                </a:solidFill>
                <a:latin typeface="Times New Roman" panose="02020603050405020304" pitchFamily="18" charset="0"/>
                <a:ea typeface="宋体" panose="02010600030101010101" pitchFamily="2" charset="-122"/>
              </a:defRPr>
            </a:lvl5pPr>
            <a:lvl6pPr marL="25146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53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BABEB90E-ACB5-40CE-9542-4FA2C0C5FB0E}" type="slidenum">
              <a:rPr lang="zh-CN" altLang="en-US" sz="1200"/>
            </a:fld>
            <a:endParaRPr lang="en-US" altLang="zh-CN" sz="1200"/>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a:p>
            <a:pPr eaLnBrk="1" hangingPunct="1"/>
            <a:endParaRPr lang="zh-CN" altLang="en-US"/>
          </a:p>
          <a:p>
            <a:pPr eaLnBrk="1" hangingPunct="1"/>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6" name="灯片编号占位符 5"/>
          <p:cNvSpPr>
            <a:spLocks noGrp="1"/>
          </p:cNvSpPr>
          <p:nvPr>
            <p:ph type="sldNum" sz="quarter" idx="12"/>
          </p:nvPr>
        </p:nvSpPr>
        <p:spPr/>
        <p:txBody>
          <a:bodyPr/>
          <a:lstStyle>
            <a:lvl1pPr>
              <a:defRPr/>
            </a:lvl1pPr>
          </a:lstStyle>
          <a:p>
            <a:fld id="{D9C2C418-C01E-4193-BDA9-F65BBEB7F8B8}"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6" name="灯片编号占位符 5"/>
          <p:cNvSpPr>
            <a:spLocks noGrp="1"/>
          </p:cNvSpPr>
          <p:nvPr>
            <p:ph type="sldNum" sz="quarter" idx="12"/>
          </p:nvPr>
        </p:nvSpPr>
        <p:spPr/>
        <p:txBody>
          <a:bodyPr/>
          <a:lstStyle>
            <a:lvl1pPr>
              <a:defRPr/>
            </a:lvl1pPr>
          </a:lstStyle>
          <a:p>
            <a:fld id="{456ADB58-D30A-4130-ABE5-9635AF734BD7}"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4" y="4406901"/>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4" y="2906714"/>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6" name="灯片编号占位符 5"/>
          <p:cNvSpPr>
            <a:spLocks noGrp="1"/>
          </p:cNvSpPr>
          <p:nvPr>
            <p:ph type="sldNum" sz="quarter" idx="12"/>
          </p:nvPr>
        </p:nvSpPr>
        <p:spPr/>
        <p:txBody>
          <a:bodyPr/>
          <a:lstStyle>
            <a:lvl1pPr>
              <a:defRPr/>
            </a:lvl1pPr>
          </a:lstStyle>
          <a:p>
            <a:fld id="{4BF7963C-56D3-4A2F-BE3B-5DE682D8B6A4}"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9213" y="1101726"/>
            <a:ext cx="4419600" cy="5476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21214" y="1101726"/>
            <a:ext cx="4421187" cy="5476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7" name="灯片编号占位符 6"/>
          <p:cNvSpPr>
            <a:spLocks noGrp="1"/>
          </p:cNvSpPr>
          <p:nvPr>
            <p:ph type="sldNum" sz="quarter" idx="12"/>
          </p:nvPr>
        </p:nvSpPr>
        <p:spPr/>
        <p:txBody>
          <a:bodyPr/>
          <a:lstStyle>
            <a:lvl1pPr>
              <a:defRPr/>
            </a:lvl1pPr>
          </a:lstStyle>
          <a:p>
            <a:fld id="{05EDD22A-8AD0-4AAE-8954-3E022BDD29C8}"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lvl1pPr>
              <a:defRPr/>
            </a:lvl1pPr>
          </a:lstStyle>
          <a:p>
            <a:pPr>
              <a:defRPr/>
            </a:pPr>
            <a:endParaRPr lang="en-US" altLang="zh-CN"/>
          </a:p>
        </p:txBody>
      </p:sp>
      <p:sp>
        <p:nvSpPr>
          <p:cNvPr id="8" name="页脚占位符 7"/>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9" name="灯片编号占位符 8"/>
          <p:cNvSpPr>
            <a:spLocks noGrp="1"/>
          </p:cNvSpPr>
          <p:nvPr>
            <p:ph type="sldNum" sz="quarter" idx="12"/>
          </p:nvPr>
        </p:nvSpPr>
        <p:spPr/>
        <p:txBody>
          <a:bodyPr/>
          <a:lstStyle>
            <a:lvl1pPr>
              <a:defRPr/>
            </a:lvl1pPr>
          </a:lstStyle>
          <a:p>
            <a:fld id="{6E4306F0-E305-40F3-8F49-A1E408917B8C}"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endParaRPr lang="en-US" altLang="zh-CN"/>
          </a:p>
        </p:txBody>
      </p:sp>
      <p:sp>
        <p:nvSpPr>
          <p:cNvPr id="4" name="页脚占位符 3"/>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5" name="灯片编号占位符 4"/>
          <p:cNvSpPr>
            <a:spLocks noGrp="1"/>
          </p:cNvSpPr>
          <p:nvPr>
            <p:ph type="sldNum" sz="quarter" idx="12"/>
          </p:nvPr>
        </p:nvSpPr>
        <p:spPr/>
        <p:txBody>
          <a:bodyPr/>
          <a:lstStyle>
            <a:lvl1pPr>
              <a:defRPr/>
            </a:lvl1pPr>
          </a:lstStyle>
          <a:p>
            <a:fld id="{C7BE2C23-8ADA-482D-BC74-634C80E6E39E}"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endParaRPr lang="en-US" altLang="zh-CN"/>
          </a:p>
        </p:txBody>
      </p:sp>
      <p:sp>
        <p:nvSpPr>
          <p:cNvPr id="3" name="页脚占位符 2"/>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4" name="灯片编号占位符 3"/>
          <p:cNvSpPr>
            <a:spLocks noGrp="1"/>
          </p:cNvSpPr>
          <p:nvPr>
            <p:ph type="sldNum" sz="quarter" idx="12"/>
          </p:nvPr>
        </p:nvSpPr>
        <p:spPr/>
        <p:txBody>
          <a:bodyPr/>
          <a:lstStyle>
            <a:lvl1pPr>
              <a:defRPr/>
            </a:lvl1pPr>
          </a:lstStyle>
          <a:p>
            <a:fld id="{42502A6E-A469-4BD7-8B0F-ACB9C530A6B0}"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1"/>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7" name="灯片编号占位符 6"/>
          <p:cNvSpPr>
            <a:spLocks noGrp="1"/>
          </p:cNvSpPr>
          <p:nvPr>
            <p:ph type="sldNum" sz="quarter" idx="12"/>
          </p:nvPr>
        </p:nvSpPr>
        <p:spPr/>
        <p:txBody>
          <a:bodyPr/>
          <a:lstStyle>
            <a:lvl1pPr>
              <a:defRPr/>
            </a:lvl1pPr>
          </a:lstStyle>
          <a:p>
            <a:fld id="{C217B1F2-6991-4B69-8C97-0A5902B971AA}"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7" name="灯片编号占位符 6"/>
          <p:cNvSpPr>
            <a:spLocks noGrp="1"/>
          </p:cNvSpPr>
          <p:nvPr>
            <p:ph type="sldNum" sz="quarter" idx="12"/>
          </p:nvPr>
        </p:nvSpPr>
        <p:spPr/>
        <p:txBody>
          <a:bodyPr/>
          <a:lstStyle>
            <a:lvl1pPr>
              <a:defRPr/>
            </a:lvl1pPr>
          </a:lstStyle>
          <a:p>
            <a:fld id="{647E72BC-1108-42AD-892F-CC19FE191658}"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6" name="灯片编号占位符 5"/>
          <p:cNvSpPr>
            <a:spLocks noGrp="1"/>
          </p:cNvSpPr>
          <p:nvPr>
            <p:ph type="sldNum" sz="quarter" idx="12"/>
          </p:nvPr>
        </p:nvSpPr>
        <p:spPr/>
        <p:txBody>
          <a:bodyPr/>
          <a:lstStyle>
            <a:lvl1pPr>
              <a:defRPr/>
            </a:lvl1pPr>
          </a:lstStyle>
          <a:p>
            <a:fld id="{A6995B45-72CE-491E-ABBC-290F61E360F1}"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94500" y="44450"/>
            <a:ext cx="2247900" cy="65341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9214" y="44450"/>
            <a:ext cx="6592887" cy="65341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6" name="灯片编号占位符 5"/>
          <p:cNvSpPr>
            <a:spLocks noGrp="1"/>
          </p:cNvSpPr>
          <p:nvPr>
            <p:ph type="sldNum" sz="quarter" idx="12"/>
          </p:nvPr>
        </p:nvSpPr>
        <p:spPr/>
        <p:txBody>
          <a:bodyPr/>
          <a:lstStyle>
            <a:lvl1pPr>
              <a:defRPr/>
            </a:lvl1pPr>
          </a:lstStyle>
          <a:p>
            <a:fld id="{71C851A8-8F8A-40EF-B95D-3AB347E21767}"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4450"/>
            <a:ext cx="7772400" cy="9144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9213" y="1101726"/>
            <a:ext cx="4419600" cy="54768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21214" y="1101725"/>
            <a:ext cx="4421187" cy="26622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21214" y="3916364"/>
            <a:ext cx="4421187" cy="26622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p:txBody>
          <a:bodyPr/>
          <a:lstStyle>
            <a:lvl1pPr>
              <a:defRPr/>
            </a:lvl1pPr>
          </a:lstStyle>
          <a:p>
            <a:pPr>
              <a:defRPr/>
            </a:pPr>
            <a:endParaRPr lang="en-US" altLang="zh-CN"/>
          </a:p>
        </p:txBody>
      </p:sp>
      <p:sp>
        <p:nvSpPr>
          <p:cNvPr id="7" name="页脚占位符 6"/>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8" name="灯片编号占位符 7"/>
          <p:cNvSpPr>
            <a:spLocks noGrp="1"/>
          </p:cNvSpPr>
          <p:nvPr>
            <p:ph type="sldNum" sz="quarter" idx="12"/>
          </p:nvPr>
        </p:nvSpPr>
        <p:spPr/>
        <p:txBody>
          <a:bodyPr/>
          <a:lstStyle>
            <a:lvl1pPr>
              <a:defRPr/>
            </a:lvl1pPr>
          </a:lstStyle>
          <a:p>
            <a:fld id="{6FC97BEF-9DF5-493D-AC10-9E8DDC49EAAC}"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685800" y="44450"/>
            <a:ext cx="7772400" cy="9144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9213" y="1101726"/>
            <a:ext cx="4419600" cy="54768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图表占位符 3"/>
          <p:cNvSpPr>
            <a:spLocks noGrp="1"/>
          </p:cNvSpPr>
          <p:nvPr>
            <p:ph type="chart" sz="half" idx="2"/>
          </p:nvPr>
        </p:nvSpPr>
        <p:spPr>
          <a:xfrm>
            <a:off x="4621214" y="1101726"/>
            <a:ext cx="4421187" cy="5476875"/>
          </a:xfrm>
        </p:spPr>
        <p:txBody>
          <a:bodyPr/>
          <a:lstStyle/>
          <a:p>
            <a:pPr lvl="0"/>
            <a:endParaRPr lang="zh-CN" altLang="en-US" noProof="0"/>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7" name="灯片编号占位符 6"/>
          <p:cNvSpPr>
            <a:spLocks noGrp="1"/>
          </p:cNvSpPr>
          <p:nvPr>
            <p:ph type="sldNum" sz="quarter" idx="12"/>
          </p:nvPr>
        </p:nvSpPr>
        <p:spPr/>
        <p:txBody>
          <a:bodyPr/>
          <a:lstStyle>
            <a:lvl1pPr>
              <a:defRPr/>
            </a:lvl1pPr>
          </a:lstStyle>
          <a:p>
            <a:fld id="{E1B865D9-F681-4C33-A78F-CD100354BCEF}"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89"/>
            <a:ext cx="7772400" cy="9144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36525" y="1096964"/>
            <a:ext cx="4362450" cy="5738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51375" y="1096964"/>
            <a:ext cx="4362450" cy="5738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7" name="灯片编号占位符 6"/>
          <p:cNvSpPr>
            <a:spLocks noGrp="1"/>
          </p:cNvSpPr>
          <p:nvPr>
            <p:ph type="sldNum" sz="quarter" idx="12"/>
          </p:nvPr>
        </p:nvSpPr>
        <p:spPr/>
        <p:txBody>
          <a:bodyPr/>
          <a:lstStyle>
            <a:lvl1pPr>
              <a:defRPr/>
            </a:lvl1pPr>
          </a:lstStyle>
          <a:p>
            <a:fld id="{2A7C343F-B83F-4AE6-8FBA-FB675D435C94}" type="slidenum">
              <a:rPr lang="zh-CN" altLang="en-US"/>
            </a:fld>
            <a:endParaRPr lang="en-US" altLang="zh-CN">
              <a:latin typeface="Times New Roman" panose="02020603050405020304" pitchFamily="18" charset="0"/>
            </a:endParaRPr>
          </a:p>
        </p:txBody>
      </p:sp>
    </p:spTree>
  </p:cSld>
  <p:clrMapOvr>
    <a:masterClrMapping/>
  </p:clrMapOvr>
  <p:transition advClick="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44450"/>
            <a:ext cx="7772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3" tIns="45717" rIns="91433" bIns="45717" numCol="1" anchor="ctr" anchorCtr="0" compatLnSpc="1"/>
          <a:lstStyle/>
          <a:p>
            <a:pPr lvl="0"/>
            <a:r>
              <a:rPr lang="en-US" altLang="zh-CN"/>
              <a:t>Click to edit Master title style</a:t>
            </a:r>
            <a:endParaRPr lang="en-US" altLang="zh-CN"/>
          </a:p>
        </p:txBody>
      </p:sp>
      <p:sp>
        <p:nvSpPr>
          <p:cNvPr id="1027" name="Rectangle 3"/>
          <p:cNvSpPr>
            <a:spLocks noGrp="1" noChangeArrowheads="1"/>
          </p:cNvSpPr>
          <p:nvPr>
            <p:ph type="body" idx="1"/>
          </p:nvPr>
        </p:nvSpPr>
        <p:spPr bwMode="auto">
          <a:xfrm>
            <a:off x="49213" y="1101725"/>
            <a:ext cx="8993187" cy="547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3" tIns="45717" rIns="91433" bIns="45717"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33" tIns="45717" rIns="91433" bIns="45717" numCol="1" anchor="t" anchorCtr="0" compatLnSpc="1"/>
          <a:lstStyle>
            <a:lvl1pPr algn="l">
              <a:defRPr>
                <a:solidFill>
                  <a:schemeClr val="bg2"/>
                </a:solidFill>
                <a:latin typeface="+mj-lt"/>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33" tIns="45717" rIns="91433" bIns="45717" numCol="1" anchor="t" anchorCtr="0" compatLnSpc="1"/>
          <a:lstStyle>
            <a:lvl1pPr algn="ctr">
              <a:defRPr b="1">
                <a:solidFill>
                  <a:schemeClr val="bg2"/>
                </a:solidFill>
                <a:latin typeface="+mj-lt"/>
              </a:defRPr>
            </a:lvl1pPr>
          </a:lstStyle>
          <a:p>
            <a:pPr>
              <a:defRPr/>
            </a:pPr>
            <a:r>
              <a:rPr lang="zh-CN" altLang="en-US"/>
              <a:t>软件技术基础 东北大学 王庆 2005 R3</a:t>
            </a:r>
            <a:endParaRPr lang="en-US" altLang="zh-CN"/>
          </a:p>
        </p:txBody>
      </p:sp>
      <p:sp>
        <p:nvSpPr>
          <p:cNvPr id="1030" name="Rectangle 6"/>
          <p:cNvSpPr>
            <a:spLocks noGrp="1" noChangeArrowheads="1"/>
          </p:cNvSpPr>
          <p:nvPr>
            <p:ph type="sldNum" sz="quarter" idx="4"/>
          </p:nvPr>
        </p:nvSpPr>
        <p:spPr bwMode="auto">
          <a:xfrm>
            <a:off x="7131050" y="6524625"/>
            <a:ext cx="1905000" cy="217488"/>
          </a:xfrm>
          <a:prstGeom prst="rect">
            <a:avLst/>
          </a:prstGeom>
          <a:noFill/>
          <a:ln w="9525">
            <a:noFill/>
            <a:miter lim="800000"/>
          </a:ln>
          <a:effectLst/>
        </p:spPr>
        <p:txBody>
          <a:bodyPr vert="horz" wrap="square" lIns="91433" tIns="45717" rIns="91433" bIns="45717" numCol="1" anchor="t" anchorCtr="0" compatLnSpc="1"/>
          <a:lstStyle>
            <a:lvl1pPr algn="r">
              <a:defRPr>
                <a:solidFill>
                  <a:schemeClr val="bg2"/>
                </a:solidFill>
                <a:latin typeface="Arial" panose="020B0604020202020204" pitchFamily="34" charset="0"/>
              </a:defRPr>
            </a:lvl1pPr>
          </a:lstStyle>
          <a:p>
            <a:fld id="{CCAE4FFB-9667-4FA0-B779-8F4675C11C97}" type="slidenum">
              <a:rPr lang="zh-CN" altLang="en-US"/>
            </a:fld>
            <a:endParaRPr lang="en-US" altLang="zh-CN"/>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advClick="0"/>
  <p:hf hdr="0" ftr="0" dt="0"/>
  <p:txStyles>
    <p:titleStyle>
      <a:lvl1pPr algn="ctr" rtl="0" eaLnBrk="0" fontAlgn="base" hangingPunct="0">
        <a:spcBef>
          <a:spcPct val="0"/>
        </a:spcBef>
        <a:spcAft>
          <a:spcPct val="0"/>
        </a:spcAft>
        <a:defRPr sz="4000">
          <a:solidFill>
            <a:schemeClr val="bg2"/>
          </a:solidFill>
          <a:latin typeface="+mj-lt"/>
          <a:ea typeface="+mj-ea"/>
          <a:cs typeface="+mj-cs"/>
        </a:defRPr>
      </a:lvl1pPr>
      <a:lvl2pPr algn="ctr" rtl="0" eaLnBrk="0" fontAlgn="base" hangingPunct="0">
        <a:spcBef>
          <a:spcPct val="0"/>
        </a:spcBef>
        <a:spcAft>
          <a:spcPct val="0"/>
        </a:spcAft>
        <a:defRPr sz="4000">
          <a:solidFill>
            <a:schemeClr val="bg2"/>
          </a:solidFill>
          <a:latin typeface="Arial" panose="020B0604020202020204" pitchFamily="34" charset="0"/>
        </a:defRPr>
      </a:lvl2pPr>
      <a:lvl3pPr algn="ctr" rtl="0" eaLnBrk="0" fontAlgn="base" hangingPunct="0">
        <a:spcBef>
          <a:spcPct val="0"/>
        </a:spcBef>
        <a:spcAft>
          <a:spcPct val="0"/>
        </a:spcAft>
        <a:defRPr sz="4000">
          <a:solidFill>
            <a:schemeClr val="bg2"/>
          </a:solidFill>
          <a:latin typeface="Arial" panose="020B0604020202020204" pitchFamily="34" charset="0"/>
        </a:defRPr>
      </a:lvl3pPr>
      <a:lvl4pPr algn="ctr" rtl="0" eaLnBrk="0" fontAlgn="base" hangingPunct="0">
        <a:spcBef>
          <a:spcPct val="0"/>
        </a:spcBef>
        <a:spcAft>
          <a:spcPct val="0"/>
        </a:spcAft>
        <a:defRPr sz="4000">
          <a:solidFill>
            <a:schemeClr val="bg2"/>
          </a:solidFill>
          <a:latin typeface="Arial" panose="020B0604020202020204" pitchFamily="34" charset="0"/>
        </a:defRPr>
      </a:lvl4pPr>
      <a:lvl5pPr algn="ctr" rtl="0" eaLnBrk="0" fontAlgn="base" hangingPunct="0">
        <a:spcBef>
          <a:spcPct val="0"/>
        </a:spcBef>
        <a:spcAft>
          <a:spcPct val="0"/>
        </a:spcAft>
        <a:defRPr sz="4000">
          <a:solidFill>
            <a:schemeClr val="bg2"/>
          </a:solidFill>
          <a:latin typeface="Arial" panose="020B0604020202020204" pitchFamily="34" charset="0"/>
        </a:defRPr>
      </a:lvl5pPr>
      <a:lvl6pPr marL="457200" algn="ctr" rtl="0" eaLnBrk="0" fontAlgn="base" hangingPunct="0">
        <a:spcBef>
          <a:spcPct val="0"/>
        </a:spcBef>
        <a:spcAft>
          <a:spcPct val="0"/>
        </a:spcAft>
        <a:defRPr sz="4000">
          <a:solidFill>
            <a:schemeClr val="tx2"/>
          </a:solidFill>
          <a:latin typeface="Arial" panose="020B0604020202020204" pitchFamily="34" charset="0"/>
        </a:defRPr>
      </a:lvl6pPr>
      <a:lvl7pPr marL="914400" algn="ctr" rtl="0" eaLnBrk="0" fontAlgn="base" hangingPunct="0">
        <a:spcBef>
          <a:spcPct val="0"/>
        </a:spcBef>
        <a:spcAft>
          <a:spcPct val="0"/>
        </a:spcAft>
        <a:defRPr sz="4000">
          <a:solidFill>
            <a:schemeClr val="tx2"/>
          </a:solidFill>
          <a:latin typeface="Arial" panose="020B0604020202020204" pitchFamily="34" charset="0"/>
        </a:defRPr>
      </a:lvl7pPr>
      <a:lvl8pPr marL="1371600" algn="ctr" rtl="0" eaLnBrk="0" fontAlgn="base" hangingPunct="0">
        <a:spcBef>
          <a:spcPct val="0"/>
        </a:spcBef>
        <a:spcAft>
          <a:spcPct val="0"/>
        </a:spcAft>
        <a:defRPr sz="4000">
          <a:solidFill>
            <a:schemeClr val="tx2"/>
          </a:solidFill>
          <a:latin typeface="Arial" panose="020B0604020202020204" pitchFamily="34" charset="0"/>
        </a:defRPr>
      </a:lvl8pPr>
      <a:lvl9pPr marL="1828800" algn="ctr" rtl="0" eaLnBrk="0" fontAlgn="base" hangingPunct="0">
        <a:spcBef>
          <a:spcPct val="0"/>
        </a:spcBef>
        <a:spcAft>
          <a:spcPct val="0"/>
        </a:spcAft>
        <a:defRPr sz="4000">
          <a:solidFill>
            <a:schemeClr val="tx2"/>
          </a:solidFill>
          <a:latin typeface="Arial" panose="020B0604020202020204" pitchFamily="34" charset="0"/>
        </a:defRPr>
      </a:lvl9pPr>
    </p:titleStyle>
    <p:bodyStyle>
      <a:lvl1pPr marL="341630" indent="-341630" algn="l" rtl="0" eaLnBrk="0" fontAlgn="base" hangingPunct="0">
        <a:spcBef>
          <a:spcPct val="20000"/>
        </a:spcBef>
        <a:spcAft>
          <a:spcPct val="0"/>
        </a:spcAft>
        <a:buChar char="•"/>
        <a:defRPr sz="3200" b="1">
          <a:solidFill>
            <a:schemeClr val="bg2"/>
          </a:solidFill>
          <a:latin typeface="+mn-lt"/>
          <a:ea typeface="+mn-ea"/>
          <a:cs typeface="+mn-cs"/>
        </a:defRPr>
      </a:lvl1pPr>
      <a:lvl2pPr marL="741680" indent="-284480" algn="l" rtl="0" eaLnBrk="0" fontAlgn="base" hangingPunct="0">
        <a:spcBef>
          <a:spcPct val="20000"/>
        </a:spcBef>
        <a:spcAft>
          <a:spcPct val="0"/>
        </a:spcAft>
        <a:buChar char="–"/>
        <a:defRPr sz="2800" b="1">
          <a:solidFill>
            <a:schemeClr val="bg2"/>
          </a:solidFill>
          <a:latin typeface="+mn-lt"/>
        </a:defRPr>
      </a:lvl2pPr>
      <a:lvl3pPr marL="1141730" indent="-227330" algn="l" rtl="0" eaLnBrk="0" fontAlgn="base" hangingPunct="0">
        <a:spcBef>
          <a:spcPct val="20000"/>
        </a:spcBef>
        <a:spcAft>
          <a:spcPct val="0"/>
        </a:spcAft>
        <a:buChar char="•"/>
        <a:defRPr sz="2400" b="1">
          <a:solidFill>
            <a:schemeClr val="bg2"/>
          </a:solidFill>
          <a:latin typeface="+mn-lt"/>
        </a:defRPr>
      </a:lvl3pPr>
      <a:lvl4pPr marL="1598930" indent="-227330" algn="l" rtl="0" eaLnBrk="0" fontAlgn="base" hangingPunct="0">
        <a:spcBef>
          <a:spcPct val="20000"/>
        </a:spcBef>
        <a:spcAft>
          <a:spcPct val="0"/>
        </a:spcAft>
        <a:buChar char="–"/>
        <a:defRPr sz="2000" b="1">
          <a:solidFill>
            <a:schemeClr val="bg2"/>
          </a:solidFill>
          <a:latin typeface="+mn-lt"/>
        </a:defRPr>
      </a:lvl4pPr>
      <a:lvl5pPr marL="2056130" indent="-227330" algn="l" rtl="0" eaLnBrk="0" fontAlgn="base" hangingPunct="0">
        <a:spcBef>
          <a:spcPct val="20000"/>
        </a:spcBef>
        <a:spcAft>
          <a:spcPct val="0"/>
        </a:spcAft>
        <a:buChar char="»"/>
        <a:defRPr sz="2000" b="1">
          <a:solidFill>
            <a:schemeClr val="bg2"/>
          </a:solidFill>
          <a:latin typeface="+mn-lt"/>
        </a:defRPr>
      </a:lvl5pPr>
      <a:lvl6pPr marL="2514600" indent="-228600" algn="l" rtl="0" eaLnBrk="0" fontAlgn="base" hangingPunct="0">
        <a:spcBef>
          <a:spcPct val="20000"/>
        </a:spcBef>
        <a:spcAft>
          <a:spcPct val="0"/>
        </a:spcAft>
        <a:buChar char="»"/>
        <a:defRPr sz="2000" b="1">
          <a:solidFill>
            <a:schemeClr val="tx1"/>
          </a:solidFill>
          <a:latin typeface="+mn-lt"/>
        </a:defRPr>
      </a:lvl6pPr>
      <a:lvl7pPr marL="2971800" indent="-228600" algn="l" rtl="0" eaLnBrk="0" fontAlgn="base" hangingPunct="0">
        <a:spcBef>
          <a:spcPct val="20000"/>
        </a:spcBef>
        <a:spcAft>
          <a:spcPct val="0"/>
        </a:spcAft>
        <a:buChar char="»"/>
        <a:defRPr sz="2000" b="1">
          <a:solidFill>
            <a:schemeClr val="tx1"/>
          </a:solidFill>
          <a:latin typeface="+mn-lt"/>
        </a:defRPr>
      </a:lvl7pPr>
      <a:lvl8pPr marL="3429000" indent="-228600" algn="l" rtl="0" eaLnBrk="0" fontAlgn="base" hangingPunct="0">
        <a:spcBef>
          <a:spcPct val="20000"/>
        </a:spcBef>
        <a:spcAft>
          <a:spcPct val="0"/>
        </a:spcAft>
        <a:buChar char="»"/>
        <a:defRPr sz="2000" b="1">
          <a:solidFill>
            <a:schemeClr val="tx1"/>
          </a:solidFill>
          <a:latin typeface="+mn-lt"/>
        </a:defRPr>
      </a:lvl8pPr>
      <a:lvl9pPr marL="3886200" indent="-228600" algn="l" rtl="0" eaLnBrk="0" fontAlgn="base" hangingPunct="0">
        <a:spcBef>
          <a:spcPct val="20000"/>
        </a:spcBef>
        <a:spcAft>
          <a:spcPct val="0"/>
        </a:spcAft>
        <a:buChar char="»"/>
        <a:defRPr sz="2000" b="1">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4.xml"/><Relationship Id="rId2" Type="http://schemas.openxmlformats.org/officeDocument/2006/relationships/image" Target="../media/image13.emf"/><Relationship Id="rId1" Type="http://schemas.openxmlformats.org/officeDocument/2006/relationships/oleObject" Target="../embeddings/oleObject1.bin"/></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4.xml"/><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2.xml"/><Relationship Id="rId4" Type="http://schemas.openxmlformats.org/officeDocument/2006/relationships/audio" Target="../media/audio1.wav"/><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2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zh-CN" altLang="en-US" sz="6600" b="1" dirty="0">
                <a:latin typeface="微软雅黑" panose="020B0503020204020204" pitchFamily="34" charset="-122"/>
                <a:ea typeface="微软雅黑" panose="020B0503020204020204" pitchFamily="34" charset="-122"/>
              </a:rPr>
              <a:t>数据结构与操作系统</a:t>
            </a:r>
            <a:br>
              <a:rPr lang="en-US" altLang="zh-CN" sz="6600" b="1" dirty="0">
                <a:latin typeface="微软雅黑" panose="020B0503020204020204" pitchFamily="34" charset="-122"/>
                <a:ea typeface="微软雅黑" panose="020B0503020204020204" pitchFamily="34" charset="-122"/>
              </a:rPr>
            </a:br>
            <a:r>
              <a:rPr lang="zh-CN" altLang="en-US" sz="3200" b="1">
                <a:latin typeface="微软雅黑" panose="020B0503020204020204" pitchFamily="34" charset="-122"/>
                <a:ea typeface="微软雅黑" panose="020B0503020204020204" pitchFamily="34" charset="-122"/>
              </a:rPr>
              <a:t>（第六讲</a:t>
            </a:r>
            <a:r>
              <a:rPr lang="zh-CN" altLang="en-US" sz="3200" b="1" dirty="0">
                <a:latin typeface="微软雅黑" panose="020B0503020204020204" pitchFamily="34" charset="-122"/>
                <a:ea typeface="微软雅黑" panose="020B0503020204020204" pitchFamily="34" charset="-122"/>
              </a:rPr>
              <a:t>）</a:t>
            </a:r>
            <a:endParaRPr lang="zh-CN" altLang="en-US" sz="3200" b="1" dirty="0">
              <a:latin typeface="微软雅黑" panose="020B0503020204020204" pitchFamily="34" charset="-122"/>
              <a:ea typeface="微软雅黑" panose="020B0503020204020204" pitchFamily="34" charset="-122"/>
            </a:endParaRPr>
          </a:p>
        </p:txBody>
      </p:sp>
      <p:sp>
        <p:nvSpPr>
          <p:cNvPr id="6" name="副标题 5"/>
          <p:cNvSpPr>
            <a:spLocks noGrp="1"/>
          </p:cNvSpPr>
          <p:nvPr>
            <p:ph type="subTitle" idx="1"/>
          </p:nvPr>
        </p:nvSpPr>
        <p:spPr/>
        <p:txBody>
          <a:bodyPr/>
          <a:lstStyle/>
          <a:p>
            <a:r>
              <a:rPr lang="zh-CN" altLang="en-US" dirty="0"/>
              <a:t>张瑞友 教授</a:t>
            </a:r>
            <a:endParaRPr lang="en-US" altLang="zh-CN" dirty="0"/>
          </a:p>
          <a:p>
            <a:r>
              <a:rPr lang="zh-CN" altLang="en-US" dirty="0"/>
              <a:t>人工智能系</a:t>
            </a:r>
            <a:endParaRPr lang="en-US" altLang="zh-CN" dirty="0"/>
          </a:p>
          <a:p>
            <a:r>
              <a:rPr lang="en-US" altLang="zh-CN"/>
              <a:t>2024</a:t>
            </a:r>
            <a:r>
              <a:rPr lang="zh-CN" altLang="en-US"/>
              <a:t>年</a:t>
            </a:r>
            <a:endParaRPr lang="zh-CN" altLang="en-US" dirty="0"/>
          </a:p>
        </p:txBody>
      </p:sp>
      <p:sp>
        <p:nvSpPr>
          <p:cNvPr id="4" name="灯片编号占位符 3"/>
          <p:cNvSpPr>
            <a:spLocks noGrp="1"/>
          </p:cNvSpPr>
          <p:nvPr>
            <p:ph type="sldNum" sz="quarter" idx="12"/>
          </p:nvPr>
        </p:nvSpPr>
        <p:spPr/>
        <p:txBody>
          <a:bodyPr/>
          <a:lstStyle/>
          <a:p>
            <a:pPr>
              <a:defRPr/>
            </a:pPr>
            <a:fld id="{973FE639-C234-4E9A-910A-19A90FCCCE3E}" type="slidenum">
              <a:rPr lang="zh-CN" altLang="en-US" smtClean="0"/>
            </a:fld>
            <a:endParaRPr lang="en-US" altLang="zh-CN">
              <a:latin typeface="Times New Roman" panose="02020603050405020304" pitchFamily="18" charset="0"/>
            </a:endParaRPr>
          </a:p>
        </p:txBody>
      </p:sp>
    </p:spTree>
  </p:cSld>
  <p:clrMapOvr>
    <a:masterClrMapping/>
  </p:clrMapOvr>
  <p:transition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A4684F4A-7C26-4038-9904-A00D7751CEA0}"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20483" name="Rectangle 2"/>
          <p:cNvSpPr>
            <a:spLocks noGrp="1" noChangeArrowheads="1"/>
          </p:cNvSpPr>
          <p:nvPr>
            <p:ph type="title"/>
          </p:nvPr>
        </p:nvSpPr>
        <p:spPr>
          <a:xfrm>
            <a:off x="685800" y="-26988"/>
            <a:ext cx="7772400" cy="946151"/>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3.5 </a:t>
            </a:r>
            <a:r>
              <a:rPr lang="zh-CN" altLang="en-US" sz="2400">
                <a:latin typeface="宋体" panose="02010600030101010101" pitchFamily="2" charset="-122"/>
                <a:ea typeface="宋体" panose="02010600030101010101" pitchFamily="2" charset="-122"/>
              </a:rPr>
              <a:t>树与二叉树</a:t>
            </a:r>
            <a:endParaRPr lang="zh-CN" altLang="en-US" sz="2400">
              <a:latin typeface="宋体" panose="02010600030101010101" pitchFamily="2" charset="-122"/>
              <a:ea typeface="宋体" panose="02010600030101010101" pitchFamily="2" charset="-122"/>
            </a:endParaRPr>
          </a:p>
        </p:txBody>
      </p:sp>
      <p:sp>
        <p:nvSpPr>
          <p:cNvPr id="20484" name="Rectangle 3"/>
          <p:cNvSpPr>
            <a:spLocks noGrp="1" noChangeArrowheads="1"/>
          </p:cNvSpPr>
          <p:nvPr>
            <p:ph type="body" idx="1"/>
          </p:nvPr>
        </p:nvSpPr>
        <p:spPr>
          <a:xfrm>
            <a:off x="228600" y="1023938"/>
            <a:ext cx="4897438" cy="5789612"/>
          </a:xfrm>
        </p:spPr>
        <p:txBody>
          <a:bodyPr/>
          <a:lstStyle/>
          <a:p>
            <a:pPr marL="284480" indent="-284480">
              <a:lnSpc>
                <a:spcPct val="80000"/>
              </a:lnSpc>
            </a:pPr>
            <a:r>
              <a:rPr lang="zh-CN" altLang="en-US" sz="2800">
                <a:solidFill>
                  <a:schemeClr val="tx2"/>
                </a:solidFill>
                <a:latin typeface="宋体" panose="02010600030101010101" pitchFamily="2" charset="-122"/>
                <a:ea typeface="宋体" panose="02010600030101010101" pitchFamily="2" charset="-122"/>
              </a:rPr>
              <a:t>树</a:t>
            </a:r>
            <a:r>
              <a:rPr lang="zh-CN" altLang="en-US" sz="2800">
                <a:latin typeface="宋体" panose="02010600030101010101" pitchFamily="2" charset="-122"/>
                <a:ea typeface="宋体" panose="02010600030101010101" pitchFamily="2" charset="-122"/>
              </a:rPr>
              <a:t>（</a:t>
            </a:r>
            <a:r>
              <a:rPr lang="en-US" altLang="zh-CN" sz="2800">
                <a:latin typeface="宋体" panose="02010600030101010101" pitchFamily="2" charset="-122"/>
                <a:ea typeface="宋体" panose="02010600030101010101" pitchFamily="2" charset="-122"/>
              </a:rPr>
              <a:t>tree）：</a:t>
            </a:r>
            <a:r>
              <a:rPr lang="zh-CN" altLang="en-US" sz="2800">
                <a:latin typeface="宋体" panose="02010600030101010101" pitchFamily="2" charset="-122"/>
                <a:ea typeface="宋体" panose="02010600030101010101" pitchFamily="2" charset="-122"/>
              </a:rPr>
              <a:t>一种</a:t>
            </a:r>
            <a:r>
              <a:rPr lang="zh-CN" altLang="en-US" sz="2800">
                <a:solidFill>
                  <a:schemeClr val="tx2"/>
                </a:solidFill>
                <a:latin typeface="宋体" panose="02010600030101010101" pitchFamily="2" charset="-122"/>
                <a:ea typeface="宋体" panose="02010600030101010101" pitchFamily="2" charset="-122"/>
              </a:rPr>
              <a:t>非线性</a:t>
            </a:r>
            <a:r>
              <a:rPr lang="zh-CN" altLang="en-US" sz="2800">
                <a:latin typeface="宋体" panose="02010600030101010101" pitchFamily="2" charset="-122"/>
                <a:ea typeface="宋体" panose="02010600030101010101" pitchFamily="2" charset="-122"/>
              </a:rPr>
              <a:t>的数据结构</a:t>
            </a:r>
            <a:endParaRPr lang="zh-CN" altLang="en-US" sz="2800">
              <a:latin typeface="宋体" panose="02010600030101010101" pitchFamily="2" charset="-122"/>
              <a:ea typeface="宋体" panose="02010600030101010101" pitchFamily="2" charset="-122"/>
            </a:endParaRPr>
          </a:p>
          <a:p>
            <a:pPr marL="860425" lvl="1">
              <a:lnSpc>
                <a:spcPct val="80000"/>
              </a:lnSpc>
            </a:pPr>
            <a:r>
              <a:rPr lang="zh-CN" altLang="en-US" sz="2400">
                <a:latin typeface="宋体" panose="02010600030101010101" pitchFamily="2" charset="-122"/>
                <a:ea typeface="宋体" panose="02010600030101010101" pitchFamily="2" charset="-122"/>
              </a:rPr>
              <a:t>家谱</a:t>
            </a:r>
            <a:endParaRPr lang="zh-CN" altLang="en-US" sz="2400">
              <a:latin typeface="宋体" panose="02010600030101010101" pitchFamily="2" charset="-122"/>
              <a:ea typeface="宋体" panose="02010600030101010101" pitchFamily="2" charset="-122"/>
            </a:endParaRPr>
          </a:p>
          <a:p>
            <a:pPr marL="860425" lvl="1">
              <a:lnSpc>
                <a:spcPct val="80000"/>
              </a:lnSpc>
            </a:pPr>
            <a:r>
              <a:rPr lang="zh-CN" altLang="en-US" sz="2400">
                <a:latin typeface="宋体" panose="02010600030101010101" pitchFamily="2" charset="-122"/>
                <a:ea typeface="宋体" panose="02010600030101010101" pitchFamily="2" charset="-122"/>
              </a:rPr>
              <a:t>组织机构</a:t>
            </a:r>
            <a:endParaRPr lang="zh-CN" altLang="en-US" sz="2400">
              <a:latin typeface="宋体" panose="02010600030101010101" pitchFamily="2" charset="-122"/>
              <a:ea typeface="宋体" panose="02010600030101010101" pitchFamily="2" charset="-122"/>
            </a:endParaRPr>
          </a:p>
          <a:p>
            <a:pPr marL="860425" lvl="1">
              <a:lnSpc>
                <a:spcPct val="80000"/>
              </a:lnSpc>
            </a:pPr>
            <a:r>
              <a:rPr lang="zh-CN" altLang="en-US" sz="2400">
                <a:latin typeface="宋体" panose="02010600030101010101" pitchFamily="2" charset="-122"/>
                <a:ea typeface="宋体" panose="02010600030101010101" pitchFamily="2" charset="-122"/>
              </a:rPr>
              <a:t>操作系统中的文件目录结构</a:t>
            </a:r>
            <a:endParaRPr lang="zh-CN" altLang="en-US" sz="2400">
              <a:latin typeface="宋体" panose="02010600030101010101" pitchFamily="2" charset="-122"/>
              <a:ea typeface="宋体" panose="02010600030101010101" pitchFamily="2" charset="-122"/>
            </a:endParaRPr>
          </a:p>
          <a:p>
            <a:pPr marL="860425" lvl="1">
              <a:lnSpc>
                <a:spcPct val="80000"/>
              </a:lnSpc>
            </a:pPr>
            <a:r>
              <a:rPr lang="zh-CN" altLang="en-US" sz="2400">
                <a:latin typeface="宋体" panose="02010600030101010101" pitchFamily="2" charset="-122"/>
                <a:ea typeface="宋体" panose="02010600030101010101" pitchFamily="2" charset="-122"/>
              </a:rPr>
              <a:t>程序的调用关系</a:t>
            </a:r>
            <a:endParaRPr lang="zh-CN" altLang="en-US" sz="2400">
              <a:latin typeface="宋体" panose="02010600030101010101" pitchFamily="2" charset="-122"/>
              <a:ea typeface="宋体" panose="02010600030101010101" pitchFamily="2" charset="-122"/>
            </a:endParaRPr>
          </a:p>
          <a:p>
            <a:pPr marL="284480" indent="-284480">
              <a:lnSpc>
                <a:spcPct val="80000"/>
              </a:lnSpc>
            </a:pPr>
            <a:r>
              <a:rPr lang="zh-CN" altLang="en-US" sz="2800">
                <a:solidFill>
                  <a:schemeClr val="tx2"/>
                </a:solidFill>
                <a:latin typeface="宋体" panose="02010600030101010101" pitchFamily="2" charset="-122"/>
                <a:ea typeface="宋体" panose="02010600030101010101" pitchFamily="2" charset="-122"/>
              </a:rPr>
              <a:t>树的定义</a:t>
            </a:r>
            <a:endParaRPr lang="zh-CN" altLang="en-US" sz="2800">
              <a:solidFill>
                <a:schemeClr val="tx2"/>
              </a:solidFill>
              <a:latin typeface="宋体" panose="02010600030101010101" pitchFamily="2" charset="-122"/>
              <a:ea typeface="宋体" panose="02010600030101010101" pitchFamily="2" charset="-122"/>
            </a:endParaRPr>
          </a:p>
          <a:p>
            <a:pPr marL="860425" lvl="1">
              <a:lnSpc>
                <a:spcPct val="80000"/>
              </a:lnSpc>
            </a:pPr>
            <a:r>
              <a:rPr lang="zh-CN" altLang="en-US" sz="2400">
                <a:latin typeface="宋体" panose="02010600030101010101" pitchFamily="2" charset="-122"/>
                <a:ea typeface="宋体" panose="02010600030101010101" pitchFamily="2" charset="-122"/>
              </a:rPr>
              <a:t>是由</a:t>
            </a:r>
            <a:r>
              <a:rPr lang="en-US" altLang="zh-CN" sz="2400">
                <a:latin typeface="宋体" panose="02010600030101010101" pitchFamily="2" charset="-122"/>
                <a:ea typeface="宋体" panose="02010600030101010101" pitchFamily="2" charset="-122"/>
              </a:rPr>
              <a:t>n≥0</a:t>
            </a:r>
            <a:r>
              <a:rPr lang="zh-CN" altLang="en-US" sz="2400">
                <a:latin typeface="宋体" panose="02010600030101010101" pitchFamily="2" charset="-122"/>
                <a:ea typeface="宋体" panose="02010600030101010101" pitchFamily="2" charset="-122"/>
              </a:rPr>
              <a:t>个结点组成的有限集合</a:t>
            </a:r>
            <a:r>
              <a:rPr lang="en-US" altLang="zh-CN" sz="2400">
                <a:latin typeface="宋体" panose="02010600030101010101" pitchFamily="2" charset="-122"/>
                <a:ea typeface="宋体" panose="02010600030101010101" pitchFamily="2" charset="-122"/>
              </a:rPr>
              <a:t>T</a:t>
            </a:r>
            <a:endParaRPr lang="en-US" altLang="zh-CN" sz="2400">
              <a:latin typeface="宋体" panose="02010600030101010101" pitchFamily="2" charset="-122"/>
              <a:ea typeface="宋体" panose="02010600030101010101" pitchFamily="2" charset="-122"/>
            </a:endParaRPr>
          </a:p>
          <a:p>
            <a:pPr marL="860425" lvl="1">
              <a:lnSpc>
                <a:spcPct val="80000"/>
              </a:lnSpc>
            </a:pPr>
            <a:r>
              <a:rPr lang="zh-CN" altLang="en-US" sz="2400">
                <a:latin typeface="宋体" panose="02010600030101010101" pitchFamily="2" charset="-122"/>
                <a:ea typeface="宋体" panose="02010600030101010101" pitchFamily="2" charset="-122"/>
              </a:rPr>
              <a:t>有且仅有一个结点称为根（</a:t>
            </a:r>
            <a:r>
              <a:rPr lang="en-US" altLang="zh-CN" sz="2400">
                <a:latin typeface="宋体" panose="02010600030101010101" pitchFamily="2" charset="-122"/>
                <a:ea typeface="宋体" panose="02010600030101010101" pitchFamily="2" charset="-122"/>
              </a:rPr>
              <a:t>root）</a:t>
            </a:r>
            <a:endParaRPr lang="en-US" altLang="zh-CN" sz="2400">
              <a:latin typeface="宋体" panose="02010600030101010101" pitchFamily="2" charset="-122"/>
              <a:ea typeface="宋体" panose="02010600030101010101" pitchFamily="2" charset="-122"/>
            </a:endParaRPr>
          </a:p>
          <a:p>
            <a:pPr marL="860425" lvl="1">
              <a:lnSpc>
                <a:spcPct val="80000"/>
              </a:lnSpc>
            </a:pPr>
            <a:r>
              <a:rPr lang="zh-CN" altLang="en-US" sz="2400">
                <a:latin typeface="宋体" panose="02010600030101010101" pitchFamily="2" charset="-122"/>
                <a:ea typeface="宋体" panose="02010600030101010101" pitchFamily="2" charset="-122"/>
              </a:rPr>
              <a:t>其余（</a:t>
            </a:r>
            <a:r>
              <a:rPr lang="en-US" altLang="zh-CN" sz="2400">
                <a:latin typeface="宋体" panose="02010600030101010101" pitchFamily="2" charset="-122"/>
                <a:ea typeface="宋体" panose="02010600030101010101" pitchFamily="2" charset="-122"/>
              </a:rPr>
              <a:t>n-1）</a:t>
            </a:r>
            <a:r>
              <a:rPr lang="zh-CN" altLang="en-US" sz="2400">
                <a:latin typeface="宋体" panose="02010600030101010101" pitchFamily="2" charset="-122"/>
                <a:ea typeface="宋体" panose="02010600030101010101" pitchFamily="2" charset="-122"/>
              </a:rPr>
              <a:t>结点构成</a:t>
            </a:r>
            <a:r>
              <a:rPr lang="en-US" altLang="zh-CN" sz="2400">
                <a:latin typeface="宋体" panose="02010600030101010101" pitchFamily="2" charset="-122"/>
                <a:ea typeface="宋体" panose="02010600030101010101" pitchFamily="2" charset="-122"/>
              </a:rPr>
              <a:t>m</a:t>
            </a:r>
            <a:r>
              <a:rPr lang="zh-CN" altLang="en-US" sz="2400">
                <a:latin typeface="宋体" panose="02010600030101010101" pitchFamily="2" charset="-122"/>
                <a:ea typeface="宋体" panose="02010600030101010101" pitchFamily="2" charset="-122"/>
              </a:rPr>
              <a:t>个互不相交的集合 </a:t>
            </a:r>
            <a:r>
              <a:rPr lang="en-US" altLang="zh-CN" sz="2400">
                <a:latin typeface="宋体" panose="02010600030101010101" pitchFamily="2" charset="-122"/>
                <a:ea typeface="宋体" panose="02010600030101010101" pitchFamily="2" charset="-122"/>
              </a:rPr>
              <a:t>T</a:t>
            </a:r>
            <a:r>
              <a:rPr lang="en-US" altLang="zh-CN" sz="1800">
                <a:latin typeface="宋体" panose="02010600030101010101" pitchFamily="2" charset="-122"/>
                <a:ea typeface="宋体" panose="02010600030101010101" pitchFamily="2" charset="-122"/>
              </a:rPr>
              <a:t>1</a:t>
            </a:r>
            <a:r>
              <a:rPr lang="en-US" altLang="zh-CN" sz="2400">
                <a:latin typeface="宋体" panose="02010600030101010101" pitchFamily="2" charset="-122"/>
                <a:ea typeface="宋体" panose="02010600030101010101" pitchFamily="2" charset="-122"/>
              </a:rPr>
              <a:t>, </a:t>
            </a:r>
            <a:r>
              <a:rPr lang="en-US" altLang="zh-CN" sz="2400">
                <a:latin typeface="Times New Roman" panose="02020603050405020304" pitchFamily="18" charset="0"/>
                <a:ea typeface="宋体" panose="02010600030101010101" pitchFamily="2" charset="-122"/>
              </a:rPr>
              <a:t>…</a:t>
            </a:r>
            <a:r>
              <a:rPr lang="en-US" altLang="zh-CN" sz="2400">
                <a:latin typeface="宋体" panose="02010600030101010101" pitchFamily="2" charset="-122"/>
                <a:ea typeface="宋体" panose="02010600030101010101" pitchFamily="2" charset="-122"/>
              </a:rPr>
              <a:t> ,Tm</a:t>
            </a:r>
            <a:endParaRPr lang="en-US" altLang="zh-CN" sz="2400">
              <a:latin typeface="宋体" panose="02010600030101010101" pitchFamily="2" charset="-122"/>
              <a:ea typeface="宋体" panose="02010600030101010101" pitchFamily="2" charset="-122"/>
            </a:endParaRPr>
          </a:p>
          <a:p>
            <a:pPr marL="860425" lvl="1">
              <a:lnSpc>
                <a:spcPct val="80000"/>
              </a:lnSpc>
            </a:pPr>
            <a:r>
              <a:rPr lang="zh-CN" altLang="en-US" sz="2400">
                <a:latin typeface="宋体" panose="02010600030101010101" pitchFamily="2" charset="-122"/>
                <a:ea typeface="宋体" panose="02010600030101010101" pitchFamily="2" charset="-122"/>
              </a:rPr>
              <a:t>每个集合 </a:t>
            </a:r>
            <a:r>
              <a:rPr lang="en-US" altLang="zh-CN" sz="2400">
                <a:latin typeface="宋体" panose="02010600030101010101" pitchFamily="2" charset="-122"/>
                <a:ea typeface="宋体" panose="02010600030101010101" pitchFamily="2" charset="-122"/>
              </a:rPr>
              <a:t>Ti </a:t>
            </a:r>
            <a:r>
              <a:rPr lang="zh-CN" altLang="en-US" sz="2400">
                <a:latin typeface="宋体" panose="02010600030101010101" pitchFamily="2" charset="-122"/>
                <a:ea typeface="宋体" panose="02010600030101010101" pitchFamily="2" charset="-122"/>
              </a:rPr>
              <a:t>又构成一颗树，称为</a:t>
            </a:r>
            <a:r>
              <a:rPr lang="zh-CN" altLang="en-US" sz="2400">
                <a:latin typeface="Times New Roman" panose="02020603050405020304" pitchFamily="18" charset="0"/>
                <a:ea typeface="宋体" panose="02010600030101010101" pitchFamily="2" charset="-122"/>
              </a:rPr>
              <a:t>“</a:t>
            </a:r>
            <a:r>
              <a:rPr lang="zh-CN" altLang="en-US" sz="2400">
                <a:latin typeface="宋体" panose="02010600030101010101" pitchFamily="2" charset="-122"/>
                <a:ea typeface="宋体" panose="02010600030101010101" pitchFamily="2" charset="-122"/>
              </a:rPr>
              <a:t>当前根</a:t>
            </a:r>
            <a:r>
              <a:rPr lang="zh-CN" altLang="en-US" sz="2400">
                <a:latin typeface="Times New Roman" panose="02020603050405020304" pitchFamily="18" charset="0"/>
                <a:ea typeface="宋体" panose="02010600030101010101" pitchFamily="2" charset="-122"/>
              </a:rPr>
              <a:t>”</a:t>
            </a:r>
            <a:r>
              <a:rPr lang="zh-CN" altLang="en-US" sz="2400">
                <a:latin typeface="宋体" panose="02010600030101010101" pitchFamily="2" charset="-122"/>
                <a:ea typeface="宋体" panose="02010600030101010101" pitchFamily="2" charset="-122"/>
              </a:rPr>
              <a:t>的子树</a:t>
            </a:r>
            <a:endParaRPr lang="zh-CN" altLang="en-US" sz="2400">
              <a:latin typeface="宋体" panose="02010600030101010101" pitchFamily="2" charset="-122"/>
              <a:ea typeface="宋体" panose="02010600030101010101" pitchFamily="2" charset="-122"/>
            </a:endParaRPr>
          </a:p>
          <a:p>
            <a:pPr marL="860425" lvl="1">
              <a:lnSpc>
                <a:spcPct val="80000"/>
              </a:lnSpc>
            </a:pPr>
            <a:r>
              <a:rPr lang="zh-CN" altLang="en-US" sz="2400">
                <a:latin typeface="宋体" panose="02010600030101010101" pitchFamily="2" charset="-122"/>
                <a:ea typeface="宋体" panose="02010600030101010101" pitchFamily="2" charset="-122"/>
              </a:rPr>
              <a:t>树的定义是一个递归定义</a:t>
            </a:r>
            <a:endParaRPr lang="zh-CN" altLang="en-US" sz="2400">
              <a:latin typeface="宋体" panose="02010600030101010101" pitchFamily="2" charset="-122"/>
              <a:ea typeface="宋体" panose="02010600030101010101" pitchFamily="2" charset="-122"/>
            </a:endParaRPr>
          </a:p>
        </p:txBody>
      </p:sp>
      <p:pic>
        <p:nvPicPr>
          <p:cNvPr id="27653" name="Picture 119" descr="Snap15"/>
          <p:cNvPicPr>
            <a:picLocks noChangeAspect="1" noChangeArrowheads="1"/>
          </p:cNvPicPr>
          <p:nvPr/>
        </p:nvPicPr>
        <p:blipFill>
          <a:blip r:embed="rId1" cstate="print">
            <a:duotone>
              <a:prstClr val="black"/>
              <a:schemeClr val="accent1">
                <a:tint val="45000"/>
                <a:satMod val="400000"/>
              </a:schemeClr>
            </a:duotone>
            <a:lum contrast="100000"/>
          </a:blip>
          <a:srcRect/>
          <a:stretch>
            <a:fillRect/>
          </a:stretch>
        </p:blipFill>
        <p:spPr bwMode="auto">
          <a:xfrm>
            <a:off x="4932363" y="2132013"/>
            <a:ext cx="4176712" cy="3384550"/>
          </a:xfrm>
          <a:prstGeom prst="rect">
            <a:avLst/>
          </a:prstGeom>
          <a:noFill/>
          <a:ln w="9525">
            <a:noFill/>
            <a:miter lim="800000"/>
            <a:headEnd/>
            <a:tailEnd/>
          </a:ln>
        </p:spPr>
      </p:pic>
    </p:spTree>
  </p:cSld>
  <p:clrMapOvr>
    <a:masterClrMapping/>
  </p:clrMapOvr>
  <p:transition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0BE21775-0A56-49C9-9426-90049535028D}"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22531" name="Rectangle 5"/>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ea typeface="宋体" panose="02010600030101010101" pitchFamily="2" charset="-122"/>
              </a:rPr>
              <a:t>3.5 </a:t>
            </a:r>
            <a:r>
              <a:rPr lang="zh-CN" altLang="en-US" sz="2400">
                <a:ea typeface="宋体" panose="02010600030101010101" pitchFamily="2" charset="-122"/>
              </a:rPr>
              <a:t>树与二叉树</a:t>
            </a:r>
            <a:endParaRPr lang="zh-CN" altLang="en-US" sz="2400">
              <a:ea typeface="宋体" panose="02010600030101010101" pitchFamily="2" charset="-122"/>
            </a:endParaRPr>
          </a:p>
        </p:txBody>
      </p:sp>
      <p:sp>
        <p:nvSpPr>
          <p:cNvPr id="20484" name="Rectangle 6"/>
          <p:cNvSpPr>
            <a:spLocks noGrp="1" noChangeArrowheads="1"/>
          </p:cNvSpPr>
          <p:nvPr>
            <p:ph type="body" idx="1"/>
          </p:nvPr>
        </p:nvSpPr>
        <p:spPr>
          <a:xfrm>
            <a:off x="122238" y="1025525"/>
            <a:ext cx="8964612" cy="5761038"/>
          </a:xfrm>
        </p:spPr>
        <p:txBody>
          <a:bodyPr>
            <a:normAutofit fontScale="92500" lnSpcReduction="10000"/>
          </a:bodyPr>
          <a:lstStyle/>
          <a:p>
            <a:pPr>
              <a:lnSpc>
                <a:spcPct val="110000"/>
              </a:lnSpc>
              <a:defRPr/>
            </a:pPr>
            <a:r>
              <a:rPr lang="zh-CN" altLang="en-US" sz="2800" dirty="0">
                <a:solidFill>
                  <a:schemeClr val="tx2"/>
                </a:solidFill>
                <a:ea typeface="宋体" panose="02010600030101010101" pitchFamily="2" charset="-122"/>
              </a:rPr>
              <a:t>树的基本概念</a:t>
            </a:r>
            <a:endParaRPr lang="zh-CN" altLang="en-US" sz="2800" dirty="0">
              <a:solidFill>
                <a:schemeClr val="tx2"/>
              </a:solidFill>
              <a:ea typeface="宋体" panose="02010600030101010101" pitchFamily="2" charset="-122"/>
            </a:endParaRPr>
          </a:p>
          <a:p>
            <a:pPr lvl="1">
              <a:lnSpc>
                <a:spcPct val="110000"/>
              </a:lnSpc>
              <a:spcBef>
                <a:spcPct val="0"/>
              </a:spcBef>
              <a:defRPr/>
            </a:pPr>
            <a:r>
              <a:rPr lang="zh-CN" altLang="en-US" sz="2400" dirty="0">
                <a:solidFill>
                  <a:schemeClr val="tx2"/>
                </a:solidFill>
                <a:ea typeface="宋体" panose="02010600030101010101" pitchFamily="2" charset="-122"/>
              </a:rPr>
              <a:t>结点</a:t>
            </a:r>
            <a:r>
              <a:rPr lang="zh-CN" altLang="en-US" sz="2400" dirty="0">
                <a:ea typeface="宋体" panose="02010600030101010101" pitchFamily="2" charset="-122"/>
              </a:rPr>
              <a:t>(</a:t>
            </a:r>
            <a:r>
              <a:rPr lang="en-US" altLang="zh-CN" sz="2400" dirty="0">
                <a:ea typeface="宋体" panose="02010600030101010101" pitchFamily="2" charset="-122"/>
              </a:rPr>
              <a:t>node)：</a:t>
            </a:r>
            <a:r>
              <a:rPr lang="zh-CN" altLang="en-US" sz="2400" dirty="0">
                <a:ea typeface="宋体" panose="02010600030101010101" pitchFamily="2" charset="-122"/>
              </a:rPr>
              <a:t>树中的元素由两部分组成：</a:t>
            </a:r>
            <a:endParaRPr lang="zh-CN" altLang="en-US" sz="2400" dirty="0">
              <a:ea typeface="宋体" panose="02010600030101010101" pitchFamily="2" charset="-122"/>
            </a:endParaRPr>
          </a:p>
          <a:p>
            <a:pPr lvl="2">
              <a:lnSpc>
                <a:spcPct val="110000"/>
              </a:lnSpc>
              <a:spcBef>
                <a:spcPct val="0"/>
              </a:spcBef>
              <a:defRPr/>
            </a:pPr>
            <a:r>
              <a:rPr lang="zh-CN" altLang="en-US" sz="2000" dirty="0">
                <a:ea typeface="宋体" panose="02010600030101010101" pitchFamily="2" charset="-122"/>
              </a:rPr>
              <a:t>数据域</a:t>
            </a:r>
            <a:endParaRPr lang="zh-CN" altLang="en-US" sz="2000" dirty="0">
              <a:ea typeface="宋体" panose="02010600030101010101" pitchFamily="2" charset="-122"/>
            </a:endParaRPr>
          </a:p>
          <a:p>
            <a:pPr lvl="2">
              <a:lnSpc>
                <a:spcPct val="110000"/>
              </a:lnSpc>
              <a:spcBef>
                <a:spcPct val="0"/>
              </a:spcBef>
              <a:defRPr/>
            </a:pPr>
            <a:r>
              <a:rPr lang="zh-CN" altLang="en-US" sz="2000" dirty="0">
                <a:ea typeface="宋体" panose="02010600030101010101" pitchFamily="2" charset="-122"/>
              </a:rPr>
              <a:t>若干指向其子树分支的指针域</a:t>
            </a:r>
            <a:endParaRPr lang="zh-CN" altLang="en-US" sz="2000" dirty="0">
              <a:ea typeface="宋体" panose="02010600030101010101" pitchFamily="2" charset="-122"/>
            </a:endParaRPr>
          </a:p>
          <a:p>
            <a:pPr lvl="1">
              <a:lnSpc>
                <a:spcPct val="110000"/>
              </a:lnSpc>
              <a:spcBef>
                <a:spcPct val="0"/>
              </a:spcBef>
              <a:defRPr/>
            </a:pPr>
            <a:r>
              <a:rPr lang="zh-CN" altLang="en-US" sz="2400" dirty="0">
                <a:solidFill>
                  <a:schemeClr val="tx2"/>
                </a:solidFill>
                <a:ea typeface="宋体" panose="02010600030101010101" pitchFamily="2" charset="-122"/>
              </a:rPr>
              <a:t>结点的度</a:t>
            </a:r>
            <a:r>
              <a:rPr lang="zh-CN" altLang="en-US" sz="2400" dirty="0">
                <a:ea typeface="宋体" panose="02010600030101010101" pitchFamily="2" charset="-122"/>
              </a:rPr>
              <a:t>(</a:t>
            </a:r>
            <a:r>
              <a:rPr lang="en-US" altLang="zh-CN" sz="2400" dirty="0">
                <a:ea typeface="宋体" panose="02010600030101010101" pitchFamily="2" charset="-122"/>
              </a:rPr>
              <a:t>node’s degree)：</a:t>
            </a:r>
            <a:r>
              <a:rPr lang="zh-CN" altLang="en-US" sz="2400" dirty="0">
                <a:ea typeface="宋体" panose="02010600030101010101" pitchFamily="2" charset="-122"/>
              </a:rPr>
              <a:t>结点拥有的子树的个数</a:t>
            </a:r>
            <a:endParaRPr lang="zh-CN" altLang="en-US" sz="2400" dirty="0">
              <a:ea typeface="宋体" panose="02010600030101010101" pitchFamily="2" charset="-122"/>
            </a:endParaRPr>
          </a:p>
          <a:p>
            <a:pPr lvl="1">
              <a:lnSpc>
                <a:spcPct val="110000"/>
              </a:lnSpc>
              <a:spcBef>
                <a:spcPct val="0"/>
              </a:spcBef>
              <a:defRPr/>
            </a:pPr>
            <a:r>
              <a:rPr lang="zh-CN" altLang="en-US" sz="2400" dirty="0">
                <a:solidFill>
                  <a:schemeClr val="tx2"/>
                </a:solidFill>
                <a:ea typeface="宋体" panose="02010600030101010101" pitchFamily="2" charset="-122"/>
              </a:rPr>
              <a:t>树的度</a:t>
            </a:r>
            <a:r>
              <a:rPr lang="zh-CN" altLang="en-US" sz="2400" dirty="0">
                <a:ea typeface="宋体" panose="02010600030101010101" pitchFamily="2" charset="-122"/>
              </a:rPr>
              <a:t>(</a:t>
            </a:r>
            <a:r>
              <a:rPr lang="en-US" altLang="zh-CN" sz="2400" dirty="0">
                <a:ea typeface="宋体" panose="02010600030101010101" pitchFamily="2" charset="-122"/>
              </a:rPr>
              <a:t>tree’s degree)：</a:t>
            </a:r>
            <a:r>
              <a:rPr lang="zh-CN" altLang="en-US" sz="2400" dirty="0">
                <a:ea typeface="宋体" panose="02010600030101010101" pitchFamily="2" charset="-122"/>
              </a:rPr>
              <a:t>树中结点度数的最大值</a:t>
            </a:r>
            <a:endParaRPr lang="zh-CN" altLang="en-US" sz="2400" dirty="0">
              <a:ea typeface="宋体" panose="02010600030101010101" pitchFamily="2" charset="-122"/>
            </a:endParaRPr>
          </a:p>
          <a:p>
            <a:pPr lvl="1">
              <a:lnSpc>
                <a:spcPct val="110000"/>
              </a:lnSpc>
              <a:spcBef>
                <a:spcPct val="0"/>
              </a:spcBef>
              <a:defRPr/>
            </a:pPr>
            <a:r>
              <a:rPr lang="zh-CN" altLang="en-US" sz="2400" dirty="0">
                <a:solidFill>
                  <a:schemeClr val="tx2"/>
                </a:solidFill>
                <a:ea typeface="宋体" panose="02010600030101010101" pitchFamily="2" charset="-122"/>
              </a:rPr>
              <a:t>叶子</a:t>
            </a:r>
            <a:r>
              <a:rPr lang="zh-CN" altLang="en-US" sz="2400" dirty="0">
                <a:ea typeface="宋体" panose="02010600030101010101" pitchFamily="2" charset="-122"/>
              </a:rPr>
              <a:t>(</a:t>
            </a:r>
            <a:r>
              <a:rPr lang="en-US" altLang="zh-CN" sz="2400" dirty="0">
                <a:ea typeface="宋体" panose="02010600030101010101" pitchFamily="2" charset="-122"/>
              </a:rPr>
              <a:t>leaf)：</a:t>
            </a:r>
            <a:r>
              <a:rPr lang="zh-CN" altLang="en-US" sz="2400" dirty="0">
                <a:ea typeface="宋体" panose="02010600030101010101" pitchFamily="2" charset="-122"/>
              </a:rPr>
              <a:t>度为 0 的结点</a:t>
            </a:r>
            <a:endParaRPr lang="zh-CN" altLang="en-US" sz="2400" dirty="0">
              <a:ea typeface="宋体" panose="02010600030101010101" pitchFamily="2" charset="-122"/>
            </a:endParaRPr>
          </a:p>
          <a:p>
            <a:pPr lvl="1">
              <a:lnSpc>
                <a:spcPct val="110000"/>
              </a:lnSpc>
              <a:spcBef>
                <a:spcPct val="0"/>
              </a:spcBef>
              <a:defRPr/>
            </a:pPr>
            <a:r>
              <a:rPr lang="zh-CN" altLang="en-US" sz="2400" dirty="0">
                <a:solidFill>
                  <a:schemeClr val="tx2"/>
                </a:solidFill>
                <a:ea typeface="宋体" panose="02010600030101010101" pitchFamily="2" charset="-122"/>
              </a:rPr>
              <a:t>分支结点</a:t>
            </a:r>
            <a:r>
              <a:rPr lang="zh-CN" altLang="en-US" sz="2400" dirty="0">
                <a:ea typeface="宋体" panose="02010600030101010101" pitchFamily="2" charset="-122"/>
              </a:rPr>
              <a:t>(</a:t>
            </a:r>
            <a:r>
              <a:rPr lang="en-US" altLang="zh-CN" sz="2400" dirty="0">
                <a:ea typeface="宋体" panose="02010600030101010101" pitchFamily="2" charset="-122"/>
              </a:rPr>
              <a:t>branch node)：</a:t>
            </a:r>
            <a:r>
              <a:rPr lang="zh-CN" altLang="en-US" sz="2400" dirty="0">
                <a:ea typeface="宋体" panose="02010600030101010101" pitchFamily="2" charset="-122"/>
              </a:rPr>
              <a:t>度≠0 的结点</a:t>
            </a:r>
            <a:endParaRPr lang="zh-CN" altLang="en-US" sz="2400" dirty="0">
              <a:ea typeface="宋体" panose="02010600030101010101" pitchFamily="2" charset="-122"/>
            </a:endParaRPr>
          </a:p>
          <a:p>
            <a:pPr lvl="1">
              <a:lnSpc>
                <a:spcPct val="110000"/>
              </a:lnSpc>
              <a:spcBef>
                <a:spcPct val="0"/>
              </a:spcBef>
              <a:defRPr/>
            </a:pPr>
            <a:r>
              <a:rPr lang="zh-CN" altLang="en-US" sz="2400" dirty="0">
                <a:solidFill>
                  <a:schemeClr val="tx2"/>
                </a:solidFill>
                <a:ea typeface="宋体" panose="02010600030101010101" pitchFamily="2" charset="-122"/>
              </a:rPr>
              <a:t>孩子</a:t>
            </a:r>
            <a:r>
              <a:rPr lang="zh-CN" altLang="en-US" sz="2400" dirty="0">
                <a:ea typeface="宋体" panose="02010600030101010101" pitchFamily="2" charset="-122"/>
              </a:rPr>
              <a:t>(</a:t>
            </a:r>
            <a:r>
              <a:rPr lang="en-US" altLang="zh-CN" sz="2400" dirty="0" err="1">
                <a:ea typeface="宋体" panose="02010600030101010101" pitchFamily="2" charset="-122"/>
              </a:rPr>
              <a:t>childern</a:t>
            </a:r>
            <a:r>
              <a:rPr lang="en-US" altLang="zh-CN" sz="2400" dirty="0">
                <a:ea typeface="宋体" panose="02010600030101010101" pitchFamily="2" charset="-122"/>
              </a:rPr>
              <a:t>)：</a:t>
            </a:r>
            <a:r>
              <a:rPr lang="zh-CN" altLang="en-US" sz="2400" dirty="0">
                <a:ea typeface="宋体" panose="02010600030101010101" pitchFamily="2" charset="-122"/>
              </a:rPr>
              <a:t>除</a:t>
            </a:r>
            <a:r>
              <a:rPr lang="en-US" altLang="zh-CN" sz="2400" dirty="0">
                <a:ea typeface="宋体" panose="02010600030101010101" pitchFamily="2" charset="-122"/>
              </a:rPr>
              <a:t>root</a:t>
            </a:r>
            <a:r>
              <a:rPr lang="zh-CN" altLang="en-US" sz="2400" dirty="0">
                <a:ea typeface="宋体" panose="02010600030101010101" pitchFamily="2" charset="-122"/>
              </a:rPr>
              <a:t>外，每个结点都是其前趋结点的孩子</a:t>
            </a:r>
            <a:endParaRPr lang="zh-CN" altLang="en-US" sz="2400" dirty="0">
              <a:ea typeface="宋体" panose="02010600030101010101" pitchFamily="2" charset="-122"/>
            </a:endParaRPr>
          </a:p>
          <a:p>
            <a:pPr lvl="1">
              <a:lnSpc>
                <a:spcPct val="110000"/>
              </a:lnSpc>
              <a:spcBef>
                <a:spcPct val="0"/>
              </a:spcBef>
              <a:defRPr/>
            </a:pPr>
            <a:r>
              <a:rPr lang="zh-CN" altLang="en-US" sz="2400" dirty="0">
                <a:solidFill>
                  <a:schemeClr val="tx2"/>
                </a:solidFill>
                <a:ea typeface="宋体" panose="02010600030101010101" pitchFamily="2" charset="-122"/>
              </a:rPr>
              <a:t>双亲</a:t>
            </a:r>
            <a:r>
              <a:rPr lang="zh-CN" altLang="en-US" sz="2400" dirty="0">
                <a:ea typeface="宋体" panose="02010600030101010101" pitchFamily="2" charset="-122"/>
              </a:rPr>
              <a:t>(</a:t>
            </a:r>
            <a:r>
              <a:rPr lang="en-US" altLang="zh-CN" sz="2400" dirty="0">
                <a:ea typeface="宋体" panose="02010600030101010101" pitchFamily="2" charset="-122"/>
              </a:rPr>
              <a:t>parents)：</a:t>
            </a:r>
            <a:r>
              <a:rPr lang="zh-CN" altLang="en-US" sz="2400" dirty="0">
                <a:ea typeface="宋体" panose="02010600030101010101" pitchFamily="2" charset="-122"/>
              </a:rPr>
              <a:t>孩子结点的上层结点</a:t>
            </a:r>
            <a:endParaRPr lang="zh-CN" altLang="en-US" sz="2400" dirty="0">
              <a:ea typeface="宋体" panose="02010600030101010101" pitchFamily="2" charset="-122"/>
            </a:endParaRPr>
          </a:p>
          <a:p>
            <a:pPr lvl="1">
              <a:lnSpc>
                <a:spcPct val="110000"/>
              </a:lnSpc>
              <a:spcBef>
                <a:spcPct val="0"/>
              </a:spcBef>
              <a:defRPr/>
            </a:pPr>
            <a:r>
              <a:rPr lang="zh-CN" altLang="en-US" sz="2400" dirty="0">
                <a:solidFill>
                  <a:schemeClr val="tx2"/>
                </a:solidFill>
                <a:ea typeface="宋体" panose="02010600030101010101" pitchFamily="2" charset="-122"/>
              </a:rPr>
              <a:t>兄弟</a:t>
            </a:r>
            <a:r>
              <a:rPr lang="zh-CN" altLang="en-US" sz="2400" dirty="0">
                <a:ea typeface="宋体" panose="02010600030101010101" pitchFamily="2" charset="-122"/>
              </a:rPr>
              <a:t>(</a:t>
            </a:r>
            <a:r>
              <a:rPr lang="en-US" altLang="zh-CN" sz="2400" dirty="0">
                <a:ea typeface="宋体" panose="02010600030101010101" pitchFamily="2" charset="-122"/>
              </a:rPr>
              <a:t>sibling)：</a:t>
            </a:r>
            <a:r>
              <a:rPr lang="zh-CN" altLang="en-US" sz="2400" dirty="0">
                <a:ea typeface="宋体" panose="02010600030101010101" pitchFamily="2" charset="-122"/>
              </a:rPr>
              <a:t>同一双亲的孩子</a:t>
            </a:r>
            <a:endParaRPr lang="zh-CN" altLang="en-US" sz="2400" dirty="0">
              <a:ea typeface="宋体" panose="02010600030101010101" pitchFamily="2" charset="-122"/>
            </a:endParaRPr>
          </a:p>
          <a:p>
            <a:pPr lvl="1">
              <a:lnSpc>
                <a:spcPct val="110000"/>
              </a:lnSpc>
              <a:spcBef>
                <a:spcPct val="0"/>
              </a:spcBef>
              <a:defRPr/>
            </a:pPr>
            <a:r>
              <a:rPr lang="zh-CN" altLang="en-US" sz="2400" dirty="0">
                <a:solidFill>
                  <a:schemeClr val="tx2"/>
                </a:solidFill>
                <a:ea typeface="宋体" panose="02010600030101010101" pitchFamily="2" charset="-122"/>
              </a:rPr>
              <a:t>结点的层次</a:t>
            </a:r>
            <a:r>
              <a:rPr lang="zh-CN" altLang="en-US" sz="2400" dirty="0">
                <a:ea typeface="宋体" panose="02010600030101010101" pitchFamily="2" charset="-122"/>
              </a:rPr>
              <a:t>(</a:t>
            </a:r>
            <a:r>
              <a:rPr lang="en-US" altLang="zh-CN" sz="2400" dirty="0">
                <a:ea typeface="宋体" panose="02010600030101010101" pitchFamily="2" charset="-122"/>
              </a:rPr>
              <a:t>level)：</a:t>
            </a:r>
            <a:r>
              <a:rPr lang="zh-CN" altLang="en-US" sz="2400" dirty="0">
                <a:ea typeface="宋体" panose="02010600030101010101" pitchFamily="2" charset="-122"/>
              </a:rPr>
              <a:t>根为第一层，其它任何结点的层次是其双亲结点的层次＋1</a:t>
            </a:r>
            <a:endParaRPr lang="zh-CN" altLang="en-US" sz="2400" dirty="0">
              <a:ea typeface="宋体" panose="02010600030101010101" pitchFamily="2" charset="-122"/>
            </a:endParaRPr>
          </a:p>
          <a:p>
            <a:pPr lvl="1">
              <a:lnSpc>
                <a:spcPct val="110000"/>
              </a:lnSpc>
              <a:spcBef>
                <a:spcPct val="0"/>
              </a:spcBef>
              <a:defRPr/>
            </a:pPr>
            <a:r>
              <a:rPr lang="zh-CN" altLang="en-US" sz="2400" dirty="0">
                <a:solidFill>
                  <a:schemeClr val="tx2"/>
                </a:solidFill>
                <a:ea typeface="宋体" panose="02010600030101010101" pitchFamily="2" charset="-122"/>
              </a:rPr>
              <a:t>树的深度/高度</a:t>
            </a:r>
            <a:r>
              <a:rPr lang="en-US" altLang="zh-CN" sz="2400" dirty="0">
                <a:ea typeface="宋体" panose="02010600030101010101" pitchFamily="2" charset="-122"/>
              </a:rPr>
              <a:t>(depth)：</a:t>
            </a:r>
            <a:r>
              <a:rPr lang="zh-CN" altLang="en-US" sz="2400" dirty="0">
                <a:ea typeface="宋体" panose="02010600030101010101" pitchFamily="2" charset="-122"/>
              </a:rPr>
              <a:t>树中结点的最大层次数</a:t>
            </a:r>
            <a:endParaRPr lang="zh-CN" altLang="en-US" sz="2400" dirty="0">
              <a:ea typeface="宋体" panose="02010600030101010101" pitchFamily="2" charset="-122"/>
            </a:endParaRPr>
          </a:p>
          <a:p>
            <a:pPr lvl="1">
              <a:lnSpc>
                <a:spcPct val="110000"/>
              </a:lnSpc>
              <a:spcBef>
                <a:spcPct val="0"/>
              </a:spcBef>
              <a:defRPr/>
            </a:pPr>
            <a:r>
              <a:rPr lang="zh-CN" altLang="en-US" sz="2400" dirty="0">
                <a:solidFill>
                  <a:schemeClr val="tx2"/>
                </a:solidFill>
                <a:ea typeface="宋体" panose="02010600030101010101" pitchFamily="2" charset="-122"/>
              </a:rPr>
              <a:t>森林</a:t>
            </a:r>
            <a:r>
              <a:rPr lang="zh-CN" altLang="en-US" sz="2400" dirty="0">
                <a:ea typeface="宋体" panose="02010600030101010101" pitchFamily="2" charset="-122"/>
              </a:rPr>
              <a:t>(</a:t>
            </a:r>
            <a:r>
              <a:rPr lang="en-US" altLang="zh-CN" sz="2400" dirty="0">
                <a:ea typeface="宋体" panose="02010600030101010101" pitchFamily="2" charset="-122"/>
              </a:rPr>
              <a:t>forest)：m </a:t>
            </a:r>
            <a:r>
              <a:rPr lang="zh-CN" altLang="en-US" sz="2400" dirty="0">
                <a:ea typeface="宋体" panose="02010600030101010101" pitchFamily="2" charset="-122"/>
              </a:rPr>
              <a:t>棵互不相交的树的集合(</a:t>
            </a:r>
            <a:r>
              <a:rPr lang="en-US" altLang="zh-CN" sz="2400" dirty="0">
                <a:ea typeface="宋体" panose="02010600030101010101" pitchFamily="2" charset="-122"/>
              </a:rPr>
              <a:t>m≥0)</a:t>
            </a:r>
            <a:endParaRPr lang="en-US" altLang="zh-CN" sz="2400" dirty="0">
              <a:ea typeface="宋体" panose="02010600030101010101" pitchFamily="2" charset="-122"/>
            </a:endParaRPr>
          </a:p>
          <a:p>
            <a:pPr lvl="1">
              <a:lnSpc>
                <a:spcPct val="110000"/>
              </a:lnSpc>
              <a:spcBef>
                <a:spcPct val="0"/>
              </a:spcBef>
              <a:defRPr/>
            </a:pPr>
            <a:r>
              <a:rPr lang="zh-CN" altLang="en-US" sz="2400" dirty="0">
                <a:solidFill>
                  <a:schemeClr val="tx2"/>
                </a:solidFill>
                <a:ea typeface="宋体" panose="02010600030101010101" pitchFamily="2" charset="-122"/>
              </a:rPr>
              <a:t>有序树</a:t>
            </a:r>
            <a:r>
              <a:rPr lang="zh-CN" altLang="en-US" sz="2400" dirty="0">
                <a:ea typeface="宋体" panose="02010600030101010101" pitchFamily="2" charset="-122"/>
              </a:rPr>
              <a:t>：兄弟结点间有先后次序的树，不能互换；否则，称为无序树</a:t>
            </a:r>
            <a:endParaRPr lang="zh-CN" altLang="en-US" sz="2400" dirty="0">
              <a:ea typeface="宋体" panose="02010600030101010101" pitchFamily="2" charset="-122"/>
            </a:endParaRPr>
          </a:p>
        </p:txBody>
      </p:sp>
      <p:pic>
        <p:nvPicPr>
          <p:cNvPr id="83975" name="Picture 7" descr="Snap15"/>
          <p:cNvPicPr>
            <a:picLocks noChangeAspect="1" noChangeArrowheads="1"/>
          </p:cNvPicPr>
          <p:nvPr/>
        </p:nvPicPr>
        <p:blipFill>
          <a:blip r:embed="rId1" cstate="print">
            <a:duotone>
              <a:prstClr val="black"/>
              <a:schemeClr val="accent1">
                <a:tint val="45000"/>
                <a:satMod val="400000"/>
              </a:schemeClr>
            </a:duotone>
            <a:lum contrast="100000"/>
          </a:blip>
          <a:srcRect/>
          <a:stretch>
            <a:fillRect/>
          </a:stretch>
        </p:blipFill>
        <p:spPr bwMode="auto">
          <a:xfrm>
            <a:off x="5683834" y="115133"/>
            <a:ext cx="3370236" cy="1954661"/>
          </a:xfrm>
          <a:prstGeom prst="rect">
            <a:avLst/>
          </a:prstGeom>
          <a:solidFill>
            <a:schemeClr val="accent6">
              <a:lumMod val="60000"/>
              <a:lumOff val="40000"/>
              <a:alpha val="73000"/>
            </a:schemeClr>
          </a:solidFill>
          <a:ln w="9525">
            <a:noFill/>
            <a:miter lim="800000"/>
            <a:headEnd/>
            <a:tailEnd/>
          </a:ln>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8.33333E-7 7.40741E-7 L -0.79531 -0.00208 " pathEditMode="relative" rAng="0" ptsTypes="AA">
                                      <p:cBhvr>
                                        <p:cTn id="6" dur="2000" spd="-100000" fill="hold"/>
                                        <p:tgtEl>
                                          <p:spTgt spid="83975"/>
                                        </p:tgtEl>
                                        <p:attrNameLst>
                                          <p:attrName>ppt_x</p:attrName>
                                          <p:attrName>ppt_y</p:attrName>
                                        </p:attrNameLst>
                                      </p:cBhvr>
                                      <p:rCtr x="-39774" y="-11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00E386F9-B81D-45A0-98C8-D7AEF053A4BC}"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23555" name="Rectangle 8"/>
          <p:cNvSpPr>
            <a:spLocks noGrp="1" noChangeArrowheads="1"/>
          </p:cNvSpPr>
          <p:nvPr>
            <p:ph type="title"/>
          </p:nvPr>
        </p:nvSpPr>
        <p:spPr>
          <a:xfrm>
            <a:off x="685800" y="-6350"/>
            <a:ext cx="7772400" cy="914400"/>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ea typeface="宋体" panose="02010600030101010101" pitchFamily="2" charset="-122"/>
              </a:rPr>
              <a:t>3.5 </a:t>
            </a:r>
            <a:r>
              <a:rPr lang="zh-CN" altLang="en-US" sz="2400">
                <a:ea typeface="宋体" panose="02010600030101010101" pitchFamily="2" charset="-122"/>
              </a:rPr>
              <a:t>树与二叉树</a:t>
            </a:r>
            <a:endParaRPr lang="zh-CN" altLang="en-US" sz="2400">
              <a:ea typeface="宋体" panose="02010600030101010101" pitchFamily="2" charset="-122"/>
            </a:endParaRPr>
          </a:p>
        </p:txBody>
      </p:sp>
      <p:sp>
        <p:nvSpPr>
          <p:cNvPr id="23556" name="Rectangle 9"/>
          <p:cNvSpPr>
            <a:spLocks noGrp="1" noChangeArrowheads="1"/>
          </p:cNvSpPr>
          <p:nvPr>
            <p:ph type="body" idx="1"/>
          </p:nvPr>
        </p:nvSpPr>
        <p:spPr>
          <a:xfrm>
            <a:off x="179388" y="968375"/>
            <a:ext cx="7772400" cy="3889375"/>
          </a:xfrm>
        </p:spPr>
        <p:txBody>
          <a:bodyPr/>
          <a:lstStyle/>
          <a:p>
            <a:r>
              <a:rPr lang="zh-CN" altLang="en-US" sz="2800">
                <a:ea typeface="宋体" panose="02010600030101010101" pitchFamily="2" charset="-122"/>
              </a:rPr>
              <a:t>树的存储</a:t>
            </a:r>
            <a:endParaRPr lang="zh-CN" altLang="en-US" sz="2800">
              <a:ea typeface="宋体" panose="02010600030101010101" pitchFamily="2" charset="-122"/>
            </a:endParaRPr>
          </a:p>
          <a:p>
            <a:pPr lvl="1"/>
            <a:r>
              <a:rPr lang="zh-CN" altLang="en-US" sz="2400">
                <a:ea typeface="宋体" panose="02010600030101010101" pitchFamily="2" charset="-122"/>
              </a:rPr>
              <a:t>可有多种存储结构</a:t>
            </a:r>
            <a:endParaRPr lang="zh-CN" altLang="en-US" sz="2400">
              <a:ea typeface="宋体" panose="02010600030101010101" pitchFamily="2" charset="-122"/>
            </a:endParaRPr>
          </a:p>
          <a:p>
            <a:pPr lvl="1"/>
            <a:r>
              <a:rPr lang="zh-CN" altLang="en-US" sz="2400">
                <a:ea typeface="宋体" panose="02010600030101010101" pitchFamily="2" charset="-122"/>
              </a:rPr>
              <a:t>只讨论最常用的链式存储方式</a:t>
            </a:r>
            <a:endParaRPr lang="zh-CN" altLang="en-US" sz="2400">
              <a:ea typeface="宋体" panose="02010600030101010101" pitchFamily="2" charset="-122"/>
            </a:endParaRPr>
          </a:p>
          <a:p>
            <a:r>
              <a:rPr lang="zh-CN" altLang="en-US" sz="2800">
                <a:ea typeface="宋体" panose="02010600030101010101" pitchFamily="2" charset="-122"/>
              </a:rPr>
              <a:t>树的链式存储</a:t>
            </a:r>
            <a:endParaRPr lang="zh-CN" altLang="en-US" sz="2800">
              <a:ea typeface="宋体" panose="02010600030101010101" pitchFamily="2" charset="-122"/>
            </a:endParaRPr>
          </a:p>
          <a:p>
            <a:pPr lvl="1"/>
            <a:r>
              <a:rPr lang="zh-CN" altLang="en-US" sz="2400">
                <a:ea typeface="宋体" panose="02010600030101010101" pitchFamily="2" charset="-122"/>
              </a:rPr>
              <a:t>树是多分支的非线性表</a:t>
            </a:r>
            <a:endParaRPr lang="zh-CN" altLang="en-US" sz="2400">
              <a:ea typeface="宋体" panose="02010600030101010101" pitchFamily="2" charset="-122"/>
            </a:endParaRPr>
          </a:p>
          <a:p>
            <a:pPr lvl="1"/>
            <a:r>
              <a:rPr lang="zh-CN" altLang="en-US" sz="2400">
                <a:ea typeface="宋体" panose="02010600030101010101" pitchFamily="2" charset="-122"/>
              </a:rPr>
              <a:t>需采用多重链表结构，即：每个结点除了包含结点的数据外，还包含有多个指针域，每一个指针域指向其孩子结点（一棵子树的根结点）</a:t>
            </a:r>
            <a:endParaRPr lang="zh-CN" altLang="en-US" sz="2400">
              <a:ea typeface="宋体" panose="02010600030101010101" pitchFamily="2" charset="-122"/>
            </a:endParaRPr>
          </a:p>
        </p:txBody>
      </p:sp>
      <p:pic>
        <p:nvPicPr>
          <p:cNvPr id="29701" name="Picture 13" descr="Snap1"/>
          <p:cNvPicPr>
            <a:picLocks noChangeAspect="1" noChangeArrowheads="1"/>
          </p:cNvPicPr>
          <p:nvPr/>
        </p:nvPicPr>
        <p:blipFill>
          <a:blip r:embed="rId1" cstate="print">
            <a:duotone>
              <a:prstClr val="black"/>
              <a:schemeClr val="accent1">
                <a:tint val="45000"/>
                <a:satMod val="400000"/>
              </a:schemeClr>
            </a:duotone>
            <a:lum contrast="100000"/>
          </a:blip>
          <a:srcRect/>
          <a:stretch>
            <a:fillRect/>
          </a:stretch>
        </p:blipFill>
        <p:spPr bwMode="auto">
          <a:xfrm>
            <a:off x="1692276" y="4437063"/>
            <a:ext cx="5832475" cy="2316162"/>
          </a:xfrm>
          <a:prstGeom prst="rect">
            <a:avLst/>
          </a:prstGeom>
          <a:noFill/>
          <a:ln w="9525">
            <a:noFill/>
            <a:miter lim="800000"/>
            <a:headEnd/>
            <a:tailEnd/>
          </a:ln>
        </p:spPr>
      </p:pic>
    </p:spTree>
  </p:cSld>
  <p:clrMapOvr>
    <a:masterClrMapping/>
  </p:clrMapOvr>
  <p:transition advClick="0"/>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60C2BAFF-40B0-4AFC-B0F9-D43202B5FD98}"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24579" name="Rectangle 6"/>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ea typeface="宋体" panose="02010600030101010101" pitchFamily="2" charset="-122"/>
              </a:rPr>
              <a:t>3.5 </a:t>
            </a:r>
            <a:r>
              <a:rPr lang="zh-CN" altLang="en-US" sz="2400">
                <a:ea typeface="宋体" panose="02010600030101010101" pitchFamily="2" charset="-122"/>
              </a:rPr>
              <a:t>树与二叉树</a:t>
            </a:r>
            <a:endParaRPr lang="zh-CN" altLang="en-US" sz="2400">
              <a:ea typeface="宋体" panose="02010600030101010101" pitchFamily="2" charset="-122"/>
            </a:endParaRPr>
          </a:p>
        </p:txBody>
      </p:sp>
      <p:sp>
        <p:nvSpPr>
          <p:cNvPr id="24580" name="Rectangle 7"/>
          <p:cNvSpPr>
            <a:spLocks noGrp="1" noChangeArrowheads="1"/>
          </p:cNvSpPr>
          <p:nvPr>
            <p:ph type="body" idx="1"/>
          </p:nvPr>
        </p:nvSpPr>
        <p:spPr>
          <a:xfrm>
            <a:off x="136525" y="1039813"/>
            <a:ext cx="8877300" cy="4032250"/>
          </a:xfrm>
        </p:spPr>
        <p:txBody>
          <a:bodyPr/>
          <a:lstStyle/>
          <a:p>
            <a:pPr>
              <a:lnSpc>
                <a:spcPct val="90000"/>
              </a:lnSpc>
            </a:pPr>
            <a:r>
              <a:rPr lang="zh-CN" altLang="en-US" sz="2800">
                <a:ea typeface="宋体" panose="02010600030101010101" pitchFamily="2" charset="-122"/>
              </a:rPr>
              <a:t>树的链式存储</a:t>
            </a:r>
            <a:endParaRPr lang="zh-CN" altLang="en-US" sz="2800">
              <a:ea typeface="宋体" panose="02010600030101010101" pitchFamily="2" charset="-122"/>
            </a:endParaRPr>
          </a:p>
          <a:p>
            <a:pPr lvl="1">
              <a:lnSpc>
                <a:spcPct val="90000"/>
              </a:lnSpc>
            </a:pPr>
            <a:r>
              <a:rPr lang="zh-CN" altLang="en-US" sz="2400">
                <a:solidFill>
                  <a:schemeClr val="tx2"/>
                </a:solidFill>
                <a:ea typeface="宋体" panose="02010600030101010101" pitchFamily="2" charset="-122"/>
              </a:rPr>
              <a:t>同构存储</a:t>
            </a:r>
            <a:r>
              <a:rPr lang="zh-CN" altLang="en-US" sz="2400">
                <a:ea typeface="宋体" panose="02010600030101010101" pitchFamily="2" charset="-122"/>
              </a:rPr>
              <a:t>（定长结点）</a:t>
            </a:r>
            <a:endParaRPr lang="zh-CN" altLang="en-US" sz="2400">
              <a:ea typeface="宋体" panose="02010600030101010101" pitchFamily="2" charset="-122"/>
            </a:endParaRPr>
          </a:p>
          <a:p>
            <a:pPr lvl="2">
              <a:lnSpc>
                <a:spcPct val="90000"/>
              </a:lnSpc>
            </a:pPr>
            <a:r>
              <a:rPr lang="zh-CN" altLang="en-US" sz="2000">
                <a:ea typeface="宋体" panose="02010600030101010101" pitchFamily="2" charset="-122"/>
              </a:rPr>
              <a:t>所有结点的指针域的数目都一样，都等于树的度</a:t>
            </a:r>
            <a:endParaRPr lang="zh-CN" altLang="en-US" sz="2000">
              <a:ea typeface="宋体" panose="02010600030101010101" pitchFamily="2" charset="-122"/>
            </a:endParaRPr>
          </a:p>
          <a:p>
            <a:pPr lvl="2">
              <a:lnSpc>
                <a:spcPct val="90000"/>
              </a:lnSpc>
            </a:pPr>
            <a:r>
              <a:rPr lang="zh-CN" altLang="en-US" sz="2000">
                <a:ea typeface="宋体" panose="02010600030101010101" pitchFamily="2" charset="-122"/>
              </a:rPr>
              <a:t>所有结点的长度一致</a:t>
            </a:r>
            <a:endParaRPr lang="zh-CN" altLang="en-US" sz="2000">
              <a:ea typeface="宋体" panose="02010600030101010101" pitchFamily="2" charset="-122"/>
            </a:endParaRPr>
          </a:p>
          <a:p>
            <a:pPr lvl="2">
              <a:lnSpc>
                <a:spcPct val="90000"/>
              </a:lnSpc>
            </a:pPr>
            <a:r>
              <a:rPr lang="zh-CN" altLang="en-US" sz="2000">
                <a:ea typeface="宋体" panose="02010600030101010101" pitchFamily="2" charset="-122"/>
              </a:rPr>
              <a:t>运算方便，浪费空间</a:t>
            </a:r>
            <a:r>
              <a:rPr lang="en-US" altLang="zh-CN" sz="2000">
                <a:ea typeface="宋体" panose="02010600030101010101" pitchFamily="2" charset="-122"/>
              </a:rPr>
              <a:t>(</a:t>
            </a:r>
            <a:r>
              <a:rPr lang="zh-CN" altLang="en-US" sz="2000">
                <a:solidFill>
                  <a:schemeClr val="tx2"/>
                </a:solidFill>
                <a:ea typeface="宋体" panose="02010600030101010101" pitchFamily="2" charset="-122"/>
              </a:rPr>
              <a:t>树的度越大浪费越严重</a:t>
            </a:r>
            <a:r>
              <a:rPr lang="zh-CN" altLang="zh-CN" sz="2000">
                <a:ea typeface="宋体" panose="02010600030101010101" pitchFamily="2" charset="-122"/>
              </a:rPr>
              <a:t>→</a:t>
            </a:r>
            <a:r>
              <a:rPr lang="zh-CN" altLang="en-US" sz="2000">
                <a:solidFill>
                  <a:schemeClr val="tx2"/>
                </a:solidFill>
                <a:ea typeface="宋体" panose="02010600030101010101" pitchFamily="2" charset="-122"/>
              </a:rPr>
              <a:t>二叉树浪费最小</a:t>
            </a:r>
            <a:r>
              <a:rPr lang="en-US" altLang="zh-CN" sz="2000">
                <a:ea typeface="宋体" panose="02010600030101010101" pitchFamily="2" charset="-122"/>
              </a:rPr>
              <a:t>)</a:t>
            </a:r>
            <a:endParaRPr lang="en-US" altLang="zh-CN" sz="2000">
              <a:ea typeface="宋体" panose="02010600030101010101" pitchFamily="2" charset="-122"/>
            </a:endParaRPr>
          </a:p>
          <a:p>
            <a:pPr lvl="1">
              <a:lnSpc>
                <a:spcPct val="90000"/>
              </a:lnSpc>
            </a:pPr>
            <a:r>
              <a:rPr lang="zh-CN" altLang="en-US" sz="2400">
                <a:solidFill>
                  <a:schemeClr val="tx2"/>
                </a:solidFill>
                <a:ea typeface="宋体" panose="02010600030101010101" pitchFamily="2" charset="-122"/>
              </a:rPr>
              <a:t>异构存储</a:t>
            </a:r>
            <a:r>
              <a:rPr lang="zh-CN" altLang="en-US" sz="2400">
                <a:ea typeface="宋体" panose="02010600030101010101" pitchFamily="2" charset="-122"/>
              </a:rPr>
              <a:t>（不定长结点）</a:t>
            </a:r>
            <a:endParaRPr lang="zh-CN" altLang="en-US" sz="2400">
              <a:ea typeface="宋体" panose="02010600030101010101" pitchFamily="2" charset="-122"/>
            </a:endParaRPr>
          </a:p>
          <a:p>
            <a:pPr lvl="2">
              <a:lnSpc>
                <a:spcPct val="90000"/>
              </a:lnSpc>
            </a:pPr>
            <a:r>
              <a:rPr lang="zh-CN" altLang="en-US" sz="2000">
                <a:ea typeface="宋体" panose="02010600030101010101" pitchFamily="2" charset="-122"/>
              </a:rPr>
              <a:t>结点的指针域个数取决于有几个孩子，有几个孩子就有几个指针域</a:t>
            </a:r>
            <a:endParaRPr lang="zh-CN" altLang="en-US" sz="2000">
              <a:ea typeface="宋体" panose="02010600030101010101" pitchFamily="2" charset="-122"/>
            </a:endParaRPr>
          </a:p>
          <a:p>
            <a:pPr lvl="2">
              <a:lnSpc>
                <a:spcPct val="90000"/>
              </a:lnSpc>
            </a:pPr>
            <a:r>
              <a:rPr lang="zh-CN" altLang="en-US" sz="2000">
                <a:ea typeface="宋体" panose="02010600030101010101" pitchFamily="2" charset="-122"/>
              </a:rPr>
              <a:t>结点的长度有所不同</a:t>
            </a:r>
            <a:endParaRPr lang="zh-CN" altLang="en-US" sz="2000">
              <a:ea typeface="宋体" panose="02010600030101010101" pitchFamily="2" charset="-122"/>
            </a:endParaRPr>
          </a:p>
          <a:p>
            <a:pPr lvl="2">
              <a:lnSpc>
                <a:spcPct val="90000"/>
              </a:lnSpc>
            </a:pPr>
            <a:r>
              <a:rPr lang="zh-CN" altLang="en-US" sz="2000">
                <a:ea typeface="宋体" panose="02010600030101010101" pitchFamily="2" charset="-122"/>
              </a:rPr>
              <a:t>节省空间，运算复杂</a:t>
            </a:r>
            <a:endParaRPr lang="zh-CN" altLang="en-US" sz="2000">
              <a:ea typeface="宋体" panose="02010600030101010101" pitchFamily="2" charset="-122"/>
            </a:endParaRPr>
          </a:p>
          <a:p>
            <a:pPr lvl="1">
              <a:lnSpc>
                <a:spcPct val="90000"/>
              </a:lnSpc>
            </a:pPr>
            <a:r>
              <a:rPr lang="zh-CN" altLang="en-US" sz="2400">
                <a:ea typeface="宋体" panose="02010600030101010101" pitchFamily="2" charset="-122"/>
              </a:rPr>
              <a:t>为了使用同构存储方式，可以把树转化为二叉树，这样运算简单，而且节省存储空间</a:t>
            </a:r>
            <a:endParaRPr lang="zh-CN" altLang="en-US" sz="2400">
              <a:ea typeface="宋体" panose="02010600030101010101" pitchFamily="2" charset="-122"/>
            </a:endParaRPr>
          </a:p>
        </p:txBody>
      </p:sp>
      <p:pic>
        <p:nvPicPr>
          <p:cNvPr id="30725" name="Picture 5" descr="Snap1"/>
          <p:cNvPicPr>
            <a:picLocks noChangeAspect="1" noChangeArrowheads="1"/>
          </p:cNvPicPr>
          <p:nvPr/>
        </p:nvPicPr>
        <p:blipFill>
          <a:blip r:embed="rId1" cstate="print">
            <a:duotone>
              <a:prstClr val="black"/>
              <a:schemeClr val="accent1">
                <a:tint val="45000"/>
                <a:satMod val="400000"/>
              </a:schemeClr>
            </a:duotone>
            <a:lum contrast="100000"/>
          </a:blip>
          <a:srcRect/>
          <a:stretch>
            <a:fillRect/>
          </a:stretch>
        </p:blipFill>
        <p:spPr bwMode="auto">
          <a:xfrm>
            <a:off x="-135555" y="4317207"/>
            <a:ext cx="4500594" cy="2316162"/>
          </a:xfrm>
          <a:prstGeom prst="rect">
            <a:avLst/>
          </a:prstGeom>
          <a:noFill/>
          <a:ln w="9525">
            <a:noFill/>
            <a:miter lim="800000"/>
            <a:headEnd/>
            <a:tailEnd/>
          </a:ln>
        </p:spPr>
      </p:pic>
      <p:pic>
        <p:nvPicPr>
          <p:cNvPr id="24582" name="Picture 7" descr="E:\temp\图片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125" y="5000625"/>
            <a:ext cx="2643188" cy="19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1EDA2C61-2E33-4ECC-A103-0BA8F4922288}"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25603" name="Rectangle 9"/>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ea typeface="宋体" panose="02010600030101010101" pitchFamily="2" charset="-122"/>
              </a:rPr>
              <a:t>3.5 </a:t>
            </a:r>
            <a:r>
              <a:rPr lang="zh-CN" altLang="en-US" sz="2400">
                <a:ea typeface="宋体" panose="02010600030101010101" pitchFamily="2" charset="-122"/>
              </a:rPr>
              <a:t>树与二叉树</a:t>
            </a:r>
            <a:endParaRPr lang="zh-CN" altLang="en-US" sz="2400">
              <a:ea typeface="宋体" panose="02010600030101010101" pitchFamily="2" charset="-122"/>
            </a:endParaRPr>
          </a:p>
        </p:txBody>
      </p:sp>
      <p:sp>
        <p:nvSpPr>
          <p:cNvPr id="86026" name="Rectangle 10"/>
          <p:cNvSpPr>
            <a:spLocks noGrp="1" noChangeArrowheads="1"/>
          </p:cNvSpPr>
          <p:nvPr>
            <p:ph type="body" idx="1"/>
          </p:nvPr>
        </p:nvSpPr>
        <p:spPr>
          <a:xfrm>
            <a:off x="136525" y="968375"/>
            <a:ext cx="4903788" cy="5268913"/>
          </a:xfrm>
        </p:spPr>
        <p:txBody>
          <a:bodyPr/>
          <a:lstStyle/>
          <a:p>
            <a:pPr marL="342900" indent="-342900">
              <a:defRPr/>
            </a:pPr>
            <a:r>
              <a:rPr lang="zh-CN" altLang="en-US" sz="2800" dirty="0">
                <a:ea typeface="宋体" panose="02010600030101010101" pitchFamily="2" charset="-122"/>
              </a:rPr>
              <a:t>二叉树</a:t>
            </a:r>
            <a:endParaRPr lang="zh-CN" altLang="en-US" sz="2800" dirty="0">
              <a:ea typeface="宋体" panose="02010600030101010101" pitchFamily="2" charset="-122"/>
            </a:endParaRPr>
          </a:p>
          <a:p>
            <a:pPr marL="742950" lvl="1" indent="-285750">
              <a:defRPr/>
            </a:pPr>
            <a:r>
              <a:rPr lang="zh-CN" altLang="en-US" sz="2400" dirty="0">
                <a:ea typeface="宋体" panose="02010600030101010101" pitchFamily="2" charset="-122"/>
              </a:rPr>
              <a:t>是每个结点最多有两个子树的</a:t>
            </a:r>
            <a:r>
              <a:rPr lang="zh-CN" altLang="en-US" sz="2400" dirty="0">
                <a:solidFill>
                  <a:schemeClr val="tx2">
                    <a:lumMod val="60000"/>
                    <a:lumOff val="40000"/>
                  </a:schemeClr>
                </a:solidFill>
                <a:ea typeface="宋体" panose="02010600030101010101" pitchFamily="2" charset="-122"/>
              </a:rPr>
              <a:t>有序树</a:t>
            </a:r>
            <a:endParaRPr lang="zh-CN" altLang="en-US" sz="2400" dirty="0">
              <a:solidFill>
                <a:schemeClr val="tx2">
                  <a:lumMod val="60000"/>
                  <a:lumOff val="40000"/>
                </a:schemeClr>
              </a:solidFill>
              <a:ea typeface="宋体" panose="02010600030101010101" pitchFamily="2" charset="-122"/>
            </a:endParaRPr>
          </a:p>
          <a:p>
            <a:pPr marL="742950" lvl="1" indent="-285750">
              <a:defRPr/>
            </a:pPr>
            <a:r>
              <a:rPr lang="zh-CN" altLang="en-US" sz="2400" dirty="0">
                <a:ea typeface="宋体" panose="02010600030101010101" pitchFamily="2" charset="-122"/>
              </a:rPr>
              <a:t>两个子树分别称为：</a:t>
            </a:r>
            <a:r>
              <a:rPr lang="zh-CN" altLang="en-US" sz="2400" dirty="0">
                <a:solidFill>
                  <a:schemeClr val="tx2">
                    <a:lumMod val="60000"/>
                    <a:lumOff val="40000"/>
                  </a:schemeClr>
                </a:solidFill>
                <a:ea typeface="宋体" panose="02010600030101010101" pitchFamily="2" charset="-122"/>
              </a:rPr>
              <a:t>左子树</a:t>
            </a:r>
            <a:r>
              <a:rPr lang="zh-CN" altLang="en-US" sz="2400" dirty="0">
                <a:ea typeface="宋体" panose="02010600030101010101" pitchFamily="2" charset="-122"/>
              </a:rPr>
              <a:t>、</a:t>
            </a:r>
            <a:r>
              <a:rPr lang="zh-CN" altLang="en-US" sz="2400" dirty="0">
                <a:solidFill>
                  <a:schemeClr val="tx2">
                    <a:lumMod val="60000"/>
                    <a:lumOff val="40000"/>
                  </a:schemeClr>
                </a:solidFill>
                <a:ea typeface="宋体" panose="02010600030101010101" pitchFamily="2" charset="-122"/>
              </a:rPr>
              <a:t>右子树</a:t>
            </a:r>
            <a:endParaRPr lang="zh-CN" altLang="en-US" sz="2400" dirty="0">
              <a:solidFill>
                <a:schemeClr val="tx2">
                  <a:lumMod val="60000"/>
                  <a:lumOff val="40000"/>
                </a:schemeClr>
              </a:solidFill>
              <a:ea typeface="宋体" panose="02010600030101010101" pitchFamily="2" charset="-122"/>
            </a:endParaRPr>
          </a:p>
          <a:p>
            <a:pPr marL="342900" indent="-342900">
              <a:defRPr/>
            </a:pPr>
            <a:r>
              <a:rPr lang="zh-CN" altLang="en-US" sz="2800" dirty="0">
                <a:ea typeface="宋体" panose="02010600030101010101" pitchFamily="2" charset="-122"/>
              </a:rPr>
              <a:t>二叉树的存储</a:t>
            </a:r>
            <a:endParaRPr lang="zh-CN" altLang="en-US" sz="2800" dirty="0">
              <a:ea typeface="宋体" panose="02010600030101010101" pitchFamily="2" charset="-122"/>
            </a:endParaRPr>
          </a:p>
          <a:p>
            <a:pPr marL="742950" lvl="1" indent="-285750">
              <a:defRPr/>
            </a:pPr>
            <a:r>
              <a:rPr lang="zh-CN" altLang="en-US" sz="2400" dirty="0">
                <a:ea typeface="宋体" panose="02010600030101010101" pitchFamily="2" charset="-122"/>
              </a:rPr>
              <a:t>采用具有 2 个指针的链式存储方式</a:t>
            </a:r>
            <a:endParaRPr lang="zh-CN" altLang="en-US" sz="2400" dirty="0">
              <a:ea typeface="宋体" panose="02010600030101010101" pitchFamily="2" charset="-122"/>
            </a:endParaRPr>
          </a:p>
          <a:p>
            <a:pPr marL="742950" lvl="1" indent="-285750">
              <a:defRPr/>
            </a:pPr>
            <a:r>
              <a:rPr lang="zh-CN" altLang="en-US" sz="2400" dirty="0">
                <a:ea typeface="宋体" panose="02010600030101010101" pitchFamily="2" charset="-122"/>
              </a:rPr>
              <a:t>每个结点由数据域 和 2个指针域构成</a:t>
            </a:r>
            <a:endParaRPr lang="zh-CN" altLang="en-US" sz="2400" dirty="0">
              <a:ea typeface="宋体" panose="02010600030101010101" pitchFamily="2" charset="-122"/>
            </a:endParaRPr>
          </a:p>
          <a:p>
            <a:pPr marL="1143000" lvl="2" indent="-228600">
              <a:defRPr/>
            </a:pPr>
            <a:r>
              <a:rPr lang="zh-CN" altLang="en-US" sz="2000" dirty="0">
                <a:ea typeface="宋体" panose="02010600030101010101" pitchFamily="2" charset="-122"/>
              </a:rPr>
              <a:t>一个指针域指向其 左孩子</a:t>
            </a:r>
            <a:endParaRPr lang="zh-CN" altLang="en-US" sz="2000" dirty="0">
              <a:ea typeface="宋体" panose="02010600030101010101" pitchFamily="2" charset="-122"/>
            </a:endParaRPr>
          </a:p>
          <a:p>
            <a:pPr marL="1143000" lvl="2" indent="-228600">
              <a:defRPr/>
            </a:pPr>
            <a:r>
              <a:rPr lang="zh-CN" altLang="en-US" sz="2000" dirty="0">
                <a:ea typeface="宋体" panose="02010600030101010101" pitchFamily="2" charset="-122"/>
              </a:rPr>
              <a:t>另一个指针域指向其 右孩子</a:t>
            </a:r>
            <a:endParaRPr lang="zh-CN" altLang="en-US" sz="2000" dirty="0">
              <a:ea typeface="宋体" panose="02010600030101010101" pitchFamily="2" charset="-122"/>
            </a:endParaRPr>
          </a:p>
        </p:txBody>
      </p:sp>
      <p:grpSp>
        <p:nvGrpSpPr>
          <p:cNvPr id="25605" name="Group 7"/>
          <p:cNvGrpSpPr/>
          <p:nvPr/>
        </p:nvGrpSpPr>
        <p:grpSpPr bwMode="auto">
          <a:xfrm>
            <a:off x="5519738" y="5148263"/>
            <a:ext cx="3048000" cy="377825"/>
            <a:chOff x="3744" y="3888"/>
            <a:chExt cx="1920" cy="238"/>
          </a:xfrm>
        </p:grpSpPr>
        <p:sp>
          <p:nvSpPr>
            <p:cNvPr id="25607" name="Text Box 4"/>
            <p:cNvSpPr txBox="1">
              <a:spLocks noChangeArrowheads="1"/>
            </p:cNvSpPr>
            <p:nvPr/>
          </p:nvSpPr>
          <p:spPr bwMode="auto">
            <a:xfrm>
              <a:off x="3744" y="3888"/>
              <a:ext cx="1920" cy="238"/>
            </a:xfrm>
            <a:prstGeom prst="rect">
              <a:avLst/>
            </a:prstGeom>
            <a:noFill/>
            <a:ln w="38100">
              <a:solidFill>
                <a:schemeClr val="tx2"/>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1800" b="1"/>
                <a:t>L child        Data        R child</a:t>
              </a:r>
              <a:endParaRPr lang="en-US" altLang="zh-CN" sz="1800" b="1"/>
            </a:p>
          </p:txBody>
        </p:sp>
        <p:sp>
          <p:nvSpPr>
            <p:cNvPr id="25608" name="Line 5"/>
            <p:cNvSpPr>
              <a:spLocks noChangeShapeType="1"/>
            </p:cNvSpPr>
            <p:nvPr/>
          </p:nvSpPr>
          <p:spPr bwMode="auto">
            <a:xfrm flipV="1">
              <a:off x="4992" y="3894"/>
              <a:ext cx="0" cy="227"/>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09" name="Line 6"/>
            <p:cNvSpPr>
              <a:spLocks noChangeShapeType="1"/>
            </p:cNvSpPr>
            <p:nvPr/>
          </p:nvSpPr>
          <p:spPr bwMode="auto">
            <a:xfrm flipV="1">
              <a:off x="4404" y="3894"/>
              <a:ext cx="0" cy="227"/>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grpSp>
      <p:pic>
        <p:nvPicPr>
          <p:cNvPr id="31750" name="Picture 13" descr="Snap4"/>
          <p:cNvPicPr>
            <a:picLocks noChangeAspect="1" noChangeArrowheads="1"/>
          </p:cNvPicPr>
          <p:nvPr/>
        </p:nvPicPr>
        <p:blipFill>
          <a:blip r:embed="rId1" cstate="print">
            <a:duotone>
              <a:prstClr val="black"/>
              <a:schemeClr val="accent1">
                <a:tint val="45000"/>
                <a:satMod val="400000"/>
              </a:schemeClr>
            </a:duotone>
            <a:lum contrast="100000"/>
          </a:blip>
          <a:srcRect/>
          <a:stretch>
            <a:fillRect/>
          </a:stretch>
        </p:blipFill>
        <p:spPr bwMode="auto">
          <a:xfrm>
            <a:off x="4787901" y="1555750"/>
            <a:ext cx="4284663" cy="3168650"/>
          </a:xfrm>
          <a:prstGeom prst="rect">
            <a:avLst/>
          </a:prstGeom>
          <a:noFill/>
          <a:ln w="9525">
            <a:noFill/>
            <a:miter lim="800000"/>
            <a:headEnd/>
            <a:tailEnd/>
          </a:ln>
        </p:spPr>
      </p:pic>
    </p:spTree>
  </p:cSld>
  <p:clrMapOvr>
    <a:masterClrMapping/>
  </p:clrMapOvr>
  <p:transition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BD710CA9-709C-48A6-BA95-389201312737}"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27651" name="Rectangle 2"/>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ea typeface="宋体" panose="02010600030101010101" pitchFamily="2" charset="-122"/>
              </a:rPr>
              <a:t>3.5 </a:t>
            </a:r>
            <a:r>
              <a:rPr lang="zh-CN" altLang="en-US" sz="2400">
                <a:ea typeface="宋体" panose="02010600030101010101" pitchFamily="2" charset="-122"/>
              </a:rPr>
              <a:t>树与二叉树</a:t>
            </a:r>
            <a:endParaRPr lang="zh-CN" altLang="en-US" sz="2400">
              <a:ea typeface="宋体" panose="02010600030101010101" pitchFamily="2" charset="-122"/>
            </a:endParaRPr>
          </a:p>
        </p:txBody>
      </p:sp>
      <p:sp>
        <p:nvSpPr>
          <p:cNvPr id="27652" name="Rectangle 3"/>
          <p:cNvSpPr>
            <a:spLocks noGrp="1" noChangeArrowheads="1"/>
          </p:cNvSpPr>
          <p:nvPr>
            <p:ph type="body" idx="1"/>
          </p:nvPr>
        </p:nvSpPr>
        <p:spPr>
          <a:xfrm>
            <a:off x="136525" y="968375"/>
            <a:ext cx="8877300" cy="4189413"/>
          </a:xfrm>
        </p:spPr>
        <p:txBody>
          <a:bodyPr/>
          <a:lstStyle/>
          <a:p>
            <a:r>
              <a:rPr lang="zh-CN" altLang="en-US">
                <a:ea typeface="宋体" panose="02010600030101010101" pitchFamily="2" charset="-122"/>
              </a:rPr>
              <a:t>二叉树的性质</a:t>
            </a:r>
            <a:endParaRPr lang="zh-CN" altLang="en-US">
              <a:ea typeface="宋体" panose="02010600030101010101" pitchFamily="2" charset="-122"/>
            </a:endParaRPr>
          </a:p>
          <a:p>
            <a:pPr lvl="2"/>
            <a:r>
              <a:rPr lang="zh-CN" altLang="en-US">
                <a:ea typeface="宋体" panose="02010600030101010101" pitchFamily="2" charset="-122"/>
              </a:rPr>
              <a:t>二叉树的第 </a:t>
            </a:r>
            <a:r>
              <a:rPr lang="en-US" altLang="zh-CN">
                <a:ea typeface="宋体" panose="02010600030101010101" pitchFamily="2" charset="-122"/>
              </a:rPr>
              <a:t>i </a:t>
            </a:r>
            <a:r>
              <a:rPr lang="zh-CN" altLang="en-US">
                <a:ea typeface="宋体" panose="02010600030101010101" pitchFamily="2" charset="-122"/>
              </a:rPr>
              <a:t>层上至多有 2</a:t>
            </a:r>
            <a:r>
              <a:rPr lang="en-US" altLang="zh-CN" baseline="30000">
                <a:ea typeface="宋体" panose="02010600030101010101" pitchFamily="2" charset="-122"/>
              </a:rPr>
              <a:t> i - 1</a:t>
            </a:r>
            <a:r>
              <a:rPr lang="en-US" altLang="zh-CN">
                <a:ea typeface="宋体" panose="02010600030101010101" pitchFamily="2" charset="-122"/>
              </a:rPr>
              <a:t> (i≥1)</a:t>
            </a:r>
            <a:r>
              <a:rPr lang="zh-CN" altLang="en-US">
                <a:ea typeface="宋体" panose="02010600030101010101" pitchFamily="2" charset="-122"/>
              </a:rPr>
              <a:t>个结点</a:t>
            </a:r>
            <a:endParaRPr lang="zh-CN" altLang="en-US">
              <a:ea typeface="宋体" panose="02010600030101010101" pitchFamily="2" charset="-122"/>
            </a:endParaRPr>
          </a:p>
          <a:p>
            <a:pPr lvl="2"/>
            <a:r>
              <a:rPr lang="zh-CN" altLang="en-US">
                <a:ea typeface="宋体" panose="02010600030101010101" pitchFamily="2" charset="-122"/>
              </a:rPr>
              <a:t>深度为 </a:t>
            </a:r>
            <a:r>
              <a:rPr lang="en-US" altLang="zh-CN">
                <a:ea typeface="宋体" panose="02010600030101010101" pitchFamily="2" charset="-122"/>
              </a:rPr>
              <a:t>h </a:t>
            </a:r>
            <a:r>
              <a:rPr lang="zh-CN" altLang="en-US">
                <a:ea typeface="宋体" panose="02010600030101010101" pitchFamily="2" charset="-122"/>
              </a:rPr>
              <a:t>的二叉树中至多含有 2</a:t>
            </a:r>
            <a:r>
              <a:rPr lang="en-US" altLang="zh-CN">
                <a:ea typeface="宋体" panose="02010600030101010101" pitchFamily="2" charset="-122"/>
              </a:rPr>
              <a:t> </a:t>
            </a:r>
            <a:r>
              <a:rPr lang="en-US" altLang="zh-CN" baseline="30000">
                <a:ea typeface="宋体" panose="02010600030101010101" pitchFamily="2" charset="-122"/>
              </a:rPr>
              <a:t>h</a:t>
            </a:r>
            <a:r>
              <a:rPr lang="en-US" altLang="zh-CN">
                <a:ea typeface="宋体" panose="02010600030101010101" pitchFamily="2" charset="-122"/>
              </a:rPr>
              <a:t> </a:t>
            </a:r>
            <a:r>
              <a:rPr lang="zh-CN" altLang="en-US">
                <a:latin typeface="宋体" panose="02010600030101010101" pitchFamily="2" charset="-122"/>
                <a:ea typeface="宋体" panose="02010600030101010101" pitchFamily="2" charset="-122"/>
              </a:rPr>
              <a:t>–</a:t>
            </a:r>
            <a:r>
              <a:rPr lang="zh-CN" altLang="en-US">
                <a:ea typeface="宋体" panose="02010600030101010101" pitchFamily="2" charset="-122"/>
              </a:rPr>
              <a:t> 1 个结点</a:t>
            </a:r>
            <a:endParaRPr lang="zh-CN" altLang="en-US">
              <a:ea typeface="宋体" panose="02010600030101010101" pitchFamily="2" charset="-122"/>
            </a:endParaRPr>
          </a:p>
          <a:p>
            <a:pPr lvl="2"/>
            <a:r>
              <a:rPr lang="zh-CN" altLang="en-US">
                <a:ea typeface="宋体" panose="02010600030101010101" pitchFamily="2" charset="-122"/>
              </a:rPr>
              <a:t>在任意二叉树中，若有 </a:t>
            </a:r>
            <a:r>
              <a:rPr lang="en-US" altLang="zh-CN">
                <a:ea typeface="宋体" panose="02010600030101010101" pitchFamily="2" charset="-122"/>
              </a:rPr>
              <a:t>n</a:t>
            </a:r>
            <a:r>
              <a:rPr lang="en-US" altLang="zh-CN" baseline="-25000">
                <a:ea typeface="宋体" panose="02010600030101010101" pitchFamily="2" charset="-122"/>
              </a:rPr>
              <a:t>0</a:t>
            </a:r>
            <a:r>
              <a:rPr lang="en-US" altLang="zh-CN">
                <a:ea typeface="宋体" panose="02010600030101010101" pitchFamily="2" charset="-122"/>
              </a:rPr>
              <a:t> </a:t>
            </a:r>
            <a:r>
              <a:rPr lang="zh-CN" altLang="en-US">
                <a:ea typeface="宋体" panose="02010600030101010101" pitchFamily="2" charset="-122"/>
              </a:rPr>
              <a:t>个叶子结点，</a:t>
            </a:r>
            <a:r>
              <a:rPr lang="en-US" altLang="zh-CN">
                <a:ea typeface="宋体" panose="02010600030101010101" pitchFamily="2" charset="-122"/>
              </a:rPr>
              <a:t>n</a:t>
            </a:r>
            <a:r>
              <a:rPr lang="en-US" altLang="zh-CN" baseline="-25000">
                <a:ea typeface="宋体" panose="02010600030101010101" pitchFamily="2" charset="-122"/>
              </a:rPr>
              <a:t>2</a:t>
            </a:r>
            <a:r>
              <a:rPr lang="zh-CN" altLang="en-US">
                <a:ea typeface="宋体" panose="02010600030101010101" pitchFamily="2" charset="-122"/>
              </a:rPr>
              <a:t> 个度为 2 的结点，则必有： </a:t>
            </a:r>
            <a:r>
              <a:rPr lang="en-US" altLang="zh-CN">
                <a:ea typeface="宋体" panose="02010600030101010101" pitchFamily="2" charset="-122"/>
              </a:rPr>
              <a:t>n</a:t>
            </a:r>
            <a:r>
              <a:rPr lang="en-US" altLang="zh-CN" baseline="-25000">
                <a:ea typeface="宋体" panose="02010600030101010101" pitchFamily="2" charset="-122"/>
              </a:rPr>
              <a:t>0</a:t>
            </a:r>
            <a:r>
              <a:rPr lang="en-US" altLang="zh-CN">
                <a:ea typeface="宋体" panose="02010600030101010101" pitchFamily="2" charset="-122"/>
              </a:rPr>
              <a:t> ＝</a:t>
            </a:r>
            <a:r>
              <a:rPr lang="zh-CN" altLang="en-US">
                <a:ea typeface="宋体" panose="02010600030101010101" pitchFamily="2" charset="-122"/>
              </a:rPr>
              <a:t> </a:t>
            </a:r>
            <a:r>
              <a:rPr lang="en-US" altLang="zh-CN">
                <a:ea typeface="宋体" panose="02010600030101010101" pitchFamily="2" charset="-122"/>
              </a:rPr>
              <a:t>n</a:t>
            </a:r>
            <a:r>
              <a:rPr lang="en-US" altLang="zh-CN" baseline="-25000">
                <a:ea typeface="宋体" panose="02010600030101010101" pitchFamily="2" charset="-122"/>
              </a:rPr>
              <a:t>2</a:t>
            </a:r>
            <a:r>
              <a:rPr lang="zh-CN" altLang="en-US">
                <a:ea typeface="宋体" panose="02010600030101010101" pitchFamily="2" charset="-122"/>
              </a:rPr>
              <a:t> + 1</a:t>
            </a:r>
            <a:endParaRPr lang="zh-CN" altLang="en-US">
              <a:ea typeface="宋体" panose="02010600030101010101" pitchFamily="2" charset="-122"/>
            </a:endParaRPr>
          </a:p>
          <a:p>
            <a:pPr lvl="2"/>
            <a:endParaRPr lang="zh-CN" altLang="en-US">
              <a:ea typeface="宋体" panose="02010600030101010101" pitchFamily="2" charset="-122"/>
            </a:endParaRPr>
          </a:p>
          <a:p>
            <a:pPr lvl="2">
              <a:buFontTx/>
              <a:buNone/>
            </a:pPr>
            <a:r>
              <a:rPr lang="zh-CN" altLang="en-US">
                <a:ea typeface="宋体" panose="02010600030101010101" pitchFamily="2" charset="-122"/>
              </a:rPr>
              <a:t>请见 </a:t>
            </a:r>
            <a:r>
              <a:rPr lang="en-US" altLang="zh-CN">
                <a:ea typeface="宋体" panose="02010600030101010101" pitchFamily="2" charset="-122"/>
              </a:rPr>
              <a:t>P54 </a:t>
            </a:r>
            <a:r>
              <a:rPr lang="zh-CN" altLang="en-US">
                <a:ea typeface="宋体" panose="02010600030101010101" pitchFamily="2" charset="-122"/>
              </a:rPr>
              <a:t>自学</a:t>
            </a:r>
            <a:endParaRPr lang="zh-CN" altLang="en-US">
              <a:ea typeface="宋体" panose="02010600030101010101" pitchFamily="2" charset="-122"/>
            </a:endParaRPr>
          </a:p>
        </p:txBody>
      </p:sp>
      <p:pic>
        <p:nvPicPr>
          <p:cNvPr id="6" name="Picture 12" descr="Snap5"/>
          <p:cNvPicPr>
            <a:picLocks noChangeAspect="1" noChangeArrowheads="1"/>
          </p:cNvPicPr>
          <p:nvPr/>
        </p:nvPicPr>
        <p:blipFill>
          <a:blip r:embed="rId1" cstate="print">
            <a:duotone>
              <a:prstClr val="black"/>
              <a:schemeClr val="accent1">
                <a:tint val="45000"/>
                <a:satMod val="400000"/>
              </a:schemeClr>
            </a:duotone>
            <a:lum contrast="99000"/>
          </a:blip>
          <a:srcRect/>
          <a:stretch>
            <a:fillRect/>
          </a:stretch>
        </p:blipFill>
        <p:spPr bwMode="auto">
          <a:xfrm>
            <a:off x="3374355" y="3232152"/>
            <a:ext cx="5269611" cy="3125806"/>
          </a:xfrm>
          <a:prstGeom prst="rect">
            <a:avLst/>
          </a:prstGeom>
          <a:noFill/>
          <a:ln w="9525">
            <a:noFill/>
            <a:miter lim="800000"/>
            <a:headEnd/>
            <a:tailEnd/>
          </a:ln>
        </p:spPr>
      </p:pic>
    </p:spTree>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17CB4848-5672-40DE-A980-1A707C4743C2}"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29699" name="Rectangle 10"/>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ea typeface="宋体" panose="02010600030101010101" pitchFamily="2" charset="-122"/>
              </a:rPr>
              <a:t>3.5 </a:t>
            </a:r>
            <a:r>
              <a:rPr lang="zh-CN" altLang="en-US" sz="2400">
                <a:ea typeface="宋体" panose="02010600030101010101" pitchFamily="2" charset="-122"/>
              </a:rPr>
              <a:t>树与二叉树</a:t>
            </a:r>
            <a:endParaRPr lang="zh-CN" altLang="en-US" sz="2400">
              <a:ea typeface="宋体" panose="02010600030101010101" pitchFamily="2" charset="-122"/>
            </a:endParaRPr>
          </a:p>
        </p:txBody>
      </p:sp>
      <p:sp>
        <p:nvSpPr>
          <p:cNvPr id="29700" name="Rectangle 11"/>
          <p:cNvSpPr>
            <a:spLocks noGrp="1" noChangeArrowheads="1"/>
          </p:cNvSpPr>
          <p:nvPr>
            <p:ph type="body" idx="1"/>
          </p:nvPr>
        </p:nvSpPr>
        <p:spPr>
          <a:xfrm>
            <a:off x="136525" y="1096963"/>
            <a:ext cx="8877300" cy="2403475"/>
          </a:xfrm>
        </p:spPr>
        <p:txBody>
          <a:bodyPr/>
          <a:lstStyle/>
          <a:p>
            <a:r>
              <a:rPr lang="zh-CN" altLang="en-US">
                <a:ea typeface="宋体" panose="02010600030101010101" pitchFamily="2" charset="-122"/>
              </a:rPr>
              <a:t>几种特殊形式的二叉树</a:t>
            </a:r>
            <a:endParaRPr lang="zh-CN" altLang="en-US">
              <a:ea typeface="宋体" panose="02010600030101010101" pitchFamily="2" charset="-122"/>
            </a:endParaRPr>
          </a:p>
          <a:p>
            <a:pPr lvl="1"/>
            <a:r>
              <a:rPr lang="zh-CN" altLang="en-US">
                <a:solidFill>
                  <a:schemeClr val="tx2"/>
                </a:solidFill>
                <a:ea typeface="宋体" panose="02010600030101010101" pitchFamily="2" charset="-122"/>
              </a:rPr>
              <a:t>满二叉树</a:t>
            </a:r>
            <a:r>
              <a:rPr lang="zh-CN" altLang="en-US">
                <a:ea typeface="宋体" panose="02010600030101010101" pitchFamily="2" charset="-122"/>
              </a:rPr>
              <a:t>：深度为 </a:t>
            </a:r>
            <a:r>
              <a:rPr lang="en-US" altLang="zh-CN">
                <a:ea typeface="宋体" panose="02010600030101010101" pitchFamily="2" charset="-122"/>
              </a:rPr>
              <a:t>h </a:t>
            </a:r>
            <a:r>
              <a:rPr lang="zh-CN" altLang="en-US">
                <a:ea typeface="宋体" panose="02010600030101010101" pitchFamily="2" charset="-122"/>
              </a:rPr>
              <a:t>且含有 2</a:t>
            </a:r>
            <a:r>
              <a:rPr lang="en-US" altLang="zh-CN">
                <a:ea typeface="宋体" panose="02010600030101010101" pitchFamily="2" charset="-122"/>
              </a:rPr>
              <a:t> </a:t>
            </a:r>
            <a:r>
              <a:rPr lang="en-US" altLang="zh-CN" baseline="30000">
                <a:ea typeface="宋体" panose="02010600030101010101" pitchFamily="2" charset="-122"/>
              </a:rPr>
              <a:t>h</a:t>
            </a:r>
            <a:r>
              <a:rPr lang="en-US" altLang="zh-CN">
                <a:ea typeface="宋体" panose="02010600030101010101" pitchFamily="2" charset="-122"/>
              </a:rPr>
              <a:t> </a:t>
            </a:r>
            <a:r>
              <a:rPr lang="zh-CN" altLang="en-US">
                <a:ea typeface="宋体" panose="02010600030101010101" pitchFamily="2" charset="-122"/>
              </a:rPr>
              <a:t>– 1 个结点的二叉树</a:t>
            </a:r>
            <a:endParaRPr lang="zh-CN" altLang="en-US">
              <a:ea typeface="宋体" panose="02010600030101010101" pitchFamily="2" charset="-122"/>
            </a:endParaRPr>
          </a:p>
          <a:p>
            <a:pPr lvl="2"/>
            <a:r>
              <a:rPr lang="zh-CN" altLang="en-US">
                <a:ea typeface="宋体" panose="02010600030101010101" pitchFamily="2" charset="-122"/>
              </a:rPr>
              <a:t>非叶子结点都有 2 个孩子结点</a:t>
            </a:r>
            <a:endParaRPr lang="en-US" altLang="zh-CN">
              <a:ea typeface="宋体" panose="02010600030101010101" pitchFamily="2" charset="-122"/>
            </a:endParaRPr>
          </a:p>
          <a:p>
            <a:pPr lvl="2"/>
            <a:r>
              <a:rPr lang="zh-CN" altLang="en-US">
                <a:ea typeface="宋体" panose="02010600030101010101" pitchFamily="2" charset="-122"/>
              </a:rPr>
              <a:t>结点编号：由上至下、从左到右</a:t>
            </a:r>
            <a:endParaRPr lang="zh-CN" altLang="en-US">
              <a:ea typeface="宋体" panose="02010600030101010101" pitchFamily="2" charset="-122"/>
            </a:endParaRPr>
          </a:p>
        </p:txBody>
      </p:sp>
      <p:pic>
        <p:nvPicPr>
          <p:cNvPr id="25605" name="Picture 12" descr="Snap5"/>
          <p:cNvPicPr>
            <a:picLocks noChangeAspect="1" noChangeArrowheads="1"/>
          </p:cNvPicPr>
          <p:nvPr/>
        </p:nvPicPr>
        <p:blipFill>
          <a:blip r:embed="rId1" cstate="print">
            <a:duotone>
              <a:prstClr val="black"/>
              <a:schemeClr val="accent1">
                <a:tint val="45000"/>
                <a:satMod val="400000"/>
              </a:schemeClr>
            </a:duotone>
            <a:lum contrast="99000"/>
          </a:blip>
          <a:srcRect/>
          <a:stretch>
            <a:fillRect/>
          </a:stretch>
        </p:blipFill>
        <p:spPr bwMode="auto">
          <a:xfrm>
            <a:off x="1619672" y="3359456"/>
            <a:ext cx="5472461" cy="3246132"/>
          </a:xfrm>
          <a:prstGeom prst="rect">
            <a:avLst/>
          </a:prstGeom>
          <a:noFill/>
          <a:ln w="9525">
            <a:noFill/>
            <a:miter lim="800000"/>
            <a:headEnd/>
            <a:tailEnd/>
          </a:ln>
        </p:spPr>
      </p:pic>
    </p:spTree>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97EA8EE7-E748-4609-AAA2-3995B01B56BF}"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31747"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3.5 </a:t>
            </a:r>
            <a:r>
              <a:rPr lang="zh-CN" altLang="en-US" sz="2400">
                <a:latin typeface="宋体" panose="02010600030101010101" pitchFamily="2" charset="-122"/>
                <a:ea typeface="宋体" panose="02010600030101010101" pitchFamily="2" charset="-122"/>
              </a:rPr>
              <a:t>树与二叉树</a:t>
            </a:r>
            <a:endParaRPr lang="zh-CN" altLang="en-US" sz="2400">
              <a:latin typeface="宋体" panose="02010600030101010101" pitchFamily="2" charset="-122"/>
              <a:ea typeface="宋体" panose="02010600030101010101" pitchFamily="2" charset="-122"/>
            </a:endParaRPr>
          </a:p>
        </p:txBody>
      </p:sp>
      <p:sp>
        <p:nvSpPr>
          <p:cNvPr id="31748" name="Rectangle 3"/>
          <p:cNvSpPr>
            <a:spLocks noGrp="1" noChangeArrowheads="1"/>
          </p:cNvSpPr>
          <p:nvPr>
            <p:ph type="body" idx="1"/>
          </p:nvPr>
        </p:nvSpPr>
        <p:spPr>
          <a:xfrm>
            <a:off x="142875" y="981075"/>
            <a:ext cx="8534400" cy="1835150"/>
          </a:xfrm>
        </p:spPr>
        <p:txBody>
          <a:bodyPr/>
          <a:lstStyle/>
          <a:p>
            <a:pPr>
              <a:lnSpc>
                <a:spcPct val="90000"/>
              </a:lnSpc>
            </a:pPr>
            <a:r>
              <a:rPr lang="zh-CN" altLang="en-US" dirty="0">
                <a:ea typeface="宋体" panose="02010600030101010101" pitchFamily="2" charset="-122"/>
              </a:rPr>
              <a:t>几种特殊形式的二叉树</a:t>
            </a:r>
            <a:endParaRPr lang="zh-CN" altLang="en-US" dirty="0">
              <a:ea typeface="宋体" panose="02010600030101010101" pitchFamily="2" charset="-122"/>
            </a:endParaRPr>
          </a:p>
          <a:p>
            <a:pPr lvl="1">
              <a:lnSpc>
                <a:spcPct val="90000"/>
              </a:lnSpc>
            </a:pPr>
            <a:r>
              <a:rPr lang="zh-CN" altLang="en-US" dirty="0">
                <a:solidFill>
                  <a:schemeClr val="tx2"/>
                </a:solidFill>
                <a:ea typeface="宋体" panose="02010600030101010101" pitchFamily="2" charset="-122"/>
              </a:rPr>
              <a:t>完全二叉树</a:t>
            </a:r>
            <a:r>
              <a:rPr lang="zh-CN" altLang="en-US" dirty="0">
                <a:ea typeface="宋体" panose="02010600030101010101" pitchFamily="2" charset="-122"/>
              </a:rPr>
              <a:t>：编号与满</a:t>
            </a:r>
            <a:r>
              <a:rPr lang="zh-CN" altLang="en-US" dirty="0">
                <a:latin typeface="宋体" panose="02010600030101010101" pitchFamily="2" charset="-122"/>
                <a:ea typeface="宋体" panose="02010600030101010101" pitchFamily="2" charset="-122"/>
              </a:rPr>
              <a:t>二叉树的编号一致</a:t>
            </a:r>
            <a:r>
              <a:rPr lang="en-US" altLang="zh-CN" dirty="0">
                <a:latin typeface="宋体" panose="02010600030101010101" pitchFamily="2" charset="-122"/>
                <a:ea typeface="宋体" panose="02010600030101010101" pitchFamily="2" charset="-122"/>
              </a:rPr>
              <a:t>(</a:t>
            </a:r>
            <a:r>
              <a:rPr lang="zh-CN" altLang="en-US" dirty="0">
                <a:latin typeface="微软雅黑" panose="020B0503020204020204" pitchFamily="34" charset="-122"/>
                <a:ea typeface="微软雅黑" panose="020B0503020204020204" pitchFamily="34" charset="-122"/>
              </a:rPr>
              <a:t>定义</a:t>
            </a:r>
            <a:r>
              <a:rPr lang="en-US" altLang="zh-CN"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a:p>
            <a:pPr lvl="2">
              <a:lnSpc>
                <a:spcPct val="90000"/>
              </a:lnSpc>
            </a:pPr>
            <a:r>
              <a:rPr lang="zh-CN" altLang="en-US" dirty="0">
                <a:latin typeface="宋体" panose="02010600030101010101" pitchFamily="2" charset="-122"/>
                <a:ea typeface="宋体" panose="02010600030101010101" pitchFamily="2" charset="-122"/>
              </a:rPr>
              <a:t>但不要求</a:t>
            </a:r>
            <a:r>
              <a:rPr lang="zh-CN" altLang="en-US" dirty="0">
                <a:latin typeface="Times New Roman" panose="02020603050405020304" pitchFamily="18" charset="0"/>
                <a:ea typeface="宋体" panose="02010600030101010101" pitchFamily="2" charset="-122"/>
              </a:rPr>
              <a:t>“</a:t>
            </a:r>
            <a:r>
              <a:rPr lang="zh-CN" altLang="en-US" dirty="0">
                <a:latin typeface="宋体" panose="02010600030101010101" pitchFamily="2" charset="-122"/>
                <a:ea typeface="宋体" panose="02010600030101010101" pitchFamily="2" charset="-122"/>
              </a:rPr>
              <a:t>非叶子结点都有 2 个孩子结点</a:t>
            </a:r>
            <a:r>
              <a:rPr lang="zh-CN" altLang="en-US" dirty="0">
                <a:latin typeface="Times New Roman" panose="02020603050405020304" pitchFamily="18" charset="0"/>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a:p>
            <a:pPr lvl="2">
              <a:lnSpc>
                <a:spcPct val="90000"/>
              </a:lnSpc>
            </a:pPr>
            <a:r>
              <a:rPr lang="zh-CN" altLang="en-US" dirty="0">
                <a:latin typeface="宋体" panose="02010600030101010101" pitchFamily="2" charset="-122"/>
                <a:ea typeface="宋体" panose="02010600030101010101" pitchFamily="2" charset="-122"/>
              </a:rPr>
              <a:t>一个结点没有左孩子，就不能有右孩子</a:t>
            </a:r>
            <a:endParaRPr lang="zh-CN" altLang="en-US" dirty="0">
              <a:latin typeface="宋体" panose="02010600030101010101" pitchFamily="2" charset="-122"/>
              <a:ea typeface="宋体" panose="02010600030101010101" pitchFamily="2" charset="-122"/>
            </a:endParaRPr>
          </a:p>
        </p:txBody>
      </p:sp>
      <p:pic>
        <p:nvPicPr>
          <p:cNvPr id="26629" name="Picture 6" descr="Snap6"/>
          <p:cNvPicPr>
            <a:picLocks noChangeAspect="1" noChangeArrowheads="1"/>
          </p:cNvPicPr>
          <p:nvPr/>
        </p:nvPicPr>
        <p:blipFill>
          <a:blip r:embed="rId1" cstate="print">
            <a:duotone>
              <a:prstClr val="black"/>
              <a:schemeClr val="accent1">
                <a:tint val="45000"/>
                <a:satMod val="400000"/>
              </a:schemeClr>
            </a:duotone>
            <a:lum contrast="100000"/>
          </a:blip>
          <a:srcRect/>
          <a:stretch>
            <a:fillRect/>
          </a:stretch>
        </p:blipFill>
        <p:spPr bwMode="auto">
          <a:xfrm>
            <a:off x="576264" y="2992214"/>
            <a:ext cx="4319587" cy="2813050"/>
          </a:xfrm>
          <a:prstGeom prst="rect">
            <a:avLst/>
          </a:prstGeom>
          <a:noFill/>
          <a:ln w="9525">
            <a:noFill/>
            <a:miter lim="800000"/>
            <a:headEnd/>
            <a:tailEnd/>
          </a:ln>
        </p:spPr>
      </p:pic>
      <p:pic>
        <p:nvPicPr>
          <p:cNvPr id="26630" name="Picture 7" descr="Snap7"/>
          <p:cNvPicPr>
            <a:picLocks noChangeAspect="1" noChangeArrowheads="1"/>
          </p:cNvPicPr>
          <p:nvPr/>
        </p:nvPicPr>
        <p:blipFill>
          <a:blip r:embed="rId2" cstate="print">
            <a:duotone>
              <a:prstClr val="black"/>
              <a:schemeClr val="accent1">
                <a:tint val="45000"/>
                <a:satMod val="400000"/>
              </a:schemeClr>
            </a:duotone>
            <a:lum contrast="100000"/>
          </a:blip>
          <a:srcRect/>
          <a:stretch>
            <a:fillRect/>
          </a:stretch>
        </p:blipFill>
        <p:spPr bwMode="auto">
          <a:xfrm>
            <a:off x="4643439" y="3160490"/>
            <a:ext cx="4357687" cy="2584450"/>
          </a:xfrm>
          <a:prstGeom prst="rect">
            <a:avLst/>
          </a:prstGeom>
          <a:noFill/>
          <a:ln w="9525">
            <a:noFill/>
            <a:miter lim="800000"/>
            <a:headEnd/>
            <a:tailEnd/>
          </a:ln>
        </p:spPr>
      </p:pic>
      <p:sp>
        <p:nvSpPr>
          <p:cNvPr id="31751" name="Text Box 8"/>
          <p:cNvSpPr txBox="1">
            <a:spLocks noChangeArrowheads="1"/>
          </p:cNvSpPr>
          <p:nvPr/>
        </p:nvSpPr>
        <p:spPr bwMode="auto">
          <a:xfrm>
            <a:off x="1763713" y="6057900"/>
            <a:ext cx="60563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7998" tIns="10799" rIns="17998" bIns="10799">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zh-CN" altLang="en-US" sz="1800" b="1"/>
              <a:t>完全二叉树                                                            非完全二叉树</a:t>
            </a:r>
            <a:endParaRPr lang="en-US" altLang="zh-CN" sz="1800" b="1"/>
          </a:p>
        </p:txBody>
      </p:sp>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9CD56374-452A-4430-803F-6C73767963D8}"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33795" name="Rectangle 6"/>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ea typeface="宋体" panose="02010600030101010101" pitchFamily="2" charset="-122"/>
              </a:rPr>
              <a:t>3.5 </a:t>
            </a:r>
            <a:r>
              <a:rPr lang="zh-CN" altLang="en-US" sz="2400">
                <a:ea typeface="宋体" panose="02010600030101010101" pitchFamily="2" charset="-122"/>
              </a:rPr>
              <a:t>树与二叉树</a:t>
            </a:r>
            <a:endParaRPr lang="zh-CN" altLang="en-US" sz="2400">
              <a:ea typeface="宋体" panose="02010600030101010101" pitchFamily="2" charset="-122"/>
            </a:endParaRPr>
          </a:p>
        </p:txBody>
      </p:sp>
      <p:sp>
        <p:nvSpPr>
          <p:cNvPr id="35844" name="Rectangle 7"/>
          <p:cNvSpPr>
            <a:spLocks noGrp="1" noChangeArrowheads="1"/>
          </p:cNvSpPr>
          <p:nvPr>
            <p:ph type="body" idx="1"/>
          </p:nvPr>
        </p:nvSpPr>
        <p:spPr>
          <a:xfrm>
            <a:off x="136525" y="1096963"/>
            <a:ext cx="8877300" cy="2511425"/>
          </a:xfrm>
        </p:spPr>
        <p:txBody>
          <a:bodyPr/>
          <a:lstStyle/>
          <a:p>
            <a:pPr marL="342900" indent="-342900">
              <a:defRPr/>
            </a:pPr>
            <a:r>
              <a:rPr lang="zh-CN" altLang="en-US" sz="2800" dirty="0">
                <a:ea typeface="宋体" panose="02010600030101010101" pitchFamily="2" charset="-122"/>
              </a:rPr>
              <a:t>几种特殊形式的二叉树</a:t>
            </a:r>
            <a:endParaRPr lang="zh-CN" altLang="en-US" sz="2800" dirty="0">
              <a:ea typeface="宋体" panose="02010600030101010101" pitchFamily="2" charset="-122"/>
            </a:endParaRPr>
          </a:p>
          <a:p>
            <a:pPr marL="742950" lvl="1" indent="-285750">
              <a:defRPr/>
            </a:pPr>
            <a:r>
              <a:rPr lang="zh-CN" altLang="en-US" sz="2400" dirty="0">
                <a:solidFill>
                  <a:schemeClr val="tx2"/>
                </a:solidFill>
                <a:ea typeface="宋体" panose="02010600030101010101" pitchFamily="2" charset="-122"/>
              </a:rPr>
              <a:t>平衡二叉树</a:t>
            </a:r>
            <a:r>
              <a:rPr lang="zh-CN" altLang="en-US" sz="2400" dirty="0">
                <a:ea typeface="宋体" panose="02010600030101010101" pitchFamily="2" charset="-122"/>
              </a:rPr>
              <a:t>：</a:t>
            </a:r>
            <a:endParaRPr lang="zh-CN" altLang="en-US" sz="2400" dirty="0">
              <a:ea typeface="宋体" panose="02010600030101010101" pitchFamily="2" charset="-122"/>
            </a:endParaRPr>
          </a:p>
          <a:p>
            <a:pPr marL="1143000" lvl="2" indent="-228600">
              <a:defRPr/>
            </a:pPr>
            <a:r>
              <a:rPr lang="zh-CN" altLang="en-US" sz="2000" dirty="0">
                <a:solidFill>
                  <a:schemeClr val="tx2"/>
                </a:solidFill>
                <a:ea typeface="宋体" panose="02010600030101010101" pitchFamily="2" charset="-122"/>
              </a:rPr>
              <a:t>所有结点</a:t>
            </a:r>
            <a:r>
              <a:rPr lang="zh-CN" altLang="en-US" sz="2000" dirty="0">
                <a:ea typeface="宋体" panose="02010600030101010101" pitchFamily="2" charset="-122"/>
              </a:rPr>
              <a:t>的左子树和右子树的深度之差的绝对值≤1</a:t>
            </a:r>
            <a:endParaRPr lang="zh-CN" altLang="en-US" sz="2000" dirty="0">
              <a:ea typeface="宋体" panose="02010600030101010101" pitchFamily="2" charset="-122"/>
            </a:endParaRPr>
          </a:p>
          <a:p>
            <a:pPr marL="1143000" lvl="2" indent="-228600">
              <a:defRPr/>
            </a:pPr>
            <a:r>
              <a:rPr lang="zh-CN" altLang="en-US" sz="2000" dirty="0">
                <a:solidFill>
                  <a:schemeClr val="tx2">
                    <a:lumMod val="60000"/>
                    <a:lumOff val="40000"/>
                  </a:schemeClr>
                </a:solidFill>
                <a:ea typeface="宋体" panose="02010600030101010101" pitchFamily="2" charset="-122"/>
              </a:rPr>
              <a:t>平衡因子</a:t>
            </a:r>
            <a:r>
              <a:rPr lang="zh-CN" altLang="en-US" sz="2000" dirty="0">
                <a:ea typeface="宋体" panose="02010600030101010101" pitchFamily="2" charset="-122"/>
              </a:rPr>
              <a:t>：一个结点的左子树深度 －(减去) 其右子树深度 的差</a:t>
            </a:r>
            <a:endParaRPr lang="zh-CN" altLang="en-US" sz="2000" dirty="0">
              <a:ea typeface="宋体" panose="02010600030101010101" pitchFamily="2" charset="-122"/>
            </a:endParaRPr>
          </a:p>
          <a:p>
            <a:pPr marL="1143000" lvl="2" indent="-228600">
              <a:defRPr/>
            </a:pPr>
            <a:r>
              <a:rPr lang="zh-CN" altLang="en-US" sz="2000" dirty="0">
                <a:ea typeface="宋体" panose="02010600030101010101" pitchFamily="2" charset="-122"/>
              </a:rPr>
              <a:t>所有结点的平衡因子只可能是 –1, 0, 1</a:t>
            </a:r>
            <a:endParaRPr lang="en-US" altLang="zh-CN" sz="2000" dirty="0">
              <a:ea typeface="宋体" panose="02010600030101010101" pitchFamily="2" charset="-122"/>
            </a:endParaRPr>
          </a:p>
        </p:txBody>
      </p:sp>
      <p:pic>
        <p:nvPicPr>
          <p:cNvPr id="27653" name="Picture 8" descr="Snap6"/>
          <p:cNvPicPr>
            <a:picLocks noChangeAspect="1" noChangeArrowheads="1"/>
          </p:cNvPicPr>
          <p:nvPr/>
        </p:nvPicPr>
        <p:blipFill>
          <a:blip r:embed="rId1" cstate="print">
            <a:duotone>
              <a:prstClr val="black"/>
              <a:schemeClr val="accent1">
                <a:tint val="45000"/>
                <a:satMod val="400000"/>
              </a:schemeClr>
            </a:duotone>
            <a:lum contrast="100000"/>
          </a:blip>
          <a:srcRect/>
          <a:stretch>
            <a:fillRect/>
          </a:stretch>
        </p:blipFill>
        <p:spPr bwMode="auto">
          <a:xfrm>
            <a:off x="1584325" y="3249614"/>
            <a:ext cx="5718175" cy="3608387"/>
          </a:xfrm>
          <a:prstGeom prst="rect">
            <a:avLst/>
          </a:prstGeom>
          <a:noFill/>
          <a:ln w="9525">
            <a:noFill/>
            <a:miter lim="800000"/>
            <a:headEnd/>
            <a:tailEnd/>
          </a:ln>
        </p:spPr>
      </p:pic>
    </p:spTree>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EF945DAC-6A7D-4F6F-B85A-BA570C35C65C}"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34819"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3.5 </a:t>
            </a:r>
            <a:r>
              <a:rPr lang="zh-CN" altLang="en-US" sz="2400">
                <a:latin typeface="宋体" panose="02010600030101010101" pitchFamily="2" charset="-122"/>
                <a:ea typeface="宋体" panose="02010600030101010101" pitchFamily="2" charset="-122"/>
              </a:rPr>
              <a:t>树与二叉树</a:t>
            </a:r>
            <a:endParaRPr lang="zh-CN" altLang="en-US" sz="2400">
              <a:latin typeface="宋体" panose="02010600030101010101" pitchFamily="2" charset="-122"/>
              <a:ea typeface="宋体" panose="02010600030101010101" pitchFamily="2" charset="-122"/>
            </a:endParaRPr>
          </a:p>
        </p:txBody>
      </p:sp>
      <p:sp>
        <p:nvSpPr>
          <p:cNvPr id="34820" name="Rectangle 3"/>
          <p:cNvSpPr>
            <a:spLocks noGrp="1" noChangeArrowheads="1"/>
          </p:cNvSpPr>
          <p:nvPr>
            <p:ph type="body" idx="1"/>
          </p:nvPr>
        </p:nvSpPr>
        <p:spPr>
          <a:xfrm>
            <a:off x="141288" y="1016000"/>
            <a:ext cx="8823325" cy="4068763"/>
          </a:xfrm>
        </p:spPr>
        <p:txBody>
          <a:bodyPr/>
          <a:lstStyle/>
          <a:p>
            <a:pPr marL="192405" indent="-192405">
              <a:lnSpc>
                <a:spcPct val="90000"/>
              </a:lnSpc>
            </a:pPr>
            <a:r>
              <a:rPr lang="zh-CN" altLang="en-US">
                <a:ea typeface="宋体" panose="02010600030101010101" pitchFamily="2" charset="-122"/>
              </a:rPr>
              <a:t>一般树转换为二叉树</a:t>
            </a:r>
            <a:endParaRPr lang="zh-CN" altLang="en-US">
              <a:ea typeface="宋体" panose="02010600030101010101" pitchFamily="2" charset="-122"/>
            </a:endParaRPr>
          </a:p>
          <a:p>
            <a:pPr marL="860425" lvl="1">
              <a:lnSpc>
                <a:spcPct val="90000"/>
              </a:lnSpc>
            </a:pPr>
            <a:r>
              <a:rPr lang="zh-CN" altLang="en-US">
                <a:ea typeface="宋体" panose="02010600030101010101" pitchFamily="2" charset="-122"/>
              </a:rPr>
              <a:t>二叉树存储简单，运算操作方便，</a:t>
            </a:r>
            <a:r>
              <a:rPr lang="zh-CN" altLang="en-US">
                <a:latin typeface="宋体" panose="02010600030101010101" pitchFamily="2" charset="-122"/>
                <a:ea typeface="宋体" panose="02010600030101010101" pitchFamily="2" charset="-122"/>
              </a:rPr>
              <a:t>很多算法都是针对</a:t>
            </a:r>
            <a:r>
              <a:rPr lang="zh-CN" altLang="en-US">
                <a:ea typeface="宋体" panose="02010600030101010101" pitchFamily="2" charset="-122"/>
              </a:rPr>
              <a:t>二叉树设计实现的</a:t>
            </a:r>
            <a:endParaRPr lang="zh-CN" altLang="en-US">
              <a:latin typeface="宋体" panose="02010600030101010101" pitchFamily="2" charset="-122"/>
              <a:ea typeface="宋体" panose="02010600030101010101" pitchFamily="2" charset="-122"/>
            </a:endParaRPr>
          </a:p>
          <a:p>
            <a:pPr marL="860425" lvl="1">
              <a:lnSpc>
                <a:spcPct val="90000"/>
              </a:lnSpc>
            </a:pPr>
            <a:r>
              <a:rPr lang="zh-CN" altLang="en-US">
                <a:latin typeface="宋体" panose="02010600030101010101" pitchFamily="2" charset="-122"/>
                <a:ea typeface="宋体" panose="02010600030101010101" pitchFamily="2" charset="-122"/>
              </a:rPr>
              <a:t>为使用方便，通常把一般树转换为二叉树</a:t>
            </a:r>
            <a:endParaRPr lang="zh-CN" altLang="en-US">
              <a:latin typeface="宋体" panose="02010600030101010101" pitchFamily="2" charset="-122"/>
              <a:ea typeface="宋体" panose="02010600030101010101" pitchFamily="2" charset="-122"/>
            </a:endParaRPr>
          </a:p>
          <a:p>
            <a:pPr marL="860425" lvl="1">
              <a:lnSpc>
                <a:spcPct val="90000"/>
              </a:lnSpc>
            </a:pPr>
            <a:r>
              <a:rPr lang="zh-CN" altLang="en-US">
                <a:latin typeface="宋体" panose="02010600030101010101" pitchFamily="2" charset="-122"/>
                <a:ea typeface="宋体" panose="02010600030101010101" pitchFamily="2" charset="-122"/>
              </a:rPr>
              <a:t>树与二叉树之间有一个自然的一一对应关系，每棵树都能唯一地转换到它所对应的二叉树上；反之，由这样的二叉树也可以得到原来的树。</a:t>
            </a:r>
            <a:endParaRPr lang="en-US" altLang="zh-CN">
              <a:latin typeface="宋体" panose="02010600030101010101" pitchFamily="2" charset="-122"/>
              <a:ea typeface="宋体" panose="02010600030101010101" pitchFamily="2" charset="-122"/>
            </a:endParaRPr>
          </a:p>
          <a:p>
            <a:pPr marL="860425" lvl="1">
              <a:lnSpc>
                <a:spcPct val="90000"/>
              </a:lnSpc>
            </a:pPr>
            <a:r>
              <a:rPr lang="zh-CN" altLang="en-US">
                <a:latin typeface="宋体" panose="02010600030101010101" pitchFamily="2" charset="-122"/>
                <a:ea typeface="宋体" panose="02010600030101010101" pitchFamily="2" charset="-122"/>
              </a:rPr>
              <a:t>转换方法：</a:t>
            </a:r>
            <a:endParaRPr lang="en-US" altLang="zh-CN">
              <a:latin typeface="宋体" panose="02010600030101010101" pitchFamily="2" charset="-122"/>
              <a:ea typeface="宋体" panose="02010600030101010101" pitchFamily="2" charset="-122"/>
            </a:endParaRPr>
          </a:p>
          <a:p>
            <a:pPr marL="1279525" lvl="2">
              <a:lnSpc>
                <a:spcPct val="90000"/>
              </a:lnSpc>
              <a:buFontTx/>
              <a:buNone/>
            </a:pPr>
            <a:r>
              <a:rPr lang="en-US" altLang="zh-CN">
                <a:latin typeface="Times New Roman" panose="02020603050405020304" pitchFamily="18" charset="0"/>
                <a:ea typeface="宋体" panose="02010600030101010101" pitchFamily="2" charset="-122"/>
              </a:rPr>
              <a:t>……</a:t>
            </a:r>
            <a:endParaRPr lang="zh-CN" altLang="en-US">
              <a:latin typeface="宋体" panose="02010600030101010101" pitchFamily="2" charset="-122"/>
              <a:ea typeface="宋体" panose="02010600030101010101" pitchFamily="2" charset="-122"/>
            </a:endParaRPr>
          </a:p>
        </p:txBody>
      </p:sp>
    </p:spTree>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57BAC90D-95DB-45AB-B78B-7B7BA6AB5FF4}"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35843"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3.5 </a:t>
            </a:r>
            <a:r>
              <a:rPr lang="zh-CN" altLang="en-US" sz="2400">
                <a:latin typeface="宋体" panose="02010600030101010101" pitchFamily="2" charset="-122"/>
                <a:ea typeface="宋体" panose="02010600030101010101" pitchFamily="2" charset="-122"/>
              </a:rPr>
              <a:t>树与二叉树</a:t>
            </a:r>
            <a:endParaRPr lang="zh-CN" altLang="en-US" sz="2400">
              <a:latin typeface="宋体" panose="02010600030101010101" pitchFamily="2" charset="-122"/>
              <a:ea typeface="宋体" panose="02010600030101010101" pitchFamily="2" charset="-122"/>
            </a:endParaRPr>
          </a:p>
        </p:txBody>
      </p:sp>
      <p:sp>
        <p:nvSpPr>
          <p:cNvPr id="29700" name="Rectangle 3"/>
          <p:cNvSpPr>
            <a:spLocks noGrp="1" noChangeArrowheads="1"/>
          </p:cNvSpPr>
          <p:nvPr>
            <p:ph type="body" idx="1"/>
          </p:nvPr>
        </p:nvSpPr>
        <p:spPr>
          <a:xfrm>
            <a:off x="141288" y="1082675"/>
            <a:ext cx="8534400" cy="2846388"/>
          </a:xfrm>
        </p:spPr>
        <p:txBody>
          <a:bodyPr>
            <a:normAutofit lnSpcReduction="10000"/>
          </a:bodyPr>
          <a:lstStyle/>
          <a:p>
            <a:pPr marL="193675" indent="-193675">
              <a:lnSpc>
                <a:spcPct val="90000"/>
              </a:lnSpc>
              <a:defRPr/>
            </a:pPr>
            <a:r>
              <a:rPr lang="zh-CN" altLang="en-US" dirty="0">
                <a:ea typeface="宋体" panose="02010600030101010101" pitchFamily="2" charset="-122"/>
              </a:rPr>
              <a:t>一般树转换为二叉树</a:t>
            </a:r>
            <a:endParaRPr lang="zh-CN" altLang="en-US" dirty="0">
              <a:ea typeface="宋体" panose="02010600030101010101" pitchFamily="2" charset="-122"/>
            </a:endParaRPr>
          </a:p>
          <a:p>
            <a:pPr marL="861695" lvl="1" indent="-285750">
              <a:lnSpc>
                <a:spcPct val="90000"/>
              </a:lnSpc>
              <a:defRPr/>
            </a:pPr>
            <a:r>
              <a:rPr lang="zh-CN" altLang="en-US" dirty="0">
                <a:solidFill>
                  <a:schemeClr val="tx2"/>
                </a:solidFill>
                <a:latin typeface="宋体" panose="02010600030101010101" pitchFamily="2" charset="-122"/>
                <a:ea typeface="宋体" panose="02010600030101010101" pitchFamily="2" charset="-122"/>
              </a:rPr>
              <a:t>转换方法</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marL="1280795" lvl="2" indent="-228600">
              <a:lnSpc>
                <a:spcPct val="90000"/>
              </a:lnSpc>
              <a:buFontTx/>
              <a:buNone/>
              <a:defRPr/>
            </a:pPr>
            <a:r>
              <a:rPr lang="zh-CN" altLang="en-US" dirty="0">
                <a:latin typeface="宋体" panose="02010600030101010101" pitchFamily="2" charset="-122"/>
                <a:ea typeface="宋体" panose="02010600030101010101" pitchFamily="2" charset="-122"/>
              </a:rPr>
              <a:t>1）兄弟结点之间用线连起来</a:t>
            </a:r>
            <a:endParaRPr lang="zh-CN" altLang="en-US" dirty="0">
              <a:latin typeface="宋体" panose="02010600030101010101" pitchFamily="2" charset="-122"/>
              <a:ea typeface="宋体" panose="02010600030101010101" pitchFamily="2" charset="-122"/>
            </a:endParaRPr>
          </a:p>
          <a:p>
            <a:pPr marL="1280795" lvl="2" indent="-228600">
              <a:lnSpc>
                <a:spcPct val="90000"/>
              </a:lnSpc>
              <a:buFontTx/>
              <a:buNone/>
              <a:defRPr/>
            </a:pPr>
            <a:r>
              <a:rPr lang="zh-CN" altLang="en-US" dirty="0">
                <a:latin typeface="宋体" panose="02010600030101010101" pitchFamily="2" charset="-122"/>
                <a:ea typeface="宋体" panose="02010600030101010101" pitchFamily="2" charset="-122"/>
              </a:rPr>
              <a:t>2）对每个结点，除了与它的第一个孩子保持联系外，去除与其它孩子的联系</a:t>
            </a:r>
            <a:endParaRPr lang="zh-CN" altLang="en-US" dirty="0">
              <a:latin typeface="宋体" panose="02010600030101010101" pitchFamily="2" charset="-122"/>
              <a:ea typeface="宋体" panose="02010600030101010101" pitchFamily="2" charset="-122"/>
            </a:endParaRPr>
          </a:p>
          <a:p>
            <a:pPr marL="1280795" lvl="2" indent="-228600">
              <a:lnSpc>
                <a:spcPct val="90000"/>
              </a:lnSpc>
              <a:buFontTx/>
              <a:buNone/>
              <a:defRPr/>
            </a:pPr>
            <a:r>
              <a:rPr lang="zh-CN" altLang="en-US" dirty="0">
                <a:latin typeface="宋体" panose="02010600030101010101" pitchFamily="2" charset="-122"/>
                <a:ea typeface="宋体" panose="02010600030101010101" pitchFamily="2" charset="-122"/>
              </a:rPr>
              <a:t>3）以树根为轴心，将整棵树顺时针旋转45度</a:t>
            </a:r>
            <a:endParaRPr lang="zh-CN" altLang="en-US" dirty="0">
              <a:latin typeface="宋体" panose="02010600030101010101" pitchFamily="2" charset="-122"/>
              <a:ea typeface="宋体" panose="02010600030101010101" pitchFamily="2" charset="-122"/>
            </a:endParaRPr>
          </a:p>
          <a:p>
            <a:pPr marL="861695" lvl="1" indent="-285750">
              <a:lnSpc>
                <a:spcPct val="90000"/>
              </a:lnSpc>
              <a:defRPr/>
            </a:pPr>
            <a:r>
              <a:rPr lang="zh-CN" altLang="en-US" dirty="0">
                <a:latin typeface="宋体" panose="02010600030101010101" pitchFamily="2" charset="-122"/>
                <a:ea typeface="宋体" panose="02010600030101010101" pitchFamily="2" charset="-122"/>
              </a:rPr>
              <a:t>转换后的二叉树右子树必然为空。</a:t>
            </a:r>
            <a:endParaRPr lang="zh-CN" altLang="en-US" dirty="0">
              <a:latin typeface="宋体" panose="02010600030101010101" pitchFamily="2" charset="-122"/>
              <a:ea typeface="宋体" panose="02010600030101010101" pitchFamily="2" charset="-122"/>
            </a:endParaRPr>
          </a:p>
        </p:txBody>
      </p:sp>
      <p:pic>
        <p:nvPicPr>
          <p:cNvPr id="29701" name="Picture 4" descr="Snap7"/>
          <p:cNvPicPr>
            <a:picLocks noChangeAspect="1" noChangeArrowheads="1"/>
          </p:cNvPicPr>
          <p:nvPr/>
        </p:nvPicPr>
        <p:blipFill>
          <a:blip r:embed="rId1" cstate="print">
            <a:duotone>
              <a:prstClr val="black"/>
              <a:schemeClr val="accent1">
                <a:tint val="45000"/>
                <a:satMod val="400000"/>
              </a:schemeClr>
            </a:duotone>
            <a:lum contrast="100000"/>
          </a:blip>
          <a:srcRect/>
          <a:stretch>
            <a:fillRect/>
          </a:stretch>
        </p:blipFill>
        <p:spPr bwMode="auto">
          <a:xfrm>
            <a:off x="358775" y="3357562"/>
            <a:ext cx="8496300" cy="3222625"/>
          </a:xfrm>
          <a:prstGeom prst="rect">
            <a:avLst/>
          </a:prstGeom>
          <a:noFill/>
          <a:ln w="9525">
            <a:noFill/>
            <a:miter lim="800000"/>
            <a:headEnd/>
            <a:tailEnd/>
          </a:ln>
        </p:spPr>
      </p:pic>
    </p:spTree>
  </p:cSld>
  <p:clrMapOvr>
    <a:masterClrMapping/>
  </p:clrMapOvr>
  <p:transition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07C7D882-B5F2-4B22-846F-3F321FB5BE23}"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36867"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3.5 </a:t>
            </a:r>
            <a:r>
              <a:rPr lang="zh-CN" altLang="en-US" sz="2400">
                <a:latin typeface="宋体" panose="02010600030101010101" pitchFamily="2" charset="-122"/>
                <a:ea typeface="宋体" panose="02010600030101010101" pitchFamily="2" charset="-122"/>
              </a:rPr>
              <a:t>树与二叉树</a:t>
            </a:r>
            <a:endParaRPr lang="zh-CN" altLang="en-US" sz="2400">
              <a:latin typeface="宋体" panose="02010600030101010101" pitchFamily="2" charset="-122"/>
              <a:ea typeface="宋体" panose="02010600030101010101" pitchFamily="2" charset="-122"/>
            </a:endParaRPr>
          </a:p>
        </p:txBody>
      </p:sp>
      <p:sp>
        <p:nvSpPr>
          <p:cNvPr id="30724" name="Rectangle 3"/>
          <p:cNvSpPr>
            <a:spLocks noGrp="1" noChangeArrowheads="1"/>
          </p:cNvSpPr>
          <p:nvPr>
            <p:ph type="body" idx="1"/>
          </p:nvPr>
        </p:nvSpPr>
        <p:spPr>
          <a:xfrm>
            <a:off x="142875" y="990600"/>
            <a:ext cx="9001125" cy="5534025"/>
          </a:xfrm>
        </p:spPr>
        <p:txBody>
          <a:bodyPr/>
          <a:lstStyle/>
          <a:p>
            <a:pPr marL="192405" indent="-192405">
              <a:defRPr/>
            </a:pPr>
            <a:r>
              <a:rPr lang="zh-CN" altLang="en-US" dirty="0">
                <a:ea typeface="宋体" panose="02010600030101010101" pitchFamily="2" charset="-122"/>
              </a:rPr>
              <a:t>二叉树的遍历</a:t>
            </a:r>
            <a:endParaRPr lang="zh-CN" altLang="en-US" dirty="0">
              <a:ea typeface="宋体" panose="02010600030101010101" pitchFamily="2" charset="-122"/>
            </a:endParaRPr>
          </a:p>
          <a:p>
            <a:pPr marL="860425" lvl="1">
              <a:defRPr/>
            </a:pPr>
            <a:r>
              <a:rPr lang="zh-CN" altLang="en-US" dirty="0">
                <a:ea typeface="宋体" panose="02010600030101010101" pitchFamily="2" charset="-122"/>
              </a:rPr>
              <a:t>是二叉树的一种最基本的运算。许多二叉树的运算都是在遍历算法的基础上展开的，如求二叉树的结点数、叶子数、深度等。</a:t>
            </a:r>
            <a:endParaRPr lang="en-US" altLang="zh-CN" dirty="0">
              <a:ea typeface="宋体" panose="02010600030101010101" pitchFamily="2" charset="-122"/>
            </a:endParaRPr>
          </a:p>
          <a:p>
            <a:pPr marL="860425" lvl="1">
              <a:defRPr/>
            </a:pPr>
            <a:r>
              <a:rPr lang="zh-CN" altLang="en-US" dirty="0">
                <a:solidFill>
                  <a:schemeClr val="tx2"/>
                </a:solidFill>
                <a:ea typeface="宋体" panose="02010600030101010101" pitchFamily="2" charset="-122"/>
              </a:rPr>
              <a:t>三种遍历方式</a:t>
            </a:r>
            <a:endParaRPr lang="en-US" altLang="zh-CN" dirty="0">
              <a:solidFill>
                <a:schemeClr val="tx2"/>
              </a:solidFill>
              <a:latin typeface="宋体" panose="02010600030101010101" pitchFamily="2" charset="-122"/>
              <a:ea typeface="宋体" panose="02010600030101010101" pitchFamily="2" charset="-122"/>
            </a:endParaRPr>
          </a:p>
          <a:p>
            <a:pPr marL="1279525" lvl="2">
              <a:defRPr/>
            </a:pPr>
            <a:r>
              <a:rPr lang="zh-CN" altLang="en-US" dirty="0">
                <a:solidFill>
                  <a:schemeClr val="tx2"/>
                </a:solidFill>
                <a:latin typeface="宋体" panose="02010600030101010101" pitchFamily="2" charset="-122"/>
                <a:ea typeface="宋体" panose="02010600030101010101" pitchFamily="2" charset="-122"/>
              </a:rPr>
              <a:t>先序</a:t>
            </a:r>
            <a:r>
              <a:rPr lang="zh-CN" altLang="en-US" dirty="0">
                <a:latin typeface="宋体" panose="02010600030101010101" pitchFamily="2" charset="-122"/>
                <a:ea typeface="宋体" panose="02010600030101010101" pitchFamily="2" charset="-122"/>
              </a:rPr>
              <a:t>遍历</a:t>
            </a:r>
            <a:r>
              <a:rPr lang="en-US" altLang="zh-CN" dirty="0">
                <a:latin typeface="宋体" panose="02010600030101010101" pitchFamily="2" charset="-122"/>
                <a:ea typeface="宋体" panose="02010600030101010101" pitchFamily="2" charset="-122"/>
              </a:rPr>
              <a:t>(</a:t>
            </a:r>
            <a:r>
              <a:rPr lang="en-US" altLang="zh-CN" dirty="0">
                <a:solidFill>
                  <a:schemeClr val="accent1">
                    <a:lumMod val="60000"/>
                    <a:lumOff val="40000"/>
                  </a:schemeClr>
                </a:solidFill>
                <a:latin typeface="宋体" panose="02010600030101010101" pitchFamily="2" charset="-122"/>
                <a:ea typeface="宋体" panose="02010600030101010101" pitchFamily="2" charset="-122"/>
              </a:rPr>
              <a:t>D</a:t>
            </a:r>
            <a:r>
              <a:rPr lang="en-US" altLang="zh-CN" dirty="0">
                <a:latin typeface="宋体" panose="02010600030101010101" pitchFamily="2" charset="-122"/>
                <a:ea typeface="宋体" panose="02010600030101010101" pitchFamily="2" charset="-122"/>
              </a:rPr>
              <a:t>LR)</a:t>
            </a:r>
            <a:r>
              <a:rPr lang="zh-CN" altLang="en-US" dirty="0">
                <a:latin typeface="宋体" panose="02010600030101010101" pitchFamily="2" charset="-122"/>
                <a:ea typeface="宋体" panose="02010600030101010101" pitchFamily="2" charset="-122"/>
              </a:rPr>
              <a:t>：</a:t>
            </a:r>
            <a:r>
              <a:rPr lang="zh-CN" altLang="en-US" dirty="0">
                <a:solidFill>
                  <a:schemeClr val="tx2"/>
                </a:solidFill>
                <a:latin typeface="宋体" panose="02010600030101010101" pitchFamily="2" charset="-122"/>
                <a:ea typeface="宋体" panose="02010600030101010101" pitchFamily="2" charset="-122"/>
              </a:rPr>
              <a:t>根</a:t>
            </a:r>
            <a:r>
              <a:rPr lang="zh-CN" altLang="en-US" dirty="0">
                <a:latin typeface="宋体" panose="02010600030101010101" pitchFamily="2" charset="-122"/>
                <a:ea typeface="宋体" panose="02010600030101010101" pitchFamily="2" charset="-122"/>
              </a:rPr>
              <a:t> －&gt; 左子树 －&gt; 右子树</a:t>
            </a:r>
            <a:endParaRPr lang="en-US" altLang="zh-CN" dirty="0">
              <a:latin typeface="宋体" panose="02010600030101010101" pitchFamily="2" charset="-122"/>
              <a:ea typeface="宋体" panose="02010600030101010101" pitchFamily="2" charset="-122"/>
            </a:endParaRPr>
          </a:p>
          <a:p>
            <a:pPr marL="1279525" lvl="2">
              <a:defRPr/>
            </a:pPr>
            <a:r>
              <a:rPr lang="zh-CN" altLang="en-US" dirty="0">
                <a:solidFill>
                  <a:schemeClr val="tx2"/>
                </a:solidFill>
                <a:latin typeface="宋体" panose="02010600030101010101" pitchFamily="2" charset="-122"/>
                <a:ea typeface="宋体" panose="02010600030101010101" pitchFamily="2" charset="-122"/>
              </a:rPr>
              <a:t>中序</a:t>
            </a:r>
            <a:r>
              <a:rPr lang="zh-CN" altLang="en-US" dirty="0">
                <a:latin typeface="宋体" panose="02010600030101010101" pitchFamily="2" charset="-122"/>
                <a:ea typeface="宋体" panose="02010600030101010101" pitchFamily="2" charset="-122"/>
              </a:rPr>
              <a:t>遍历</a:t>
            </a:r>
            <a:r>
              <a:rPr lang="en-US" altLang="zh-CN" dirty="0">
                <a:latin typeface="宋体" panose="02010600030101010101" pitchFamily="2" charset="-122"/>
                <a:ea typeface="宋体" panose="02010600030101010101" pitchFamily="2" charset="-122"/>
              </a:rPr>
              <a:t>(L</a:t>
            </a:r>
            <a:r>
              <a:rPr lang="en-US" altLang="zh-CN" dirty="0">
                <a:solidFill>
                  <a:schemeClr val="accent1">
                    <a:lumMod val="60000"/>
                    <a:lumOff val="40000"/>
                  </a:schemeClr>
                </a:solidFill>
                <a:latin typeface="宋体" panose="02010600030101010101" pitchFamily="2" charset="-122"/>
                <a:ea typeface="宋体" panose="02010600030101010101" pitchFamily="2" charset="-122"/>
              </a:rPr>
              <a:t>D</a:t>
            </a:r>
            <a:r>
              <a:rPr lang="en-US" altLang="zh-CN" dirty="0">
                <a:latin typeface="宋体" panose="02010600030101010101" pitchFamily="2" charset="-122"/>
                <a:ea typeface="宋体" panose="02010600030101010101" pitchFamily="2" charset="-122"/>
              </a:rPr>
              <a:t>R)</a:t>
            </a:r>
            <a:r>
              <a:rPr lang="zh-CN" altLang="en-US" dirty="0">
                <a:latin typeface="宋体" panose="02010600030101010101" pitchFamily="2" charset="-122"/>
                <a:ea typeface="宋体" panose="02010600030101010101" pitchFamily="2" charset="-122"/>
              </a:rPr>
              <a:t>：左子树 －&gt; </a:t>
            </a:r>
            <a:r>
              <a:rPr lang="zh-CN" altLang="en-US" dirty="0">
                <a:solidFill>
                  <a:schemeClr val="tx2"/>
                </a:solidFill>
                <a:latin typeface="宋体" panose="02010600030101010101" pitchFamily="2" charset="-122"/>
                <a:ea typeface="宋体" panose="02010600030101010101" pitchFamily="2" charset="-122"/>
              </a:rPr>
              <a:t>根</a:t>
            </a:r>
            <a:r>
              <a:rPr lang="zh-CN" altLang="en-US" b="0" dirty="0">
                <a:solidFill>
                  <a:schemeClr val="tx2"/>
                </a:solidFill>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－&gt; 右子树</a:t>
            </a:r>
            <a:endParaRPr lang="zh-CN" altLang="en-US" dirty="0">
              <a:latin typeface="宋体" panose="02010600030101010101" pitchFamily="2" charset="-122"/>
              <a:ea typeface="宋体" panose="02010600030101010101" pitchFamily="2" charset="-122"/>
            </a:endParaRPr>
          </a:p>
          <a:p>
            <a:pPr marL="1279525" lvl="2">
              <a:defRPr/>
            </a:pPr>
            <a:r>
              <a:rPr lang="zh-CN" altLang="en-US" dirty="0">
                <a:solidFill>
                  <a:schemeClr val="tx2"/>
                </a:solidFill>
                <a:latin typeface="宋体" panose="02010600030101010101" pitchFamily="2" charset="-122"/>
                <a:ea typeface="宋体" panose="02010600030101010101" pitchFamily="2" charset="-122"/>
              </a:rPr>
              <a:t>后序</a:t>
            </a:r>
            <a:r>
              <a:rPr lang="zh-CN" altLang="en-US" dirty="0">
                <a:latin typeface="宋体" panose="02010600030101010101" pitchFamily="2" charset="-122"/>
                <a:ea typeface="宋体" panose="02010600030101010101" pitchFamily="2" charset="-122"/>
              </a:rPr>
              <a:t>遍历</a:t>
            </a:r>
            <a:r>
              <a:rPr lang="en-US" altLang="zh-CN" dirty="0">
                <a:latin typeface="宋体" panose="02010600030101010101" pitchFamily="2" charset="-122"/>
                <a:ea typeface="宋体" panose="02010600030101010101" pitchFamily="2" charset="-122"/>
              </a:rPr>
              <a:t>(LR</a:t>
            </a:r>
            <a:r>
              <a:rPr lang="en-US" altLang="zh-CN" dirty="0">
                <a:solidFill>
                  <a:schemeClr val="accent1">
                    <a:lumMod val="60000"/>
                    <a:lumOff val="40000"/>
                  </a:schemeClr>
                </a:solidFill>
                <a:latin typeface="宋体" panose="02010600030101010101" pitchFamily="2" charset="-122"/>
                <a:ea typeface="宋体" panose="02010600030101010101" pitchFamily="2" charset="-122"/>
              </a:rPr>
              <a:t>D</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：左子树 －&gt; 右子树 －&gt; </a:t>
            </a:r>
            <a:r>
              <a:rPr lang="zh-CN" altLang="en-US" dirty="0">
                <a:solidFill>
                  <a:schemeClr val="tx2"/>
                </a:solidFill>
                <a:latin typeface="宋体" panose="02010600030101010101" pitchFamily="2" charset="-122"/>
                <a:ea typeface="宋体" panose="02010600030101010101" pitchFamily="2" charset="-122"/>
              </a:rPr>
              <a:t>根</a:t>
            </a:r>
            <a:endParaRPr lang="zh-CN" altLang="en-US" dirty="0">
              <a:latin typeface="宋体" panose="02010600030101010101" pitchFamily="2" charset="-122"/>
              <a:ea typeface="宋体" panose="02010600030101010101" pitchFamily="2" charset="-122"/>
            </a:endParaRPr>
          </a:p>
          <a:p>
            <a:pPr marL="1279525" lvl="2">
              <a:defRPr/>
            </a:pPr>
            <a:r>
              <a:rPr lang="zh-CN" altLang="en-US" dirty="0">
                <a:solidFill>
                  <a:schemeClr val="tx2"/>
                </a:solidFill>
                <a:latin typeface="宋体" panose="02010600030101010101" pitchFamily="2" charset="-122"/>
                <a:ea typeface="宋体" panose="02010600030101010101" pitchFamily="2" charset="-122"/>
              </a:rPr>
              <a:t>这里的</a:t>
            </a:r>
            <a:r>
              <a:rPr lang="zh-CN" altLang="en-US" dirty="0">
                <a:solidFill>
                  <a:schemeClr val="tx2"/>
                </a:solidFill>
                <a:latin typeface="Times New Roman" panose="02020603050405020304" pitchFamily="18" charset="0"/>
                <a:ea typeface="宋体" panose="02010600030101010101" pitchFamily="2" charset="-122"/>
              </a:rPr>
              <a:t>“</a:t>
            </a:r>
            <a:r>
              <a:rPr lang="zh-CN" altLang="en-US" dirty="0">
                <a:solidFill>
                  <a:schemeClr val="tx2"/>
                </a:solidFill>
                <a:latin typeface="宋体" panose="02010600030101010101" pitchFamily="2" charset="-122"/>
                <a:ea typeface="宋体" panose="02010600030101010101" pitchFamily="2" charset="-122"/>
              </a:rPr>
              <a:t>先</a:t>
            </a:r>
            <a:r>
              <a:rPr lang="zh-CN" altLang="en-US" dirty="0">
                <a:solidFill>
                  <a:schemeClr val="tx2"/>
                </a:solidFill>
                <a:latin typeface="Times New Roman" panose="02020603050405020304" pitchFamily="18" charset="0"/>
                <a:ea typeface="宋体" panose="02010600030101010101" pitchFamily="2" charset="-122"/>
              </a:rPr>
              <a:t>”</a:t>
            </a:r>
            <a:r>
              <a:rPr lang="zh-CN" altLang="en-US" dirty="0">
                <a:solidFill>
                  <a:schemeClr val="tx2"/>
                </a:solidFill>
                <a:latin typeface="宋体" panose="02010600030101010101" pitchFamily="2" charset="-122"/>
                <a:ea typeface="宋体" panose="02010600030101010101" pitchFamily="2" charset="-122"/>
              </a:rPr>
              <a:t>，</a:t>
            </a:r>
            <a:r>
              <a:rPr lang="zh-CN" altLang="en-US" dirty="0">
                <a:solidFill>
                  <a:schemeClr val="tx2"/>
                </a:solidFill>
                <a:latin typeface="Times New Roman" panose="02020603050405020304" pitchFamily="18" charset="0"/>
                <a:ea typeface="宋体" panose="02010600030101010101" pitchFamily="2" charset="-122"/>
              </a:rPr>
              <a:t>“</a:t>
            </a:r>
            <a:r>
              <a:rPr lang="zh-CN" altLang="en-US" dirty="0">
                <a:solidFill>
                  <a:schemeClr val="tx2"/>
                </a:solidFill>
                <a:latin typeface="宋体" panose="02010600030101010101" pitchFamily="2" charset="-122"/>
                <a:ea typeface="宋体" panose="02010600030101010101" pitchFamily="2" charset="-122"/>
              </a:rPr>
              <a:t>中</a:t>
            </a:r>
            <a:r>
              <a:rPr lang="zh-CN" altLang="en-US" dirty="0">
                <a:solidFill>
                  <a:schemeClr val="tx2"/>
                </a:solidFill>
                <a:latin typeface="Times New Roman" panose="02020603050405020304" pitchFamily="18" charset="0"/>
                <a:ea typeface="宋体" panose="02010600030101010101" pitchFamily="2" charset="-122"/>
              </a:rPr>
              <a:t>”</a:t>
            </a:r>
            <a:r>
              <a:rPr lang="zh-CN" altLang="en-US" dirty="0">
                <a:solidFill>
                  <a:schemeClr val="tx2"/>
                </a:solidFill>
                <a:latin typeface="宋体" panose="02010600030101010101" pitchFamily="2" charset="-122"/>
                <a:ea typeface="宋体" panose="02010600030101010101" pitchFamily="2" charset="-122"/>
              </a:rPr>
              <a:t>，</a:t>
            </a:r>
            <a:r>
              <a:rPr lang="zh-CN" altLang="en-US" dirty="0">
                <a:solidFill>
                  <a:schemeClr val="tx2"/>
                </a:solidFill>
                <a:latin typeface="Times New Roman" panose="02020603050405020304" pitchFamily="18" charset="0"/>
                <a:ea typeface="宋体" panose="02010600030101010101" pitchFamily="2" charset="-122"/>
              </a:rPr>
              <a:t>“</a:t>
            </a:r>
            <a:r>
              <a:rPr lang="zh-CN" altLang="en-US" dirty="0">
                <a:solidFill>
                  <a:schemeClr val="tx2"/>
                </a:solidFill>
                <a:latin typeface="宋体" panose="02010600030101010101" pitchFamily="2" charset="-122"/>
                <a:ea typeface="宋体" panose="02010600030101010101" pitchFamily="2" charset="-122"/>
              </a:rPr>
              <a:t>后</a:t>
            </a:r>
            <a:r>
              <a:rPr lang="zh-CN" altLang="en-US" dirty="0">
                <a:solidFill>
                  <a:schemeClr val="tx2"/>
                </a:solidFill>
                <a:latin typeface="Times New Roman" panose="02020603050405020304" pitchFamily="18" charset="0"/>
                <a:ea typeface="宋体" panose="02010600030101010101" pitchFamily="2" charset="-122"/>
              </a:rPr>
              <a:t>”</a:t>
            </a:r>
            <a:r>
              <a:rPr lang="zh-CN" altLang="en-US" dirty="0">
                <a:solidFill>
                  <a:schemeClr val="tx2"/>
                </a:solidFill>
                <a:latin typeface="宋体" panose="02010600030101010101" pitchFamily="2" charset="-122"/>
                <a:ea typeface="宋体" panose="02010600030101010101" pitchFamily="2" charset="-122"/>
              </a:rPr>
              <a:t>是指 </a:t>
            </a:r>
            <a:r>
              <a:rPr lang="zh-CN" altLang="en-US" b="0" dirty="0">
                <a:solidFill>
                  <a:schemeClr val="tx2"/>
                </a:solidFill>
                <a:latin typeface="Times New Roman" panose="02020603050405020304" pitchFamily="18" charset="0"/>
                <a:ea typeface="宋体" panose="02010600030101010101" pitchFamily="2" charset="-122"/>
              </a:rPr>
              <a:t>“</a:t>
            </a:r>
            <a:r>
              <a:rPr lang="zh-CN" altLang="en-US" b="0" dirty="0">
                <a:solidFill>
                  <a:schemeClr val="tx2"/>
                </a:solidFill>
                <a:latin typeface="宋体" panose="02010600030101010101" pitchFamily="2" charset="-122"/>
                <a:ea typeface="宋体" panose="02010600030101010101" pitchFamily="2" charset="-122"/>
              </a:rPr>
              <a:t>根</a:t>
            </a:r>
            <a:r>
              <a:rPr lang="zh-CN" altLang="en-US" b="0" dirty="0">
                <a:solidFill>
                  <a:schemeClr val="tx2"/>
                </a:solidFill>
                <a:latin typeface="Times New Roman" panose="02020603050405020304" pitchFamily="18" charset="0"/>
                <a:ea typeface="宋体" panose="02010600030101010101" pitchFamily="2" charset="-122"/>
              </a:rPr>
              <a:t>”</a:t>
            </a:r>
            <a:r>
              <a:rPr lang="zh-CN" altLang="en-US" b="0" dirty="0">
                <a:solidFill>
                  <a:schemeClr val="tx2"/>
                </a:solidFill>
                <a:latin typeface="宋体" panose="02010600030101010101" pitchFamily="2" charset="-122"/>
                <a:ea typeface="宋体" panose="02010600030101010101" pitchFamily="2" charset="-122"/>
              </a:rPr>
              <a:t> </a:t>
            </a:r>
            <a:r>
              <a:rPr lang="zh-CN" altLang="en-US" dirty="0">
                <a:solidFill>
                  <a:schemeClr val="tx2"/>
                </a:solidFill>
                <a:latin typeface="宋体" panose="02010600030101010101" pitchFamily="2" charset="-122"/>
                <a:ea typeface="宋体" panose="02010600030101010101" pitchFamily="2" charset="-122"/>
              </a:rPr>
              <a:t>的先中后</a:t>
            </a:r>
            <a:endParaRPr lang="zh-CN" altLang="en-US" dirty="0">
              <a:solidFill>
                <a:schemeClr val="tx2"/>
              </a:solidFill>
              <a:latin typeface="宋体" panose="02010600030101010101" pitchFamily="2" charset="-122"/>
              <a:ea typeface="宋体" panose="02010600030101010101" pitchFamily="2" charset="-122"/>
            </a:endParaRPr>
          </a:p>
          <a:p>
            <a:pPr marL="1279525" lvl="2">
              <a:buFontTx/>
              <a:buNone/>
              <a:defRPr/>
            </a:pPr>
            <a:r>
              <a:rPr lang="zh-CN" altLang="en-US" dirty="0">
                <a:solidFill>
                  <a:schemeClr val="tx2"/>
                </a:solidFill>
                <a:latin typeface="宋体" panose="02010600030101010101" pitchFamily="2" charset="-122"/>
                <a:ea typeface="宋体" panose="02010600030101010101" pitchFamily="2" charset="-122"/>
              </a:rPr>
              <a:t>         </a:t>
            </a:r>
            <a:r>
              <a:rPr lang="en-US" altLang="zh-CN" dirty="0">
                <a:solidFill>
                  <a:schemeClr val="tx2"/>
                </a:solidFill>
                <a:latin typeface="宋体" panose="02010600030101010101" pitchFamily="2" charset="-122"/>
                <a:ea typeface="宋体" panose="02010600030101010101" pitchFamily="2" charset="-122"/>
              </a:rPr>
              <a:t>DRL</a:t>
            </a:r>
            <a:endParaRPr lang="en-US" altLang="zh-CN" dirty="0">
              <a:solidFill>
                <a:schemeClr val="tx2"/>
              </a:solidFill>
              <a:latin typeface="宋体" panose="02010600030101010101" pitchFamily="2" charset="-122"/>
              <a:ea typeface="宋体" panose="02010600030101010101" pitchFamily="2" charset="-122"/>
            </a:endParaRPr>
          </a:p>
          <a:p>
            <a:pPr marL="1279525" lvl="2">
              <a:buFontTx/>
              <a:buNone/>
              <a:defRPr/>
            </a:pPr>
            <a:r>
              <a:rPr lang="en-US" altLang="zh-CN" dirty="0">
                <a:solidFill>
                  <a:schemeClr val="tx2"/>
                </a:solidFill>
                <a:latin typeface="宋体" panose="02010600030101010101" pitchFamily="2" charset="-122"/>
                <a:ea typeface="宋体" panose="02010600030101010101" pitchFamily="2" charset="-122"/>
              </a:rPr>
              <a:t>         RDL</a:t>
            </a:r>
            <a:endParaRPr lang="en-US" altLang="zh-CN" dirty="0">
              <a:solidFill>
                <a:schemeClr val="tx2"/>
              </a:solidFill>
              <a:latin typeface="宋体" panose="02010600030101010101" pitchFamily="2" charset="-122"/>
              <a:ea typeface="宋体" panose="02010600030101010101" pitchFamily="2" charset="-122"/>
            </a:endParaRPr>
          </a:p>
          <a:p>
            <a:pPr marL="1279525" lvl="2">
              <a:buFontTx/>
              <a:buNone/>
              <a:defRPr/>
            </a:pPr>
            <a:r>
              <a:rPr lang="en-US" altLang="zh-CN" dirty="0">
                <a:solidFill>
                  <a:schemeClr val="tx2"/>
                </a:solidFill>
                <a:latin typeface="宋体" panose="02010600030101010101" pitchFamily="2" charset="-122"/>
                <a:ea typeface="宋体" panose="02010600030101010101" pitchFamily="2" charset="-122"/>
              </a:rPr>
              <a:t>         RLD</a:t>
            </a:r>
            <a:endParaRPr lang="en-US" altLang="zh-CN" dirty="0">
              <a:solidFill>
                <a:schemeClr val="tx2"/>
              </a:solidFill>
              <a:latin typeface="宋体" panose="02010600030101010101" pitchFamily="2" charset="-122"/>
              <a:ea typeface="宋体" panose="02010600030101010101" pitchFamily="2" charset="-122"/>
            </a:endParaRPr>
          </a:p>
        </p:txBody>
      </p:sp>
      <p:sp>
        <p:nvSpPr>
          <p:cNvPr id="91155" name="AutoShape 19"/>
          <p:cNvSpPr>
            <a:spLocks noChangeArrowheads="1"/>
          </p:cNvSpPr>
          <p:nvPr/>
        </p:nvSpPr>
        <p:spPr bwMode="auto">
          <a:xfrm>
            <a:off x="2951163" y="1233488"/>
            <a:ext cx="215900" cy="215900"/>
          </a:xfrm>
          <a:prstGeom prst="irregularSeal1">
            <a:avLst/>
          </a:prstGeom>
          <a:solidFill>
            <a:schemeClr val="accent1"/>
          </a:solidFill>
          <a:ln w="9525">
            <a:solidFill>
              <a:schemeClr val="tx1"/>
            </a:solidFill>
            <a:miter lim="800000"/>
          </a:ln>
        </p:spPr>
        <p:txBody>
          <a:bodyPr wrap="none" lIns="91433" tIns="45717" rIns="91433" bIns="45717"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91156" name="AutoShape 20">
            <a:hlinkHover r:id="" action="ppaction://noaction" highlightClick="1"/>
          </p:cNvPr>
          <p:cNvSpPr>
            <a:spLocks noChangeArrowheads="1"/>
          </p:cNvSpPr>
          <p:nvPr/>
        </p:nvSpPr>
        <p:spPr bwMode="auto">
          <a:xfrm>
            <a:off x="6083300" y="584200"/>
            <a:ext cx="3060700" cy="681038"/>
          </a:xfrm>
          <a:prstGeom prst="cloudCallout">
            <a:avLst>
              <a:gd name="adj1" fmla="val -65921"/>
              <a:gd name="adj2" fmla="val 55250"/>
            </a:avLst>
          </a:prstGeom>
          <a:solidFill>
            <a:schemeClr val="accent6">
              <a:lumMod val="40000"/>
              <a:lumOff val="60000"/>
            </a:schemeClr>
          </a:solidFill>
          <a:ln w="9525">
            <a:solidFill>
              <a:schemeClr val="tx1"/>
            </a:solidFill>
            <a:round/>
          </a:ln>
        </p:spPr>
        <p:txBody>
          <a:bodyPr lIns="0" tIns="0" rIns="0" bIns="0">
            <a:spAutoFit/>
          </a:bodyPr>
          <a:lstStyle/>
          <a:p>
            <a:pPr>
              <a:defRPr/>
            </a:pPr>
            <a:r>
              <a:rPr lang="zh-CN" altLang="en-US"/>
              <a:t>按某种规律，对树的每个结点做且仅做一次访问。</a:t>
            </a:r>
            <a:endParaRPr lang="en-US" altLang="zh-CN"/>
          </a:p>
        </p:txBody>
      </p:sp>
      <p:sp>
        <p:nvSpPr>
          <p:cNvPr id="91159" name="AutoShape 23"/>
          <p:cNvSpPr>
            <a:spLocks noChangeArrowheads="1"/>
          </p:cNvSpPr>
          <p:nvPr/>
        </p:nvSpPr>
        <p:spPr bwMode="auto">
          <a:xfrm>
            <a:off x="3311525" y="3105150"/>
            <a:ext cx="215900" cy="215900"/>
          </a:xfrm>
          <a:prstGeom prst="irregularSeal1">
            <a:avLst/>
          </a:prstGeom>
          <a:solidFill>
            <a:schemeClr val="accent1"/>
          </a:solidFill>
          <a:ln w="9525">
            <a:solidFill>
              <a:schemeClr val="tx1"/>
            </a:solidFill>
            <a:miter lim="800000"/>
          </a:ln>
        </p:spPr>
        <p:txBody>
          <a:bodyPr wrap="none" lIns="91433" tIns="45717" rIns="91433" bIns="45717"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91160" name="AutoShape 24">
            <a:hlinkHover r:id="" action="ppaction://noaction" highlightClick="1"/>
          </p:cNvPr>
          <p:cNvSpPr>
            <a:spLocks noChangeArrowheads="1"/>
          </p:cNvSpPr>
          <p:nvPr/>
        </p:nvSpPr>
        <p:spPr bwMode="auto">
          <a:xfrm>
            <a:off x="5002213" y="2479675"/>
            <a:ext cx="3963987" cy="1020763"/>
          </a:xfrm>
          <a:prstGeom prst="cloudCallout">
            <a:avLst>
              <a:gd name="adj1" fmla="val -63898"/>
              <a:gd name="adj2" fmla="val 21912"/>
            </a:avLst>
          </a:prstGeom>
          <a:solidFill>
            <a:schemeClr val="accent6">
              <a:lumMod val="40000"/>
              <a:lumOff val="60000"/>
            </a:schemeClr>
          </a:solidFill>
          <a:ln w="9525">
            <a:solidFill>
              <a:schemeClr val="tx1"/>
            </a:solidFill>
            <a:round/>
          </a:ln>
        </p:spPr>
        <p:txBody>
          <a:bodyPr lIns="0" tIns="0" rIns="0" bIns="0">
            <a:spAutoFit/>
          </a:bodyPr>
          <a:lstStyle/>
          <a:p>
            <a:pPr>
              <a:defRPr/>
            </a:pPr>
            <a:r>
              <a:rPr lang="zh-CN" altLang="en-US" dirty="0"/>
              <a:t>二叉树由三个部分构成。根、左、右子树。所以要遍历树中的结点，要依次遍历这三个部分。</a:t>
            </a:r>
            <a:endParaRPr lang="en-US" altLang="zh-CN" dirty="0"/>
          </a:p>
        </p:txBody>
      </p:sp>
    </p:spTree>
  </p:cSld>
  <p:clrMapOvr>
    <a:masterClrMapping/>
  </p:clrMapOvr>
  <p:transition advClick="0"/>
  <p:timing>
    <p:tnLst>
      <p:par>
        <p:cTn id="1" dur="indefinite" restart="never" nodeType="tmRoot">
          <p:childTnLst>
            <p:seq concurrent="1" nextAc="seek">
              <p:cTn id="2" restart="whenNotActive" fill="hold" evtFilter="cancelBubble" nodeType="interactiveSeq">
                <p:stCondLst>
                  <p:cond evt="onClick" delay="0">
                    <p:tgtEl>
                      <p:spTgt spid="91155"/>
                    </p:tgtEl>
                  </p:cond>
                </p:stCondLst>
                <p:endSync evt="end" delay="0">
                  <p:rtn val="all"/>
                </p:endSync>
                <p:childTnLst>
                  <p:par>
                    <p:cTn id="3" fill="hold">
                      <p:stCondLst>
                        <p:cond delay="0"/>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1156"/>
                                        </p:tgtEl>
                                        <p:attrNameLst>
                                          <p:attrName>style.visibility</p:attrName>
                                        </p:attrNameLst>
                                      </p:cBhvr>
                                      <p:to>
                                        <p:strVal val="visible"/>
                                      </p:to>
                                    </p:set>
                                    <p:anim calcmode="lin" valueType="num">
                                      <p:cBhvr>
                                        <p:cTn id="7" dur="500" fill="hold"/>
                                        <p:tgtEl>
                                          <p:spTgt spid="91156"/>
                                        </p:tgtEl>
                                        <p:attrNameLst>
                                          <p:attrName>ppt_w</p:attrName>
                                        </p:attrNameLst>
                                      </p:cBhvr>
                                      <p:tavLst>
                                        <p:tav tm="0">
                                          <p:val>
                                            <p:fltVal val="0"/>
                                          </p:val>
                                        </p:tav>
                                        <p:tav tm="100000">
                                          <p:val>
                                            <p:strVal val="#ppt_w"/>
                                          </p:val>
                                        </p:tav>
                                      </p:tavLst>
                                    </p:anim>
                                    <p:anim calcmode="lin" valueType="num">
                                      <p:cBhvr>
                                        <p:cTn id="8" dur="500" fill="hold"/>
                                        <p:tgtEl>
                                          <p:spTgt spid="91156"/>
                                        </p:tgtEl>
                                        <p:attrNameLst>
                                          <p:attrName>ppt_h</p:attrName>
                                        </p:attrNameLst>
                                      </p:cBhvr>
                                      <p:tavLst>
                                        <p:tav tm="0">
                                          <p:val>
                                            <p:fltVal val="0"/>
                                          </p:val>
                                        </p:tav>
                                        <p:tav tm="100000">
                                          <p:val>
                                            <p:strVal val="#ppt_h"/>
                                          </p:val>
                                        </p:tav>
                                      </p:tavLst>
                                    </p:anim>
                                    <p:animEffect transition="in" filter="fade">
                                      <p:cBhvr>
                                        <p:cTn id="9" dur="500"/>
                                        <p:tgtEl>
                                          <p:spTgt spid="91156"/>
                                        </p:tgtEl>
                                      </p:cBhvr>
                                    </p:animEffect>
                                  </p:childTnLst>
                                  <p:subTnLst>
                                    <p:set>
                                      <p:cBhvr override="childStyle">
                                        <p:cTn dur="1" fill="hold" display="0" masterRel="nextClick" afterEffect="1"/>
                                        <p:tgtEl>
                                          <p:spTgt spid="91156"/>
                                        </p:tgtEl>
                                        <p:attrNameLst>
                                          <p:attrName>style.visibility</p:attrName>
                                        </p:attrNameLst>
                                      </p:cBhvr>
                                      <p:to>
                                        <p:strVal val="hidden"/>
                                      </p:to>
                                    </p:set>
                                  </p:subTnLst>
                                </p:cTn>
                              </p:par>
                            </p:childTnLst>
                          </p:cTn>
                        </p:par>
                      </p:childTnLst>
                    </p:cTn>
                  </p:par>
                </p:childTnLst>
              </p:cTn>
              <p:nextCondLst>
                <p:cond evt="onClick" delay="0">
                  <p:tgtEl>
                    <p:spTgt spid="91155"/>
                  </p:tgtEl>
                </p:cond>
              </p:nextCondLst>
            </p:seq>
            <p:seq concurrent="1" nextAc="seek">
              <p:cTn id="10" restart="whenNotActive" fill="hold" evtFilter="cancelBubble" nodeType="interactiveSeq">
                <p:stCondLst>
                  <p:cond evt="onClick" delay="0">
                    <p:tgtEl>
                      <p:spTgt spid="91159"/>
                    </p:tgtEl>
                  </p:cond>
                </p:stCondLst>
                <p:endSync evt="end" delay="0">
                  <p:rtn val="all"/>
                </p:endSync>
                <p:childTnLst>
                  <p:par>
                    <p:cTn id="11" fill="hold">
                      <p:stCondLst>
                        <p:cond delay="0"/>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91160"/>
                                        </p:tgtEl>
                                        <p:attrNameLst>
                                          <p:attrName>style.visibility</p:attrName>
                                        </p:attrNameLst>
                                      </p:cBhvr>
                                      <p:to>
                                        <p:strVal val="visible"/>
                                      </p:to>
                                    </p:set>
                                    <p:anim calcmode="lin" valueType="num">
                                      <p:cBhvr>
                                        <p:cTn id="15" dur="500" fill="hold"/>
                                        <p:tgtEl>
                                          <p:spTgt spid="91160"/>
                                        </p:tgtEl>
                                        <p:attrNameLst>
                                          <p:attrName>ppt_w</p:attrName>
                                        </p:attrNameLst>
                                      </p:cBhvr>
                                      <p:tavLst>
                                        <p:tav tm="0">
                                          <p:val>
                                            <p:fltVal val="0"/>
                                          </p:val>
                                        </p:tav>
                                        <p:tav tm="100000">
                                          <p:val>
                                            <p:strVal val="#ppt_w"/>
                                          </p:val>
                                        </p:tav>
                                      </p:tavLst>
                                    </p:anim>
                                    <p:anim calcmode="lin" valueType="num">
                                      <p:cBhvr>
                                        <p:cTn id="16" dur="500" fill="hold"/>
                                        <p:tgtEl>
                                          <p:spTgt spid="91160"/>
                                        </p:tgtEl>
                                        <p:attrNameLst>
                                          <p:attrName>ppt_h</p:attrName>
                                        </p:attrNameLst>
                                      </p:cBhvr>
                                      <p:tavLst>
                                        <p:tav tm="0">
                                          <p:val>
                                            <p:fltVal val="0"/>
                                          </p:val>
                                        </p:tav>
                                        <p:tav tm="100000">
                                          <p:val>
                                            <p:strVal val="#ppt_h"/>
                                          </p:val>
                                        </p:tav>
                                      </p:tavLst>
                                    </p:anim>
                                    <p:animEffect transition="in" filter="fade">
                                      <p:cBhvr>
                                        <p:cTn id="17" dur="500"/>
                                        <p:tgtEl>
                                          <p:spTgt spid="91160"/>
                                        </p:tgtEl>
                                      </p:cBhvr>
                                    </p:animEffect>
                                  </p:childTnLst>
                                  <p:subTnLst>
                                    <p:set>
                                      <p:cBhvr override="childStyle">
                                        <p:cTn dur="1" fill="hold" display="0" masterRel="nextClick" afterEffect="1"/>
                                        <p:tgtEl>
                                          <p:spTgt spid="91160"/>
                                        </p:tgtEl>
                                        <p:attrNameLst>
                                          <p:attrName>style.visibility</p:attrName>
                                        </p:attrNameLst>
                                      </p:cBhvr>
                                      <p:to>
                                        <p:strVal val="hidden"/>
                                      </p:to>
                                    </p:set>
                                  </p:subTnLst>
                                </p:cTn>
                              </p:par>
                            </p:childTnLst>
                          </p:cTn>
                        </p:par>
                      </p:childTnLst>
                    </p:cTn>
                  </p:par>
                </p:childTnLst>
              </p:cTn>
              <p:nextCondLst>
                <p:cond evt="onClick" delay="0">
                  <p:tgtEl>
                    <p:spTgt spid="91159"/>
                  </p:tgtEl>
                </p:cond>
              </p:nextCondLst>
            </p:seq>
          </p:childTnLst>
        </p:cTn>
      </p:par>
    </p:tnLst>
    <p:bldLst>
      <p:bldP spid="91156" grpId="0" animBg="1" autoUpdateAnimBg="0"/>
      <p:bldP spid="91160"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87BEF16D-AB65-4713-830A-4FE06E375A05}"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38915"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3.5 </a:t>
            </a:r>
            <a:r>
              <a:rPr lang="zh-CN" altLang="en-US" sz="2400">
                <a:latin typeface="宋体" panose="02010600030101010101" pitchFamily="2" charset="-122"/>
                <a:ea typeface="宋体" panose="02010600030101010101" pitchFamily="2" charset="-122"/>
              </a:rPr>
              <a:t>树与二叉树</a:t>
            </a:r>
            <a:endParaRPr lang="zh-CN" altLang="en-US" sz="2400">
              <a:latin typeface="宋体" panose="02010600030101010101" pitchFamily="2" charset="-122"/>
              <a:ea typeface="宋体" panose="02010600030101010101" pitchFamily="2" charset="-122"/>
            </a:endParaRPr>
          </a:p>
        </p:txBody>
      </p:sp>
      <p:sp>
        <p:nvSpPr>
          <p:cNvPr id="31748" name="Rectangle 3"/>
          <p:cNvSpPr>
            <a:spLocks noGrp="1" noChangeArrowheads="1"/>
          </p:cNvSpPr>
          <p:nvPr>
            <p:ph type="body" idx="1"/>
          </p:nvPr>
        </p:nvSpPr>
        <p:spPr>
          <a:xfrm>
            <a:off x="142875" y="990600"/>
            <a:ext cx="9001125" cy="3590925"/>
          </a:xfrm>
        </p:spPr>
        <p:txBody>
          <a:bodyPr/>
          <a:lstStyle/>
          <a:p>
            <a:pPr marL="192405" indent="-192405">
              <a:defRPr/>
            </a:pPr>
            <a:r>
              <a:rPr lang="zh-CN" altLang="en-US" sz="2800" dirty="0">
                <a:ea typeface="宋体" panose="02010600030101010101" pitchFamily="2" charset="-122"/>
              </a:rPr>
              <a:t>二叉树的遍历</a:t>
            </a:r>
            <a:endParaRPr lang="zh-CN" altLang="en-US" sz="2800" dirty="0">
              <a:ea typeface="宋体" panose="02010600030101010101" pitchFamily="2" charset="-122"/>
            </a:endParaRPr>
          </a:p>
          <a:p>
            <a:pPr marL="860425" lvl="1">
              <a:defRPr/>
            </a:pPr>
            <a:r>
              <a:rPr lang="zh-CN" altLang="en-US" sz="2400" dirty="0">
                <a:solidFill>
                  <a:schemeClr val="tx2"/>
                </a:solidFill>
                <a:latin typeface="宋体" panose="02010600030101010101" pitchFamily="2" charset="-122"/>
                <a:ea typeface="宋体" panose="02010600030101010101" pitchFamily="2" charset="-122"/>
              </a:rPr>
              <a:t>先序遍历</a:t>
            </a:r>
            <a:r>
              <a:rPr lang="zh-CN" altLang="en-US"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a:p>
            <a:pPr marL="1279525" lvl="2">
              <a:buFontTx/>
              <a:buNone/>
              <a:defRPr/>
            </a:pPr>
            <a:r>
              <a:rPr lang="zh-CN" altLang="en-US" sz="2000" dirty="0">
                <a:latin typeface="宋体" panose="02010600030101010101" pitchFamily="2" charset="-122"/>
                <a:ea typeface="宋体" panose="02010600030101010101" pitchFamily="2" charset="-122"/>
              </a:rPr>
              <a:t>如果二叉树为空，则为空操作</a:t>
            </a:r>
            <a:endParaRPr lang="zh-CN" altLang="en-US" sz="2000" dirty="0">
              <a:latin typeface="宋体" panose="02010600030101010101" pitchFamily="2" charset="-122"/>
              <a:ea typeface="宋体" panose="02010600030101010101" pitchFamily="2" charset="-122"/>
            </a:endParaRPr>
          </a:p>
          <a:p>
            <a:pPr marL="1279525" lvl="2">
              <a:buFontTx/>
              <a:buNone/>
              <a:defRPr/>
            </a:pPr>
            <a:r>
              <a:rPr lang="zh-CN" altLang="en-US" sz="2000" dirty="0">
                <a:latin typeface="宋体" panose="02010600030101010101" pitchFamily="2" charset="-122"/>
                <a:ea typeface="宋体" panose="02010600030101010101" pitchFamily="2" charset="-122"/>
              </a:rPr>
              <a:t>否则，先访问根结点，然后先序遍历左子树，再先序遍历右子树</a:t>
            </a:r>
            <a:endParaRPr lang="zh-CN" altLang="en-US" sz="2000" dirty="0">
              <a:latin typeface="宋体" panose="02010600030101010101" pitchFamily="2" charset="-122"/>
              <a:ea typeface="宋体" panose="02010600030101010101" pitchFamily="2" charset="-122"/>
            </a:endParaRPr>
          </a:p>
          <a:p>
            <a:pPr marL="860425" lvl="1">
              <a:defRPr/>
            </a:pPr>
            <a:r>
              <a:rPr lang="zh-CN" altLang="en-US" sz="2400" dirty="0">
                <a:latin typeface="宋体" panose="02010600030101010101" pitchFamily="2" charset="-122"/>
                <a:ea typeface="宋体" panose="02010600030101010101" pitchFamily="2" charset="-122"/>
              </a:rPr>
              <a:t>例如：</a:t>
            </a:r>
            <a:endParaRPr lang="zh-CN" altLang="en-US" sz="2400" dirty="0">
              <a:latin typeface="宋体" panose="02010600030101010101" pitchFamily="2" charset="-122"/>
              <a:ea typeface="宋体" panose="02010600030101010101" pitchFamily="2" charset="-122"/>
            </a:endParaRPr>
          </a:p>
          <a:p>
            <a:pPr marL="1279525" lvl="2">
              <a:defRPr/>
            </a:pPr>
            <a:r>
              <a:rPr lang="zh-CN" altLang="en-US" sz="2000" dirty="0">
                <a:latin typeface="宋体" panose="02010600030101010101" pitchFamily="2" charset="-122"/>
                <a:ea typeface="宋体" panose="02010600030101010101" pitchFamily="2" charset="-122"/>
              </a:rPr>
              <a:t>先序：</a:t>
            </a:r>
            <a:r>
              <a:rPr lang="en-US" altLang="zh-CN" sz="2000" dirty="0">
                <a:latin typeface="宋体" panose="02010600030101010101" pitchFamily="2" charset="-122"/>
                <a:ea typeface="宋体" panose="02010600030101010101" pitchFamily="2" charset="-122"/>
              </a:rPr>
              <a:t>A B C D E F G</a:t>
            </a:r>
            <a:endParaRPr lang="en-US" altLang="zh-CN" sz="2000" dirty="0">
              <a:latin typeface="宋体" panose="02010600030101010101" pitchFamily="2" charset="-122"/>
              <a:ea typeface="宋体" panose="02010600030101010101" pitchFamily="2" charset="-122"/>
            </a:endParaRPr>
          </a:p>
          <a:p>
            <a:pPr marL="1279525" lvl="2">
              <a:defRPr/>
            </a:pPr>
            <a:r>
              <a:rPr lang="zh-CN" altLang="en-US" sz="2000" dirty="0">
                <a:latin typeface="宋体" panose="02010600030101010101" pitchFamily="2" charset="-122"/>
                <a:ea typeface="宋体" panose="02010600030101010101" pitchFamily="2" charset="-122"/>
              </a:rPr>
              <a:t>中序：</a:t>
            </a:r>
            <a:r>
              <a:rPr lang="en-US" altLang="zh-CN" sz="2000" dirty="0">
                <a:solidFill>
                  <a:schemeClr val="accent5"/>
                </a:solidFill>
                <a:latin typeface="宋体" panose="02010600030101010101" pitchFamily="2" charset="-122"/>
                <a:ea typeface="宋体" panose="02010600030101010101" pitchFamily="2" charset="-122"/>
              </a:rPr>
              <a:t>C B D A E G F</a:t>
            </a:r>
            <a:endParaRPr lang="en-US" altLang="zh-CN" sz="2000" dirty="0">
              <a:solidFill>
                <a:schemeClr val="accent5"/>
              </a:solidFill>
              <a:latin typeface="宋体" panose="02010600030101010101" pitchFamily="2" charset="-122"/>
              <a:ea typeface="宋体" panose="02010600030101010101" pitchFamily="2" charset="-122"/>
            </a:endParaRPr>
          </a:p>
          <a:p>
            <a:pPr marL="1279525" lvl="2">
              <a:defRPr/>
            </a:pPr>
            <a:r>
              <a:rPr lang="zh-CN" altLang="en-US" sz="2000" dirty="0">
                <a:latin typeface="宋体" panose="02010600030101010101" pitchFamily="2" charset="-122"/>
                <a:ea typeface="宋体" panose="02010600030101010101" pitchFamily="2" charset="-122"/>
              </a:rPr>
              <a:t>后序：</a:t>
            </a:r>
            <a:r>
              <a:rPr lang="en-US" altLang="zh-CN" sz="2000" dirty="0">
                <a:solidFill>
                  <a:schemeClr val="accent5"/>
                </a:solidFill>
                <a:latin typeface="宋体" panose="02010600030101010101" pitchFamily="2" charset="-122"/>
                <a:ea typeface="宋体" panose="02010600030101010101" pitchFamily="2" charset="-122"/>
              </a:rPr>
              <a:t>C D B G F E A</a:t>
            </a:r>
            <a:endParaRPr lang="en-US" altLang="zh-CN" sz="2000" dirty="0">
              <a:solidFill>
                <a:schemeClr val="accent5"/>
              </a:solidFill>
              <a:latin typeface="宋体" panose="02010600030101010101" pitchFamily="2" charset="-122"/>
              <a:ea typeface="宋体" panose="02010600030101010101" pitchFamily="2" charset="-122"/>
            </a:endParaRPr>
          </a:p>
        </p:txBody>
      </p:sp>
      <p:grpSp>
        <p:nvGrpSpPr>
          <p:cNvPr id="38917" name="Group 22"/>
          <p:cNvGrpSpPr/>
          <p:nvPr/>
        </p:nvGrpSpPr>
        <p:grpSpPr bwMode="auto">
          <a:xfrm>
            <a:off x="4643438" y="3141663"/>
            <a:ext cx="3060700" cy="2916237"/>
            <a:chOff x="3220" y="2047"/>
            <a:chExt cx="1278" cy="1290"/>
          </a:xfrm>
        </p:grpSpPr>
        <p:sp>
          <p:nvSpPr>
            <p:cNvPr id="38919" name="Oval 5"/>
            <p:cNvSpPr>
              <a:spLocks noChangeArrowheads="1"/>
            </p:cNvSpPr>
            <p:nvPr/>
          </p:nvSpPr>
          <p:spPr bwMode="auto">
            <a:xfrm>
              <a:off x="3742" y="2047"/>
              <a:ext cx="204" cy="204"/>
            </a:xfrm>
            <a:prstGeom prst="ellipse">
              <a:avLst/>
            </a:pr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chemeClr val="tx2"/>
                  </a:solidFill>
                </a:rPr>
                <a:t>A</a:t>
              </a:r>
              <a:endParaRPr lang="en-US" altLang="zh-CN" sz="2000" b="1">
                <a:solidFill>
                  <a:schemeClr val="tx2"/>
                </a:solidFill>
              </a:endParaRPr>
            </a:p>
          </p:txBody>
        </p:sp>
        <p:sp>
          <p:nvSpPr>
            <p:cNvPr id="38920" name="Oval 6"/>
            <p:cNvSpPr>
              <a:spLocks noChangeArrowheads="1"/>
            </p:cNvSpPr>
            <p:nvPr/>
          </p:nvSpPr>
          <p:spPr bwMode="auto">
            <a:xfrm>
              <a:off x="3472" y="2395"/>
              <a:ext cx="204" cy="204"/>
            </a:xfrm>
            <a:prstGeom prst="ellipse">
              <a:avLst/>
            </a:pr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chemeClr val="tx2"/>
                  </a:solidFill>
                </a:rPr>
                <a:t>B</a:t>
              </a:r>
              <a:endParaRPr lang="en-US" altLang="zh-CN" sz="2000" b="1">
                <a:solidFill>
                  <a:schemeClr val="tx2"/>
                </a:solidFill>
              </a:endParaRPr>
            </a:p>
          </p:txBody>
        </p:sp>
        <p:sp>
          <p:nvSpPr>
            <p:cNvPr id="38921" name="Oval 7"/>
            <p:cNvSpPr>
              <a:spLocks noChangeArrowheads="1"/>
            </p:cNvSpPr>
            <p:nvPr/>
          </p:nvSpPr>
          <p:spPr bwMode="auto">
            <a:xfrm>
              <a:off x="4018" y="2395"/>
              <a:ext cx="204" cy="204"/>
            </a:xfrm>
            <a:prstGeom prst="ellipse">
              <a:avLst/>
            </a:pr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chemeClr val="tx2"/>
                  </a:solidFill>
                </a:rPr>
                <a:t>E</a:t>
              </a:r>
              <a:endParaRPr lang="en-US" altLang="zh-CN" sz="2000" b="1">
                <a:solidFill>
                  <a:schemeClr val="tx2"/>
                </a:solidFill>
              </a:endParaRPr>
            </a:p>
          </p:txBody>
        </p:sp>
        <p:sp>
          <p:nvSpPr>
            <p:cNvPr id="38922" name="Oval 8"/>
            <p:cNvSpPr>
              <a:spLocks noChangeArrowheads="1"/>
            </p:cNvSpPr>
            <p:nvPr/>
          </p:nvSpPr>
          <p:spPr bwMode="auto">
            <a:xfrm>
              <a:off x="3220" y="2767"/>
              <a:ext cx="204" cy="204"/>
            </a:xfrm>
            <a:prstGeom prst="ellipse">
              <a:avLst/>
            </a:pr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chemeClr val="tx2"/>
                  </a:solidFill>
                </a:rPr>
                <a:t>C</a:t>
              </a:r>
              <a:endParaRPr lang="en-US" altLang="zh-CN" sz="2000" b="1">
                <a:solidFill>
                  <a:schemeClr val="tx2"/>
                </a:solidFill>
              </a:endParaRPr>
            </a:p>
          </p:txBody>
        </p:sp>
        <p:sp>
          <p:nvSpPr>
            <p:cNvPr id="38923" name="Oval 9"/>
            <p:cNvSpPr>
              <a:spLocks noChangeArrowheads="1"/>
            </p:cNvSpPr>
            <p:nvPr/>
          </p:nvSpPr>
          <p:spPr bwMode="auto">
            <a:xfrm>
              <a:off x="3742" y="2767"/>
              <a:ext cx="204" cy="204"/>
            </a:xfrm>
            <a:prstGeom prst="ellipse">
              <a:avLst/>
            </a:pr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chemeClr val="tx2"/>
                  </a:solidFill>
                </a:rPr>
                <a:t>D</a:t>
              </a:r>
              <a:endParaRPr lang="en-US" altLang="zh-CN" sz="2000" b="1">
                <a:solidFill>
                  <a:schemeClr val="tx2"/>
                </a:solidFill>
              </a:endParaRPr>
            </a:p>
          </p:txBody>
        </p:sp>
        <p:sp>
          <p:nvSpPr>
            <p:cNvPr id="38924" name="Oval 10"/>
            <p:cNvSpPr>
              <a:spLocks noChangeArrowheads="1"/>
            </p:cNvSpPr>
            <p:nvPr/>
          </p:nvSpPr>
          <p:spPr bwMode="auto">
            <a:xfrm>
              <a:off x="4294" y="2767"/>
              <a:ext cx="204" cy="204"/>
            </a:xfrm>
            <a:prstGeom prst="ellipse">
              <a:avLst/>
            </a:pr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chemeClr val="tx2"/>
                  </a:solidFill>
                </a:rPr>
                <a:t>F</a:t>
              </a:r>
              <a:endParaRPr lang="en-US" altLang="zh-CN" sz="2000" b="1">
                <a:solidFill>
                  <a:schemeClr val="tx2"/>
                </a:solidFill>
              </a:endParaRPr>
            </a:p>
          </p:txBody>
        </p:sp>
        <p:sp>
          <p:nvSpPr>
            <p:cNvPr id="38925" name="Oval 11"/>
            <p:cNvSpPr>
              <a:spLocks noChangeArrowheads="1"/>
            </p:cNvSpPr>
            <p:nvPr/>
          </p:nvSpPr>
          <p:spPr bwMode="auto">
            <a:xfrm>
              <a:off x="4042" y="3133"/>
              <a:ext cx="204" cy="204"/>
            </a:xfrm>
            <a:prstGeom prst="ellipse">
              <a:avLst/>
            </a:pr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chemeClr val="tx2"/>
                  </a:solidFill>
                </a:rPr>
                <a:t>G</a:t>
              </a:r>
              <a:endParaRPr lang="en-US" altLang="zh-CN" sz="2000" b="1">
                <a:solidFill>
                  <a:schemeClr val="tx2"/>
                </a:solidFill>
              </a:endParaRPr>
            </a:p>
          </p:txBody>
        </p:sp>
        <p:sp>
          <p:nvSpPr>
            <p:cNvPr id="38926" name="Line 12"/>
            <p:cNvSpPr>
              <a:spLocks noChangeShapeType="1"/>
            </p:cNvSpPr>
            <p:nvPr/>
          </p:nvSpPr>
          <p:spPr bwMode="auto">
            <a:xfrm flipH="1">
              <a:off x="3640" y="2233"/>
              <a:ext cx="136" cy="181"/>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27" name="Line 13"/>
            <p:cNvSpPr>
              <a:spLocks noChangeShapeType="1"/>
            </p:cNvSpPr>
            <p:nvPr/>
          </p:nvSpPr>
          <p:spPr bwMode="auto">
            <a:xfrm flipH="1">
              <a:off x="3382" y="2593"/>
              <a:ext cx="136" cy="181"/>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28" name="Line 14"/>
            <p:cNvSpPr>
              <a:spLocks noChangeShapeType="1"/>
            </p:cNvSpPr>
            <p:nvPr/>
          </p:nvSpPr>
          <p:spPr bwMode="auto">
            <a:xfrm flipH="1" flipV="1">
              <a:off x="3645" y="2581"/>
              <a:ext cx="136" cy="199"/>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29" name="Line 15"/>
            <p:cNvSpPr>
              <a:spLocks noChangeShapeType="1"/>
            </p:cNvSpPr>
            <p:nvPr/>
          </p:nvSpPr>
          <p:spPr bwMode="auto">
            <a:xfrm flipH="1" flipV="1">
              <a:off x="3922" y="2215"/>
              <a:ext cx="136" cy="199"/>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30" name="Line 16"/>
            <p:cNvSpPr>
              <a:spLocks noChangeShapeType="1"/>
            </p:cNvSpPr>
            <p:nvPr/>
          </p:nvSpPr>
          <p:spPr bwMode="auto">
            <a:xfrm flipH="1" flipV="1">
              <a:off x="4194" y="2574"/>
              <a:ext cx="136" cy="199"/>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31" name="Line 17"/>
            <p:cNvSpPr>
              <a:spLocks noChangeShapeType="1"/>
            </p:cNvSpPr>
            <p:nvPr/>
          </p:nvSpPr>
          <p:spPr bwMode="auto">
            <a:xfrm flipH="1">
              <a:off x="4186" y="2959"/>
              <a:ext cx="136" cy="181"/>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1750" name="AutoShape 21">
            <a:hlinkHover r:id="" action="ppaction://noaction" highlightClick="1"/>
          </p:cNvPr>
          <p:cNvSpPr>
            <a:spLocks noChangeArrowheads="1"/>
          </p:cNvSpPr>
          <p:nvPr/>
        </p:nvSpPr>
        <p:spPr bwMode="auto">
          <a:xfrm>
            <a:off x="792163" y="5049838"/>
            <a:ext cx="3241675" cy="765175"/>
          </a:xfrm>
          <a:prstGeom prst="cloudCallout">
            <a:avLst>
              <a:gd name="adj1" fmla="val -11801"/>
              <a:gd name="adj2" fmla="val -144782"/>
            </a:avLst>
          </a:prstGeom>
          <a:solidFill>
            <a:schemeClr val="accent6">
              <a:lumMod val="40000"/>
              <a:lumOff val="60000"/>
            </a:schemeClr>
          </a:solidFill>
          <a:ln w="9525">
            <a:solidFill>
              <a:schemeClr val="tx1"/>
            </a:solidFill>
            <a:round/>
          </a:ln>
        </p:spPr>
        <p:txBody>
          <a:bodyPr lIns="0" tIns="0" rIns="0" bIns="0">
            <a:spAutoFit/>
          </a:bodyPr>
          <a:lstStyle/>
          <a:p>
            <a:pPr>
              <a:defRPr/>
            </a:pPr>
            <a:r>
              <a:rPr lang="zh-CN" altLang="en-US" sz="1600" dirty="0"/>
              <a:t>遍历算法的结果，是要给出访问结点的顺序。</a:t>
            </a:r>
            <a:endParaRPr lang="en-US" altLang="zh-CN" sz="1600" dirty="0"/>
          </a:p>
        </p:txBody>
      </p:sp>
    </p:spTree>
  </p:cSld>
  <p:clrMapOvr>
    <a:masterClrMapping/>
  </p:clrMapOvr>
  <p:transition advClick="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524E3E6B-B4F6-400C-8085-405121F6A386}"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40963"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3.5 </a:t>
            </a:r>
            <a:r>
              <a:rPr lang="zh-CN" altLang="en-US" sz="2400">
                <a:latin typeface="宋体" panose="02010600030101010101" pitchFamily="2" charset="-122"/>
                <a:ea typeface="宋体" panose="02010600030101010101" pitchFamily="2" charset="-122"/>
              </a:rPr>
              <a:t>树与二叉树</a:t>
            </a:r>
            <a:endParaRPr lang="zh-CN" altLang="en-US" sz="2400">
              <a:latin typeface="宋体" panose="02010600030101010101" pitchFamily="2" charset="-122"/>
              <a:ea typeface="宋体" panose="02010600030101010101" pitchFamily="2" charset="-122"/>
            </a:endParaRPr>
          </a:p>
        </p:txBody>
      </p:sp>
      <p:sp>
        <p:nvSpPr>
          <p:cNvPr id="30724" name="Rectangle 3"/>
          <p:cNvSpPr>
            <a:spLocks noGrp="1" noChangeArrowheads="1"/>
          </p:cNvSpPr>
          <p:nvPr>
            <p:ph type="body" idx="1"/>
          </p:nvPr>
        </p:nvSpPr>
        <p:spPr>
          <a:xfrm>
            <a:off x="228600" y="1116013"/>
            <a:ext cx="8447088" cy="5516562"/>
          </a:xfrm>
        </p:spPr>
        <p:txBody>
          <a:bodyPr/>
          <a:lstStyle/>
          <a:p>
            <a:pPr marL="192405" indent="-192405">
              <a:lnSpc>
                <a:spcPct val="90000"/>
              </a:lnSpc>
              <a:defRPr/>
            </a:pPr>
            <a:r>
              <a:rPr lang="zh-CN" altLang="en-US" sz="2800" dirty="0">
                <a:ea typeface="宋体" panose="02010600030101010101" pitchFamily="2" charset="-122"/>
              </a:rPr>
              <a:t>遍历算法，用递归算法实现</a:t>
            </a:r>
            <a:endParaRPr lang="zh-CN" altLang="en-US" sz="2800" dirty="0">
              <a:ea typeface="宋体" panose="02010600030101010101" pitchFamily="2" charset="-122"/>
            </a:endParaRPr>
          </a:p>
          <a:p>
            <a:pPr marL="192405" indent="-192405">
              <a:lnSpc>
                <a:spcPct val="90000"/>
              </a:lnSpc>
              <a:buFontTx/>
              <a:buNone/>
              <a:defRPr/>
            </a:pPr>
            <a:r>
              <a:rPr lang="en-US" altLang="zh-CN" sz="2400" dirty="0">
                <a:latin typeface="宋体" panose="02010600030101010101" pitchFamily="2" charset="-122"/>
                <a:ea typeface="宋体" panose="02010600030101010101" pitchFamily="2" charset="-122"/>
              </a:rPr>
              <a:t>  // </a:t>
            </a:r>
            <a:r>
              <a:rPr lang="zh-CN" altLang="en-US" sz="2400" dirty="0">
                <a:latin typeface="宋体" panose="02010600030101010101" pitchFamily="2" charset="-122"/>
                <a:ea typeface="宋体" panose="02010600030101010101" pitchFamily="2" charset="-122"/>
              </a:rPr>
              <a:t>先序遍历，</a:t>
            </a:r>
            <a:r>
              <a:rPr lang="en-US" altLang="zh-CN" sz="2400" dirty="0">
                <a:solidFill>
                  <a:schemeClr val="accent1">
                    <a:lumMod val="60000"/>
                    <a:lumOff val="40000"/>
                  </a:schemeClr>
                </a:solidFill>
                <a:latin typeface="宋体" panose="02010600030101010101" pitchFamily="2" charset="-122"/>
                <a:ea typeface="宋体" panose="02010600030101010101" pitchFamily="2" charset="-122"/>
              </a:rPr>
              <a:t>p </a:t>
            </a:r>
            <a:r>
              <a:rPr lang="zh-CN" altLang="en-US" sz="2400" dirty="0">
                <a:solidFill>
                  <a:schemeClr val="accent1">
                    <a:lumMod val="60000"/>
                    <a:lumOff val="40000"/>
                  </a:schemeClr>
                </a:solidFill>
                <a:latin typeface="宋体" panose="02010600030101010101" pitchFamily="2" charset="-122"/>
                <a:ea typeface="宋体" panose="02010600030101010101" pitchFamily="2" charset="-122"/>
              </a:rPr>
              <a:t>是指向当前遍历二叉树的根结点的指针</a:t>
            </a:r>
            <a:endParaRPr lang="zh-CN" altLang="en-US" sz="2400" dirty="0">
              <a:solidFill>
                <a:schemeClr val="accent1">
                  <a:lumMod val="60000"/>
                  <a:lumOff val="40000"/>
                </a:schemeClr>
              </a:solidFill>
              <a:latin typeface="宋体" panose="02010600030101010101" pitchFamily="2" charset="-122"/>
              <a:ea typeface="宋体" panose="02010600030101010101" pitchFamily="2" charset="-122"/>
            </a:endParaRPr>
          </a:p>
          <a:p>
            <a:pPr marL="192405" indent="-192405">
              <a:lnSpc>
                <a:spcPct val="90000"/>
              </a:lnSpc>
              <a:spcBef>
                <a:spcPct val="0"/>
              </a:spcBef>
              <a:buFontTx/>
              <a:buNone/>
              <a:defRPr/>
            </a:pPr>
            <a:r>
              <a:rPr lang="en-US" altLang="zh-CN" sz="2400" dirty="0">
                <a:latin typeface="宋体" panose="02010600030101010101" pitchFamily="2" charset="-122"/>
                <a:ea typeface="宋体" panose="02010600030101010101" pitchFamily="2" charset="-122"/>
              </a:rPr>
              <a:t>  </a:t>
            </a:r>
            <a:r>
              <a:rPr lang="en-US" altLang="zh-CN" sz="2400" dirty="0" err="1">
                <a:latin typeface="宋体" panose="02010600030101010101" pitchFamily="2" charset="-122"/>
                <a:ea typeface="宋体" panose="02010600030101010101" pitchFamily="2" charset="-122"/>
              </a:rPr>
              <a:t>preOrder</a:t>
            </a:r>
            <a:r>
              <a:rPr lang="en-US" altLang="zh-CN" sz="2400" dirty="0">
                <a:latin typeface="宋体" panose="02010600030101010101" pitchFamily="2" charset="-122"/>
                <a:ea typeface="宋体" panose="02010600030101010101" pitchFamily="2" charset="-122"/>
              </a:rPr>
              <a:t>( p )</a:t>
            </a:r>
            <a:endParaRPr lang="en-US" altLang="zh-CN" sz="2400" dirty="0">
              <a:latin typeface="宋体" panose="02010600030101010101" pitchFamily="2" charset="-122"/>
              <a:ea typeface="宋体" panose="02010600030101010101" pitchFamily="2" charset="-122"/>
            </a:endParaRPr>
          </a:p>
          <a:p>
            <a:pPr marL="192405" indent="-192405">
              <a:lnSpc>
                <a:spcPct val="90000"/>
              </a:lnSpc>
              <a:spcBef>
                <a:spcPct val="0"/>
              </a:spcBef>
              <a:buFontTx/>
              <a:buNone/>
              <a:defRPr/>
            </a:pPr>
            <a:r>
              <a:rPr lang="en-US" altLang="zh-CN" sz="2400" dirty="0">
                <a:latin typeface="宋体" panose="02010600030101010101" pitchFamily="2" charset="-122"/>
                <a:ea typeface="宋体" panose="02010600030101010101" pitchFamily="2" charset="-122"/>
              </a:rPr>
              <a:t>    if ( p ≠ Nil ) then {</a:t>
            </a:r>
            <a:endParaRPr lang="en-US" altLang="zh-CN" sz="2400" dirty="0">
              <a:latin typeface="宋体" panose="02010600030101010101" pitchFamily="2" charset="-122"/>
              <a:ea typeface="宋体" panose="02010600030101010101" pitchFamily="2" charset="-122"/>
            </a:endParaRPr>
          </a:p>
          <a:p>
            <a:pPr marL="192405" indent="-192405">
              <a:lnSpc>
                <a:spcPct val="90000"/>
              </a:lnSpc>
              <a:spcBef>
                <a:spcPct val="0"/>
              </a:spcBef>
              <a:buFontTx/>
              <a:buNone/>
              <a:defRPr/>
            </a:pPr>
            <a:r>
              <a:rPr lang="en-US" altLang="zh-CN" sz="2400" dirty="0">
                <a:latin typeface="宋体" panose="02010600030101010101" pitchFamily="2" charset="-122"/>
                <a:ea typeface="宋体" panose="02010600030101010101" pitchFamily="2" charset="-122"/>
              </a:rPr>
              <a:t>       process( data( p ) ) // </a:t>
            </a:r>
            <a:r>
              <a:rPr lang="zh-CN" altLang="en-US" sz="2400" dirty="0">
                <a:latin typeface="宋体" panose="02010600030101010101" pitchFamily="2" charset="-122"/>
                <a:ea typeface="宋体" panose="02010600030101010101" pitchFamily="2" charset="-122"/>
              </a:rPr>
              <a:t>访问根结点</a:t>
            </a:r>
            <a:endParaRPr lang="zh-CN" altLang="en-US" sz="2400" dirty="0">
              <a:latin typeface="宋体" panose="02010600030101010101" pitchFamily="2" charset="-122"/>
              <a:ea typeface="宋体" panose="02010600030101010101" pitchFamily="2" charset="-122"/>
            </a:endParaRPr>
          </a:p>
          <a:p>
            <a:pPr marL="192405" indent="-192405">
              <a:lnSpc>
                <a:spcPct val="90000"/>
              </a:lnSpc>
              <a:spcBef>
                <a:spcPct val="0"/>
              </a:spcBef>
              <a:buFontTx/>
              <a:buNone/>
              <a:defRPr/>
            </a:pPr>
            <a:r>
              <a:rPr lang="en-US" altLang="zh-CN" sz="2400" dirty="0">
                <a:latin typeface="宋体" panose="02010600030101010101" pitchFamily="2" charset="-122"/>
                <a:ea typeface="宋体" panose="02010600030101010101" pitchFamily="2" charset="-122"/>
              </a:rPr>
              <a:t>       </a:t>
            </a:r>
            <a:r>
              <a:rPr lang="en-US" altLang="zh-CN" sz="2400" dirty="0" err="1">
                <a:latin typeface="宋体" panose="02010600030101010101" pitchFamily="2" charset="-122"/>
                <a:ea typeface="宋体" panose="02010600030101010101" pitchFamily="2" charset="-122"/>
              </a:rPr>
              <a:t>preOrder</a:t>
            </a:r>
            <a:r>
              <a:rPr lang="en-US" altLang="zh-CN" sz="2400" dirty="0">
                <a:latin typeface="宋体" panose="02010600030101010101" pitchFamily="2" charset="-122"/>
                <a:ea typeface="宋体" panose="02010600030101010101" pitchFamily="2" charset="-122"/>
              </a:rPr>
              <a:t>( </a:t>
            </a:r>
            <a:r>
              <a:rPr lang="en-US" altLang="zh-CN" sz="2400" dirty="0" err="1">
                <a:latin typeface="宋体" panose="02010600030101010101" pitchFamily="2" charset="-122"/>
                <a:ea typeface="宋体" panose="02010600030101010101" pitchFamily="2" charset="-122"/>
              </a:rPr>
              <a:t>Lchild</a:t>
            </a:r>
            <a:r>
              <a:rPr lang="en-US" altLang="zh-CN" sz="2400" dirty="0">
                <a:latin typeface="宋体" panose="02010600030101010101" pitchFamily="2" charset="-122"/>
                <a:ea typeface="宋体" panose="02010600030101010101" pitchFamily="2" charset="-122"/>
              </a:rPr>
              <a:t>( p ) ) // </a:t>
            </a:r>
            <a:r>
              <a:rPr lang="zh-CN" altLang="en-US" sz="2400" dirty="0">
                <a:latin typeface="宋体" panose="02010600030101010101" pitchFamily="2" charset="-122"/>
                <a:ea typeface="宋体" panose="02010600030101010101" pitchFamily="2" charset="-122"/>
              </a:rPr>
              <a:t>遍历左子树</a:t>
            </a:r>
            <a:endParaRPr lang="zh-CN" altLang="en-US" sz="2400" dirty="0">
              <a:latin typeface="宋体" panose="02010600030101010101" pitchFamily="2" charset="-122"/>
              <a:ea typeface="宋体" panose="02010600030101010101" pitchFamily="2" charset="-122"/>
            </a:endParaRPr>
          </a:p>
          <a:p>
            <a:pPr marL="192405" indent="-192405">
              <a:lnSpc>
                <a:spcPct val="90000"/>
              </a:lnSpc>
              <a:spcBef>
                <a:spcPct val="0"/>
              </a:spcBef>
              <a:buFontTx/>
              <a:buNone/>
              <a:defRPr/>
            </a:pPr>
            <a:r>
              <a:rPr lang="en-US" altLang="zh-CN" sz="2400" dirty="0">
                <a:latin typeface="宋体" panose="02010600030101010101" pitchFamily="2" charset="-122"/>
                <a:ea typeface="宋体" panose="02010600030101010101" pitchFamily="2" charset="-122"/>
              </a:rPr>
              <a:t>       </a:t>
            </a:r>
            <a:r>
              <a:rPr lang="en-US" altLang="zh-CN" sz="2400" dirty="0" err="1">
                <a:latin typeface="宋体" panose="02010600030101010101" pitchFamily="2" charset="-122"/>
                <a:ea typeface="宋体" panose="02010600030101010101" pitchFamily="2" charset="-122"/>
              </a:rPr>
              <a:t>preOrder</a:t>
            </a:r>
            <a:r>
              <a:rPr lang="en-US" altLang="zh-CN" sz="2400" dirty="0">
                <a:latin typeface="宋体" panose="02010600030101010101" pitchFamily="2" charset="-122"/>
                <a:ea typeface="宋体" panose="02010600030101010101" pitchFamily="2" charset="-122"/>
              </a:rPr>
              <a:t>( </a:t>
            </a:r>
            <a:r>
              <a:rPr lang="en-US" altLang="zh-CN" sz="2400" dirty="0" err="1">
                <a:latin typeface="宋体" panose="02010600030101010101" pitchFamily="2" charset="-122"/>
                <a:ea typeface="宋体" panose="02010600030101010101" pitchFamily="2" charset="-122"/>
              </a:rPr>
              <a:t>Rchild</a:t>
            </a:r>
            <a:r>
              <a:rPr lang="en-US" altLang="zh-CN" sz="2400" dirty="0">
                <a:latin typeface="宋体" panose="02010600030101010101" pitchFamily="2" charset="-122"/>
                <a:ea typeface="宋体" panose="02010600030101010101" pitchFamily="2" charset="-122"/>
              </a:rPr>
              <a:t>( p ) ) // </a:t>
            </a:r>
            <a:r>
              <a:rPr lang="zh-CN" altLang="en-US" sz="2400" dirty="0">
                <a:latin typeface="宋体" panose="02010600030101010101" pitchFamily="2" charset="-122"/>
                <a:ea typeface="宋体" panose="02010600030101010101" pitchFamily="2" charset="-122"/>
              </a:rPr>
              <a:t>遍历右子树</a:t>
            </a:r>
            <a:endParaRPr lang="en-US" altLang="zh-CN" sz="2400" dirty="0">
              <a:latin typeface="宋体" panose="02010600030101010101" pitchFamily="2" charset="-122"/>
              <a:ea typeface="宋体" panose="02010600030101010101" pitchFamily="2" charset="-122"/>
            </a:endParaRPr>
          </a:p>
          <a:p>
            <a:pPr marL="192405" indent="-192405">
              <a:lnSpc>
                <a:spcPct val="90000"/>
              </a:lnSpc>
              <a:spcBef>
                <a:spcPct val="0"/>
              </a:spcBef>
              <a:buFontTx/>
              <a:buNone/>
              <a:defRPr/>
            </a:pPr>
            <a:r>
              <a:rPr lang="en-US" altLang="zh-CN" sz="2400" dirty="0">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a:p>
            <a:pPr marL="457200" lvl="1" indent="0">
              <a:lnSpc>
                <a:spcPct val="80000"/>
              </a:lnSpc>
              <a:buFontTx/>
              <a:buNone/>
              <a:defRPr/>
            </a:pPr>
            <a:endParaRPr lang="en-US" altLang="zh-CN" sz="2400" dirty="0">
              <a:latin typeface="宋体" panose="02010600030101010101" pitchFamily="2" charset="-122"/>
              <a:ea typeface="宋体" panose="02010600030101010101" pitchFamily="2" charset="-122"/>
            </a:endParaRPr>
          </a:p>
          <a:p>
            <a:pPr marL="457200" lvl="1" indent="0">
              <a:lnSpc>
                <a:spcPct val="80000"/>
              </a:lnSpc>
              <a:buFontTx/>
              <a:buNone/>
              <a:defRPr/>
            </a:pPr>
            <a:r>
              <a:rPr lang="en-US" altLang="zh-CN" sz="2400" dirty="0">
                <a:ea typeface="宋体" panose="02010600030101010101" pitchFamily="2" charset="-122"/>
              </a:rPr>
              <a:t>// </a:t>
            </a:r>
            <a:r>
              <a:rPr lang="zh-CN" altLang="en-US" sz="2400" dirty="0">
                <a:ea typeface="宋体" panose="02010600030101010101" pitchFamily="2" charset="-122"/>
              </a:rPr>
              <a:t>中序遍历</a:t>
            </a:r>
            <a:endParaRPr lang="zh-CN" altLang="en-US" sz="2400" dirty="0">
              <a:ea typeface="宋体" panose="02010600030101010101" pitchFamily="2" charset="-122"/>
            </a:endParaRPr>
          </a:p>
          <a:p>
            <a:pPr lvl="1">
              <a:lnSpc>
                <a:spcPct val="80000"/>
              </a:lnSpc>
              <a:spcBef>
                <a:spcPct val="0"/>
              </a:spcBef>
              <a:buFontTx/>
              <a:buNone/>
              <a:defRPr/>
            </a:pPr>
            <a:r>
              <a:rPr lang="en-US" altLang="zh-CN" sz="2400" dirty="0" err="1">
                <a:latin typeface="宋体" panose="02010600030101010101" pitchFamily="2" charset="-122"/>
                <a:ea typeface="宋体" panose="02010600030101010101" pitchFamily="2" charset="-122"/>
              </a:rPr>
              <a:t>inOrder</a:t>
            </a:r>
            <a:r>
              <a:rPr lang="en-US" altLang="zh-CN" sz="2400" dirty="0">
                <a:latin typeface="宋体" panose="02010600030101010101" pitchFamily="2" charset="-122"/>
                <a:ea typeface="宋体" panose="02010600030101010101" pitchFamily="2" charset="-122"/>
              </a:rPr>
              <a:t>( p )</a:t>
            </a:r>
            <a:endParaRPr lang="en-US" altLang="zh-CN" sz="2400" dirty="0">
              <a:latin typeface="宋体" panose="02010600030101010101" pitchFamily="2" charset="-122"/>
              <a:ea typeface="宋体" panose="02010600030101010101" pitchFamily="2" charset="-122"/>
            </a:endParaRPr>
          </a:p>
          <a:p>
            <a:pPr lvl="1">
              <a:lnSpc>
                <a:spcPct val="80000"/>
              </a:lnSpc>
              <a:spcBef>
                <a:spcPct val="0"/>
              </a:spcBef>
              <a:buFontTx/>
              <a:buNone/>
              <a:defRPr/>
            </a:pPr>
            <a:r>
              <a:rPr lang="en-US" altLang="zh-CN" sz="2400" dirty="0">
                <a:latin typeface="宋体" panose="02010600030101010101" pitchFamily="2" charset="-122"/>
                <a:ea typeface="宋体" panose="02010600030101010101" pitchFamily="2" charset="-122"/>
              </a:rPr>
              <a:t>  if ( p ≠ Nil ) then {</a:t>
            </a:r>
            <a:endParaRPr lang="en-US" altLang="zh-CN" sz="2400" dirty="0">
              <a:latin typeface="宋体" panose="02010600030101010101" pitchFamily="2" charset="-122"/>
              <a:ea typeface="宋体" panose="02010600030101010101" pitchFamily="2" charset="-122"/>
            </a:endParaRPr>
          </a:p>
          <a:p>
            <a:pPr lvl="1">
              <a:lnSpc>
                <a:spcPct val="80000"/>
              </a:lnSpc>
              <a:spcBef>
                <a:spcPct val="0"/>
              </a:spcBef>
              <a:buFontTx/>
              <a:buNone/>
              <a:defRPr/>
            </a:pPr>
            <a:r>
              <a:rPr lang="en-US" altLang="zh-CN" sz="2400" dirty="0">
                <a:latin typeface="宋体" panose="02010600030101010101" pitchFamily="2" charset="-122"/>
                <a:ea typeface="宋体" panose="02010600030101010101" pitchFamily="2" charset="-122"/>
              </a:rPr>
              <a:t>     </a:t>
            </a:r>
            <a:r>
              <a:rPr lang="en-US" altLang="zh-CN" sz="2400" dirty="0" err="1">
                <a:latin typeface="宋体" panose="02010600030101010101" pitchFamily="2" charset="-122"/>
                <a:ea typeface="宋体" panose="02010600030101010101" pitchFamily="2" charset="-122"/>
              </a:rPr>
              <a:t>inOrder</a:t>
            </a:r>
            <a:r>
              <a:rPr lang="en-US" altLang="zh-CN" sz="2400" dirty="0">
                <a:latin typeface="宋体" panose="02010600030101010101" pitchFamily="2" charset="-122"/>
                <a:ea typeface="宋体" panose="02010600030101010101" pitchFamily="2" charset="-122"/>
              </a:rPr>
              <a:t>( </a:t>
            </a:r>
            <a:r>
              <a:rPr lang="en-US" altLang="zh-CN" sz="2400" dirty="0" err="1">
                <a:latin typeface="宋体" panose="02010600030101010101" pitchFamily="2" charset="-122"/>
                <a:ea typeface="宋体" panose="02010600030101010101" pitchFamily="2" charset="-122"/>
              </a:rPr>
              <a:t>Lchild</a:t>
            </a:r>
            <a:r>
              <a:rPr lang="en-US" altLang="zh-CN" sz="2400" dirty="0">
                <a:latin typeface="宋体" panose="02010600030101010101" pitchFamily="2" charset="-122"/>
                <a:ea typeface="宋体" panose="02010600030101010101" pitchFamily="2" charset="-122"/>
              </a:rPr>
              <a:t>( p ) ) // </a:t>
            </a:r>
            <a:r>
              <a:rPr lang="zh-CN" altLang="en-US" sz="2400" dirty="0">
                <a:latin typeface="宋体" panose="02010600030101010101" pitchFamily="2" charset="-122"/>
                <a:ea typeface="宋体" panose="02010600030101010101" pitchFamily="2" charset="-122"/>
              </a:rPr>
              <a:t>遍历左子树</a:t>
            </a:r>
            <a:endParaRPr lang="en-US" altLang="zh-CN" sz="2400" dirty="0">
              <a:latin typeface="宋体" panose="02010600030101010101" pitchFamily="2" charset="-122"/>
              <a:ea typeface="宋体" panose="02010600030101010101" pitchFamily="2" charset="-122"/>
            </a:endParaRPr>
          </a:p>
          <a:p>
            <a:pPr lvl="1">
              <a:lnSpc>
                <a:spcPct val="80000"/>
              </a:lnSpc>
              <a:spcBef>
                <a:spcPct val="0"/>
              </a:spcBef>
              <a:buFontTx/>
              <a:buNone/>
              <a:defRPr/>
            </a:pPr>
            <a:r>
              <a:rPr lang="en-US" altLang="zh-CN" sz="2400" dirty="0">
                <a:latin typeface="宋体" panose="02010600030101010101" pitchFamily="2" charset="-122"/>
                <a:ea typeface="宋体" panose="02010600030101010101" pitchFamily="2" charset="-122"/>
              </a:rPr>
              <a:t>     process( data( p ) ) </a:t>
            </a: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访问根结点</a:t>
            </a:r>
            <a:endParaRPr lang="en-US" altLang="zh-CN" sz="2400" dirty="0">
              <a:latin typeface="宋体" panose="02010600030101010101" pitchFamily="2" charset="-122"/>
              <a:ea typeface="宋体" panose="02010600030101010101" pitchFamily="2" charset="-122"/>
            </a:endParaRPr>
          </a:p>
          <a:p>
            <a:pPr lvl="1">
              <a:lnSpc>
                <a:spcPct val="80000"/>
              </a:lnSpc>
              <a:spcBef>
                <a:spcPct val="0"/>
              </a:spcBef>
              <a:buFontTx/>
              <a:buNone/>
              <a:defRPr/>
            </a:pPr>
            <a:r>
              <a:rPr lang="en-US" altLang="zh-CN" sz="2400" dirty="0">
                <a:latin typeface="宋体" panose="02010600030101010101" pitchFamily="2" charset="-122"/>
                <a:ea typeface="宋体" panose="02010600030101010101" pitchFamily="2" charset="-122"/>
              </a:rPr>
              <a:t>     </a:t>
            </a:r>
            <a:r>
              <a:rPr lang="en-US" altLang="zh-CN" sz="2400" dirty="0" err="1">
                <a:latin typeface="宋体" panose="02010600030101010101" pitchFamily="2" charset="-122"/>
                <a:ea typeface="宋体" panose="02010600030101010101" pitchFamily="2" charset="-122"/>
              </a:rPr>
              <a:t>inOrder</a:t>
            </a:r>
            <a:r>
              <a:rPr lang="en-US" altLang="zh-CN" sz="2400" dirty="0">
                <a:latin typeface="宋体" panose="02010600030101010101" pitchFamily="2" charset="-122"/>
                <a:ea typeface="宋体" panose="02010600030101010101" pitchFamily="2" charset="-122"/>
              </a:rPr>
              <a:t>( </a:t>
            </a:r>
            <a:r>
              <a:rPr lang="en-US" altLang="zh-CN" sz="2400" dirty="0" err="1">
                <a:latin typeface="宋体" panose="02010600030101010101" pitchFamily="2" charset="-122"/>
                <a:ea typeface="宋体" panose="02010600030101010101" pitchFamily="2" charset="-122"/>
              </a:rPr>
              <a:t>Rchild</a:t>
            </a:r>
            <a:r>
              <a:rPr lang="en-US" altLang="zh-CN" sz="2400" dirty="0">
                <a:latin typeface="宋体" panose="02010600030101010101" pitchFamily="2" charset="-122"/>
                <a:ea typeface="宋体" panose="02010600030101010101" pitchFamily="2" charset="-122"/>
              </a:rPr>
              <a:t>( p ) ) // </a:t>
            </a:r>
            <a:r>
              <a:rPr lang="zh-CN" altLang="en-US" sz="2400" dirty="0">
                <a:latin typeface="宋体" panose="02010600030101010101" pitchFamily="2" charset="-122"/>
                <a:ea typeface="宋体" panose="02010600030101010101" pitchFamily="2" charset="-122"/>
              </a:rPr>
              <a:t>遍历右子树</a:t>
            </a:r>
            <a:endParaRPr lang="en-US" altLang="zh-CN" sz="2400" dirty="0">
              <a:latin typeface="宋体" panose="02010600030101010101" pitchFamily="2" charset="-122"/>
              <a:ea typeface="宋体" panose="02010600030101010101" pitchFamily="2" charset="-122"/>
            </a:endParaRPr>
          </a:p>
          <a:p>
            <a:pPr lvl="1">
              <a:lnSpc>
                <a:spcPct val="80000"/>
              </a:lnSpc>
              <a:spcBef>
                <a:spcPct val="0"/>
              </a:spcBef>
              <a:buFontTx/>
              <a:buNone/>
              <a:defRPr/>
            </a:pPr>
            <a:r>
              <a:rPr lang="en-US" altLang="zh-CN" sz="2400" dirty="0">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a:p>
            <a:pPr marL="192405" indent="-192405">
              <a:lnSpc>
                <a:spcPct val="90000"/>
              </a:lnSpc>
              <a:spcBef>
                <a:spcPct val="0"/>
              </a:spcBef>
              <a:buFontTx/>
              <a:buNone/>
              <a:defRPr/>
            </a:pPr>
            <a:endParaRPr lang="en-US" altLang="zh-CN" sz="2400" dirty="0">
              <a:latin typeface="宋体" panose="02010600030101010101" pitchFamily="2" charset="-122"/>
              <a:ea typeface="宋体" panose="02010600030101010101" pitchFamily="2" charset="-122"/>
            </a:endParaRPr>
          </a:p>
        </p:txBody>
      </p:sp>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08F47655-D185-4389-8D48-F2C1BE7C199B}"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41987" name="Rectangle 19"/>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ea typeface="宋体" panose="02010600030101010101" pitchFamily="2" charset="-122"/>
              </a:rPr>
              <a:t>3.5 </a:t>
            </a:r>
            <a:r>
              <a:rPr lang="zh-CN" altLang="en-US" sz="2400">
                <a:ea typeface="宋体" panose="02010600030101010101" pitchFamily="2" charset="-122"/>
              </a:rPr>
              <a:t>树与二叉树</a:t>
            </a:r>
            <a:endParaRPr lang="zh-CN" altLang="en-US" sz="2400">
              <a:ea typeface="宋体" panose="02010600030101010101" pitchFamily="2" charset="-122"/>
            </a:endParaRPr>
          </a:p>
        </p:txBody>
      </p:sp>
      <p:sp>
        <p:nvSpPr>
          <p:cNvPr id="41988" name="Rectangle 20"/>
          <p:cNvSpPr>
            <a:spLocks noGrp="1" noChangeArrowheads="1"/>
          </p:cNvSpPr>
          <p:nvPr>
            <p:ph type="body" idx="1"/>
          </p:nvPr>
        </p:nvSpPr>
        <p:spPr>
          <a:xfrm>
            <a:off x="136525" y="1096963"/>
            <a:ext cx="8877300" cy="5427662"/>
          </a:xfrm>
        </p:spPr>
        <p:txBody>
          <a:bodyPr/>
          <a:lstStyle/>
          <a:p>
            <a:pPr>
              <a:lnSpc>
                <a:spcPct val="80000"/>
              </a:lnSpc>
            </a:pPr>
            <a:r>
              <a:rPr lang="zh-CN" altLang="en-US" sz="2800">
                <a:ea typeface="宋体" panose="02010600030101010101" pitchFamily="2" charset="-122"/>
              </a:rPr>
              <a:t>遍历算法，用递归算法实现</a:t>
            </a:r>
            <a:endParaRPr lang="zh-CN" altLang="en-US" sz="2800">
              <a:ea typeface="宋体" panose="02010600030101010101" pitchFamily="2" charset="-122"/>
            </a:endParaRPr>
          </a:p>
          <a:p>
            <a:pPr marL="457200" lvl="1" indent="0">
              <a:lnSpc>
                <a:spcPct val="80000"/>
              </a:lnSpc>
              <a:buFontTx/>
              <a:buNone/>
            </a:pP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后序遍历</a:t>
            </a:r>
            <a:endParaRPr lang="zh-CN" altLang="en-US" sz="2400">
              <a:latin typeface="宋体" panose="02010600030101010101" pitchFamily="2" charset="-122"/>
              <a:ea typeface="宋体" panose="02010600030101010101" pitchFamily="2" charset="-122"/>
            </a:endParaRPr>
          </a:p>
          <a:p>
            <a:pPr lvl="2">
              <a:lnSpc>
                <a:spcPct val="80000"/>
              </a:lnSpc>
              <a:spcBef>
                <a:spcPct val="0"/>
              </a:spcBef>
              <a:buFontTx/>
              <a:buNone/>
            </a:pPr>
            <a:r>
              <a:rPr lang="en-US" altLang="zh-CN">
                <a:latin typeface="宋体" panose="02010600030101010101" pitchFamily="2" charset="-122"/>
                <a:ea typeface="宋体" panose="02010600030101010101" pitchFamily="2" charset="-122"/>
              </a:rPr>
              <a:t>postOrder( p )</a:t>
            </a:r>
            <a:endParaRPr lang="en-US" altLang="zh-CN">
              <a:latin typeface="宋体" panose="02010600030101010101" pitchFamily="2" charset="-122"/>
              <a:ea typeface="宋体" panose="02010600030101010101" pitchFamily="2" charset="-122"/>
            </a:endParaRPr>
          </a:p>
          <a:p>
            <a:pPr lvl="2">
              <a:lnSpc>
                <a:spcPct val="80000"/>
              </a:lnSpc>
              <a:spcBef>
                <a:spcPct val="0"/>
              </a:spcBef>
              <a:buFontTx/>
              <a:buNone/>
            </a:pPr>
            <a:r>
              <a:rPr lang="en-US" altLang="zh-CN">
                <a:latin typeface="宋体" panose="02010600030101010101" pitchFamily="2" charset="-122"/>
                <a:ea typeface="宋体" panose="02010600030101010101" pitchFamily="2" charset="-122"/>
              </a:rPr>
              <a:t>  if ( p ≠ Nil ) then {</a:t>
            </a:r>
            <a:endParaRPr lang="en-US" altLang="zh-CN">
              <a:latin typeface="宋体" panose="02010600030101010101" pitchFamily="2" charset="-122"/>
              <a:ea typeface="宋体" panose="02010600030101010101" pitchFamily="2" charset="-122"/>
            </a:endParaRPr>
          </a:p>
          <a:p>
            <a:pPr lvl="2">
              <a:lnSpc>
                <a:spcPct val="80000"/>
              </a:lnSpc>
              <a:spcBef>
                <a:spcPct val="0"/>
              </a:spcBef>
              <a:buFontTx/>
              <a:buNone/>
            </a:pPr>
            <a:r>
              <a:rPr lang="en-US" altLang="zh-CN">
                <a:latin typeface="宋体" panose="02010600030101010101" pitchFamily="2" charset="-122"/>
                <a:ea typeface="宋体" panose="02010600030101010101" pitchFamily="2" charset="-122"/>
              </a:rPr>
              <a:t>     postOrder( Lchild( p ) )</a:t>
            </a:r>
            <a:endParaRPr lang="en-US" altLang="zh-CN">
              <a:latin typeface="宋体" panose="02010600030101010101" pitchFamily="2" charset="-122"/>
              <a:ea typeface="宋体" panose="02010600030101010101" pitchFamily="2" charset="-122"/>
            </a:endParaRPr>
          </a:p>
          <a:p>
            <a:pPr lvl="2">
              <a:lnSpc>
                <a:spcPct val="80000"/>
              </a:lnSpc>
              <a:spcBef>
                <a:spcPct val="0"/>
              </a:spcBef>
              <a:buFontTx/>
              <a:buNone/>
            </a:pPr>
            <a:r>
              <a:rPr lang="en-US" altLang="zh-CN">
                <a:latin typeface="宋体" panose="02010600030101010101" pitchFamily="2" charset="-122"/>
                <a:ea typeface="宋体" panose="02010600030101010101" pitchFamily="2" charset="-122"/>
              </a:rPr>
              <a:t>     postOrder( Rchild( p ) )</a:t>
            </a:r>
            <a:endParaRPr lang="en-US" altLang="zh-CN">
              <a:latin typeface="宋体" panose="02010600030101010101" pitchFamily="2" charset="-122"/>
              <a:ea typeface="宋体" panose="02010600030101010101" pitchFamily="2" charset="-122"/>
            </a:endParaRPr>
          </a:p>
          <a:p>
            <a:pPr lvl="2">
              <a:lnSpc>
                <a:spcPct val="80000"/>
              </a:lnSpc>
              <a:spcBef>
                <a:spcPct val="0"/>
              </a:spcBef>
              <a:buFontTx/>
              <a:buNone/>
            </a:pPr>
            <a:r>
              <a:rPr lang="en-US" altLang="zh-CN">
                <a:latin typeface="宋体" panose="02010600030101010101" pitchFamily="2" charset="-122"/>
                <a:ea typeface="宋体" panose="02010600030101010101" pitchFamily="2" charset="-122"/>
              </a:rPr>
              <a:t>     process( data( p ) )</a:t>
            </a:r>
            <a:endParaRPr lang="en-US" altLang="zh-CN">
              <a:latin typeface="宋体" panose="02010600030101010101" pitchFamily="2" charset="-122"/>
              <a:ea typeface="宋体" panose="02010600030101010101" pitchFamily="2" charset="-122"/>
            </a:endParaRPr>
          </a:p>
          <a:p>
            <a:pPr lvl="2">
              <a:lnSpc>
                <a:spcPct val="80000"/>
              </a:lnSpc>
              <a:spcBef>
                <a:spcPct val="0"/>
              </a:spcBef>
              <a:buFontTx/>
              <a:buNone/>
            </a:pPr>
            <a:r>
              <a:rPr lang="en-US" altLang="zh-CN">
                <a:latin typeface="宋体" panose="02010600030101010101" pitchFamily="2" charset="-122"/>
                <a:ea typeface="宋体" panose="02010600030101010101" pitchFamily="2" charset="-122"/>
              </a:rPr>
              <a:t> }</a:t>
            </a:r>
            <a:endParaRPr lang="en-US" altLang="zh-CN">
              <a:latin typeface="宋体" panose="02010600030101010101" pitchFamily="2" charset="-122"/>
              <a:ea typeface="宋体" panose="02010600030101010101" pitchFamily="2" charset="-122"/>
            </a:endParaRPr>
          </a:p>
        </p:txBody>
      </p:sp>
      <p:grpSp>
        <p:nvGrpSpPr>
          <p:cNvPr id="41989" name="Group 19"/>
          <p:cNvGrpSpPr/>
          <p:nvPr/>
        </p:nvGrpSpPr>
        <p:grpSpPr bwMode="auto">
          <a:xfrm>
            <a:off x="3995738" y="3549650"/>
            <a:ext cx="3563937" cy="2951163"/>
            <a:chOff x="3220" y="2047"/>
            <a:chExt cx="1278" cy="1290"/>
          </a:xfrm>
        </p:grpSpPr>
        <p:sp>
          <p:nvSpPr>
            <p:cNvPr id="41990" name="Oval 20"/>
            <p:cNvSpPr>
              <a:spLocks noChangeArrowheads="1"/>
            </p:cNvSpPr>
            <p:nvPr/>
          </p:nvSpPr>
          <p:spPr bwMode="auto">
            <a:xfrm>
              <a:off x="3742" y="2047"/>
              <a:ext cx="204" cy="204"/>
            </a:xfrm>
            <a:prstGeom prst="ellipse">
              <a:avLst/>
            </a:pr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chemeClr val="tx2"/>
                  </a:solidFill>
                </a:rPr>
                <a:t>A</a:t>
              </a:r>
              <a:endParaRPr lang="en-US" altLang="zh-CN" sz="2000" b="1">
                <a:solidFill>
                  <a:schemeClr val="tx2"/>
                </a:solidFill>
              </a:endParaRPr>
            </a:p>
          </p:txBody>
        </p:sp>
        <p:sp>
          <p:nvSpPr>
            <p:cNvPr id="41991" name="Oval 21"/>
            <p:cNvSpPr>
              <a:spLocks noChangeArrowheads="1"/>
            </p:cNvSpPr>
            <p:nvPr/>
          </p:nvSpPr>
          <p:spPr bwMode="auto">
            <a:xfrm>
              <a:off x="3472" y="2395"/>
              <a:ext cx="204" cy="204"/>
            </a:xfrm>
            <a:prstGeom prst="ellipse">
              <a:avLst/>
            </a:pr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chemeClr val="tx2"/>
                  </a:solidFill>
                </a:rPr>
                <a:t>B</a:t>
              </a:r>
              <a:endParaRPr lang="en-US" altLang="zh-CN" sz="2000" b="1">
                <a:solidFill>
                  <a:schemeClr val="tx2"/>
                </a:solidFill>
              </a:endParaRPr>
            </a:p>
          </p:txBody>
        </p:sp>
        <p:sp>
          <p:nvSpPr>
            <p:cNvPr id="41992" name="Oval 22"/>
            <p:cNvSpPr>
              <a:spLocks noChangeArrowheads="1"/>
            </p:cNvSpPr>
            <p:nvPr/>
          </p:nvSpPr>
          <p:spPr bwMode="auto">
            <a:xfrm>
              <a:off x="4018" y="2395"/>
              <a:ext cx="204" cy="204"/>
            </a:xfrm>
            <a:prstGeom prst="ellipse">
              <a:avLst/>
            </a:pr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chemeClr val="tx2"/>
                  </a:solidFill>
                </a:rPr>
                <a:t>E</a:t>
              </a:r>
              <a:endParaRPr lang="en-US" altLang="zh-CN" sz="2000" b="1">
                <a:solidFill>
                  <a:schemeClr val="tx2"/>
                </a:solidFill>
              </a:endParaRPr>
            </a:p>
          </p:txBody>
        </p:sp>
        <p:sp>
          <p:nvSpPr>
            <p:cNvPr id="41993" name="Oval 23"/>
            <p:cNvSpPr>
              <a:spLocks noChangeArrowheads="1"/>
            </p:cNvSpPr>
            <p:nvPr/>
          </p:nvSpPr>
          <p:spPr bwMode="auto">
            <a:xfrm>
              <a:off x="3220" y="2767"/>
              <a:ext cx="204" cy="204"/>
            </a:xfrm>
            <a:prstGeom prst="ellipse">
              <a:avLst/>
            </a:pr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chemeClr val="tx2"/>
                  </a:solidFill>
                </a:rPr>
                <a:t>C</a:t>
              </a:r>
              <a:endParaRPr lang="en-US" altLang="zh-CN" sz="2000" b="1">
                <a:solidFill>
                  <a:schemeClr val="tx2"/>
                </a:solidFill>
              </a:endParaRPr>
            </a:p>
          </p:txBody>
        </p:sp>
        <p:sp>
          <p:nvSpPr>
            <p:cNvPr id="41994" name="Oval 24"/>
            <p:cNvSpPr>
              <a:spLocks noChangeArrowheads="1"/>
            </p:cNvSpPr>
            <p:nvPr/>
          </p:nvSpPr>
          <p:spPr bwMode="auto">
            <a:xfrm>
              <a:off x="3742" y="2767"/>
              <a:ext cx="204" cy="204"/>
            </a:xfrm>
            <a:prstGeom prst="ellipse">
              <a:avLst/>
            </a:pr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chemeClr val="tx2"/>
                  </a:solidFill>
                </a:rPr>
                <a:t>D</a:t>
              </a:r>
              <a:endParaRPr lang="en-US" altLang="zh-CN" sz="2000" b="1">
                <a:solidFill>
                  <a:schemeClr val="tx2"/>
                </a:solidFill>
              </a:endParaRPr>
            </a:p>
          </p:txBody>
        </p:sp>
        <p:sp>
          <p:nvSpPr>
            <p:cNvPr id="41995" name="Oval 25"/>
            <p:cNvSpPr>
              <a:spLocks noChangeArrowheads="1"/>
            </p:cNvSpPr>
            <p:nvPr/>
          </p:nvSpPr>
          <p:spPr bwMode="auto">
            <a:xfrm>
              <a:off x="4294" y="2767"/>
              <a:ext cx="204" cy="204"/>
            </a:xfrm>
            <a:prstGeom prst="ellipse">
              <a:avLst/>
            </a:pr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chemeClr val="tx2"/>
                  </a:solidFill>
                </a:rPr>
                <a:t>F</a:t>
              </a:r>
              <a:endParaRPr lang="en-US" altLang="zh-CN" sz="2000" b="1">
                <a:solidFill>
                  <a:schemeClr val="tx2"/>
                </a:solidFill>
              </a:endParaRPr>
            </a:p>
          </p:txBody>
        </p:sp>
        <p:sp>
          <p:nvSpPr>
            <p:cNvPr id="41996" name="Oval 26"/>
            <p:cNvSpPr>
              <a:spLocks noChangeArrowheads="1"/>
            </p:cNvSpPr>
            <p:nvPr/>
          </p:nvSpPr>
          <p:spPr bwMode="auto">
            <a:xfrm>
              <a:off x="4042" y="3133"/>
              <a:ext cx="204" cy="204"/>
            </a:xfrm>
            <a:prstGeom prst="ellipse">
              <a:avLst/>
            </a:pr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chemeClr val="tx2"/>
                  </a:solidFill>
                </a:rPr>
                <a:t>G</a:t>
              </a:r>
              <a:endParaRPr lang="en-US" altLang="zh-CN" sz="2000" b="1">
                <a:solidFill>
                  <a:schemeClr val="tx2"/>
                </a:solidFill>
              </a:endParaRPr>
            </a:p>
          </p:txBody>
        </p:sp>
        <p:sp>
          <p:nvSpPr>
            <p:cNvPr id="41997" name="Line 27"/>
            <p:cNvSpPr>
              <a:spLocks noChangeShapeType="1"/>
            </p:cNvSpPr>
            <p:nvPr/>
          </p:nvSpPr>
          <p:spPr bwMode="auto">
            <a:xfrm flipH="1">
              <a:off x="3640" y="2233"/>
              <a:ext cx="136" cy="181"/>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998" name="Line 28"/>
            <p:cNvSpPr>
              <a:spLocks noChangeShapeType="1"/>
            </p:cNvSpPr>
            <p:nvPr/>
          </p:nvSpPr>
          <p:spPr bwMode="auto">
            <a:xfrm flipH="1">
              <a:off x="3382" y="2593"/>
              <a:ext cx="136" cy="181"/>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999" name="Line 29"/>
            <p:cNvSpPr>
              <a:spLocks noChangeShapeType="1"/>
            </p:cNvSpPr>
            <p:nvPr/>
          </p:nvSpPr>
          <p:spPr bwMode="auto">
            <a:xfrm flipH="1" flipV="1">
              <a:off x="3645" y="2581"/>
              <a:ext cx="136" cy="199"/>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0" name="Line 30"/>
            <p:cNvSpPr>
              <a:spLocks noChangeShapeType="1"/>
            </p:cNvSpPr>
            <p:nvPr/>
          </p:nvSpPr>
          <p:spPr bwMode="auto">
            <a:xfrm flipH="1" flipV="1">
              <a:off x="3922" y="2215"/>
              <a:ext cx="136" cy="199"/>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1" name="Line 31"/>
            <p:cNvSpPr>
              <a:spLocks noChangeShapeType="1"/>
            </p:cNvSpPr>
            <p:nvPr/>
          </p:nvSpPr>
          <p:spPr bwMode="auto">
            <a:xfrm flipH="1" flipV="1">
              <a:off x="4194" y="2574"/>
              <a:ext cx="136" cy="199"/>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2" name="Line 32"/>
            <p:cNvSpPr>
              <a:spLocks noChangeShapeType="1"/>
            </p:cNvSpPr>
            <p:nvPr/>
          </p:nvSpPr>
          <p:spPr bwMode="auto">
            <a:xfrm flipH="1">
              <a:off x="4186" y="2959"/>
              <a:ext cx="136" cy="181"/>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advClick="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320D761D-F718-4401-9EC7-F5491C552C00}"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44035" name="Rectangle 2"/>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3.5 </a:t>
            </a:r>
            <a:r>
              <a:rPr lang="zh-CN" altLang="en-US" sz="2400">
                <a:latin typeface="宋体" panose="02010600030101010101" pitchFamily="2" charset="-122"/>
                <a:ea typeface="宋体" panose="02010600030101010101" pitchFamily="2" charset="-122"/>
              </a:rPr>
              <a:t>树与二叉树</a:t>
            </a:r>
            <a:endParaRPr lang="zh-CN" altLang="en-US" sz="2400">
              <a:latin typeface="宋体" panose="02010600030101010101" pitchFamily="2" charset="-122"/>
              <a:ea typeface="宋体" panose="02010600030101010101" pitchFamily="2" charset="-122"/>
            </a:endParaRPr>
          </a:p>
        </p:txBody>
      </p:sp>
      <p:sp>
        <p:nvSpPr>
          <p:cNvPr id="44036" name="Rectangle 21"/>
          <p:cNvSpPr>
            <a:spLocks noGrp="1" noChangeArrowheads="1"/>
          </p:cNvSpPr>
          <p:nvPr>
            <p:ph type="body" idx="1"/>
          </p:nvPr>
        </p:nvSpPr>
        <p:spPr>
          <a:xfrm>
            <a:off x="107950" y="981075"/>
            <a:ext cx="8353425" cy="4711700"/>
          </a:xfrm>
          <a:noFill/>
        </p:spPr>
        <p:txBody>
          <a:bodyPr/>
          <a:lstStyle/>
          <a:p>
            <a:pPr marL="192405" indent="-192405"/>
            <a:r>
              <a:rPr lang="zh-CN" altLang="en-US">
                <a:ea typeface="宋体" panose="02010600030101010101" pitchFamily="2" charset="-122"/>
              </a:rPr>
              <a:t>二叉树的应用</a:t>
            </a:r>
            <a:endParaRPr lang="zh-CN" altLang="en-US">
              <a:ea typeface="宋体" panose="02010600030101010101" pitchFamily="2" charset="-122"/>
            </a:endParaRPr>
          </a:p>
          <a:p>
            <a:pPr marL="860425" lvl="1"/>
            <a:r>
              <a:rPr lang="zh-CN" altLang="en-US">
                <a:ea typeface="宋体" panose="02010600030101010101" pitchFamily="2" charset="-122"/>
              </a:rPr>
              <a:t>二叉树的应用十分广泛</a:t>
            </a:r>
            <a:endParaRPr lang="zh-CN" altLang="en-US">
              <a:ea typeface="宋体" panose="02010600030101010101" pitchFamily="2" charset="-122"/>
            </a:endParaRPr>
          </a:p>
          <a:p>
            <a:pPr marL="1279525" lvl="2"/>
            <a:r>
              <a:rPr lang="zh-CN" altLang="en-US">
                <a:ea typeface="宋体" panose="02010600030101010101" pitchFamily="2" charset="-122"/>
              </a:rPr>
              <a:t>表示集合</a:t>
            </a:r>
            <a:endParaRPr lang="zh-CN" altLang="en-US">
              <a:ea typeface="宋体" panose="02010600030101010101" pitchFamily="2" charset="-122"/>
            </a:endParaRPr>
          </a:p>
          <a:p>
            <a:pPr marL="1279525" lvl="2"/>
            <a:r>
              <a:rPr lang="zh-CN" altLang="en-US">
                <a:ea typeface="宋体" panose="02010600030101010101" pitchFamily="2" charset="-122"/>
              </a:rPr>
              <a:t>通信及数据传输中的二进制编码</a:t>
            </a:r>
            <a:endParaRPr lang="zh-CN" altLang="en-US">
              <a:ea typeface="宋体" panose="02010600030101010101" pitchFamily="2" charset="-122"/>
            </a:endParaRPr>
          </a:p>
          <a:p>
            <a:pPr marL="1279525" lvl="2"/>
            <a:r>
              <a:rPr lang="zh-CN" altLang="en-US">
                <a:ea typeface="宋体" panose="02010600030101010101" pitchFamily="2" charset="-122"/>
              </a:rPr>
              <a:t>判定与决策</a:t>
            </a:r>
            <a:endParaRPr lang="zh-CN" altLang="en-US">
              <a:ea typeface="宋体" panose="02010600030101010101" pitchFamily="2" charset="-122"/>
            </a:endParaRPr>
          </a:p>
          <a:p>
            <a:pPr marL="1279525" lvl="2"/>
            <a:r>
              <a:rPr lang="zh-CN" altLang="en-US">
                <a:ea typeface="宋体" panose="02010600030101010101" pitchFamily="2" charset="-122"/>
              </a:rPr>
              <a:t>信息检索与排序。</a:t>
            </a:r>
            <a:endParaRPr lang="en-US" altLang="zh-CN">
              <a:ea typeface="宋体" panose="02010600030101010101" pitchFamily="2" charset="-122"/>
            </a:endParaRPr>
          </a:p>
          <a:p>
            <a:pPr marL="860425" lvl="1"/>
            <a:r>
              <a:rPr lang="zh-CN" altLang="en-US" sz="2400">
                <a:latin typeface="宋体" panose="02010600030101010101" pitchFamily="2" charset="-122"/>
                <a:ea typeface="宋体" panose="02010600030101010101" pitchFamily="2" charset="-122"/>
              </a:rPr>
              <a:t>典型应用</a:t>
            </a:r>
            <a:endParaRPr lang="en-US" altLang="zh-CN" sz="2400">
              <a:latin typeface="宋体" panose="02010600030101010101" pitchFamily="2" charset="-122"/>
              <a:ea typeface="宋体" panose="02010600030101010101" pitchFamily="2" charset="-122"/>
            </a:endParaRPr>
          </a:p>
          <a:p>
            <a:pPr marL="1279525" lvl="2"/>
            <a:r>
              <a:rPr lang="zh-CN" altLang="en-US" sz="2000">
                <a:latin typeface="宋体" panose="02010600030101010101" pitchFamily="2" charset="-122"/>
                <a:ea typeface="宋体" panose="02010600030101010101" pitchFamily="2" charset="-122"/>
              </a:rPr>
              <a:t>二叉排序树</a:t>
            </a:r>
            <a:endParaRPr lang="zh-CN" altLang="en-US" sz="2000">
              <a:latin typeface="宋体" panose="02010600030101010101" pitchFamily="2" charset="-122"/>
              <a:ea typeface="宋体" panose="02010600030101010101" pitchFamily="2" charset="-122"/>
            </a:endParaRPr>
          </a:p>
          <a:p>
            <a:pPr marL="1279525" lvl="2"/>
            <a:r>
              <a:rPr lang="zh-CN" altLang="en-US" sz="2000">
                <a:latin typeface="宋体" panose="02010600030101010101" pitchFamily="2" charset="-122"/>
                <a:ea typeface="宋体" panose="02010600030101010101" pitchFamily="2" charset="-122"/>
              </a:rPr>
              <a:t>哈夫曼树</a:t>
            </a:r>
            <a:endParaRPr lang="zh-CN" altLang="en-US" sz="2000">
              <a:latin typeface="宋体" panose="02010600030101010101" pitchFamily="2" charset="-122"/>
              <a:ea typeface="宋体" panose="02010600030101010101" pitchFamily="2" charset="-122"/>
            </a:endParaRPr>
          </a:p>
          <a:p>
            <a:pPr marL="860425" lvl="1"/>
            <a:r>
              <a:rPr lang="zh-CN" altLang="en-US" sz="2400">
                <a:latin typeface="宋体" panose="02010600030101010101" pitchFamily="2" charset="-122"/>
                <a:ea typeface="宋体" panose="02010600030101010101" pitchFamily="2" charset="-122"/>
              </a:rPr>
              <a:t>参见 </a:t>
            </a:r>
            <a:r>
              <a:rPr lang="en-US" altLang="zh-CN" sz="2400">
                <a:latin typeface="宋体" panose="02010600030101010101" pitchFamily="2" charset="-122"/>
                <a:ea typeface="宋体" panose="02010600030101010101" pitchFamily="2" charset="-122"/>
              </a:rPr>
              <a:t>P58-64 </a:t>
            </a:r>
            <a:endParaRPr lang="zh-CN" altLang="en-US" sz="2400">
              <a:latin typeface="宋体" panose="02010600030101010101" pitchFamily="2" charset="-122"/>
              <a:ea typeface="宋体" panose="02010600030101010101" pitchFamily="2" charset="-122"/>
            </a:endParaRPr>
          </a:p>
        </p:txBody>
      </p:sp>
    </p:spTree>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7"/>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39C47E2A-7D43-4880-8E32-81D3CEFD847B}"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45059" name="Rectangle 2"/>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3.5 </a:t>
            </a:r>
            <a:r>
              <a:rPr lang="zh-CN" altLang="en-US" sz="2400">
                <a:latin typeface="宋体" panose="02010600030101010101" pitchFamily="2" charset="-122"/>
                <a:ea typeface="宋体" panose="02010600030101010101" pitchFamily="2" charset="-122"/>
              </a:rPr>
              <a:t>树与二叉树</a:t>
            </a:r>
            <a:endParaRPr lang="zh-CN" altLang="en-US" sz="2400">
              <a:latin typeface="宋体" panose="02010600030101010101" pitchFamily="2" charset="-122"/>
              <a:ea typeface="宋体" panose="02010600030101010101" pitchFamily="2" charset="-122"/>
            </a:endParaRPr>
          </a:p>
        </p:txBody>
      </p:sp>
      <p:sp>
        <p:nvSpPr>
          <p:cNvPr id="45060" name="Rectangle 3"/>
          <p:cNvSpPr>
            <a:spLocks noGrp="1" noChangeArrowheads="1"/>
          </p:cNvSpPr>
          <p:nvPr>
            <p:ph type="body" sz="half" idx="1"/>
          </p:nvPr>
        </p:nvSpPr>
        <p:spPr>
          <a:xfrm>
            <a:off x="179388" y="981075"/>
            <a:ext cx="5256212" cy="5318125"/>
          </a:xfrm>
          <a:noFill/>
        </p:spPr>
        <p:txBody>
          <a:bodyPr/>
          <a:lstStyle/>
          <a:p>
            <a:pPr marL="192405" indent="-192405"/>
            <a:r>
              <a:rPr lang="zh-CN" altLang="en-US" sz="2800">
                <a:ea typeface="宋体" panose="02010600030101010101" pitchFamily="2" charset="-122"/>
              </a:rPr>
              <a:t>二叉树的应用 </a:t>
            </a:r>
            <a:r>
              <a:rPr lang="en-US" altLang="zh-CN" sz="2800">
                <a:ea typeface="宋体" panose="02010600030101010101" pitchFamily="2" charset="-122"/>
              </a:rPr>
              <a:t>---  </a:t>
            </a:r>
            <a:r>
              <a:rPr lang="zh-CN" altLang="en-US" sz="2400">
                <a:latin typeface="宋体" panose="02010600030101010101" pitchFamily="2" charset="-122"/>
                <a:ea typeface="宋体" panose="02010600030101010101" pitchFamily="2" charset="-122"/>
              </a:rPr>
              <a:t>二叉排序树</a:t>
            </a:r>
            <a:endParaRPr lang="en-US" altLang="zh-CN" sz="2800">
              <a:ea typeface="宋体" panose="02010600030101010101" pitchFamily="2" charset="-122"/>
            </a:endParaRPr>
          </a:p>
          <a:p>
            <a:pPr marL="860425" lvl="1"/>
            <a:r>
              <a:rPr lang="zh-CN" altLang="en-US" sz="2400">
                <a:ea typeface="宋体" panose="02010600030101010101" pitchFamily="2" charset="-122"/>
              </a:rPr>
              <a:t>一种特殊结构的二叉树。</a:t>
            </a:r>
            <a:r>
              <a:rPr lang="zh-CN" altLang="en-US" sz="2400">
                <a:solidFill>
                  <a:schemeClr val="tx2"/>
                </a:solidFill>
                <a:ea typeface="宋体" panose="02010600030101010101" pitchFamily="2" charset="-122"/>
              </a:rPr>
              <a:t>通常作为线性表的一种组织手段</a:t>
            </a:r>
            <a:r>
              <a:rPr lang="zh-CN" altLang="en-US" sz="2400">
                <a:ea typeface="宋体" panose="02010600030101010101" pitchFamily="2" charset="-122"/>
              </a:rPr>
              <a:t>。可以方便地实现线性表的排序与检索。</a:t>
            </a:r>
            <a:endParaRPr lang="en-US" altLang="zh-CN" sz="2400">
              <a:ea typeface="宋体" panose="02010600030101010101" pitchFamily="2" charset="-122"/>
            </a:endParaRPr>
          </a:p>
          <a:p>
            <a:pPr marL="860425" lvl="1"/>
            <a:r>
              <a:rPr lang="zh-CN" altLang="en-US" sz="2400">
                <a:solidFill>
                  <a:schemeClr val="tx2"/>
                </a:solidFill>
                <a:ea typeface="宋体" panose="02010600030101010101" pitchFamily="2" charset="-122"/>
              </a:rPr>
              <a:t>定义</a:t>
            </a:r>
            <a:r>
              <a:rPr lang="zh-CN" altLang="en-US" sz="2400">
                <a:ea typeface="宋体" panose="02010600030101010101" pitchFamily="2" charset="-122"/>
              </a:rPr>
              <a:t>：或为空树；或其</a:t>
            </a:r>
            <a:r>
              <a:rPr lang="zh-CN" altLang="en-US" sz="2400">
                <a:solidFill>
                  <a:schemeClr val="tx2"/>
                </a:solidFill>
                <a:ea typeface="宋体" panose="02010600030101010101" pitchFamily="2" charset="-122"/>
              </a:rPr>
              <a:t>左子树</a:t>
            </a:r>
            <a:r>
              <a:rPr lang="zh-CN" altLang="en-US" sz="2400">
                <a:ea typeface="宋体" panose="02010600030101010101" pitchFamily="2" charset="-122"/>
              </a:rPr>
              <a:t>的所有结点均</a:t>
            </a:r>
            <a:r>
              <a:rPr lang="zh-CN" altLang="en-US" sz="2400">
                <a:solidFill>
                  <a:srgbClr val="0000CC"/>
                </a:solidFill>
                <a:ea typeface="宋体" panose="02010600030101010101" pitchFamily="2" charset="-122"/>
              </a:rPr>
              <a:t>小于</a:t>
            </a:r>
            <a:r>
              <a:rPr lang="zh-CN" altLang="en-US" sz="2400">
                <a:ea typeface="宋体" panose="02010600030101010101" pitchFamily="2" charset="-122"/>
              </a:rPr>
              <a:t>根结点；</a:t>
            </a:r>
            <a:r>
              <a:rPr lang="zh-CN" altLang="en-US" sz="2400">
                <a:solidFill>
                  <a:schemeClr val="tx2"/>
                </a:solidFill>
                <a:ea typeface="宋体" panose="02010600030101010101" pitchFamily="2" charset="-122"/>
              </a:rPr>
              <a:t>右子树</a:t>
            </a:r>
            <a:r>
              <a:rPr lang="zh-CN" altLang="en-US" sz="2400">
                <a:ea typeface="宋体" panose="02010600030101010101" pitchFamily="2" charset="-122"/>
              </a:rPr>
              <a:t>的所有结点均</a:t>
            </a:r>
            <a:r>
              <a:rPr lang="zh-CN" altLang="en-US" sz="2400">
                <a:solidFill>
                  <a:srgbClr val="0000CC"/>
                </a:solidFill>
                <a:ea typeface="宋体" panose="02010600030101010101" pitchFamily="2" charset="-122"/>
              </a:rPr>
              <a:t>大于等于</a:t>
            </a:r>
            <a:r>
              <a:rPr lang="zh-CN" altLang="en-US" sz="2400">
                <a:ea typeface="宋体" panose="02010600030101010101" pitchFamily="2" charset="-122"/>
              </a:rPr>
              <a:t>根结点。左右子树本身又各是一颗二叉排序树。（递归定义）</a:t>
            </a:r>
            <a:endParaRPr lang="en-US" altLang="zh-CN" sz="2400">
              <a:ea typeface="宋体" panose="02010600030101010101" pitchFamily="2" charset="-122"/>
            </a:endParaRPr>
          </a:p>
        </p:txBody>
      </p:sp>
      <p:pic>
        <p:nvPicPr>
          <p:cNvPr id="35845" name="Picture 15" descr="Snap9"/>
          <p:cNvPicPr>
            <a:picLocks noChangeAspect="1" noChangeArrowheads="1"/>
          </p:cNvPicPr>
          <p:nvPr/>
        </p:nvPicPr>
        <p:blipFill>
          <a:blip r:embed="rId1" cstate="print">
            <a:duotone>
              <a:prstClr val="black"/>
              <a:schemeClr val="accent1">
                <a:tint val="45000"/>
                <a:satMod val="400000"/>
              </a:schemeClr>
            </a:duotone>
            <a:lum contrast="100000"/>
          </a:blip>
          <a:srcRect/>
          <a:stretch>
            <a:fillRect/>
          </a:stretch>
        </p:blipFill>
        <p:spPr bwMode="auto">
          <a:xfrm>
            <a:off x="5184776" y="1376363"/>
            <a:ext cx="3887788" cy="3492500"/>
          </a:xfrm>
          <a:prstGeom prst="rect">
            <a:avLst/>
          </a:prstGeom>
          <a:noFill/>
          <a:ln w="9525">
            <a:noFill/>
            <a:miter lim="800000"/>
            <a:headEnd/>
            <a:tailEnd/>
          </a:ln>
        </p:spPr>
      </p:pic>
    </p:spTree>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7"/>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91260ED5-1DCC-41AF-BC1F-DF6FAEF02DFE}"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46083" name="Rectangle 2"/>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3.5 </a:t>
            </a:r>
            <a:r>
              <a:rPr lang="zh-CN" altLang="en-US" sz="2400">
                <a:latin typeface="宋体" panose="02010600030101010101" pitchFamily="2" charset="-122"/>
                <a:ea typeface="宋体" panose="02010600030101010101" pitchFamily="2" charset="-122"/>
              </a:rPr>
              <a:t>树与二叉树</a:t>
            </a:r>
            <a:endParaRPr lang="zh-CN" altLang="en-US" sz="2400">
              <a:latin typeface="宋体" panose="02010600030101010101" pitchFamily="2" charset="-122"/>
              <a:ea typeface="宋体" panose="02010600030101010101" pitchFamily="2" charset="-122"/>
            </a:endParaRPr>
          </a:p>
        </p:txBody>
      </p:sp>
      <p:sp>
        <p:nvSpPr>
          <p:cNvPr id="46084" name="Rectangle 3"/>
          <p:cNvSpPr>
            <a:spLocks noGrp="1" noChangeArrowheads="1"/>
          </p:cNvSpPr>
          <p:nvPr>
            <p:ph type="body" sz="half" idx="1"/>
          </p:nvPr>
        </p:nvSpPr>
        <p:spPr>
          <a:xfrm>
            <a:off x="179388" y="955675"/>
            <a:ext cx="8964612" cy="5902325"/>
          </a:xfrm>
          <a:noFill/>
        </p:spPr>
        <p:txBody>
          <a:bodyPr/>
          <a:lstStyle/>
          <a:p>
            <a:pPr marL="192405" indent="-192405"/>
            <a:r>
              <a:rPr lang="zh-CN" altLang="en-US" sz="2800">
                <a:ea typeface="宋体" panose="02010600030101010101" pitchFamily="2" charset="-122"/>
              </a:rPr>
              <a:t>二叉树的应用 </a:t>
            </a:r>
            <a:r>
              <a:rPr lang="en-US" altLang="zh-CN" sz="2800">
                <a:ea typeface="宋体" panose="02010600030101010101" pitchFamily="2" charset="-122"/>
              </a:rPr>
              <a:t>----  </a:t>
            </a:r>
            <a:r>
              <a:rPr lang="zh-CN" altLang="en-US" sz="2400">
                <a:latin typeface="宋体" panose="02010600030101010101" pitchFamily="2" charset="-122"/>
                <a:ea typeface="宋体" panose="02010600030101010101" pitchFamily="2" charset="-122"/>
              </a:rPr>
              <a:t>二叉排序树</a:t>
            </a:r>
            <a:endParaRPr lang="en-US" altLang="zh-CN" sz="2800">
              <a:ea typeface="宋体" panose="02010600030101010101" pitchFamily="2" charset="-122"/>
            </a:endParaRPr>
          </a:p>
          <a:p>
            <a:pPr marL="860425" lvl="1"/>
            <a:r>
              <a:rPr lang="zh-CN" altLang="en-US" sz="2400">
                <a:ea typeface="宋体" panose="02010600030101010101" pitchFamily="2" charset="-122"/>
              </a:rPr>
              <a:t>二叉排序树的生成（插入</a:t>
            </a:r>
            <a:r>
              <a:rPr lang="en-US" altLang="zh-CN" sz="2400">
                <a:ea typeface="宋体" panose="02010600030101010101" pitchFamily="2" charset="-122"/>
              </a:rPr>
              <a:t>1</a:t>
            </a:r>
            <a:r>
              <a:rPr lang="zh-CN" altLang="en-US" sz="2400">
                <a:ea typeface="宋体" panose="02010600030101010101" pitchFamily="2" charset="-122"/>
              </a:rPr>
              <a:t>个元素）</a:t>
            </a:r>
            <a:endParaRPr lang="zh-CN" altLang="en-US" sz="2400">
              <a:ea typeface="宋体" panose="02010600030101010101" pitchFamily="2" charset="-122"/>
            </a:endParaRPr>
          </a:p>
          <a:p>
            <a:pPr marL="1279525" lvl="2"/>
            <a:r>
              <a:rPr lang="zh-CN" altLang="en-US" sz="2000">
                <a:ea typeface="宋体" panose="02010600030101010101" pitchFamily="2" charset="-122"/>
              </a:rPr>
              <a:t>二叉排序树的生成过程，相当于组织一个线性表的过程，也相当于向线性表中插入一个元素的过程。</a:t>
            </a:r>
            <a:endParaRPr lang="zh-CN" altLang="en-US" sz="2000">
              <a:ea typeface="宋体" panose="02010600030101010101" pitchFamily="2" charset="-122"/>
            </a:endParaRPr>
          </a:p>
          <a:p>
            <a:pPr marL="1279525" lvl="2"/>
            <a:r>
              <a:rPr lang="zh-CN" altLang="en-US" sz="2000">
                <a:ea typeface="宋体" panose="02010600030101010101" pitchFamily="2" charset="-122"/>
              </a:rPr>
              <a:t>选择第一个元素作为根结点，其次选择第二个元素和第一个元素比较，小于根进入左子树，大于等于跟进入右子树。当左右子树为空时，则将新元素作为相应子树的叶子结点，否则继续重复上述过程</a:t>
            </a:r>
            <a:endParaRPr lang="en-US" altLang="zh-CN" sz="2000">
              <a:ea typeface="宋体" panose="02010600030101010101" pitchFamily="2" charset="-122"/>
            </a:endParaRPr>
          </a:p>
          <a:p>
            <a:pPr marL="1279525" lvl="2"/>
            <a:r>
              <a:rPr lang="en-US" altLang="zh-CN" sz="2000">
                <a:ea typeface="宋体" panose="02010600030101010101" pitchFamily="2" charset="-122"/>
              </a:rPr>
              <a:t>{10</a:t>
            </a:r>
            <a:r>
              <a:rPr lang="zh-CN" altLang="en-US" sz="2000">
                <a:ea typeface="宋体" panose="02010600030101010101" pitchFamily="2" charset="-122"/>
              </a:rPr>
              <a:t>，</a:t>
            </a:r>
            <a:r>
              <a:rPr lang="en-US" altLang="zh-CN" sz="2000">
                <a:ea typeface="宋体" panose="02010600030101010101" pitchFamily="2" charset="-122"/>
              </a:rPr>
              <a:t>18</a:t>
            </a:r>
            <a:r>
              <a:rPr lang="zh-CN" altLang="en-US" sz="2000">
                <a:ea typeface="宋体" panose="02010600030101010101" pitchFamily="2" charset="-122"/>
              </a:rPr>
              <a:t>，</a:t>
            </a:r>
            <a:r>
              <a:rPr lang="en-US" altLang="zh-CN" sz="2000">
                <a:ea typeface="宋体" panose="02010600030101010101" pitchFamily="2" charset="-122"/>
              </a:rPr>
              <a:t>3</a:t>
            </a:r>
            <a:r>
              <a:rPr lang="zh-CN" altLang="en-US" sz="2000">
                <a:ea typeface="宋体" panose="02010600030101010101" pitchFamily="2" charset="-122"/>
              </a:rPr>
              <a:t>，</a:t>
            </a:r>
            <a:r>
              <a:rPr lang="en-US" altLang="zh-CN" sz="2000">
                <a:ea typeface="宋体" panose="02010600030101010101" pitchFamily="2" charset="-122"/>
              </a:rPr>
              <a:t>8</a:t>
            </a:r>
            <a:r>
              <a:rPr lang="zh-CN" altLang="en-US" sz="2000">
                <a:ea typeface="宋体" panose="02010600030101010101" pitchFamily="2" charset="-122"/>
              </a:rPr>
              <a:t>，</a:t>
            </a:r>
            <a:r>
              <a:rPr lang="en-US" altLang="zh-CN" sz="2000">
                <a:ea typeface="宋体" panose="02010600030101010101" pitchFamily="2" charset="-122"/>
              </a:rPr>
              <a:t>12</a:t>
            </a:r>
            <a:r>
              <a:rPr lang="zh-CN" altLang="en-US" sz="2000">
                <a:ea typeface="宋体" panose="02010600030101010101" pitchFamily="2" charset="-122"/>
              </a:rPr>
              <a:t>，</a:t>
            </a:r>
            <a:r>
              <a:rPr lang="en-US" altLang="zh-CN" sz="2000">
                <a:ea typeface="宋体" panose="02010600030101010101" pitchFamily="2" charset="-122"/>
              </a:rPr>
              <a:t>2</a:t>
            </a:r>
            <a:r>
              <a:rPr lang="zh-CN" altLang="en-US" sz="2000">
                <a:ea typeface="宋体" panose="02010600030101010101" pitchFamily="2" charset="-122"/>
              </a:rPr>
              <a:t>，</a:t>
            </a:r>
            <a:r>
              <a:rPr lang="en-US" altLang="zh-CN" sz="2000">
                <a:ea typeface="宋体" panose="02010600030101010101" pitchFamily="2" charset="-122"/>
              </a:rPr>
              <a:t>7</a:t>
            </a:r>
            <a:r>
              <a:rPr lang="zh-CN" altLang="en-US" sz="2000">
                <a:ea typeface="宋体" panose="02010600030101010101" pitchFamily="2" charset="-122"/>
              </a:rPr>
              <a:t>，</a:t>
            </a:r>
            <a:r>
              <a:rPr lang="en-US" altLang="zh-CN" sz="2000">
                <a:ea typeface="宋体" panose="02010600030101010101" pitchFamily="2" charset="-122"/>
              </a:rPr>
              <a:t>3} </a:t>
            </a:r>
            <a:endParaRPr lang="en-US" altLang="zh-CN" sz="2000">
              <a:ea typeface="宋体" panose="02010600030101010101" pitchFamily="2" charset="-122"/>
            </a:endParaRPr>
          </a:p>
          <a:p>
            <a:pPr marL="1279525" lvl="2"/>
            <a:endParaRPr lang="en-US" altLang="zh-CN" sz="2000">
              <a:ea typeface="宋体" panose="02010600030101010101" pitchFamily="2" charset="-122"/>
            </a:endParaRPr>
          </a:p>
          <a:p>
            <a:pPr marL="1279525" lvl="2"/>
            <a:endParaRPr lang="en-US" altLang="zh-CN" sz="2000">
              <a:ea typeface="宋体" panose="02010600030101010101" pitchFamily="2" charset="-122"/>
            </a:endParaRPr>
          </a:p>
          <a:p>
            <a:pPr marL="1279525" lvl="2"/>
            <a:endParaRPr lang="en-US" altLang="zh-CN" sz="2000">
              <a:ea typeface="宋体" panose="02010600030101010101" pitchFamily="2" charset="-122"/>
            </a:endParaRPr>
          </a:p>
          <a:p>
            <a:pPr marL="1279525" lvl="2"/>
            <a:endParaRPr lang="en-US" altLang="zh-CN" sz="2000">
              <a:ea typeface="宋体" panose="02010600030101010101" pitchFamily="2" charset="-122"/>
            </a:endParaRPr>
          </a:p>
          <a:p>
            <a:pPr marL="1279525" lvl="2"/>
            <a:endParaRPr lang="en-US" altLang="zh-CN" sz="2000">
              <a:ea typeface="宋体" panose="02010600030101010101" pitchFamily="2" charset="-122"/>
            </a:endParaRPr>
          </a:p>
          <a:p>
            <a:pPr marL="1279525" lvl="2"/>
            <a:endParaRPr lang="en-US" altLang="zh-CN" sz="2000">
              <a:ea typeface="宋体" panose="02010600030101010101" pitchFamily="2" charset="-122"/>
            </a:endParaRPr>
          </a:p>
          <a:p>
            <a:pPr marL="1279525" lvl="2"/>
            <a:endParaRPr lang="en-US" altLang="zh-CN" sz="2000">
              <a:ea typeface="宋体" panose="02010600030101010101" pitchFamily="2" charset="-122"/>
            </a:endParaRPr>
          </a:p>
          <a:p>
            <a:pPr marL="1279525" lvl="2"/>
            <a:endParaRPr lang="en-US" altLang="zh-CN" sz="2000">
              <a:ea typeface="宋体" panose="02010600030101010101" pitchFamily="2" charset="-122"/>
            </a:endParaRPr>
          </a:p>
        </p:txBody>
      </p:sp>
      <p:pic>
        <p:nvPicPr>
          <p:cNvPr id="36869" name="Picture 7" descr="Snap10"/>
          <p:cNvPicPr>
            <a:picLocks noChangeAspect="1" noChangeArrowheads="1"/>
          </p:cNvPicPr>
          <p:nvPr/>
        </p:nvPicPr>
        <p:blipFill>
          <a:blip r:embed="rId1" cstate="print">
            <a:duotone>
              <a:prstClr val="black"/>
              <a:schemeClr val="accent1">
                <a:tint val="45000"/>
                <a:satMod val="400000"/>
              </a:schemeClr>
            </a:duotone>
            <a:lum contrast="100000"/>
          </a:blip>
          <a:srcRect/>
          <a:stretch>
            <a:fillRect/>
          </a:stretch>
        </p:blipFill>
        <p:spPr bwMode="auto">
          <a:xfrm>
            <a:off x="1476375" y="3717032"/>
            <a:ext cx="6299200" cy="3096344"/>
          </a:xfrm>
          <a:prstGeom prst="rect">
            <a:avLst/>
          </a:prstGeom>
          <a:noFill/>
          <a:ln w="9525">
            <a:noFill/>
            <a:miter lim="800000"/>
            <a:headEnd/>
            <a:tailEnd/>
          </a:ln>
        </p:spPr>
      </p:pic>
      <p:sp>
        <p:nvSpPr>
          <p:cNvPr id="36870" name="AutoShape 9">
            <a:hlinkHover r:id="" action="ppaction://noaction" highlightClick="1"/>
          </p:cNvPr>
          <p:cNvSpPr>
            <a:spLocks noChangeArrowheads="1"/>
          </p:cNvSpPr>
          <p:nvPr/>
        </p:nvSpPr>
        <p:spPr bwMode="auto">
          <a:xfrm>
            <a:off x="6516688" y="7938"/>
            <a:ext cx="3311525" cy="1912937"/>
          </a:xfrm>
          <a:prstGeom prst="cloudCallout">
            <a:avLst>
              <a:gd name="adj1" fmla="val -71475"/>
              <a:gd name="adj2" fmla="val 26319"/>
            </a:avLst>
          </a:prstGeom>
          <a:solidFill>
            <a:schemeClr val="accent6">
              <a:lumMod val="40000"/>
              <a:lumOff val="60000"/>
            </a:schemeClr>
          </a:solidFill>
          <a:ln w="9525">
            <a:solidFill>
              <a:schemeClr val="tx1"/>
            </a:solidFill>
            <a:round/>
          </a:ln>
        </p:spPr>
        <p:txBody>
          <a:bodyPr lIns="0" tIns="0" rIns="0" bIns="0">
            <a:spAutoFit/>
          </a:bodyPr>
          <a:lstStyle/>
          <a:p>
            <a:pPr>
              <a:defRPr/>
            </a:pPr>
            <a:r>
              <a:rPr lang="zh-CN" altLang="en-US" sz="1600" dirty="0"/>
              <a:t>线性表的基本操作有插入和删除，那么用二叉排序树组织线性表时，也必须要考虑插入和删除的问题。</a:t>
            </a:r>
            <a:endParaRPr lang="en-US" altLang="zh-CN" sz="1600" dirty="0"/>
          </a:p>
        </p:txBody>
      </p:sp>
    </p:spTree>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EB76849D-6848-4F6C-A0E3-97E698FEBC0F}"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48131" name="Rectangle 56"/>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ea typeface="宋体" panose="02010600030101010101" pitchFamily="2" charset="-122"/>
              </a:rPr>
              <a:t>3.5 </a:t>
            </a:r>
            <a:r>
              <a:rPr lang="zh-CN" altLang="en-US" sz="2400">
                <a:ea typeface="宋体" panose="02010600030101010101" pitchFamily="2" charset="-122"/>
              </a:rPr>
              <a:t>树与二叉树</a:t>
            </a:r>
            <a:endParaRPr lang="zh-CN" altLang="en-US" sz="2400">
              <a:ea typeface="宋体" panose="02010600030101010101" pitchFamily="2" charset="-122"/>
            </a:endParaRPr>
          </a:p>
        </p:txBody>
      </p:sp>
      <p:sp>
        <p:nvSpPr>
          <p:cNvPr id="48132" name="Rectangle 57"/>
          <p:cNvSpPr>
            <a:spLocks noGrp="1" noChangeArrowheads="1"/>
          </p:cNvSpPr>
          <p:nvPr>
            <p:ph type="body" idx="1"/>
          </p:nvPr>
        </p:nvSpPr>
        <p:spPr>
          <a:xfrm>
            <a:off x="136525" y="941388"/>
            <a:ext cx="8877300" cy="2773362"/>
          </a:xfrm>
        </p:spPr>
        <p:txBody>
          <a:bodyPr/>
          <a:lstStyle/>
          <a:p>
            <a:r>
              <a:rPr lang="zh-CN" altLang="en-US" sz="2800">
                <a:ea typeface="宋体" panose="02010600030101010101" pitchFamily="2" charset="-122"/>
              </a:rPr>
              <a:t>二叉树的应用 </a:t>
            </a:r>
            <a:r>
              <a:rPr lang="en-US" altLang="zh-CN" sz="2800">
                <a:ea typeface="宋体" panose="02010600030101010101" pitchFamily="2" charset="-122"/>
              </a:rPr>
              <a:t>----  </a:t>
            </a:r>
            <a:r>
              <a:rPr lang="zh-CN" altLang="en-US" sz="2800">
                <a:ea typeface="宋体" panose="02010600030101010101" pitchFamily="2" charset="-122"/>
              </a:rPr>
              <a:t>二叉排序树</a:t>
            </a:r>
            <a:endParaRPr lang="en-US" altLang="zh-CN" sz="2800">
              <a:ea typeface="宋体" panose="02010600030101010101" pitchFamily="2" charset="-122"/>
            </a:endParaRPr>
          </a:p>
          <a:p>
            <a:pPr lvl="1"/>
            <a:r>
              <a:rPr lang="zh-CN" altLang="en-US" sz="2400">
                <a:ea typeface="宋体" panose="02010600030101010101" pitchFamily="2" charset="-122"/>
              </a:rPr>
              <a:t>删除</a:t>
            </a:r>
            <a:r>
              <a:rPr lang="en-US" altLang="zh-CN" sz="2400">
                <a:ea typeface="宋体" panose="02010600030101010101" pitchFamily="2" charset="-122"/>
              </a:rPr>
              <a:t>1</a:t>
            </a:r>
            <a:r>
              <a:rPr lang="zh-CN" altLang="en-US" sz="2400">
                <a:ea typeface="宋体" panose="02010600030101010101" pitchFamily="2" charset="-122"/>
              </a:rPr>
              <a:t>个元素：</a:t>
            </a:r>
            <a:endParaRPr lang="zh-CN" altLang="en-US" sz="2400">
              <a:ea typeface="宋体" panose="02010600030101010101" pitchFamily="2" charset="-122"/>
            </a:endParaRPr>
          </a:p>
          <a:p>
            <a:pPr lvl="2"/>
            <a:r>
              <a:rPr lang="zh-CN" altLang="en-US" sz="2000">
                <a:ea typeface="宋体" panose="02010600030101010101" pitchFamily="2" charset="-122"/>
              </a:rPr>
              <a:t>叶子结点，直接删除，修改父结点的指针为</a:t>
            </a:r>
            <a:r>
              <a:rPr lang="en-US" altLang="zh-CN" sz="2000">
                <a:ea typeface="宋体" panose="02010600030101010101" pitchFamily="2" charset="-122"/>
              </a:rPr>
              <a:t>Nil</a:t>
            </a:r>
            <a:endParaRPr lang="en-US" altLang="zh-CN" sz="2000">
              <a:ea typeface="宋体" panose="02010600030101010101" pitchFamily="2" charset="-122"/>
            </a:endParaRPr>
          </a:p>
          <a:p>
            <a:pPr lvl="2"/>
            <a:r>
              <a:rPr lang="zh-CN" altLang="en-US" sz="2000">
                <a:ea typeface="宋体" panose="02010600030101010101" pitchFamily="2" charset="-122"/>
              </a:rPr>
              <a:t>只有左或右子树的结点</a:t>
            </a:r>
            <a:r>
              <a:rPr lang="en-US" altLang="zh-CN" sz="2000">
                <a:ea typeface="宋体" panose="02010600030101010101" pitchFamily="2" charset="-122"/>
              </a:rPr>
              <a:t>(</a:t>
            </a:r>
            <a:r>
              <a:rPr lang="zh-CN" altLang="en-US" sz="2000">
                <a:ea typeface="宋体" panose="02010600030101010101" pitchFamily="2" charset="-122"/>
              </a:rPr>
              <a:t>如</a:t>
            </a:r>
            <a:r>
              <a:rPr lang="en-US" altLang="zh-CN" sz="2000">
                <a:ea typeface="宋体" panose="02010600030101010101" pitchFamily="2" charset="-122"/>
              </a:rPr>
              <a:t>P)</a:t>
            </a:r>
            <a:r>
              <a:rPr lang="zh-CN" altLang="en-US" sz="2000">
                <a:ea typeface="宋体" panose="02010600030101010101" pitchFamily="2" charset="-122"/>
              </a:rPr>
              <a:t>，修改父结点</a:t>
            </a:r>
            <a:r>
              <a:rPr lang="en-US" altLang="zh-CN" sz="2000">
                <a:ea typeface="宋体" panose="02010600030101010101" pitchFamily="2" charset="-122"/>
              </a:rPr>
              <a:t>F</a:t>
            </a:r>
            <a:r>
              <a:rPr lang="zh-CN" altLang="en-US" sz="2000">
                <a:ea typeface="宋体" panose="02010600030101010101" pitchFamily="2" charset="-122"/>
              </a:rPr>
              <a:t>的指针，直接指向</a:t>
            </a:r>
            <a:r>
              <a:rPr lang="en-US" altLang="zh-CN" sz="2000">
                <a:ea typeface="宋体" panose="02010600030101010101" pitchFamily="2" charset="-122"/>
              </a:rPr>
              <a:t>P</a:t>
            </a:r>
            <a:r>
              <a:rPr lang="zh-CN" altLang="en-US" sz="2000">
                <a:ea typeface="宋体" panose="02010600030101010101" pitchFamily="2" charset="-122"/>
              </a:rPr>
              <a:t>的左或右子树</a:t>
            </a:r>
            <a:endParaRPr lang="zh-CN" altLang="en-US" sz="2000">
              <a:ea typeface="宋体" panose="02010600030101010101" pitchFamily="2" charset="-122"/>
            </a:endParaRPr>
          </a:p>
          <a:p>
            <a:pPr lvl="2"/>
            <a:r>
              <a:rPr lang="zh-CN" altLang="en-US" sz="2000">
                <a:ea typeface="宋体" panose="02010600030101010101" pitchFamily="2" charset="-122"/>
              </a:rPr>
              <a:t>左右子树均非空时</a:t>
            </a:r>
            <a:r>
              <a:rPr lang="en-US" altLang="zh-CN" sz="2000">
                <a:ea typeface="宋体" panose="02010600030101010101" pitchFamily="2" charset="-122"/>
              </a:rPr>
              <a:t>(</a:t>
            </a:r>
            <a:r>
              <a:rPr lang="zh-CN" altLang="en-US" sz="2000">
                <a:ea typeface="宋体" panose="02010600030101010101" pitchFamily="2" charset="-122"/>
              </a:rPr>
              <a:t>如</a:t>
            </a:r>
            <a:r>
              <a:rPr lang="en-US" altLang="zh-CN" sz="2000">
                <a:ea typeface="宋体" panose="02010600030101010101" pitchFamily="2" charset="-122"/>
              </a:rPr>
              <a:t>P)</a:t>
            </a:r>
            <a:r>
              <a:rPr lang="zh-CN" altLang="en-US" sz="2000">
                <a:ea typeface="宋体" panose="02010600030101010101" pitchFamily="2" charset="-122"/>
              </a:rPr>
              <a:t>，从右子树的根结点</a:t>
            </a:r>
            <a:r>
              <a:rPr lang="en-US" altLang="zh-CN" sz="2000">
                <a:ea typeface="宋体" panose="02010600030101010101" pitchFamily="2" charset="-122"/>
              </a:rPr>
              <a:t>(C)</a:t>
            </a:r>
            <a:r>
              <a:rPr lang="zh-CN" altLang="en-US" sz="2000">
                <a:ea typeface="宋体" panose="02010600030101010101" pitchFamily="2" charset="-122"/>
              </a:rPr>
              <a:t>开始，沿左子树找第一个左子树为空的结点</a:t>
            </a:r>
            <a:r>
              <a:rPr lang="en-US" altLang="zh-CN" sz="2000">
                <a:ea typeface="宋体" panose="02010600030101010101" pitchFamily="2" charset="-122"/>
              </a:rPr>
              <a:t>(S)</a:t>
            </a:r>
            <a:r>
              <a:rPr lang="zh-CN" altLang="en-US" sz="2000">
                <a:ea typeface="宋体" panose="02010600030101010101" pitchFamily="2" charset="-122"/>
              </a:rPr>
              <a:t>；用</a:t>
            </a:r>
            <a:r>
              <a:rPr lang="en-US" altLang="zh-CN" sz="2000">
                <a:ea typeface="宋体" panose="02010600030101010101" pitchFamily="2" charset="-122"/>
              </a:rPr>
              <a:t>S</a:t>
            </a:r>
            <a:r>
              <a:rPr lang="zh-CN" altLang="en-US" sz="2000">
                <a:ea typeface="宋体" panose="02010600030101010101" pitchFamily="2" charset="-122"/>
              </a:rPr>
              <a:t>取代</a:t>
            </a:r>
            <a:r>
              <a:rPr lang="en-US" altLang="zh-CN" sz="2000">
                <a:ea typeface="宋体" panose="02010600030101010101" pitchFamily="2" charset="-122"/>
              </a:rPr>
              <a:t>P</a:t>
            </a:r>
            <a:r>
              <a:rPr lang="zh-CN" altLang="en-US" sz="2000">
                <a:ea typeface="宋体" panose="02010600030101010101" pitchFamily="2" charset="-122"/>
              </a:rPr>
              <a:t>，并修改相应的指针。如图</a:t>
            </a:r>
            <a:endParaRPr lang="zh-CN" altLang="en-US" sz="2000">
              <a:ea typeface="宋体" panose="02010600030101010101" pitchFamily="2" charset="-122"/>
            </a:endParaRPr>
          </a:p>
        </p:txBody>
      </p:sp>
      <p:grpSp>
        <p:nvGrpSpPr>
          <p:cNvPr id="48133" name="Group 59"/>
          <p:cNvGrpSpPr/>
          <p:nvPr/>
        </p:nvGrpSpPr>
        <p:grpSpPr bwMode="auto">
          <a:xfrm>
            <a:off x="287338" y="4535488"/>
            <a:ext cx="1403350" cy="1373187"/>
            <a:chOff x="522" y="2319"/>
            <a:chExt cx="884" cy="865"/>
          </a:xfrm>
        </p:grpSpPr>
        <p:sp>
          <p:nvSpPr>
            <p:cNvPr id="48186" name="Oval 5"/>
            <p:cNvSpPr>
              <a:spLocks noChangeArrowheads="1"/>
            </p:cNvSpPr>
            <p:nvPr/>
          </p:nvSpPr>
          <p:spPr bwMode="auto">
            <a:xfrm>
              <a:off x="715" y="2319"/>
              <a:ext cx="313" cy="265"/>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800" b="1"/>
                <a:t>F</a:t>
              </a:r>
              <a:endParaRPr lang="en-US" altLang="zh-CN" sz="1800" b="1"/>
            </a:p>
          </p:txBody>
        </p:sp>
        <p:sp>
          <p:nvSpPr>
            <p:cNvPr id="48187" name="Oval 6"/>
            <p:cNvSpPr>
              <a:spLocks noChangeArrowheads="1"/>
            </p:cNvSpPr>
            <p:nvPr/>
          </p:nvSpPr>
          <p:spPr bwMode="auto">
            <a:xfrm>
              <a:off x="522" y="2709"/>
              <a:ext cx="313" cy="265"/>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800" b="1"/>
                <a:t>P</a:t>
              </a:r>
              <a:endParaRPr lang="en-US" altLang="zh-CN" sz="1800" b="1"/>
            </a:p>
          </p:txBody>
        </p:sp>
        <p:grpSp>
          <p:nvGrpSpPr>
            <p:cNvPr id="48188" name="Group 7"/>
            <p:cNvGrpSpPr/>
            <p:nvPr/>
          </p:nvGrpSpPr>
          <p:grpSpPr bwMode="auto">
            <a:xfrm>
              <a:off x="925" y="2898"/>
              <a:ext cx="481" cy="286"/>
              <a:chOff x="4048" y="1680"/>
              <a:chExt cx="287" cy="274"/>
            </a:xfrm>
          </p:grpSpPr>
          <p:sp>
            <p:nvSpPr>
              <p:cNvPr id="48191" name="Freeform 8"/>
              <p:cNvSpPr/>
              <p:nvPr/>
            </p:nvSpPr>
            <p:spPr bwMode="auto">
              <a:xfrm>
                <a:off x="4048" y="1680"/>
                <a:ext cx="287" cy="147"/>
              </a:xfrm>
              <a:custGeom>
                <a:avLst/>
                <a:gdLst>
                  <a:gd name="T0" fmla="*/ 176 w 287"/>
                  <a:gd name="T1" fmla="*/ 0 h 391"/>
                  <a:gd name="T2" fmla="*/ 80 w 287"/>
                  <a:gd name="T3" fmla="*/ 0 h 391"/>
                  <a:gd name="T4" fmla="*/ 56 w 287"/>
                  <a:gd name="T5" fmla="*/ 0 h 391"/>
                  <a:gd name="T6" fmla="*/ 40 w 287"/>
                  <a:gd name="T7" fmla="*/ 0 h 391"/>
                  <a:gd name="T8" fmla="*/ 16 w 287"/>
                  <a:gd name="T9" fmla="*/ 0 h 391"/>
                  <a:gd name="T10" fmla="*/ 16 w 287"/>
                  <a:gd name="T11" fmla="*/ 0 h 391"/>
                  <a:gd name="T12" fmla="*/ 88 w 287"/>
                  <a:gd name="T13" fmla="*/ 0 h 391"/>
                  <a:gd name="T14" fmla="*/ 176 w 287"/>
                  <a:gd name="T15" fmla="*/ 0 h 391"/>
                  <a:gd name="T16" fmla="*/ 240 w 287"/>
                  <a:gd name="T17" fmla="*/ 0 h 391"/>
                  <a:gd name="T18" fmla="*/ 248 w 287"/>
                  <a:gd name="T19" fmla="*/ 0 h 391"/>
                  <a:gd name="T20" fmla="*/ 264 w 287"/>
                  <a:gd name="T21" fmla="*/ 0 h 391"/>
                  <a:gd name="T22" fmla="*/ 280 w 287"/>
                  <a:gd name="T23" fmla="*/ 0 h 391"/>
                  <a:gd name="T24" fmla="*/ 256 w 287"/>
                  <a:gd name="T25" fmla="*/ 0 h 391"/>
                  <a:gd name="T26" fmla="*/ 224 w 287"/>
                  <a:gd name="T27" fmla="*/ 0 h 391"/>
                  <a:gd name="T28" fmla="*/ 176 w 287"/>
                  <a:gd name="T29" fmla="*/ 0 h 39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7"/>
                  <a:gd name="T46" fmla="*/ 0 h 391"/>
                  <a:gd name="T47" fmla="*/ 287 w 287"/>
                  <a:gd name="T48" fmla="*/ 391 h 39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7" h="391">
                    <a:moveTo>
                      <a:pt x="176" y="0"/>
                    </a:moveTo>
                    <a:cubicBezTo>
                      <a:pt x="144" y="16"/>
                      <a:pt x="112" y="33"/>
                      <a:pt x="80" y="48"/>
                    </a:cubicBezTo>
                    <a:cubicBezTo>
                      <a:pt x="72" y="52"/>
                      <a:pt x="63" y="51"/>
                      <a:pt x="56" y="56"/>
                    </a:cubicBezTo>
                    <a:cubicBezTo>
                      <a:pt x="48" y="62"/>
                      <a:pt x="47" y="73"/>
                      <a:pt x="40" y="80"/>
                    </a:cubicBezTo>
                    <a:cubicBezTo>
                      <a:pt x="33" y="87"/>
                      <a:pt x="24" y="91"/>
                      <a:pt x="16" y="96"/>
                    </a:cubicBezTo>
                    <a:cubicBezTo>
                      <a:pt x="12" y="152"/>
                      <a:pt x="0" y="231"/>
                      <a:pt x="16" y="288"/>
                    </a:cubicBezTo>
                    <a:cubicBezTo>
                      <a:pt x="23" y="312"/>
                      <a:pt x="70" y="324"/>
                      <a:pt x="88" y="336"/>
                    </a:cubicBezTo>
                    <a:cubicBezTo>
                      <a:pt x="106" y="391"/>
                      <a:pt x="143" y="358"/>
                      <a:pt x="176" y="336"/>
                    </a:cubicBezTo>
                    <a:cubicBezTo>
                      <a:pt x="194" y="301"/>
                      <a:pt x="213" y="291"/>
                      <a:pt x="240" y="264"/>
                    </a:cubicBezTo>
                    <a:cubicBezTo>
                      <a:pt x="243" y="256"/>
                      <a:pt x="244" y="248"/>
                      <a:pt x="248" y="240"/>
                    </a:cubicBezTo>
                    <a:cubicBezTo>
                      <a:pt x="252" y="231"/>
                      <a:pt x="260" y="225"/>
                      <a:pt x="264" y="216"/>
                    </a:cubicBezTo>
                    <a:cubicBezTo>
                      <a:pt x="271" y="201"/>
                      <a:pt x="280" y="168"/>
                      <a:pt x="280" y="168"/>
                    </a:cubicBezTo>
                    <a:cubicBezTo>
                      <a:pt x="276" y="125"/>
                      <a:pt x="287" y="87"/>
                      <a:pt x="256" y="56"/>
                    </a:cubicBezTo>
                    <a:cubicBezTo>
                      <a:pt x="247" y="47"/>
                      <a:pt x="235" y="40"/>
                      <a:pt x="224" y="32"/>
                    </a:cubicBezTo>
                    <a:cubicBezTo>
                      <a:pt x="208" y="21"/>
                      <a:pt x="176" y="0"/>
                      <a:pt x="176" y="0"/>
                    </a:cubicBezTo>
                    <a:close/>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spAutoFit/>
              </a:bodyPr>
              <a:lstStyle/>
              <a:p>
                <a:endParaRPr lang="zh-CN" altLang="en-US"/>
              </a:p>
            </p:txBody>
          </p:sp>
          <p:sp>
            <p:nvSpPr>
              <p:cNvPr id="48192" name="Text Box 9"/>
              <p:cNvSpPr txBox="1">
                <a:spLocks noChangeArrowheads="1"/>
              </p:cNvSpPr>
              <p:nvPr/>
            </p:nvSpPr>
            <p:spPr bwMode="auto">
              <a:xfrm>
                <a:off x="4135" y="1773"/>
                <a:ext cx="12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800" b="1"/>
                  <a:t>P</a:t>
                </a:r>
                <a:r>
                  <a:rPr lang="en-US" altLang="zh-CN" sz="1800" b="1" baseline="-25000"/>
                  <a:t>R</a:t>
                </a:r>
                <a:endParaRPr lang="en-US" altLang="zh-CN" sz="1800" b="1" baseline="-25000"/>
              </a:p>
            </p:txBody>
          </p:sp>
        </p:grpSp>
        <p:sp>
          <p:nvSpPr>
            <p:cNvPr id="48189" name="Line 10"/>
            <p:cNvSpPr>
              <a:spLocks noChangeShapeType="1"/>
            </p:cNvSpPr>
            <p:nvPr/>
          </p:nvSpPr>
          <p:spPr bwMode="auto">
            <a:xfrm flipH="1">
              <a:off x="737" y="2579"/>
              <a:ext cx="77" cy="144"/>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sp>
          <p:nvSpPr>
            <p:cNvPr id="48190" name="Line 11"/>
            <p:cNvSpPr>
              <a:spLocks noChangeShapeType="1"/>
            </p:cNvSpPr>
            <p:nvPr/>
          </p:nvSpPr>
          <p:spPr bwMode="auto">
            <a:xfrm>
              <a:off x="808" y="2919"/>
              <a:ext cx="145" cy="68"/>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grpSp>
      <p:grpSp>
        <p:nvGrpSpPr>
          <p:cNvPr id="48134" name="Group 58"/>
          <p:cNvGrpSpPr/>
          <p:nvPr/>
        </p:nvGrpSpPr>
        <p:grpSpPr bwMode="auto">
          <a:xfrm>
            <a:off x="6588125" y="3933825"/>
            <a:ext cx="2339975" cy="2474913"/>
            <a:chOff x="3878" y="2478"/>
            <a:chExt cx="1474" cy="1559"/>
          </a:xfrm>
        </p:grpSpPr>
        <p:sp>
          <p:nvSpPr>
            <p:cNvPr id="48167" name="Oval 14"/>
            <p:cNvSpPr>
              <a:spLocks noChangeArrowheads="1"/>
            </p:cNvSpPr>
            <p:nvPr/>
          </p:nvSpPr>
          <p:spPr bwMode="auto">
            <a:xfrm>
              <a:off x="4438" y="2478"/>
              <a:ext cx="276" cy="237"/>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600" b="1"/>
                <a:t>F</a:t>
              </a:r>
              <a:endParaRPr lang="en-US" altLang="zh-CN" sz="1600" b="1"/>
            </a:p>
          </p:txBody>
        </p:sp>
        <p:sp>
          <p:nvSpPr>
            <p:cNvPr id="48168" name="Oval 15"/>
            <p:cNvSpPr>
              <a:spLocks noChangeArrowheads="1"/>
            </p:cNvSpPr>
            <p:nvPr/>
          </p:nvSpPr>
          <p:spPr bwMode="auto">
            <a:xfrm>
              <a:off x="4245" y="2834"/>
              <a:ext cx="276" cy="237"/>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600" b="1"/>
                <a:t>S</a:t>
              </a:r>
              <a:endParaRPr lang="en-US" altLang="zh-CN" sz="1600" b="1"/>
            </a:p>
          </p:txBody>
        </p:sp>
        <p:grpSp>
          <p:nvGrpSpPr>
            <p:cNvPr id="48169" name="Group 16"/>
            <p:cNvGrpSpPr/>
            <p:nvPr/>
          </p:nvGrpSpPr>
          <p:grpSpPr bwMode="auto">
            <a:xfrm>
              <a:off x="4930" y="3219"/>
              <a:ext cx="422" cy="270"/>
              <a:chOff x="4048" y="1680"/>
              <a:chExt cx="287" cy="253"/>
            </a:xfrm>
          </p:grpSpPr>
          <p:sp>
            <p:nvSpPr>
              <p:cNvPr id="48184" name="Freeform 17"/>
              <p:cNvSpPr/>
              <p:nvPr/>
            </p:nvSpPr>
            <p:spPr bwMode="auto">
              <a:xfrm>
                <a:off x="4048" y="1680"/>
                <a:ext cx="287" cy="143"/>
              </a:xfrm>
              <a:custGeom>
                <a:avLst/>
                <a:gdLst>
                  <a:gd name="T0" fmla="*/ 176 w 287"/>
                  <a:gd name="T1" fmla="*/ 0 h 391"/>
                  <a:gd name="T2" fmla="*/ 80 w 287"/>
                  <a:gd name="T3" fmla="*/ 0 h 391"/>
                  <a:gd name="T4" fmla="*/ 56 w 287"/>
                  <a:gd name="T5" fmla="*/ 0 h 391"/>
                  <a:gd name="T6" fmla="*/ 40 w 287"/>
                  <a:gd name="T7" fmla="*/ 0 h 391"/>
                  <a:gd name="T8" fmla="*/ 16 w 287"/>
                  <a:gd name="T9" fmla="*/ 0 h 391"/>
                  <a:gd name="T10" fmla="*/ 16 w 287"/>
                  <a:gd name="T11" fmla="*/ 0 h 391"/>
                  <a:gd name="T12" fmla="*/ 88 w 287"/>
                  <a:gd name="T13" fmla="*/ 0 h 391"/>
                  <a:gd name="T14" fmla="*/ 176 w 287"/>
                  <a:gd name="T15" fmla="*/ 0 h 391"/>
                  <a:gd name="T16" fmla="*/ 240 w 287"/>
                  <a:gd name="T17" fmla="*/ 0 h 391"/>
                  <a:gd name="T18" fmla="*/ 248 w 287"/>
                  <a:gd name="T19" fmla="*/ 0 h 391"/>
                  <a:gd name="T20" fmla="*/ 264 w 287"/>
                  <a:gd name="T21" fmla="*/ 0 h 391"/>
                  <a:gd name="T22" fmla="*/ 280 w 287"/>
                  <a:gd name="T23" fmla="*/ 0 h 391"/>
                  <a:gd name="T24" fmla="*/ 256 w 287"/>
                  <a:gd name="T25" fmla="*/ 0 h 391"/>
                  <a:gd name="T26" fmla="*/ 224 w 287"/>
                  <a:gd name="T27" fmla="*/ 0 h 391"/>
                  <a:gd name="T28" fmla="*/ 176 w 287"/>
                  <a:gd name="T29" fmla="*/ 0 h 39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7"/>
                  <a:gd name="T46" fmla="*/ 0 h 391"/>
                  <a:gd name="T47" fmla="*/ 287 w 287"/>
                  <a:gd name="T48" fmla="*/ 391 h 39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7" h="391">
                    <a:moveTo>
                      <a:pt x="176" y="0"/>
                    </a:moveTo>
                    <a:cubicBezTo>
                      <a:pt x="144" y="16"/>
                      <a:pt x="112" y="33"/>
                      <a:pt x="80" y="48"/>
                    </a:cubicBezTo>
                    <a:cubicBezTo>
                      <a:pt x="72" y="52"/>
                      <a:pt x="63" y="51"/>
                      <a:pt x="56" y="56"/>
                    </a:cubicBezTo>
                    <a:cubicBezTo>
                      <a:pt x="48" y="62"/>
                      <a:pt x="47" y="73"/>
                      <a:pt x="40" y="80"/>
                    </a:cubicBezTo>
                    <a:cubicBezTo>
                      <a:pt x="33" y="87"/>
                      <a:pt x="24" y="91"/>
                      <a:pt x="16" y="96"/>
                    </a:cubicBezTo>
                    <a:cubicBezTo>
                      <a:pt x="12" y="152"/>
                      <a:pt x="0" y="231"/>
                      <a:pt x="16" y="288"/>
                    </a:cubicBezTo>
                    <a:cubicBezTo>
                      <a:pt x="23" y="312"/>
                      <a:pt x="70" y="324"/>
                      <a:pt x="88" y="336"/>
                    </a:cubicBezTo>
                    <a:cubicBezTo>
                      <a:pt x="106" y="391"/>
                      <a:pt x="143" y="358"/>
                      <a:pt x="176" y="336"/>
                    </a:cubicBezTo>
                    <a:cubicBezTo>
                      <a:pt x="194" y="301"/>
                      <a:pt x="213" y="291"/>
                      <a:pt x="240" y="264"/>
                    </a:cubicBezTo>
                    <a:cubicBezTo>
                      <a:pt x="243" y="256"/>
                      <a:pt x="244" y="248"/>
                      <a:pt x="248" y="240"/>
                    </a:cubicBezTo>
                    <a:cubicBezTo>
                      <a:pt x="252" y="231"/>
                      <a:pt x="260" y="225"/>
                      <a:pt x="264" y="216"/>
                    </a:cubicBezTo>
                    <a:cubicBezTo>
                      <a:pt x="271" y="201"/>
                      <a:pt x="280" y="168"/>
                      <a:pt x="280" y="168"/>
                    </a:cubicBezTo>
                    <a:cubicBezTo>
                      <a:pt x="276" y="125"/>
                      <a:pt x="287" y="87"/>
                      <a:pt x="256" y="56"/>
                    </a:cubicBezTo>
                    <a:cubicBezTo>
                      <a:pt x="247" y="47"/>
                      <a:pt x="235" y="40"/>
                      <a:pt x="224" y="32"/>
                    </a:cubicBezTo>
                    <a:cubicBezTo>
                      <a:pt x="208" y="21"/>
                      <a:pt x="176" y="0"/>
                      <a:pt x="176" y="0"/>
                    </a:cubicBezTo>
                    <a:close/>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spAutoFit/>
              </a:bodyPr>
              <a:lstStyle/>
              <a:p>
                <a:endParaRPr lang="zh-CN" altLang="en-US"/>
              </a:p>
            </p:txBody>
          </p:sp>
          <p:sp>
            <p:nvSpPr>
              <p:cNvPr id="48185" name="Text Box 18"/>
              <p:cNvSpPr txBox="1">
                <a:spLocks noChangeArrowheads="1"/>
              </p:cNvSpPr>
              <p:nvPr/>
            </p:nvSpPr>
            <p:spPr bwMode="auto">
              <a:xfrm>
                <a:off x="4135" y="1773"/>
                <a:ext cx="12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600" b="1"/>
                  <a:t>C</a:t>
                </a:r>
                <a:r>
                  <a:rPr lang="en-US" altLang="zh-CN" sz="1600" b="1" baseline="-25000"/>
                  <a:t>R</a:t>
                </a:r>
                <a:endParaRPr lang="en-US" altLang="zh-CN" sz="1600" b="1" baseline="-25000"/>
              </a:p>
            </p:txBody>
          </p:sp>
        </p:grpSp>
        <p:sp>
          <p:nvSpPr>
            <p:cNvPr id="48170" name="Line 19"/>
            <p:cNvSpPr>
              <a:spLocks noChangeShapeType="1"/>
            </p:cNvSpPr>
            <p:nvPr/>
          </p:nvSpPr>
          <p:spPr bwMode="auto">
            <a:xfrm flipH="1">
              <a:off x="4454" y="2717"/>
              <a:ext cx="56" cy="132"/>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sp>
          <p:nvSpPr>
            <p:cNvPr id="48171" name="Line 20"/>
            <p:cNvSpPr>
              <a:spLocks noChangeShapeType="1"/>
            </p:cNvSpPr>
            <p:nvPr/>
          </p:nvSpPr>
          <p:spPr bwMode="auto">
            <a:xfrm>
              <a:off x="4476" y="3058"/>
              <a:ext cx="136" cy="75"/>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grpSp>
          <p:nvGrpSpPr>
            <p:cNvPr id="48172" name="Group 21"/>
            <p:cNvGrpSpPr/>
            <p:nvPr/>
          </p:nvGrpSpPr>
          <p:grpSpPr bwMode="auto">
            <a:xfrm>
              <a:off x="3878" y="3158"/>
              <a:ext cx="422" cy="270"/>
              <a:chOff x="4048" y="1680"/>
              <a:chExt cx="287" cy="253"/>
            </a:xfrm>
          </p:grpSpPr>
          <p:sp>
            <p:nvSpPr>
              <p:cNvPr id="48182" name="Freeform 22"/>
              <p:cNvSpPr/>
              <p:nvPr/>
            </p:nvSpPr>
            <p:spPr bwMode="auto">
              <a:xfrm>
                <a:off x="4048" y="1680"/>
                <a:ext cx="287" cy="143"/>
              </a:xfrm>
              <a:custGeom>
                <a:avLst/>
                <a:gdLst>
                  <a:gd name="T0" fmla="*/ 176 w 287"/>
                  <a:gd name="T1" fmla="*/ 0 h 391"/>
                  <a:gd name="T2" fmla="*/ 80 w 287"/>
                  <a:gd name="T3" fmla="*/ 0 h 391"/>
                  <a:gd name="T4" fmla="*/ 56 w 287"/>
                  <a:gd name="T5" fmla="*/ 0 h 391"/>
                  <a:gd name="T6" fmla="*/ 40 w 287"/>
                  <a:gd name="T7" fmla="*/ 0 h 391"/>
                  <a:gd name="T8" fmla="*/ 16 w 287"/>
                  <a:gd name="T9" fmla="*/ 0 h 391"/>
                  <a:gd name="T10" fmla="*/ 16 w 287"/>
                  <a:gd name="T11" fmla="*/ 0 h 391"/>
                  <a:gd name="T12" fmla="*/ 88 w 287"/>
                  <a:gd name="T13" fmla="*/ 0 h 391"/>
                  <a:gd name="T14" fmla="*/ 176 w 287"/>
                  <a:gd name="T15" fmla="*/ 0 h 391"/>
                  <a:gd name="T16" fmla="*/ 240 w 287"/>
                  <a:gd name="T17" fmla="*/ 0 h 391"/>
                  <a:gd name="T18" fmla="*/ 248 w 287"/>
                  <a:gd name="T19" fmla="*/ 0 h 391"/>
                  <a:gd name="T20" fmla="*/ 264 w 287"/>
                  <a:gd name="T21" fmla="*/ 0 h 391"/>
                  <a:gd name="T22" fmla="*/ 280 w 287"/>
                  <a:gd name="T23" fmla="*/ 0 h 391"/>
                  <a:gd name="T24" fmla="*/ 256 w 287"/>
                  <a:gd name="T25" fmla="*/ 0 h 391"/>
                  <a:gd name="T26" fmla="*/ 224 w 287"/>
                  <a:gd name="T27" fmla="*/ 0 h 391"/>
                  <a:gd name="T28" fmla="*/ 176 w 287"/>
                  <a:gd name="T29" fmla="*/ 0 h 39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7"/>
                  <a:gd name="T46" fmla="*/ 0 h 391"/>
                  <a:gd name="T47" fmla="*/ 287 w 287"/>
                  <a:gd name="T48" fmla="*/ 391 h 39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7" h="391">
                    <a:moveTo>
                      <a:pt x="176" y="0"/>
                    </a:moveTo>
                    <a:cubicBezTo>
                      <a:pt x="144" y="16"/>
                      <a:pt x="112" y="33"/>
                      <a:pt x="80" y="48"/>
                    </a:cubicBezTo>
                    <a:cubicBezTo>
                      <a:pt x="72" y="52"/>
                      <a:pt x="63" y="51"/>
                      <a:pt x="56" y="56"/>
                    </a:cubicBezTo>
                    <a:cubicBezTo>
                      <a:pt x="48" y="62"/>
                      <a:pt x="47" y="73"/>
                      <a:pt x="40" y="80"/>
                    </a:cubicBezTo>
                    <a:cubicBezTo>
                      <a:pt x="33" y="87"/>
                      <a:pt x="24" y="91"/>
                      <a:pt x="16" y="96"/>
                    </a:cubicBezTo>
                    <a:cubicBezTo>
                      <a:pt x="12" y="152"/>
                      <a:pt x="0" y="231"/>
                      <a:pt x="16" y="288"/>
                    </a:cubicBezTo>
                    <a:cubicBezTo>
                      <a:pt x="23" y="312"/>
                      <a:pt x="70" y="324"/>
                      <a:pt x="88" y="336"/>
                    </a:cubicBezTo>
                    <a:cubicBezTo>
                      <a:pt x="106" y="391"/>
                      <a:pt x="143" y="358"/>
                      <a:pt x="176" y="336"/>
                    </a:cubicBezTo>
                    <a:cubicBezTo>
                      <a:pt x="194" y="301"/>
                      <a:pt x="213" y="291"/>
                      <a:pt x="240" y="264"/>
                    </a:cubicBezTo>
                    <a:cubicBezTo>
                      <a:pt x="243" y="256"/>
                      <a:pt x="244" y="248"/>
                      <a:pt x="248" y="240"/>
                    </a:cubicBezTo>
                    <a:cubicBezTo>
                      <a:pt x="252" y="231"/>
                      <a:pt x="260" y="225"/>
                      <a:pt x="264" y="216"/>
                    </a:cubicBezTo>
                    <a:cubicBezTo>
                      <a:pt x="271" y="201"/>
                      <a:pt x="280" y="168"/>
                      <a:pt x="280" y="168"/>
                    </a:cubicBezTo>
                    <a:cubicBezTo>
                      <a:pt x="276" y="125"/>
                      <a:pt x="287" y="87"/>
                      <a:pt x="256" y="56"/>
                    </a:cubicBezTo>
                    <a:cubicBezTo>
                      <a:pt x="247" y="47"/>
                      <a:pt x="235" y="40"/>
                      <a:pt x="224" y="32"/>
                    </a:cubicBezTo>
                    <a:cubicBezTo>
                      <a:pt x="208" y="21"/>
                      <a:pt x="176" y="0"/>
                      <a:pt x="176" y="0"/>
                    </a:cubicBezTo>
                    <a:close/>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spAutoFit/>
              </a:bodyPr>
              <a:lstStyle/>
              <a:p>
                <a:endParaRPr lang="zh-CN" altLang="en-US"/>
              </a:p>
            </p:txBody>
          </p:sp>
          <p:sp>
            <p:nvSpPr>
              <p:cNvPr id="48183" name="Text Box 23"/>
              <p:cNvSpPr txBox="1">
                <a:spLocks noChangeArrowheads="1"/>
              </p:cNvSpPr>
              <p:nvPr/>
            </p:nvSpPr>
            <p:spPr bwMode="auto">
              <a:xfrm>
                <a:off x="4135" y="1773"/>
                <a:ext cx="12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600" b="1"/>
                  <a:t>P</a:t>
                </a:r>
                <a:r>
                  <a:rPr lang="en-US" altLang="zh-CN" sz="1600" b="1" baseline="-25000"/>
                  <a:t>L</a:t>
                </a:r>
                <a:endParaRPr lang="en-US" altLang="zh-CN" sz="1600" b="1" baseline="-25000"/>
              </a:p>
            </p:txBody>
          </p:sp>
        </p:grpSp>
        <p:sp>
          <p:nvSpPr>
            <p:cNvPr id="48173" name="Oval 24"/>
            <p:cNvSpPr>
              <a:spLocks noChangeArrowheads="1"/>
            </p:cNvSpPr>
            <p:nvPr/>
          </p:nvSpPr>
          <p:spPr bwMode="auto">
            <a:xfrm>
              <a:off x="4574" y="3096"/>
              <a:ext cx="276" cy="237"/>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600" b="1"/>
                <a:t>C</a:t>
              </a:r>
              <a:endParaRPr lang="en-US" altLang="zh-CN" sz="1600" b="1"/>
            </a:p>
          </p:txBody>
        </p:sp>
        <p:sp>
          <p:nvSpPr>
            <p:cNvPr id="48174" name="Line 25"/>
            <p:cNvSpPr>
              <a:spLocks noChangeShapeType="1"/>
            </p:cNvSpPr>
            <p:nvPr/>
          </p:nvSpPr>
          <p:spPr bwMode="auto">
            <a:xfrm flipH="1">
              <a:off x="4213" y="3061"/>
              <a:ext cx="79" cy="139"/>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sp>
          <p:nvSpPr>
            <p:cNvPr id="48175" name="Oval 26"/>
            <p:cNvSpPr>
              <a:spLocks noChangeArrowheads="1"/>
            </p:cNvSpPr>
            <p:nvPr/>
          </p:nvSpPr>
          <p:spPr bwMode="auto">
            <a:xfrm>
              <a:off x="4374" y="3430"/>
              <a:ext cx="276" cy="237"/>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600" b="1"/>
                <a:t>Q</a:t>
              </a:r>
              <a:endParaRPr lang="en-US" altLang="zh-CN" sz="1600" b="1"/>
            </a:p>
          </p:txBody>
        </p:sp>
        <p:sp>
          <p:nvSpPr>
            <p:cNvPr id="48176" name="Line 27"/>
            <p:cNvSpPr>
              <a:spLocks noChangeShapeType="1"/>
            </p:cNvSpPr>
            <p:nvPr/>
          </p:nvSpPr>
          <p:spPr bwMode="auto">
            <a:xfrm flipH="1">
              <a:off x="4575" y="3323"/>
              <a:ext cx="55" cy="111"/>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sp>
          <p:nvSpPr>
            <p:cNvPr id="48177" name="Line 28"/>
            <p:cNvSpPr>
              <a:spLocks noChangeShapeType="1"/>
            </p:cNvSpPr>
            <p:nvPr/>
          </p:nvSpPr>
          <p:spPr bwMode="auto">
            <a:xfrm>
              <a:off x="4846" y="3267"/>
              <a:ext cx="105" cy="57"/>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grpSp>
          <p:nvGrpSpPr>
            <p:cNvPr id="48178" name="Group 29"/>
            <p:cNvGrpSpPr/>
            <p:nvPr/>
          </p:nvGrpSpPr>
          <p:grpSpPr bwMode="auto">
            <a:xfrm>
              <a:off x="4082" y="3767"/>
              <a:ext cx="422" cy="270"/>
              <a:chOff x="4048" y="1680"/>
              <a:chExt cx="287" cy="253"/>
            </a:xfrm>
          </p:grpSpPr>
          <p:sp>
            <p:nvSpPr>
              <p:cNvPr id="48180" name="Freeform 30"/>
              <p:cNvSpPr/>
              <p:nvPr/>
            </p:nvSpPr>
            <p:spPr bwMode="auto">
              <a:xfrm>
                <a:off x="4048" y="1680"/>
                <a:ext cx="287" cy="143"/>
              </a:xfrm>
              <a:custGeom>
                <a:avLst/>
                <a:gdLst>
                  <a:gd name="T0" fmla="*/ 176 w 287"/>
                  <a:gd name="T1" fmla="*/ 0 h 391"/>
                  <a:gd name="T2" fmla="*/ 80 w 287"/>
                  <a:gd name="T3" fmla="*/ 0 h 391"/>
                  <a:gd name="T4" fmla="*/ 56 w 287"/>
                  <a:gd name="T5" fmla="*/ 0 h 391"/>
                  <a:gd name="T6" fmla="*/ 40 w 287"/>
                  <a:gd name="T7" fmla="*/ 0 h 391"/>
                  <a:gd name="T8" fmla="*/ 16 w 287"/>
                  <a:gd name="T9" fmla="*/ 0 h 391"/>
                  <a:gd name="T10" fmla="*/ 16 w 287"/>
                  <a:gd name="T11" fmla="*/ 0 h 391"/>
                  <a:gd name="T12" fmla="*/ 88 w 287"/>
                  <a:gd name="T13" fmla="*/ 0 h 391"/>
                  <a:gd name="T14" fmla="*/ 176 w 287"/>
                  <a:gd name="T15" fmla="*/ 0 h 391"/>
                  <a:gd name="T16" fmla="*/ 240 w 287"/>
                  <a:gd name="T17" fmla="*/ 0 h 391"/>
                  <a:gd name="T18" fmla="*/ 248 w 287"/>
                  <a:gd name="T19" fmla="*/ 0 h 391"/>
                  <a:gd name="T20" fmla="*/ 264 w 287"/>
                  <a:gd name="T21" fmla="*/ 0 h 391"/>
                  <a:gd name="T22" fmla="*/ 280 w 287"/>
                  <a:gd name="T23" fmla="*/ 0 h 391"/>
                  <a:gd name="T24" fmla="*/ 256 w 287"/>
                  <a:gd name="T25" fmla="*/ 0 h 391"/>
                  <a:gd name="T26" fmla="*/ 224 w 287"/>
                  <a:gd name="T27" fmla="*/ 0 h 391"/>
                  <a:gd name="T28" fmla="*/ 176 w 287"/>
                  <a:gd name="T29" fmla="*/ 0 h 39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7"/>
                  <a:gd name="T46" fmla="*/ 0 h 391"/>
                  <a:gd name="T47" fmla="*/ 287 w 287"/>
                  <a:gd name="T48" fmla="*/ 391 h 39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7" h="391">
                    <a:moveTo>
                      <a:pt x="176" y="0"/>
                    </a:moveTo>
                    <a:cubicBezTo>
                      <a:pt x="144" y="16"/>
                      <a:pt x="112" y="33"/>
                      <a:pt x="80" y="48"/>
                    </a:cubicBezTo>
                    <a:cubicBezTo>
                      <a:pt x="72" y="52"/>
                      <a:pt x="63" y="51"/>
                      <a:pt x="56" y="56"/>
                    </a:cubicBezTo>
                    <a:cubicBezTo>
                      <a:pt x="48" y="62"/>
                      <a:pt x="47" y="73"/>
                      <a:pt x="40" y="80"/>
                    </a:cubicBezTo>
                    <a:cubicBezTo>
                      <a:pt x="33" y="87"/>
                      <a:pt x="24" y="91"/>
                      <a:pt x="16" y="96"/>
                    </a:cubicBezTo>
                    <a:cubicBezTo>
                      <a:pt x="12" y="152"/>
                      <a:pt x="0" y="231"/>
                      <a:pt x="16" y="288"/>
                    </a:cubicBezTo>
                    <a:cubicBezTo>
                      <a:pt x="23" y="312"/>
                      <a:pt x="70" y="324"/>
                      <a:pt x="88" y="336"/>
                    </a:cubicBezTo>
                    <a:cubicBezTo>
                      <a:pt x="106" y="391"/>
                      <a:pt x="143" y="358"/>
                      <a:pt x="176" y="336"/>
                    </a:cubicBezTo>
                    <a:cubicBezTo>
                      <a:pt x="194" y="301"/>
                      <a:pt x="213" y="291"/>
                      <a:pt x="240" y="264"/>
                    </a:cubicBezTo>
                    <a:cubicBezTo>
                      <a:pt x="243" y="256"/>
                      <a:pt x="244" y="248"/>
                      <a:pt x="248" y="240"/>
                    </a:cubicBezTo>
                    <a:cubicBezTo>
                      <a:pt x="252" y="231"/>
                      <a:pt x="260" y="225"/>
                      <a:pt x="264" y="216"/>
                    </a:cubicBezTo>
                    <a:cubicBezTo>
                      <a:pt x="271" y="201"/>
                      <a:pt x="280" y="168"/>
                      <a:pt x="280" y="168"/>
                    </a:cubicBezTo>
                    <a:cubicBezTo>
                      <a:pt x="276" y="125"/>
                      <a:pt x="287" y="87"/>
                      <a:pt x="256" y="56"/>
                    </a:cubicBezTo>
                    <a:cubicBezTo>
                      <a:pt x="247" y="47"/>
                      <a:pt x="235" y="40"/>
                      <a:pt x="224" y="32"/>
                    </a:cubicBezTo>
                    <a:cubicBezTo>
                      <a:pt x="208" y="21"/>
                      <a:pt x="176" y="0"/>
                      <a:pt x="176" y="0"/>
                    </a:cubicBezTo>
                    <a:close/>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spAutoFit/>
              </a:bodyPr>
              <a:lstStyle/>
              <a:p>
                <a:endParaRPr lang="zh-CN" altLang="en-US"/>
              </a:p>
            </p:txBody>
          </p:sp>
          <p:sp>
            <p:nvSpPr>
              <p:cNvPr id="48181" name="Text Box 31"/>
              <p:cNvSpPr txBox="1">
                <a:spLocks noChangeArrowheads="1"/>
              </p:cNvSpPr>
              <p:nvPr/>
            </p:nvSpPr>
            <p:spPr bwMode="auto">
              <a:xfrm>
                <a:off x="4135" y="1773"/>
                <a:ext cx="12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600" b="1"/>
                  <a:t>S</a:t>
                </a:r>
                <a:r>
                  <a:rPr lang="en-US" altLang="zh-CN" sz="1600" b="1" baseline="-25000"/>
                  <a:t>R</a:t>
                </a:r>
                <a:endParaRPr lang="en-US" altLang="zh-CN" sz="1600" b="1" baseline="-25000"/>
              </a:p>
            </p:txBody>
          </p:sp>
        </p:grpSp>
        <p:sp>
          <p:nvSpPr>
            <p:cNvPr id="48179" name="Line 32"/>
            <p:cNvSpPr>
              <a:spLocks noChangeShapeType="1"/>
            </p:cNvSpPr>
            <p:nvPr/>
          </p:nvSpPr>
          <p:spPr bwMode="auto">
            <a:xfrm flipH="1">
              <a:off x="4400" y="3680"/>
              <a:ext cx="68" cy="113"/>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grpSp>
      <p:grpSp>
        <p:nvGrpSpPr>
          <p:cNvPr id="48135" name="Group 33"/>
          <p:cNvGrpSpPr/>
          <p:nvPr/>
        </p:nvGrpSpPr>
        <p:grpSpPr bwMode="auto">
          <a:xfrm>
            <a:off x="3455988" y="3927475"/>
            <a:ext cx="2555875" cy="2452688"/>
            <a:chOff x="2578" y="1746"/>
            <a:chExt cx="1269" cy="1376"/>
          </a:xfrm>
        </p:grpSpPr>
        <p:sp>
          <p:nvSpPr>
            <p:cNvPr id="48146" name="Oval 34"/>
            <p:cNvSpPr>
              <a:spLocks noChangeArrowheads="1"/>
            </p:cNvSpPr>
            <p:nvPr/>
          </p:nvSpPr>
          <p:spPr bwMode="auto">
            <a:xfrm>
              <a:off x="3061" y="1746"/>
              <a:ext cx="238" cy="212"/>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600" b="1"/>
                <a:t>F</a:t>
              </a:r>
              <a:endParaRPr lang="en-US" altLang="zh-CN" sz="1600" b="1"/>
            </a:p>
          </p:txBody>
        </p:sp>
        <p:sp>
          <p:nvSpPr>
            <p:cNvPr id="48147" name="Oval 35"/>
            <p:cNvSpPr>
              <a:spLocks noChangeArrowheads="1"/>
            </p:cNvSpPr>
            <p:nvPr/>
          </p:nvSpPr>
          <p:spPr bwMode="auto">
            <a:xfrm>
              <a:off x="2895" y="2034"/>
              <a:ext cx="238" cy="212"/>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600" b="1"/>
                <a:t>P</a:t>
              </a:r>
              <a:endParaRPr lang="en-US" altLang="zh-CN" sz="1600" b="1"/>
            </a:p>
          </p:txBody>
        </p:sp>
        <p:grpSp>
          <p:nvGrpSpPr>
            <p:cNvPr id="48148" name="Group 36"/>
            <p:cNvGrpSpPr/>
            <p:nvPr/>
          </p:nvGrpSpPr>
          <p:grpSpPr bwMode="auto">
            <a:xfrm>
              <a:off x="3484" y="2358"/>
              <a:ext cx="363" cy="233"/>
              <a:chOff x="4048" y="1680"/>
              <a:chExt cx="287" cy="270"/>
            </a:xfrm>
          </p:grpSpPr>
          <p:sp>
            <p:nvSpPr>
              <p:cNvPr id="48165" name="Freeform 37"/>
              <p:cNvSpPr/>
              <p:nvPr/>
            </p:nvSpPr>
            <p:spPr bwMode="auto">
              <a:xfrm>
                <a:off x="4048" y="1680"/>
                <a:ext cx="287" cy="158"/>
              </a:xfrm>
              <a:custGeom>
                <a:avLst/>
                <a:gdLst>
                  <a:gd name="T0" fmla="*/ 176 w 287"/>
                  <a:gd name="T1" fmla="*/ 0 h 391"/>
                  <a:gd name="T2" fmla="*/ 80 w 287"/>
                  <a:gd name="T3" fmla="*/ 0 h 391"/>
                  <a:gd name="T4" fmla="*/ 56 w 287"/>
                  <a:gd name="T5" fmla="*/ 0 h 391"/>
                  <a:gd name="T6" fmla="*/ 40 w 287"/>
                  <a:gd name="T7" fmla="*/ 0 h 391"/>
                  <a:gd name="T8" fmla="*/ 16 w 287"/>
                  <a:gd name="T9" fmla="*/ 0 h 391"/>
                  <a:gd name="T10" fmla="*/ 16 w 287"/>
                  <a:gd name="T11" fmla="*/ 0 h 391"/>
                  <a:gd name="T12" fmla="*/ 88 w 287"/>
                  <a:gd name="T13" fmla="*/ 0 h 391"/>
                  <a:gd name="T14" fmla="*/ 176 w 287"/>
                  <a:gd name="T15" fmla="*/ 0 h 391"/>
                  <a:gd name="T16" fmla="*/ 240 w 287"/>
                  <a:gd name="T17" fmla="*/ 0 h 391"/>
                  <a:gd name="T18" fmla="*/ 248 w 287"/>
                  <a:gd name="T19" fmla="*/ 0 h 391"/>
                  <a:gd name="T20" fmla="*/ 264 w 287"/>
                  <a:gd name="T21" fmla="*/ 0 h 391"/>
                  <a:gd name="T22" fmla="*/ 280 w 287"/>
                  <a:gd name="T23" fmla="*/ 0 h 391"/>
                  <a:gd name="T24" fmla="*/ 256 w 287"/>
                  <a:gd name="T25" fmla="*/ 0 h 391"/>
                  <a:gd name="T26" fmla="*/ 224 w 287"/>
                  <a:gd name="T27" fmla="*/ 0 h 391"/>
                  <a:gd name="T28" fmla="*/ 176 w 287"/>
                  <a:gd name="T29" fmla="*/ 0 h 39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7"/>
                  <a:gd name="T46" fmla="*/ 0 h 391"/>
                  <a:gd name="T47" fmla="*/ 287 w 287"/>
                  <a:gd name="T48" fmla="*/ 391 h 39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7" h="391">
                    <a:moveTo>
                      <a:pt x="176" y="0"/>
                    </a:moveTo>
                    <a:cubicBezTo>
                      <a:pt x="144" y="16"/>
                      <a:pt x="112" y="33"/>
                      <a:pt x="80" y="48"/>
                    </a:cubicBezTo>
                    <a:cubicBezTo>
                      <a:pt x="72" y="52"/>
                      <a:pt x="63" y="51"/>
                      <a:pt x="56" y="56"/>
                    </a:cubicBezTo>
                    <a:cubicBezTo>
                      <a:pt x="48" y="62"/>
                      <a:pt x="47" y="73"/>
                      <a:pt x="40" y="80"/>
                    </a:cubicBezTo>
                    <a:cubicBezTo>
                      <a:pt x="33" y="87"/>
                      <a:pt x="24" y="91"/>
                      <a:pt x="16" y="96"/>
                    </a:cubicBezTo>
                    <a:cubicBezTo>
                      <a:pt x="12" y="152"/>
                      <a:pt x="0" y="231"/>
                      <a:pt x="16" y="288"/>
                    </a:cubicBezTo>
                    <a:cubicBezTo>
                      <a:pt x="23" y="312"/>
                      <a:pt x="70" y="324"/>
                      <a:pt x="88" y="336"/>
                    </a:cubicBezTo>
                    <a:cubicBezTo>
                      <a:pt x="106" y="391"/>
                      <a:pt x="143" y="358"/>
                      <a:pt x="176" y="336"/>
                    </a:cubicBezTo>
                    <a:cubicBezTo>
                      <a:pt x="194" y="301"/>
                      <a:pt x="213" y="291"/>
                      <a:pt x="240" y="264"/>
                    </a:cubicBezTo>
                    <a:cubicBezTo>
                      <a:pt x="243" y="256"/>
                      <a:pt x="244" y="248"/>
                      <a:pt x="248" y="240"/>
                    </a:cubicBezTo>
                    <a:cubicBezTo>
                      <a:pt x="252" y="231"/>
                      <a:pt x="260" y="225"/>
                      <a:pt x="264" y="216"/>
                    </a:cubicBezTo>
                    <a:cubicBezTo>
                      <a:pt x="271" y="201"/>
                      <a:pt x="280" y="168"/>
                      <a:pt x="280" y="168"/>
                    </a:cubicBezTo>
                    <a:cubicBezTo>
                      <a:pt x="276" y="125"/>
                      <a:pt x="287" y="87"/>
                      <a:pt x="256" y="56"/>
                    </a:cubicBezTo>
                    <a:cubicBezTo>
                      <a:pt x="247" y="47"/>
                      <a:pt x="235" y="40"/>
                      <a:pt x="224" y="32"/>
                    </a:cubicBezTo>
                    <a:cubicBezTo>
                      <a:pt x="208" y="21"/>
                      <a:pt x="176" y="0"/>
                      <a:pt x="176" y="0"/>
                    </a:cubicBezTo>
                    <a:close/>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spAutoFit/>
              </a:bodyPr>
              <a:lstStyle/>
              <a:p>
                <a:endParaRPr lang="zh-CN" altLang="en-US"/>
              </a:p>
            </p:txBody>
          </p:sp>
          <p:sp>
            <p:nvSpPr>
              <p:cNvPr id="48166" name="Text Box 38"/>
              <p:cNvSpPr txBox="1">
                <a:spLocks noChangeArrowheads="1"/>
              </p:cNvSpPr>
              <p:nvPr/>
            </p:nvSpPr>
            <p:spPr bwMode="auto">
              <a:xfrm>
                <a:off x="4135" y="1773"/>
                <a:ext cx="126"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600" b="1"/>
                  <a:t>C</a:t>
                </a:r>
                <a:r>
                  <a:rPr lang="en-US" altLang="zh-CN" sz="1600" b="1" baseline="-25000"/>
                  <a:t>R</a:t>
                </a:r>
                <a:endParaRPr lang="en-US" altLang="zh-CN" sz="1600" b="1" baseline="-25000"/>
              </a:p>
            </p:txBody>
          </p:sp>
        </p:grpSp>
        <p:sp>
          <p:nvSpPr>
            <p:cNvPr id="48149" name="Line 39"/>
            <p:cNvSpPr>
              <a:spLocks noChangeShapeType="1"/>
            </p:cNvSpPr>
            <p:nvPr/>
          </p:nvSpPr>
          <p:spPr bwMode="auto">
            <a:xfrm flipH="1">
              <a:off x="3074" y="1949"/>
              <a:ext cx="48" cy="106"/>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sp>
          <p:nvSpPr>
            <p:cNvPr id="48150" name="Line 40"/>
            <p:cNvSpPr>
              <a:spLocks noChangeShapeType="1"/>
            </p:cNvSpPr>
            <p:nvPr/>
          </p:nvSpPr>
          <p:spPr bwMode="auto">
            <a:xfrm>
              <a:off x="3093" y="2224"/>
              <a:ext cx="117" cy="6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grpSp>
          <p:nvGrpSpPr>
            <p:cNvPr id="48151" name="Group 41"/>
            <p:cNvGrpSpPr/>
            <p:nvPr/>
          </p:nvGrpSpPr>
          <p:grpSpPr bwMode="auto">
            <a:xfrm>
              <a:off x="2578" y="2309"/>
              <a:ext cx="363" cy="233"/>
              <a:chOff x="4048" y="1680"/>
              <a:chExt cx="287" cy="270"/>
            </a:xfrm>
          </p:grpSpPr>
          <p:sp>
            <p:nvSpPr>
              <p:cNvPr id="48163" name="Freeform 42"/>
              <p:cNvSpPr/>
              <p:nvPr/>
            </p:nvSpPr>
            <p:spPr bwMode="auto">
              <a:xfrm>
                <a:off x="4048" y="1680"/>
                <a:ext cx="287" cy="158"/>
              </a:xfrm>
              <a:custGeom>
                <a:avLst/>
                <a:gdLst>
                  <a:gd name="T0" fmla="*/ 176 w 287"/>
                  <a:gd name="T1" fmla="*/ 0 h 391"/>
                  <a:gd name="T2" fmla="*/ 80 w 287"/>
                  <a:gd name="T3" fmla="*/ 0 h 391"/>
                  <a:gd name="T4" fmla="*/ 56 w 287"/>
                  <a:gd name="T5" fmla="*/ 0 h 391"/>
                  <a:gd name="T6" fmla="*/ 40 w 287"/>
                  <a:gd name="T7" fmla="*/ 0 h 391"/>
                  <a:gd name="T8" fmla="*/ 16 w 287"/>
                  <a:gd name="T9" fmla="*/ 0 h 391"/>
                  <a:gd name="T10" fmla="*/ 16 w 287"/>
                  <a:gd name="T11" fmla="*/ 0 h 391"/>
                  <a:gd name="T12" fmla="*/ 88 w 287"/>
                  <a:gd name="T13" fmla="*/ 0 h 391"/>
                  <a:gd name="T14" fmla="*/ 176 w 287"/>
                  <a:gd name="T15" fmla="*/ 0 h 391"/>
                  <a:gd name="T16" fmla="*/ 240 w 287"/>
                  <a:gd name="T17" fmla="*/ 0 h 391"/>
                  <a:gd name="T18" fmla="*/ 248 w 287"/>
                  <a:gd name="T19" fmla="*/ 0 h 391"/>
                  <a:gd name="T20" fmla="*/ 264 w 287"/>
                  <a:gd name="T21" fmla="*/ 0 h 391"/>
                  <a:gd name="T22" fmla="*/ 280 w 287"/>
                  <a:gd name="T23" fmla="*/ 0 h 391"/>
                  <a:gd name="T24" fmla="*/ 256 w 287"/>
                  <a:gd name="T25" fmla="*/ 0 h 391"/>
                  <a:gd name="T26" fmla="*/ 224 w 287"/>
                  <a:gd name="T27" fmla="*/ 0 h 391"/>
                  <a:gd name="T28" fmla="*/ 176 w 287"/>
                  <a:gd name="T29" fmla="*/ 0 h 39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7"/>
                  <a:gd name="T46" fmla="*/ 0 h 391"/>
                  <a:gd name="T47" fmla="*/ 287 w 287"/>
                  <a:gd name="T48" fmla="*/ 391 h 39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7" h="391">
                    <a:moveTo>
                      <a:pt x="176" y="0"/>
                    </a:moveTo>
                    <a:cubicBezTo>
                      <a:pt x="144" y="16"/>
                      <a:pt x="112" y="33"/>
                      <a:pt x="80" y="48"/>
                    </a:cubicBezTo>
                    <a:cubicBezTo>
                      <a:pt x="72" y="52"/>
                      <a:pt x="63" y="51"/>
                      <a:pt x="56" y="56"/>
                    </a:cubicBezTo>
                    <a:cubicBezTo>
                      <a:pt x="48" y="62"/>
                      <a:pt x="47" y="73"/>
                      <a:pt x="40" y="80"/>
                    </a:cubicBezTo>
                    <a:cubicBezTo>
                      <a:pt x="33" y="87"/>
                      <a:pt x="24" y="91"/>
                      <a:pt x="16" y="96"/>
                    </a:cubicBezTo>
                    <a:cubicBezTo>
                      <a:pt x="12" y="152"/>
                      <a:pt x="0" y="231"/>
                      <a:pt x="16" y="288"/>
                    </a:cubicBezTo>
                    <a:cubicBezTo>
                      <a:pt x="23" y="312"/>
                      <a:pt x="70" y="324"/>
                      <a:pt x="88" y="336"/>
                    </a:cubicBezTo>
                    <a:cubicBezTo>
                      <a:pt x="106" y="391"/>
                      <a:pt x="143" y="358"/>
                      <a:pt x="176" y="336"/>
                    </a:cubicBezTo>
                    <a:cubicBezTo>
                      <a:pt x="194" y="301"/>
                      <a:pt x="213" y="291"/>
                      <a:pt x="240" y="264"/>
                    </a:cubicBezTo>
                    <a:cubicBezTo>
                      <a:pt x="243" y="256"/>
                      <a:pt x="244" y="248"/>
                      <a:pt x="248" y="240"/>
                    </a:cubicBezTo>
                    <a:cubicBezTo>
                      <a:pt x="252" y="231"/>
                      <a:pt x="260" y="225"/>
                      <a:pt x="264" y="216"/>
                    </a:cubicBezTo>
                    <a:cubicBezTo>
                      <a:pt x="271" y="201"/>
                      <a:pt x="280" y="168"/>
                      <a:pt x="280" y="168"/>
                    </a:cubicBezTo>
                    <a:cubicBezTo>
                      <a:pt x="276" y="125"/>
                      <a:pt x="287" y="87"/>
                      <a:pt x="256" y="56"/>
                    </a:cubicBezTo>
                    <a:cubicBezTo>
                      <a:pt x="247" y="47"/>
                      <a:pt x="235" y="40"/>
                      <a:pt x="224" y="32"/>
                    </a:cubicBezTo>
                    <a:cubicBezTo>
                      <a:pt x="208" y="21"/>
                      <a:pt x="176" y="0"/>
                      <a:pt x="176" y="0"/>
                    </a:cubicBezTo>
                    <a:close/>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spAutoFit/>
              </a:bodyPr>
              <a:lstStyle/>
              <a:p>
                <a:endParaRPr lang="zh-CN" altLang="en-US"/>
              </a:p>
            </p:txBody>
          </p:sp>
          <p:sp>
            <p:nvSpPr>
              <p:cNvPr id="48164" name="Text Box 43"/>
              <p:cNvSpPr txBox="1">
                <a:spLocks noChangeArrowheads="1"/>
              </p:cNvSpPr>
              <p:nvPr/>
            </p:nvSpPr>
            <p:spPr bwMode="auto">
              <a:xfrm>
                <a:off x="4135" y="1773"/>
                <a:ext cx="126"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600" b="1"/>
                  <a:t>P</a:t>
                </a:r>
                <a:r>
                  <a:rPr lang="en-US" altLang="zh-CN" sz="1600" b="1" baseline="-25000"/>
                  <a:t>L</a:t>
                </a:r>
                <a:endParaRPr lang="en-US" altLang="zh-CN" sz="1600" b="1" baseline="-25000"/>
              </a:p>
            </p:txBody>
          </p:sp>
        </p:grpSp>
        <p:sp>
          <p:nvSpPr>
            <p:cNvPr id="48152" name="Oval 44"/>
            <p:cNvSpPr>
              <a:spLocks noChangeArrowheads="1"/>
            </p:cNvSpPr>
            <p:nvPr/>
          </p:nvSpPr>
          <p:spPr bwMode="auto">
            <a:xfrm>
              <a:off x="3178" y="2244"/>
              <a:ext cx="238" cy="212"/>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600" b="1"/>
                <a:t>C</a:t>
              </a:r>
              <a:endParaRPr lang="en-US" altLang="zh-CN" sz="1600" b="1"/>
            </a:p>
          </p:txBody>
        </p:sp>
        <p:sp>
          <p:nvSpPr>
            <p:cNvPr id="48153" name="Line 45"/>
            <p:cNvSpPr>
              <a:spLocks noChangeShapeType="1"/>
            </p:cNvSpPr>
            <p:nvPr/>
          </p:nvSpPr>
          <p:spPr bwMode="auto">
            <a:xfrm flipH="1">
              <a:off x="2866" y="2226"/>
              <a:ext cx="68" cy="112"/>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sp>
          <p:nvSpPr>
            <p:cNvPr id="48154" name="Oval 46"/>
            <p:cNvSpPr>
              <a:spLocks noChangeArrowheads="1"/>
            </p:cNvSpPr>
            <p:nvPr/>
          </p:nvSpPr>
          <p:spPr bwMode="auto">
            <a:xfrm>
              <a:off x="3006" y="2514"/>
              <a:ext cx="238" cy="212"/>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600" b="1"/>
                <a:t>Q</a:t>
              </a:r>
              <a:endParaRPr lang="en-US" altLang="zh-CN" sz="1600" b="1"/>
            </a:p>
          </p:txBody>
        </p:sp>
        <p:sp>
          <p:nvSpPr>
            <p:cNvPr id="48155" name="Line 47"/>
            <p:cNvSpPr>
              <a:spLocks noChangeShapeType="1"/>
            </p:cNvSpPr>
            <p:nvPr/>
          </p:nvSpPr>
          <p:spPr bwMode="auto">
            <a:xfrm flipH="1">
              <a:off x="3178" y="2437"/>
              <a:ext cx="47" cy="9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sp>
          <p:nvSpPr>
            <p:cNvPr id="48156" name="Line 48"/>
            <p:cNvSpPr>
              <a:spLocks noChangeShapeType="1"/>
            </p:cNvSpPr>
            <p:nvPr/>
          </p:nvSpPr>
          <p:spPr bwMode="auto">
            <a:xfrm>
              <a:off x="3411" y="2392"/>
              <a:ext cx="91" cy="46"/>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sp>
          <p:nvSpPr>
            <p:cNvPr id="48157" name="Oval 49"/>
            <p:cNvSpPr>
              <a:spLocks noChangeArrowheads="1"/>
            </p:cNvSpPr>
            <p:nvPr/>
          </p:nvSpPr>
          <p:spPr bwMode="auto">
            <a:xfrm>
              <a:off x="2850" y="2786"/>
              <a:ext cx="238" cy="212"/>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600" b="1"/>
                <a:t>S</a:t>
              </a:r>
              <a:endParaRPr lang="en-US" altLang="zh-CN" sz="1600" b="1"/>
            </a:p>
          </p:txBody>
        </p:sp>
        <p:sp>
          <p:nvSpPr>
            <p:cNvPr id="48158" name="Line 50"/>
            <p:cNvSpPr>
              <a:spLocks noChangeShapeType="1"/>
            </p:cNvSpPr>
            <p:nvPr/>
          </p:nvSpPr>
          <p:spPr bwMode="auto">
            <a:xfrm flipH="1">
              <a:off x="3010" y="2714"/>
              <a:ext cx="39" cy="86"/>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grpSp>
          <p:nvGrpSpPr>
            <p:cNvPr id="48159" name="Group 51"/>
            <p:cNvGrpSpPr/>
            <p:nvPr/>
          </p:nvGrpSpPr>
          <p:grpSpPr bwMode="auto">
            <a:xfrm>
              <a:off x="3162" y="2889"/>
              <a:ext cx="363" cy="233"/>
              <a:chOff x="4048" y="1680"/>
              <a:chExt cx="287" cy="270"/>
            </a:xfrm>
          </p:grpSpPr>
          <p:sp>
            <p:nvSpPr>
              <p:cNvPr id="48161" name="Freeform 52"/>
              <p:cNvSpPr/>
              <p:nvPr/>
            </p:nvSpPr>
            <p:spPr bwMode="auto">
              <a:xfrm>
                <a:off x="4048" y="1680"/>
                <a:ext cx="287" cy="158"/>
              </a:xfrm>
              <a:custGeom>
                <a:avLst/>
                <a:gdLst>
                  <a:gd name="T0" fmla="*/ 176 w 287"/>
                  <a:gd name="T1" fmla="*/ 0 h 391"/>
                  <a:gd name="T2" fmla="*/ 80 w 287"/>
                  <a:gd name="T3" fmla="*/ 0 h 391"/>
                  <a:gd name="T4" fmla="*/ 56 w 287"/>
                  <a:gd name="T5" fmla="*/ 0 h 391"/>
                  <a:gd name="T6" fmla="*/ 40 w 287"/>
                  <a:gd name="T7" fmla="*/ 0 h 391"/>
                  <a:gd name="T8" fmla="*/ 16 w 287"/>
                  <a:gd name="T9" fmla="*/ 0 h 391"/>
                  <a:gd name="T10" fmla="*/ 16 w 287"/>
                  <a:gd name="T11" fmla="*/ 0 h 391"/>
                  <a:gd name="T12" fmla="*/ 88 w 287"/>
                  <a:gd name="T13" fmla="*/ 0 h 391"/>
                  <a:gd name="T14" fmla="*/ 176 w 287"/>
                  <a:gd name="T15" fmla="*/ 0 h 391"/>
                  <a:gd name="T16" fmla="*/ 240 w 287"/>
                  <a:gd name="T17" fmla="*/ 0 h 391"/>
                  <a:gd name="T18" fmla="*/ 248 w 287"/>
                  <a:gd name="T19" fmla="*/ 0 h 391"/>
                  <a:gd name="T20" fmla="*/ 264 w 287"/>
                  <a:gd name="T21" fmla="*/ 0 h 391"/>
                  <a:gd name="T22" fmla="*/ 280 w 287"/>
                  <a:gd name="T23" fmla="*/ 0 h 391"/>
                  <a:gd name="T24" fmla="*/ 256 w 287"/>
                  <a:gd name="T25" fmla="*/ 0 h 391"/>
                  <a:gd name="T26" fmla="*/ 224 w 287"/>
                  <a:gd name="T27" fmla="*/ 0 h 391"/>
                  <a:gd name="T28" fmla="*/ 176 w 287"/>
                  <a:gd name="T29" fmla="*/ 0 h 39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7"/>
                  <a:gd name="T46" fmla="*/ 0 h 391"/>
                  <a:gd name="T47" fmla="*/ 287 w 287"/>
                  <a:gd name="T48" fmla="*/ 391 h 39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7" h="391">
                    <a:moveTo>
                      <a:pt x="176" y="0"/>
                    </a:moveTo>
                    <a:cubicBezTo>
                      <a:pt x="144" y="16"/>
                      <a:pt x="112" y="33"/>
                      <a:pt x="80" y="48"/>
                    </a:cubicBezTo>
                    <a:cubicBezTo>
                      <a:pt x="72" y="52"/>
                      <a:pt x="63" y="51"/>
                      <a:pt x="56" y="56"/>
                    </a:cubicBezTo>
                    <a:cubicBezTo>
                      <a:pt x="48" y="62"/>
                      <a:pt x="47" y="73"/>
                      <a:pt x="40" y="80"/>
                    </a:cubicBezTo>
                    <a:cubicBezTo>
                      <a:pt x="33" y="87"/>
                      <a:pt x="24" y="91"/>
                      <a:pt x="16" y="96"/>
                    </a:cubicBezTo>
                    <a:cubicBezTo>
                      <a:pt x="12" y="152"/>
                      <a:pt x="0" y="231"/>
                      <a:pt x="16" y="288"/>
                    </a:cubicBezTo>
                    <a:cubicBezTo>
                      <a:pt x="23" y="312"/>
                      <a:pt x="70" y="324"/>
                      <a:pt x="88" y="336"/>
                    </a:cubicBezTo>
                    <a:cubicBezTo>
                      <a:pt x="106" y="391"/>
                      <a:pt x="143" y="358"/>
                      <a:pt x="176" y="336"/>
                    </a:cubicBezTo>
                    <a:cubicBezTo>
                      <a:pt x="194" y="301"/>
                      <a:pt x="213" y="291"/>
                      <a:pt x="240" y="264"/>
                    </a:cubicBezTo>
                    <a:cubicBezTo>
                      <a:pt x="243" y="256"/>
                      <a:pt x="244" y="248"/>
                      <a:pt x="248" y="240"/>
                    </a:cubicBezTo>
                    <a:cubicBezTo>
                      <a:pt x="252" y="231"/>
                      <a:pt x="260" y="225"/>
                      <a:pt x="264" y="216"/>
                    </a:cubicBezTo>
                    <a:cubicBezTo>
                      <a:pt x="271" y="201"/>
                      <a:pt x="280" y="168"/>
                      <a:pt x="280" y="168"/>
                    </a:cubicBezTo>
                    <a:cubicBezTo>
                      <a:pt x="276" y="125"/>
                      <a:pt x="287" y="87"/>
                      <a:pt x="256" y="56"/>
                    </a:cubicBezTo>
                    <a:cubicBezTo>
                      <a:pt x="247" y="47"/>
                      <a:pt x="235" y="40"/>
                      <a:pt x="224" y="32"/>
                    </a:cubicBezTo>
                    <a:cubicBezTo>
                      <a:pt x="208" y="21"/>
                      <a:pt x="176" y="0"/>
                      <a:pt x="176" y="0"/>
                    </a:cubicBezTo>
                    <a:close/>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spAutoFit/>
              </a:bodyPr>
              <a:lstStyle/>
              <a:p>
                <a:endParaRPr lang="zh-CN" altLang="en-US"/>
              </a:p>
            </p:txBody>
          </p:sp>
          <p:sp>
            <p:nvSpPr>
              <p:cNvPr id="48162" name="Text Box 53"/>
              <p:cNvSpPr txBox="1">
                <a:spLocks noChangeArrowheads="1"/>
              </p:cNvSpPr>
              <p:nvPr/>
            </p:nvSpPr>
            <p:spPr bwMode="auto">
              <a:xfrm>
                <a:off x="4135" y="1773"/>
                <a:ext cx="126"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600" b="1"/>
                  <a:t>S</a:t>
                </a:r>
                <a:r>
                  <a:rPr lang="en-US" altLang="zh-CN" sz="1600" b="1" baseline="-25000"/>
                  <a:t>R</a:t>
                </a:r>
                <a:endParaRPr lang="en-US" altLang="zh-CN" sz="1600" b="1" baseline="-25000"/>
              </a:p>
            </p:txBody>
          </p:sp>
        </p:grpSp>
        <p:sp>
          <p:nvSpPr>
            <p:cNvPr id="48160" name="Line 54"/>
            <p:cNvSpPr>
              <a:spLocks noChangeShapeType="1"/>
            </p:cNvSpPr>
            <p:nvPr/>
          </p:nvSpPr>
          <p:spPr bwMode="auto">
            <a:xfrm>
              <a:off x="3089" y="2923"/>
              <a:ext cx="91" cy="46"/>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grpSp>
      <p:sp>
        <p:nvSpPr>
          <p:cNvPr id="48136" name="AutoShape 55"/>
          <p:cNvSpPr>
            <a:spLocks noChangeArrowheads="1"/>
          </p:cNvSpPr>
          <p:nvPr/>
        </p:nvSpPr>
        <p:spPr bwMode="auto">
          <a:xfrm>
            <a:off x="6084888" y="5086350"/>
            <a:ext cx="201612" cy="471488"/>
          </a:xfrm>
          <a:prstGeom prst="notchedRightArrow">
            <a:avLst>
              <a:gd name="adj1" fmla="val 50000"/>
              <a:gd name="adj2" fmla="val 37569"/>
            </a:avLst>
          </a:prstGeom>
          <a:solidFill>
            <a:srgbClr val="FFFFFF"/>
          </a:solidFill>
          <a:ln w="9525" algn="ctr">
            <a:solidFill>
              <a:schemeClr val="tx2"/>
            </a:solidFill>
            <a:miter lim="800000"/>
          </a:ln>
        </p:spPr>
        <p:txBody>
          <a:bodyPr lIns="17998" tIns="10799" rIns="17998" bIns="10799"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grpSp>
        <p:nvGrpSpPr>
          <p:cNvPr id="48137" name="Group 69"/>
          <p:cNvGrpSpPr/>
          <p:nvPr/>
        </p:nvGrpSpPr>
        <p:grpSpPr bwMode="auto">
          <a:xfrm>
            <a:off x="2051050" y="4616450"/>
            <a:ext cx="1044575" cy="1049338"/>
            <a:chOff x="947" y="3543"/>
            <a:chExt cx="658" cy="661"/>
          </a:xfrm>
        </p:grpSpPr>
        <p:sp>
          <p:nvSpPr>
            <p:cNvPr id="48141" name="Oval 62"/>
            <p:cNvSpPr>
              <a:spLocks noChangeArrowheads="1"/>
            </p:cNvSpPr>
            <p:nvPr/>
          </p:nvSpPr>
          <p:spPr bwMode="auto">
            <a:xfrm>
              <a:off x="1292" y="3543"/>
              <a:ext cx="313" cy="265"/>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800" b="1"/>
                <a:t>F</a:t>
              </a:r>
              <a:endParaRPr lang="en-US" altLang="zh-CN" sz="1800" b="1"/>
            </a:p>
          </p:txBody>
        </p:sp>
        <p:grpSp>
          <p:nvGrpSpPr>
            <p:cNvPr id="48142" name="Group 64"/>
            <p:cNvGrpSpPr/>
            <p:nvPr/>
          </p:nvGrpSpPr>
          <p:grpSpPr bwMode="auto">
            <a:xfrm>
              <a:off x="947" y="3918"/>
              <a:ext cx="481" cy="286"/>
              <a:chOff x="4048" y="1680"/>
              <a:chExt cx="287" cy="274"/>
            </a:xfrm>
          </p:grpSpPr>
          <p:sp>
            <p:nvSpPr>
              <p:cNvPr id="48144" name="Freeform 65"/>
              <p:cNvSpPr/>
              <p:nvPr/>
            </p:nvSpPr>
            <p:spPr bwMode="auto">
              <a:xfrm>
                <a:off x="4048" y="1680"/>
                <a:ext cx="287" cy="147"/>
              </a:xfrm>
              <a:custGeom>
                <a:avLst/>
                <a:gdLst>
                  <a:gd name="T0" fmla="*/ 176 w 287"/>
                  <a:gd name="T1" fmla="*/ 0 h 391"/>
                  <a:gd name="T2" fmla="*/ 80 w 287"/>
                  <a:gd name="T3" fmla="*/ 0 h 391"/>
                  <a:gd name="T4" fmla="*/ 56 w 287"/>
                  <a:gd name="T5" fmla="*/ 0 h 391"/>
                  <a:gd name="T6" fmla="*/ 40 w 287"/>
                  <a:gd name="T7" fmla="*/ 0 h 391"/>
                  <a:gd name="T8" fmla="*/ 16 w 287"/>
                  <a:gd name="T9" fmla="*/ 0 h 391"/>
                  <a:gd name="T10" fmla="*/ 16 w 287"/>
                  <a:gd name="T11" fmla="*/ 0 h 391"/>
                  <a:gd name="T12" fmla="*/ 88 w 287"/>
                  <a:gd name="T13" fmla="*/ 0 h 391"/>
                  <a:gd name="T14" fmla="*/ 176 w 287"/>
                  <a:gd name="T15" fmla="*/ 0 h 391"/>
                  <a:gd name="T16" fmla="*/ 240 w 287"/>
                  <a:gd name="T17" fmla="*/ 0 h 391"/>
                  <a:gd name="T18" fmla="*/ 248 w 287"/>
                  <a:gd name="T19" fmla="*/ 0 h 391"/>
                  <a:gd name="T20" fmla="*/ 264 w 287"/>
                  <a:gd name="T21" fmla="*/ 0 h 391"/>
                  <a:gd name="T22" fmla="*/ 280 w 287"/>
                  <a:gd name="T23" fmla="*/ 0 h 391"/>
                  <a:gd name="T24" fmla="*/ 256 w 287"/>
                  <a:gd name="T25" fmla="*/ 0 h 391"/>
                  <a:gd name="T26" fmla="*/ 224 w 287"/>
                  <a:gd name="T27" fmla="*/ 0 h 391"/>
                  <a:gd name="T28" fmla="*/ 176 w 287"/>
                  <a:gd name="T29" fmla="*/ 0 h 39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7"/>
                  <a:gd name="T46" fmla="*/ 0 h 391"/>
                  <a:gd name="T47" fmla="*/ 287 w 287"/>
                  <a:gd name="T48" fmla="*/ 391 h 39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7" h="391">
                    <a:moveTo>
                      <a:pt x="176" y="0"/>
                    </a:moveTo>
                    <a:cubicBezTo>
                      <a:pt x="144" y="16"/>
                      <a:pt x="112" y="33"/>
                      <a:pt x="80" y="48"/>
                    </a:cubicBezTo>
                    <a:cubicBezTo>
                      <a:pt x="72" y="52"/>
                      <a:pt x="63" y="51"/>
                      <a:pt x="56" y="56"/>
                    </a:cubicBezTo>
                    <a:cubicBezTo>
                      <a:pt x="48" y="62"/>
                      <a:pt x="47" y="73"/>
                      <a:pt x="40" y="80"/>
                    </a:cubicBezTo>
                    <a:cubicBezTo>
                      <a:pt x="33" y="87"/>
                      <a:pt x="24" y="91"/>
                      <a:pt x="16" y="96"/>
                    </a:cubicBezTo>
                    <a:cubicBezTo>
                      <a:pt x="12" y="152"/>
                      <a:pt x="0" y="231"/>
                      <a:pt x="16" y="288"/>
                    </a:cubicBezTo>
                    <a:cubicBezTo>
                      <a:pt x="23" y="312"/>
                      <a:pt x="70" y="324"/>
                      <a:pt x="88" y="336"/>
                    </a:cubicBezTo>
                    <a:cubicBezTo>
                      <a:pt x="106" y="391"/>
                      <a:pt x="143" y="358"/>
                      <a:pt x="176" y="336"/>
                    </a:cubicBezTo>
                    <a:cubicBezTo>
                      <a:pt x="194" y="301"/>
                      <a:pt x="213" y="291"/>
                      <a:pt x="240" y="264"/>
                    </a:cubicBezTo>
                    <a:cubicBezTo>
                      <a:pt x="243" y="256"/>
                      <a:pt x="244" y="248"/>
                      <a:pt x="248" y="240"/>
                    </a:cubicBezTo>
                    <a:cubicBezTo>
                      <a:pt x="252" y="231"/>
                      <a:pt x="260" y="225"/>
                      <a:pt x="264" y="216"/>
                    </a:cubicBezTo>
                    <a:cubicBezTo>
                      <a:pt x="271" y="201"/>
                      <a:pt x="280" y="168"/>
                      <a:pt x="280" y="168"/>
                    </a:cubicBezTo>
                    <a:cubicBezTo>
                      <a:pt x="276" y="125"/>
                      <a:pt x="287" y="87"/>
                      <a:pt x="256" y="56"/>
                    </a:cubicBezTo>
                    <a:cubicBezTo>
                      <a:pt x="247" y="47"/>
                      <a:pt x="235" y="40"/>
                      <a:pt x="224" y="32"/>
                    </a:cubicBezTo>
                    <a:cubicBezTo>
                      <a:pt x="208" y="21"/>
                      <a:pt x="176" y="0"/>
                      <a:pt x="176" y="0"/>
                    </a:cubicBezTo>
                    <a:close/>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spAutoFit/>
              </a:bodyPr>
              <a:lstStyle/>
              <a:p>
                <a:endParaRPr lang="zh-CN" altLang="en-US"/>
              </a:p>
            </p:txBody>
          </p:sp>
          <p:sp>
            <p:nvSpPr>
              <p:cNvPr id="48145" name="Text Box 66"/>
              <p:cNvSpPr txBox="1">
                <a:spLocks noChangeArrowheads="1"/>
              </p:cNvSpPr>
              <p:nvPr/>
            </p:nvSpPr>
            <p:spPr bwMode="auto">
              <a:xfrm>
                <a:off x="4135" y="1773"/>
                <a:ext cx="12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800" b="1"/>
                  <a:t>P</a:t>
                </a:r>
                <a:r>
                  <a:rPr lang="en-US" altLang="zh-CN" sz="1800" b="1" baseline="-25000"/>
                  <a:t>R</a:t>
                </a:r>
                <a:endParaRPr lang="en-US" altLang="zh-CN" sz="1800" b="1" baseline="-25000"/>
              </a:p>
            </p:txBody>
          </p:sp>
        </p:grpSp>
        <p:sp>
          <p:nvSpPr>
            <p:cNvPr id="48143" name="Line 67"/>
            <p:cNvSpPr>
              <a:spLocks noChangeShapeType="1"/>
            </p:cNvSpPr>
            <p:nvPr/>
          </p:nvSpPr>
          <p:spPr bwMode="auto">
            <a:xfrm flipH="1">
              <a:off x="1314" y="3803"/>
              <a:ext cx="77" cy="144"/>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grpSp>
      <p:sp>
        <p:nvSpPr>
          <p:cNvPr id="48138" name="AutoShape 70"/>
          <p:cNvSpPr>
            <a:spLocks noChangeArrowheads="1"/>
          </p:cNvSpPr>
          <p:nvPr/>
        </p:nvSpPr>
        <p:spPr bwMode="auto">
          <a:xfrm>
            <a:off x="1584325" y="4978400"/>
            <a:ext cx="201613" cy="471488"/>
          </a:xfrm>
          <a:prstGeom prst="notchedRightArrow">
            <a:avLst>
              <a:gd name="adj1" fmla="val 50000"/>
              <a:gd name="adj2" fmla="val 37569"/>
            </a:avLst>
          </a:prstGeom>
          <a:solidFill>
            <a:srgbClr val="FFFFFF"/>
          </a:solidFill>
          <a:ln w="9525" algn="ctr">
            <a:solidFill>
              <a:schemeClr val="tx2"/>
            </a:solidFill>
            <a:miter lim="800000"/>
          </a:ln>
        </p:spPr>
        <p:txBody>
          <a:bodyPr lIns="17998" tIns="10799" rIns="17998" bIns="10799"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142407" name="AutoShape 71">
            <a:hlinkHover r:id="" action="ppaction://noaction" highlightClick="1"/>
          </p:cNvPr>
          <p:cNvSpPr>
            <a:spLocks noChangeArrowheads="1"/>
          </p:cNvSpPr>
          <p:nvPr/>
        </p:nvSpPr>
        <p:spPr bwMode="auto">
          <a:xfrm>
            <a:off x="5832475" y="549275"/>
            <a:ext cx="3311525" cy="1123950"/>
          </a:xfrm>
          <a:prstGeom prst="cloudCallout">
            <a:avLst>
              <a:gd name="adj1" fmla="val -16009"/>
              <a:gd name="adj2" fmla="val 89722"/>
            </a:avLst>
          </a:prstGeom>
          <a:solidFill>
            <a:schemeClr val="accent6">
              <a:lumMod val="40000"/>
              <a:lumOff val="60000"/>
            </a:schemeClr>
          </a:solidFill>
          <a:ln w="9525">
            <a:solidFill>
              <a:schemeClr val="tx1"/>
            </a:solidFill>
            <a:round/>
          </a:ln>
        </p:spPr>
        <p:txBody>
          <a:bodyPr lIns="0" tIns="0" rIns="0" bIns="0">
            <a:spAutoFit/>
          </a:bodyPr>
          <a:lstStyle/>
          <a:p>
            <a:pPr>
              <a:defRPr/>
            </a:pPr>
            <a:r>
              <a:rPr lang="zh-CN" altLang="en-US" sz="1600" dirty="0"/>
              <a:t>实质：用右子树中最小的结点代替</a:t>
            </a:r>
            <a:r>
              <a:rPr lang="en-US" altLang="zh-CN" sz="1600" dirty="0"/>
              <a:t>P</a:t>
            </a:r>
            <a:r>
              <a:rPr lang="zh-CN" altLang="en-US" sz="1600" dirty="0"/>
              <a:t>，这样可以保证仍然是二叉树。</a:t>
            </a:r>
            <a:endParaRPr lang="zh-CN" altLang="en-US" sz="1600" dirty="0"/>
          </a:p>
        </p:txBody>
      </p:sp>
      <p:sp>
        <p:nvSpPr>
          <p:cNvPr id="142408" name="AutoShape 72"/>
          <p:cNvSpPr>
            <a:spLocks noChangeArrowheads="1"/>
          </p:cNvSpPr>
          <p:nvPr/>
        </p:nvSpPr>
        <p:spPr bwMode="auto">
          <a:xfrm>
            <a:off x="6192838" y="4833938"/>
            <a:ext cx="215900" cy="215900"/>
          </a:xfrm>
          <a:prstGeom prst="irregularSeal1">
            <a:avLst/>
          </a:prstGeom>
          <a:solidFill>
            <a:schemeClr val="accent1"/>
          </a:solidFill>
          <a:ln w="9525">
            <a:solidFill>
              <a:schemeClr val="tx1"/>
            </a:solidFill>
            <a:miter lim="800000"/>
          </a:ln>
        </p:spPr>
        <p:txBody>
          <a:bodyPr wrap="none" lIns="91433" tIns="45717" rIns="91433" bIns="45717"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Tree>
  </p:cSld>
  <p:clrMapOvr>
    <a:masterClrMapping/>
  </p:clrMapOvr>
  <p:transition advClick="0"/>
  <p:timing>
    <p:tnLst>
      <p:par>
        <p:cTn id="1" dur="indefinite" restart="never" nodeType="tmRoot">
          <p:childTnLst>
            <p:seq concurrent="1" nextAc="seek">
              <p:cTn id="2" restart="whenNotActive" fill="hold" evtFilter="cancelBubble" nodeType="interactiveSeq">
                <p:stCondLst>
                  <p:cond evt="onClick" delay="0">
                    <p:tgtEl>
                      <p:spTgt spid="142408"/>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407"/>
                                        </p:tgtEl>
                                        <p:attrNameLst>
                                          <p:attrName>style.visibility</p:attrName>
                                        </p:attrNameLst>
                                      </p:cBhvr>
                                      <p:to>
                                        <p:strVal val="visible"/>
                                      </p:to>
                                    </p:set>
                                  </p:childTnLst>
                                  <p:subTnLst>
                                    <p:set>
                                      <p:cBhvr override="childStyle">
                                        <p:cTn dur="1" fill="hold" display="0" masterRel="nextClick" afterEffect="1"/>
                                        <p:tgtEl>
                                          <p:spTgt spid="142407"/>
                                        </p:tgtEl>
                                        <p:attrNameLst>
                                          <p:attrName>style.visibility</p:attrName>
                                        </p:attrNameLst>
                                      </p:cBhvr>
                                      <p:to>
                                        <p:strVal val="hidden"/>
                                      </p:to>
                                    </p:set>
                                  </p:subTnLst>
                                </p:cTn>
                              </p:par>
                            </p:childTnLst>
                          </p:cTn>
                        </p:par>
                      </p:childTnLst>
                    </p:cTn>
                  </p:par>
                </p:childTnLst>
              </p:cTn>
              <p:nextCondLst>
                <p:cond evt="onClick" delay="0">
                  <p:tgtEl>
                    <p:spTgt spid="142408"/>
                  </p:tgtEl>
                </p:cond>
              </p:nextCondLst>
            </p:seq>
          </p:childTnLst>
        </p:cTn>
      </p:par>
    </p:tnLst>
    <p:bldLst>
      <p:bldP spid="14240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4950AE05-9399-4363-BDB4-CAC33526C2BC}"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49155" name="Rectangle 2"/>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ea typeface="宋体" panose="02010600030101010101" pitchFamily="2" charset="-122"/>
              </a:rPr>
              <a:t>3.5 </a:t>
            </a:r>
            <a:r>
              <a:rPr lang="zh-CN" altLang="en-US" sz="2400">
                <a:ea typeface="宋体" panose="02010600030101010101" pitchFamily="2" charset="-122"/>
              </a:rPr>
              <a:t>树与二叉树</a:t>
            </a:r>
            <a:endParaRPr lang="zh-CN" altLang="en-US" sz="2400">
              <a:ea typeface="宋体" panose="02010600030101010101" pitchFamily="2" charset="-122"/>
            </a:endParaRPr>
          </a:p>
        </p:txBody>
      </p:sp>
      <p:sp>
        <p:nvSpPr>
          <p:cNvPr id="49156" name="Rectangle 3"/>
          <p:cNvSpPr>
            <a:spLocks noGrp="1" noChangeArrowheads="1"/>
          </p:cNvSpPr>
          <p:nvPr>
            <p:ph type="body" idx="1"/>
          </p:nvPr>
        </p:nvSpPr>
        <p:spPr>
          <a:xfrm>
            <a:off x="136525" y="1096963"/>
            <a:ext cx="8877300" cy="2727325"/>
          </a:xfrm>
        </p:spPr>
        <p:txBody>
          <a:bodyPr/>
          <a:lstStyle/>
          <a:p>
            <a:r>
              <a:rPr lang="zh-CN" altLang="en-US" dirty="0">
                <a:ea typeface="宋体" panose="02010600030101010101" pitchFamily="2" charset="-122"/>
              </a:rPr>
              <a:t>二叉树的应用 </a:t>
            </a:r>
            <a:r>
              <a:rPr lang="en-US" altLang="zh-CN" dirty="0">
                <a:ea typeface="宋体" panose="02010600030101010101" pitchFamily="2" charset="-122"/>
              </a:rPr>
              <a:t>----  </a:t>
            </a:r>
            <a:r>
              <a:rPr lang="zh-CN" altLang="en-US" dirty="0">
                <a:ea typeface="宋体" panose="02010600030101010101" pitchFamily="2" charset="-122"/>
              </a:rPr>
              <a:t>二叉排序树</a:t>
            </a:r>
            <a:endParaRPr lang="en-US" altLang="zh-CN" dirty="0">
              <a:ea typeface="宋体" panose="02010600030101010101" pitchFamily="2" charset="-122"/>
            </a:endParaRPr>
          </a:p>
          <a:p>
            <a:pPr lvl="1"/>
            <a:r>
              <a:rPr lang="zh-CN" altLang="en-US" dirty="0">
                <a:ea typeface="宋体" panose="02010600030101010101" pitchFamily="2" charset="-122"/>
              </a:rPr>
              <a:t>用二叉排序树组织线性表的好处：</a:t>
            </a:r>
            <a:endParaRPr lang="zh-CN" altLang="en-US" dirty="0">
              <a:ea typeface="宋体" panose="02010600030101010101" pitchFamily="2" charset="-122"/>
            </a:endParaRPr>
          </a:p>
          <a:p>
            <a:pPr lvl="2"/>
            <a:r>
              <a:rPr lang="zh-CN" altLang="en-US" dirty="0">
                <a:ea typeface="宋体" panose="02010600030101010101" pitchFamily="2" charset="-122"/>
              </a:rPr>
              <a:t>排序：二叉树的中序遍历结果，就是排好序的线性表</a:t>
            </a:r>
            <a:endParaRPr lang="zh-CN" altLang="en-US" dirty="0">
              <a:ea typeface="宋体" panose="02010600030101010101" pitchFamily="2" charset="-122"/>
            </a:endParaRPr>
          </a:p>
          <a:p>
            <a:pPr lvl="3"/>
            <a:r>
              <a:rPr lang="en-US" altLang="zh-CN" dirty="0">
                <a:ea typeface="宋体" panose="02010600030101010101" pitchFamily="2" charset="-122"/>
              </a:rPr>
              <a:t>{2</a:t>
            </a:r>
            <a:r>
              <a:rPr lang="zh-CN" altLang="en-US" dirty="0">
                <a:ea typeface="宋体" panose="02010600030101010101" pitchFamily="2" charset="-122"/>
              </a:rPr>
              <a:t>，</a:t>
            </a:r>
            <a:r>
              <a:rPr lang="en-US" altLang="zh-CN" dirty="0">
                <a:ea typeface="宋体" panose="02010600030101010101" pitchFamily="2" charset="-122"/>
              </a:rPr>
              <a:t>3</a:t>
            </a:r>
            <a:r>
              <a:rPr lang="zh-CN" altLang="en-US" dirty="0">
                <a:ea typeface="宋体" panose="02010600030101010101" pitchFamily="2" charset="-122"/>
              </a:rPr>
              <a:t>，</a:t>
            </a:r>
            <a:r>
              <a:rPr lang="en-US" altLang="zh-CN" dirty="0">
                <a:ea typeface="宋体" panose="02010600030101010101" pitchFamily="2" charset="-122"/>
              </a:rPr>
              <a:t>4</a:t>
            </a:r>
            <a:r>
              <a:rPr lang="zh-CN" altLang="en-US" dirty="0">
                <a:ea typeface="宋体" panose="02010600030101010101" pitchFamily="2" charset="-122"/>
              </a:rPr>
              <a:t>，</a:t>
            </a:r>
            <a:r>
              <a:rPr lang="en-US" altLang="zh-CN" dirty="0">
                <a:ea typeface="宋体" panose="02010600030101010101" pitchFamily="2" charset="-122"/>
              </a:rPr>
              <a:t>8</a:t>
            </a:r>
            <a:r>
              <a:rPr lang="zh-CN" altLang="en-US" dirty="0">
                <a:ea typeface="宋体" panose="02010600030101010101" pitchFamily="2" charset="-122"/>
              </a:rPr>
              <a:t>，</a:t>
            </a:r>
            <a:r>
              <a:rPr lang="en-US" altLang="zh-CN" dirty="0">
                <a:ea typeface="宋体" panose="02010600030101010101" pitchFamily="2" charset="-122"/>
              </a:rPr>
              <a:t>9</a:t>
            </a:r>
            <a:r>
              <a:rPr lang="zh-CN" altLang="en-US" dirty="0">
                <a:ea typeface="宋体" panose="02010600030101010101" pitchFamily="2" charset="-122"/>
              </a:rPr>
              <a:t>，</a:t>
            </a:r>
            <a:r>
              <a:rPr lang="en-US" altLang="zh-CN" dirty="0">
                <a:ea typeface="宋体" panose="02010600030101010101" pitchFamily="2" charset="-122"/>
              </a:rPr>
              <a:t>9</a:t>
            </a:r>
            <a:r>
              <a:rPr lang="zh-CN" altLang="en-US" dirty="0">
                <a:ea typeface="宋体" panose="02010600030101010101" pitchFamily="2" charset="-122"/>
              </a:rPr>
              <a:t>，</a:t>
            </a:r>
            <a:r>
              <a:rPr lang="en-US" altLang="zh-CN" dirty="0">
                <a:ea typeface="宋体" panose="02010600030101010101" pitchFamily="2" charset="-122"/>
              </a:rPr>
              <a:t>10</a:t>
            </a:r>
            <a:r>
              <a:rPr lang="zh-CN" altLang="en-US" dirty="0">
                <a:ea typeface="宋体" panose="02010600030101010101" pitchFamily="2" charset="-122"/>
              </a:rPr>
              <a:t>，</a:t>
            </a:r>
            <a:r>
              <a:rPr lang="en-US" altLang="zh-CN" dirty="0">
                <a:ea typeface="宋体" panose="02010600030101010101" pitchFamily="2" charset="-122"/>
              </a:rPr>
              <a:t>13</a:t>
            </a:r>
            <a:r>
              <a:rPr lang="zh-CN" altLang="en-US" dirty="0">
                <a:ea typeface="宋体" panose="02010600030101010101" pitchFamily="2" charset="-122"/>
              </a:rPr>
              <a:t>，</a:t>
            </a:r>
            <a:r>
              <a:rPr lang="en-US" altLang="zh-CN" dirty="0">
                <a:ea typeface="宋体" panose="02010600030101010101" pitchFamily="2" charset="-122"/>
              </a:rPr>
              <a:t>15</a:t>
            </a:r>
            <a:r>
              <a:rPr lang="zh-CN" altLang="en-US" dirty="0">
                <a:ea typeface="宋体" panose="02010600030101010101" pitchFamily="2" charset="-122"/>
              </a:rPr>
              <a:t>，</a:t>
            </a:r>
            <a:r>
              <a:rPr lang="en-US" altLang="zh-CN" dirty="0">
                <a:ea typeface="宋体" panose="02010600030101010101" pitchFamily="2" charset="-122"/>
              </a:rPr>
              <a:t>18</a:t>
            </a:r>
            <a:r>
              <a:rPr lang="zh-CN" altLang="en-US" dirty="0">
                <a:ea typeface="宋体" panose="02010600030101010101" pitchFamily="2" charset="-122"/>
              </a:rPr>
              <a:t>，</a:t>
            </a:r>
            <a:r>
              <a:rPr lang="en-US" altLang="zh-CN" dirty="0">
                <a:ea typeface="宋体" panose="02010600030101010101" pitchFamily="2" charset="-122"/>
              </a:rPr>
              <a:t>21}</a:t>
            </a:r>
            <a:endParaRPr lang="en-US" altLang="zh-CN" dirty="0">
              <a:ea typeface="宋体" panose="02010600030101010101" pitchFamily="2" charset="-122"/>
            </a:endParaRPr>
          </a:p>
          <a:p>
            <a:pPr lvl="2"/>
            <a:r>
              <a:rPr lang="zh-CN" altLang="en-US" dirty="0">
                <a:ea typeface="宋体" panose="02010600030101010101" pitchFamily="2" charset="-122"/>
              </a:rPr>
              <a:t>检索：不必一个一个元素进行比较，只需每次比较根结点（类似于对半检索）</a:t>
            </a:r>
            <a:endParaRPr lang="en-US" altLang="zh-CN" dirty="0">
              <a:ea typeface="宋体" panose="02010600030101010101" pitchFamily="2" charset="-122"/>
            </a:endParaRPr>
          </a:p>
          <a:p>
            <a:pPr lvl="2"/>
            <a:endParaRPr lang="en-US" altLang="zh-CN" dirty="0">
              <a:ea typeface="宋体" panose="02010600030101010101" pitchFamily="2" charset="-122"/>
            </a:endParaRPr>
          </a:p>
        </p:txBody>
      </p:sp>
      <p:pic>
        <p:nvPicPr>
          <p:cNvPr id="38917" name="Picture 56" descr="Snap9"/>
          <p:cNvPicPr>
            <a:picLocks noChangeAspect="1" noChangeArrowheads="1"/>
          </p:cNvPicPr>
          <p:nvPr/>
        </p:nvPicPr>
        <p:blipFill>
          <a:blip r:embed="rId1" cstate="print">
            <a:duotone>
              <a:prstClr val="black"/>
              <a:schemeClr val="accent1">
                <a:tint val="45000"/>
                <a:satMod val="400000"/>
              </a:schemeClr>
            </a:duotone>
            <a:lum contrast="100000"/>
          </a:blip>
          <a:srcRect/>
          <a:stretch>
            <a:fillRect/>
          </a:stretch>
        </p:blipFill>
        <p:spPr bwMode="auto">
          <a:xfrm>
            <a:off x="2125663" y="3789364"/>
            <a:ext cx="4967287" cy="2916237"/>
          </a:xfrm>
          <a:prstGeom prst="rect">
            <a:avLst/>
          </a:prstGeom>
          <a:noFill/>
          <a:ln w="9525">
            <a:noFill/>
            <a:miter lim="800000"/>
            <a:headEnd/>
            <a:tailEnd/>
          </a:ln>
        </p:spPr>
      </p:pic>
    </p:spTree>
  </p:cSld>
  <p:clrMapOvr>
    <a:masterClrMapping/>
  </p:clrMapOvr>
  <p:transition advClick="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556AC829-3358-4602-BFAC-D30EEF52EB86}"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50179" name="Rectangle 2"/>
          <p:cNvSpPr>
            <a:spLocks noGrp="1" noChangeArrowheads="1"/>
          </p:cNvSpPr>
          <p:nvPr>
            <p:ph type="title"/>
          </p:nvPr>
        </p:nvSpPr>
        <p:spPr>
          <a:xfrm>
            <a:off x="685800" y="1588"/>
            <a:ext cx="7772400" cy="914400"/>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3.5 </a:t>
            </a:r>
            <a:r>
              <a:rPr lang="zh-CN" altLang="en-US" sz="2400">
                <a:latin typeface="宋体" panose="02010600030101010101" pitchFamily="2" charset="-122"/>
                <a:ea typeface="宋体" panose="02010600030101010101" pitchFamily="2" charset="-122"/>
              </a:rPr>
              <a:t>树与二叉树</a:t>
            </a:r>
            <a:endParaRPr lang="zh-CN" altLang="en-US" sz="2400">
              <a:latin typeface="宋体" panose="02010600030101010101" pitchFamily="2" charset="-122"/>
              <a:ea typeface="宋体" panose="02010600030101010101" pitchFamily="2" charset="-122"/>
            </a:endParaRPr>
          </a:p>
        </p:txBody>
      </p:sp>
      <p:sp>
        <p:nvSpPr>
          <p:cNvPr id="50180" name="Rectangle 3"/>
          <p:cNvSpPr>
            <a:spLocks noGrp="1" noChangeArrowheads="1"/>
          </p:cNvSpPr>
          <p:nvPr>
            <p:ph type="body" sz="half" idx="1"/>
          </p:nvPr>
        </p:nvSpPr>
        <p:spPr>
          <a:xfrm>
            <a:off x="107950" y="981075"/>
            <a:ext cx="7127875" cy="5876925"/>
          </a:xfrm>
          <a:noFill/>
        </p:spPr>
        <p:txBody>
          <a:bodyPr/>
          <a:lstStyle/>
          <a:p>
            <a:pPr marL="192405" indent="-192405">
              <a:spcBef>
                <a:spcPct val="0"/>
              </a:spcBef>
            </a:pPr>
            <a:r>
              <a:rPr lang="zh-CN" altLang="en-US" sz="2800">
                <a:ea typeface="宋体" panose="02010600030101010101" pitchFamily="2" charset="-122"/>
              </a:rPr>
              <a:t>二叉树的应用 </a:t>
            </a:r>
            <a:r>
              <a:rPr lang="en-US" altLang="zh-CN" sz="2800">
                <a:ea typeface="宋体" panose="02010600030101010101" pitchFamily="2" charset="-122"/>
              </a:rPr>
              <a:t>----  </a:t>
            </a:r>
            <a:r>
              <a:rPr lang="zh-CN" altLang="en-US" sz="2800">
                <a:ea typeface="宋体" panose="02010600030101010101" pitchFamily="2" charset="-122"/>
              </a:rPr>
              <a:t>哈夫曼树</a:t>
            </a:r>
            <a:endParaRPr lang="zh-CN" altLang="en-US" sz="2800">
              <a:ea typeface="宋体" panose="02010600030101010101" pitchFamily="2" charset="-122"/>
            </a:endParaRPr>
          </a:p>
          <a:p>
            <a:pPr marL="860425" lvl="1">
              <a:spcBef>
                <a:spcPct val="0"/>
              </a:spcBef>
              <a:buFontTx/>
              <a:buNone/>
            </a:pPr>
            <a:r>
              <a:rPr lang="zh-CN" altLang="en-US" sz="1800">
                <a:ea typeface="宋体" panose="02010600030101010101" pitchFamily="2" charset="-122"/>
              </a:rPr>
              <a:t>又称最优树，是一类</a:t>
            </a:r>
            <a:r>
              <a:rPr lang="zh-CN" altLang="en-US" sz="1800">
                <a:solidFill>
                  <a:schemeClr val="tx2"/>
                </a:solidFill>
                <a:ea typeface="宋体" panose="02010600030101010101" pitchFamily="2" charset="-122"/>
              </a:rPr>
              <a:t>带权路径长度最短</a:t>
            </a:r>
            <a:r>
              <a:rPr lang="zh-CN" altLang="en-US" sz="1800">
                <a:ea typeface="宋体" panose="02010600030101010101" pitchFamily="2" charset="-122"/>
              </a:rPr>
              <a:t>的树。应用广泛。</a:t>
            </a:r>
            <a:endParaRPr lang="zh-CN" altLang="en-US" sz="1800">
              <a:ea typeface="宋体" panose="02010600030101010101" pitchFamily="2" charset="-122"/>
            </a:endParaRPr>
          </a:p>
          <a:p>
            <a:pPr marL="860425" lvl="1">
              <a:spcBef>
                <a:spcPct val="0"/>
              </a:spcBef>
            </a:pPr>
            <a:r>
              <a:rPr lang="zh-CN" altLang="en-US" sz="2400">
                <a:ea typeface="宋体" panose="02010600030101010101" pitchFamily="2" charset="-122"/>
              </a:rPr>
              <a:t>基本概念：</a:t>
            </a:r>
            <a:endParaRPr lang="zh-CN" altLang="en-US" sz="2400">
              <a:ea typeface="宋体" panose="02010600030101010101" pitchFamily="2" charset="-122"/>
            </a:endParaRPr>
          </a:p>
          <a:p>
            <a:pPr marL="1279525" lvl="2">
              <a:spcBef>
                <a:spcPct val="0"/>
              </a:spcBef>
            </a:pPr>
            <a:r>
              <a:rPr lang="zh-CN" altLang="en-US" sz="2000">
                <a:ea typeface="宋体" panose="02010600030101010101" pitchFamily="2" charset="-122"/>
              </a:rPr>
              <a:t>结点间的路径：从树中一个结点到另一个结点间的</a:t>
            </a:r>
            <a:r>
              <a:rPr lang="zh-CN" altLang="en-US" sz="2000">
                <a:solidFill>
                  <a:schemeClr val="tx2"/>
                </a:solidFill>
                <a:ea typeface="宋体" panose="02010600030101010101" pitchFamily="2" charset="-122"/>
              </a:rPr>
              <a:t>分支</a:t>
            </a:r>
            <a:endParaRPr lang="zh-CN" altLang="en-US" sz="2000">
              <a:ea typeface="宋体" panose="02010600030101010101" pitchFamily="2" charset="-122"/>
            </a:endParaRPr>
          </a:p>
          <a:p>
            <a:pPr marL="1279525" lvl="2">
              <a:spcBef>
                <a:spcPct val="0"/>
              </a:spcBef>
            </a:pPr>
            <a:r>
              <a:rPr lang="zh-CN" altLang="en-US" sz="2000">
                <a:ea typeface="宋体" panose="02010600030101010101" pitchFamily="2" charset="-122"/>
              </a:rPr>
              <a:t>结点间的路径长度：路径上的分支数目</a:t>
            </a:r>
            <a:endParaRPr lang="zh-CN" altLang="en-US" sz="2000">
              <a:ea typeface="宋体" panose="02010600030101010101" pitchFamily="2" charset="-122"/>
            </a:endParaRPr>
          </a:p>
          <a:p>
            <a:pPr marL="1279525" lvl="2">
              <a:spcBef>
                <a:spcPct val="0"/>
              </a:spcBef>
            </a:pPr>
            <a:r>
              <a:rPr lang="zh-CN" altLang="en-US" sz="2000">
                <a:solidFill>
                  <a:schemeClr val="tx2"/>
                </a:solidFill>
                <a:ea typeface="宋体" panose="02010600030101010101" pitchFamily="2" charset="-122"/>
              </a:rPr>
              <a:t>树的路径长度</a:t>
            </a:r>
            <a:r>
              <a:rPr lang="zh-CN" altLang="en-US" sz="2000">
                <a:ea typeface="宋体" panose="02010600030101010101" pitchFamily="2" charset="-122"/>
              </a:rPr>
              <a:t>：从</a:t>
            </a:r>
            <a:r>
              <a:rPr lang="zh-CN" altLang="en-US" sz="2000">
                <a:solidFill>
                  <a:schemeClr val="tx2"/>
                </a:solidFill>
                <a:ea typeface="宋体" panose="02010600030101010101" pitchFamily="2" charset="-122"/>
              </a:rPr>
              <a:t>根到每一结点</a:t>
            </a:r>
            <a:r>
              <a:rPr lang="zh-CN" altLang="en-US" sz="2000">
                <a:ea typeface="宋体" panose="02010600030101010101" pitchFamily="2" charset="-122"/>
              </a:rPr>
              <a:t>的路径长度之和。用 </a:t>
            </a:r>
            <a:r>
              <a:rPr lang="en-US" altLang="zh-CN" sz="2000" i="1">
                <a:ea typeface="宋体" panose="02010600030101010101" pitchFamily="2" charset="-122"/>
              </a:rPr>
              <a:t>PL</a:t>
            </a:r>
            <a:r>
              <a:rPr lang="en-US" altLang="zh-CN" sz="2000">
                <a:ea typeface="宋体" panose="02010600030101010101" pitchFamily="2" charset="-122"/>
              </a:rPr>
              <a:t> </a:t>
            </a:r>
            <a:r>
              <a:rPr lang="zh-CN" altLang="en-US" sz="2000">
                <a:ea typeface="宋体" panose="02010600030101010101" pitchFamily="2" charset="-122"/>
              </a:rPr>
              <a:t>表示。</a:t>
            </a:r>
            <a:endParaRPr lang="zh-CN" altLang="en-US" sz="2000">
              <a:ea typeface="宋体" panose="02010600030101010101" pitchFamily="2" charset="-122"/>
            </a:endParaRPr>
          </a:p>
          <a:p>
            <a:pPr marL="1698625" lvl="3">
              <a:spcBef>
                <a:spcPct val="0"/>
              </a:spcBef>
            </a:pPr>
            <a:r>
              <a:rPr lang="en-US" altLang="zh-CN" sz="1800" i="1">
                <a:solidFill>
                  <a:schemeClr val="tx2"/>
                </a:solidFill>
                <a:ea typeface="宋体" panose="02010600030101010101" pitchFamily="2" charset="-122"/>
              </a:rPr>
              <a:t>PL</a:t>
            </a:r>
            <a:r>
              <a:rPr lang="en-US" altLang="zh-CN" sz="1800">
                <a:solidFill>
                  <a:schemeClr val="tx2"/>
                </a:solidFill>
                <a:ea typeface="宋体" panose="02010600030101010101" pitchFamily="2" charset="-122"/>
              </a:rPr>
              <a:t>=0+1+2+2+3+4+5=17</a:t>
            </a:r>
            <a:endParaRPr lang="en-US" altLang="zh-CN" sz="1800">
              <a:solidFill>
                <a:schemeClr val="tx2"/>
              </a:solidFill>
              <a:ea typeface="宋体" panose="02010600030101010101" pitchFamily="2" charset="-122"/>
            </a:endParaRPr>
          </a:p>
          <a:p>
            <a:pPr marL="1279525" lvl="2">
              <a:spcBef>
                <a:spcPct val="0"/>
              </a:spcBef>
            </a:pPr>
            <a:r>
              <a:rPr lang="zh-CN" altLang="en-US" sz="2000">
                <a:ea typeface="宋体" panose="02010600030101010101" pitchFamily="2" charset="-122"/>
              </a:rPr>
              <a:t>结点个数一定的条件下，</a:t>
            </a:r>
            <a:r>
              <a:rPr lang="zh-CN" altLang="en-US" sz="2000">
                <a:solidFill>
                  <a:schemeClr val="tx2"/>
                </a:solidFill>
                <a:ea typeface="宋体" panose="02010600030101010101" pitchFamily="2" charset="-122"/>
              </a:rPr>
              <a:t>完全二叉树达到最小路径长度</a:t>
            </a:r>
            <a:endParaRPr lang="zh-CN" altLang="en-US" sz="2000">
              <a:solidFill>
                <a:schemeClr val="tx2"/>
              </a:solidFill>
              <a:ea typeface="宋体" panose="02010600030101010101" pitchFamily="2" charset="-122"/>
            </a:endParaRPr>
          </a:p>
          <a:p>
            <a:pPr marL="1698625" lvl="3">
              <a:spcBef>
                <a:spcPct val="0"/>
              </a:spcBef>
            </a:pPr>
            <a:endParaRPr lang="en-US" altLang="zh-CN" sz="1800">
              <a:ea typeface="宋体" panose="02010600030101010101" pitchFamily="2" charset="-122"/>
            </a:endParaRPr>
          </a:p>
          <a:p>
            <a:pPr marL="1698625" lvl="3">
              <a:spcBef>
                <a:spcPct val="0"/>
              </a:spcBef>
            </a:pPr>
            <a:r>
              <a:rPr lang="en-US" altLang="zh-CN" sz="1800">
                <a:ea typeface="宋体" panose="02010600030101010101" pitchFamily="2" charset="-122"/>
              </a:rPr>
              <a:t> </a:t>
            </a:r>
            <a:endParaRPr lang="en-US" altLang="zh-CN" sz="1800">
              <a:ea typeface="宋体" panose="02010600030101010101" pitchFamily="2" charset="-122"/>
            </a:endParaRPr>
          </a:p>
          <a:p>
            <a:pPr marL="1698625" lvl="3">
              <a:spcBef>
                <a:spcPct val="0"/>
              </a:spcBef>
            </a:pPr>
            <a:endParaRPr lang="en-US" altLang="zh-CN" sz="1800">
              <a:ea typeface="宋体" panose="02010600030101010101" pitchFamily="2" charset="-122"/>
            </a:endParaRPr>
          </a:p>
          <a:p>
            <a:pPr marL="1279525" lvl="2">
              <a:spcBef>
                <a:spcPct val="0"/>
              </a:spcBef>
            </a:pPr>
            <a:r>
              <a:rPr lang="zh-CN" altLang="en-US" sz="2000">
                <a:solidFill>
                  <a:schemeClr val="tx2"/>
                </a:solidFill>
                <a:ea typeface="宋体" panose="02010600030101010101" pitchFamily="2" charset="-122"/>
              </a:rPr>
              <a:t>研究最小路径长度的目的</a:t>
            </a:r>
            <a:r>
              <a:rPr lang="zh-CN" altLang="en-US" sz="2000">
                <a:ea typeface="宋体" panose="02010600030101010101" pitchFamily="2" charset="-122"/>
              </a:rPr>
              <a:t>：考虑在算法中能找到最短的计算时间。如遍历算法中，路经越短，计算时间就越短。</a:t>
            </a:r>
            <a:endParaRPr lang="zh-CN" altLang="en-US" sz="2000">
              <a:ea typeface="宋体" panose="02010600030101010101" pitchFamily="2" charset="-122"/>
            </a:endParaRPr>
          </a:p>
        </p:txBody>
      </p:sp>
      <p:grpSp>
        <p:nvGrpSpPr>
          <p:cNvPr id="50181" name="Group 58"/>
          <p:cNvGrpSpPr/>
          <p:nvPr/>
        </p:nvGrpSpPr>
        <p:grpSpPr bwMode="auto">
          <a:xfrm>
            <a:off x="7092950" y="1816100"/>
            <a:ext cx="1897063" cy="3154363"/>
            <a:chOff x="2058" y="2495"/>
            <a:chExt cx="1195" cy="1264"/>
          </a:xfrm>
        </p:grpSpPr>
        <p:sp>
          <p:nvSpPr>
            <p:cNvPr id="50183" name="Oval 34"/>
            <p:cNvSpPr>
              <a:spLocks noChangeArrowheads="1"/>
            </p:cNvSpPr>
            <p:nvPr/>
          </p:nvSpPr>
          <p:spPr bwMode="auto">
            <a:xfrm>
              <a:off x="2457" y="2495"/>
              <a:ext cx="237" cy="176"/>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800" b="1"/>
                <a:t>1</a:t>
              </a:r>
              <a:endParaRPr lang="en-US" altLang="zh-CN" sz="1800" b="1"/>
            </a:p>
          </p:txBody>
        </p:sp>
        <p:sp>
          <p:nvSpPr>
            <p:cNvPr id="50184" name="Oval 35"/>
            <p:cNvSpPr>
              <a:spLocks noChangeArrowheads="1"/>
            </p:cNvSpPr>
            <p:nvPr/>
          </p:nvSpPr>
          <p:spPr bwMode="auto">
            <a:xfrm>
              <a:off x="2291" y="2784"/>
              <a:ext cx="237" cy="176"/>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800" b="1"/>
                <a:t>2</a:t>
              </a:r>
              <a:endParaRPr lang="en-US" altLang="zh-CN" sz="1800" b="1"/>
            </a:p>
          </p:txBody>
        </p:sp>
        <p:sp>
          <p:nvSpPr>
            <p:cNvPr id="50185" name="Line 39"/>
            <p:cNvSpPr>
              <a:spLocks noChangeShapeType="1"/>
            </p:cNvSpPr>
            <p:nvPr/>
          </p:nvSpPr>
          <p:spPr bwMode="auto">
            <a:xfrm flipH="1">
              <a:off x="2470" y="2675"/>
              <a:ext cx="48" cy="106"/>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sp>
          <p:nvSpPr>
            <p:cNvPr id="50186" name="Line 40"/>
            <p:cNvSpPr>
              <a:spLocks noChangeShapeType="1"/>
            </p:cNvSpPr>
            <p:nvPr/>
          </p:nvSpPr>
          <p:spPr bwMode="auto">
            <a:xfrm>
              <a:off x="2489" y="2950"/>
              <a:ext cx="117" cy="6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sp>
          <p:nvSpPr>
            <p:cNvPr id="50187" name="Oval 44"/>
            <p:cNvSpPr>
              <a:spLocks noChangeArrowheads="1"/>
            </p:cNvSpPr>
            <p:nvPr/>
          </p:nvSpPr>
          <p:spPr bwMode="auto">
            <a:xfrm>
              <a:off x="2574" y="2993"/>
              <a:ext cx="237" cy="176"/>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800" b="1"/>
                <a:t>4</a:t>
              </a:r>
              <a:endParaRPr lang="en-US" altLang="zh-CN" sz="1800" b="1"/>
            </a:p>
          </p:txBody>
        </p:sp>
        <p:sp>
          <p:nvSpPr>
            <p:cNvPr id="50188" name="Line 45"/>
            <p:cNvSpPr>
              <a:spLocks noChangeShapeType="1"/>
            </p:cNvSpPr>
            <p:nvPr/>
          </p:nvSpPr>
          <p:spPr bwMode="auto">
            <a:xfrm flipH="1">
              <a:off x="2262" y="2952"/>
              <a:ext cx="68" cy="112"/>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sp>
          <p:nvSpPr>
            <p:cNvPr id="50189" name="Oval 46"/>
            <p:cNvSpPr>
              <a:spLocks noChangeArrowheads="1"/>
            </p:cNvSpPr>
            <p:nvPr/>
          </p:nvSpPr>
          <p:spPr bwMode="auto">
            <a:xfrm>
              <a:off x="2711" y="3430"/>
              <a:ext cx="237" cy="176"/>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800" b="1"/>
                <a:t>6</a:t>
              </a:r>
              <a:endParaRPr lang="en-US" altLang="zh-CN" sz="1800" b="1"/>
            </a:p>
          </p:txBody>
        </p:sp>
        <p:sp>
          <p:nvSpPr>
            <p:cNvPr id="50190" name="Line 47"/>
            <p:cNvSpPr>
              <a:spLocks noChangeShapeType="1"/>
            </p:cNvSpPr>
            <p:nvPr/>
          </p:nvSpPr>
          <p:spPr bwMode="auto">
            <a:xfrm flipH="1">
              <a:off x="2883" y="3329"/>
              <a:ext cx="47" cy="9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sp>
          <p:nvSpPr>
            <p:cNvPr id="50191" name="Line 48"/>
            <p:cNvSpPr>
              <a:spLocks noChangeShapeType="1"/>
            </p:cNvSpPr>
            <p:nvPr/>
          </p:nvSpPr>
          <p:spPr bwMode="auto">
            <a:xfrm>
              <a:off x="2807" y="3118"/>
              <a:ext cx="91" cy="46"/>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sp>
          <p:nvSpPr>
            <p:cNvPr id="50192" name="Oval 49"/>
            <p:cNvSpPr>
              <a:spLocks noChangeArrowheads="1"/>
            </p:cNvSpPr>
            <p:nvPr/>
          </p:nvSpPr>
          <p:spPr bwMode="auto">
            <a:xfrm>
              <a:off x="2880" y="3143"/>
              <a:ext cx="237" cy="176"/>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800" b="1"/>
                <a:t>5</a:t>
              </a:r>
              <a:endParaRPr lang="en-US" altLang="zh-CN" sz="1800" b="1"/>
            </a:p>
          </p:txBody>
        </p:sp>
        <p:sp>
          <p:nvSpPr>
            <p:cNvPr id="50193" name="Line 54"/>
            <p:cNvSpPr>
              <a:spLocks noChangeShapeType="1"/>
            </p:cNvSpPr>
            <p:nvPr/>
          </p:nvSpPr>
          <p:spPr bwMode="auto">
            <a:xfrm>
              <a:off x="2937" y="3574"/>
              <a:ext cx="91" cy="46"/>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lIns="18000" tIns="10800" rIns="18000" bIns="10800">
              <a:spAutoFit/>
            </a:bodyPr>
            <a:lstStyle/>
            <a:p>
              <a:endParaRPr lang="zh-CN" altLang="en-US"/>
            </a:p>
          </p:txBody>
        </p:sp>
        <p:sp>
          <p:nvSpPr>
            <p:cNvPr id="50194" name="Oval 56"/>
            <p:cNvSpPr>
              <a:spLocks noChangeArrowheads="1"/>
            </p:cNvSpPr>
            <p:nvPr/>
          </p:nvSpPr>
          <p:spPr bwMode="auto">
            <a:xfrm>
              <a:off x="2058" y="3050"/>
              <a:ext cx="237" cy="176"/>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800" b="1"/>
                <a:t>3</a:t>
              </a:r>
              <a:endParaRPr lang="en-US" altLang="zh-CN" sz="1800" b="1"/>
            </a:p>
          </p:txBody>
        </p:sp>
        <p:sp>
          <p:nvSpPr>
            <p:cNvPr id="50195" name="Oval 57"/>
            <p:cNvSpPr>
              <a:spLocks noChangeArrowheads="1"/>
            </p:cNvSpPr>
            <p:nvPr/>
          </p:nvSpPr>
          <p:spPr bwMode="auto">
            <a:xfrm>
              <a:off x="3016" y="3583"/>
              <a:ext cx="237" cy="176"/>
            </a:xfrm>
            <a:prstGeom prst="ellipse">
              <a:avLst/>
            </a:prstGeom>
            <a:noFill/>
            <a:ln w="28575" algn="ctr">
              <a:solidFill>
                <a:schemeClr val="tx2"/>
              </a:solidFill>
              <a:round/>
            </a:ln>
            <a:extLst>
              <a:ext uri="{909E8E84-426E-40DD-AFC4-6F175D3DCCD1}">
                <a14:hiddenFill xmlns:a14="http://schemas.microsoft.com/office/drawing/2010/main">
                  <a:solidFill>
                    <a:srgbClr val="FFFFFF"/>
                  </a:solidFill>
                </a14:hiddenFill>
              </a:ext>
            </a:extLst>
          </p:spPr>
          <p:txBody>
            <a:bodyPr lIns="18000" tIns="10800" rIns="18000" bIns="10800" anchor="ctr">
              <a:spAutoFit/>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r>
                <a:rPr lang="en-US" altLang="zh-CN" sz="1800" b="1"/>
                <a:t>7</a:t>
              </a:r>
              <a:endParaRPr lang="en-US" altLang="zh-CN" sz="1800" b="1"/>
            </a:p>
          </p:txBody>
        </p:sp>
      </p:grpSp>
      <p:graphicFrame>
        <p:nvGraphicFramePr>
          <p:cNvPr id="50182" name="Object 59"/>
          <p:cNvGraphicFramePr>
            <a:graphicFrameLocks noGrp="1" noChangeAspect="1"/>
          </p:cNvGraphicFramePr>
          <p:nvPr>
            <p:ph sz="half" idx="2"/>
          </p:nvPr>
        </p:nvGraphicFramePr>
        <p:xfrm>
          <a:off x="2070100" y="4524375"/>
          <a:ext cx="2008188" cy="812800"/>
        </p:xfrm>
        <a:graphic>
          <a:graphicData uri="http://schemas.openxmlformats.org/presentationml/2006/ole">
            <mc:AlternateContent xmlns:mc="http://schemas.openxmlformats.org/markup-compatibility/2006">
              <mc:Choice xmlns:v="urn:schemas-microsoft-com:vml" Requires="v">
                <p:oleObj spid="_x0000_s1031" name="Equation" r:id="rId1" imgW="955040" imgH="370205" progId="Equation.DSMT4">
                  <p:embed/>
                </p:oleObj>
              </mc:Choice>
              <mc:Fallback>
                <p:oleObj name="Equation" r:id="rId1" imgW="955040" imgH="370205" progId="Equation.DSMT4">
                  <p:embed/>
                  <p:pic>
                    <p:nvPicPr>
                      <p:cNvPr id="0" name="Object 5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0100" y="4524375"/>
                        <a:ext cx="2008188" cy="812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Click="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B4CED56B-3239-4BC6-B78C-6B22B259E5B6}"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51203" name="Rectangle 2"/>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3.5 </a:t>
            </a:r>
            <a:r>
              <a:rPr lang="zh-CN" altLang="en-US" sz="2400">
                <a:latin typeface="宋体" panose="02010600030101010101" pitchFamily="2" charset="-122"/>
                <a:ea typeface="宋体" panose="02010600030101010101" pitchFamily="2" charset="-122"/>
              </a:rPr>
              <a:t>树与二叉树</a:t>
            </a:r>
            <a:endParaRPr lang="zh-CN" altLang="en-US" sz="2400">
              <a:latin typeface="宋体" panose="02010600030101010101" pitchFamily="2" charset="-122"/>
              <a:ea typeface="宋体" panose="02010600030101010101" pitchFamily="2" charset="-122"/>
            </a:endParaRPr>
          </a:p>
        </p:txBody>
      </p:sp>
      <p:sp>
        <p:nvSpPr>
          <p:cNvPr id="51204" name="Rectangle 3"/>
          <p:cNvSpPr>
            <a:spLocks noGrp="1" noChangeArrowheads="1"/>
          </p:cNvSpPr>
          <p:nvPr>
            <p:ph type="body" idx="1"/>
          </p:nvPr>
        </p:nvSpPr>
        <p:spPr>
          <a:xfrm>
            <a:off x="136525" y="1096963"/>
            <a:ext cx="8877300" cy="5464175"/>
          </a:xfrm>
          <a:noFill/>
        </p:spPr>
        <p:txBody>
          <a:bodyPr/>
          <a:lstStyle/>
          <a:p>
            <a:pPr marL="192405" indent="-192405">
              <a:spcBef>
                <a:spcPct val="0"/>
              </a:spcBef>
            </a:pPr>
            <a:r>
              <a:rPr lang="zh-CN" altLang="en-US">
                <a:ea typeface="宋体" panose="02010600030101010101" pitchFamily="2" charset="-122"/>
              </a:rPr>
              <a:t>二叉树的应用 </a:t>
            </a:r>
            <a:r>
              <a:rPr lang="en-US" altLang="zh-CN">
                <a:ea typeface="宋体" panose="02010600030101010101" pitchFamily="2" charset="-122"/>
              </a:rPr>
              <a:t>----  </a:t>
            </a:r>
            <a:r>
              <a:rPr lang="zh-CN" altLang="en-US">
                <a:ea typeface="宋体" panose="02010600030101010101" pitchFamily="2" charset="-122"/>
              </a:rPr>
              <a:t>哈夫曼树</a:t>
            </a:r>
            <a:endParaRPr lang="en-US" altLang="zh-CN">
              <a:ea typeface="宋体" panose="02010600030101010101" pitchFamily="2" charset="-122"/>
            </a:endParaRPr>
          </a:p>
          <a:p>
            <a:pPr marL="860425" lvl="1">
              <a:spcBef>
                <a:spcPct val="0"/>
              </a:spcBef>
            </a:pPr>
            <a:r>
              <a:rPr lang="zh-CN" altLang="en-US">
                <a:ea typeface="宋体" panose="02010600030101010101" pitchFamily="2" charset="-122"/>
              </a:rPr>
              <a:t>基本概念：</a:t>
            </a:r>
            <a:endParaRPr lang="zh-CN" altLang="en-US">
              <a:ea typeface="宋体" panose="02010600030101010101" pitchFamily="2" charset="-122"/>
            </a:endParaRPr>
          </a:p>
          <a:p>
            <a:pPr marL="1279525" lvl="2">
              <a:spcBef>
                <a:spcPct val="0"/>
              </a:spcBef>
            </a:pPr>
            <a:r>
              <a:rPr lang="zh-CN" altLang="en-US">
                <a:solidFill>
                  <a:schemeClr val="tx2"/>
                </a:solidFill>
                <a:ea typeface="宋体" panose="02010600030101010101" pitchFamily="2" charset="-122"/>
              </a:rPr>
              <a:t>权</a:t>
            </a:r>
            <a:r>
              <a:rPr lang="zh-CN" altLang="en-US">
                <a:ea typeface="宋体" panose="02010600030101010101" pitchFamily="2" charset="-122"/>
              </a:rPr>
              <a:t>：就是“加权平均</a:t>
            </a:r>
            <a:r>
              <a:rPr lang="en-US" altLang="zh-CN">
                <a:ea typeface="宋体" panose="02010600030101010101" pitchFamily="2" charset="-122"/>
              </a:rPr>
              <a:t>”</a:t>
            </a:r>
            <a:r>
              <a:rPr lang="zh-CN" altLang="en-US">
                <a:ea typeface="宋体" panose="02010600030101010101" pitchFamily="2" charset="-122"/>
              </a:rPr>
              <a:t>中的权。</a:t>
            </a:r>
            <a:endParaRPr lang="zh-CN" altLang="en-US">
              <a:ea typeface="宋体" panose="02010600030101010101" pitchFamily="2" charset="-122"/>
            </a:endParaRPr>
          </a:p>
          <a:p>
            <a:pPr marL="1279525" lvl="2">
              <a:spcBef>
                <a:spcPct val="0"/>
              </a:spcBef>
            </a:pPr>
            <a:r>
              <a:rPr lang="zh-CN" altLang="en-US">
                <a:ea typeface="宋体" panose="02010600030101010101" pitchFamily="2" charset="-122"/>
              </a:rPr>
              <a:t>带权路径长度：带权结点到根结点之间的路径与权值的乘积。</a:t>
            </a:r>
            <a:endParaRPr lang="zh-CN" altLang="en-US">
              <a:ea typeface="宋体" panose="02010600030101010101" pitchFamily="2" charset="-122"/>
            </a:endParaRPr>
          </a:p>
          <a:p>
            <a:pPr marL="1279525" lvl="2">
              <a:spcBef>
                <a:spcPct val="0"/>
              </a:spcBef>
            </a:pPr>
            <a:r>
              <a:rPr lang="zh-CN" altLang="en-US">
                <a:solidFill>
                  <a:schemeClr val="tx2"/>
                </a:solidFill>
                <a:ea typeface="宋体" panose="02010600030101010101" pitchFamily="2" charset="-122"/>
              </a:rPr>
              <a:t>树的带权路径长度</a:t>
            </a:r>
            <a:r>
              <a:rPr lang="zh-CN" altLang="en-US">
                <a:ea typeface="宋体" panose="02010600030101010101" pitchFamily="2" charset="-122"/>
              </a:rPr>
              <a:t>：树中</a:t>
            </a:r>
            <a:r>
              <a:rPr lang="zh-CN" altLang="en-US">
                <a:solidFill>
                  <a:schemeClr val="tx2"/>
                </a:solidFill>
                <a:ea typeface="宋体" panose="02010600030101010101" pitchFamily="2" charset="-122"/>
              </a:rPr>
              <a:t>叶子结点</a:t>
            </a:r>
            <a:r>
              <a:rPr lang="zh-CN" altLang="en-US">
                <a:ea typeface="宋体" panose="02010600030101010101" pitchFamily="2" charset="-122"/>
              </a:rPr>
              <a:t>的带权路径长度之和。用</a:t>
            </a:r>
            <a:r>
              <a:rPr lang="en-US" altLang="zh-CN" i="1">
                <a:ea typeface="宋体" panose="02010600030101010101" pitchFamily="2" charset="-122"/>
              </a:rPr>
              <a:t>WPL</a:t>
            </a:r>
            <a:r>
              <a:rPr lang="zh-CN" altLang="en-US">
                <a:ea typeface="宋体" panose="02010600030101010101" pitchFamily="2" charset="-122"/>
              </a:rPr>
              <a:t>表示。</a:t>
            </a:r>
            <a:endParaRPr lang="zh-CN" altLang="en-US">
              <a:ea typeface="宋体" panose="02010600030101010101" pitchFamily="2" charset="-122"/>
            </a:endParaRPr>
          </a:p>
          <a:p>
            <a:pPr marL="1698625" lvl="3">
              <a:spcBef>
                <a:spcPct val="0"/>
              </a:spcBef>
            </a:pPr>
            <a:endParaRPr lang="zh-CN" altLang="en-US">
              <a:ea typeface="宋体" panose="02010600030101010101" pitchFamily="2" charset="-122"/>
            </a:endParaRPr>
          </a:p>
          <a:p>
            <a:pPr marL="1698625" lvl="3">
              <a:spcBef>
                <a:spcPct val="0"/>
              </a:spcBef>
            </a:pPr>
            <a:r>
              <a:rPr lang="zh-CN" altLang="en-US">
                <a:ea typeface="宋体" panose="02010600030101010101" pitchFamily="2" charset="-122"/>
              </a:rPr>
              <a:t> </a:t>
            </a:r>
            <a:endParaRPr lang="zh-CN" altLang="en-US">
              <a:ea typeface="宋体" panose="02010600030101010101" pitchFamily="2" charset="-122"/>
            </a:endParaRPr>
          </a:p>
          <a:p>
            <a:pPr marL="1698625" lvl="3">
              <a:spcBef>
                <a:spcPct val="0"/>
              </a:spcBef>
            </a:pPr>
            <a:endParaRPr lang="zh-CN" altLang="en-US">
              <a:ea typeface="宋体" panose="02010600030101010101" pitchFamily="2" charset="-122"/>
            </a:endParaRPr>
          </a:p>
          <a:p>
            <a:pPr marL="1279525" lvl="2"/>
            <a:r>
              <a:rPr lang="zh-CN" altLang="en-US">
                <a:ea typeface="宋体" panose="02010600030101010101" pitchFamily="2" charset="-122"/>
              </a:rPr>
              <a:t>哈夫曼树的定义：以 </a:t>
            </a:r>
            <a:r>
              <a:rPr lang="en-US" altLang="zh-CN" i="1">
                <a:latin typeface="Times New Roman" panose="02020603050405020304" pitchFamily="18" charset="0"/>
                <a:ea typeface="宋体" panose="02010600030101010101" pitchFamily="2" charset="-122"/>
                <a:cs typeface="Times New Roman" panose="02020603050405020304" pitchFamily="18" charset="0"/>
              </a:rPr>
              <a:t>n</a:t>
            </a:r>
            <a:r>
              <a:rPr lang="en-US" altLang="zh-CN">
                <a:ea typeface="宋体" panose="02010600030101010101" pitchFamily="2" charset="-122"/>
              </a:rPr>
              <a:t> </a:t>
            </a:r>
            <a:r>
              <a:rPr lang="zh-CN" altLang="en-US">
                <a:ea typeface="宋体" panose="02010600030101010101" pitchFamily="2" charset="-122"/>
              </a:rPr>
              <a:t>个带权值 </a:t>
            </a:r>
            <a:r>
              <a:rPr lang="en-US" altLang="zh-CN" i="1">
                <a:latin typeface="Times New Roman" panose="02020603050405020304" pitchFamily="18" charset="0"/>
                <a:ea typeface="宋体" panose="02010600030101010101" pitchFamily="2" charset="-122"/>
              </a:rPr>
              <a:t>w</a:t>
            </a:r>
            <a:r>
              <a:rPr lang="en-US" altLang="zh-CN" i="1" baseline="-25000">
                <a:latin typeface="Times New Roman" panose="02020603050405020304" pitchFamily="18" charset="0"/>
                <a:ea typeface="宋体" panose="02010600030101010101" pitchFamily="2" charset="-122"/>
              </a:rPr>
              <a:t>i </a:t>
            </a:r>
            <a:r>
              <a:rPr lang="en-US" altLang="zh-CN">
                <a:ea typeface="宋体" panose="02010600030101010101" pitchFamily="2" charset="-122"/>
              </a:rPr>
              <a:t>(i =1,2,…,</a:t>
            </a:r>
            <a:r>
              <a:rPr lang="en-US" altLang="zh-CN" i="1">
                <a:latin typeface="Times New Roman" panose="02020603050405020304" pitchFamily="18" charset="0"/>
                <a:ea typeface="宋体" panose="02010600030101010101" pitchFamily="2" charset="-122"/>
              </a:rPr>
              <a:t>n</a:t>
            </a:r>
            <a:r>
              <a:rPr lang="en-US" altLang="zh-CN">
                <a:ea typeface="宋体" panose="02010600030101010101" pitchFamily="2" charset="-122"/>
              </a:rPr>
              <a:t>)</a:t>
            </a:r>
            <a:r>
              <a:rPr lang="zh-CN" altLang="en-US">
                <a:ea typeface="宋体" panose="02010600030101010101" pitchFamily="2" charset="-122"/>
              </a:rPr>
              <a:t>的结点</a:t>
            </a:r>
            <a:r>
              <a:rPr lang="zh-CN" altLang="en-US">
                <a:solidFill>
                  <a:schemeClr val="tx2"/>
                </a:solidFill>
                <a:ea typeface="宋体" panose="02010600030101010101" pitchFamily="2" charset="-122"/>
              </a:rPr>
              <a:t>为叶子结点</a:t>
            </a:r>
            <a:r>
              <a:rPr lang="zh-CN" altLang="en-US">
                <a:ea typeface="宋体" panose="02010600030101010101" pitchFamily="2" charset="-122"/>
              </a:rPr>
              <a:t>的所有二叉树中，</a:t>
            </a:r>
            <a:r>
              <a:rPr lang="zh-CN" altLang="en-US">
                <a:solidFill>
                  <a:schemeClr val="tx2"/>
                </a:solidFill>
                <a:ea typeface="宋体" panose="02010600030101010101" pitchFamily="2" charset="-122"/>
              </a:rPr>
              <a:t>带权路径长度 </a:t>
            </a:r>
            <a:r>
              <a:rPr lang="en-US" altLang="zh-CN" i="1">
                <a:solidFill>
                  <a:schemeClr val="tx2"/>
                </a:solidFill>
                <a:ea typeface="宋体" panose="02010600030101010101" pitchFamily="2" charset="-122"/>
              </a:rPr>
              <a:t>WPL </a:t>
            </a:r>
            <a:r>
              <a:rPr lang="zh-CN" altLang="en-US">
                <a:solidFill>
                  <a:schemeClr val="tx2"/>
                </a:solidFill>
                <a:ea typeface="宋体" panose="02010600030101010101" pitchFamily="2" charset="-122"/>
              </a:rPr>
              <a:t>最小的树</a:t>
            </a:r>
            <a:r>
              <a:rPr lang="zh-CN" altLang="en-US">
                <a:ea typeface="宋体" panose="02010600030101010101" pitchFamily="2" charset="-122"/>
              </a:rPr>
              <a:t>称为哈夫曼树或最优二叉树。</a:t>
            </a:r>
            <a:endParaRPr lang="zh-CN" altLang="en-US">
              <a:ea typeface="宋体" panose="02010600030101010101" pitchFamily="2" charset="-122"/>
            </a:endParaRPr>
          </a:p>
        </p:txBody>
      </p:sp>
      <p:graphicFrame>
        <p:nvGraphicFramePr>
          <p:cNvPr id="51205" name="Object 19"/>
          <p:cNvGraphicFramePr>
            <a:graphicFrameLocks noChangeAspect="1"/>
          </p:cNvGraphicFramePr>
          <p:nvPr/>
        </p:nvGraphicFramePr>
        <p:xfrm>
          <a:off x="1933575" y="3933825"/>
          <a:ext cx="5203825" cy="790575"/>
        </p:xfrm>
        <a:graphic>
          <a:graphicData uri="http://schemas.openxmlformats.org/presentationml/2006/ole">
            <mc:AlternateContent xmlns:mc="http://schemas.openxmlformats.org/markup-compatibility/2006">
              <mc:Choice xmlns:v="urn:schemas-microsoft-com:vml" Requires="v">
                <p:oleObj spid="_x0000_s2055" name="Equation" r:id="rId1" imgW="2482850" imgH="370205" progId="Equation.DSMT4">
                  <p:embed/>
                </p:oleObj>
              </mc:Choice>
              <mc:Fallback>
                <p:oleObj name="Equation" r:id="rId1" imgW="2482850" imgH="370205" progId="Equation.DSMT4">
                  <p:embed/>
                  <p:pic>
                    <p:nvPicPr>
                      <p:cNvPr id="0" name="Object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3575" y="3933825"/>
                        <a:ext cx="520382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advClick="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7"/>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2F916DD3-404D-4CAC-8140-0F5A9101EC3C}"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53251" name="Rectangle 2"/>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3.5 </a:t>
            </a:r>
            <a:r>
              <a:rPr lang="zh-CN" altLang="en-US" sz="2400">
                <a:latin typeface="宋体" panose="02010600030101010101" pitchFamily="2" charset="-122"/>
                <a:ea typeface="宋体" panose="02010600030101010101" pitchFamily="2" charset="-122"/>
              </a:rPr>
              <a:t>树与二叉树</a:t>
            </a:r>
            <a:endParaRPr lang="zh-CN" altLang="en-US" sz="2400">
              <a:latin typeface="宋体" panose="02010600030101010101" pitchFamily="2" charset="-122"/>
              <a:ea typeface="宋体" panose="02010600030101010101" pitchFamily="2" charset="-122"/>
            </a:endParaRPr>
          </a:p>
        </p:txBody>
      </p:sp>
      <p:sp>
        <p:nvSpPr>
          <p:cNvPr id="53252" name="Rectangle 3"/>
          <p:cNvSpPr>
            <a:spLocks noGrp="1" noChangeArrowheads="1"/>
          </p:cNvSpPr>
          <p:nvPr>
            <p:ph type="body" sz="half" idx="1"/>
          </p:nvPr>
        </p:nvSpPr>
        <p:spPr>
          <a:xfrm>
            <a:off x="144463" y="1020763"/>
            <a:ext cx="8785225" cy="5694362"/>
          </a:xfrm>
          <a:noFill/>
        </p:spPr>
        <p:txBody>
          <a:bodyPr/>
          <a:lstStyle/>
          <a:p>
            <a:pPr marL="192405" indent="-192405">
              <a:lnSpc>
                <a:spcPct val="90000"/>
              </a:lnSpc>
            </a:pPr>
            <a:r>
              <a:rPr lang="zh-CN" altLang="en-US" sz="2800">
                <a:ea typeface="宋体" panose="02010600030101010101" pitchFamily="2" charset="-122"/>
              </a:rPr>
              <a:t>二叉树的应用 </a:t>
            </a:r>
            <a:r>
              <a:rPr lang="en-US" altLang="zh-CN" sz="2800">
                <a:ea typeface="宋体" panose="02010600030101010101" pitchFamily="2" charset="-122"/>
              </a:rPr>
              <a:t>----  </a:t>
            </a:r>
            <a:r>
              <a:rPr lang="zh-CN" altLang="en-US" sz="2800">
                <a:ea typeface="宋体" panose="02010600030101010101" pitchFamily="2" charset="-122"/>
              </a:rPr>
              <a:t>哈夫曼树</a:t>
            </a:r>
            <a:endParaRPr lang="en-US" altLang="zh-CN" sz="2800">
              <a:ea typeface="宋体" panose="02010600030101010101" pitchFamily="2" charset="-122"/>
            </a:endParaRPr>
          </a:p>
          <a:p>
            <a:pPr marL="860425" lvl="1">
              <a:lnSpc>
                <a:spcPct val="90000"/>
              </a:lnSpc>
            </a:pPr>
            <a:r>
              <a:rPr lang="zh-CN" altLang="en-US" sz="2400">
                <a:ea typeface="宋体" panose="02010600030101010101" pitchFamily="2" charset="-122"/>
              </a:rPr>
              <a:t>例如：图示的三棵树中，</a:t>
            </a:r>
            <a:r>
              <a:rPr lang="en-US" altLang="zh-CN" sz="2400">
                <a:ea typeface="宋体" panose="02010600030101010101" pitchFamily="2" charset="-122"/>
              </a:rPr>
              <a:t>(c)</a:t>
            </a:r>
            <a:r>
              <a:rPr lang="zh-CN" altLang="en-US" sz="2400">
                <a:ea typeface="宋体" panose="02010600030101010101" pitchFamily="2" charset="-122"/>
              </a:rPr>
              <a:t>为哈夫曼树。</a:t>
            </a:r>
            <a:endParaRPr lang="en-US" altLang="zh-CN" sz="2400">
              <a:ea typeface="宋体" panose="02010600030101010101" pitchFamily="2" charset="-122"/>
            </a:endParaRPr>
          </a:p>
          <a:p>
            <a:pPr marL="1279525" lvl="2">
              <a:lnSpc>
                <a:spcPct val="90000"/>
              </a:lnSpc>
            </a:pPr>
            <a:endParaRPr lang="zh-CN" altLang="en-US" sz="2000">
              <a:ea typeface="宋体" panose="02010600030101010101" pitchFamily="2" charset="-122"/>
            </a:endParaRPr>
          </a:p>
          <a:p>
            <a:pPr marL="1279525" lvl="2">
              <a:lnSpc>
                <a:spcPct val="90000"/>
              </a:lnSpc>
            </a:pPr>
            <a:endParaRPr lang="zh-CN" altLang="en-US" sz="2000">
              <a:ea typeface="宋体" panose="02010600030101010101" pitchFamily="2" charset="-122"/>
            </a:endParaRPr>
          </a:p>
          <a:p>
            <a:pPr marL="1279525" lvl="2">
              <a:lnSpc>
                <a:spcPct val="90000"/>
              </a:lnSpc>
            </a:pPr>
            <a:endParaRPr lang="zh-CN" altLang="en-US" sz="2000">
              <a:ea typeface="宋体" panose="02010600030101010101" pitchFamily="2" charset="-122"/>
            </a:endParaRPr>
          </a:p>
          <a:p>
            <a:pPr marL="1279525" lvl="2">
              <a:lnSpc>
                <a:spcPct val="90000"/>
              </a:lnSpc>
            </a:pPr>
            <a:endParaRPr lang="zh-CN" altLang="en-US" sz="2000">
              <a:ea typeface="宋体" panose="02010600030101010101" pitchFamily="2" charset="-122"/>
            </a:endParaRPr>
          </a:p>
          <a:p>
            <a:pPr marL="1279525" lvl="2">
              <a:lnSpc>
                <a:spcPct val="90000"/>
              </a:lnSpc>
            </a:pPr>
            <a:endParaRPr lang="zh-CN" altLang="en-US" sz="2000">
              <a:ea typeface="宋体" panose="02010600030101010101" pitchFamily="2" charset="-122"/>
            </a:endParaRPr>
          </a:p>
          <a:p>
            <a:pPr marL="1279525" lvl="2">
              <a:lnSpc>
                <a:spcPct val="90000"/>
              </a:lnSpc>
            </a:pPr>
            <a:endParaRPr lang="zh-CN" altLang="en-US" sz="2000">
              <a:ea typeface="宋体" panose="02010600030101010101" pitchFamily="2" charset="-122"/>
            </a:endParaRPr>
          </a:p>
          <a:p>
            <a:pPr marL="1279525" lvl="2">
              <a:lnSpc>
                <a:spcPct val="90000"/>
              </a:lnSpc>
            </a:pPr>
            <a:endParaRPr lang="zh-CN" altLang="en-US" sz="2000">
              <a:ea typeface="宋体" panose="02010600030101010101" pitchFamily="2" charset="-122"/>
            </a:endParaRPr>
          </a:p>
          <a:p>
            <a:pPr marL="1279525" lvl="2">
              <a:lnSpc>
                <a:spcPct val="90000"/>
              </a:lnSpc>
            </a:pPr>
            <a:endParaRPr lang="zh-CN" altLang="en-US" sz="2000">
              <a:ea typeface="宋体" panose="02010600030101010101" pitchFamily="2" charset="-122"/>
            </a:endParaRPr>
          </a:p>
          <a:p>
            <a:pPr marL="860425" lvl="1">
              <a:lnSpc>
                <a:spcPct val="90000"/>
              </a:lnSpc>
              <a:buFontTx/>
              <a:buNone/>
            </a:pPr>
            <a:r>
              <a:rPr lang="en-US" altLang="zh-CN" sz="2400">
                <a:ea typeface="宋体" panose="02010600030101010101" pitchFamily="2" charset="-122"/>
              </a:rPr>
              <a:t>(a) </a:t>
            </a:r>
            <a:r>
              <a:rPr lang="en-US" altLang="zh-CN" sz="2400" i="1">
                <a:ea typeface="宋体" panose="02010600030101010101" pitchFamily="2" charset="-122"/>
              </a:rPr>
              <a:t>WPL</a:t>
            </a:r>
            <a:r>
              <a:rPr lang="en-US" altLang="zh-CN" sz="2400">
                <a:ea typeface="宋体" panose="02010600030101010101" pitchFamily="2" charset="-122"/>
              </a:rPr>
              <a:t>=7*2+5*2+2*2+4*2=36    </a:t>
            </a:r>
            <a:r>
              <a:rPr lang="en-US" altLang="zh-CN" sz="2400" i="1">
                <a:ea typeface="宋体" panose="02010600030101010101" pitchFamily="2" charset="-122"/>
              </a:rPr>
              <a:t>PL</a:t>
            </a:r>
            <a:r>
              <a:rPr lang="en-US" altLang="zh-CN" sz="2400">
                <a:ea typeface="宋体" panose="02010600030101010101" pitchFamily="2" charset="-122"/>
              </a:rPr>
              <a:t>=0+1+1+2+2+2+2=10</a:t>
            </a:r>
            <a:endParaRPr lang="en-US" altLang="zh-CN" sz="2400">
              <a:ea typeface="宋体" panose="02010600030101010101" pitchFamily="2" charset="-122"/>
            </a:endParaRPr>
          </a:p>
          <a:p>
            <a:pPr marL="860425" lvl="1">
              <a:lnSpc>
                <a:spcPct val="90000"/>
              </a:lnSpc>
              <a:buFontTx/>
              <a:buNone/>
            </a:pPr>
            <a:r>
              <a:rPr lang="en-US" altLang="zh-CN" sz="2400">
                <a:ea typeface="宋体" panose="02010600030101010101" pitchFamily="2" charset="-122"/>
              </a:rPr>
              <a:t>(b) </a:t>
            </a:r>
            <a:r>
              <a:rPr lang="en-US" altLang="zh-CN" sz="2400" i="1">
                <a:ea typeface="宋体" panose="02010600030101010101" pitchFamily="2" charset="-122"/>
              </a:rPr>
              <a:t>WPL</a:t>
            </a:r>
            <a:r>
              <a:rPr lang="en-US" altLang="zh-CN" sz="2400">
                <a:ea typeface="宋体" panose="02010600030101010101" pitchFamily="2" charset="-122"/>
              </a:rPr>
              <a:t>=7*3+5*3+2*1+4*2=46    </a:t>
            </a:r>
            <a:r>
              <a:rPr lang="en-US" altLang="zh-CN" sz="2400" i="1">
                <a:ea typeface="宋体" panose="02010600030101010101" pitchFamily="2" charset="-122"/>
              </a:rPr>
              <a:t>PL</a:t>
            </a:r>
            <a:r>
              <a:rPr lang="en-US" altLang="zh-CN" sz="2400">
                <a:ea typeface="宋体" panose="02010600030101010101" pitchFamily="2" charset="-122"/>
              </a:rPr>
              <a:t>=0+1+1+2+2+3+3=12</a:t>
            </a:r>
            <a:endParaRPr lang="en-US" altLang="zh-CN" sz="2400">
              <a:ea typeface="宋体" panose="02010600030101010101" pitchFamily="2" charset="-122"/>
            </a:endParaRPr>
          </a:p>
          <a:p>
            <a:pPr marL="860425" lvl="1">
              <a:lnSpc>
                <a:spcPct val="90000"/>
              </a:lnSpc>
              <a:buFontTx/>
              <a:buNone/>
            </a:pPr>
            <a:r>
              <a:rPr lang="en-US" altLang="zh-CN" sz="2400">
                <a:ea typeface="宋体" panose="02010600030101010101" pitchFamily="2" charset="-122"/>
              </a:rPr>
              <a:t>(c) </a:t>
            </a:r>
            <a:r>
              <a:rPr lang="en-US" altLang="zh-CN" sz="2400" i="1">
                <a:ea typeface="宋体" panose="02010600030101010101" pitchFamily="2" charset="-122"/>
              </a:rPr>
              <a:t>WPL</a:t>
            </a:r>
            <a:r>
              <a:rPr lang="en-US" altLang="zh-CN" sz="2400">
                <a:ea typeface="宋体" panose="02010600030101010101" pitchFamily="2" charset="-122"/>
              </a:rPr>
              <a:t>=7*1+5*2+2*3+4*3=35    </a:t>
            </a:r>
            <a:r>
              <a:rPr lang="en-US" altLang="zh-CN" sz="2400" i="1">
                <a:ea typeface="宋体" panose="02010600030101010101" pitchFamily="2" charset="-122"/>
              </a:rPr>
              <a:t>PL</a:t>
            </a:r>
            <a:r>
              <a:rPr lang="en-US" altLang="zh-CN" sz="2400">
                <a:ea typeface="宋体" panose="02010600030101010101" pitchFamily="2" charset="-122"/>
              </a:rPr>
              <a:t>=0+1+1+2+2+3+3=12</a:t>
            </a:r>
            <a:endParaRPr lang="en-US" altLang="zh-CN" sz="2400">
              <a:ea typeface="宋体" panose="02010600030101010101" pitchFamily="2" charset="-122"/>
            </a:endParaRPr>
          </a:p>
          <a:p>
            <a:pPr marL="860425" lvl="1">
              <a:lnSpc>
                <a:spcPct val="90000"/>
              </a:lnSpc>
            </a:pPr>
            <a:r>
              <a:rPr lang="zh-CN" altLang="en-US" sz="2400">
                <a:ea typeface="宋体" panose="02010600030101010101" pitchFamily="2" charset="-122"/>
              </a:rPr>
              <a:t>带权路径长度最小的不是完全二叉树，</a:t>
            </a:r>
            <a:r>
              <a:rPr lang="zh-CN" altLang="en-US" sz="2400">
                <a:solidFill>
                  <a:schemeClr val="tx2"/>
                </a:solidFill>
                <a:ea typeface="宋体" panose="02010600030101010101" pitchFamily="2" charset="-122"/>
              </a:rPr>
              <a:t>而是权越大的叶子离根越近的二叉树</a:t>
            </a:r>
            <a:r>
              <a:rPr lang="zh-CN" altLang="en-US" sz="2400">
                <a:ea typeface="宋体" panose="02010600030101010101" pitchFamily="2" charset="-122"/>
              </a:rPr>
              <a:t>。</a:t>
            </a:r>
            <a:endParaRPr lang="zh-CN" altLang="en-US" sz="2400">
              <a:ea typeface="宋体" panose="02010600030101010101" pitchFamily="2" charset="-122"/>
            </a:endParaRPr>
          </a:p>
        </p:txBody>
      </p:sp>
      <p:pic>
        <p:nvPicPr>
          <p:cNvPr id="39941" name="Picture 23" descr="Snap12"/>
          <p:cNvPicPr>
            <a:picLocks noChangeAspect="1" noChangeArrowheads="1"/>
          </p:cNvPicPr>
          <p:nvPr/>
        </p:nvPicPr>
        <p:blipFill>
          <a:blip r:embed="rId1" cstate="print">
            <a:duotone>
              <a:prstClr val="black"/>
              <a:schemeClr val="accent1">
                <a:tint val="45000"/>
                <a:satMod val="400000"/>
              </a:schemeClr>
            </a:duotone>
            <a:lum contrast="94000"/>
          </a:blip>
          <a:srcRect/>
          <a:stretch>
            <a:fillRect/>
          </a:stretch>
        </p:blipFill>
        <p:spPr bwMode="auto">
          <a:xfrm>
            <a:off x="1008063" y="1809751"/>
            <a:ext cx="7343775" cy="2771775"/>
          </a:xfrm>
          <a:prstGeom prst="rect">
            <a:avLst/>
          </a:prstGeom>
          <a:noFill/>
          <a:ln w="9525">
            <a:noFill/>
            <a:miter lim="800000"/>
            <a:headEnd/>
            <a:tailEnd/>
          </a:ln>
        </p:spPr>
      </p:pic>
    </p:spTree>
  </p:cSld>
  <p:clrMapOvr>
    <a:masterClrMapping/>
  </p:clrMapOvr>
  <p:transition advClick="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5A09E709-B867-4F48-947A-3816EBBCF10A}"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54275" name="Rectangle 2"/>
          <p:cNvSpPr>
            <a:spLocks noGrp="1" noChangeArrowheads="1"/>
          </p:cNvSpPr>
          <p:nvPr>
            <p:ph type="title"/>
          </p:nvPr>
        </p:nvSpPr>
        <p:spPr>
          <a:xfrm>
            <a:off x="685800" y="1588"/>
            <a:ext cx="7772400" cy="914400"/>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3.5 </a:t>
            </a:r>
            <a:r>
              <a:rPr lang="zh-CN" altLang="en-US" sz="2400">
                <a:latin typeface="宋体" panose="02010600030101010101" pitchFamily="2" charset="-122"/>
                <a:ea typeface="宋体" panose="02010600030101010101" pitchFamily="2" charset="-122"/>
              </a:rPr>
              <a:t>树与二叉树</a:t>
            </a:r>
            <a:endParaRPr lang="zh-CN" altLang="en-US" sz="2400">
              <a:latin typeface="宋体" panose="02010600030101010101" pitchFamily="2" charset="-122"/>
              <a:ea typeface="宋体" panose="02010600030101010101" pitchFamily="2" charset="-122"/>
            </a:endParaRPr>
          </a:p>
        </p:txBody>
      </p:sp>
      <p:sp>
        <p:nvSpPr>
          <p:cNvPr id="40964" name="Rectangle 3"/>
          <p:cNvSpPr>
            <a:spLocks noGrp="1" noChangeArrowheads="1"/>
          </p:cNvSpPr>
          <p:nvPr>
            <p:ph type="body" sz="half" idx="1"/>
          </p:nvPr>
        </p:nvSpPr>
        <p:spPr>
          <a:xfrm>
            <a:off x="179388" y="1055688"/>
            <a:ext cx="8964612" cy="3587750"/>
          </a:xfrm>
        </p:spPr>
        <p:txBody>
          <a:bodyPr>
            <a:normAutofit lnSpcReduction="10000"/>
          </a:bodyPr>
          <a:lstStyle/>
          <a:p>
            <a:pPr marL="192405" indent="-192405">
              <a:lnSpc>
                <a:spcPct val="90000"/>
              </a:lnSpc>
              <a:spcBef>
                <a:spcPct val="0"/>
              </a:spcBef>
              <a:defRPr/>
            </a:pPr>
            <a:r>
              <a:rPr lang="zh-CN" altLang="en-US" sz="2800" dirty="0">
                <a:ea typeface="宋体" panose="02010600030101010101" pitchFamily="2" charset="-122"/>
              </a:rPr>
              <a:t>二叉树的应用 </a:t>
            </a:r>
            <a:r>
              <a:rPr lang="en-US" altLang="zh-CN" sz="2800" dirty="0">
                <a:ea typeface="宋体" panose="02010600030101010101" pitchFamily="2" charset="-122"/>
              </a:rPr>
              <a:t>----  </a:t>
            </a:r>
            <a:r>
              <a:rPr lang="zh-CN" altLang="en-US" sz="2800" dirty="0">
                <a:ea typeface="宋体" panose="02010600030101010101" pitchFamily="2" charset="-122"/>
              </a:rPr>
              <a:t>哈夫曼树</a:t>
            </a:r>
            <a:endParaRPr lang="en-US" altLang="zh-CN" sz="2800" dirty="0">
              <a:ea typeface="宋体" panose="02010600030101010101" pitchFamily="2" charset="-122"/>
            </a:endParaRPr>
          </a:p>
          <a:p>
            <a:pPr marL="860425" lvl="1">
              <a:lnSpc>
                <a:spcPct val="90000"/>
              </a:lnSpc>
              <a:spcBef>
                <a:spcPct val="0"/>
              </a:spcBef>
              <a:defRPr/>
            </a:pPr>
            <a:r>
              <a:rPr lang="zh-CN" altLang="en-US" sz="2400" dirty="0">
                <a:solidFill>
                  <a:schemeClr val="tx2"/>
                </a:solidFill>
                <a:ea typeface="宋体" panose="02010600030101010101" pitchFamily="2" charset="-122"/>
              </a:rPr>
              <a:t>哈夫曼树的生成</a:t>
            </a:r>
            <a:r>
              <a:rPr lang="zh-CN" altLang="en-US" sz="2400" dirty="0">
                <a:ea typeface="宋体" panose="02010600030101010101" pitchFamily="2" charset="-122"/>
              </a:rPr>
              <a:t>：以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n </a:t>
            </a:r>
            <a:r>
              <a:rPr lang="zh-CN" altLang="en-US" sz="2400" dirty="0">
                <a:ea typeface="宋体" panose="02010600030101010101" pitchFamily="2" charset="-122"/>
              </a:rPr>
              <a:t>个带权值 </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w</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i="1" baseline="-25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=1,2,…,</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ea typeface="宋体" panose="02010600030101010101" pitchFamily="2" charset="-122"/>
              </a:rPr>
              <a:t>的结点为叶子结点，构造一颗带权路径长度最小的树，哈夫曼（</a:t>
            </a:r>
            <a:r>
              <a:rPr lang="en-US" altLang="zh-CN" sz="2400" dirty="0">
                <a:ea typeface="宋体" panose="02010600030101010101" pitchFamily="2" charset="-122"/>
              </a:rPr>
              <a:t>Huffman</a:t>
            </a:r>
            <a:r>
              <a:rPr lang="zh-CN" altLang="en-US" sz="2400" dirty="0">
                <a:ea typeface="宋体" panose="02010600030101010101" pitchFamily="2" charset="-122"/>
              </a:rPr>
              <a:t>）最早给出了一个带有一般规律的算法</a:t>
            </a:r>
            <a:r>
              <a:rPr lang="en-US" altLang="zh-CN" sz="2400" dirty="0">
                <a:ea typeface="宋体" panose="02010600030101010101" pitchFamily="2" charset="-122"/>
              </a:rPr>
              <a:t>----</a:t>
            </a:r>
            <a:r>
              <a:rPr lang="zh-CN" altLang="en-US" sz="2400" dirty="0">
                <a:ea typeface="宋体" panose="02010600030101010101" pitchFamily="2" charset="-122"/>
              </a:rPr>
              <a:t>哈夫曼算法。</a:t>
            </a:r>
            <a:endParaRPr lang="zh-CN" altLang="en-US" sz="2400" dirty="0">
              <a:ea typeface="宋体" panose="02010600030101010101" pitchFamily="2" charset="-122"/>
            </a:endParaRPr>
          </a:p>
          <a:p>
            <a:pPr marL="860425" lvl="1">
              <a:lnSpc>
                <a:spcPct val="90000"/>
              </a:lnSpc>
              <a:spcBef>
                <a:spcPct val="0"/>
              </a:spcBef>
              <a:defRPr/>
            </a:pPr>
            <a:r>
              <a:rPr lang="zh-CN" altLang="en-US" sz="2400" dirty="0">
                <a:solidFill>
                  <a:schemeClr val="tx2"/>
                </a:solidFill>
                <a:ea typeface="宋体" panose="02010600030101010101" pitchFamily="2" charset="-122"/>
              </a:rPr>
              <a:t>算法描述</a:t>
            </a:r>
            <a:r>
              <a:rPr lang="zh-CN" altLang="en-US" sz="2400" dirty="0">
                <a:ea typeface="宋体" panose="02010600030101010101" pitchFamily="2" charset="-122"/>
              </a:rPr>
              <a:t>：</a:t>
            </a:r>
            <a:endParaRPr lang="zh-CN" altLang="en-US" sz="2400" dirty="0">
              <a:ea typeface="宋体" panose="02010600030101010101" pitchFamily="2" charset="-122"/>
            </a:endParaRPr>
          </a:p>
          <a:p>
            <a:pPr marL="1279525" lvl="2">
              <a:lnSpc>
                <a:spcPct val="90000"/>
              </a:lnSpc>
              <a:spcBef>
                <a:spcPct val="0"/>
              </a:spcBef>
              <a:defRPr/>
            </a:pPr>
            <a:r>
              <a:rPr lang="zh-CN" altLang="en-US" sz="2000" dirty="0">
                <a:ea typeface="宋体" panose="02010600030101010101" pitchFamily="2" charset="-122"/>
              </a:rPr>
              <a:t>据给定的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n </a:t>
            </a:r>
            <a:r>
              <a:rPr lang="zh-CN" altLang="en-US" sz="2000" dirty="0">
                <a:ea typeface="宋体" panose="02010600030101010101" pitchFamily="2" charset="-122"/>
              </a:rPr>
              <a:t>个带权值的结点，构造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n </a:t>
            </a:r>
            <a:r>
              <a:rPr lang="zh-CN" altLang="en-US" sz="2000" dirty="0">
                <a:ea typeface="宋体" panose="02010600030101010101" pitchFamily="2" charset="-122"/>
              </a:rPr>
              <a:t>棵带权值且只有根结点的二叉树的集合 </a:t>
            </a:r>
            <a:r>
              <a:rPr lang="en-US" altLang="zh-CN" sz="2000" i="1" dirty="0">
                <a:ea typeface="宋体" panose="02010600030101010101" pitchFamily="2" charset="-122"/>
              </a:rPr>
              <a:t>F</a:t>
            </a:r>
            <a:endParaRPr lang="en-US" altLang="zh-CN" sz="2000" i="1" dirty="0">
              <a:ea typeface="宋体" panose="02010600030101010101" pitchFamily="2" charset="-122"/>
            </a:endParaRPr>
          </a:p>
          <a:p>
            <a:pPr marL="1279525" lvl="2">
              <a:lnSpc>
                <a:spcPct val="90000"/>
              </a:lnSpc>
              <a:spcBef>
                <a:spcPct val="0"/>
              </a:spcBef>
              <a:defRPr/>
            </a:pPr>
            <a:r>
              <a:rPr lang="zh-CN" altLang="en-US" sz="2000" dirty="0">
                <a:ea typeface="宋体" panose="02010600030101010101" pitchFamily="2" charset="-122"/>
              </a:rPr>
              <a:t>选择根结点权值最小的两棵二叉树分别作为左右子树构造一棵新的二叉树，其根结点的权值为左右子树根结点权值之和</a:t>
            </a:r>
            <a:endParaRPr lang="zh-CN" altLang="en-US" sz="2000" dirty="0">
              <a:ea typeface="宋体" panose="02010600030101010101" pitchFamily="2" charset="-122"/>
            </a:endParaRPr>
          </a:p>
          <a:p>
            <a:pPr marL="1279525" lvl="2">
              <a:lnSpc>
                <a:spcPct val="90000"/>
              </a:lnSpc>
              <a:spcBef>
                <a:spcPct val="0"/>
              </a:spcBef>
              <a:defRPr/>
            </a:pPr>
            <a:r>
              <a:rPr lang="zh-CN" altLang="en-US" sz="2000" dirty="0">
                <a:ea typeface="宋体" panose="02010600030101010101" pitchFamily="2" charset="-122"/>
              </a:rPr>
              <a:t>在 </a:t>
            </a:r>
            <a:r>
              <a:rPr lang="en-US" altLang="zh-CN" sz="2000" i="1" dirty="0">
                <a:ea typeface="宋体" panose="02010600030101010101" pitchFamily="2" charset="-122"/>
              </a:rPr>
              <a:t>F</a:t>
            </a:r>
            <a:r>
              <a:rPr lang="en-US" altLang="zh-CN" sz="2000" dirty="0">
                <a:ea typeface="宋体" panose="02010600030101010101" pitchFamily="2" charset="-122"/>
              </a:rPr>
              <a:t> </a:t>
            </a:r>
            <a:r>
              <a:rPr lang="zh-CN" altLang="en-US" sz="2000" dirty="0">
                <a:ea typeface="宋体" panose="02010600030101010101" pitchFamily="2" charset="-122"/>
              </a:rPr>
              <a:t>中，去掉原两棵根结点权值最小的树，加入新树</a:t>
            </a:r>
            <a:endParaRPr lang="zh-CN" altLang="en-US" sz="2000" dirty="0">
              <a:ea typeface="宋体" panose="02010600030101010101" pitchFamily="2" charset="-122"/>
            </a:endParaRPr>
          </a:p>
          <a:p>
            <a:pPr marL="1279525" lvl="2">
              <a:lnSpc>
                <a:spcPct val="90000"/>
              </a:lnSpc>
              <a:spcBef>
                <a:spcPct val="0"/>
              </a:spcBef>
              <a:defRPr/>
            </a:pPr>
            <a:r>
              <a:rPr lang="zh-CN" altLang="en-US" sz="2000" dirty="0">
                <a:ea typeface="宋体" panose="02010600030101010101" pitchFamily="2" charset="-122"/>
              </a:rPr>
              <a:t>重复上述两步，直至 </a:t>
            </a:r>
            <a:r>
              <a:rPr lang="en-US" altLang="zh-CN" sz="2000" i="1" dirty="0">
                <a:ea typeface="宋体" panose="02010600030101010101" pitchFamily="2" charset="-122"/>
              </a:rPr>
              <a:t>F</a:t>
            </a:r>
            <a:r>
              <a:rPr lang="en-US" altLang="zh-CN" sz="2000" dirty="0">
                <a:ea typeface="宋体" panose="02010600030101010101" pitchFamily="2" charset="-122"/>
              </a:rPr>
              <a:t> </a:t>
            </a:r>
            <a:r>
              <a:rPr lang="zh-CN" altLang="en-US" sz="2000" dirty="0">
                <a:ea typeface="宋体" panose="02010600030101010101" pitchFamily="2" charset="-122"/>
              </a:rPr>
              <a:t>中只有一棵树。</a:t>
            </a:r>
            <a:endParaRPr lang="zh-CN" altLang="en-US" sz="2000" dirty="0">
              <a:ea typeface="宋体" panose="02010600030101010101" pitchFamily="2" charset="-122"/>
            </a:endParaRPr>
          </a:p>
        </p:txBody>
      </p:sp>
      <p:pic>
        <p:nvPicPr>
          <p:cNvPr id="54277" name="Picture 6" descr="E:\temp\图片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87450" y="4381500"/>
            <a:ext cx="7546975" cy="20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Click="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7"/>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6CDD8724-BF7E-4789-A3DB-2428B8D05179}"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56323" name="Rectangle 2"/>
          <p:cNvSpPr>
            <a:spLocks noGrp="1" noChangeArrowheads="1"/>
          </p:cNvSpPr>
          <p:nvPr>
            <p:ph type="title"/>
          </p:nvPr>
        </p:nvSpPr>
        <p:spPr>
          <a:xfrm>
            <a:off x="685800" y="-6350"/>
            <a:ext cx="7772400" cy="914400"/>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3.5 </a:t>
            </a:r>
            <a:r>
              <a:rPr lang="zh-CN" altLang="en-US" sz="2400">
                <a:latin typeface="宋体" panose="02010600030101010101" pitchFamily="2" charset="-122"/>
                <a:ea typeface="宋体" panose="02010600030101010101" pitchFamily="2" charset="-122"/>
              </a:rPr>
              <a:t>树与二叉树</a:t>
            </a:r>
            <a:endParaRPr lang="zh-CN" altLang="en-US" sz="2400">
              <a:latin typeface="宋体" panose="02010600030101010101" pitchFamily="2" charset="-122"/>
              <a:ea typeface="宋体" panose="02010600030101010101" pitchFamily="2" charset="-122"/>
            </a:endParaRPr>
          </a:p>
        </p:txBody>
      </p:sp>
      <p:sp>
        <p:nvSpPr>
          <p:cNvPr id="56324" name="Rectangle 3"/>
          <p:cNvSpPr>
            <a:spLocks noGrp="1" noChangeArrowheads="1"/>
          </p:cNvSpPr>
          <p:nvPr>
            <p:ph type="body" sz="half" idx="1"/>
          </p:nvPr>
        </p:nvSpPr>
        <p:spPr>
          <a:xfrm>
            <a:off x="114300" y="968375"/>
            <a:ext cx="5076825" cy="5700713"/>
          </a:xfrm>
          <a:noFill/>
        </p:spPr>
        <p:txBody>
          <a:bodyPr/>
          <a:lstStyle/>
          <a:p>
            <a:pPr marL="192405" indent="-192405"/>
            <a:r>
              <a:rPr lang="zh-CN" altLang="en-US" sz="2400">
                <a:ea typeface="宋体" panose="02010600030101010101" pitchFamily="2" charset="-122"/>
              </a:rPr>
              <a:t>二叉树的应用 </a:t>
            </a:r>
            <a:r>
              <a:rPr lang="en-US" altLang="zh-CN" sz="2400">
                <a:ea typeface="宋体" panose="02010600030101010101" pitchFamily="2" charset="-122"/>
              </a:rPr>
              <a:t>----  </a:t>
            </a:r>
            <a:r>
              <a:rPr lang="zh-CN" altLang="en-US" sz="2400">
                <a:ea typeface="宋体" panose="02010600030101010101" pitchFamily="2" charset="-122"/>
              </a:rPr>
              <a:t>哈夫曼树</a:t>
            </a:r>
            <a:endParaRPr lang="en-US" altLang="zh-CN" sz="2400">
              <a:ea typeface="宋体" panose="02010600030101010101" pitchFamily="2" charset="-122"/>
            </a:endParaRPr>
          </a:p>
          <a:p>
            <a:pPr marL="860425" lvl="1"/>
            <a:r>
              <a:rPr lang="zh-CN" altLang="en-US" sz="2000">
                <a:solidFill>
                  <a:schemeClr val="tx2"/>
                </a:solidFill>
                <a:ea typeface="宋体" panose="02010600030101010101" pitchFamily="2" charset="-122"/>
              </a:rPr>
              <a:t>最佳判定算法</a:t>
            </a:r>
            <a:r>
              <a:rPr lang="zh-CN" altLang="en-US" sz="2000">
                <a:ea typeface="宋体" panose="02010600030101010101" pitchFamily="2" charset="-122"/>
              </a:rPr>
              <a:t>：在解决某些判定问题时，利用哈夫曼树可以得到最佳判定算法。</a:t>
            </a:r>
            <a:endParaRPr lang="zh-CN" altLang="en-US" sz="2000">
              <a:ea typeface="宋体" panose="02010600030101010101" pitchFamily="2" charset="-122"/>
            </a:endParaRPr>
          </a:p>
          <a:p>
            <a:pPr marL="860425" lvl="1"/>
            <a:r>
              <a:rPr lang="zh-CN" altLang="en-US" sz="2000">
                <a:ea typeface="宋体" panose="02010600030101010101" pitchFamily="2" charset="-122"/>
              </a:rPr>
              <a:t>例如：将百分制成绩转化为五级分制。</a:t>
            </a:r>
            <a:endParaRPr lang="zh-CN" altLang="en-US" sz="2000">
              <a:ea typeface="宋体" panose="02010600030101010101" pitchFamily="2" charset="-122"/>
            </a:endParaRPr>
          </a:p>
          <a:p>
            <a:pPr marL="1279525" lvl="2"/>
            <a:r>
              <a:rPr lang="zh-CN" altLang="en-US" sz="1800">
                <a:ea typeface="宋体" panose="02010600030101010101" pitchFamily="2" charset="-122"/>
              </a:rPr>
              <a:t>正常思维下的判定算法如图</a:t>
            </a:r>
            <a:r>
              <a:rPr lang="en-US" altLang="zh-CN" sz="1800">
                <a:ea typeface="宋体" panose="02010600030101010101" pitchFamily="2" charset="-122"/>
              </a:rPr>
              <a:t>(a)</a:t>
            </a:r>
            <a:endParaRPr lang="en-US" altLang="zh-CN" sz="1800">
              <a:ea typeface="宋体" panose="02010600030101010101" pitchFamily="2" charset="-122"/>
            </a:endParaRPr>
          </a:p>
          <a:p>
            <a:pPr marL="1279525" lvl="2"/>
            <a:r>
              <a:rPr lang="zh-CN" altLang="en-US" sz="1800">
                <a:ea typeface="宋体" panose="02010600030101010101" pitchFamily="2" charset="-122"/>
              </a:rPr>
              <a:t>以比例数为权值构造哈夫曼树所形成的判定算法如图</a:t>
            </a:r>
            <a:r>
              <a:rPr lang="en-US" altLang="zh-CN" sz="1800">
                <a:ea typeface="宋体" panose="02010600030101010101" pitchFamily="2" charset="-122"/>
              </a:rPr>
              <a:t>(b)</a:t>
            </a:r>
            <a:endParaRPr lang="en-US" altLang="zh-CN" sz="1800">
              <a:ea typeface="宋体" panose="02010600030101010101" pitchFamily="2" charset="-122"/>
            </a:endParaRPr>
          </a:p>
          <a:p>
            <a:pPr marL="1279525" lvl="2"/>
            <a:r>
              <a:rPr lang="zh-CN" altLang="en-US" sz="1800">
                <a:ea typeface="宋体" panose="02010600030101010101" pitchFamily="2" charset="-122"/>
              </a:rPr>
              <a:t>将两次比较改为一次比较，得到如图</a:t>
            </a:r>
            <a:r>
              <a:rPr lang="en-US" altLang="zh-CN" sz="1800">
                <a:ea typeface="宋体" panose="02010600030101010101" pitchFamily="2" charset="-122"/>
              </a:rPr>
              <a:t>(c)</a:t>
            </a:r>
            <a:r>
              <a:rPr lang="zh-CN" altLang="en-US" sz="1800">
                <a:ea typeface="宋体" panose="02010600030101010101" pitchFamily="2" charset="-122"/>
              </a:rPr>
              <a:t>所示的判定算法</a:t>
            </a:r>
            <a:endParaRPr lang="zh-CN" altLang="en-US" sz="1800">
              <a:ea typeface="宋体" panose="02010600030101010101" pitchFamily="2" charset="-122"/>
            </a:endParaRPr>
          </a:p>
          <a:p>
            <a:pPr marL="860425" lvl="1"/>
            <a:r>
              <a:rPr lang="zh-CN" altLang="en-US" sz="2000">
                <a:solidFill>
                  <a:schemeClr val="tx2"/>
                </a:solidFill>
                <a:ea typeface="宋体" panose="02010600030101010101" pitchFamily="2" charset="-122"/>
              </a:rPr>
              <a:t>平均比较次数</a:t>
            </a:r>
            <a:r>
              <a:rPr lang="zh-CN" altLang="en-US" sz="2000">
                <a:ea typeface="宋体" panose="02010600030101010101" pitchFamily="2" charset="-122"/>
              </a:rPr>
              <a:t>：树的带权路径长度</a:t>
            </a:r>
            <a:endParaRPr lang="zh-CN" altLang="en-US" sz="2000">
              <a:ea typeface="宋体" panose="02010600030101010101" pitchFamily="2" charset="-122"/>
            </a:endParaRPr>
          </a:p>
          <a:p>
            <a:pPr marL="860425" lvl="1">
              <a:buFontTx/>
              <a:buNone/>
            </a:pPr>
            <a:r>
              <a:rPr lang="en-US" altLang="zh-CN" sz="1600" b="0">
                <a:latin typeface="宋体" panose="02010600030101010101" pitchFamily="2" charset="-122"/>
                <a:ea typeface="宋体" panose="02010600030101010101" pitchFamily="2" charset="-122"/>
              </a:rPr>
              <a:t>(a) WPL=.05*1+.15*2+.40*3+.30*4+.10*4=3.15</a:t>
            </a:r>
            <a:endParaRPr lang="en-US" altLang="zh-CN" sz="1600" b="0">
              <a:latin typeface="宋体" panose="02010600030101010101" pitchFamily="2" charset="-122"/>
              <a:ea typeface="宋体" panose="02010600030101010101" pitchFamily="2" charset="-122"/>
            </a:endParaRPr>
          </a:p>
          <a:p>
            <a:pPr marL="860425" lvl="1">
              <a:buFontTx/>
              <a:buNone/>
            </a:pPr>
            <a:r>
              <a:rPr lang="en-US" altLang="zh-CN" sz="1600" b="0">
                <a:latin typeface="宋体" panose="02010600030101010101" pitchFamily="2" charset="-122"/>
                <a:ea typeface="宋体" panose="02010600030101010101" pitchFamily="2" charset="-122"/>
              </a:rPr>
              <a:t>(c) WPL=.05*3+.15*3+.40*2+.30*2+.10*2=2.2</a:t>
            </a:r>
            <a:endParaRPr lang="en-US" altLang="zh-CN" sz="1600" b="0">
              <a:latin typeface="宋体" panose="02010600030101010101" pitchFamily="2" charset="-122"/>
              <a:ea typeface="宋体" panose="02010600030101010101" pitchFamily="2" charset="-122"/>
            </a:endParaRPr>
          </a:p>
          <a:p>
            <a:pPr marL="860425" lvl="1">
              <a:buFontTx/>
              <a:buNone/>
            </a:pPr>
            <a:endParaRPr lang="en-US" altLang="zh-CN" sz="1600">
              <a:latin typeface="宋体" panose="02010600030101010101" pitchFamily="2" charset="-122"/>
              <a:ea typeface="宋体" panose="02010600030101010101" pitchFamily="2" charset="-122"/>
            </a:endParaRPr>
          </a:p>
          <a:p>
            <a:pPr marL="860425" lvl="1">
              <a:buFontTx/>
              <a:buNone/>
            </a:pPr>
            <a:r>
              <a:rPr lang="en-US" altLang="zh-CN" sz="1600">
                <a:latin typeface="宋体" panose="02010600030101010101" pitchFamily="2" charset="-122"/>
                <a:ea typeface="宋体" panose="02010600030101010101" pitchFamily="2" charset="-122"/>
              </a:rPr>
              <a:t>100</a:t>
            </a:r>
            <a:r>
              <a:rPr lang="zh-CN" altLang="en-US" sz="1600">
                <a:latin typeface="宋体" panose="02010600030101010101" pitchFamily="2" charset="-122"/>
                <a:ea typeface="宋体" panose="02010600030101010101" pitchFamily="2" charset="-122"/>
              </a:rPr>
              <a:t>个学生的比较次数：</a:t>
            </a:r>
            <a:r>
              <a:rPr lang="en-US" altLang="zh-CN" sz="1600">
                <a:latin typeface="宋体" panose="02010600030101010101" pitchFamily="2" charset="-122"/>
                <a:ea typeface="宋体" panose="02010600030101010101" pitchFamily="2" charset="-122"/>
              </a:rPr>
              <a:t>315</a:t>
            </a:r>
            <a:r>
              <a:rPr lang="zh-CN" altLang="en-US" sz="1600">
                <a:latin typeface="宋体" panose="02010600030101010101" pitchFamily="2" charset="-122"/>
                <a:ea typeface="宋体" panose="02010600030101010101" pitchFamily="2" charset="-122"/>
              </a:rPr>
              <a:t>，</a:t>
            </a:r>
            <a:r>
              <a:rPr lang="en-US" altLang="zh-CN" sz="1600">
                <a:latin typeface="宋体" panose="02010600030101010101" pitchFamily="2" charset="-122"/>
                <a:ea typeface="宋体" panose="02010600030101010101" pitchFamily="2" charset="-122"/>
              </a:rPr>
              <a:t>220</a:t>
            </a:r>
            <a:endParaRPr lang="zh-CN" altLang="en-US" sz="1600">
              <a:latin typeface="宋体" panose="02010600030101010101" pitchFamily="2" charset="-122"/>
              <a:ea typeface="宋体" panose="02010600030101010101" pitchFamily="2" charset="-122"/>
            </a:endParaRPr>
          </a:p>
        </p:txBody>
      </p:sp>
      <p:graphicFrame>
        <p:nvGraphicFramePr>
          <p:cNvPr id="113746" name="Group 82"/>
          <p:cNvGraphicFramePr>
            <a:graphicFrameLocks noGrp="1"/>
          </p:cNvGraphicFramePr>
          <p:nvPr>
            <p:ph sz="quarter" idx="2"/>
          </p:nvPr>
        </p:nvGraphicFramePr>
        <p:xfrm>
          <a:off x="5000625" y="1089025"/>
          <a:ext cx="4057650" cy="1044576"/>
        </p:xfrm>
        <a:graphic>
          <a:graphicData uri="http://schemas.openxmlformats.org/drawingml/2006/table">
            <a:tbl>
              <a:tblPr/>
              <a:tblGrid>
                <a:gridCol w="658813"/>
                <a:gridCol w="569912"/>
                <a:gridCol w="682625"/>
                <a:gridCol w="681038"/>
                <a:gridCol w="682625"/>
                <a:gridCol w="782637"/>
              </a:tblGrid>
              <a:tr h="287328">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400" b="1" i="0" u="none" strike="noStrike" cap="none" normalizeH="0" baseline="0">
                          <a:ln>
                            <a:noFill/>
                          </a:ln>
                          <a:solidFill>
                            <a:schemeClr val="tx1"/>
                          </a:solidFill>
                          <a:effectLst/>
                          <a:latin typeface="Bookman" charset="0"/>
                          <a:ea typeface="宋体" panose="02010600030101010101" pitchFamily="2" charset="-122"/>
                        </a:rPr>
                        <a:t>分数段</a:t>
                      </a:r>
                      <a:endParaRPr kumimoji="0" lang="zh-CN" altLang="en-US"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0~59</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60~69</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70~79</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80~89</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90~100</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287328">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400" b="1" i="0" u="none" strike="noStrike" cap="none" normalizeH="0" baseline="0">
                          <a:ln>
                            <a:noFill/>
                          </a:ln>
                          <a:solidFill>
                            <a:schemeClr val="tx1"/>
                          </a:solidFill>
                          <a:effectLst/>
                          <a:latin typeface="Bookman" charset="0"/>
                          <a:ea typeface="宋体" panose="02010600030101010101" pitchFamily="2" charset="-122"/>
                        </a:rPr>
                        <a:t>比例</a:t>
                      </a:r>
                      <a:endParaRPr kumimoji="0" lang="zh-CN" altLang="en-US"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0.05</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0.15</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0.40</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0.30</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0.10</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23496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400" b="1" i="0" u="none" strike="noStrike" cap="none" normalizeH="0" baseline="0">
                          <a:ln>
                            <a:noFill/>
                          </a:ln>
                          <a:solidFill>
                            <a:schemeClr val="tx1"/>
                          </a:solidFill>
                          <a:effectLst/>
                          <a:latin typeface="Bookman" charset="0"/>
                          <a:ea typeface="宋体" panose="02010600030101010101" pitchFamily="2" charset="-122"/>
                        </a:rPr>
                        <a:t>转化为</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E</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D</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C</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B</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A</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496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100</a:t>
                      </a:r>
                      <a:r>
                        <a:rPr kumimoji="0" lang="zh-CN" altLang="en-US" sz="1400" b="1" i="0" u="none" strike="noStrike" cap="none" normalizeH="0" baseline="0">
                          <a:ln>
                            <a:noFill/>
                          </a:ln>
                          <a:solidFill>
                            <a:schemeClr val="tx1"/>
                          </a:solidFill>
                          <a:effectLst/>
                          <a:latin typeface="Bookman" charset="0"/>
                          <a:ea typeface="宋体" panose="02010600030101010101" pitchFamily="2" charset="-122"/>
                        </a:rPr>
                        <a:t>人</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5</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15</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40</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30</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400" b="1" i="0" u="none" strike="noStrike" cap="none" normalizeH="0" baseline="0">
                          <a:ln>
                            <a:noFill/>
                          </a:ln>
                          <a:solidFill>
                            <a:schemeClr val="tx1"/>
                          </a:solidFill>
                          <a:effectLst/>
                          <a:latin typeface="Bookman" charset="0"/>
                          <a:ea typeface="宋体" panose="02010600030101010101" pitchFamily="2" charset="-122"/>
                        </a:rPr>
                        <a:t>10</a:t>
                      </a:r>
                      <a:endParaRPr kumimoji="0" lang="en-US" altLang="zh-CN" sz="1400" b="1" i="0" u="none" strike="noStrike" cap="none" normalizeH="0" baseline="0">
                        <a:ln>
                          <a:noFill/>
                        </a:ln>
                        <a:solidFill>
                          <a:schemeClr val="tx1"/>
                        </a:solidFill>
                        <a:effectLst/>
                        <a:latin typeface="Bookman" charset="0"/>
                        <a:ea typeface="宋体" panose="02010600030101010101" pitchFamily="2" charset="-122"/>
                      </a:endParaRPr>
                    </a:p>
                  </a:txBody>
                  <a:tcPr marL="18000" marR="18000" marT="10800" marB="1080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bl>
          </a:graphicData>
        </a:graphic>
      </p:graphicFrame>
      <p:pic>
        <p:nvPicPr>
          <p:cNvPr id="113747" name="Picture 83" descr="Snap3"/>
          <p:cNvPicPr>
            <a:picLocks noChangeAspect="1" noChangeArrowheads="1"/>
          </p:cNvPicPr>
          <p:nvPr/>
        </p:nvPicPr>
        <p:blipFill>
          <a:blip r:embed="rId1" cstate="print">
            <a:duotone>
              <a:prstClr val="black"/>
              <a:schemeClr val="accent1">
                <a:tint val="45000"/>
                <a:satMod val="400000"/>
              </a:schemeClr>
            </a:duotone>
            <a:lum contrast="100000"/>
          </a:blip>
          <a:srcRect/>
          <a:stretch>
            <a:fillRect/>
          </a:stretch>
        </p:blipFill>
        <p:spPr bwMode="auto">
          <a:xfrm>
            <a:off x="5256214" y="2241550"/>
            <a:ext cx="3654425" cy="3790950"/>
          </a:xfrm>
          <a:prstGeom prst="rect">
            <a:avLst/>
          </a:prstGeom>
          <a:noFill/>
          <a:ln w="9525">
            <a:noFill/>
            <a:miter lim="800000"/>
            <a:headEnd/>
            <a:tailEnd/>
          </a:ln>
        </p:spPr>
      </p:pic>
      <p:sp>
        <p:nvSpPr>
          <p:cNvPr id="113749" name="AutoShape 85"/>
          <p:cNvSpPr>
            <a:spLocks noChangeArrowheads="1"/>
          </p:cNvSpPr>
          <p:nvPr/>
        </p:nvSpPr>
        <p:spPr bwMode="auto">
          <a:xfrm>
            <a:off x="4643438" y="3141663"/>
            <a:ext cx="215900" cy="215900"/>
          </a:xfrm>
          <a:prstGeom prst="irregularSeal1">
            <a:avLst/>
          </a:prstGeom>
          <a:solidFill>
            <a:schemeClr val="accent1"/>
          </a:solidFill>
          <a:ln w="9525">
            <a:solidFill>
              <a:schemeClr val="tx1"/>
            </a:solidFill>
            <a:miter lim="800000"/>
          </a:ln>
        </p:spPr>
        <p:txBody>
          <a:bodyPr wrap="none" lIns="91433" tIns="45717" rIns="91433" bIns="45717"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113750" name="AutoShape 86"/>
          <p:cNvSpPr>
            <a:spLocks noChangeArrowheads="1"/>
          </p:cNvSpPr>
          <p:nvPr/>
        </p:nvSpPr>
        <p:spPr bwMode="auto">
          <a:xfrm>
            <a:off x="3708400" y="3724275"/>
            <a:ext cx="215900" cy="215900"/>
          </a:xfrm>
          <a:prstGeom prst="irregularSeal1">
            <a:avLst/>
          </a:prstGeom>
          <a:solidFill>
            <a:schemeClr val="accent1"/>
          </a:solidFill>
          <a:ln w="9525">
            <a:solidFill>
              <a:schemeClr val="tx1"/>
            </a:solidFill>
            <a:miter lim="800000"/>
          </a:ln>
        </p:spPr>
        <p:txBody>
          <a:bodyPr wrap="none" lIns="91433" tIns="45717" rIns="91433" bIns="45717"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113751" name="AutoShape 87"/>
          <p:cNvSpPr>
            <a:spLocks noChangeArrowheads="1"/>
          </p:cNvSpPr>
          <p:nvPr/>
        </p:nvSpPr>
        <p:spPr bwMode="auto">
          <a:xfrm>
            <a:off x="3779838" y="4329113"/>
            <a:ext cx="215900" cy="215900"/>
          </a:xfrm>
          <a:prstGeom prst="irregularSeal1">
            <a:avLst/>
          </a:prstGeom>
          <a:solidFill>
            <a:schemeClr val="accent1"/>
          </a:solidFill>
          <a:ln w="9525">
            <a:solidFill>
              <a:schemeClr val="tx1"/>
            </a:solidFill>
            <a:miter lim="800000"/>
          </a:ln>
        </p:spPr>
        <p:txBody>
          <a:bodyPr wrap="none" lIns="91433" tIns="45717" rIns="91433" bIns="45717"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pic>
        <p:nvPicPr>
          <p:cNvPr id="113753" name="Picture 89" descr="Snap5"/>
          <p:cNvPicPr>
            <a:picLocks noChangeAspect="1" noChangeArrowheads="1"/>
          </p:cNvPicPr>
          <p:nvPr/>
        </p:nvPicPr>
        <p:blipFill>
          <a:blip r:embed="rId2" cstate="print">
            <a:duotone>
              <a:prstClr val="black"/>
              <a:schemeClr val="accent1">
                <a:tint val="45000"/>
                <a:satMod val="400000"/>
              </a:schemeClr>
            </a:duotone>
            <a:lum contrast="100000"/>
          </a:blip>
          <a:srcRect/>
          <a:stretch>
            <a:fillRect/>
          </a:stretch>
        </p:blipFill>
        <p:spPr bwMode="auto">
          <a:xfrm>
            <a:off x="4992688" y="2565401"/>
            <a:ext cx="4151312" cy="3387725"/>
          </a:xfrm>
          <a:prstGeom prst="rect">
            <a:avLst/>
          </a:prstGeom>
          <a:noFill/>
          <a:ln w="9525">
            <a:noFill/>
            <a:miter lim="800000"/>
            <a:headEnd/>
            <a:tailEnd/>
          </a:ln>
        </p:spPr>
      </p:pic>
      <p:pic>
        <p:nvPicPr>
          <p:cNvPr id="113756" name="Picture 92" descr="Snap13"/>
          <p:cNvPicPr>
            <a:picLocks noChangeAspect="1" noChangeArrowheads="1"/>
          </p:cNvPicPr>
          <p:nvPr/>
        </p:nvPicPr>
        <p:blipFill>
          <a:blip r:embed="rId3" cstate="print">
            <a:duotone>
              <a:prstClr val="black"/>
              <a:schemeClr val="accent1">
                <a:tint val="45000"/>
                <a:satMod val="400000"/>
              </a:schemeClr>
            </a:duotone>
            <a:lum contrast="100000"/>
          </a:blip>
          <a:srcRect/>
          <a:stretch>
            <a:fillRect/>
          </a:stretch>
        </p:blipFill>
        <p:spPr bwMode="auto">
          <a:xfrm>
            <a:off x="5214942" y="2312988"/>
            <a:ext cx="3692525" cy="4297362"/>
          </a:xfrm>
          <a:prstGeom prst="rect">
            <a:avLst/>
          </a:prstGeom>
          <a:noFill/>
          <a:ln w="9525">
            <a:noFill/>
            <a:miter lim="800000"/>
            <a:headEnd/>
            <a:tailEnd/>
          </a:ln>
        </p:spPr>
      </p:pic>
    </p:spTree>
  </p:cSld>
  <p:clrMapOvr>
    <a:masterClrMapping/>
  </p:clrMapOvr>
  <p:transition advClick="0"/>
  <p:timing>
    <p:tnLst>
      <p:par>
        <p:cTn id="1" dur="indefinite" restart="never" nodeType="tmRoot">
          <p:childTnLst>
            <p:seq concurrent="1" nextAc="seek">
              <p:cTn id="2" restart="whenNotActive" fill="hold" evtFilter="cancelBubble" nodeType="interactiveSeq">
                <p:stCondLst>
                  <p:cond evt="onClick" delay="0">
                    <p:tgtEl>
                      <p:spTgt spid="113749"/>
                    </p:tgtEl>
                  </p:cond>
                </p:stCondLst>
                <p:endSync evt="end" delay="0">
                  <p:rtn val="all"/>
                </p:endSync>
                <p:childTnLst>
                  <p:par>
                    <p:cTn id="3" fill="hold">
                      <p:stCondLst>
                        <p:cond delay="0"/>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3747"/>
                                        </p:tgtEl>
                                        <p:attrNameLst>
                                          <p:attrName>style.visibility</p:attrName>
                                        </p:attrNameLst>
                                      </p:cBhvr>
                                      <p:to>
                                        <p:strVal val="visible"/>
                                      </p:to>
                                    </p:set>
                                    <p:animEffect transition="in" filter="blinds(horizontal)">
                                      <p:cBhvr>
                                        <p:cTn id="7" dur="500"/>
                                        <p:tgtEl>
                                          <p:spTgt spid="113747"/>
                                        </p:tgtEl>
                                      </p:cBhvr>
                                    </p:animEffect>
                                  </p:childTnLst>
                                  <p:subTnLst>
                                    <p:set>
                                      <p:cBhvr override="childStyle">
                                        <p:cTn dur="1" fill="hold" display="0" masterRel="nextClick" afterEffect="1"/>
                                        <p:tgtEl>
                                          <p:spTgt spid="113747"/>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childTnLst>
              </p:cTn>
              <p:nextCondLst>
                <p:cond evt="onClick" delay="0">
                  <p:tgtEl>
                    <p:spTgt spid="113749"/>
                  </p:tgtEl>
                </p:cond>
              </p:nextCondLst>
            </p:seq>
            <p:seq concurrent="1" nextAc="seek">
              <p:cTn id="8" restart="whenNotActive" fill="hold" evtFilter="cancelBubble" nodeType="interactiveSeq">
                <p:stCondLst>
                  <p:cond evt="onClick" delay="0">
                    <p:tgtEl>
                      <p:spTgt spid="113751"/>
                    </p:tgtEl>
                  </p:cond>
                </p:stCondLst>
                <p:endSync evt="end" delay="0">
                  <p:rtn val="all"/>
                </p:endSync>
                <p:childTnLst>
                  <p:par>
                    <p:cTn id="9" fill="hold">
                      <p:stCondLst>
                        <p:cond delay="0"/>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13753"/>
                                        </p:tgtEl>
                                        <p:attrNameLst>
                                          <p:attrName>style.visibility</p:attrName>
                                        </p:attrNameLst>
                                      </p:cBhvr>
                                      <p:to>
                                        <p:strVal val="visible"/>
                                      </p:to>
                                    </p:set>
                                    <p:animEffect transition="in" filter="blinds(horizontal)">
                                      <p:cBhvr>
                                        <p:cTn id="13" dur="500"/>
                                        <p:tgtEl>
                                          <p:spTgt spid="113753"/>
                                        </p:tgtEl>
                                      </p:cBhvr>
                                    </p:animEffect>
                                  </p:childTnLst>
                                  <p:subTnLst>
                                    <p:set>
                                      <p:cBhvr override="childStyle">
                                        <p:cTn dur="1" fill="hold" display="0" masterRel="nextClick" afterEffect="1"/>
                                        <p:tgtEl>
                                          <p:spTgt spid="113753"/>
                                        </p:tgtEl>
                                        <p:attrNameLst>
                                          <p:attrName>style.visibility</p:attrName>
                                        </p:attrNameLst>
                                      </p:cBhvr>
                                      <p:to>
                                        <p:strVal val="hidden"/>
                                      </p:to>
                                    </p:se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childTnLst>
              </p:cTn>
              <p:nextCondLst>
                <p:cond evt="onClick" delay="0">
                  <p:tgtEl>
                    <p:spTgt spid="113751"/>
                  </p:tgtEl>
                </p:cond>
              </p:nextCondLst>
            </p:seq>
            <p:seq concurrent="1" nextAc="seek">
              <p:cTn id="14" restart="whenNotActive" fill="hold" evtFilter="cancelBubble" nodeType="interactiveSeq">
                <p:stCondLst>
                  <p:cond evt="onClick" delay="0">
                    <p:tgtEl>
                      <p:spTgt spid="113750"/>
                    </p:tgtEl>
                  </p:cond>
                </p:stCondLst>
                <p:endSync evt="end" delay="0">
                  <p:rtn val="all"/>
                </p:endSync>
                <p:childTnLst>
                  <p:par>
                    <p:cTn id="15" fill="hold">
                      <p:stCondLst>
                        <p:cond delay="0"/>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13756"/>
                                        </p:tgtEl>
                                        <p:attrNameLst>
                                          <p:attrName>style.visibility</p:attrName>
                                        </p:attrNameLst>
                                      </p:cBhvr>
                                      <p:to>
                                        <p:strVal val="visible"/>
                                      </p:to>
                                    </p:set>
                                    <p:animEffect transition="in" filter="blinds(horizontal)">
                                      <p:cBhvr>
                                        <p:cTn id="19" dur="500"/>
                                        <p:tgtEl>
                                          <p:spTgt spid="113756"/>
                                        </p:tgtEl>
                                      </p:cBhvr>
                                    </p:animEffect>
                                  </p:childTnLst>
                                  <p:subTnLst>
                                    <p:set>
                                      <p:cBhvr override="childStyle">
                                        <p:cTn dur="1" fill="hold" display="0" masterRel="nextClick" afterEffect="1"/>
                                        <p:tgtEl>
                                          <p:spTgt spid="113756"/>
                                        </p:tgtEl>
                                        <p:attrNameLst>
                                          <p:attrName>style.visibility</p:attrName>
                                        </p:attrNameLst>
                                      </p:cBhvr>
                                      <p:to>
                                        <p:strVal val="hidden"/>
                                      </p:to>
                                    </p:set>
                                  </p:subTnLst>
                                </p:cTn>
                              </p:par>
                            </p:childTnLst>
                          </p:cTn>
                        </p:par>
                      </p:childTnLst>
                    </p:cTn>
                  </p:par>
                </p:childTnLst>
              </p:cTn>
              <p:nextCondLst>
                <p:cond evt="onClick" delay="0">
                  <p:tgtEl>
                    <p:spTgt spid="11375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7"/>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1486BD5F-57C0-4D33-8133-1ACC3076060E}"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58371" name="Rectangle 2"/>
          <p:cNvSpPr>
            <a:spLocks noGrp="1" noChangeArrowheads="1"/>
          </p:cNvSpPr>
          <p:nvPr>
            <p:ph type="title"/>
          </p:nvPr>
        </p:nvSpPr>
        <p:spPr>
          <a:xfrm>
            <a:off x="685800" y="-6350"/>
            <a:ext cx="7772400" cy="914400"/>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3.5 </a:t>
            </a:r>
            <a:r>
              <a:rPr lang="zh-CN" altLang="en-US" sz="2400">
                <a:latin typeface="宋体" panose="02010600030101010101" pitchFamily="2" charset="-122"/>
                <a:ea typeface="宋体" panose="02010600030101010101" pitchFamily="2" charset="-122"/>
              </a:rPr>
              <a:t>树与二叉树</a:t>
            </a:r>
            <a:endParaRPr lang="zh-CN" altLang="en-US" sz="2400">
              <a:latin typeface="宋体" panose="02010600030101010101" pitchFamily="2" charset="-122"/>
              <a:ea typeface="宋体" panose="02010600030101010101" pitchFamily="2" charset="-122"/>
            </a:endParaRPr>
          </a:p>
        </p:txBody>
      </p:sp>
      <p:sp>
        <p:nvSpPr>
          <p:cNvPr id="58372" name="Rectangle 3"/>
          <p:cNvSpPr>
            <a:spLocks noGrp="1" noChangeArrowheads="1"/>
          </p:cNvSpPr>
          <p:nvPr>
            <p:ph type="body" sz="half" idx="1"/>
          </p:nvPr>
        </p:nvSpPr>
        <p:spPr>
          <a:xfrm>
            <a:off x="114300" y="1014413"/>
            <a:ext cx="8850313" cy="5700712"/>
          </a:xfrm>
        </p:spPr>
        <p:txBody>
          <a:bodyPr/>
          <a:lstStyle/>
          <a:p>
            <a:pPr marL="192405" indent="-192405">
              <a:lnSpc>
                <a:spcPct val="80000"/>
              </a:lnSpc>
            </a:pPr>
            <a:r>
              <a:rPr lang="zh-CN" altLang="en-US" sz="2400">
                <a:ea typeface="宋体" panose="02010600030101010101" pitchFamily="2" charset="-122"/>
              </a:rPr>
              <a:t>二叉树的应用 </a:t>
            </a:r>
            <a:r>
              <a:rPr lang="en-US" altLang="zh-CN" sz="2400">
                <a:ea typeface="宋体" panose="02010600030101010101" pitchFamily="2" charset="-122"/>
              </a:rPr>
              <a:t>----  </a:t>
            </a:r>
            <a:r>
              <a:rPr lang="zh-CN" altLang="en-US" sz="2400">
                <a:ea typeface="宋体" panose="02010600030101010101" pitchFamily="2" charset="-122"/>
              </a:rPr>
              <a:t>哈夫曼树</a:t>
            </a:r>
            <a:endParaRPr lang="en-US" altLang="zh-CN" sz="2400">
              <a:ea typeface="宋体" panose="02010600030101010101" pitchFamily="2" charset="-122"/>
            </a:endParaRPr>
          </a:p>
          <a:p>
            <a:pPr marL="860425" lvl="1">
              <a:lnSpc>
                <a:spcPct val="80000"/>
              </a:lnSpc>
            </a:pPr>
            <a:r>
              <a:rPr lang="zh-CN" altLang="en-US" sz="2000">
                <a:ea typeface="宋体" panose="02010600030101010101" pitchFamily="2" charset="-122"/>
              </a:rPr>
              <a:t>在进行远距离通信时，通常需要将字符转换为二进制</a:t>
            </a:r>
            <a:r>
              <a:rPr lang="en-US" altLang="zh-CN" sz="2000">
                <a:ea typeface="宋体" panose="02010600030101010101" pitchFamily="2" charset="-122"/>
              </a:rPr>
              <a:t>01</a:t>
            </a:r>
            <a:r>
              <a:rPr lang="zh-CN" altLang="en-US" sz="2000">
                <a:ea typeface="宋体" panose="02010600030101010101" pitchFamily="2" charset="-122"/>
              </a:rPr>
              <a:t>字符串，称之为电文。</a:t>
            </a:r>
            <a:endParaRPr lang="en-US" altLang="zh-CN" sz="2000">
              <a:ea typeface="宋体" panose="02010600030101010101" pitchFamily="2" charset="-122"/>
            </a:endParaRPr>
          </a:p>
          <a:p>
            <a:pPr marL="860425" lvl="1">
              <a:lnSpc>
                <a:spcPct val="80000"/>
              </a:lnSpc>
            </a:pPr>
            <a:r>
              <a:rPr lang="zh-CN" altLang="en-US" sz="2000">
                <a:solidFill>
                  <a:schemeClr val="tx2"/>
                </a:solidFill>
                <a:ea typeface="宋体" panose="02010600030101010101" pitchFamily="2" charset="-122"/>
              </a:rPr>
              <a:t>哈夫曼编码</a:t>
            </a:r>
            <a:r>
              <a:rPr lang="zh-CN" altLang="en-US" sz="2000">
                <a:ea typeface="宋体" panose="02010600030101010101" pitchFamily="2" charset="-122"/>
              </a:rPr>
              <a:t>：以不同字母出现频率为权值，构造哈夫曼树，形成哈夫曼编码。</a:t>
            </a:r>
            <a:endParaRPr lang="zh-CN" altLang="en-US" sz="2000">
              <a:ea typeface="宋体" panose="02010600030101010101" pitchFamily="2" charset="-122"/>
            </a:endParaRPr>
          </a:p>
          <a:p>
            <a:pPr marL="860425" lvl="1">
              <a:lnSpc>
                <a:spcPct val="80000"/>
              </a:lnSpc>
            </a:pPr>
            <a:r>
              <a:rPr lang="zh-CN" altLang="en-US" sz="2000">
                <a:ea typeface="宋体" panose="02010600030101010101" pitchFamily="2" charset="-122"/>
              </a:rPr>
              <a:t>例如：在哈夫曼树中，左分支用</a:t>
            </a:r>
            <a:r>
              <a:rPr lang="en-US" altLang="zh-CN" sz="2000">
                <a:ea typeface="宋体" panose="02010600030101010101" pitchFamily="2" charset="-122"/>
              </a:rPr>
              <a:t>0</a:t>
            </a:r>
            <a:r>
              <a:rPr lang="zh-CN" altLang="en-US" sz="2000">
                <a:ea typeface="宋体" panose="02010600030101010101" pitchFamily="2" charset="-122"/>
              </a:rPr>
              <a:t>表示，右分支用</a:t>
            </a:r>
            <a:r>
              <a:rPr lang="en-US" altLang="zh-CN" sz="2000">
                <a:ea typeface="宋体" panose="02010600030101010101" pitchFamily="2" charset="-122"/>
              </a:rPr>
              <a:t>1</a:t>
            </a:r>
            <a:r>
              <a:rPr lang="zh-CN" altLang="en-US" sz="2000">
                <a:ea typeface="宋体" panose="02010600030101010101" pitchFamily="2" charset="-122"/>
              </a:rPr>
              <a:t>表示。</a:t>
            </a:r>
            <a:endParaRPr lang="zh-CN" altLang="en-US" sz="2000">
              <a:ea typeface="宋体" panose="02010600030101010101" pitchFamily="2" charset="-122"/>
            </a:endParaRPr>
          </a:p>
          <a:p>
            <a:pPr marL="860425" lvl="1">
              <a:lnSpc>
                <a:spcPct val="80000"/>
              </a:lnSpc>
            </a:pPr>
            <a:r>
              <a:rPr lang="zh-CN" altLang="en-US" sz="2000">
                <a:ea typeface="宋体" panose="02010600030101010101" pitchFamily="2" charset="-122"/>
              </a:rPr>
              <a:t>编码为：</a:t>
            </a:r>
            <a:endParaRPr lang="zh-CN" altLang="en-US" sz="2000">
              <a:ea typeface="宋体" panose="02010600030101010101" pitchFamily="2" charset="-122"/>
            </a:endParaRPr>
          </a:p>
          <a:p>
            <a:pPr marL="1279525" lvl="2">
              <a:lnSpc>
                <a:spcPct val="80000"/>
              </a:lnSpc>
            </a:pPr>
            <a:r>
              <a:rPr lang="en-US" altLang="zh-CN" sz="1800">
                <a:ea typeface="宋体" panose="02010600030101010101" pitchFamily="2" charset="-122"/>
              </a:rPr>
              <a:t>N—00</a:t>
            </a:r>
            <a:endParaRPr lang="en-US" altLang="zh-CN" sz="1800">
              <a:ea typeface="宋体" panose="02010600030101010101" pitchFamily="2" charset="-122"/>
            </a:endParaRPr>
          </a:p>
          <a:p>
            <a:pPr marL="1279525" lvl="2">
              <a:lnSpc>
                <a:spcPct val="80000"/>
              </a:lnSpc>
            </a:pPr>
            <a:r>
              <a:rPr lang="en-US" altLang="zh-CN" sz="1800">
                <a:ea typeface="宋体" panose="02010600030101010101" pitchFamily="2" charset="-122"/>
              </a:rPr>
              <a:t>A—010</a:t>
            </a:r>
            <a:endParaRPr lang="en-US" altLang="zh-CN" sz="1800">
              <a:ea typeface="宋体" panose="02010600030101010101" pitchFamily="2" charset="-122"/>
            </a:endParaRPr>
          </a:p>
          <a:p>
            <a:pPr marL="1279525" lvl="2">
              <a:lnSpc>
                <a:spcPct val="80000"/>
              </a:lnSpc>
            </a:pPr>
            <a:r>
              <a:rPr lang="en-US" altLang="zh-CN" sz="1800">
                <a:ea typeface="宋体" panose="02010600030101010101" pitchFamily="2" charset="-122"/>
              </a:rPr>
              <a:t>C—011</a:t>
            </a:r>
            <a:endParaRPr lang="en-US" altLang="zh-CN" sz="1800">
              <a:ea typeface="宋体" panose="02010600030101010101" pitchFamily="2" charset="-122"/>
            </a:endParaRPr>
          </a:p>
          <a:p>
            <a:pPr marL="1279525" lvl="2">
              <a:lnSpc>
                <a:spcPct val="80000"/>
              </a:lnSpc>
            </a:pPr>
            <a:r>
              <a:rPr lang="en-US" altLang="zh-CN" sz="1800">
                <a:ea typeface="宋体" panose="02010600030101010101" pitchFamily="2" charset="-122"/>
              </a:rPr>
              <a:t>H—10</a:t>
            </a:r>
            <a:endParaRPr lang="en-US" altLang="zh-CN" sz="1800">
              <a:ea typeface="宋体" panose="02010600030101010101" pitchFamily="2" charset="-122"/>
            </a:endParaRPr>
          </a:p>
          <a:p>
            <a:pPr marL="1279525" lvl="2">
              <a:lnSpc>
                <a:spcPct val="80000"/>
              </a:lnSpc>
            </a:pPr>
            <a:r>
              <a:rPr lang="en-US" altLang="zh-CN" sz="1800">
                <a:ea typeface="宋体" panose="02010600030101010101" pitchFamily="2" charset="-122"/>
              </a:rPr>
              <a:t>I—11</a:t>
            </a:r>
            <a:endParaRPr lang="en-US" altLang="zh-CN" sz="1800">
              <a:ea typeface="宋体" panose="02010600030101010101" pitchFamily="2" charset="-122"/>
            </a:endParaRPr>
          </a:p>
          <a:p>
            <a:pPr marL="860425" lvl="1">
              <a:lnSpc>
                <a:spcPct val="80000"/>
              </a:lnSpc>
            </a:pPr>
            <a:r>
              <a:rPr lang="zh-CN" altLang="en-US" sz="2000">
                <a:ea typeface="宋体" panose="02010600030101010101" pitchFamily="2" charset="-122"/>
              </a:rPr>
              <a:t>问题：</a:t>
            </a:r>
            <a:endParaRPr lang="zh-CN" altLang="en-US" sz="2000">
              <a:ea typeface="宋体" panose="02010600030101010101" pitchFamily="2" charset="-122"/>
            </a:endParaRPr>
          </a:p>
          <a:p>
            <a:pPr marL="1279525" lvl="2">
              <a:lnSpc>
                <a:spcPct val="80000"/>
              </a:lnSpc>
            </a:pPr>
            <a:r>
              <a:rPr lang="zh-CN" altLang="en-US" sz="1800">
                <a:ea typeface="宋体" panose="02010600030101010101" pitchFamily="2" charset="-122"/>
              </a:rPr>
              <a:t>如何解决不等长编码的译码</a:t>
            </a:r>
            <a:endParaRPr lang="zh-CN" altLang="en-US" sz="1800">
              <a:ea typeface="宋体" panose="02010600030101010101" pitchFamily="2" charset="-122"/>
            </a:endParaRPr>
          </a:p>
          <a:p>
            <a:pPr marL="1279525" lvl="2">
              <a:lnSpc>
                <a:spcPct val="80000"/>
              </a:lnSpc>
            </a:pPr>
            <a:r>
              <a:rPr lang="zh-CN" altLang="en-US" sz="1800">
                <a:ea typeface="宋体" panose="02010600030101010101" pitchFamily="2" charset="-122"/>
              </a:rPr>
              <a:t>保证译码的唯一性</a:t>
            </a:r>
            <a:endParaRPr lang="en-US" altLang="zh-CN" sz="1800">
              <a:ea typeface="宋体" panose="02010600030101010101" pitchFamily="2" charset="-122"/>
            </a:endParaRPr>
          </a:p>
          <a:p>
            <a:pPr marL="860425" lvl="1">
              <a:lnSpc>
                <a:spcPct val="80000"/>
              </a:lnSpc>
            </a:pPr>
            <a:r>
              <a:rPr lang="zh-CN" altLang="en-US" sz="2000">
                <a:ea typeface="宋体" panose="02010600030101010101" pitchFamily="2" charset="-122"/>
              </a:rPr>
              <a:t>解码：从根开始进行匹配</a:t>
            </a:r>
            <a:endParaRPr lang="zh-CN" altLang="en-US" sz="2000">
              <a:ea typeface="宋体" panose="02010600030101010101" pitchFamily="2" charset="-122"/>
            </a:endParaRPr>
          </a:p>
          <a:p>
            <a:pPr marL="1279525" lvl="2">
              <a:lnSpc>
                <a:spcPct val="80000"/>
              </a:lnSpc>
            </a:pPr>
            <a:r>
              <a:rPr lang="en-US" altLang="zh-CN" sz="1800">
                <a:ea typeface="宋体" panose="02010600030101010101" pitchFamily="2" charset="-122"/>
              </a:rPr>
              <a:t>011101100010--〉CHINA</a:t>
            </a:r>
            <a:endParaRPr lang="en-US" altLang="zh-CN" sz="1800">
              <a:ea typeface="宋体" panose="02010600030101010101" pitchFamily="2" charset="-122"/>
            </a:endParaRPr>
          </a:p>
          <a:p>
            <a:pPr marL="1279525" lvl="2">
              <a:lnSpc>
                <a:spcPct val="80000"/>
              </a:lnSpc>
            </a:pPr>
            <a:endParaRPr lang="en-US" altLang="zh-CN" sz="1800">
              <a:ea typeface="宋体" panose="02010600030101010101" pitchFamily="2" charset="-122"/>
            </a:endParaRPr>
          </a:p>
          <a:p>
            <a:pPr marL="860425" lvl="1">
              <a:lnSpc>
                <a:spcPct val="80000"/>
              </a:lnSpc>
              <a:buFontTx/>
              <a:buNone/>
            </a:pPr>
            <a:r>
              <a:rPr lang="zh-CN" altLang="en-US" sz="2000">
                <a:ea typeface="宋体" panose="02010600030101010101" pitchFamily="2" charset="-122"/>
              </a:rPr>
              <a:t>请自学。</a:t>
            </a:r>
            <a:endParaRPr lang="zh-CN" altLang="en-US" sz="2000">
              <a:ea typeface="宋体" panose="02010600030101010101" pitchFamily="2" charset="-122"/>
            </a:endParaRPr>
          </a:p>
        </p:txBody>
      </p:sp>
      <p:pic>
        <p:nvPicPr>
          <p:cNvPr id="43013" name="Picture 37" descr="Snap6"/>
          <p:cNvPicPr>
            <a:picLocks noChangeAspect="1" noChangeArrowheads="1"/>
          </p:cNvPicPr>
          <p:nvPr/>
        </p:nvPicPr>
        <p:blipFill>
          <a:blip r:embed="rId1" cstate="print">
            <a:duotone>
              <a:prstClr val="black"/>
              <a:schemeClr val="accent1">
                <a:tint val="45000"/>
                <a:satMod val="400000"/>
              </a:schemeClr>
            </a:duotone>
            <a:lum contrast="100000"/>
          </a:blip>
          <a:srcRect/>
          <a:stretch>
            <a:fillRect/>
          </a:stretch>
        </p:blipFill>
        <p:spPr bwMode="auto">
          <a:xfrm>
            <a:off x="4385840" y="2775743"/>
            <a:ext cx="3138488" cy="2957513"/>
          </a:xfrm>
          <a:prstGeom prst="rect">
            <a:avLst/>
          </a:prstGeom>
          <a:noFill/>
          <a:ln w="9525">
            <a:noFill/>
            <a:miter lim="800000"/>
            <a:headEnd/>
            <a:tailEnd/>
          </a:ln>
        </p:spPr>
      </p:pic>
      <p:sp>
        <p:nvSpPr>
          <p:cNvPr id="7" name="AutoShape 71">
            <a:hlinkHover r:id="" action="ppaction://noaction" highlightClick="1"/>
          </p:cNvPr>
          <p:cNvSpPr>
            <a:spLocks noChangeArrowheads="1"/>
          </p:cNvSpPr>
          <p:nvPr/>
        </p:nvSpPr>
        <p:spPr bwMode="auto">
          <a:xfrm>
            <a:off x="7358063" y="2143125"/>
            <a:ext cx="2357437" cy="3748088"/>
          </a:xfrm>
          <a:prstGeom prst="cloudCallout">
            <a:avLst>
              <a:gd name="adj1" fmla="val -65381"/>
              <a:gd name="adj2" fmla="val -32703"/>
            </a:avLst>
          </a:prstGeom>
          <a:solidFill>
            <a:schemeClr val="accent6">
              <a:lumMod val="40000"/>
              <a:lumOff val="60000"/>
            </a:schemeClr>
          </a:solidFill>
          <a:ln w="9525">
            <a:solidFill>
              <a:schemeClr val="tx1"/>
            </a:solidFill>
            <a:round/>
          </a:ln>
        </p:spPr>
        <p:txBody>
          <a:bodyPr lIns="0" tIns="0" rIns="0" bIns="0">
            <a:spAutoFit/>
          </a:bodyPr>
          <a:lstStyle/>
          <a:p>
            <a:pPr>
              <a:defRPr/>
            </a:pPr>
            <a:r>
              <a:rPr lang="zh-CN" altLang="en-US" sz="1600" dirty="0"/>
              <a:t>定长编码译码方便，但效率不高，若使“使用频率越高的字母编码越短”，则可以提高通信效率，通过哈夫曼树构造哈夫曼编码，可以实现这一目的。</a:t>
            </a:r>
            <a:endParaRPr lang="en-US" altLang="zh-CN" sz="1600" dirty="0"/>
          </a:p>
        </p:txBody>
      </p:sp>
      <p:sp>
        <p:nvSpPr>
          <p:cNvPr id="8" name="AutoShape 72"/>
          <p:cNvSpPr>
            <a:spLocks noChangeArrowheads="1"/>
          </p:cNvSpPr>
          <p:nvPr/>
        </p:nvSpPr>
        <p:spPr bwMode="auto">
          <a:xfrm>
            <a:off x="2071688" y="1643063"/>
            <a:ext cx="215900" cy="215900"/>
          </a:xfrm>
          <a:prstGeom prst="irregularSeal1">
            <a:avLst/>
          </a:prstGeom>
          <a:solidFill>
            <a:schemeClr val="accent1"/>
          </a:solidFill>
          <a:ln w="9525">
            <a:solidFill>
              <a:schemeClr val="tx1"/>
            </a:solidFill>
            <a:miter lim="800000"/>
          </a:ln>
        </p:spPr>
        <p:txBody>
          <a:bodyPr wrap="none" lIns="91433" tIns="45717" rIns="91433" bIns="45717"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Tree>
  </p:cSld>
  <p:clrMapOvr>
    <a:masterClrMapping/>
  </p:clrMapOvr>
  <p:transition advClick="0"/>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nextCondLst>
                <p:cond evt="onClick" delay="0">
                  <p:tgtEl>
                    <p:spTgt spid="8"/>
                  </p:tgtEl>
                </p:cond>
              </p:nextCondLst>
            </p:seq>
          </p:childTnLst>
        </p:cTn>
      </p:par>
    </p:tnLst>
    <p:bldLst>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242533A1-7A37-48BD-AB09-2B06A6261AFF}" type="slidenum">
              <a:rPr lang="zh-CN" altLang="en-US">
                <a:solidFill>
                  <a:schemeClr val="bg2"/>
                </a:solidFill>
                <a:latin typeface="Arial" panose="020B0604020202020204" pitchFamily="34" charset="0"/>
              </a:rPr>
            </a:fld>
            <a:endParaRPr lang="en-US" altLang="zh-CN">
              <a:solidFill>
                <a:schemeClr val="bg2"/>
              </a:solidFill>
            </a:endParaRPr>
          </a:p>
        </p:txBody>
      </p:sp>
      <p:sp>
        <p:nvSpPr>
          <p:cNvPr id="60419" name="Rectangle 1026"/>
          <p:cNvSpPr>
            <a:spLocks noGrp="1" noChangeArrowheads="1"/>
          </p:cNvSpPr>
          <p:nvPr>
            <p:ph type="title"/>
          </p:nvPr>
        </p:nvSpPr>
        <p:spPr>
          <a:xfrm>
            <a:off x="685800" y="1828800"/>
            <a:ext cx="7772400" cy="2057400"/>
          </a:xfrm>
        </p:spPr>
        <p:txBody>
          <a:bodyPr/>
          <a:lstStyle/>
          <a:p>
            <a:pPr>
              <a:lnSpc>
                <a:spcPct val="150000"/>
              </a:lnSpc>
            </a:pPr>
            <a:r>
              <a:rPr lang="en-US" altLang="zh-CN" sz="8000" b="1">
                <a:latin typeface="宋体" panose="02010600030101010101" pitchFamily="2" charset="-122"/>
                <a:ea typeface="宋体" panose="02010600030101010101" pitchFamily="2" charset="-122"/>
              </a:rPr>
              <a:t>End</a:t>
            </a:r>
            <a:endParaRPr lang="en-US" altLang="zh-CN" sz="8000" b="1">
              <a:latin typeface="宋体" panose="02010600030101010101" pitchFamily="2" charset="-122"/>
              <a:ea typeface="宋体" panose="02010600030101010101" pitchFamily="2" charset="-122"/>
            </a:endParaRPr>
          </a:p>
        </p:txBody>
      </p:sp>
    </p:spTree>
  </p:cSld>
  <p:clrMapOvr>
    <a:masterClrMapping/>
  </p:clrMapOvr>
  <p:transition advClick="0"/>
</p:sld>
</file>

<file path=ppt/tags/tag1.xml><?xml version="1.0" encoding="utf-8"?>
<p:tagLst xmlns:p="http://schemas.openxmlformats.org/presentationml/2006/main">
  <p:tag name="commondata" val="eyJoZGlkIjoiNGI2ODAxN2Y4NGM4NjYxMDk5NDNjMTFhMzQ1NjYxOGIifQ=="/>
</p:tagLst>
</file>

<file path=ppt/theme/theme1.xml><?xml version="1.0" encoding="utf-8"?>
<a:theme xmlns:a="http://schemas.openxmlformats.org/drawingml/2006/main" name="InternetComputing">
  <a:themeElements>
    <a:clrScheme name="软件技术基础">
      <a:dk1>
        <a:srgbClr val="000000"/>
      </a:dk1>
      <a:lt1>
        <a:srgbClr val="FF0000"/>
      </a:lt1>
      <a:dk2>
        <a:srgbClr val="000000"/>
      </a:dk2>
      <a:lt2>
        <a:srgbClr val="FF0000"/>
      </a:lt2>
      <a:accent1>
        <a:srgbClr val="0000D4"/>
      </a:accent1>
      <a:accent2>
        <a:srgbClr val="FFCBCC"/>
      </a:accent2>
      <a:accent3>
        <a:srgbClr val="AAAAFF"/>
      </a:accent3>
      <a:accent4>
        <a:srgbClr val="DADADA"/>
      </a:accent4>
      <a:accent5>
        <a:srgbClr val="FFCAAA"/>
      </a:accent5>
      <a:accent6>
        <a:srgbClr val="00E7E7"/>
      </a:accent6>
      <a:hlink>
        <a:srgbClr val="FF0000"/>
      </a:hlink>
      <a:folHlink>
        <a:srgbClr val="969696"/>
      </a:folHlink>
    </a:clrScheme>
    <a:fontScheme name="InternetComputing">
      <a:majorFont>
        <a:latin typeface="Arial"/>
        <a:ea typeface=""/>
        <a:cs typeface=""/>
      </a:majorFont>
      <a:minorFont>
        <a:latin typeface="Book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2"/>
          </a:solidFill>
          <a:prstDash val="solid"/>
          <a:round/>
          <a:headEnd type="none" w="med" len="med"/>
          <a:tailEnd type="none" w="med" len="med"/>
        </a:ln>
      </a:spPr>
      <a:bodyPr vert="horz" wrap="square" lIns="18000" tIns="10800" rIns="18000" bIns="10800" numCol="1" anchor="t" anchorCtr="0" compatLnSpc="1">
        <a:spAutoFit/>
      </a:bodyPr>
      <a:lstStyle>
        <a:defPPr marL="0" marR="0" indent="0" algn="ctr" defTabSz="914400" rtl="0" eaLnBrk="0" fontAlgn="base" latinLnBrk="0" hangingPunct="0">
          <a:lnSpc>
            <a:spcPct val="100000"/>
          </a:lnSpc>
          <a:spcBef>
            <a:spcPct val="0"/>
          </a:spcBef>
          <a:spcAft>
            <a:spcPct val="0"/>
          </a:spcAft>
          <a:buClrTx/>
          <a:buSzTx/>
          <a:buFontTx/>
          <a:buNone/>
          <a:defRPr kumimoji="0" 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chemeClr val="tx2"/>
          </a:solidFill>
          <a:prstDash val="solid"/>
          <a:round/>
          <a:headEnd type="none" w="med" len="med"/>
          <a:tailEnd type="none" w="med" len="med"/>
        </a:ln>
      </a:spPr>
      <a:bodyPr vert="horz" wrap="square" lIns="18000" tIns="10800" rIns="18000" bIns="10800" numCol="1" anchor="t" anchorCtr="0" compatLnSpc="1">
        <a:spAutoFit/>
      </a:bodyPr>
      <a:lstStyle>
        <a:defPPr marL="0" marR="0" indent="0" algn="ctr" defTabSz="914400" rtl="0" eaLnBrk="0" fontAlgn="base" latinLnBrk="0" hangingPunct="0">
          <a:lnSpc>
            <a:spcPct val="100000"/>
          </a:lnSpc>
          <a:spcBef>
            <a:spcPct val="0"/>
          </a:spcBef>
          <a:spcAft>
            <a:spcPct val="0"/>
          </a:spcAft>
          <a:buClrTx/>
          <a:buSzTx/>
          <a:buFontTx/>
          <a:buNone/>
          <a:defRPr kumimoji="0" 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InternetComputing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nternetComputing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nternetComputing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nternetComputing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nternetComputing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nternetComputing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nternetComputing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5136</Words>
  <Application>WPS 演示</Application>
  <PresentationFormat>全屏显示(4:3)</PresentationFormat>
  <Paragraphs>519</Paragraphs>
  <Slides>28</Slides>
  <Notes>14</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28</vt:i4>
      </vt:variant>
    </vt:vector>
  </HeadingPairs>
  <TitlesOfParts>
    <vt:vector size="39" baseType="lpstr">
      <vt:lpstr>Arial</vt:lpstr>
      <vt:lpstr>宋体</vt:lpstr>
      <vt:lpstr>Wingdings</vt:lpstr>
      <vt:lpstr>Times New Roman</vt:lpstr>
      <vt:lpstr>微软雅黑</vt:lpstr>
      <vt:lpstr>Bookman</vt:lpstr>
      <vt:lpstr>Bookman Old Style</vt:lpstr>
      <vt:lpstr>Arial Unicode MS</vt:lpstr>
      <vt:lpstr>InternetComputing</vt:lpstr>
      <vt:lpstr>Equation.DSMT4</vt:lpstr>
      <vt:lpstr>Equation.DSMT4</vt:lpstr>
      <vt:lpstr>数据结构与操作系统 （第六讲）</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3. 数据结构 3.5 树与二叉树</vt:lpstr>
      <vt:lpstr>End</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1037</cp:revision>
  <dcterms:created xsi:type="dcterms:W3CDTF">1999-12-08T03:20:00Z</dcterms:created>
  <dcterms:modified xsi:type="dcterms:W3CDTF">2024-05-13T07:38:23Z</dcterms:modified>
</cp:coreProperties>
</file>