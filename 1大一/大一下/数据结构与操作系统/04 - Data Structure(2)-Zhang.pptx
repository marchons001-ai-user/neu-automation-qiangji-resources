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73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</p:sldIdLst>
  <p:sldSz cx="9144000" cy="6858000" type="screen4x3"/>
  <p:notesSz cx="6648450" cy="978217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66CC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FFFFFF"/>
    <a:srgbClr val="FF66CC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8" autoAdjust="0"/>
    <p:restoredTop sz="93201" autoAdjust="0"/>
  </p:normalViewPr>
  <p:slideViewPr>
    <p:cSldViewPr>
      <p:cViewPr varScale="1">
        <p:scale>
          <a:sx n="105" d="100"/>
          <a:sy n="105" d="100"/>
        </p:scale>
        <p:origin x="1794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image" Target="../media/image3.emf"/><Relationship Id="rId4" Type="http://schemas.openxmlformats.org/officeDocument/2006/relationships/image" Target="../media/image6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image" Target="../media/image7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image" Target="../media/image10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image" Target="../media/image14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EE25251C-41C8-4AF2-B159-A95F41329BB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878" tIns="46939" rIns="93878" bIns="46939" numCol="1" anchor="t" anchorCtr="0" compatLnSpc="1">
            <a:prstTxWarp prst="textNoShape">
              <a:avLst/>
            </a:prstTxWarp>
          </a:bodyPr>
          <a:lstStyle>
            <a:lvl1pPr algn="l" defTabSz="938213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5E226E0D-0842-4641-B865-C89A008E663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878" tIns="46939" rIns="93878" bIns="46939" numCol="1" anchor="t" anchorCtr="0" compatLnSpc="1">
            <a:prstTxWarp prst="textNoShape">
              <a:avLst/>
            </a:prstTxWarp>
          </a:bodyPr>
          <a:lstStyle>
            <a:lvl1pPr algn="r" defTabSz="938213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4820" name="Rectangle 4">
            <a:extLst>
              <a:ext uri="{FF2B5EF4-FFF2-40B4-BE49-F238E27FC236}">
                <a16:creationId xmlns:a16="http://schemas.microsoft.com/office/drawing/2014/main" id="{87CF044E-86C6-4CE9-92A4-0FA0083102EF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878" tIns="46939" rIns="93878" bIns="46939" numCol="1" anchor="b" anchorCtr="0" compatLnSpc="1">
            <a:prstTxWarp prst="textNoShape">
              <a:avLst/>
            </a:prstTxWarp>
          </a:bodyPr>
          <a:lstStyle>
            <a:lvl1pPr algn="l" defTabSz="938213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4821" name="Rectangle 5">
            <a:extLst>
              <a:ext uri="{FF2B5EF4-FFF2-40B4-BE49-F238E27FC236}">
                <a16:creationId xmlns:a16="http://schemas.microsoft.com/office/drawing/2014/main" id="{3991AB3E-7610-42E1-B7B3-C70ED0DF2219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878" tIns="46939" rIns="93878" bIns="46939" numCol="1" anchor="b" anchorCtr="0" compatLnSpc="1">
            <a:prstTxWarp prst="textNoShape">
              <a:avLst/>
            </a:prstTxWarp>
          </a:bodyPr>
          <a:lstStyle>
            <a:lvl1pPr algn="r" defTabSz="938213">
              <a:defRPr sz="1200"/>
            </a:lvl1pPr>
          </a:lstStyle>
          <a:p>
            <a:pPr>
              <a:defRPr/>
            </a:pPr>
            <a:fld id="{68C55D5E-D6ED-4B12-8B48-0358A87B38D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ECB7A5AD-5AA4-438F-9A67-4068D9F4349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878" tIns="46939" rIns="93878" bIns="46939" numCol="1" anchor="t" anchorCtr="0" compatLnSpc="1">
            <a:prstTxWarp prst="textNoShape">
              <a:avLst/>
            </a:prstTxWarp>
          </a:bodyPr>
          <a:lstStyle>
            <a:lvl1pPr algn="l" defTabSz="938213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33084FCC-DB9A-46EC-82E8-D3F9718BD28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878" tIns="46939" rIns="93878" bIns="46939" numCol="1" anchor="t" anchorCtr="0" compatLnSpc="1">
            <a:prstTxWarp prst="textNoShape">
              <a:avLst/>
            </a:prstTxWarp>
          </a:bodyPr>
          <a:lstStyle>
            <a:lvl1pPr algn="r" defTabSz="938213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388" name="Rectangle 4">
            <a:extLst>
              <a:ext uri="{FF2B5EF4-FFF2-40B4-BE49-F238E27FC236}">
                <a16:creationId xmlns:a16="http://schemas.microsoft.com/office/drawing/2014/main" id="{5DF83D12-9BAC-49B4-98CD-C3FED2A78C2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9475" y="735013"/>
            <a:ext cx="4889500" cy="36671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83A4653C-91A6-4DDC-832F-D6023746DD3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85825" y="4646613"/>
            <a:ext cx="4876800" cy="440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878" tIns="46939" rIns="93878" bIns="4693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ABED2031-DA0B-4939-8CCB-63F6D1C7325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878" tIns="46939" rIns="93878" bIns="46939" numCol="1" anchor="b" anchorCtr="0" compatLnSpc="1">
            <a:prstTxWarp prst="textNoShape">
              <a:avLst/>
            </a:prstTxWarp>
          </a:bodyPr>
          <a:lstStyle>
            <a:lvl1pPr algn="l" defTabSz="938213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3A3772F7-A806-4678-82DB-E05BC1E7E6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878" tIns="46939" rIns="93878" bIns="46939" numCol="1" anchor="b" anchorCtr="0" compatLnSpc="1">
            <a:prstTxWarp prst="textNoShape">
              <a:avLst/>
            </a:prstTxWarp>
          </a:bodyPr>
          <a:lstStyle>
            <a:lvl1pPr algn="r" defTabSz="938213">
              <a:defRPr sz="1200"/>
            </a:lvl1pPr>
          </a:lstStyle>
          <a:p>
            <a:pPr>
              <a:defRPr/>
            </a:pPr>
            <a:fld id="{4BC44267-4BFA-47DB-B619-DAB202AEC72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575242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>
            <a:extLst>
              <a:ext uri="{FF2B5EF4-FFF2-40B4-BE49-F238E27FC236}">
                <a16:creationId xmlns:a16="http://schemas.microsoft.com/office/drawing/2014/main" id="{98B1B2DE-58DC-4DD5-B39A-7978ECF76C2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备注占位符 2">
            <a:extLst>
              <a:ext uri="{FF2B5EF4-FFF2-40B4-BE49-F238E27FC236}">
                <a16:creationId xmlns:a16="http://schemas.microsoft.com/office/drawing/2014/main" id="{D13D01E1-EB74-414F-9A5B-D2F8A9F321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08" name="灯片编号占位符 3">
            <a:extLst>
              <a:ext uri="{FF2B5EF4-FFF2-40B4-BE49-F238E27FC236}">
                <a16:creationId xmlns:a16="http://schemas.microsoft.com/office/drawing/2014/main" id="{5C7BEA78-A4C0-4A1E-9A3F-9DEB3CEADD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780C2B0B-F5BA-4FC1-9E52-770E2860800A}" type="slidenum">
              <a:rPr lang="zh-CN" altLang="en-US" sz="1200" smtClean="0"/>
              <a:pPr/>
              <a:t>2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35240116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>
            <a:extLst>
              <a:ext uri="{FF2B5EF4-FFF2-40B4-BE49-F238E27FC236}">
                <a16:creationId xmlns:a16="http://schemas.microsoft.com/office/drawing/2014/main" id="{1D2C1829-DD03-4344-9973-F3E826094EA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3555" name="备注占位符 2">
            <a:extLst>
              <a:ext uri="{FF2B5EF4-FFF2-40B4-BE49-F238E27FC236}">
                <a16:creationId xmlns:a16="http://schemas.microsoft.com/office/drawing/2014/main" id="{693FA8AB-5416-48F5-9B95-562837D00A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56" name="灯片编号占位符 3">
            <a:extLst>
              <a:ext uri="{FF2B5EF4-FFF2-40B4-BE49-F238E27FC236}">
                <a16:creationId xmlns:a16="http://schemas.microsoft.com/office/drawing/2014/main" id="{650D6A46-9A65-4F0A-AA0D-568D07D650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2C9EF3BD-B99C-413E-94A1-64A4143B1801}" type="slidenum">
              <a:rPr lang="zh-CN" altLang="en-US" sz="1200" smtClean="0"/>
              <a:pPr/>
              <a:t>3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9704415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幻灯片图像占位符 1">
            <a:extLst>
              <a:ext uri="{FF2B5EF4-FFF2-40B4-BE49-F238E27FC236}">
                <a16:creationId xmlns:a16="http://schemas.microsoft.com/office/drawing/2014/main" id="{36C11C9A-A733-4BB1-80CE-73718EFBFC5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3" name="备注占位符 2">
            <a:extLst>
              <a:ext uri="{FF2B5EF4-FFF2-40B4-BE49-F238E27FC236}">
                <a16:creationId xmlns:a16="http://schemas.microsoft.com/office/drawing/2014/main" id="{5AD3DBDF-C044-464C-BAB4-895749BCCA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对于二位矩阵，可以归结为行优先、列优先；对于多维数组，只能是先排右下标，和先排左下标的问题。</a:t>
            </a:r>
            <a:endParaRPr lang="en-US" altLang="zh-CN"/>
          </a:p>
          <a:p>
            <a:r>
              <a:rPr lang="zh-CN" altLang="en-US"/>
              <a:t>例如：</a:t>
            </a:r>
            <a:r>
              <a:rPr lang="en-US" altLang="zh-CN"/>
              <a:t>2</a:t>
            </a:r>
            <a:r>
              <a:rPr lang="zh-CN" altLang="en-US"/>
              <a:t>*</a:t>
            </a:r>
            <a:r>
              <a:rPr lang="en-US" altLang="zh-CN"/>
              <a:t>2</a:t>
            </a:r>
            <a:r>
              <a:rPr lang="zh-CN" altLang="en-US"/>
              <a:t>*</a:t>
            </a:r>
            <a:r>
              <a:rPr lang="en-US" altLang="zh-CN"/>
              <a:t>2</a:t>
            </a:r>
            <a:r>
              <a:rPr lang="zh-CN" altLang="en-US"/>
              <a:t>矩阵，</a:t>
            </a:r>
            <a:r>
              <a:rPr lang="en-US" altLang="zh-CN"/>
              <a:t>a111,a112,a121,a122,a211,a212,a221,a222.</a:t>
            </a:r>
          </a:p>
          <a:p>
            <a:endParaRPr lang="zh-CN" altLang="en-US"/>
          </a:p>
        </p:txBody>
      </p:sp>
      <p:sp>
        <p:nvSpPr>
          <p:cNvPr id="25604" name="灯片编号占位符 3">
            <a:extLst>
              <a:ext uri="{FF2B5EF4-FFF2-40B4-BE49-F238E27FC236}">
                <a16:creationId xmlns:a16="http://schemas.microsoft.com/office/drawing/2014/main" id="{8B9E53EB-034F-415C-81E9-3EC9C731FC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CAC3499C-8D7D-4DD2-A314-471D9067EF60}" type="slidenum">
              <a:rPr lang="zh-CN" altLang="en-US" sz="1200" smtClean="0"/>
              <a:pPr/>
              <a:t>4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2904142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幻灯片图像占位符 1">
            <a:extLst>
              <a:ext uri="{FF2B5EF4-FFF2-40B4-BE49-F238E27FC236}">
                <a16:creationId xmlns:a16="http://schemas.microsoft.com/office/drawing/2014/main" id="{0D7F8F4E-92F0-4E52-879B-960B9DCC34B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备注占位符 2">
            <a:extLst>
              <a:ext uri="{FF2B5EF4-FFF2-40B4-BE49-F238E27FC236}">
                <a16:creationId xmlns:a16="http://schemas.microsoft.com/office/drawing/2014/main" id="{3C185156-50A8-4F47-9CDF-F67610577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要想解决运算问题，首先要解决如何找到数组元素的问题。</a:t>
            </a:r>
          </a:p>
        </p:txBody>
      </p:sp>
      <p:sp>
        <p:nvSpPr>
          <p:cNvPr id="28676" name="灯片编号占位符 3">
            <a:extLst>
              <a:ext uri="{FF2B5EF4-FFF2-40B4-BE49-F238E27FC236}">
                <a16:creationId xmlns:a16="http://schemas.microsoft.com/office/drawing/2014/main" id="{5F6333DF-D54A-4C3A-8B74-9EFC89DCE5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77AD93AC-FF1F-4783-9C36-4E291A70AE80}" type="slidenum">
              <a:rPr lang="zh-CN" altLang="en-US" sz="1200" smtClean="0"/>
              <a:pPr/>
              <a:t>6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22435579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D4B0EE8E-8479-4053-84EE-DEA6FA27393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A6922705-B591-44DE-8DCD-79B488A3B888}" type="slidenum">
              <a:rPr lang="zh-CN" altLang="en-US" sz="1200" smtClean="0"/>
              <a:pPr/>
              <a:t>7</a:t>
            </a:fld>
            <a:endParaRPr lang="en-US" altLang="zh-CN" sz="1200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5BD2A83C-5305-4131-9B55-1EC1425F6F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C06DC704-EF1D-4787-8879-953991977E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用三元组存储线性表时，是按行优先的顺序存储矩阵中的非零元素，所以行和列的排列顺序表现出如下规律，</a:t>
            </a:r>
            <a:endParaRPr lang="en-US" altLang="zh-CN"/>
          </a:p>
          <a:p>
            <a:r>
              <a:rPr lang="zh-CN" altLang="en-US"/>
              <a:t>即：行号按升序排列，行号相同的条件下，列号按升序排列。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213635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幻灯片图像占位符 1">
            <a:extLst>
              <a:ext uri="{FF2B5EF4-FFF2-40B4-BE49-F238E27FC236}">
                <a16:creationId xmlns:a16="http://schemas.microsoft.com/office/drawing/2014/main" id="{FE553E07-53A2-4D30-AB19-F1A4164187C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1" name="备注占位符 2">
            <a:extLst>
              <a:ext uri="{FF2B5EF4-FFF2-40B4-BE49-F238E27FC236}">
                <a16:creationId xmlns:a16="http://schemas.microsoft.com/office/drawing/2014/main" id="{46044D16-C4F3-47DD-9B3A-F41A143AF8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转置阵也要满足按行优先的顺序存储才行。</a:t>
            </a:r>
            <a:endParaRPr lang="en-US" altLang="zh-CN"/>
          </a:p>
          <a:p>
            <a:r>
              <a:rPr lang="zh-CN" altLang="en-US"/>
              <a:t>也就是要保证“行号升序排列、行号相同的情况下列号升序排列”</a:t>
            </a:r>
          </a:p>
        </p:txBody>
      </p:sp>
      <p:sp>
        <p:nvSpPr>
          <p:cNvPr id="32772" name="灯片编号占位符 3">
            <a:extLst>
              <a:ext uri="{FF2B5EF4-FFF2-40B4-BE49-F238E27FC236}">
                <a16:creationId xmlns:a16="http://schemas.microsoft.com/office/drawing/2014/main" id="{3233B06E-AB94-47CE-B964-40A02AD623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F9752FD3-24B7-4A16-B87A-D6DC216B5655}" type="slidenum">
              <a:rPr lang="zh-CN" altLang="en-US" sz="1200" smtClean="0"/>
              <a:pPr/>
              <a:t>8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14187219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幻灯片图像占位符 1">
            <a:extLst>
              <a:ext uri="{FF2B5EF4-FFF2-40B4-BE49-F238E27FC236}">
                <a16:creationId xmlns:a16="http://schemas.microsoft.com/office/drawing/2014/main" id="{E27FE275-4F58-4215-B5D9-334E67C251F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7891" name="备注占位符 2">
            <a:extLst>
              <a:ext uri="{FF2B5EF4-FFF2-40B4-BE49-F238E27FC236}">
                <a16:creationId xmlns:a16="http://schemas.microsoft.com/office/drawing/2014/main" id="{93B7C717-5ACE-4036-95B5-3218BAB725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892" name="灯片编号占位符 3">
            <a:extLst>
              <a:ext uri="{FF2B5EF4-FFF2-40B4-BE49-F238E27FC236}">
                <a16:creationId xmlns:a16="http://schemas.microsoft.com/office/drawing/2014/main" id="{F13F40D3-46D6-44EF-BCDB-94711270F1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AFBD6D32-5EA7-4224-840A-CE9DB728133B}" type="slidenum">
              <a:rPr lang="zh-CN" altLang="en-US" sz="1200" smtClean="0"/>
              <a:pPr/>
              <a:t>12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29005945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幻灯片图像占位符 1">
            <a:extLst>
              <a:ext uri="{FF2B5EF4-FFF2-40B4-BE49-F238E27FC236}">
                <a16:creationId xmlns:a16="http://schemas.microsoft.com/office/drawing/2014/main" id="{5D6D852C-B550-4235-8D5D-12659D11D29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备注占位符 2">
            <a:extLst>
              <a:ext uri="{FF2B5EF4-FFF2-40B4-BE49-F238E27FC236}">
                <a16:creationId xmlns:a16="http://schemas.microsoft.com/office/drawing/2014/main" id="{8379C8B0-DA0D-4FA7-8AB5-74B6AF0D1F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>
                <a:latin typeface="宋体" panose="02010600030101010101" pitchFamily="2" charset="-122"/>
              </a:rPr>
              <a:t>head_nodes[i]-&gt;val</a:t>
            </a:r>
            <a:r>
              <a:rPr lang="zh-CN" altLang="en-US">
                <a:latin typeface="宋体" panose="02010600030101010101" pitchFamily="2" charset="-122"/>
              </a:rPr>
              <a:t>，表示第</a:t>
            </a:r>
            <a:r>
              <a:rPr lang="en-US" altLang="zh-CN">
                <a:latin typeface="宋体" panose="02010600030101010101" pitchFamily="2" charset="-122"/>
              </a:rPr>
              <a:t>i</a:t>
            </a:r>
            <a:r>
              <a:rPr lang="zh-CN" altLang="en-US">
                <a:latin typeface="宋体" panose="02010600030101010101" pitchFamily="2" charset="-122"/>
              </a:rPr>
              <a:t>个头结点的指针所指向的节点的</a:t>
            </a:r>
            <a:r>
              <a:rPr lang="en-US" altLang="zh-CN">
                <a:latin typeface="宋体" panose="02010600030101010101" pitchFamily="2" charset="-122"/>
              </a:rPr>
              <a:t>val</a:t>
            </a:r>
            <a:r>
              <a:rPr lang="zh-CN" altLang="en-US">
                <a:latin typeface="宋体" panose="02010600030101010101" pitchFamily="2" charset="-122"/>
              </a:rPr>
              <a:t>域</a:t>
            </a:r>
            <a:r>
              <a:rPr lang="en-US" altLang="zh-CN">
                <a:latin typeface="宋体" panose="02010600030101010101" pitchFamily="2" charset="-122"/>
              </a:rPr>
              <a:t>, </a:t>
            </a:r>
            <a:r>
              <a:rPr lang="zh-CN" altLang="en-US">
                <a:latin typeface="宋体" panose="02010600030101010101" pitchFamily="2" charset="-122"/>
              </a:rPr>
              <a:t>和元素节点中的</a:t>
            </a:r>
            <a:r>
              <a:rPr lang="en-US" altLang="zh-CN">
                <a:latin typeface="宋体" panose="02010600030101010101" pitchFamily="2" charset="-122"/>
              </a:rPr>
              <a:t>val</a:t>
            </a:r>
            <a:r>
              <a:rPr lang="zh-CN" altLang="en-US">
                <a:latin typeface="宋体" panose="02010600030101010101" pitchFamily="2" charset="-122"/>
              </a:rPr>
              <a:t>是一个域。</a:t>
            </a:r>
            <a:r>
              <a:rPr lang="en-US" altLang="zh-CN">
                <a:latin typeface="宋体" panose="02010600030101010101" pitchFamily="2" charset="-122"/>
              </a:rPr>
              <a:t> </a:t>
            </a:r>
          </a:p>
          <a:p>
            <a:endParaRPr lang="en-US" altLang="zh-CN">
              <a:latin typeface="宋体" panose="02010600030101010101" pitchFamily="2" charset="-122"/>
            </a:endParaRPr>
          </a:p>
          <a:p>
            <a:r>
              <a:rPr lang="zh-CN" altLang="en-US">
                <a:latin typeface="宋体" panose="02010600030101010101" pitchFamily="2" charset="-122"/>
              </a:rPr>
              <a:t>使用行节点指针数组，可以快速定位到相应的行或列的链表上。（不用也可以）</a:t>
            </a:r>
            <a:endParaRPr lang="en-US" altLang="zh-CN">
              <a:latin typeface="宋体" panose="02010600030101010101" pitchFamily="2" charset="-122"/>
            </a:endParaRPr>
          </a:p>
          <a:p>
            <a:endParaRPr lang="en-US" altLang="zh-CN">
              <a:latin typeface="宋体" panose="02010600030101010101" pitchFamily="2" charset="-122"/>
            </a:endParaRPr>
          </a:p>
          <a:p>
            <a:r>
              <a:rPr lang="zh-CN" altLang="en-US">
                <a:latin typeface="宋体" panose="02010600030101010101" pitchFamily="2" charset="-122"/>
              </a:rPr>
              <a:t>关于创建一个十字链表的算法描述（伪代码），以及十字链表的运算，由于时间关系，不做深入介绍，可参考书中的介绍。</a:t>
            </a:r>
            <a:endParaRPr lang="en-US" altLang="zh-CN">
              <a:latin typeface="宋体" panose="02010600030101010101" pitchFamily="2" charset="-122"/>
            </a:endParaRPr>
          </a:p>
          <a:p>
            <a:r>
              <a:rPr lang="zh-CN" altLang="en-US">
                <a:latin typeface="宋体" panose="02010600030101010101" pitchFamily="2" charset="-122"/>
              </a:rPr>
              <a:t>如果有不明白的，我们可以随时探讨。</a:t>
            </a:r>
            <a:endParaRPr lang="en-US" altLang="zh-CN">
              <a:latin typeface="宋体" panose="02010600030101010101" pitchFamily="2" charset="-122"/>
            </a:endParaRPr>
          </a:p>
          <a:p>
            <a:endParaRPr lang="zh-CN" altLang="en-US"/>
          </a:p>
        </p:txBody>
      </p:sp>
      <p:sp>
        <p:nvSpPr>
          <p:cNvPr id="41988" name="灯片编号占位符 3">
            <a:extLst>
              <a:ext uri="{FF2B5EF4-FFF2-40B4-BE49-F238E27FC236}">
                <a16:creationId xmlns:a16="http://schemas.microsoft.com/office/drawing/2014/main" id="{FE4E6417-5647-4459-BF59-12E6F8FCB9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D7F82E38-0924-42ED-AB95-700D01E9B078}" type="slidenum">
              <a:rPr lang="zh-CN" altLang="en-US" sz="1200" smtClean="0"/>
              <a:pPr/>
              <a:t>15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38883961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B72D8FA4-09E5-4AEE-94B3-FB4372050D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EBF62B0D-C30F-4187-9D4F-1E3F2329AC8B}" type="slidenum">
              <a:rPr lang="zh-CN" altLang="en-US" sz="1200" smtClean="0"/>
              <a:pPr/>
              <a:t>16</a:t>
            </a:fld>
            <a:endParaRPr lang="en-US" altLang="zh-CN" sz="1200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07FC9362-B6B0-436C-B251-F17BD83182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6DD7E677-562F-4CAB-9D22-819074D985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  <a:p>
            <a:endParaRPr lang="zh-CN" altLang="en-US"/>
          </a:p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09348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2276A4-023E-4217-8104-B69739C8A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CD6B79-6E9C-42EC-8694-41D2BFDCF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软件技术基础 东北大学 王庆 2005 R3</a:t>
            </a: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F08207-9429-472F-B104-CD0E9B9EC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58634D-8B16-4AAF-8AB0-AB879F7CEB0A}" type="slidenum">
              <a:rPr lang="zh-CN" altLang="en-US"/>
              <a:pPr>
                <a:defRPr/>
              </a:pPr>
              <a:t>‹#›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7577291"/>
      </p:ext>
    </p:extLst>
  </p:cSld>
  <p:clrMapOvr>
    <a:masterClrMapping/>
  </p:clrMapOvr>
  <p:transition advClick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76DB97-CFE8-4D15-94A3-3B0E47B3B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F72A53-0F36-4A32-BE20-D266386E5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软件技术基础 东北大学 王庆 2005 R3</a:t>
            </a: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7302AE-DE22-4566-A758-3E1333364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B17860-3574-41DF-BEF0-19F527DDD2F8}" type="slidenum">
              <a:rPr lang="zh-CN" altLang="en-US"/>
              <a:pPr>
                <a:defRPr/>
              </a:pPr>
              <a:t>‹#›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7687274"/>
      </p:ext>
    </p:extLst>
  </p:cSld>
  <p:clrMapOvr>
    <a:masterClrMapping/>
  </p:clrMapOvr>
  <p:transition advClick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9061E3-39F7-4D7F-AE93-368E96C36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998593-BE67-45A0-9DAA-333BCF563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软件技术基础 东北大学 王庆 2005 R3</a:t>
            </a: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DA342E-28A8-4183-842B-C87567B13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2975C3-4C59-4BBA-BF59-9E8364199C09}" type="slidenum">
              <a:rPr lang="zh-CN" altLang="en-US"/>
              <a:pPr>
                <a:defRPr/>
              </a:pPr>
              <a:t>‹#›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5520242"/>
      </p:ext>
    </p:extLst>
  </p:cSld>
  <p:clrMapOvr>
    <a:masterClrMapping/>
  </p:clrMapOvr>
  <p:transition advClick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213" y="1101725"/>
            <a:ext cx="4419600" cy="5476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1213" y="1101725"/>
            <a:ext cx="4421187" cy="5476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56C8742-782C-4D55-80FA-00A2F3D5E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69F27F7-40EB-42BE-8251-C81E515CF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软件技术基础 东北大学 王庆 2005 R3</a:t>
            </a:r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0C1CAC-657C-4EE3-8156-2A529D84B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34DC27-54D5-4616-86BE-7B3D56B12EEC}" type="slidenum">
              <a:rPr lang="zh-CN" altLang="en-US"/>
              <a:pPr>
                <a:defRPr/>
              </a:pPr>
              <a:t>‹#›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0398736"/>
      </p:ext>
    </p:extLst>
  </p:cSld>
  <p:clrMapOvr>
    <a:masterClrMapping/>
  </p:clrMapOvr>
  <p:transition advClick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F8EF928-62A9-48E2-891E-EF3B619E7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8460365-A7DD-4FAB-B497-4363703C2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软件技术基础 东北大学 王庆 2005 R3</a:t>
            </a:r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9F021E1-06AD-4B39-BF67-18B4E488A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2BC50E-AF61-4B8F-ABB1-4712DBFE0F5C}" type="slidenum">
              <a:rPr lang="zh-CN" altLang="en-US"/>
              <a:pPr>
                <a:defRPr/>
              </a:pPr>
              <a:t>‹#›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6805161"/>
      </p:ext>
    </p:extLst>
  </p:cSld>
  <p:clrMapOvr>
    <a:masterClrMapping/>
  </p:clrMapOvr>
  <p:transition advClick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F2FE760-AC70-4B29-890E-4E83632CE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AB75927-5013-40B5-AB1C-D82D71AF3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软件技术基础 东北大学 王庆 2005 R3</a:t>
            </a: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2ADBF48-95D7-4098-AF97-AC78219F9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854F0E-6AB7-471F-97F3-98F816B3FEFC}" type="slidenum">
              <a:rPr lang="zh-CN" altLang="en-US"/>
              <a:pPr>
                <a:defRPr/>
              </a:pPr>
              <a:t>‹#›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738097"/>
      </p:ext>
    </p:extLst>
  </p:cSld>
  <p:clrMapOvr>
    <a:masterClrMapping/>
  </p:clrMapOvr>
  <p:transition advClick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EB5BB6-E7BD-4F24-8B94-17CCFAD54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C6F8758-2702-4F39-BB7A-92E49D804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软件技术基础 东北大学 王庆 2005 R3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F6EBC0B-AA09-4F6D-B084-86D01B78F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37349E-F348-4434-9281-F2EAE555728C}" type="slidenum">
              <a:rPr lang="zh-CN" altLang="en-US"/>
              <a:pPr>
                <a:defRPr/>
              </a:pPr>
              <a:t>‹#›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8489756"/>
      </p:ext>
    </p:extLst>
  </p:cSld>
  <p:clrMapOvr>
    <a:masterClrMapping/>
  </p:clrMapOvr>
  <p:transition advClick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96E219D-9B59-4E6B-BC21-7C624085B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48B3FEE-DA87-44FB-BD71-7F5BE156D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软件技术基础 东北大学 王庆 2005 R3</a:t>
            </a:r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6D57B61-6C40-43F6-AC90-A7A6D6A9B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48C8DF-8D8E-4F38-8F66-54A263DEB724}" type="slidenum">
              <a:rPr lang="zh-CN" altLang="en-US"/>
              <a:pPr>
                <a:defRPr/>
              </a:pPr>
              <a:t>‹#›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5828711"/>
      </p:ext>
    </p:extLst>
  </p:cSld>
  <p:clrMapOvr>
    <a:masterClrMapping/>
  </p:clrMapOvr>
  <p:transition advClick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71C2764-449D-4E17-A8DF-5D32B0003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0241AAD-CD19-4462-919A-6577C7B37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软件技术基础 东北大学 王庆 2005 R3</a:t>
            </a:r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14E6729-CA22-44EC-AB5A-183C3DC1F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0F5C58-982B-46A3-B0E1-48CABA395A84}" type="slidenum">
              <a:rPr lang="zh-CN" altLang="en-US"/>
              <a:pPr>
                <a:defRPr/>
              </a:pPr>
              <a:t>‹#›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5462781"/>
      </p:ext>
    </p:extLst>
  </p:cSld>
  <p:clrMapOvr>
    <a:masterClrMapping/>
  </p:clrMapOvr>
  <p:transition advClick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1DEE47-9E2E-4AD4-A37B-5DDC3D0E9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FEB45B-EF96-4FF7-890F-63DCF636C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软件技术基础 东北大学 王庆 2005 R3</a:t>
            </a: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79DB18-F3B0-49D0-9DA6-D7B48C3E2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C192DE-D019-44A2-9458-6F9DB0F364D1}" type="slidenum">
              <a:rPr lang="zh-CN" altLang="en-US"/>
              <a:pPr>
                <a:defRPr/>
              </a:pPr>
              <a:t>‹#›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6016172"/>
      </p:ext>
    </p:extLst>
  </p:cSld>
  <p:clrMapOvr>
    <a:masterClrMapping/>
  </p:clrMapOvr>
  <p:transition advClick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94500" y="44450"/>
            <a:ext cx="2247900" cy="653415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9213" y="44450"/>
            <a:ext cx="6592887" cy="65341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35DB7B-959E-4EA1-B324-3FC4EC471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C77350-AEC3-46A5-968C-3B584F684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软件技术基础 东北大学 王庆 2005 R3</a:t>
            </a: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59186C-4145-4236-8A0A-90FD0876F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3D481B-2204-48EE-B4EC-A6CE9BCA056D}" type="slidenum">
              <a:rPr lang="zh-CN" altLang="en-US"/>
              <a:pPr>
                <a:defRPr/>
              </a:pPr>
              <a:t>‹#›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5331879"/>
      </p:ext>
    </p:extLst>
  </p:cSld>
  <p:clrMapOvr>
    <a:masterClrMapping/>
  </p:clrMapOvr>
  <p:transition advClick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4450"/>
            <a:ext cx="7772400" cy="914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213" y="1101725"/>
            <a:ext cx="4419600" cy="54768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21213" y="1101725"/>
            <a:ext cx="4421187" cy="26622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21213" y="3916363"/>
            <a:ext cx="4421187" cy="26622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724F35EF-CEE2-4768-8D86-2D627037A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A6816092-A232-4FC7-BCC0-410EBE1F8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软件技术基础 东北大学 王庆 2005 R3</a:t>
            </a:r>
            <a:endParaRPr lang="en-US" altLang="zh-CN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C65F858E-0F10-4CC5-BFC6-A6F43FEFB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D19BA8-CAE2-4F3A-9505-9AECF50A402C}" type="slidenum">
              <a:rPr lang="zh-CN" altLang="en-US"/>
              <a:pPr>
                <a:defRPr/>
              </a:pPr>
              <a:t>‹#›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8913018"/>
      </p:ext>
    </p:extLst>
  </p:cSld>
  <p:clrMapOvr>
    <a:masterClrMapping/>
  </p:clrMapOvr>
  <p:transition advClick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标题，文本与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4450"/>
            <a:ext cx="7772400" cy="914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213" y="1101725"/>
            <a:ext cx="4419600" cy="54768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图表占位符 3"/>
          <p:cNvSpPr>
            <a:spLocks noGrp="1"/>
          </p:cNvSpPr>
          <p:nvPr>
            <p:ph type="chart" sz="half" idx="2"/>
          </p:nvPr>
        </p:nvSpPr>
        <p:spPr>
          <a:xfrm>
            <a:off x="4621213" y="1101725"/>
            <a:ext cx="4421187" cy="5476875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90A1B45-0130-4F21-BC6C-D3CC6BD01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DE87567-D266-4E28-8657-92CBA7AE1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软件技术基础 东北大学 王庆 2005 R3</a:t>
            </a:r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B8A61D6-9157-4B20-BDC9-68383D711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2A8653-FCE4-400E-8970-107C4EBAF7D2}" type="slidenum">
              <a:rPr lang="zh-CN" altLang="en-US"/>
              <a:pPr>
                <a:defRPr/>
              </a:pPr>
              <a:t>‹#›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9777538"/>
      </p:ext>
    </p:extLst>
  </p:cSld>
  <p:clrMapOvr>
    <a:masterClrMapping/>
  </p:clrMapOvr>
  <p:transition advClick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914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447800"/>
            <a:ext cx="3810000" cy="464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3810000" cy="464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297F0FB-E416-43E5-84FA-785FC3640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6A71613-93BC-4AA6-A69F-C1AC2B949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软件技术基础 东北大学 王庆 2005 R3</a:t>
            </a:r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931692E-08D2-448B-8FEF-F84646034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268551-1CA4-467B-9077-D73934026AF6}" type="slidenum">
              <a:rPr lang="zh-CN" altLang="en-US"/>
              <a:pPr>
                <a:defRPr/>
              </a:pPr>
              <a:t>‹#›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6588557"/>
      </p:ext>
    </p:extLst>
  </p:cSld>
  <p:clrMapOvr>
    <a:masterClrMapping/>
  </p:clrMapOvr>
  <p:transition advClick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456FC8C-1CED-4704-BC4D-2557D2F391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44450"/>
            <a:ext cx="7772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4D80EB9-3614-4498-97DC-F413363A74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9213" y="1101725"/>
            <a:ext cx="8993187" cy="547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E1A1619-4E52-4711-8BEB-1E179F90EC9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>
                <a:solidFill>
                  <a:schemeClr val="bg2"/>
                </a:solidFill>
                <a:latin typeface="+mj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2A8DF40-99B1-4C11-BD2F-77D1CA6B2AE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zh-CN" altLang="en-US"/>
              <a:t>软件技术基础 东北大学 王庆 2005 R3</a:t>
            </a: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134CB7B-C39F-47B4-A63A-0773BCEBBC0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31050" y="6524625"/>
            <a:ext cx="1905000" cy="21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>
                <a:solidFill>
                  <a:schemeClr val="bg2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D52ED47-1B98-459F-9E56-F954B4992AC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4667" r:id="rId1"/>
    <p:sldLayoutId id="2147484668" r:id="rId2"/>
    <p:sldLayoutId id="2147484669" r:id="rId3"/>
    <p:sldLayoutId id="2147484670" r:id="rId4"/>
    <p:sldLayoutId id="2147484671" r:id="rId5"/>
    <p:sldLayoutId id="2147484672" r:id="rId6"/>
    <p:sldLayoutId id="2147484673" r:id="rId7"/>
    <p:sldLayoutId id="2147484674" r:id="rId8"/>
    <p:sldLayoutId id="2147484675" r:id="rId9"/>
    <p:sldLayoutId id="2147484676" r:id="rId10"/>
    <p:sldLayoutId id="2147484677" r:id="rId11"/>
    <p:sldLayoutId id="2147484678" r:id="rId12"/>
    <p:sldLayoutId id="2147484679" r:id="rId13"/>
    <p:sldLayoutId id="2147484680" r:id="rId14"/>
  </p:sldLayoutIdLst>
  <p:transition advClick="0"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b="1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b="1">
          <a:solidFill>
            <a:schemeClr val="bg2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chemeClr val="bg2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b="1">
          <a:solidFill>
            <a:schemeClr val="bg2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b="1">
          <a:solidFill>
            <a:schemeClr val="bg2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4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6.emf"/><Relationship Id="rId5" Type="http://schemas.openxmlformats.org/officeDocument/2006/relationships/image" Target="../media/image3.e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5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8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7.emf"/><Relationship Id="rId4" Type="http://schemas.openxmlformats.org/officeDocument/2006/relationships/oleObject" Target="../embeddings/oleObject6.bin"/><Relationship Id="rId9" Type="http://schemas.openxmlformats.org/officeDocument/2006/relationships/image" Target="../media/image9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1.e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0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11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3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5.e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14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6.emf"/><Relationship Id="rId4" Type="http://schemas.openxmlformats.org/officeDocument/2006/relationships/oleObject" Target="../embeddings/oleObject15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7.emf"/><Relationship Id="rId4" Type="http://schemas.openxmlformats.org/officeDocument/2006/relationships/oleObject" Target="../embeddings/oleObject16.bin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132DD3AD-843A-4F00-937B-314BDB503F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6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数据结构与操作系统</a:t>
            </a:r>
            <a:br>
              <a:rPr lang="en-US" altLang="zh-CN" sz="6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（第四讲）</a:t>
            </a:r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7C4C3816-1D53-47F2-B88D-31F9EE8D85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张瑞友 教授</a:t>
            </a:r>
            <a:endParaRPr lang="en-US" altLang="zh-CN" dirty="0"/>
          </a:p>
          <a:p>
            <a:r>
              <a:rPr lang="zh-CN" altLang="en-US" dirty="0"/>
              <a:t>人工智能系</a:t>
            </a:r>
            <a:endParaRPr lang="en-US" altLang="zh-CN" dirty="0"/>
          </a:p>
          <a:p>
            <a:r>
              <a:rPr lang="en-US" altLang="zh-CN" dirty="0"/>
              <a:t>2024</a:t>
            </a:r>
            <a:r>
              <a:rPr lang="zh-CN" altLang="en-US" dirty="0"/>
              <a:t>年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2B63CB-2F14-412C-8F5C-07DFC78AD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3FE639-C234-4E9A-910A-19A90FCCCE3E}" type="slidenum">
              <a:rPr lang="zh-CN" altLang="en-US" smtClean="0"/>
              <a:pPr>
                <a:defRPr/>
              </a:pPr>
              <a:t>1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8180152"/>
      </p:ext>
    </p:extLst>
  </p:cSld>
  <p:clrMapOvr>
    <a:masterClrMapping/>
  </p:clrMapOvr>
  <p:transition advClick="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5">
            <a:extLst>
              <a:ext uri="{FF2B5EF4-FFF2-40B4-BE49-F238E27FC236}">
                <a16:creationId xmlns:a16="http://schemas.microsoft.com/office/drawing/2014/main" id="{0E56EE7D-3D51-4AB8-9D5F-449E66268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3A09A73-83E5-440F-881E-04D9860B8A44}" type="slidenum">
              <a:rPr lang="zh-CN" altLang="en-US" sz="14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20483" name="Rectangle 1026">
            <a:extLst>
              <a:ext uri="{FF2B5EF4-FFF2-40B4-BE49-F238E27FC236}">
                <a16:creationId xmlns:a16="http://schemas.microsoft.com/office/drawing/2014/main" id="{AAA1EC92-2BF3-45F1-8A69-3666B1F475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217488"/>
            <a:ext cx="7772400" cy="1366838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3. 数据结构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3.3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数组</a:t>
            </a:r>
          </a:p>
        </p:txBody>
      </p:sp>
      <p:sp>
        <p:nvSpPr>
          <p:cNvPr id="20484" name="Rectangle 1027">
            <a:extLst>
              <a:ext uri="{FF2B5EF4-FFF2-40B4-BE49-F238E27FC236}">
                <a16:creationId xmlns:a16="http://schemas.microsoft.com/office/drawing/2014/main" id="{C81DCBFD-F88C-416B-A3F1-7912DF685C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965200"/>
            <a:ext cx="9036050" cy="5949950"/>
          </a:xfrm>
        </p:spPr>
        <p:txBody>
          <a:bodyPr/>
          <a:lstStyle/>
          <a:p>
            <a:pPr marL="285750" indent="-285750"/>
            <a:r>
              <a:rPr lang="zh-CN" altLang="en-US" sz="24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数组是线性表的一种推广</a:t>
            </a:r>
          </a:p>
          <a:p>
            <a:pPr marL="862013" lvl="1"/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线性表只有一个索引号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数据元素的位置标号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，1≤索引号≤有效长度</a:t>
            </a:r>
          </a:p>
          <a:p>
            <a:pPr marL="862013" lvl="1"/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数组比线性表要复杂，可以有一个、两个或多个索引号</a:t>
            </a:r>
          </a:p>
          <a:p>
            <a:pPr marL="285750" indent="-285750"/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数组的定义</a:t>
            </a:r>
          </a:p>
          <a:p>
            <a:pPr marL="862013" lvl="1"/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以二维数组为例，一个 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m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行 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n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列的数组可以表示为矩阵的形式</a:t>
            </a:r>
          </a:p>
          <a:p>
            <a:pPr marL="862013" lvl="1"/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可以 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m ≠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</a:p>
          <a:p>
            <a:pPr marL="862013" lvl="1"/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这个二维数组中的数据元素的个数为 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m * n</a:t>
            </a:r>
          </a:p>
          <a:p>
            <a:pPr marL="862013" lvl="1"/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数据元素由 </a:t>
            </a:r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行号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 和 </a:t>
            </a:r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列号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 两个索引号 锁定</a:t>
            </a:r>
          </a:p>
          <a:p>
            <a:pPr marL="862013" lvl="1"/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每一行和每一列都可以看作是一个线性表</a:t>
            </a:r>
          </a:p>
          <a:p>
            <a:pPr marL="862013" lvl="1"/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62013" lvl="1"/>
            <a:r>
              <a:rPr lang="zh-CN" alt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数组与一般的线性表不同，数组的存储结构及操作运算也和线性表不同</a:t>
            </a:r>
          </a:p>
          <a:p>
            <a:pPr marL="862013" lvl="1"/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数组的操作主要是</a:t>
            </a:r>
            <a:r>
              <a:rPr lang="zh-CN" altLang="en-US" sz="200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存取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zh-CN" altLang="en-US" sz="200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修改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数组中的数组元素，一般不对数组进行插入元素和删除元素的操作</a:t>
            </a:r>
          </a:p>
          <a:p>
            <a:pPr marL="862013" lvl="1"/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不同存储方式，决定了对数组操作的实现方式不同（顺序和链式存储）</a:t>
            </a:r>
          </a:p>
        </p:txBody>
      </p:sp>
      <p:graphicFrame>
        <p:nvGraphicFramePr>
          <p:cNvPr id="20485" name="Object 1028">
            <a:extLst>
              <a:ext uri="{FF2B5EF4-FFF2-40B4-BE49-F238E27FC236}">
                <a16:creationId xmlns:a16="http://schemas.microsoft.com/office/drawing/2014/main" id="{215C282F-316C-42CE-B476-563F6C0260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94463" y="3046413"/>
          <a:ext cx="2254250" cy="160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" name="Equation" r:id="rId4" imgW="1323959" imgH="923911" progId="Equation.DSMT4">
                  <p:embed/>
                </p:oleObj>
              </mc:Choice>
              <mc:Fallback>
                <p:oleObj name="Equation" r:id="rId4" imgW="1323959" imgH="923911" progId="Equation.DSMT4">
                  <p:embed/>
                  <p:pic>
                    <p:nvPicPr>
                      <p:cNvPr id="0" name="Object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4463" y="3046413"/>
                        <a:ext cx="2254250" cy="160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5">
            <a:extLst>
              <a:ext uri="{FF2B5EF4-FFF2-40B4-BE49-F238E27FC236}">
                <a16:creationId xmlns:a16="http://schemas.microsoft.com/office/drawing/2014/main" id="{0E428F20-6248-4F31-91BE-111F33987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092C201-B10C-4C52-8143-49A51E5544A9}" type="slidenum">
              <a:rPr lang="zh-CN" altLang="en-US" sz="14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EAF7BAB0-45C5-48DF-A37C-83968A18BA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217488"/>
            <a:ext cx="7772400" cy="1366838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3. 数据结构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3.3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数组</a:t>
            </a:r>
          </a:p>
        </p:txBody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369C4A38-0279-4142-A50A-03C7F2D49A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981075"/>
            <a:ext cx="9036050" cy="5688013"/>
          </a:xfrm>
        </p:spPr>
        <p:txBody>
          <a:bodyPr/>
          <a:lstStyle/>
          <a:p>
            <a:pPr marL="285750" indent="-285750"/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数组的种类</a:t>
            </a:r>
          </a:p>
          <a:p>
            <a:pPr marL="862013" lvl="1"/>
            <a:r>
              <a:rPr lang="zh-CN" altLang="en-US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一般数组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，即常规数组</a:t>
            </a:r>
          </a:p>
          <a:p>
            <a:pPr marL="862013" lvl="1"/>
            <a:r>
              <a:rPr lang="zh-CN" altLang="en-US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特殊结构的数组</a:t>
            </a:r>
          </a:p>
          <a:p>
            <a:pPr marL="1333500" lvl="2"/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上三角阵、下三角阵</a:t>
            </a:r>
          </a:p>
          <a:p>
            <a:pPr marL="1333500" lvl="2"/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对称矩阵</a:t>
            </a:r>
          </a:p>
          <a:p>
            <a:pPr marL="1333500" lvl="2"/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对角阵</a:t>
            </a:r>
          </a:p>
          <a:p>
            <a:pPr marL="862013" lvl="1"/>
            <a:r>
              <a:rPr lang="zh-CN" altLang="en-US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稀疏矩阵</a:t>
            </a:r>
          </a:p>
          <a:p>
            <a:pPr marL="1333500" lvl="2"/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/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数组的存储方式</a:t>
            </a:r>
          </a:p>
          <a:p>
            <a:pPr marL="862013" lvl="1"/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顺序存储方式</a:t>
            </a:r>
          </a:p>
          <a:p>
            <a:pPr marL="862013" lvl="1"/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链式存储方式</a:t>
            </a:r>
          </a:p>
          <a:p>
            <a:pPr marL="862013" lvl="1">
              <a:buFontTx/>
              <a:buNone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特殊结构的数组、大型数组、稀疏矩阵通常采用</a:t>
            </a:r>
            <a:r>
              <a:rPr lang="zh-CN" altLang="en-US" sz="24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压缩存储方式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（仅存储非0元素，以节省空间）。</a:t>
            </a:r>
          </a:p>
        </p:txBody>
      </p:sp>
      <p:graphicFrame>
        <p:nvGraphicFramePr>
          <p:cNvPr id="22533" name="Object 5">
            <a:extLst>
              <a:ext uri="{FF2B5EF4-FFF2-40B4-BE49-F238E27FC236}">
                <a16:creationId xmlns:a16="http://schemas.microsoft.com/office/drawing/2014/main" id="{228B842B-4931-4531-8F1F-2442BE7804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51638" y="2246313"/>
          <a:ext cx="2141537" cy="1519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8" name="Equation" r:id="rId4" imgW="1323959" imgH="923911" progId="Equation.DSMT4">
                  <p:embed/>
                </p:oleObj>
              </mc:Choice>
              <mc:Fallback>
                <p:oleObj name="Equation" r:id="rId4" imgW="1323959" imgH="923911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1638" y="2246313"/>
                        <a:ext cx="2141537" cy="1519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4" name="Object 6">
            <a:extLst>
              <a:ext uri="{FF2B5EF4-FFF2-40B4-BE49-F238E27FC236}">
                <a16:creationId xmlns:a16="http://schemas.microsoft.com/office/drawing/2014/main" id="{E975DB53-49B7-4755-9150-902D8BADFF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67225" y="2246313"/>
          <a:ext cx="2052638" cy="1509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9" name="Equation" r:id="rId6" imgW="1276318" imgH="923911" progId="Equation.DSMT4">
                  <p:embed/>
                </p:oleObj>
              </mc:Choice>
              <mc:Fallback>
                <p:oleObj name="Equation" r:id="rId6" imgW="1276318" imgH="923911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7225" y="2246313"/>
                        <a:ext cx="2052638" cy="1509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5" name="Object 7">
            <a:extLst>
              <a:ext uri="{FF2B5EF4-FFF2-40B4-BE49-F238E27FC236}">
                <a16:creationId xmlns:a16="http://schemas.microsoft.com/office/drawing/2014/main" id="{A2C45659-81A3-4154-8D41-DC93625A35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70400" y="3736975"/>
          <a:ext cx="2049463" cy="1509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0" name="Equation" r:id="rId8" imgW="1276318" imgH="923911" progId="Equation.DSMT4">
                  <p:embed/>
                </p:oleObj>
              </mc:Choice>
              <mc:Fallback>
                <p:oleObj name="Equation" r:id="rId8" imgW="1276318" imgH="923911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0400" y="3736975"/>
                        <a:ext cx="2049463" cy="1509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6" name="Object 8">
            <a:extLst>
              <a:ext uri="{FF2B5EF4-FFF2-40B4-BE49-F238E27FC236}">
                <a16:creationId xmlns:a16="http://schemas.microsoft.com/office/drawing/2014/main" id="{3E202214-B8C0-43EF-AACB-DC5FC540AC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64375" y="3789363"/>
          <a:ext cx="1539875" cy="1404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1" name="Equation" r:id="rId10" imgW="971646" imgH="895506" progId="Equation.DSMT4">
                  <p:embed/>
                </p:oleObj>
              </mc:Choice>
              <mc:Fallback>
                <p:oleObj name="Equation" r:id="rId10" imgW="971646" imgH="895506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4375" y="3789363"/>
                        <a:ext cx="1539875" cy="1404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5">
            <a:extLst>
              <a:ext uri="{FF2B5EF4-FFF2-40B4-BE49-F238E27FC236}">
                <a16:creationId xmlns:a16="http://schemas.microsoft.com/office/drawing/2014/main" id="{C4D517C5-DDD0-49B1-A5DA-B3E1ADB18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DF2F95D-AE42-4731-A754-CC969F5A4682}" type="slidenum">
              <a:rPr lang="zh-CN" altLang="en-US" sz="14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0849F917-5581-4A42-875B-C26D7D3A65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217488"/>
            <a:ext cx="7772400" cy="1366838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3. 数据结构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3.3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数组</a:t>
            </a:r>
          </a:p>
        </p:txBody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B4D05BE5-18E2-4238-AE08-9A3A77328E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981075"/>
            <a:ext cx="8856663" cy="5757863"/>
          </a:xfrm>
        </p:spPr>
        <p:txBody>
          <a:bodyPr/>
          <a:lstStyle/>
          <a:p>
            <a:pPr marL="285750" indent="-285750">
              <a:lnSpc>
                <a:spcPct val="90000"/>
              </a:lnSpc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数组的顺序存储</a:t>
            </a:r>
          </a:p>
          <a:p>
            <a:pPr marL="862013" lvl="1">
              <a:lnSpc>
                <a:spcPct val="90000"/>
              </a:lnSpc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不论数组的维数是二维、三维还是多维，数组中的元素都是按一定的排序机制线性存储在计算机内存中。对</a:t>
            </a:r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二维数组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而言，排序的机制有两种：</a:t>
            </a:r>
          </a:p>
          <a:p>
            <a:pPr marL="862013" lvl="1">
              <a:lnSpc>
                <a:spcPct val="90000"/>
              </a:lnSpc>
            </a:pP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62013" lvl="1">
              <a:lnSpc>
                <a:spcPct val="90000"/>
              </a:lnSpc>
            </a:pP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62013" lvl="1">
              <a:lnSpc>
                <a:spcPct val="90000"/>
              </a:lnSpc>
            </a:pP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62013" lvl="1">
              <a:lnSpc>
                <a:spcPct val="90000"/>
              </a:lnSpc>
            </a:pPr>
            <a:r>
              <a:rPr lang="zh-CN" alt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按行优先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顺序存放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00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先排右下标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  <a:p>
            <a:pPr marL="862013" lvl="1">
              <a:lnSpc>
                <a:spcPct val="90000"/>
              </a:lnSpc>
              <a:buFontTx/>
              <a:buNone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      LOC( 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ij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 ) = LOC( 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11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 ) + ( i 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–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 1 ) * n + ( j 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–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 1 )</a:t>
            </a:r>
          </a:p>
          <a:p>
            <a:pPr marL="862013" lvl="1">
              <a:lnSpc>
                <a:spcPct val="90000"/>
              </a:lnSpc>
              <a:buFontTx/>
              <a:buNone/>
            </a:pP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62013" lvl="1">
              <a:lnSpc>
                <a:spcPct val="90000"/>
              </a:lnSpc>
              <a:buFontTx/>
              <a:buNone/>
            </a:pP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62013" lvl="1">
              <a:lnSpc>
                <a:spcPct val="90000"/>
              </a:lnSpc>
            </a:pPr>
            <a:r>
              <a:rPr lang="zh-CN" alt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按列优先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顺序存放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00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先排左下标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  <a:p>
            <a:pPr marL="862013" lvl="1">
              <a:lnSpc>
                <a:spcPct val="90000"/>
              </a:lnSpc>
              <a:buFontTx/>
              <a:buNone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      LOC( 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ij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 ) = LOC( 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11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 ) + ( j 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–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 1 ) * m + ( i 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–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 1 )</a:t>
            </a:r>
          </a:p>
          <a:p>
            <a:pPr marL="862013" lvl="1">
              <a:lnSpc>
                <a:spcPct val="90000"/>
              </a:lnSpc>
            </a:pP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62013" lvl="1">
              <a:lnSpc>
                <a:spcPct val="90000"/>
              </a:lnSpc>
            </a:pP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62013" lvl="1">
              <a:lnSpc>
                <a:spcPct val="90000"/>
              </a:lnSpc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* </a:t>
            </a:r>
            <a:r>
              <a:rPr lang="zh-CN" altLang="en-US" sz="200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对多维数组，其排列的规律是一样的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62013" lvl="1">
              <a:lnSpc>
                <a:spcPct val="90000"/>
              </a:lnSpc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* </a:t>
            </a:r>
            <a:r>
              <a:rPr lang="zh-CN" altLang="en-US" sz="200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对于顺序存储，相当于把数组变换为线性表</a:t>
            </a:r>
            <a:endParaRPr lang="en-US" altLang="zh-CN" sz="2000">
              <a:solidFill>
                <a:srgbClr val="0000C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24581" name="Object 8">
            <a:extLst>
              <a:ext uri="{FF2B5EF4-FFF2-40B4-BE49-F238E27FC236}">
                <a16:creationId xmlns:a16="http://schemas.microsoft.com/office/drawing/2014/main" id="{2B12524A-B679-4A4A-A55B-DAAF62A6F9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30550" y="2054225"/>
          <a:ext cx="1873250" cy="1087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Equation" r:id="rId4" imgW="981251" imgH="466753" progId="Equation.DSMT4">
                  <p:embed/>
                </p:oleObj>
              </mc:Choice>
              <mc:Fallback>
                <p:oleObj name="Equation" r:id="rId4" imgW="981251" imgH="466753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0550" y="2054225"/>
                        <a:ext cx="1873250" cy="1087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2" name="Object 9">
            <a:extLst>
              <a:ext uri="{FF2B5EF4-FFF2-40B4-BE49-F238E27FC236}">
                <a16:creationId xmlns:a16="http://schemas.microsoft.com/office/drawing/2014/main" id="{E2F430C4-4B29-4710-8E85-D2E9A3F910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63775" y="4081463"/>
          <a:ext cx="3876675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Equation" r:id="rId6" imgW="1895651" imgH="237983" progId="Equation.DSMT4">
                  <p:embed/>
                </p:oleObj>
              </mc:Choice>
              <mc:Fallback>
                <p:oleObj name="Equation" r:id="rId6" imgW="1895651" imgH="237983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3775" y="4081463"/>
                        <a:ext cx="3876675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3" name="Object 10">
            <a:extLst>
              <a:ext uri="{FF2B5EF4-FFF2-40B4-BE49-F238E27FC236}">
                <a16:creationId xmlns:a16="http://schemas.microsoft.com/office/drawing/2014/main" id="{B2A73432-6211-45ED-9BA7-0735699C084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2825" y="5495925"/>
          <a:ext cx="387667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Equation" r:id="rId8" imgW="1895651" imgH="237983" progId="Equation.DSMT4">
                  <p:embed/>
                </p:oleObj>
              </mc:Choice>
              <mc:Fallback>
                <p:oleObj name="Equation" r:id="rId8" imgW="1895651" imgH="237983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2825" y="5495925"/>
                        <a:ext cx="3876675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5">
            <a:extLst>
              <a:ext uri="{FF2B5EF4-FFF2-40B4-BE49-F238E27FC236}">
                <a16:creationId xmlns:a16="http://schemas.microsoft.com/office/drawing/2014/main" id="{688609E4-F2E7-4616-99A4-F4A8813CF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3463350-0EA7-43F3-91DC-5242030CF7CD}" type="slidenum">
              <a:rPr lang="zh-CN" altLang="en-US" sz="14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3B79C6B5-AD17-499B-A472-3D1E237BD2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217488"/>
            <a:ext cx="7772400" cy="1366838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3. 数据结构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3.3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数组</a:t>
            </a:r>
          </a:p>
        </p:txBody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0597FBA4-E3F4-43C5-9B51-E9509698A0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981075"/>
            <a:ext cx="8856663" cy="5876925"/>
          </a:xfrm>
        </p:spPr>
        <p:txBody>
          <a:bodyPr/>
          <a:lstStyle/>
          <a:p>
            <a:pPr marL="285750" indent="-285750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数组的顺序存储</a:t>
            </a:r>
          </a:p>
          <a:p>
            <a:pPr marL="862013" lvl="1">
              <a:spcAft>
                <a:spcPct val="20000"/>
              </a:spcAft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特殊矩阵的存储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压缩存储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，不存储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元素等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，自学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P45(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不论如何存储，</a:t>
            </a:r>
            <a:r>
              <a:rPr lang="zh-CN" altLang="en-US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关键是计算元素</a:t>
            </a:r>
            <a:r>
              <a:rPr lang="en-US" altLang="zh-CN" i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i="1" baseline="-25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ij</a:t>
            </a:r>
            <a:r>
              <a:rPr lang="zh-CN" altLang="en-US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的地址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  <a:p>
            <a:pPr marL="862013" lvl="1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例如：</a:t>
            </a:r>
          </a:p>
          <a:p>
            <a:pPr marL="1333500" lvl="2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下三角阵：</a:t>
            </a:r>
          </a:p>
          <a:p>
            <a:pPr marL="1901825" lvl="3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若将非零元素按行优先存放</a:t>
            </a:r>
          </a:p>
          <a:p>
            <a:pPr marL="1901825" lvl="3">
              <a:buFontTx/>
              <a:buNone/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r>
              <a:rPr lang="en-US" altLang="zh-CN" i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baseline="-25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11</a:t>
            </a:r>
            <a:r>
              <a:rPr lang="en-US" altLang="zh-CN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ja-JP" i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baseline="-25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ja-JP" baseline="-25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i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baseline="-25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22</a:t>
            </a:r>
            <a:r>
              <a:rPr lang="en-US" altLang="zh-CN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i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baseline="-25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31</a:t>
            </a:r>
            <a:r>
              <a:rPr lang="en-US" altLang="zh-CN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i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baseline="-25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  <a:r>
              <a:rPr lang="en-US" altLang="zh-CN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i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baseline="-25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33</a:t>
            </a:r>
            <a:r>
              <a:rPr lang="en-US" altLang="zh-CN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,…, </a:t>
            </a:r>
            <a:r>
              <a:rPr lang="en-US" altLang="zh-CN" i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baseline="-25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n1</a:t>
            </a:r>
            <a:r>
              <a:rPr lang="en-US" altLang="zh-CN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i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baseline="-25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n2</a:t>
            </a:r>
            <a:r>
              <a:rPr lang="en-US" altLang="zh-CN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,…, </a:t>
            </a:r>
            <a:r>
              <a:rPr lang="en-US" altLang="zh-CN" i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baseline="-25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nn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1901825" lvl="3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求取非零元素 </a:t>
            </a:r>
            <a:r>
              <a:rPr lang="en-US" altLang="zh-CN" i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i="1" baseline="-25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ij 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的地址如下：</a:t>
            </a:r>
          </a:p>
          <a:p>
            <a:pPr marL="1901825" lvl="3"/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26629" name="Object 27">
            <a:extLst>
              <a:ext uri="{FF2B5EF4-FFF2-40B4-BE49-F238E27FC236}">
                <a16:creationId xmlns:a16="http://schemas.microsoft.com/office/drawing/2014/main" id="{8D74DF8E-FC4A-4ECB-BE15-420FE0466F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83363" y="2851150"/>
          <a:ext cx="2435225" cy="2306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2" name="Equation" r:id="rId3" imgW="1266713" imgH="923911" progId="Equation.DSMT4">
                  <p:embed/>
                </p:oleObj>
              </mc:Choice>
              <mc:Fallback>
                <p:oleObj name="Equation" r:id="rId3" imgW="1266713" imgH="923911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3363" y="2851150"/>
                        <a:ext cx="2435225" cy="2306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0" name="Object 28">
            <a:extLst>
              <a:ext uri="{FF2B5EF4-FFF2-40B4-BE49-F238E27FC236}">
                <a16:creationId xmlns:a16="http://schemas.microsoft.com/office/drawing/2014/main" id="{6F0CCECE-F61C-4E78-8133-15A3C71A2D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54213" y="4722813"/>
          <a:ext cx="4202112" cy="108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3" name="Equation" r:id="rId5" imgW="2524205" imgH="590735" progId="Equation.DSMT4">
                  <p:embed/>
                </p:oleObj>
              </mc:Choice>
              <mc:Fallback>
                <p:oleObj name="Equation" r:id="rId5" imgW="2524205" imgH="590735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4213" y="4722813"/>
                        <a:ext cx="4202112" cy="1082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灯片编号占位符 5">
            <a:extLst>
              <a:ext uri="{FF2B5EF4-FFF2-40B4-BE49-F238E27FC236}">
                <a16:creationId xmlns:a16="http://schemas.microsoft.com/office/drawing/2014/main" id="{C6D89DFA-C0FD-47A4-A64F-E720274F1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B1B3EDE-80EB-489C-A320-01753BE2BB45}" type="slidenum">
              <a:rPr lang="zh-CN" altLang="en-US" sz="14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EC739A5B-9BE5-41F4-82E0-078E32C3F1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217488"/>
            <a:ext cx="7772400" cy="1366838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3. 数据结构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3.3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数组</a:t>
            </a:r>
          </a:p>
        </p:txBody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82AF7072-CC4E-42B5-8840-310C9902B8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981075"/>
            <a:ext cx="8856663" cy="5876925"/>
          </a:xfrm>
        </p:spPr>
        <p:txBody>
          <a:bodyPr/>
          <a:lstStyle/>
          <a:p>
            <a:pPr marL="285750" indent="-285750"/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数组的顺序存储</a:t>
            </a:r>
          </a:p>
          <a:p>
            <a:pPr marL="862013" lvl="1"/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稀疏矩阵的存储</a:t>
            </a:r>
          </a:p>
          <a:p>
            <a:pPr marL="1333500" lvl="2"/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矩阵的应用十分广泛，特别是在科学计算上</a:t>
            </a:r>
          </a:p>
          <a:p>
            <a:pPr marL="1333500" lvl="2"/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随着计算规模的扩大，矩阵的规模也越来越大</a:t>
            </a:r>
          </a:p>
          <a:p>
            <a:pPr marL="1333500" lvl="2"/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有时，矩阵的规模虽然大（矩阵的数据元素的数目很大），但非0元素所占的比例却很小，有的甚至只有0元素的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％－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％ </a:t>
            </a:r>
          </a:p>
          <a:p>
            <a:pPr marL="1333500" lvl="2"/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非0元素称为</a:t>
            </a:r>
            <a:r>
              <a:rPr lang="zh-CN" alt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有效元素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，0元素称为</a:t>
            </a:r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空元素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或者</a:t>
            </a:r>
            <a:r>
              <a:rPr lang="zh-CN" alt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无效元素</a:t>
            </a:r>
          </a:p>
          <a:p>
            <a:pPr marL="1333500" lvl="2"/>
            <a:r>
              <a:rPr lang="zh-CN" alt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有效元素的数目远小于空元素的数目，这样的矩阵称为稀疏矩阵</a:t>
            </a:r>
          </a:p>
          <a:p>
            <a:pPr marL="1333500" lvl="2"/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为了节省存储空间，可以只存储有效元素，从而避免由于大量空元素进行的无意义的操作和运算</a:t>
            </a:r>
          </a:p>
          <a:p>
            <a:pPr marL="1333500" lvl="2"/>
            <a:r>
              <a:rPr lang="zh-CN" alt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需要解决的问题</a:t>
            </a:r>
          </a:p>
          <a:p>
            <a:pPr marL="1901825" lvl="3"/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如何存储数据元素</a:t>
            </a:r>
          </a:p>
          <a:p>
            <a:pPr marL="1901825" lvl="3"/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如何进行运算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灯片编号占位符 5">
            <a:extLst>
              <a:ext uri="{FF2B5EF4-FFF2-40B4-BE49-F238E27FC236}">
                <a16:creationId xmlns:a16="http://schemas.microsoft.com/office/drawing/2014/main" id="{2FDD1609-0A99-4A70-81A6-F2B3528DA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6CDE162-35E3-495A-BF09-3E1D283E2455}" type="slidenum">
              <a:rPr lang="zh-CN" altLang="en-US" sz="14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F5FF3C2F-2369-4402-9910-3A8F6F7B46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217488"/>
            <a:ext cx="7772400" cy="1366838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3. 数据结构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3.3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数组</a:t>
            </a:r>
          </a:p>
        </p:txBody>
      </p:sp>
      <p:sp>
        <p:nvSpPr>
          <p:cNvPr id="5125" name="Rectangle 3">
            <a:extLst>
              <a:ext uri="{FF2B5EF4-FFF2-40B4-BE49-F238E27FC236}">
                <a16:creationId xmlns:a16="http://schemas.microsoft.com/office/drawing/2014/main" id="{2AC0400F-A766-4863-B6FE-385B0F5BEC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1050925"/>
            <a:ext cx="5903913" cy="5876925"/>
          </a:xfrm>
          <a:ln>
            <a:solidFill>
              <a:schemeClr val="accent1"/>
            </a:solidFill>
          </a:ln>
        </p:spPr>
        <p:txBody>
          <a:bodyPr>
            <a:normAutofit fontScale="92500" lnSpcReduction="10000"/>
          </a:bodyPr>
          <a:lstStyle/>
          <a:p>
            <a:pPr marL="285750" indent="-285750">
              <a:lnSpc>
                <a:spcPct val="80000"/>
              </a:lnSpc>
              <a:defRPr/>
            </a:pPr>
            <a:r>
              <a:rPr lang="zh-CN" altLang="en-US" sz="2800" dirty="0">
                <a:latin typeface="宋体" pitchFamily="2" charset="-122"/>
                <a:ea typeface="宋体" pitchFamily="2" charset="-122"/>
              </a:rPr>
              <a:t>用</a:t>
            </a:r>
            <a:r>
              <a:rPr lang="zh-CN" altLang="en-US" sz="2800" dirty="0">
                <a:solidFill>
                  <a:schemeClr val="tx2"/>
                </a:solidFill>
                <a:latin typeface="宋体" pitchFamily="2" charset="-122"/>
                <a:ea typeface="宋体" pitchFamily="2" charset="-122"/>
              </a:rPr>
              <a:t>三元组</a:t>
            </a:r>
            <a:r>
              <a:rPr lang="zh-CN" altLang="en-US" sz="2800" dirty="0">
                <a:latin typeface="宋体" pitchFamily="2" charset="-122"/>
                <a:ea typeface="宋体" pitchFamily="2" charset="-122"/>
              </a:rPr>
              <a:t>表示稀疏矩阵</a:t>
            </a:r>
          </a:p>
          <a:p>
            <a:pPr marL="862013" lvl="1">
              <a:buFontTx/>
              <a:buNone/>
              <a:defRPr/>
            </a:pPr>
            <a:r>
              <a:rPr lang="zh-CN" altLang="en-US" sz="2000" dirty="0">
                <a:latin typeface="宋体" pitchFamily="2" charset="-122"/>
                <a:ea typeface="宋体" pitchFamily="2" charset="-122"/>
              </a:rPr>
              <a:t>在矩阵中，我们不仅要知道一个数据元素的值，还要知道它的位置。</a:t>
            </a:r>
            <a:endParaRPr lang="en-US" altLang="zh-CN" sz="2000" dirty="0">
              <a:latin typeface="宋体" pitchFamily="2" charset="-122"/>
              <a:ea typeface="宋体" pitchFamily="2" charset="-122"/>
            </a:endParaRPr>
          </a:p>
          <a:p>
            <a:pPr marL="862013" lvl="1">
              <a:buFontTx/>
              <a:buNone/>
              <a:defRPr/>
            </a:pPr>
            <a:r>
              <a:rPr lang="zh-CN" altLang="en-US" sz="2000" dirty="0">
                <a:latin typeface="宋体" pitchFamily="2" charset="-122"/>
                <a:ea typeface="宋体" pitchFamily="2" charset="-122"/>
              </a:rPr>
              <a:t>在稀疏矩阵的存储中，</a:t>
            </a:r>
            <a:r>
              <a:rPr lang="zh-CN" altLang="en-US" sz="2000" dirty="0">
                <a:solidFill>
                  <a:schemeClr val="tx2"/>
                </a:solidFill>
                <a:latin typeface="宋体" pitchFamily="2" charset="-122"/>
                <a:ea typeface="宋体" pitchFamily="2" charset="-122"/>
              </a:rPr>
              <a:t>对行列信息的不同处理方式，构成了不同的存储方式</a:t>
            </a:r>
            <a:r>
              <a:rPr lang="zh-CN" altLang="en-US" sz="2000" dirty="0">
                <a:latin typeface="宋体" pitchFamily="2" charset="-122"/>
                <a:ea typeface="宋体" pitchFamily="2" charset="-122"/>
              </a:rPr>
              <a:t>。</a:t>
            </a:r>
            <a:endParaRPr lang="en-US" altLang="zh-CN" sz="2000" dirty="0">
              <a:latin typeface="宋体" pitchFamily="2" charset="-122"/>
              <a:ea typeface="宋体" pitchFamily="2" charset="-122"/>
            </a:endParaRPr>
          </a:p>
          <a:p>
            <a:pPr marL="862013" lvl="1">
              <a:defRPr/>
            </a:pPr>
            <a:r>
              <a:rPr lang="zh-CN" altLang="en-US" sz="2000" dirty="0">
                <a:latin typeface="宋体" pitchFamily="2" charset="-122"/>
                <a:ea typeface="宋体" pitchFamily="2" charset="-122"/>
              </a:rPr>
              <a:t>用（行号，列号，值）三元组的形式表示一个数组元素</a:t>
            </a:r>
          </a:p>
          <a:p>
            <a:pPr marL="862013" lvl="1">
              <a:defRPr/>
            </a:pPr>
            <a:r>
              <a:rPr lang="zh-CN" altLang="en-US" sz="2000" dirty="0">
                <a:solidFill>
                  <a:schemeClr val="tx2"/>
                </a:solidFill>
                <a:latin typeface="宋体" pitchFamily="2" charset="-122"/>
                <a:ea typeface="宋体" pitchFamily="2" charset="-122"/>
              </a:rPr>
              <a:t>三元组的实质是一个线性表</a:t>
            </a:r>
            <a:r>
              <a:rPr lang="zh-CN" altLang="en-US" sz="2000" dirty="0">
                <a:latin typeface="宋体" pitchFamily="2" charset="-122"/>
                <a:ea typeface="宋体" pitchFamily="2" charset="-122"/>
              </a:rPr>
              <a:t>，每个三元组中的元素由三个数据项构成，分别存储所占行号、列号和相应的值</a:t>
            </a:r>
          </a:p>
          <a:p>
            <a:pPr marL="862013" lvl="1">
              <a:defRPr/>
            </a:pPr>
            <a:r>
              <a:rPr lang="zh-CN" altLang="en-US" sz="2000" dirty="0">
                <a:latin typeface="宋体" pitchFamily="2" charset="-122"/>
                <a:ea typeface="宋体" pitchFamily="2" charset="-122"/>
              </a:rPr>
              <a:t>采用行优先的顺序存储矩阵中的非零元素</a:t>
            </a:r>
            <a:endParaRPr lang="en-US" altLang="zh-CN" sz="2000" dirty="0">
              <a:latin typeface="宋体" pitchFamily="2" charset="-122"/>
              <a:ea typeface="宋体" pitchFamily="2" charset="-122"/>
            </a:endParaRPr>
          </a:p>
          <a:p>
            <a:pPr marL="862013" lvl="1">
              <a:defRPr/>
            </a:pPr>
            <a:r>
              <a:rPr lang="zh-CN" altLang="en-US" sz="2000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如果稀疏矩阵的一个数据元素所占用的存储单元的数目为 </a:t>
            </a:r>
            <a:r>
              <a:rPr lang="en-US" altLang="zh-CN" sz="2000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S bytes，</a:t>
            </a:r>
            <a:r>
              <a:rPr lang="zh-CN" altLang="en-US" sz="2000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行号和列号分别占用 4 </a:t>
            </a:r>
            <a:r>
              <a:rPr lang="en-US" altLang="zh-CN" sz="2000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bytes，</a:t>
            </a:r>
            <a:r>
              <a:rPr lang="zh-CN" altLang="en-US" sz="2000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则存储一个稀疏矩阵的元素需要占用 (4 </a:t>
            </a:r>
            <a:r>
              <a:rPr lang="en-US" altLang="zh-CN" sz="2000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+4+S) bytes;</a:t>
            </a:r>
          </a:p>
          <a:p>
            <a:pPr marL="862013" lvl="1">
              <a:defRPr/>
            </a:pPr>
            <a:r>
              <a:rPr lang="zh-CN" altLang="en-US" sz="2000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假设一个 </a:t>
            </a:r>
            <a:r>
              <a:rPr lang="en-US" altLang="zh-CN" sz="2000" dirty="0" err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m×n</a:t>
            </a:r>
            <a:r>
              <a:rPr lang="en-US" altLang="zh-CN" sz="2000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</a:t>
            </a:r>
            <a:r>
              <a:rPr lang="zh-CN" altLang="en-US" sz="2000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的稀疏矩阵的有效元素个数为 </a:t>
            </a:r>
            <a:r>
              <a:rPr lang="en-US" altLang="zh-CN" sz="2000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N，</a:t>
            </a:r>
            <a:r>
              <a:rPr lang="zh-CN" altLang="en-US" sz="2000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则所占用的三元组线性表的存储空间为 </a:t>
            </a:r>
            <a:r>
              <a:rPr lang="en-US" altLang="zh-CN" sz="2000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:</a:t>
            </a:r>
            <a:r>
              <a:rPr lang="zh-CN" altLang="en-US" sz="2000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</a:t>
            </a:r>
            <a:r>
              <a:rPr lang="en-US" altLang="zh-CN" sz="2000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 = N*(4+</a:t>
            </a:r>
            <a:r>
              <a:rPr lang="zh-CN" altLang="en-US" sz="2000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4 </a:t>
            </a:r>
            <a:r>
              <a:rPr lang="en-US" altLang="zh-CN" sz="2000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+S) bytes；</a:t>
            </a:r>
            <a:r>
              <a:rPr lang="zh-CN" altLang="en-US" sz="2000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如果 </a:t>
            </a:r>
            <a:r>
              <a:rPr lang="en-US" altLang="zh-CN" sz="2000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 &lt; S*(m*n)，</a:t>
            </a:r>
            <a:r>
              <a:rPr lang="zh-CN" altLang="en-US" sz="2000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用三元组的形式存储稀疏矩阵才有意义</a:t>
            </a:r>
          </a:p>
        </p:txBody>
      </p:sp>
      <p:graphicFrame>
        <p:nvGraphicFramePr>
          <p:cNvPr id="29701" name="Object 40">
            <a:extLst>
              <a:ext uri="{FF2B5EF4-FFF2-40B4-BE49-F238E27FC236}">
                <a16:creationId xmlns:a16="http://schemas.microsoft.com/office/drawing/2014/main" id="{A867E798-94CE-45B8-888C-A33CC66ACB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97600" y="1298575"/>
          <a:ext cx="2647950" cy="227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9" name="Equation" r:id="rId4" imgW="1343169" imgH="1123893" progId="Equation.DSMT4">
                  <p:embed/>
                </p:oleObj>
              </mc:Choice>
              <mc:Fallback>
                <p:oleObj name="Equation" r:id="rId4" imgW="1343169" imgH="1123893" progId="Equation.DSMT4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7600" y="1298575"/>
                        <a:ext cx="2647950" cy="2274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620" name="Group 108">
            <a:extLst>
              <a:ext uri="{FF2B5EF4-FFF2-40B4-BE49-F238E27FC236}">
                <a16:creationId xmlns:a16="http://schemas.microsoft.com/office/drawing/2014/main" id="{E1A425A5-BDF7-4712-ACFA-B4A75EDE7D60}"/>
              </a:ext>
            </a:extLst>
          </p:cNvPr>
          <p:cNvGraphicFramePr>
            <a:graphicFrameLocks noGrp="1"/>
          </p:cNvGraphicFramePr>
          <p:nvPr/>
        </p:nvGraphicFramePr>
        <p:xfrm>
          <a:off x="6300788" y="3949700"/>
          <a:ext cx="2592387" cy="2351090"/>
        </p:xfrm>
        <a:graphic>
          <a:graphicData uri="http://schemas.openxmlformats.org/drawingml/2006/table">
            <a:tbl>
              <a:tblPr/>
              <a:tblGrid>
                <a:gridCol w="86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5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行号 </a:t>
                      </a:r>
                      <a:r>
                        <a:rPr kumimoji="0" lang="en-US" altLang="zh-CN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列号 </a:t>
                      </a: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j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值 </a:t>
                      </a: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value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AutoShape 4">
            <a:extLst>
              <a:ext uri="{FF2B5EF4-FFF2-40B4-BE49-F238E27FC236}">
                <a16:creationId xmlns:a16="http://schemas.microsoft.com/office/drawing/2014/main" id="{1CE05E9F-E364-4705-BFA9-B7232F6714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0063" y="4003675"/>
            <a:ext cx="215900" cy="217488"/>
          </a:xfrm>
          <a:prstGeom prst="irregularSeal1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AutoShape 5">
            <a:hlinkHover r:id="" action="ppaction://noaction" highlightClick="1"/>
            <a:extLst>
              <a:ext uri="{FF2B5EF4-FFF2-40B4-BE49-F238E27FC236}">
                <a16:creationId xmlns:a16="http://schemas.microsoft.com/office/drawing/2014/main" id="{398A3F04-6329-4D1F-A384-67363BA27B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9563" y="115888"/>
            <a:ext cx="2809875" cy="1312862"/>
          </a:xfrm>
          <a:prstGeom prst="cloudCallout">
            <a:avLst>
              <a:gd name="adj1" fmla="val -21074"/>
              <a:gd name="adj2" fmla="val 66398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t>特点：</a:t>
            </a:r>
            <a:endParaRPr lang="en-US" altLang="zh-CN" sz="140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t>行号按升序排列，</a:t>
            </a:r>
            <a:endParaRPr lang="en-US" altLang="zh-CN" sz="140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t>行号相同的条件下，列号按升序排列。</a:t>
            </a:r>
            <a:endParaRPr lang="en-US" altLang="zh-CN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 nodeType="clickPar">
                      <p:stCondLst>
                        <p:cond delay="0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8" grpId="0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7">
            <a:extLst>
              <a:ext uri="{FF2B5EF4-FFF2-40B4-BE49-F238E27FC236}">
                <a16:creationId xmlns:a16="http://schemas.microsoft.com/office/drawing/2014/main" id="{762AF8B9-0F50-4D70-A3B3-DA2C6E385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E32D948-F217-4DBB-989C-32D821B03E2E}" type="slidenum">
              <a:rPr lang="zh-CN" altLang="en-US" sz="14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54449AEB-1BE2-46A4-8796-41F1897F95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66675"/>
            <a:ext cx="7772400" cy="914400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3. 数据结构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3.3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数组</a:t>
            </a:r>
          </a:p>
        </p:txBody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217B5B96-C528-465B-B905-AD892F07B3E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07950" y="1098550"/>
            <a:ext cx="6335713" cy="5688013"/>
          </a:xfrm>
        </p:spPr>
        <p:txBody>
          <a:bodyPr/>
          <a:lstStyle/>
          <a:p>
            <a:pPr marL="285750" indent="-285750">
              <a:lnSpc>
                <a:spcPct val="80000"/>
              </a:lnSpc>
              <a:spcBef>
                <a:spcPct val="0"/>
              </a:spcBef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用三元组表示稀疏矩阵</a:t>
            </a:r>
          </a:p>
          <a:p>
            <a:pPr marL="862013" lvl="1">
              <a:lnSpc>
                <a:spcPct val="80000"/>
              </a:lnSpc>
              <a:spcBef>
                <a:spcPct val="0"/>
              </a:spcBef>
            </a:pPr>
            <a:r>
              <a:rPr lang="zh-CN" altLang="en-US" sz="20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当访问稀疏矩阵中的元素时，要先查三元组线性表的行号，再查相应的列号</a:t>
            </a:r>
          </a:p>
          <a:p>
            <a:pPr marL="862013" lvl="1">
              <a:lnSpc>
                <a:spcPct val="80000"/>
              </a:lnSpc>
              <a:spcBef>
                <a:spcPct val="0"/>
              </a:spcBef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以矩阵的转置运算为例，说明如何访问三元组形式的稀疏矩阵</a:t>
            </a:r>
          </a:p>
          <a:p>
            <a:pPr marL="862013" lvl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TransMatrix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 A, B )</a:t>
            </a:r>
          </a:p>
          <a:p>
            <a:pPr marL="862013" lvl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if ( N ≠ 0 ) then {</a:t>
            </a:r>
          </a:p>
          <a:p>
            <a:pPr marL="862013" lvl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q 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← 1   // q 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为转置以后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的三元组的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行号</a:t>
            </a:r>
          </a:p>
          <a:p>
            <a:pPr marL="862013" lvl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       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for col = 1 to n</a:t>
            </a:r>
          </a:p>
          <a:p>
            <a:pPr marL="862013" lvl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          for p = 1 to N</a:t>
            </a:r>
          </a:p>
          <a:p>
            <a:pPr marL="862013" lvl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if A[p].j = col then {</a:t>
            </a:r>
          </a:p>
          <a:p>
            <a:pPr marL="862013" lvl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B[q].</a:t>
            </a: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 ← A[p].j</a:t>
            </a:r>
          </a:p>
          <a:p>
            <a:pPr marL="862013" lvl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B[q].j ← A[p].</a:t>
            </a: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62013" lvl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B[q].value ← A[p].value</a:t>
            </a:r>
          </a:p>
          <a:p>
            <a:pPr marL="862013" lvl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</a:t>
            </a:r>
            <a:r>
              <a:rPr lang="en-US" altLang="zh-CN" sz="18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q = q + 1</a:t>
            </a:r>
          </a:p>
          <a:p>
            <a:pPr marL="862013" lvl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}</a:t>
            </a:r>
          </a:p>
          <a:p>
            <a:pPr marL="862013" lvl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          end( p )</a:t>
            </a:r>
          </a:p>
          <a:p>
            <a:pPr marL="862013" lvl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       end(col)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62013" lvl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}</a:t>
            </a:r>
          </a:p>
          <a:p>
            <a:pPr marL="862013" lvl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return</a:t>
            </a:r>
          </a:p>
          <a:p>
            <a:pPr marL="862013" lvl="1">
              <a:lnSpc>
                <a:spcPct val="80000"/>
              </a:lnSpc>
              <a:spcBef>
                <a:spcPct val="0"/>
              </a:spcBef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为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m×n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的稀疏矩阵，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为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n×m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的稀疏矩阵</a:t>
            </a:r>
          </a:p>
        </p:txBody>
      </p:sp>
      <p:graphicFrame>
        <p:nvGraphicFramePr>
          <p:cNvPr id="65660" name="Group 124">
            <a:extLst>
              <a:ext uri="{FF2B5EF4-FFF2-40B4-BE49-F238E27FC236}">
                <a16:creationId xmlns:a16="http://schemas.microsoft.com/office/drawing/2014/main" id="{F25BB024-0E24-4530-996E-CF9C5898CF4F}"/>
              </a:ext>
            </a:extLst>
          </p:cNvPr>
          <p:cNvGraphicFramePr>
            <a:graphicFrameLocks noGrp="1"/>
          </p:cNvGraphicFramePr>
          <p:nvPr>
            <p:ph sz="quarter" idx="2"/>
          </p:nvPr>
        </p:nvGraphicFramePr>
        <p:xfrm>
          <a:off x="6588125" y="3429000"/>
          <a:ext cx="2447925" cy="2773386"/>
        </p:xfrm>
        <a:graphic>
          <a:graphicData uri="http://schemas.openxmlformats.org/drawingml/2006/table">
            <a:tbl>
              <a:tblPr/>
              <a:tblGrid>
                <a:gridCol w="815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5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5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907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行号 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699" marB="45699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列号 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j</a:t>
                      </a:r>
                    </a:p>
                  </a:txBody>
                  <a:tcPr marT="45699" marB="45699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值 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value</a:t>
                      </a:r>
                    </a:p>
                  </a:txBody>
                  <a:tcPr marT="45699" marB="45699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1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699" marB="456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1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699" marB="456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1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699" marB="456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1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699" marB="456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1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699" marB="456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1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699" marB="456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65661" name="Group 125">
            <a:extLst>
              <a:ext uri="{FF2B5EF4-FFF2-40B4-BE49-F238E27FC236}">
                <a16:creationId xmlns:a16="http://schemas.microsoft.com/office/drawing/2014/main" id="{5C8E06DA-6D75-4D46-8E1D-19420D9FBAB4}"/>
              </a:ext>
            </a:extLst>
          </p:cNvPr>
          <p:cNvGraphicFramePr>
            <a:graphicFrameLocks noGrp="1"/>
          </p:cNvGraphicFramePr>
          <p:nvPr>
            <p:ph sz="quarter" idx="3"/>
          </p:nvPr>
        </p:nvGraphicFramePr>
        <p:xfrm>
          <a:off x="6588125" y="419100"/>
          <a:ext cx="2447925" cy="2773386"/>
        </p:xfrm>
        <a:graphic>
          <a:graphicData uri="http://schemas.openxmlformats.org/drawingml/2006/table">
            <a:tbl>
              <a:tblPr/>
              <a:tblGrid>
                <a:gridCol w="766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97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907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行号 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</a:t>
                      </a:r>
                    </a:p>
                  </a:txBody>
                  <a:tcPr marT="45699" marB="4569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列号 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j</a:t>
                      </a:r>
                    </a:p>
                  </a:txBody>
                  <a:tcPr marT="45699" marB="4569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值 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value</a:t>
                      </a:r>
                    </a:p>
                  </a:txBody>
                  <a:tcPr marT="45699" marB="4569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1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699" marB="456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1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699" marB="456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1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T="45699" marB="456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-1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1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T="45699" marB="456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-1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1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T="45699" marB="456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-2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1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T="45699" marB="456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灯片编号占位符 5">
            <a:extLst>
              <a:ext uri="{FF2B5EF4-FFF2-40B4-BE49-F238E27FC236}">
                <a16:creationId xmlns:a16="http://schemas.microsoft.com/office/drawing/2014/main" id="{CFD4B2D6-D5B2-4E33-864B-627AC4A4B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5C72865-329D-4A5A-A72F-44CBF398C78C}" type="slidenum">
              <a:rPr lang="zh-CN" altLang="en-US" sz="14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38A181A2-D001-471E-909C-4B068FBE22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217488"/>
            <a:ext cx="7772400" cy="1366838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3. 数据结构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3.3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数组</a:t>
            </a:r>
          </a:p>
        </p:txBody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0CBAA43E-B2B6-47AA-B652-6284841866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4925" y="1052513"/>
            <a:ext cx="9109075" cy="3467100"/>
          </a:xfrm>
        </p:spPr>
        <p:txBody>
          <a:bodyPr/>
          <a:lstStyle/>
          <a:p>
            <a:pPr marL="285750" indent="-285750">
              <a:lnSpc>
                <a:spcPct val="80000"/>
              </a:lnSpc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用带辅助向量的三元组表示稀疏矩阵</a:t>
            </a:r>
          </a:p>
          <a:p>
            <a:pPr marL="862013" lvl="1">
              <a:lnSpc>
                <a:spcPct val="80000"/>
              </a:lnSpc>
            </a:pPr>
            <a:r>
              <a:rPr lang="zh-CN" alt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为了减少在三元组中查找行号的运算，增加两个辅助向量：一个是</a:t>
            </a:r>
            <a:r>
              <a:rPr lang="en-US" altLang="zh-CN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Pos</a:t>
            </a:r>
            <a:r>
              <a:rPr lang="zh-CN" alt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向量，</a:t>
            </a:r>
            <a:r>
              <a:rPr lang="en-US" altLang="zh-CN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Pos(i)</a:t>
            </a:r>
            <a:r>
              <a:rPr lang="zh-CN" alt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表示稀疏矩阵中第 </a:t>
            </a:r>
            <a:r>
              <a:rPr lang="en-US" altLang="zh-CN" sz="2000" i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000" i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行的第一个有效元素在三元组中的行号；一个是</a:t>
            </a:r>
            <a:r>
              <a:rPr lang="en-US" altLang="zh-CN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Num</a:t>
            </a:r>
            <a:r>
              <a:rPr lang="zh-CN" alt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向量，</a:t>
            </a:r>
            <a:r>
              <a:rPr lang="en-US" altLang="zh-CN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Num(i)</a:t>
            </a:r>
            <a:r>
              <a:rPr lang="zh-CN" alt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表示稀疏矩阵中第 </a:t>
            </a:r>
            <a:r>
              <a:rPr lang="en-US" altLang="zh-CN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 </a:t>
            </a:r>
            <a:r>
              <a:rPr lang="zh-CN" alt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行的有效元素的个数</a:t>
            </a:r>
          </a:p>
          <a:p>
            <a:pPr marL="862013" lvl="1">
              <a:lnSpc>
                <a:spcPct val="80000"/>
              </a:lnSpc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Pos(1) = 1</a:t>
            </a:r>
          </a:p>
          <a:p>
            <a:pPr marL="862013" lvl="1">
              <a:lnSpc>
                <a:spcPct val="80000"/>
              </a:lnSpc>
            </a:pPr>
            <a:r>
              <a:rPr lang="en-US" altLang="zh-CN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Pos(i) = Pos(i-1) + Num(i-1),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 2 ≤ i ≤ m</a:t>
            </a:r>
          </a:p>
          <a:p>
            <a:pPr marL="862013" lvl="1">
              <a:lnSpc>
                <a:spcPct val="80000"/>
              </a:lnSpc>
            </a:pPr>
            <a:r>
              <a:rPr lang="en-US" altLang="zh-CN" sz="200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Pos(i+1) - Pos(i) = Num(i), </a:t>
            </a:r>
            <a:r>
              <a:rPr lang="zh-CN" alt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稀疏矩阵第 </a:t>
            </a:r>
            <a:r>
              <a:rPr lang="en-US" altLang="zh-CN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 </a:t>
            </a:r>
            <a:r>
              <a:rPr lang="zh-CN" alt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行中有效元素的个数</a:t>
            </a:r>
          </a:p>
          <a:p>
            <a:pPr marL="862013" lvl="1">
              <a:lnSpc>
                <a:spcPct val="80000"/>
              </a:lnSpc>
            </a:pPr>
            <a:r>
              <a:rPr lang="en-US" altLang="zh-CN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Pos(i) = Pos(i+1)，</a:t>
            </a:r>
            <a:r>
              <a:rPr lang="zh-CN" alt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意味着稀疏矩阵第 </a:t>
            </a:r>
            <a:r>
              <a:rPr lang="en-US" altLang="zh-CN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 </a:t>
            </a:r>
            <a:r>
              <a:rPr lang="zh-CN" alt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行中有效元素的个数是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 0</a:t>
            </a:r>
          </a:p>
          <a:p>
            <a:pPr marL="862013" lvl="1">
              <a:lnSpc>
                <a:spcPct val="80000"/>
              </a:lnSpc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运算操作，参见 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P48-49</a:t>
            </a:r>
          </a:p>
          <a:p>
            <a:pPr marL="862013" lvl="1">
              <a:lnSpc>
                <a:spcPct val="80000"/>
              </a:lnSpc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带辅助向量的三元组表示法，可以省去行的查找过程，运算时较快，存储空间增加也不多（只有两个长度为 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m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的向量）</a:t>
            </a:r>
          </a:p>
          <a:p>
            <a:pPr marL="862013" lvl="1">
              <a:lnSpc>
                <a:spcPct val="80000"/>
              </a:lnSpc>
            </a:pP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66904" name="Group 344">
            <a:extLst>
              <a:ext uri="{FF2B5EF4-FFF2-40B4-BE49-F238E27FC236}">
                <a16:creationId xmlns:a16="http://schemas.microsoft.com/office/drawing/2014/main" id="{3BE842D6-AF18-45CB-BAAA-02D1C73762D3}"/>
              </a:ext>
            </a:extLst>
          </p:cNvPr>
          <p:cNvGraphicFramePr>
            <a:graphicFrameLocks noGrp="1"/>
          </p:cNvGraphicFramePr>
          <p:nvPr/>
        </p:nvGraphicFramePr>
        <p:xfrm>
          <a:off x="5741988" y="4327525"/>
          <a:ext cx="2743200" cy="2341565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行号 </a:t>
                      </a: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列号 </a:t>
                      </a: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j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值 </a:t>
                      </a: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value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66907" name="Group 347">
            <a:extLst>
              <a:ext uri="{FF2B5EF4-FFF2-40B4-BE49-F238E27FC236}">
                <a16:creationId xmlns:a16="http://schemas.microsoft.com/office/drawing/2014/main" id="{43E3FE0F-34A8-49A1-8308-9DBA19D95604}"/>
              </a:ext>
            </a:extLst>
          </p:cNvPr>
          <p:cNvGraphicFramePr>
            <a:graphicFrameLocks noGrp="1"/>
          </p:cNvGraphicFramePr>
          <p:nvPr/>
        </p:nvGraphicFramePr>
        <p:xfrm>
          <a:off x="3227388" y="4497388"/>
          <a:ext cx="1981200" cy="2011380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22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行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695" marB="4569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Num</a:t>
                      </a:r>
                    </a:p>
                  </a:txBody>
                  <a:tcPr marT="45695" marB="4569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Pos</a:t>
                      </a:r>
                    </a:p>
                  </a:txBody>
                  <a:tcPr marT="45695" marB="4569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2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695" marB="4569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2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T="45695" marB="4569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2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T="45695" marB="4569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2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T="45695" marB="4569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2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T="45695" marB="4569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33865" name="Group 345">
            <a:extLst>
              <a:ext uri="{FF2B5EF4-FFF2-40B4-BE49-F238E27FC236}">
                <a16:creationId xmlns:a16="http://schemas.microsoft.com/office/drawing/2014/main" id="{239A554F-3C9A-4A18-BCFB-95C73C00C318}"/>
              </a:ext>
            </a:extLst>
          </p:cNvPr>
          <p:cNvGrpSpPr>
            <a:grpSpLocks/>
          </p:cNvGrpSpPr>
          <p:nvPr/>
        </p:nvGrpSpPr>
        <p:grpSpPr bwMode="auto">
          <a:xfrm>
            <a:off x="5208588" y="4878388"/>
            <a:ext cx="660400" cy="1657350"/>
            <a:chOff x="3408" y="2640"/>
            <a:chExt cx="416" cy="1044"/>
          </a:xfrm>
        </p:grpSpPr>
        <p:sp>
          <p:nvSpPr>
            <p:cNvPr id="33867" name="Line 241">
              <a:extLst>
                <a:ext uri="{FF2B5EF4-FFF2-40B4-BE49-F238E27FC236}">
                  <a16:creationId xmlns:a16="http://schemas.microsoft.com/office/drawing/2014/main" id="{73309F8A-3DFA-46E8-8564-4C6FFF1356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08" y="2640"/>
              <a:ext cx="384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68" name="Line 242">
              <a:extLst>
                <a:ext uri="{FF2B5EF4-FFF2-40B4-BE49-F238E27FC236}">
                  <a16:creationId xmlns:a16="http://schemas.microsoft.com/office/drawing/2014/main" id="{06DAC121-E644-42A2-8873-CAB1884E9B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2928"/>
              <a:ext cx="403" cy="1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69" name="Line 243">
              <a:extLst>
                <a:ext uri="{FF2B5EF4-FFF2-40B4-BE49-F238E27FC236}">
                  <a16:creationId xmlns:a16="http://schemas.microsoft.com/office/drawing/2014/main" id="{50CFBA49-7FF7-4657-BE1F-30DD798F81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3120"/>
              <a:ext cx="403" cy="1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70" name="Line 244">
              <a:extLst>
                <a:ext uri="{FF2B5EF4-FFF2-40B4-BE49-F238E27FC236}">
                  <a16:creationId xmlns:a16="http://schemas.microsoft.com/office/drawing/2014/main" id="{7C374A03-9854-48B1-910F-E789DCF291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3" y="3356"/>
              <a:ext cx="401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71" name="Line 245">
              <a:extLst>
                <a:ext uri="{FF2B5EF4-FFF2-40B4-BE49-F238E27FC236}">
                  <a16:creationId xmlns:a16="http://schemas.microsoft.com/office/drawing/2014/main" id="{187E9E15-281C-488D-80CF-757734163F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3552"/>
              <a:ext cx="396" cy="1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33866" name="Object 346">
            <a:extLst>
              <a:ext uri="{FF2B5EF4-FFF2-40B4-BE49-F238E27FC236}">
                <a16:creationId xmlns:a16="http://schemas.microsoft.com/office/drawing/2014/main" id="{A4A32A9D-9D08-4AB8-B053-66461F826E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6550" y="4486275"/>
          <a:ext cx="2579688" cy="221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3" name="Equation" r:id="rId3" imgW="1343169" imgH="1123893" progId="Equation.DSMT4">
                  <p:embed/>
                </p:oleObj>
              </mc:Choice>
              <mc:Fallback>
                <p:oleObj name="Equation" r:id="rId3" imgW="1343169" imgH="1123893" progId="Equation.DSMT4">
                  <p:embed/>
                  <p:pic>
                    <p:nvPicPr>
                      <p:cNvPr id="0" name="Object 3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550" y="4486275"/>
                        <a:ext cx="2579688" cy="221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6">
            <a:extLst>
              <a:ext uri="{FF2B5EF4-FFF2-40B4-BE49-F238E27FC236}">
                <a16:creationId xmlns:a16="http://schemas.microsoft.com/office/drawing/2014/main" id="{7D5F1D87-F98B-49E8-BD64-0ACF8EC8B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A8A42F0-8835-4AA4-99F7-A0A890C24AB9}" type="slidenum">
              <a:rPr lang="zh-CN" altLang="en-US" sz="14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5C6CA3C3-5B99-4A72-9F9A-A94F09E345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2700"/>
            <a:ext cx="7772400" cy="914400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3. 数据结构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3.3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数组</a:t>
            </a:r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5240C779-C13C-4524-9351-DFC5504E7AA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22238" y="968375"/>
            <a:ext cx="9021762" cy="3540125"/>
          </a:xfrm>
        </p:spPr>
        <p:txBody>
          <a:bodyPr/>
          <a:lstStyle/>
          <a:p>
            <a:pPr marL="285750" indent="-285750">
              <a:defRPr/>
            </a:pPr>
            <a:r>
              <a:rPr lang="zh-CN" altLang="en-US" dirty="0">
                <a:latin typeface="宋体" pitchFamily="2" charset="-122"/>
                <a:ea typeface="宋体" pitchFamily="2" charset="-122"/>
              </a:rPr>
              <a:t>带辅助向量的二元组表</a:t>
            </a:r>
          </a:p>
          <a:p>
            <a:pPr marL="862013" lvl="1">
              <a:defRPr/>
            </a:pPr>
            <a:r>
              <a:rPr lang="zh-CN" altLang="en-US" sz="2000" dirty="0">
                <a:solidFill>
                  <a:srgbClr val="C00000"/>
                </a:solidFill>
                <a:latin typeface="宋体" pitchFamily="2" charset="-122"/>
                <a:ea typeface="宋体" pitchFamily="2" charset="-122"/>
              </a:rPr>
              <a:t>在带辅助向量的三元组表中</a:t>
            </a:r>
            <a:r>
              <a:rPr lang="en-US" altLang="zh-CN" sz="2000" dirty="0">
                <a:solidFill>
                  <a:srgbClr val="C00000"/>
                </a:solidFill>
                <a:latin typeface="宋体" pitchFamily="2" charset="-122"/>
                <a:ea typeface="宋体" pitchFamily="2" charset="-122"/>
              </a:rPr>
              <a:t>,</a:t>
            </a:r>
            <a:r>
              <a:rPr lang="zh-CN" altLang="en-US" sz="2000" dirty="0">
                <a:solidFill>
                  <a:srgbClr val="C00000"/>
                </a:solidFill>
                <a:latin typeface="宋体" pitchFamily="2" charset="-122"/>
                <a:ea typeface="宋体" pitchFamily="2" charset="-122"/>
              </a:rPr>
              <a:t>若辅助向量增加一行</a:t>
            </a:r>
            <a:r>
              <a:rPr lang="en-US" altLang="zh-CN" sz="2000" dirty="0">
                <a:solidFill>
                  <a:srgbClr val="C00000"/>
                </a:solidFill>
                <a:latin typeface="宋体" pitchFamily="2" charset="-122"/>
                <a:ea typeface="宋体" pitchFamily="2" charset="-122"/>
              </a:rPr>
              <a:t>,</a:t>
            </a:r>
            <a:r>
              <a:rPr lang="zh-CN" altLang="en-US" sz="2000" dirty="0">
                <a:solidFill>
                  <a:srgbClr val="C00000"/>
                </a:solidFill>
                <a:latin typeface="宋体" pitchFamily="2" charset="-122"/>
                <a:ea typeface="宋体" pitchFamily="2" charset="-122"/>
              </a:rPr>
              <a:t>则</a:t>
            </a:r>
            <a:r>
              <a:rPr lang="en-US" altLang="zh-CN" sz="2000" dirty="0">
                <a:solidFill>
                  <a:srgbClr val="C00000"/>
                </a:solidFill>
                <a:latin typeface="宋体" pitchFamily="2" charset="-122"/>
                <a:ea typeface="宋体" pitchFamily="2" charset="-122"/>
              </a:rPr>
              <a:t>Num</a:t>
            </a:r>
            <a:r>
              <a:rPr lang="zh-CN" altLang="en-US" sz="2000" dirty="0">
                <a:solidFill>
                  <a:srgbClr val="C00000"/>
                </a:solidFill>
                <a:latin typeface="宋体" pitchFamily="2" charset="-122"/>
                <a:ea typeface="宋体" pitchFamily="2" charset="-122"/>
              </a:rPr>
              <a:t>可由</a:t>
            </a:r>
            <a:r>
              <a:rPr lang="en-US" altLang="zh-CN" sz="2000" dirty="0">
                <a:solidFill>
                  <a:srgbClr val="C00000"/>
                </a:solidFill>
                <a:latin typeface="宋体" pitchFamily="2" charset="-122"/>
                <a:ea typeface="宋体" pitchFamily="2" charset="-122"/>
              </a:rPr>
              <a:t>Pos</a:t>
            </a:r>
            <a:r>
              <a:rPr lang="zh-CN" altLang="en-US" sz="2000" dirty="0">
                <a:solidFill>
                  <a:srgbClr val="C00000"/>
                </a:solidFill>
                <a:latin typeface="宋体" pitchFamily="2" charset="-122"/>
                <a:ea typeface="宋体" pitchFamily="2" charset="-122"/>
              </a:rPr>
              <a:t>求出。</a:t>
            </a:r>
          </a:p>
          <a:p>
            <a:pPr marL="862013" lvl="1">
              <a:defRPr/>
            </a:pPr>
            <a:r>
              <a:rPr lang="zh-CN" altLang="en-US" sz="2000" dirty="0">
                <a:solidFill>
                  <a:srgbClr val="C00000"/>
                </a:solidFill>
                <a:latin typeface="宋体" pitchFamily="2" charset="-122"/>
                <a:ea typeface="宋体" pitchFamily="2" charset="-122"/>
              </a:rPr>
              <a:t>有了辅助向量以后，三元组表中的行信息没有用了。如果都去掉的话，就构成了带辅助向量的二元组表</a:t>
            </a:r>
          </a:p>
          <a:p>
            <a:pPr marL="862013" lvl="1">
              <a:defRPr/>
            </a:pP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Pos(</a:t>
            </a:r>
            <a:r>
              <a:rPr lang="en-US" altLang="zh-CN" sz="2000" dirty="0" err="1">
                <a:latin typeface="宋体" pitchFamily="2" charset="-122"/>
                <a:ea typeface="宋体" pitchFamily="2" charset="-122"/>
              </a:rPr>
              <a:t>i</a:t>
            </a: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)</a:t>
            </a:r>
            <a:r>
              <a:rPr lang="zh-CN" altLang="en-US" sz="2000" dirty="0">
                <a:latin typeface="宋体" pitchFamily="2" charset="-122"/>
                <a:ea typeface="宋体" pitchFamily="2" charset="-122"/>
              </a:rPr>
              <a:t>，表示第 </a:t>
            </a:r>
            <a:r>
              <a:rPr lang="en-US" altLang="zh-CN" sz="2000" dirty="0" err="1">
                <a:latin typeface="宋体" pitchFamily="2" charset="-122"/>
                <a:ea typeface="宋体" pitchFamily="2" charset="-122"/>
              </a:rPr>
              <a:t>i</a:t>
            </a: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 </a:t>
            </a:r>
            <a:r>
              <a:rPr lang="zh-CN" altLang="en-US" sz="2000" dirty="0">
                <a:latin typeface="宋体" pitchFamily="2" charset="-122"/>
                <a:ea typeface="宋体" pitchFamily="2" charset="-122"/>
              </a:rPr>
              <a:t>行第一个非零元素在表中的位置</a:t>
            </a:r>
            <a:endParaRPr lang="en-US" altLang="zh-CN" sz="2000" dirty="0">
              <a:latin typeface="宋体" pitchFamily="2" charset="-122"/>
              <a:ea typeface="宋体" pitchFamily="2" charset="-122"/>
            </a:endParaRPr>
          </a:p>
          <a:p>
            <a:pPr marL="862013" lvl="1">
              <a:defRPr/>
            </a:pP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Pos(i+1) - Pos(</a:t>
            </a:r>
            <a:r>
              <a:rPr lang="en-US" altLang="zh-CN" sz="2000" dirty="0" err="1">
                <a:latin typeface="宋体" pitchFamily="2" charset="-122"/>
                <a:ea typeface="宋体" pitchFamily="2" charset="-122"/>
              </a:rPr>
              <a:t>i</a:t>
            </a: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) = Num(</a:t>
            </a:r>
            <a:r>
              <a:rPr lang="en-US" altLang="zh-CN" sz="2000" dirty="0" err="1">
                <a:latin typeface="宋体" pitchFamily="2" charset="-122"/>
                <a:ea typeface="宋体" pitchFamily="2" charset="-122"/>
              </a:rPr>
              <a:t>i</a:t>
            </a: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)</a:t>
            </a:r>
            <a:r>
              <a:rPr lang="zh-CN" altLang="en-US" sz="2000" dirty="0">
                <a:latin typeface="宋体" pitchFamily="2" charset="-122"/>
                <a:ea typeface="宋体" pitchFamily="2" charset="-122"/>
              </a:rPr>
              <a:t>，第 </a:t>
            </a:r>
            <a:r>
              <a:rPr lang="en-US" altLang="zh-CN" sz="2000" dirty="0" err="1">
                <a:latin typeface="宋体" pitchFamily="2" charset="-122"/>
                <a:ea typeface="宋体" pitchFamily="2" charset="-122"/>
              </a:rPr>
              <a:t>i</a:t>
            </a: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 </a:t>
            </a:r>
            <a:r>
              <a:rPr lang="zh-CN" altLang="en-US" sz="2000" dirty="0">
                <a:latin typeface="宋体" pitchFamily="2" charset="-122"/>
                <a:ea typeface="宋体" pitchFamily="2" charset="-122"/>
              </a:rPr>
              <a:t>行中有效元素的个数</a:t>
            </a:r>
          </a:p>
          <a:p>
            <a:pPr marL="862013" lvl="1">
              <a:defRPr/>
            </a:pP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Pos(</a:t>
            </a:r>
            <a:r>
              <a:rPr lang="en-US" altLang="zh-CN" sz="2000" dirty="0" err="1">
                <a:latin typeface="宋体" pitchFamily="2" charset="-122"/>
                <a:ea typeface="宋体" pitchFamily="2" charset="-122"/>
              </a:rPr>
              <a:t>i</a:t>
            </a: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) = Pos(i+1)，</a:t>
            </a:r>
            <a:r>
              <a:rPr lang="zh-CN" altLang="en-US" sz="2000" dirty="0">
                <a:latin typeface="宋体" pitchFamily="2" charset="-122"/>
                <a:ea typeface="宋体" pitchFamily="2" charset="-122"/>
              </a:rPr>
              <a:t>意味着矩阵第 </a:t>
            </a:r>
            <a:r>
              <a:rPr lang="en-US" altLang="zh-CN" sz="2000" dirty="0" err="1">
                <a:latin typeface="宋体" pitchFamily="2" charset="-122"/>
                <a:ea typeface="宋体" pitchFamily="2" charset="-122"/>
              </a:rPr>
              <a:t>i</a:t>
            </a: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 </a:t>
            </a:r>
            <a:r>
              <a:rPr lang="zh-CN" altLang="en-US" sz="2000" dirty="0">
                <a:latin typeface="宋体" pitchFamily="2" charset="-122"/>
                <a:ea typeface="宋体" pitchFamily="2" charset="-122"/>
              </a:rPr>
              <a:t>行中有效元素的个数是 0</a:t>
            </a:r>
          </a:p>
          <a:p>
            <a:pPr marL="862013" lvl="1">
              <a:defRPr/>
            </a:pPr>
            <a:r>
              <a:rPr lang="zh-CN" altLang="en-US" sz="2000" dirty="0">
                <a:solidFill>
                  <a:schemeClr val="tx2">
                    <a:lumMod val="60000"/>
                    <a:lumOff val="40000"/>
                  </a:schemeClr>
                </a:solidFill>
                <a:latin typeface="宋体" pitchFamily="2" charset="-122"/>
                <a:ea typeface="宋体" pitchFamily="2" charset="-122"/>
              </a:rPr>
              <a:t>好处</a:t>
            </a:r>
            <a:r>
              <a:rPr lang="zh-CN" altLang="en-US" sz="2000" dirty="0">
                <a:latin typeface="宋体" pitchFamily="2" charset="-122"/>
                <a:ea typeface="宋体" pitchFamily="2" charset="-122"/>
              </a:rPr>
              <a:t>：可以省去行的查找过程，运算时较快；存储空间小</a:t>
            </a:r>
          </a:p>
          <a:p>
            <a:pPr marL="862013" lvl="1">
              <a:defRPr/>
            </a:pPr>
            <a:endParaRPr lang="en-US" altLang="zh-CN" sz="2000" dirty="0">
              <a:latin typeface="宋体" pitchFamily="2" charset="-122"/>
              <a:ea typeface="宋体" pitchFamily="2" charset="-122"/>
            </a:endParaRPr>
          </a:p>
        </p:txBody>
      </p:sp>
      <p:graphicFrame>
        <p:nvGraphicFramePr>
          <p:cNvPr id="92360" name="Group 200">
            <a:extLst>
              <a:ext uri="{FF2B5EF4-FFF2-40B4-BE49-F238E27FC236}">
                <a16:creationId xmlns:a16="http://schemas.microsoft.com/office/drawing/2014/main" id="{D11C2DC2-3B5C-439E-BCB0-B9C6176090BB}"/>
              </a:ext>
            </a:extLst>
          </p:cNvPr>
          <p:cNvGraphicFramePr>
            <a:graphicFrameLocks noGrp="1"/>
          </p:cNvGraphicFramePr>
          <p:nvPr/>
        </p:nvGraphicFramePr>
        <p:xfrm>
          <a:off x="5429250" y="4365625"/>
          <a:ext cx="2743200" cy="213360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71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行号 </a:t>
                      </a: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333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列号 </a:t>
                      </a: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j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值 </a:t>
                      </a: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value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rgbClr val="333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333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rgbClr val="333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333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rgbClr val="333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333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rgbClr val="333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333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rgbClr val="333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333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rgbClr val="333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333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92361" name="Group 201">
            <a:extLst>
              <a:ext uri="{FF2B5EF4-FFF2-40B4-BE49-F238E27FC236}">
                <a16:creationId xmlns:a16="http://schemas.microsoft.com/office/drawing/2014/main" id="{69B7325D-18F7-4CDD-AA0D-E2BEB1DBAD1A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3248025" y="4508500"/>
          <a:ext cx="1800225" cy="2133600"/>
        </p:xfrm>
        <a:graphic>
          <a:graphicData uri="http://schemas.openxmlformats.org/drawingml/2006/table">
            <a:tbl>
              <a:tblPr/>
              <a:tblGrid>
                <a:gridCol w="5762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97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98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Num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333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行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Pos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6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333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333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98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333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98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333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333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98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333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34908" name="Group 90">
            <a:extLst>
              <a:ext uri="{FF2B5EF4-FFF2-40B4-BE49-F238E27FC236}">
                <a16:creationId xmlns:a16="http://schemas.microsoft.com/office/drawing/2014/main" id="{6EDF1C4A-883F-41AF-9A38-036B678592F1}"/>
              </a:ext>
            </a:extLst>
          </p:cNvPr>
          <p:cNvGrpSpPr>
            <a:grpSpLocks/>
          </p:cNvGrpSpPr>
          <p:nvPr/>
        </p:nvGrpSpPr>
        <p:grpSpPr bwMode="auto">
          <a:xfrm>
            <a:off x="5129213" y="4868863"/>
            <a:ext cx="660400" cy="1512887"/>
            <a:chOff x="3408" y="2640"/>
            <a:chExt cx="416" cy="1044"/>
          </a:xfrm>
        </p:grpSpPr>
        <p:sp>
          <p:nvSpPr>
            <p:cNvPr id="34911" name="Line 91">
              <a:extLst>
                <a:ext uri="{FF2B5EF4-FFF2-40B4-BE49-F238E27FC236}">
                  <a16:creationId xmlns:a16="http://schemas.microsoft.com/office/drawing/2014/main" id="{B1AACC6D-7D3C-44F2-9293-7A6D772CFA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08" y="2640"/>
              <a:ext cx="384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12" name="Line 92">
              <a:extLst>
                <a:ext uri="{FF2B5EF4-FFF2-40B4-BE49-F238E27FC236}">
                  <a16:creationId xmlns:a16="http://schemas.microsoft.com/office/drawing/2014/main" id="{9C5F3549-9D15-46E4-8CA1-1C248F458C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2928"/>
              <a:ext cx="403" cy="1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13" name="Line 93">
              <a:extLst>
                <a:ext uri="{FF2B5EF4-FFF2-40B4-BE49-F238E27FC236}">
                  <a16:creationId xmlns:a16="http://schemas.microsoft.com/office/drawing/2014/main" id="{AC270C57-79AA-4BCE-9C0D-2D0D2828D1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3120"/>
              <a:ext cx="403" cy="1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14" name="Line 94">
              <a:extLst>
                <a:ext uri="{FF2B5EF4-FFF2-40B4-BE49-F238E27FC236}">
                  <a16:creationId xmlns:a16="http://schemas.microsoft.com/office/drawing/2014/main" id="{DB30B206-5D23-4287-9137-782CCA231F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3" y="3356"/>
              <a:ext cx="401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15" name="Line 95">
              <a:extLst>
                <a:ext uri="{FF2B5EF4-FFF2-40B4-BE49-F238E27FC236}">
                  <a16:creationId xmlns:a16="http://schemas.microsoft.com/office/drawing/2014/main" id="{8E6B41D3-9DC5-4400-BCCC-6897E0A7BD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3552"/>
              <a:ext cx="396" cy="1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8765" name="AutoShape 194">
            <a:extLst>
              <a:ext uri="{FF2B5EF4-FFF2-40B4-BE49-F238E27FC236}">
                <a16:creationId xmlns:a16="http://schemas.microsoft.com/office/drawing/2014/main" id="{07AC8636-6937-458D-BA2A-83DA4D52B7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5876925"/>
            <a:ext cx="2016125" cy="492125"/>
          </a:xfrm>
          <a:prstGeom prst="wedgeRoundRectCallout">
            <a:avLst>
              <a:gd name="adj1" fmla="val 75986"/>
              <a:gd name="adj2" fmla="val 88389"/>
              <a:gd name="adj3" fmla="val 16667"/>
            </a:avLst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18000" tIns="10800" rIns="18000" bIns="10800">
            <a:spAutoFit/>
          </a:bodyPr>
          <a:lstStyle/>
          <a:p>
            <a:pPr algn="ctr">
              <a:defRPr/>
            </a:pPr>
            <a:r>
              <a:rPr lang="zh-CN" altLang="en-US" dirty="0"/>
              <a:t>新加一行，指向表尾，用于标记表的结束</a:t>
            </a:r>
            <a:endParaRPr lang="en-US" altLang="zh-CN" dirty="0"/>
          </a:p>
        </p:txBody>
      </p:sp>
      <p:sp>
        <p:nvSpPr>
          <p:cNvPr id="34910" name="Line 195">
            <a:extLst>
              <a:ext uri="{FF2B5EF4-FFF2-40B4-BE49-F238E27FC236}">
                <a16:creationId xmlns:a16="http://schemas.microsoft.com/office/drawing/2014/main" id="{E6A4C4B4-9713-4CF1-BDA0-809ACC931ACA}"/>
              </a:ext>
            </a:extLst>
          </p:cNvPr>
          <p:cNvSpPr>
            <a:spLocks noChangeShapeType="1"/>
          </p:cNvSpPr>
          <p:nvPr/>
        </p:nvSpPr>
        <p:spPr bwMode="auto">
          <a:xfrm>
            <a:off x="5132388" y="6524625"/>
            <a:ext cx="647700" cy="714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灯片编号占位符 7">
            <a:extLst>
              <a:ext uri="{FF2B5EF4-FFF2-40B4-BE49-F238E27FC236}">
                <a16:creationId xmlns:a16="http://schemas.microsoft.com/office/drawing/2014/main" id="{04E5EA77-D500-4C9A-9B24-2700DC621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24BE172-0588-4232-9A0E-A5FC8250E010}" type="slidenum">
              <a:rPr lang="zh-CN" altLang="en-US" sz="14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35843" name="Rectangle 4">
            <a:extLst>
              <a:ext uri="{FF2B5EF4-FFF2-40B4-BE49-F238E27FC236}">
                <a16:creationId xmlns:a16="http://schemas.microsoft.com/office/drawing/2014/main" id="{0FDBB511-D0B9-4BA3-9B97-9A170182F0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12700"/>
            <a:ext cx="7772400" cy="914400"/>
          </a:xfrm>
          <a:noFill/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3. 数据结构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3.3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数组</a:t>
            </a:r>
          </a:p>
        </p:txBody>
      </p:sp>
      <p:sp>
        <p:nvSpPr>
          <p:cNvPr id="35844" name="Rectangle 5">
            <a:extLst>
              <a:ext uri="{FF2B5EF4-FFF2-40B4-BE49-F238E27FC236}">
                <a16:creationId xmlns:a16="http://schemas.microsoft.com/office/drawing/2014/main" id="{9B172820-D5C0-43E3-9FAB-FDAEB41DEC4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07950" y="981075"/>
            <a:ext cx="6985000" cy="5111750"/>
          </a:xfrm>
          <a:noFill/>
        </p:spPr>
        <p:txBody>
          <a:bodyPr/>
          <a:lstStyle/>
          <a:p>
            <a:pPr marL="285750" indent="-285750"/>
            <a:r>
              <a:rPr lang="zh-CN" altLang="en-US" sz="2800">
                <a:ea typeface="宋体" panose="02010600030101010101" pitchFamily="2" charset="-122"/>
              </a:rPr>
              <a:t>伪地址表示法</a:t>
            </a:r>
            <a:endParaRPr lang="en-US" altLang="zh-CN" sz="2800">
              <a:ea typeface="宋体" panose="02010600030101010101" pitchFamily="2" charset="-122"/>
            </a:endParaRPr>
          </a:p>
          <a:p>
            <a:pPr marL="862013" lvl="1"/>
            <a:r>
              <a:rPr lang="zh-CN" altLang="en-US" sz="2400">
                <a:ea typeface="宋体" panose="02010600030101010101" pitchFamily="2" charset="-122"/>
              </a:rPr>
              <a:t>所谓伪地址是指按行优先顺序存储数据时，各个元素的相对地址，如下：</a:t>
            </a:r>
          </a:p>
          <a:p>
            <a:pPr marL="862013" lvl="1"/>
            <a:endParaRPr lang="zh-CN" altLang="en-US" sz="2400">
              <a:ea typeface="宋体" panose="02010600030101010101" pitchFamily="2" charset="-122"/>
            </a:endParaRPr>
          </a:p>
          <a:p>
            <a:pPr marL="862013" lvl="1"/>
            <a:endParaRPr lang="zh-CN" altLang="en-US" sz="2400">
              <a:ea typeface="宋体" panose="02010600030101010101" pitchFamily="2" charset="-122"/>
            </a:endParaRPr>
          </a:p>
          <a:p>
            <a:pPr marL="862013" lvl="1"/>
            <a:endParaRPr lang="zh-CN" altLang="en-US" sz="2400">
              <a:ea typeface="宋体" panose="02010600030101010101" pitchFamily="2" charset="-122"/>
            </a:endParaRPr>
          </a:p>
          <a:p>
            <a:pPr marL="862013" lvl="1"/>
            <a:endParaRPr lang="zh-CN" altLang="en-US" sz="2400">
              <a:ea typeface="宋体" panose="02010600030101010101" pitchFamily="2" charset="-122"/>
            </a:endParaRPr>
          </a:p>
          <a:p>
            <a:pPr marL="862013" lvl="1"/>
            <a:r>
              <a:rPr lang="zh-CN" altLang="en-US" sz="2400">
                <a:ea typeface="宋体" panose="02010600030101010101" pitchFamily="2" charset="-122"/>
              </a:rPr>
              <a:t>采用伪地址表示法，上述关系可以表示为：</a:t>
            </a:r>
          </a:p>
          <a:p>
            <a:pPr marL="862013" lvl="1"/>
            <a:r>
              <a:rPr lang="zh-CN" altLang="en-US" sz="2400">
                <a:ea typeface="宋体" panose="02010600030101010101" pitchFamily="2" charset="-122"/>
              </a:rPr>
              <a:t>占用空间少，但计算伪地址要花费时间。</a:t>
            </a:r>
          </a:p>
          <a:p>
            <a:pPr marL="862013" lvl="1"/>
            <a:r>
              <a:rPr lang="zh-CN" altLang="en-US" sz="2400">
                <a:ea typeface="宋体" panose="02010600030101010101" pitchFamily="2" charset="-122"/>
              </a:rPr>
              <a:t>存取一个元素，首先要计算伪地址，然后在表中查找。</a:t>
            </a:r>
            <a:endParaRPr lang="en-US" altLang="zh-CN" sz="2400">
              <a:ea typeface="宋体" panose="02010600030101010101" pitchFamily="2" charset="-122"/>
            </a:endParaRPr>
          </a:p>
          <a:p>
            <a:pPr marL="862013" lvl="1"/>
            <a:endParaRPr lang="zh-CN" altLang="en-US" sz="2400">
              <a:ea typeface="宋体" panose="02010600030101010101" pitchFamily="2" charset="-122"/>
            </a:endParaRPr>
          </a:p>
        </p:txBody>
      </p:sp>
      <p:graphicFrame>
        <p:nvGraphicFramePr>
          <p:cNvPr id="35845" name="Object 6">
            <a:extLst>
              <a:ext uri="{FF2B5EF4-FFF2-40B4-BE49-F238E27FC236}">
                <a16:creationId xmlns:a16="http://schemas.microsoft.com/office/drawing/2014/main" id="{70481B4D-584F-44D8-83F5-E33D9FC8797A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1833563" y="2832100"/>
          <a:ext cx="4203700" cy="74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4" name="Equation" r:id="rId3" imgW="2866913" imgH="485946" progId="Equation.DSMT4">
                  <p:embed/>
                </p:oleObj>
              </mc:Choice>
              <mc:Fallback>
                <p:oleObj name="Equation" r:id="rId3" imgW="2866913" imgH="485946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3563" y="2832100"/>
                        <a:ext cx="4203700" cy="741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70" name="Group 54">
            <a:extLst>
              <a:ext uri="{FF2B5EF4-FFF2-40B4-BE49-F238E27FC236}">
                <a16:creationId xmlns:a16="http://schemas.microsoft.com/office/drawing/2014/main" id="{0518C524-6950-42F2-AAD4-0EDA939D64CC}"/>
              </a:ext>
            </a:extLst>
          </p:cNvPr>
          <p:cNvGraphicFramePr>
            <a:graphicFrameLocks noGrp="1"/>
          </p:cNvGraphicFramePr>
          <p:nvPr>
            <p:ph sz="quarter" idx="3"/>
          </p:nvPr>
        </p:nvGraphicFramePr>
        <p:xfrm>
          <a:off x="7021513" y="3629025"/>
          <a:ext cx="1943100" cy="2247901"/>
        </p:xfrm>
        <a:graphic>
          <a:graphicData uri="http://schemas.openxmlformats.org/drawingml/2006/table">
            <a:tbl>
              <a:tblPr/>
              <a:tblGrid>
                <a:gridCol w="936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6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伪地址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值 </a:t>
                      </a: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value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6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6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90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90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6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5871" name="Object 346">
            <a:extLst>
              <a:ext uri="{FF2B5EF4-FFF2-40B4-BE49-F238E27FC236}">
                <a16:creationId xmlns:a16="http://schemas.microsoft.com/office/drawing/2014/main" id="{A0C10777-7CF3-4C83-8FE5-7B12114D81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99275" y="1744663"/>
          <a:ext cx="1993900" cy="171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5" name="Equation" r:id="rId5" imgW="1343169" imgH="1123893" progId="Equation.DSMT4">
                  <p:embed/>
                </p:oleObj>
              </mc:Choice>
              <mc:Fallback>
                <p:oleObj name="Equation" r:id="rId5" imgW="1343169" imgH="1123893" progId="Equation.DSMT4">
                  <p:embed/>
                  <p:pic>
                    <p:nvPicPr>
                      <p:cNvPr id="0" name="Object 3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99275" y="1744663"/>
                        <a:ext cx="1993900" cy="171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灯片编号占位符 5">
            <a:extLst>
              <a:ext uri="{FF2B5EF4-FFF2-40B4-BE49-F238E27FC236}">
                <a16:creationId xmlns:a16="http://schemas.microsoft.com/office/drawing/2014/main" id="{04CD1A23-7EE9-46AD-B9B0-1F336CDC4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105A643-DC22-4983-A50C-5F6F980F2198}" type="slidenum">
              <a:rPr lang="zh-CN" altLang="en-US" sz="14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4C454ADB-377A-4B6B-A1FB-2DEFBADD8C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217488"/>
            <a:ext cx="7772400" cy="1366838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3. 数据结构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3.3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数组</a:t>
            </a:r>
          </a:p>
        </p:txBody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F68B729D-32ED-4822-9CAE-EAB8A6D203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981075"/>
            <a:ext cx="9036050" cy="3384550"/>
          </a:xfrm>
        </p:spPr>
        <p:txBody>
          <a:bodyPr/>
          <a:lstStyle/>
          <a:p>
            <a:pPr marL="285750" indent="-285750">
              <a:lnSpc>
                <a:spcPct val="90000"/>
              </a:lnSpc>
            </a:pP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稀疏矩阵的顺序存储</a:t>
            </a:r>
          </a:p>
          <a:p>
            <a:pPr marL="862013" lvl="1">
              <a:lnSpc>
                <a:spcPct val="90000"/>
              </a:lnSpc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顺序存储的稀疏矩阵，只适合对数据的存取和修改操作；一旦有效元素的个数发生变化（如，矩阵的加、减、乘等运算），则实现起来较麻烦，涉及到对线性表（如三元组表）的插入和删除操作，这时通常采用稀疏矩阵的链式存储方式</a:t>
            </a:r>
          </a:p>
          <a:p>
            <a:pPr marL="285750" indent="-285750">
              <a:lnSpc>
                <a:spcPct val="90000"/>
              </a:lnSpc>
            </a:pP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稀疏矩阵的链式存储（主要有以下两种方式）</a:t>
            </a:r>
          </a:p>
          <a:p>
            <a:pPr marL="862013" lvl="1">
              <a:lnSpc>
                <a:spcPct val="90000"/>
              </a:lnSpc>
            </a:pP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带行指针向量的单链表（单链表 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行指针向量）</a:t>
            </a:r>
          </a:p>
          <a:p>
            <a:pPr marL="1333500" lvl="2">
              <a:lnSpc>
                <a:spcPct val="90000"/>
              </a:lnSpc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由 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m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个单链表 和 一个行指针向量 组成；行指针向量内存放的是稀疏矩阵相应行的第一个有效元素的地址</a:t>
            </a:r>
          </a:p>
        </p:txBody>
      </p:sp>
      <p:graphicFrame>
        <p:nvGraphicFramePr>
          <p:cNvPr id="36869" name="Object 56">
            <a:extLst>
              <a:ext uri="{FF2B5EF4-FFF2-40B4-BE49-F238E27FC236}">
                <a16:creationId xmlns:a16="http://schemas.microsoft.com/office/drawing/2014/main" id="{E28DCEC0-45B2-412C-82FB-E833EA7CC3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52500" y="4527550"/>
          <a:ext cx="2324100" cy="199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1" name="Equation" r:id="rId4" imgW="1343169" imgH="1123893" progId="Equation.DSMT4">
                  <p:embed/>
                </p:oleObj>
              </mc:Choice>
              <mc:Fallback>
                <p:oleObj name="Equation" r:id="rId4" imgW="1343169" imgH="1123893" progId="Equation.DSMT4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2500" y="4527550"/>
                        <a:ext cx="2324100" cy="199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6870" name="Group 98">
            <a:extLst>
              <a:ext uri="{FF2B5EF4-FFF2-40B4-BE49-F238E27FC236}">
                <a16:creationId xmlns:a16="http://schemas.microsoft.com/office/drawing/2014/main" id="{1C85D961-ED5C-4738-90BC-191A66796B3C}"/>
              </a:ext>
            </a:extLst>
          </p:cNvPr>
          <p:cNvGrpSpPr>
            <a:grpSpLocks/>
          </p:cNvGrpSpPr>
          <p:nvPr/>
        </p:nvGrpSpPr>
        <p:grpSpPr bwMode="auto">
          <a:xfrm>
            <a:off x="3857625" y="4727575"/>
            <a:ext cx="3484563" cy="1773238"/>
            <a:chOff x="2373" y="2730"/>
            <a:chExt cx="2195" cy="1117"/>
          </a:xfrm>
        </p:grpSpPr>
        <p:sp>
          <p:nvSpPr>
            <p:cNvPr id="36871" name="Text Box 58">
              <a:extLst>
                <a:ext uri="{FF2B5EF4-FFF2-40B4-BE49-F238E27FC236}">
                  <a16:creationId xmlns:a16="http://schemas.microsoft.com/office/drawing/2014/main" id="{465512DD-3164-4CE7-BBCE-F9E81864E8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7" y="2941"/>
              <a:ext cx="187" cy="159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36872" name="Text Box 59">
              <a:extLst>
                <a:ext uri="{FF2B5EF4-FFF2-40B4-BE49-F238E27FC236}">
                  <a16:creationId xmlns:a16="http://schemas.microsoft.com/office/drawing/2014/main" id="{E834AA1C-DC31-4BD7-A27A-EAD9A88452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4" y="2941"/>
              <a:ext cx="131" cy="159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endParaRPr lang="zh-CN" altLang="en-US" sz="120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873" name="Line 60">
              <a:extLst>
                <a:ext uri="{FF2B5EF4-FFF2-40B4-BE49-F238E27FC236}">
                  <a16:creationId xmlns:a16="http://schemas.microsoft.com/office/drawing/2014/main" id="{DD3C3EDB-2447-4308-BFB9-60D338DCA1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0" y="3024"/>
              <a:ext cx="33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4" name="Text Box 61">
              <a:extLst>
                <a:ext uri="{FF2B5EF4-FFF2-40B4-BE49-F238E27FC236}">
                  <a16:creationId xmlns:a16="http://schemas.microsoft.com/office/drawing/2014/main" id="{F812FC5F-3961-48EB-ADE6-A16097A4A9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4" y="2941"/>
              <a:ext cx="189" cy="159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36875" name="Text Box 62">
              <a:extLst>
                <a:ext uri="{FF2B5EF4-FFF2-40B4-BE49-F238E27FC236}">
                  <a16:creationId xmlns:a16="http://schemas.microsoft.com/office/drawing/2014/main" id="{10E0A03D-8501-4E86-A076-80DB882443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33" y="2941"/>
              <a:ext cx="131" cy="159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zh-CN" altLang="en-US" sz="1400">
                  <a:solidFill>
                    <a:schemeClr val="tx2"/>
                  </a:solidFill>
                  <a:latin typeface="Times New Roman" panose="02020603050405020304" pitchFamily="18" charset="0"/>
                </a:rPr>
                <a:t>^</a:t>
              </a:r>
            </a:p>
          </p:txBody>
        </p:sp>
        <p:sp>
          <p:nvSpPr>
            <p:cNvPr id="36876" name="Text Box 63">
              <a:extLst>
                <a:ext uri="{FF2B5EF4-FFF2-40B4-BE49-F238E27FC236}">
                  <a16:creationId xmlns:a16="http://schemas.microsoft.com/office/drawing/2014/main" id="{81A69EC8-AD9D-43F2-999F-89F467114A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6" y="2941"/>
              <a:ext cx="187" cy="159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6877" name="Text Box 64">
              <a:extLst>
                <a:ext uri="{FF2B5EF4-FFF2-40B4-BE49-F238E27FC236}">
                  <a16:creationId xmlns:a16="http://schemas.microsoft.com/office/drawing/2014/main" id="{413C47BE-E10E-415A-A12A-BCAF29E6A0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6" y="2941"/>
              <a:ext cx="189" cy="159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36878" name="Line 65">
              <a:extLst>
                <a:ext uri="{FF2B5EF4-FFF2-40B4-BE49-F238E27FC236}">
                  <a16:creationId xmlns:a16="http://schemas.microsoft.com/office/drawing/2014/main" id="{7C4F81C8-A0AC-48CF-B7AE-59774D8C1F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3024"/>
              <a:ext cx="33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9" name="Text Box 67">
              <a:extLst>
                <a:ext uri="{FF2B5EF4-FFF2-40B4-BE49-F238E27FC236}">
                  <a16:creationId xmlns:a16="http://schemas.microsoft.com/office/drawing/2014/main" id="{AABB100B-D904-41E0-830C-7B80FB1311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3" y="2736"/>
              <a:ext cx="79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zh-CN" altLang="en-US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行指针向量</a:t>
              </a:r>
            </a:p>
          </p:txBody>
        </p:sp>
        <p:sp>
          <p:nvSpPr>
            <p:cNvPr id="36880" name="Text Box 68">
              <a:extLst>
                <a:ext uri="{FF2B5EF4-FFF2-40B4-BE49-F238E27FC236}">
                  <a16:creationId xmlns:a16="http://schemas.microsoft.com/office/drawing/2014/main" id="{0F0754E2-7498-4D1C-925D-1DB3744E98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2" y="2956"/>
              <a:ext cx="540" cy="179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endParaRPr lang="en-US" altLang="zh-CN" sz="120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6881" name="Text Box 69">
              <a:extLst>
                <a:ext uri="{FF2B5EF4-FFF2-40B4-BE49-F238E27FC236}">
                  <a16:creationId xmlns:a16="http://schemas.microsoft.com/office/drawing/2014/main" id="{CEAA9919-5876-4AE0-BE7A-5DC37ED8F1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2" y="3134"/>
              <a:ext cx="540" cy="179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endParaRPr lang="zh-CN" altLang="en-US" sz="120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6882" name="Text Box 70">
              <a:extLst>
                <a:ext uri="{FF2B5EF4-FFF2-40B4-BE49-F238E27FC236}">
                  <a16:creationId xmlns:a16="http://schemas.microsoft.com/office/drawing/2014/main" id="{2DD25861-4CE1-4AF6-906E-BBEE44EC04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2" y="3312"/>
              <a:ext cx="540" cy="179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endParaRPr lang="zh-CN" altLang="en-US" sz="120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6883" name="Text Box 71">
              <a:extLst>
                <a:ext uri="{FF2B5EF4-FFF2-40B4-BE49-F238E27FC236}">
                  <a16:creationId xmlns:a16="http://schemas.microsoft.com/office/drawing/2014/main" id="{47DA3776-39B5-427F-A1CF-126DDEE654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2" y="3490"/>
              <a:ext cx="540" cy="179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200">
                  <a:solidFill>
                    <a:schemeClr val="tx1"/>
                  </a:solidFill>
                  <a:latin typeface="宋体" panose="02010600030101010101" pitchFamily="2" charset="-122"/>
                </a:rPr>
                <a:t>∧</a:t>
              </a:r>
              <a:endParaRPr lang="zh-CN" altLang="en-US" sz="120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6884" name="Text Box 72">
              <a:extLst>
                <a:ext uri="{FF2B5EF4-FFF2-40B4-BE49-F238E27FC236}">
                  <a16:creationId xmlns:a16="http://schemas.microsoft.com/office/drawing/2014/main" id="{2090B994-B884-469C-A23C-3B7A3A8F8C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2" y="3668"/>
              <a:ext cx="540" cy="179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endParaRPr lang="zh-CN" altLang="en-US" sz="120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6885" name="Text Box 81">
              <a:extLst>
                <a:ext uri="{FF2B5EF4-FFF2-40B4-BE49-F238E27FC236}">
                  <a16:creationId xmlns:a16="http://schemas.microsoft.com/office/drawing/2014/main" id="{2A12DA9D-9D27-42D6-AC2B-56659C9C3D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7" y="3134"/>
              <a:ext cx="187" cy="159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-1</a:t>
              </a:r>
            </a:p>
          </p:txBody>
        </p:sp>
        <p:sp>
          <p:nvSpPr>
            <p:cNvPr id="36886" name="Text Box 82">
              <a:extLst>
                <a:ext uri="{FF2B5EF4-FFF2-40B4-BE49-F238E27FC236}">
                  <a16:creationId xmlns:a16="http://schemas.microsoft.com/office/drawing/2014/main" id="{AC32A76C-3573-4D6A-BC71-3D6701AE2B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4" y="3134"/>
              <a:ext cx="131" cy="159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zh-CN" altLang="en-US" sz="1400">
                  <a:solidFill>
                    <a:schemeClr val="tx2"/>
                  </a:solidFill>
                  <a:latin typeface="Times New Roman" panose="02020603050405020304" pitchFamily="18" charset="0"/>
                </a:rPr>
                <a:t>^</a:t>
              </a:r>
            </a:p>
          </p:txBody>
        </p:sp>
        <p:sp>
          <p:nvSpPr>
            <p:cNvPr id="36887" name="Text Box 83">
              <a:extLst>
                <a:ext uri="{FF2B5EF4-FFF2-40B4-BE49-F238E27FC236}">
                  <a16:creationId xmlns:a16="http://schemas.microsoft.com/office/drawing/2014/main" id="{E1C80787-91AF-4F8C-AB25-1EEB8FBFEF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6" y="3134"/>
              <a:ext cx="187" cy="159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36888" name="Line 84">
              <a:extLst>
                <a:ext uri="{FF2B5EF4-FFF2-40B4-BE49-F238E27FC236}">
                  <a16:creationId xmlns:a16="http://schemas.microsoft.com/office/drawing/2014/main" id="{7F721C36-AF67-4E9E-AC1C-03342033E6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3217"/>
              <a:ext cx="33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9" name="Text Box 85">
              <a:extLst>
                <a:ext uri="{FF2B5EF4-FFF2-40B4-BE49-F238E27FC236}">
                  <a16:creationId xmlns:a16="http://schemas.microsoft.com/office/drawing/2014/main" id="{1928C544-B884-4F03-A58B-8E11FF3DD0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61" y="3326"/>
              <a:ext cx="187" cy="159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-1</a:t>
              </a:r>
            </a:p>
          </p:txBody>
        </p:sp>
        <p:sp>
          <p:nvSpPr>
            <p:cNvPr id="36890" name="Text Box 86">
              <a:extLst>
                <a:ext uri="{FF2B5EF4-FFF2-40B4-BE49-F238E27FC236}">
                  <a16:creationId xmlns:a16="http://schemas.microsoft.com/office/drawing/2014/main" id="{5A493F40-0EA0-47A5-B548-EFCC816797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3326"/>
              <a:ext cx="131" cy="159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endParaRPr lang="zh-CN" altLang="en-US" sz="120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891" name="Line 87">
              <a:extLst>
                <a:ext uri="{FF2B5EF4-FFF2-40B4-BE49-F238E27FC236}">
                  <a16:creationId xmlns:a16="http://schemas.microsoft.com/office/drawing/2014/main" id="{0E72E1CD-D6D4-409C-BDB3-E525E5E9E6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4" y="3409"/>
              <a:ext cx="33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92" name="Text Box 88">
              <a:extLst>
                <a:ext uri="{FF2B5EF4-FFF2-40B4-BE49-F238E27FC236}">
                  <a16:creationId xmlns:a16="http://schemas.microsoft.com/office/drawing/2014/main" id="{1CD1728A-D8E0-406E-A911-1980D28977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8" y="3326"/>
              <a:ext cx="189" cy="159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-2</a:t>
              </a:r>
            </a:p>
          </p:txBody>
        </p:sp>
        <p:sp>
          <p:nvSpPr>
            <p:cNvPr id="36893" name="Text Box 89">
              <a:extLst>
                <a:ext uri="{FF2B5EF4-FFF2-40B4-BE49-F238E27FC236}">
                  <a16:creationId xmlns:a16="http://schemas.microsoft.com/office/drawing/2014/main" id="{E5F6B2E0-AFE7-4A03-BB27-017E2D345C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37" y="3326"/>
              <a:ext cx="131" cy="159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zh-CN" altLang="en-US" sz="1400">
                  <a:solidFill>
                    <a:schemeClr val="tx2"/>
                  </a:solidFill>
                  <a:latin typeface="Times New Roman" panose="02020603050405020304" pitchFamily="18" charset="0"/>
                </a:rPr>
                <a:t>^</a:t>
              </a:r>
            </a:p>
          </p:txBody>
        </p:sp>
        <p:sp>
          <p:nvSpPr>
            <p:cNvPr id="36894" name="Text Box 90">
              <a:extLst>
                <a:ext uri="{FF2B5EF4-FFF2-40B4-BE49-F238E27FC236}">
                  <a16:creationId xmlns:a16="http://schemas.microsoft.com/office/drawing/2014/main" id="{81ADF68C-6595-4E26-9318-D0C7E11D10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7" y="3326"/>
              <a:ext cx="187" cy="159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6895" name="Text Box 91">
              <a:extLst>
                <a:ext uri="{FF2B5EF4-FFF2-40B4-BE49-F238E27FC236}">
                  <a16:creationId xmlns:a16="http://schemas.microsoft.com/office/drawing/2014/main" id="{B6642A54-7432-4FA3-AF3D-8D50AF1884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0" y="3326"/>
              <a:ext cx="189" cy="159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6896" name="Line 92">
              <a:extLst>
                <a:ext uri="{FF2B5EF4-FFF2-40B4-BE49-F238E27FC236}">
                  <a16:creationId xmlns:a16="http://schemas.microsoft.com/office/drawing/2014/main" id="{376EDF98-7157-4CD2-97EB-F57C11FCBB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32" y="3409"/>
              <a:ext cx="33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97" name="Text Box 93">
              <a:extLst>
                <a:ext uri="{FF2B5EF4-FFF2-40B4-BE49-F238E27FC236}">
                  <a16:creationId xmlns:a16="http://schemas.microsoft.com/office/drawing/2014/main" id="{50C9A711-FDA0-47C7-AE95-D8FF1F0A59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61" y="3675"/>
              <a:ext cx="187" cy="159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6898" name="Text Box 94">
              <a:extLst>
                <a:ext uri="{FF2B5EF4-FFF2-40B4-BE49-F238E27FC236}">
                  <a16:creationId xmlns:a16="http://schemas.microsoft.com/office/drawing/2014/main" id="{48116811-EEAD-4D5E-9E2A-0ED91B0ACD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3675"/>
              <a:ext cx="131" cy="159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zh-CN" altLang="en-US" sz="1400">
                  <a:solidFill>
                    <a:schemeClr val="tx2"/>
                  </a:solidFill>
                  <a:latin typeface="Times New Roman" panose="02020603050405020304" pitchFamily="18" charset="0"/>
                </a:rPr>
                <a:t>^</a:t>
              </a:r>
            </a:p>
          </p:txBody>
        </p:sp>
        <p:sp>
          <p:nvSpPr>
            <p:cNvPr id="36899" name="Text Box 95">
              <a:extLst>
                <a:ext uri="{FF2B5EF4-FFF2-40B4-BE49-F238E27FC236}">
                  <a16:creationId xmlns:a16="http://schemas.microsoft.com/office/drawing/2014/main" id="{A9FD298F-5F44-4398-897F-ED9727B62D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7" y="3675"/>
              <a:ext cx="187" cy="159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36900" name="Line 96">
              <a:extLst>
                <a:ext uri="{FF2B5EF4-FFF2-40B4-BE49-F238E27FC236}">
                  <a16:creationId xmlns:a16="http://schemas.microsoft.com/office/drawing/2014/main" id="{690B1502-1305-45D6-BDAE-055E946091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32" y="3758"/>
              <a:ext cx="33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01" name="Text Box 97">
              <a:extLst>
                <a:ext uri="{FF2B5EF4-FFF2-40B4-BE49-F238E27FC236}">
                  <a16:creationId xmlns:a16="http://schemas.microsoft.com/office/drawing/2014/main" id="{891194A5-2304-4CA9-922A-86E93D9262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6" y="2730"/>
              <a:ext cx="46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zh-CN" altLang="en-US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列  值</a:t>
              </a:r>
              <a:endParaRPr lang="en-US" altLang="zh-CN" sz="16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灯片编号占位符 5">
            <a:extLst>
              <a:ext uri="{FF2B5EF4-FFF2-40B4-BE49-F238E27FC236}">
                <a16:creationId xmlns:a16="http://schemas.microsoft.com/office/drawing/2014/main" id="{C1255446-ABE5-481F-BF0D-51522BC17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9DF7AB1-B512-4FF6-B6AF-D79BDB28321C}" type="slidenum">
              <a:rPr lang="zh-CN" altLang="en-US" sz="14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pic>
        <p:nvPicPr>
          <p:cNvPr id="9220" name="Picture 25" descr="Snap1">
            <a:extLst>
              <a:ext uri="{FF2B5EF4-FFF2-40B4-BE49-F238E27FC236}">
                <a16:creationId xmlns:a16="http://schemas.microsoft.com/office/drawing/2014/main" id="{32CC3542-1655-41B7-BE70-18B772DB9E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lum contrast="100000"/>
          </a:blip>
          <a:srcRect/>
          <a:stretch>
            <a:fillRect/>
          </a:stretch>
        </p:blipFill>
        <p:spPr bwMode="auto">
          <a:xfrm>
            <a:off x="-100013" y="1854200"/>
            <a:ext cx="9467851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916" name="Rectangle 22">
            <a:extLst>
              <a:ext uri="{FF2B5EF4-FFF2-40B4-BE49-F238E27FC236}">
                <a16:creationId xmlns:a16="http://schemas.microsoft.com/office/drawing/2014/main" id="{905B9BEA-7DDE-49AB-A34D-DD0DAA4C0A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6350"/>
            <a:ext cx="7772400" cy="914400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3. 数据结构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 sz="2400">
                <a:ea typeface="宋体" panose="02010600030101010101" pitchFamily="2" charset="-122"/>
              </a:rPr>
              <a:t>3.3 </a:t>
            </a:r>
            <a:r>
              <a:rPr lang="zh-CN" altLang="en-US" sz="2400">
                <a:ea typeface="宋体" panose="02010600030101010101" pitchFamily="2" charset="-122"/>
              </a:rPr>
              <a:t>数组</a:t>
            </a:r>
          </a:p>
        </p:txBody>
      </p:sp>
      <p:sp>
        <p:nvSpPr>
          <p:cNvPr id="68631" name="Rectangle 23">
            <a:extLst>
              <a:ext uri="{FF2B5EF4-FFF2-40B4-BE49-F238E27FC236}">
                <a16:creationId xmlns:a16="http://schemas.microsoft.com/office/drawing/2014/main" id="{0755E500-8F55-4EED-AAB7-5BBF4C58CD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1065213"/>
            <a:ext cx="7772400" cy="863600"/>
          </a:xfrm>
        </p:spPr>
        <p:txBody>
          <a:bodyPr/>
          <a:lstStyle/>
          <a:p>
            <a:pPr>
              <a:lnSpc>
                <a:spcPct val="80000"/>
              </a:lnSpc>
              <a:defRPr/>
            </a:pPr>
            <a:r>
              <a:rPr lang="zh-CN" altLang="en-US" sz="2800" dirty="0">
                <a:ea typeface="宋体" pitchFamily="2" charset="-122"/>
              </a:rPr>
              <a:t>稀疏矩阵的链式存储</a:t>
            </a:r>
          </a:p>
          <a:p>
            <a:pPr lvl="1">
              <a:lnSpc>
                <a:spcPct val="80000"/>
              </a:lnSpc>
              <a:defRPr/>
            </a:pPr>
            <a:r>
              <a:rPr lang="zh-CN" altLang="en-US" sz="2400" dirty="0">
                <a:solidFill>
                  <a:schemeClr val="tx2">
                    <a:lumMod val="60000"/>
                    <a:lumOff val="40000"/>
                  </a:schemeClr>
                </a:solidFill>
                <a:ea typeface="宋体" pitchFamily="2" charset="-122"/>
              </a:rPr>
              <a:t>十字链表</a:t>
            </a:r>
          </a:p>
        </p:txBody>
      </p:sp>
      <p:graphicFrame>
        <p:nvGraphicFramePr>
          <p:cNvPr id="38918" name="Object 12">
            <a:extLst>
              <a:ext uri="{FF2B5EF4-FFF2-40B4-BE49-F238E27FC236}">
                <a16:creationId xmlns:a16="http://schemas.microsoft.com/office/drawing/2014/main" id="{D1B2D8AD-D795-4EDC-96AE-E7ACDC4BCF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65888" y="188913"/>
          <a:ext cx="2427287" cy="187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5" name="Equation" r:id="rId4" imgW="1343169" imgH="1123893" progId="Equation.DSMT4">
                  <p:embed/>
                </p:oleObj>
              </mc:Choice>
              <mc:Fallback>
                <p:oleObj name="Equation" r:id="rId4" imgW="1343169" imgH="1123893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5888" y="188913"/>
                        <a:ext cx="2427287" cy="1871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919" name="Group 13">
            <a:extLst>
              <a:ext uri="{FF2B5EF4-FFF2-40B4-BE49-F238E27FC236}">
                <a16:creationId xmlns:a16="http://schemas.microsoft.com/office/drawing/2014/main" id="{866370A2-F576-4822-A698-662AE752E4BC}"/>
              </a:ext>
            </a:extLst>
          </p:cNvPr>
          <p:cNvGrpSpPr>
            <a:grpSpLocks/>
          </p:cNvGrpSpPr>
          <p:nvPr/>
        </p:nvGrpSpPr>
        <p:grpSpPr bwMode="auto">
          <a:xfrm>
            <a:off x="7197725" y="4684713"/>
            <a:ext cx="1838325" cy="688975"/>
            <a:chOff x="1872" y="2304"/>
            <a:chExt cx="1158" cy="434"/>
          </a:xfrm>
        </p:grpSpPr>
        <p:sp>
          <p:nvSpPr>
            <p:cNvPr id="38920" name="Text Box 14">
              <a:extLst>
                <a:ext uri="{FF2B5EF4-FFF2-40B4-BE49-F238E27FC236}">
                  <a16:creationId xmlns:a16="http://schemas.microsoft.com/office/drawing/2014/main" id="{B1C44122-B993-4D45-A185-FD5A99370B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304"/>
              <a:ext cx="384" cy="218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row</a:t>
              </a:r>
            </a:p>
          </p:txBody>
        </p:sp>
        <p:sp>
          <p:nvSpPr>
            <p:cNvPr id="38921" name="Text Box 15">
              <a:extLst>
                <a:ext uri="{FF2B5EF4-FFF2-40B4-BE49-F238E27FC236}">
                  <a16:creationId xmlns:a16="http://schemas.microsoft.com/office/drawing/2014/main" id="{8C00F2E0-5EE0-4055-A8A4-EF229DEE05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2" y="2304"/>
              <a:ext cx="384" cy="218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col</a:t>
              </a:r>
            </a:p>
          </p:txBody>
        </p:sp>
        <p:sp>
          <p:nvSpPr>
            <p:cNvPr id="38922" name="Text Box 16">
              <a:extLst>
                <a:ext uri="{FF2B5EF4-FFF2-40B4-BE49-F238E27FC236}">
                  <a16:creationId xmlns:a16="http://schemas.microsoft.com/office/drawing/2014/main" id="{0011BB7F-EA35-457E-813B-C4F1B9F3B7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6" y="2304"/>
              <a:ext cx="384" cy="218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val</a:t>
              </a:r>
            </a:p>
          </p:txBody>
        </p:sp>
        <p:sp>
          <p:nvSpPr>
            <p:cNvPr id="38923" name="Text Box 17">
              <a:extLst>
                <a:ext uri="{FF2B5EF4-FFF2-40B4-BE49-F238E27FC236}">
                  <a16:creationId xmlns:a16="http://schemas.microsoft.com/office/drawing/2014/main" id="{6B27AB9F-9951-49B5-9188-33015E8A65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5" y="2520"/>
              <a:ext cx="576" cy="218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down</a:t>
              </a:r>
            </a:p>
          </p:txBody>
        </p:sp>
        <p:sp>
          <p:nvSpPr>
            <p:cNvPr id="38924" name="Text Box 18">
              <a:extLst>
                <a:ext uri="{FF2B5EF4-FFF2-40B4-BE49-F238E27FC236}">
                  <a16:creationId xmlns:a16="http://schemas.microsoft.com/office/drawing/2014/main" id="{0AE4C556-D687-4622-9266-9090351B39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54" y="2520"/>
              <a:ext cx="576" cy="218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right</a:t>
              </a:r>
            </a:p>
          </p:txBody>
        </p:sp>
      </p:grp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灯片编号占位符 5">
            <a:extLst>
              <a:ext uri="{FF2B5EF4-FFF2-40B4-BE49-F238E27FC236}">
                <a16:creationId xmlns:a16="http://schemas.microsoft.com/office/drawing/2014/main" id="{6DCAF7C0-F53E-40B6-88B2-FB9D130B9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917763C-3652-4EC2-B116-A86EDF10AFA7}" type="slidenum">
              <a:rPr lang="zh-CN" altLang="en-US" sz="14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2B4F1D95-F448-4485-9CA4-BBA386B129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217488"/>
            <a:ext cx="7772400" cy="1366838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3. 数据结构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3.3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数组</a:t>
            </a:r>
          </a:p>
        </p:txBody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6AD234D8-4D79-4C97-946C-4788FC301D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-36513" y="1054100"/>
            <a:ext cx="9067801" cy="5688013"/>
          </a:xfrm>
        </p:spPr>
        <p:txBody>
          <a:bodyPr>
            <a:normAutofit fontScale="92500" lnSpcReduction="20000"/>
          </a:bodyPr>
          <a:lstStyle/>
          <a:p>
            <a:pPr marL="285750" indent="-285750">
              <a:defRPr/>
            </a:pPr>
            <a:r>
              <a:rPr lang="zh-CN" altLang="en-US" sz="2800" dirty="0">
                <a:latin typeface="宋体" pitchFamily="2" charset="-122"/>
                <a:ea typeface="宋体" pitchFamily="2" charset="-122"/>
              </a:rPr>
              <a:t>稀疏矩阵的链式存储 </a:t>
            </a:r>
            <a:r>
              <a:rPr lang="en-US" altLang="zh-CN" sz="2800" dirty="0">
                <a:latin typeface="宋体" pitchFamily="2" charset="-122"/>
                <a:ea typeface="宋体" pitchFamily="2" charset="-122"/>
              </a:rPr>
              <a:t>- </a:t>
            </a:r>
            <a:r>
              <a:rPr lang="zh-CN" altLang="en-US" sz="2800" dirty="0">
                <a:latin typeface="宋体" pitchFamily="2" charset="-122"/>
                <a:ea typeface="宋体" pitchFamily="2" charset="-122"/>
              </a:rPr>
              <a:t>十字链表</a:t>
            </a:r>
          </a:p>
          <a:p>
            <a:pPr marL="862013" lvl="1">
              <a:defRPr/>
            </a:pPr>
            <a:r>
              <a:rPr lang="zh-CN" altLang="en-US" sz="2400" dirty="0">
                <a:latin typeface="宋体" pitchFamily="2" charset="-122"/>
                <a:ea typeface="宋体" pitchFamily="2" charset="-122"/>
              </a:rPr>
              <a:t>十字链表是单链表的一种推广，也是一种动态存储结构</a:t>
            </a:r>
          </a:p>
          <a:p>
            <a:pPr marL="862013" lvl="1">
              <a:defRPr/>
            </a:pPr>
            <a:r>
              <a:rPr lang="zh-CN" altLang="en-US" sz="2400" dirty="0">
                <a:latin typeface="宋体" pitchFamily="2" charset="-122"/>
                <a:ea typeface="宋体" pitchFamily="2" charset="-122"/>
              </a:rPr>
              <a:t>稀疏矩阵中的每一个有效元素，用十字链表中的一个结点</a:t>
            </a:r>
            <a:r>
              <a:rPr lang="en-US" altLang="zh-CN" sz="2400" dirty="0">
                <a:latin typeface="宋体" pitchFamily="2" charset="-122"/>
                <a:ea typeface="宋体" pitchFamily="2" charset="-122"/>
              </a:rPr>
              <a:t>(node)</a:t>
            </a:r>
            <a:r>
              <a:rPr lang="zh-CN" altLang="en-US" sz="2400" dirty="0">
                <a:latin typeface="宋体" pitchFamily="2" charset="-122"/>
                <a:ea typeface="宋体" pitchFamily="2" charset="-122"/>
              </a:rPr>
              <a:t>表示</a:t>
            </a:r>
          </a:p>
          <a:p>
            <a:pPr marL="1333500" lvl="2">
              <a:defRPr/>
            </a:pPr>
            <a:endParaRPr lang="zh-CN" altLang="en-US" sz="2000" dirty="0">
              <a:latin typeface="宋体" pitchFamily="2" charset="-122"/>
              <a:ea typeface="宋体" pitchFamily="2" charset="-122"/>
            </a:endParaRPr>
          </a:p>
          <a:p>
            <a:pPr marL="1333500" lvl="2">
              <a:defRPr/>
            </a:pPr>
            <a:endParaRPr lang="zh-CN" altLang="en-US" sz="2000" dirty="0">
              <a:latin typeface="宋体" pitchFamily="2" charset="-122"/>
              <a:ea typeface="宋体" pitchFamily="2" charset="-122"/>
            </a:endParaRPr>
          </a:p>
          <a:p>
            <a:pPr marL="1333500" lvl="2">
              <a:defRPr/>
            </a:pPr>
            <a:endParaRPr lang="zh-CN" altLang="en-US" sz="2000" dirty="0">
              <a:latin typeface="宋体" pitchFamily="2" charset="-122"/>
              <a:ea typeface="宋体" pitchFamily="2" charset="-122"/>
            </a:endParaRPr>
          </a:p>
          <a:p>
            <a:pPr marL="862013" lvl="1">
              <a:defRPr/>
            </a:pPr>
            <a:r>
              <a:rPr lang="en-US" altLang="zh-CN" sz="2400" dirty="0">
                <a:latin typeface="宋体" pitchFamily="2" charset="-122"/>
                <a:ea typeface="宋体" pitchFamily="2" charset="-122"/>
              </a:rPr>
              <a:t>row, col, </a:t>
            </a:r>
            <a:r>
              <a:rPr lang="en-US" altLang="zh-CN" sz="2400" dirty="0" err="1">
                <a:latin typeface="宋体" pitchFamily="2" charset="-122"/>
                <a:ea typeface="宋体" pitchFamily="2" charset="-122"/>
              </a:rPr>
              <a:t>val</a:t>
            </a:r>
            <a:r>
              <a:rPr lang="en-US" altLang="zh-CN" sz="2400" dirty="0">
                <a:latin typeface="宋体" pitchFamily="2" charset="-122"/>
                <a:ea typeface="宋体" pitchFamily="2" charset="-122"/>
              </a:rPr>
              <a:t>：</a:t>
            </a:r>
            <a:r>
              <a:rPr lang="zh-CN" altLang="en-US" sz="2400" dirty="0">
                <a:latin typeface="宋体" pitchFamily="2" charset="-122"/>
                <a:ea typeface="宋体" pitchFamily="2" charset="-122"/>
              </a:rPr>
              <a:t>分别表示稀疏矩阵元素的行号、列号、数值</a:t>
            </a:r>
          </a:p>
          <a:p>
            <a:pPr marL="862013" lvl="1">
              <a:defRPr/>
            </a:pPr>
            <a:r>
              <a:rPr lang="en-US" altLang="zh-CN" sz="2400" dirty="0">
                <a:latin typeface="宋体" pitchFamily="2" charset="-122"/>
                <a:ea typeface="宋体" pitchFamily="2" charset="-122"/>
              </a:rPr>
              <a:t>Down(</a:t>
            </a:r>
            <a:r>
              <a:rPr lang="zh-CN" altLang="en-US" sz="2400" dirty="0">
                <a:latin typeface="宋体" pitchFamily="2" charset="-122"/>
                <a:ea typeface="宋体" pitchFamily="2" charset="-122"/>
              </a:rPr>
              <a:t>下域</a:t>
            </a:r>
            <a:r>
              <a:rPr lang="en-US" altLang="zh-CN" sz="2400" dirty="0">
                <a:latin typeface="宋体" pitchFamily="2" charset="-122"/>
                <a:ea typeface="宋体" pitchFamily="2" charset="-122"/>
              </a:rPr>
              <a:t>)</a:t>
            </a:r>
            <a:r>
              <a:rPr lang="zh-CN" altLang="en-US" sz="2400" dirty="0">
                <a:latin typeface="宋体" pitchFamily="2" charset="-122"/>
                <a:ea typeface="宋体" pitchFamily="2" charset="-122"/>
              </a:rPr>
              <a:t>：链接同一列中的下一个有效元素指针</a:t>
            </a:r>
          </a:p>
          <a:p>
            <a:pPr marL="862013" lvl="1">
              <a:defRPr/>
            </a:pPr>
            <a:r>
              <a:rPr lang="en-US" altLang="zh-CN" sz="2400" dirty="0">
                <a:latin typeface="宋体" pitchFamily="2" charset="-122"/>
                <a:ea typeface="宋体" pitchFamily="2" charset="-122"/>
              </a:rPr>
              <a:t>right(</a:t>
            </a:r>
            <a:r>
              <a:rPr lang="zh-CN" altLang="en-US" sz="2400" dirty="0">
                <a:latin typeface="宋体" pitchFamily="2" charset="-122"/>
                <a:ea typeface="宋体" pitchFamily="2" charset="-122"/>
              </a:rPr>
              <a:t>右域</a:t>
            </a:r>
            <a:r>
              <a:rPr lang="en-US" altLang="zh-CN" sz="2400" dirty="0">
                <a:latin typeface="宋体" pitchFamily="2" charset="-122"/>
                <a:ea typeface="宋体" pitchFamily="2" charset="-122"/>
              </a:rPr>
              <a:t>)</a:t>
            </a:r>
            <a:r>
              <a:rPr lang="zh-CN" altLang="en-US" sz="2400" dirty="0">
                <a:latin typeface="宋体" pitchFamily="2" charset="-122"/>
                <a:ea typeface="宋体" pitchFamily="2" charset="-122"/>
              </a:rPr>
              <a:t>：链接同一行中的下一个有效元素指针</a:t>
            </a:r>
          </a:p>
          <a:p>
            <a:pPr marL="862013" lvl="1">
              <a:defRPr/>
            </a:pPr>
            <a:r>
              <a:rPr lang="zh-CN" altLang="en-US" sz="2400" dirty="0">
                <a:latin typeface="宋体" pitchFamily="2" charset="-122"/>
                <a:ea typeface="宋体" pitchFamily="2" charset="-122"/>
              </a:rPr>
              <a:t>基本组成：</a:t>
            </a:r>
          </a:p>
          <a:p>
            <a:pPr marL="1333500" lvl="2">
              <a:defRPr/>
            </a:pPr>
            <a:r>
              <a:rPr lang="zh-CN" altLang="en-US" sz="2000" dirty="0">
                <a:latin typeface="宋体" pitchFamily="2" charset="-122"/>
                <a:ea typeface="宋体" pitchFamily="2" charset="-122"/>
              </a:rPr>
              <a:t>十字链表表头</a:t>
            </a:r>
          </a:p>
          <a:p>
            <a:pPr marL="1333500" lvl="2">
              <a:defRPr/>
            </a:pPr>
            <a:r>
              <a:rPr lang="zh-CN" altLang="en-US" sz="2000" dirty="0">
                <a:latin typeface="宋体" pitchFamily="2" charset="-122"/>
                <a:ea typeface="宋体" pitchFamily="2" charset="-122"/>
              </a:rPr>
              <a:t>行表头</a:t>
            </a:r>
          </a:p>
          <a:p>
            <a:pPr marL="1333500" lvl="2">
              <a:defRPr/>
            </a:pPr>
            <a:r>
              <a:rPr lang="zh-CN" altLang="en-US" sz="2000" dirty="0">
                <a:latin typeface="宋体" pitchFamily="2" charset="-122"/>
                <a:ea typeface="宋体" pitchFamily="2" charset="-122"/>
              </a:rPr>
              <a:t>列表头（与行表头实质上可为同一个）</a:t>
            </a:r>
          </a:p>
          <a:p>
            <a:pPr marL="1901825" lvl="3">
              <a:buFontTx/>
              <a:buNone/>
              <a:defRPr/>
            </a:pPr>
            <a:r>
              <a:rPr lang="zh-CN" altLang="en-US" sz="1800" dirty="0">
                <a:solidFill>
                  <a:schemeClr val="tx2"/>
                </a:solidFill>
                <a:latin typeface="宋体" pitchFamily="2" charset="-122"/>
                <a:ea typeface="宋体" pitchFamily="2" charset="-122"/>
              </a:rPr>
              <a:t>通过将</a:t>
            </a:r>
            <a:r>
              <a:rPr lang="en-US" altLang="zh-CN" sz="1800" dirty="0">
                <a:solidFill>
                  <a:schemeClr val="tx2"/>
                </a:solidFill>
                <a:latin typeface="宋体" pitchFamily="2" charset="-122"/>
                <a:ea typeface="宋体" pitchFamily="2" charset="-122"/>
              </a:rPr>
              <a:t>Val</a:t>
            </a:r>
            <a:r>
              <a:rPr lang="zh-CN" altLang="en-US" sz="1800" dirty="0">
                <a:solidFill>
                  <a:schemeClr val="tx2"/>
                </a:solidFill>
                <a:latin typeface="宋体" pitchFamily="2" charset="-122"/>
                <a:ea typeface="宋体" pitchFamily="2" charset="-122"/>
              </a:rPr>
              <a:t>域改为指针，</a:t>
            </a:r>
          </a:p>
          <a:p>
            <a:pPr marL="1901825" lvl="3">
              <a:buFontTx/>
              <a:buNone/>
              <a:defRPr/>
            </a:pPr>
            <a:r>
              <a:rPr lang="zh-CN" altLang="en-US" sz="1800" dirty="0">
                <a:solidFill>
                  <a:schemeClr val="tx2"/>
                </a:solidFill>
                <a:latin typeface="宋体" pitchFamily="2" charset="-122"/>
                <a:ea typeface="宋体" pitchFamily="2" charset="-122"/>
              </a:rPr>
              <a:t>与头结点一起构成一个循环链表</a:t>
            </a:r>
            <a:endParaRPr lang="en-US" altLang="zh-CN" sz="1800" dirty="0">
              <a:solidFill>
                <a:schemeClr val="tx2"/>
              </a:solidFill>
              <a:latin typeface="宋体" pitchFamily="2" charset="-122"/>
              <a:ea typeface="宋体" pitchFamily="2" charset="-122"/>
            </a:endParaRPr>
          </a:p>
          <a:p>
            <a:pPr marL="1333500" lvl="2">
              <a:defRPr/>
            </a:pPr>
            <a:r>
              <a:rPr lang="zh-CN" altLang="en-US" sz="2000" dirty="0">
                <a:latin typeface="宋体" pitchFamily="2" charset="-122"/>
                <a:ea typeface="宋体" pitchFamily="2" charset="-122"/>
              </a:rPr>
              <a:t>表体（表示稀疏矩阵有效元素的所有结点）</a:t>
            </a:r>
          </a:p>
          <a:p>
            <a:pPr marL="862013" lvl="1">
              <a:defRPr/>
            </a:pPr>
            <a:r>
              <a:rPr lang="zh-CN" altLang="en-US" sz="2400" dirty="0">
                <a:latin typeface="宋体" pitchFamily="2" charset="-122"/>
                <a:ea typeface="宋体" pitchFamily="2" charset="-122"/>
              </a:rPr>
              <a:t>每一行（列）的有效元素链接成带表头结点的循环链表</a:t>
            </a:r>
            <a:endParaRPr lang="en-US" altLang="zh-CN" sz="2400" dirty="0">
              <a:latin typeface="宋体" pitchFamily="2" charset="-122"/>
              <a:ea typeface="宋体" pitchFamily="2" charset="-122"/>
            </a:endParaRPr>
          </a:p>
          <a:p>
            <a:pPr marL="1333500" lvl="2">
              <a:defRPr/>
            </a:pPr>
            <a:endParaRPr lang="zh-CN" altLang="en-US" sz="2000" dirty="0">
              <a:latin typeface="宋体" pitchFamily="2" charset="-122"/>
              <a:ea typeface="宋体" pitchFamily="2" charset="-122"/>
            </a:endParaRPr>
          </a:p>
        </p:txBody>
      </p:sp>
      <p:grpSp>
        <p:nvGrpSpPr>
          <p:cNvPr id="39941" name="Group 26">
            <a:extLst>
              <a:ext uri="{FF2B5EF4-FFF2-40B4-BE49-F238E27FC236}">
                <a16:creationId xmlns:a16="http://schemas.microsoft.com/office/drawing/2014/main" id="{66FB536D-E8EB-42B2-88C8-37C416653D70}"/>
              </a:ext>
            </a:extLst>
          </p:cNvPr>
          <p:cNvGrpSpPr>
            <a:grpSpLocks/>
          </p:cNvGrpSpPr>
          <p:nvPr/>
        </p:nvGrpSpPr>
        <p:grpSpPr bwMode="auto">
          <a:xfrm>
            <a:off x="4500563" y="3789363"/>
            <a:ext cx="4676775" cy="2463800"/>
            <a:chOff x="2766" y="2604"/>
            <a:chExt cx="2946" cy="1552"/>
          </a:xfrm>
        </p:grpSpPr>
        <p:pic>
          <p:nvPicPr>
            <p:cNvPr id="29708" name="Picture 12" descr="fig 2">
              <a:extLst>
                <a:ext uri="{FF2B5EF4-FFF2-40B4-BE49-F238E27FC236}">
                  <a16:creationId xmlns:a16="http://schemas.microsoft.com/office/drawing/2014/main" id="{3F6A9849-968A-43D5-B7A4-9E057F4774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lum bright="30000" contrast="60000"/>
            </a:blip>
            <a:srcRect/>
            <a:stretch>
              <a:fillRect/>
            </a:stretch>
          </p:blipFill>
          <p:spPr bwMode="auto">
            <a:xfrm>
              <a:off x="3696" y="2906"/>
              <a:ext cx="2016" cy="9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9949" name="AutoShape 13">
              <a:extLst>
                <a:ext uri="{FF2B5EF4-FFF2-40B4-BE49-F238E27FC236}">
                  <a16:creationId xmlns:a16="http://schemas.microsoft.com/office/drawing/2014/main" id="{77695FAD-5561-4F14-BC38-FCC0D45750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3146"/>
              <a:ext cx="288" cy="703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2400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950" name="AutoShape 14">
              <a:extLst>
                <a:ext uri="{FF2B5EF4-FFF2-40B4-BE49-F238E27FC236}">
                  <a16:creationId xmlns:a16="http://schemas.microsoft.com/office/drawing/2014/main" id="{15602B49-7B44-4639-A0E9-E40C7D8FEF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2" y="2972"/>
              <a:ext cx="249" cy="159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2400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951" name="AutoShape 15">
              <a:extLst>
                <a:ext uri="{FF2B5EF4-FFF2-40B4-BE49-F238E27FC236}">
                  <a16:creationId xmlns:a16="http://schemas.microsoft.com/office/drawing/2014/main" id="{A3EF814F-EEB1-4BE1-B9F1-EF0AE34906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3146"/>
              <a:ext cx="1514" cy="703"/>
            </a:xfrm>
            <a:prstGeom prst="roundRect">
              <a:avLst>
                <a:gd name="adj" fmla="val 5690"/>
              </a:avLst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2400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952" name="AutoShape 17">
              <a:extLst>
                <a:ext uri="{FF2B5EF4-FFF2-40B4-BE49-F238E27FC236}">
                  <a16:creationId xmlns:a16="http://schemas.microsoft.com/office/drawing/2014/main" id="{005A4E7B-7D83-4F2E-98CB-7273FDCBE0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4" y="2972"/>
              <a:ext cx="1508" cy="159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2400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953" name="Text Box 18">
              <a:extLst>
                <a:ext uri="{FF2B5EF4-FFF2-40B4-BE49-F238E27FC236}">
                  <a16:creationId xmlns:a16="http://schemas.microsoft.com/office/drawing/2014/main" id="{6BE2F294-2979-4CC6-B9FB-5E3E720F44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0" y="2604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zh-CN" altLang="en-US" sz="1600">
                  <a:solidFill>
                    <a:schemeClr val="tx2"/>
                  </a:solidFill>
                  <a:latin typeface="Times New Roman" panose="02020603050405020304" pitchFamily="18" charset="0"/>
                </a:rPr>
                <a:t>列表头</a:t>
              </a:r>
            </a:p>
          </p:txBody>
        </p:sp>
        <p:sp>
          <p:nvSpPr>
            <p:cNvPr id="39954" name="Text Box 19">
              <a:extLst>
                <a:ext uri="{FF2B5EF4-FFF2-40B4-BE49-F238E27FC236}">
                  <a16:creationId xmlns:a16="http://schemas.microsoft.com/office/drawing/2014/main" id="{169B9696-209A-42D7-9AAA-A15D7F1CA1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66" y="2940"/>
              <a:ext cx="91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zh-CN" altLang="en-US" sz="1600">
                  <a:solidFill>
                    <a:schemeClr val="tx2"/>
                  </a:solidFill>
                  <a:latin typeface="Times New Roman" panose="02020603050405020304" pitchFamily="18" charset="0"/>
                </a:rPr>
                <a:t>十字链表表头</a:t>
              </a:r>
            </a:p>
          </p:txBody>
        </p:sp>
        <p:sp>
          <p:nvSpPr>
            <p:cNvPr id="39955" name="Text Box 20">
              <a:extLst>
                <a:ext uri="{FF2B5EF4-FFF2-40B4-BE49-F238E27FC236}">
                  <a16:creationId xmlns:a16="http://schemas.microsoft.com/office/drawing/2014/main" id="{D64B27E2-1573-471B-8615-3572418821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0" y="3944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zh-CN" altLang="en-US" sz="1600">
                  <a:solidFill>
                    <a:schemeClr val="tx2"/>
                  </a:solidFill>
                  <a:latin typeface="Times New Roman" panose="02020603050405020304" pitchFamily="18" charset="0"/>
                </a:rPr>
                <a:t>行表头</a:t>
              </a:r>
            </a:p>
          </p:txBody>
        </p:sp>
        <p:sp>
          <p:nvSpPr>
            <p:cNvPr id="39956" name="Text Box 21">
              <a:extLst>
                <a:ext uri="{FF2B5EF4-FFF2-40B4-BE49-F238E27FC236}">
                  <a16:creationId xmlns:a16="http://schemas.microsoft.com/office/drawing/2014/main" id="{7592EB95-1F54-4BAE-9CE9-EF4A571CC9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98" y="3944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zh-CN" altLang="en-US" sz="1600">
                  <a:solidFill>
                    <a:schemeClr val="tx2"/>
                  </a:solidFill>
                  <a:latin typeface="Times New Roman" panose="02020603050405020304" pitchFamily="18" charset="0"/>
                </a:rPr>
                <a:t>表体</a:t>
              </a:r>
              <a:endParaRPr lang="en-US" altLang="zh-CN" sz="160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957" name="Line 22">
              <a:extLst>
                <a:ext uri="{FF2B5EF4-FFF2-40B4-BE49-F238E27FC236}">
                  <a16:creationId xmlns:a16="http://schemas.microsoft.com/office/drawing/2014/main" id="{228B4701-6A83-40D8-B9B7-7B0BFB7DDF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8" y="3050"/>
              <a:ext cx="227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58" name="Line 23">
              <a:extLst>
                <a:ext uri="{FF2B5EF4-FFF2-40B4-BE49-F238E27FC236}">
                  <a16:creationId xmlns:a16="http://schemas.microsoft.com/office/drawing/2014/main" id="{D514B794-676C-4B9E-A32B-45267D412D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84" y="3848"/>
              <a:ext cx="0" cy="136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59" name="Line 24">
              <a:extLst>
                <a:ext uri="{FF2B5EF4-FFF2-40B4-BE49-F238E27FC236}">
                  <a16:creationId xmlns:a16="http://schemas.microsoft.com/office/drawing/2014/main" id="{576B36DA-9508-441D-B8A4-D01DBDFB44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2" y="3848"/>
              <a:ext cx="0" cy="136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60" name="Line 25">
              <a:extLst>
                <a:ext uri="{FF2B5EF4-FFF2-40B4-BE49-F238E27FC236}">
                  <a16:creationId xmlns:a16="http://schemas.microsoft.com/office/drawing/2014/main" id="{7FDDC60A-2740-4B98-820C-4DB2F5F0B0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84" y="2798"/>
              <a:ext cx="0" cy="181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9942" name="Group 33">
            <a:extLst>
              <a:ext uri="{FF2B5EF4-FFF2-40B4-BE49-F238E27FC236}">
                <a16:creationId xmlns:a16="http://schemas.microsoft.com/office/drawing/2014/main" id="{0031C6E4-B8E3-4D2F-A821-3639DE861A54}"/>
              </a:ext>
            </a:extLst>
          </p:cNvPr>
          <p:cNvGrpSpPr>
            <a:grpSpLocks/>
          </p:cNvGrpSpPr>
          <p:nvPr/>
        </p:nvGrpSpPr>
        <p:grpSpPr bwMode="auto">
          <a:xfrm>
            <a:off x="3309938" y="2205038"/>
            <a:ext cx="1909762" cy="719137"/>
            <a:chOff x="1872" y="2304"/>
            <a:chExt cx="1158" cy="434"/>
          </a:xfrm>
        </p:grpSpPr>
        <p:sp>
          <p:nvSpPr>
            <p:cNvPr id="39943" name="Text Box 34">
              <a:extLst>
                <a:ext uri="{FF2B5EF4-FFF2-40B4-BE49-F238E27FC236}">
                  <a16:creationId xmlns:a16="http://schemas.microsoft.com/office/drawing/2014/main" id="{16295900-F30B-4CE0-A43A-A9A945DB56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304"/>
              <a:ext cx="384" cy="209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row</a:t>
              </a:r>
            </a:p>
          </p:txBody>
        </p:sp>
        <p:sp>
          <p:nvSpPr>
            <p:cNvPr id="39944" name="Text Box 35">
              <a:extLst>
                <a:ext uri="{FF2B5EF4-FFF2-40B4-BE49-F238E27FC236}">
                  <a16:creationId xmlns:a16="http://schemas.microsoft.com/office/drawing/2014/main" id="{D1B0DB1C-81A3-4196-A9D3-F49F0F8AC6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2" y="2304"/>
              <a:ext cx="384" cy="209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col</a:t>
              </a:r>
            </a:p>
          </p:txBody>
        </p:sp>
        <p:sp>
          <p:nvSpPr>
            <p:cNvPr id="39945" name="Text Box 36">
              <a:extLst>
                <a:ext uri="{FF2B5EF4-FFF2-40B4-BE49-F238E27FC236}">
                  <a16:creationId xmlns:a16="http://schemas.microsoft.com/office/drawing/2014/main" id="{E4E5BAC5-FC79-44D2-93C2-B782721FE3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6" y="2304"/>
              <a:ext cx="384" cy="209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val</a:t>
              </a:r>
            </a:p>
          </p:txBody>
        </p:sp>
        <p:sp>
          <p:nvSpPr>
            <p:cNvPr id="39946" name="Text Box 37">
              <a:extLst>
                <a:ext uri="{FF2B5EF4-FFF2-40B4-BE49-F238E27FC236}">
                  <a16:creationId xmlns:a16="http://schemas.microsoft.com/office/drawing/2014/main" id="{431B6BF7-359B-479E-8C70-1902C83393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5" y="2520"/>
              <a:ext cx="576" cy="218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down</a:t>
              </a:r>
            </a:p>
          </p:txBody>
        </p:sp>
        <p:sp>
          <p:nvSpPr>
            <p:cNvPr id="39947" name="Text Box 38">
              <a:extLst>
                <a:ext uri="{FF2B5EF4-FFF2-40B4-BE49-F238E27FC236}">
                  <a16:creationId xmlns:a16="http://schemas.microsoft.com/office/drawing/2014/main" id="{059934CE-18B6-41E4-A881-E4F9FA76D5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54" y="2520"/>
              <a:ext cx="576" cy="218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right</a:t>
              </a:r>
            </a:p>
          </p:txBody>
        </p:sp>
      </p:grp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灯片编号占位符 5">
            <a:extLst>
              <a:ext uri="{FF2B5EF4-FFF2-40B4-BE49-F238E27FC236}">
                <a16:creationId xmlns:a16="http://schemas.microsoft.com/office/drawing/2014/main" id="{69C0503D-1C70-47B0-AC47-F259D18E0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D88BACF-CA35-4F2D-9C19-9CCA0E267E17}" type="slidenum">
              <a:rPr lang="zh-CN" altLang="en-US" sz="14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CE21D094-1A1A-4D5E-99E2-D5043EE364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217488"/>
            <a:ext cx="7772400" cy="1366838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3. 数据结构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3.3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数组</a:t>
            </a:r>
          </a:p>
        </p:txBody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E246666D-A487-4D40-991F-51C1403697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" y="1046163"/>
            <a:ext cx="9001125" cy="5695950"/>
          </a:xfrm>
        </p:spPr>
        <p:txBody>
          <a:bodyPr>
            <a:normAutofit fontScale="92500" lnSpcReduction="20000"/>
          </a:bodyPr>
          <a:lstStyle/>
          <a:p>
            <a:pPr marL="285750" indent="-285750">
              <a:defRPr/>
            </a:pPr>
            <a:r>
              <a:rPr lang="zh-CN" altLang="en-US" sz="2800" dirty="0">
                <a:latin typeface="宋体" pitchFamily="2" charset="-122"/>
                <a:ea typeface="宋体" pitchFamily="2" charset="-122"/>
              </a:rPr>
              <a:t>稀疏矩阵的链式存储</a:t>
            </a:r>
          </a:p>
          <a:p>
            <a:pPr marL="862013" lvl="1">
              <a:defRPr/>
            </a:pPr>
            <a:r>
              <a:rPr lang="zh-CN" altLang="en-US" sz="2400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十字链表的初始化</a:t>
            </a:r>
            <a:endParaRPr lang="en-US" altLang="zh-CN" sz="2400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marL="1262063" lvl="2">
              <a:defRPr/>
            </a:pPr>
            <a:r>
              <a:rPr lang="zh-CN" altLang="en-US" sz="2000" dirty="0">
                <a:latin typeface="宋体" pitchFamily="2" charset="-122"/>
                <a:ea typeface="宋体" pitchFamily="2" charset="-122"/>
              </a:rPr>
              <a:t>为了使表示结构一致，表头结点与有效元素结点的结构基本相同</a:t>
            </a:r>
          </a:p>
          <a:p>
            <a:pPr marL="1262063" lvl="2">
              <a:defRPr/>
            </a:pPr>
            <a:r>
              <a:rPr lang="zh-CN" altLang="en-US" sz="2000" dirty="0">
                <a:solidFill>
                  <a:srgbClr val="0000CC"/>
                </a:solidFill>
                <a:latin typeface="宋体" pitchFamily="2" charset="-122"/>
                <a:ea typeface="宋体" pitchFamily="2" charset="-122"/>
              </a:rPr>
              <a:t>为了快速定位，表头结点的指针可用指针数组来存储</a:t>
            </a:r>
            <a:r>
              <a:rPr lang="zh-CN" altLang="en-US" sz="2000" dirty="0">
                <a:latin typeface="宋体" pitchFamily="2" charset="-122"/>
                <a:ea typeface="宋体" pitchFamily="2" charset="-122"/>
              </a:rPr>
              <a:t>， </a:t>
            </a:r>
            <a:r>
              <a:rPr lang="en-US" altLang="zh-CN" sz="2000" dirty="0" err="1">
                <a:latin typeface="宋体" pitchFamily="2" charset="-122"/>
                <a:ea typeface="宋体" pitchFamily="2" charset="-122"/>
              </a:rPr>
              <a:t>head_nodes</a:t>
            </a: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[x]</a:t>
            </a:r>
          </a:p>
          <a:p>
            <a:pPr marL="1262063" lvl="2">
              <a:defRPr/>
            </a:pPr>
            <a:r>
              <a:rPr lang="zh-CN" altLang="en-US" sz="2000" dirty="0">
                <a:latin typeface="宋体" pitchFamily="2" charset="-122"/>
                <a:ea typeface="宋体" pitchFamily="2" charset="-122"/>
              </a:rPr>
              <a:t>列表头结点用循环链表来存储，行表头与列表头使用同一节点。</a:t>
            </a:r>
            <a:endParaRPr lang="en-US" altLang="zh-CN" sz="2000" dirty="0">
              <a:latin typeface="宋体" pitchFamily="2" charset="-122"/>
              <a:ea typeface="宋体" pitchFamily="2" charset="-122"/>
            </a:endParaRPr>
          </a:p>
          <a:p>
            <a:pPr marL="1033463" lvl="2" indent="0">
              <a:buFontTx/>
              <a:buNone/>
              <a:defRPr/>
            </a:pPr>
            <a:r>
              <a:rPr lang="zh-CN" altLang="en-US" sz="2000" dirty="0">
                <a:latin typeface="宋体" pitchFamily="2" charset="-122"/>
                <a:ea typeface="宋体" pitchFamily="2" charset="-122"/>
              </a:rPr>
              <a:t>（行表头结点使用“</a:t>
            </a: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right”</a:t>
            </a:r>
            <a:r>
              <a:rPr lang="zh-CN" altLang="en-US" sz="2000" dirty="0">
                <a:latin typeface="宋体" pitchFamily="2" charset="-122"/>
                <a:ea typeface="宋体" pitchFamily="2" charset="-122"/>
              </a:rPr>
              <a:t>域</a:t>
            </a: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，</a:t>
            </a:r>
            <a:r>
              <a:rPr lang="zh-CN" altLang="en-US" sz="2000" dirty="0">
                <a:latin typeface="宋体" pitchFamily="2" charset="-122"/>
                <a:ea typeface="宋体" pitchFamily="2" charset="-122"/>
              </a:rPr>
              <a:t>列表头结点使用“</a:t>
            </a: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down”</a:t>
            </a:r>
            <a:r>
              <a:rPr lang="zh-CN" altLang="en-US" sz="2000" dirty="0">
                <a:latin typeface="宋体" pitchFamily="2" charset="-122"/>
                <a:ea typeface="宋体" pitchFamily="2" charset="-122"/>
              </a:rPr>
              <a:t>和“</a:t>
            </a:r>
            <a:r>
              <a:rPr lang="en-US" altLang="zh-CN" sz="2000" dirty="0" err="1">
                <a:latin typeface="宋体" pitchFamily="2" charset="-122"/>
                <a:ea typeface="宋体" pitchFamily="2" charset="-122"/>
              </a:rPr>
              <a:t>val</a:t>
            </a: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”</a:t>
            </a:r>
            <a:r>
              <a:rPr lang="zh-CN" altLang="en-US" sz="2000" dirty="0">
                <a:latin typeface="宋体" pitchFamily="2" charset="-122"/>
                <a:ea typeface="宋体" pitchFamily="2" charset="-122"/>
              </a:rPr>
              <a:t>域）</a:t>
            </a:r>
            <a:endParaRPr lang="en-US" altLang="zh-CN" sz="2000" dirty="0">
              <a:latin typeface="宋体" pitchFamily="2" charset="-122"/>
              <a:ea typeface="宋体" pitchFamily="2" charset="-122"/>
            </a:endParaRPr>
          </a:p>
          <a:p>
            <a:pPr marL="1262063" lvl="2">
              <a:defRPr/>
            </a:pPr>
            <a:r>
              <a:rPr lang="zh-CN" altLang="en-US" sz="2000" dirty="0">
                <a:latin typeface="宋体" pitchFamily="2" charset="-122"/>
                <a:ea typeface="宋体" pitchFamily="2" charset="-122"/>
              </a:rPr>
              <a:t>十字链表的运算操作，可参看</a:t>
            </a: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P50-51</a:t>
            </a:r>
            <a:endParaRPr lang="zh-CN" altLang="en-US" sz="2000" dirty="0">
              <a:latin typeface="宋体" pitchFamily="2" charset="-122"/>
              <a:ea typeface="宋体" pitchFamily="2" charset="-122"/>
            </a:endParaRPr>
          </a:p>
          <a:p>
            <a:pPr marL="862013" lvl="1">
              <a:defRPr/>
            </a:pPr>
            <a:endParaRPr lang="zh-CN" altLang="en-US" sz="2400" dirty="0">
              <a:latin typeface="宋体" pitchFamily="2" charset="-122"/>
              <a:ea typeface="宋体" pitchFamily="2" charset="-122"/>
            </a:endParaRPr>
          </a:p>
          <a:p>
            <a:pPr marL="862013" lvl="1">
              <a:spcBef>
                <a:spcPct val="0"/>
              </a:spcBef>
              <a:buFontTx/>
              <a:buNone/>
              <a:defRPr/>
            </a:pPr>
            <a:r>
              <a:rPr lang="en-US" altLang="zh-CN" sz="2000" dirty="0" err="1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Create_Matrix</a:t>
            </a: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( </a:t>
            </a:r>
            <a:r>
              <a:rPr lang="en-US" altLang="zh-CN" sz="2000" dirty="0" err="1">
                <a:latin typeface="宋体" pitchFamily="2" charset="-122"/>
                <a:ea typeface="宋体" pitchFamily="2" charset="-122"/>
              </a:rPr>
              <a:t>hm,m,n,head_nodes</a:t>
            </a: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) {</a:t>
            </a:r>
          </a:p>
          <a:p>
            <a:pPr marL="862013" lvl="1">
              <a:spcBef>
                <a:spcPct val="0"/>
              </a:spcBef>
              <a:buFontTx/>
              <a:buNone/>
              <a:defRPr/>
            </a:pP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   s = max( m, n );</a:t>
            </a:r>
          </a:p>
          <a:p>
            <a:pPr marL="862013" lvl="1">
              <a:spcBef>
                <a:spcPct val="0"/>
              </a:spcBef>
              <a:buFontTx/>
              <a:buNone/>
              <a:defRPr/>
            </a:pP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   </a:t>
            </a:r>
            <a:r>
              <a:rPr lang="en-US" altLang="zh-CN" sz="2000" b="0" dirty="0">
                <a:solidFill>
                  <a:schemeClr val="tx2"/>
                </a:solidFill>
                <a:latin typeface="宋体" pitchFamily="2" charset="-122"/>
                <a:ea typeface="宋体" pitchFamily="2" charset="-122"/>
              </a:rPr>
              <a:t>new( p )</a:t>
            </a: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; p-&gt;row = m; p-&gt;col = n;</a:t>
            </a:r>
          </a:p>
          <a:p>
            <a:pPr marL="862013" lvl="1">
              <a:spcBef>
                <a:spcPct val="0"/>
              </a:spcBef>
              <a:buFontTx/>
              <a:buNone/>
              <a:defRPr/>
            </a:pP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   </a:t>
            </a:r>
            <a:r>
              <a:rPr lang="en-US" altLang="zh-CN" sz="2000" dirty="0" err="1">
                <a:latin typeface="宋体" pitchFamily="2" charset="-122"/>
                <a:ea typeface="宋体" pitchFamily="2" charset="-122"/>
              </a:rPr>
              <a:t>hm</a:t>
            </a: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 = p; </a:t>
            </a:r>
            <a:r>
              <a:rPr lang="en-US" altLang="zh-CN" sz="2000" dirty="0" err="1">
                <a:latin typeface="宋体" pitchFamily="2" charset="-122"/>
                <a:ea typeface="宋体" pitchFamily="2" charset="-122"/>
              </a:rPr>
              <a:t>head_nodes</a:t>
            </a: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[0] = p;</a:t>
            </a:r>
          </a:p>
          <a:p>
            <a:pPr marL="862013" lvl="1">
              <a:spcBef>
                <a:spcPct val="0"/>
              </a:spcBef>
              <a:buFontTx/>
              <a:buNone/>
              <a:defRPr/>
            </a:pP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   for </a:t>
            </a:r>
            <a:r>
              <a:rPr lang="en-US" altLang="zh-CN" sz="2000" dirty="0" err="1">
                <a:latin typeface="宋体" pitchFamily="2" charset="-122"/>
                <a:ea typeface="宋体" pitchFamily="2" charset="-122"/>
              </a:rPr>
              <a:t>i</a:t>
            </a: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 = 1 to s {</a:t>
            </a:r>
            <a:endParaRPr lang="zh-CN" altLang="en-US" sz="2000" dirty="0">
              <a:latin typeface="宋体" pitchFamily="2" charset="-122"/>
              <a:ea typeface="宋体" pitchFamily="2" charset="-122"/>
            </a:endParaRPr>
          </a:p>
          <a:p>
            <a:pPr marL="862013" lvl="1">
              <a:spcBef>
                <a:spcPct val="0"/>
              </a:spcBef>
              <a:buFontTx/>
              <a:buNone/>
              <a:defRPr/>
            </a:pP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      </a:t>
            </a:r>
            <a:r>
              <a:rPr lang="en-US" altLang="zh-CN" sz="2000" b="0" dirty="0">
                <a:solidFill>
                  <a:schemeClr val="tx2"/>
                </a:solidFill>
                <a:latin typeface="宋体" pitchFamily="2" charset="-122"/>
                <a:ea typeface="宋体" pitchFamily="2" charset="-122"/>
              </a:rPr>
              <a:t>new( p )</a:t>
            </a: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; p-&gt;row = 0; p-&gt;col = 0;</a:t>
            </a:r>
          </a:p>
          <a:p>
            <a:pPr marL="862013" lvl="1">
              <a:spcBef>
                <a:spcPct val="0"/>
              </a:spcBef>
              <a:buFontTx/>
              <a:buNone/>
              <a:defRPr/>
            </a:pP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      p-&gt;right = p; p-&gt;down = p;</a:t>
            </a:r>
          </a:p>
          <a:p>
            <a:pPr marL="862013" lvl="1">
              <a:spcBef>
                <a:spcPct val="0"/>
              </a:spcBef>
              <a:buFontTx/>
              <a:buNone/>
              <a:defRPr/>
            </a:pPr>
            <a:r>
              <a:rPr lang="zh-CN" altLang="en-US" sz="2000" dirty="0">
                <a:latin typeface="宋体" pitchFamily="2" charset="-122"/>
                <a:ea typeface="宋体" pitchFamily="2" charset="-122"/>
              </a:rPr>
              <a:t>      </a:t>
            </a:r>
            <a:r>
              <a:rPr lang="en-US" altLang="zh-CN" sz="2000" dirty="0" err="1">
                <a:latin typeface="宋体" pitchFamily="2" charset="-122"/>
                <a:ea typeface="宋体" pitchFamily="2" charset="-122"/>
              </a:rPr>
              <a:t>head_nodes</a:t>
            </a: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[</a:t>
            </a:r>
            <a:r>
              <a:rPr lang="en-US" altLang="zh-CN" sz="2000" dirty="0" err="1">
                <a:latin typeface="宋体" pitchFamily="2" charset="-122"/>
                <a:ea typeface="宋体" pitchFamily="2" charset="-122"/>
              </a:rPr>
              <a:t>i</a:t>
            </a: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] = p;</a:t>
            </a:r>
          </a:p>
          <a:p>
            <a:pPr marL="862013" lvl="1">
              <a:spcBef>
                <a:spcPct val="0"/>
              </a:spcBef>
              <a:buFontTx/>
              <a:buNone/>
              <a:defRPr/>
            </a:pPr>
            <a:r>
              <a:rPr lang="zh-CN" altLang="en-US" sz="2000" dirty="0">
                <a:latin typeface="宋体" pitchFamily="2" charset="-122"/>
                <a:ea typeface="宋体" pitchFamily="2" charset="-122"/>
              </a:rPr>
              <a:t>      </a:t>
            </a:r>
            <a:r>
              <a:rPr lang="en-US" altLang="zh-CN" sz="2000" dirty="0" err="1">
                <a:latin typeface="宋体" pitchFamily="2" charset="-122"/>
                <a:ea typeface="宋体" pitchFamily="2" charset="-122"/>
              </a:rPr>
              <a:t>head_nodes</a:t>
            </a: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[i-1]-&gt;</a:t>
            </a:r>
            <a:r>
              <a:rPr lang="en-US" altLang="zh-CN" sz="2000" dirty="0" err="1">
                <a:latin typeface="宋体" pitchFamily="2" charset="-122"/>
                <a:ea typeface="宋体" pitchFamily="2" charset="-122"/>
              </a:rPr>
              <a:t>val</a:t>
            </a: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 = p;</a:t>
            </a:r>
          </a:p>
          <a:p>
            <a:pPr marL="862013" lvl="1">
              <a:spcBef>
                <a:spcPct val="0"/>
              </a:spcBef>
              <a:buFontTx/>
              <a:buNone/>
              <a:defRPr/>
            </a:pP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   }</a:t>
            </a:r>
          </a:p>
          <a:p>
            <a:pPr marL="862013" lvl="1">
              <a:spcBef>
                <a:spcPct val="0"/>
              </a:spcBef>
              <a:buFontTx/>
              <a:buNone/>
              <a:defRPr/>
            </a:pP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   </a:t>
            </a:r>
            <a:r>
              <a:rPr lang="en-US" altLang="zh-CN" sz="2000" dirty="0" err="1">
                <a:latin typeface="宋体" pitchFamily="2" charset="-122"/>
                <a:ea typeface="宋体" pitchFamily="2" charset="-122"/>
              </a:rPr>
              <a:t>head_nodes</a:t>
            </a: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[s]-&gt;</a:t>
            </a:r>
            <a:r>
              <a:rPr lang="en-US" altLang="zh-CN" sz="2000" dirty="0" err="1">
                <a:latin typeface="宋体" pitchFamily="2" charset="-122"/>
                <a:ea typeface="宋体" pitchFamily="2" charset="-122"/>
              </a:rPr>
              <a:t>val</a:t>
            </a: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 = </a:t>
            </a:r>
            <a:r>
              <a:rPr lang="en-US" altLang="zh-CN" sz="2000" dirty="0" err="1">
                <a:latin typeface="宋体" pitchFamily="2" charset="-122"/>
                <a:ea typeface="宋体" pitchFamily="2" charset="-122"/>
              </a:rPr>
              <a:t>hm</a:t>
            </a: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;</a:t>
            </a:r>
          </a:p>
          <a:p>
            <a:pPr marL="862013" lvl="1">
              <a:spcBef>
                <a:spcPct val="0"/>
              </a:spcBef>
              <a:buFontTx/>
              <a:buNone/>
              <a:defRPr/>
            </a:pP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grpSp>
        <p:nvGrpSpPr>
          <p:cNvPr id="40965" name="Group 25">
            <a:extLst>
              <a:ext uri="{FF2B5EF4-FFF2-40B4-BE49-F238E27FC236}">
                <a16:creationId xmlns:a16="http://schemas.microsoft.com/office/drawing/2014/main" id="{96BB132F-1E3D-4FF6-B2C6-44CA262F8B99}"/>
              </a:ext>
            </a:extLst>
          </p:cNvPr>
          <p:cNvGrpSpPr>
            <a:grpSpLocks/>
          </p:cNvGrpSpPr>
          <p:nvPr/>
        </p:nvGrpSpPr>
        <p:grpSpPr bwMode="auto">
          <a:xfrm>
            <a:off x="5364163" y="3284538"/>
            <a:ext cx="3816350" cy="2919412"/>
            <a:chOff x="3366" y="1674"/>
            <a:chExt cx="2346" cy="2238"/>
          </a:xfrm>
        </p:grpSpPr>
        <p:pic>
          <p:nvPicPr>
            <p:cNvPr id="30726" name="Picture 11" descr="fig 2">
              <a:extLst>
                <a:ext uri="{FF2B5EF4-FFF2-40B4-BE49-F238E27FC236}">
                  <a16:creationId xmlns:a16="http://schemas.microsoft.com/office/drawing/2014/main" id="{AFED9D94-1127-4F7B-9568-912BC3FEF7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lum bright="30000" contrast="60000"/>
            </a:blip>
            <a:srcRect/>
            <a:stretch>
              <a:fillRect/>
            </a:stretch>
          </p:blipFill>
          <p:spPr bwMode="auto">
            <a:xfrm>
              <a:off x="3552" y="2016"/>
              <a:ext cx="2160" cy="15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0967" name="AutoShape 12">
              <a:extLst>
                <a:ext uri="{FF2B5EF4-FFF2-40B4-BE49-F238E27FC236}">
                  <a16:creationId xmlns:a16="http://schemas.microsoft.com/office/drawing/2014/main" id="{3C992869-6E9E-4364-A875-DBFBA5AA80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8" y="2406"/>
              <a:ext cx="336" cy="1113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2400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0968" name="AutoShape 13">
              <a:extLst>
                <a:ext uri="{FF2B5EF4-FFF2-40B4-BE49-F238E27FC236}">
                  <a16:creationId xmlns:a16="http://schemas.microsoft.com/office/drawing/2014/main" id="{FAA53CC1-5231-4399-B655-FF9A62777C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8" y="2163"/>
              <a:ext cx="336" cy="204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2400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0969" name="AutoShape 14">
              <a:extLst>
                <a:ext uri="{FF2B5EF4-FFF2-40B4-BE49-F238E27FC236}">
                  <a16:creationId xmlns:a16="http://schemas.microsoft.com/office/drawing/2014/main" id="{739B2762-E7E5-4DC6-BC04-11257E7CC8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4" y="2406"/>
              <a:ext cx="1606" cy="1113"/>
            </a:xfrm>
            <a:prstGeom prst="roundRect">
              <a:avLst>
                <a:gd name="adj" fmla="val 5690"/>
              </a:avLst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2400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0970" name="AutoShape 15">
              <a:extLst>
                <a:ext uri="{FF2B5EF4-FFF2-40B4-BE49-F238E27FC236}">
                  <a16:creationId xmlns:a16="http://schemas.microsoft.com/office/drawing/2014/main" id="{733070F1-3F73-4DEF-A601-1DBE0EC0A2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4" y="2163"/>
              <a:ext cx="1605" cy="204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2400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0971" name="Text Box 16">
              <a:extLst>
                <a:ext uri="{FF2B5EF4-FFF2-40B4-BE49-F238E27FC236}">
                  <a16:creationId xmlns:a16="http://schemas.microsoft.com/office/drawing/2014/main" id="{CAC55BAB-076A-4B16-A020-B7E0F94ECA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90" y="1674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zh-CN" altLang="en-US" sz="1600">
                  <a:solidFill>
                    <a:schemeClr val="tx2"/>
                  </a:solidFill>
                  <a:latin typeface="Times New Roman" panose="02020603050405020304" pitchFamily="18" charset="0"/>
                </a:rPr>
                <a:t>列表头</a:t>
              </a:r>
            </a:p>
          </p:txBody>
        </p:sp>
        <p:sp>
          <p:nvSpPr>
            <p:cNvPr id="40972" name="Text Box 17">
              <a:extLst>
                <a:ext uri="{FF2B5EF4-FFF2-40B4-BE49-F238E27FC236}">
                  <a16:creationId xmlns:a16="http://schemas.microsoft.com/office/drawing/2014/main" id="{3554A629-7E05-4249-BB0D-880C9DA040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6" y="1674"/>
              <a:ext cx="91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zh-CN" altLang="en-US" sz="1600">
                  <a:solidFill>
                    <a:schemeClr val="tx2"/>
                  </a:solidFill>
                  <a:latin typeface="Times New Roman" panose="02020603050405020304" pitchFamily="18" charset="0"/>
                </a:rPr>
                <a:t>十字链表表头</a:t>
              </a:r>
            </a:p>
          </p:txBody>
        </p:sp>
        <p:sp>
          <p:nvSpPr>
            <p:cNvPr id="40973" name="Text Box 18">
              <a:extLst>
                <a:ext uri="{FF2B5EF4-FFF2-40B4-BE49-F238E27FC236}">
                  <a16:creationId xmlns:a16="http://schemas.microsoft.com/office/drawing/2014/main" id="{68E1EDD5-8CFF-417E-B7E9-6B63B1A8C4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3700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zh-CN" altLang="en-US" sz="1600">
                  <a:solidFill>
                    <a:schemeClr val="tx2"/>
                  </a:solidFill>
                  <a:latin typeface="Times New Roman" panose="02020603050405020304" pitchFamily="18" charset="0"/>
                </a:rPr>
                <a:t>行表头</a:t>
              </a:r>
            </a:p>
          </p:txBody>
        </p:sp>
        <p:sp>
          <p:nvSpPr>
            <p:cNvPr id="40974" name="Text Box 19">
              <a:extLst>
                <a:ext uri="{FF2B5EF4-FFF2-40B4-BE49-F238E27FC236}">
                  <a16:creationId xmlns:a16="http://schemas.microsoft.com/office/drawing/2014/main" id="{1B83CC6B-E8F7-4104-B76C-2E431D1105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6" y="3700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zh-CN" altLang="en-US" sz="1600">
                  <a:solidFill>
                    <a:schemeClr val="tx2"/>
                  </a:solidFill>
                  <a:latin typeface="Times New Roman" panose="02020603050405020304" pitchFamily="18" charset="0"/>
                </a:rPr>
                <a:t>表体</a:t>
              </a:r>
              <a:endParaRPr lang="en-US" altLang="zh-CN" sz="160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0975" name="Line 20">
              <a:extLst>
                <a:ext uri="{FF2B5EF4-FFF2-40B4-BE49-F238E27FC236}">
                  <a16:creationId xmlns:a16="http://schemas.microsoft.com/office/drawing/2014/main" id="{9593654D-A08B-47AD-B450-266851C5D2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8" y="1878"/>
              <a:ext cx="34" cy="283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76" name="Line 21">
              <a:extLst>
                <a:ext uri="{FF2B5EF4-FFF2-40B4-BE49-F238E27FC236}">
                  <a16:creationId xmlns:a16="http://schemas.microsoft.com/office/drawing/2014/main" id="{56143B5F-CA69-4011-BD1C-8DDAC25DDB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48" y="3532"/>
              <a:ext cx="0" cy="204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77" name="Line 22">
              <a:extLst>
                <a:ext uri="{FF2B5EF4-FFF2-40B4-BE49-F238E27FC236}">
                  <a16:creationId xmlns:a16="http://schemas.microsoft.com/office/drawing/2014/main" id="{1927D378-29D0-4E23-9F0E-650F686719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46" y="3532"/>
              <a:ext cx="0" cy="204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78" name="Line 23">
              <a:extLst>
                <a:ext uri="{FF2B5EF4-FFF2-40B4-BE49-F238E27FC236}">
                  <a16:creationId xmlns:a16="http://schemas.microsoft.com/office/drawing/2014/main" id="{6BD0DA3B-EC88-4AEE-AE0E-31C1FB6D04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48" y="1874"/>
              <a:ext cx="0" cy="295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灯片编号占位符 5">
            <a:extLst>
              <a:ext uri="{FF2B5EF4-FFF2-40B4-BE49-F238E27FC236}">
                <a16:creationId xmlns:a16="http://schemas.microsoft.com/office/drawing/2014/main" id="{C814D4AA-F76A-4C3C-953A-9DB5FD02D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6FE7F51-EE1F-43C8-9CFA-944170AD40E5}" type="slidenum">
              <a:rPr lang="zh-CN" altLang="en-US" sz="14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19A55F22-2B7E-4644-9938-D63B71AA82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828800"/>
            <a:ext cx="7772400" cy="20574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8000" b="1" dirty="0">
                <a:latin typeface="宋体" panose="02010600030101010101" pitchFamily="2" charset="-122"/>
                <a:ea typeface="宋体" panose="02010600030101010101" pitchFamily="2" charset="-122"/>
              </a:rPr>
              <a:t>End</a:t>
            </a:r>
            <a:br>
              <a:rPr lang="en-US" altLang="zh-CN" sz="8000" b="1" dirty="0">
                <a:latin typeface="宋体" panose="02010600030101010101" pitchFamily="2" charset="-122"/>
                <a:ea typeface="宋体" panose="02010600030101010101" pitchFamily="2" charset="-122"/>
              </a:rPr>
            </a:b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InternetComputing">
  <a:themeElements>
    <a:clrScheme name="软件技术基础">
      <a:dk1>
        <a:srgbClr val="000000"/>
      </a:dk1>
      <a:lt1>
        <a:srgbClr val="FF0000"/>
      </a:lt1>
      <a:dk2>
        <a:srgbClr val="000000"/>
      </a:dk2>
      <a:lt2>
        <a:srgbClr val="FF0000"/>
      </a:lt2>
      <a:accent1>
        <a:srgbClr val="0000D4"/>
      </a:accent1>
      <a:accent2>
        <a:srgbClr val="FFCBCC"/>
      </a:accent2>
      <a:accent3>
        <a:srgbClr val="AAAAFF"/>
      </a:accent3>
      <a:accent4>
        <a:srgbClr val="DADADA"/>
      </a:accent4>
      <a:accent5>
        <a:srgbClr val="FFCAAA"/>
      </a:accent5>
      <a:accent6>
        <a:srgbClr val="00E7E7"/>
      </a:accent6>
      <a:hlink>
        <a:srgbClr val="FF0000"/>
      </a:hlink>
      <a:folHlink>
        <a:srgbClr val="969696"/>
      </a:folHlink>
    </a:clrScheme>
    <a:fontScheme name="InternetComputing">
      <a:majorFont>
        <a:latin typeface="Arial"/>
        <a:ea typeface=""/>
        <a:cs typeface=""/>
      </a:majorFont>
      <a:minorFont>
        <a:latin typeface="Book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18000" tIns="10800" rIns="18000" bIns="1080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18000" tIns="10800" rIns="18000" bIns="1080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InternetComputin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ernetComputing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ernetComputing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ernetComputing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ernetComputing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ernetComputing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ernetComputing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20191</TotalTime>
  <Words>2529</Words>
  <Application>Microsoft Office PowerPoint</Application>
  <PresentationFormat>全屏显示(4:3)</PresentationFormat>
  <Paragraphs>397</Paragraphs>
  <Slides>16</Slides>
  <Notes>9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3" baseType="lpstr">
      <vt:lpstr>Bookman</vt:lpstr>
      <vt:lpstr>宋体</vt:lpstr>
      <vt:lpstr>微软雅黑</vt:lpstr>
      <vt:lpstr>Arial</vt:lpstr>
      <vt:lpstr>Times New Roman</vt:lpstr>
      <vt:lpstr>InternetComputing</vt:lpstr>
      <vt:lpstr>Equation</vt:lpstr>
      <vt:lpstr>数据结构与操作系统 （第四讲）</vt:lpstr>
      <vt:lpstr>3. 数据结构 3.3 数组</vt:lpstr>
      <vt:lpstr>3. 数据结构 3.3 数组</vt:lpstr>
      <vt:lpstr>3. 数据结构 3.3 数组</vt:lpstr>
      <vt:lpstr>3. 数据结构 3.3 数组</vt:lpstr>
      <vt:lpstr>3. 数据结构 3.3 数组</vt:lpstr>
      <vt:lpstr>3. 数据结构 3.3 数组</vt:lpstr>
      <vt:lpstr>3. 数据结构 3.3 数组</vt:lpstr>
      <vt:lpstr>3. 数据结构 3.3 数组</vt:lpstr>
      <vt:lpstr>3. 数据结构 3.3 数组</vt:lpstr>
      <vt:lpstr>3. 数据结构 3.3 数组</vt:lpstr>
      <vt:lpstr>3. 数据结构 3.3 数组</vt:lpstr>
      <vt:lpstr>3. 数据结构 3.3 数组</vt:lpstr>
      <vt:lpstr>3. 数据结构 3.3 数组</vt:lpstr>
      <vt:lpstr>3. 数据结构 3.3 数组</vt:lpstr>
      <vt:lpstr>End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1053</cp:revision>
  <dcterms:created xsi:type="dcterms:W3CDTF">1999-12-08T03:20:02Z</dcterms:created>
  <dcterms:modified xsi:type="dcterms:W3CDTF">2024-03-05T01:27:10Z</dcterms:modified>
</cp:coreProperties>
</file>