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33"/>
  </p:handoutMasterIdLst>
  <p:sldIdLst>
    <p:sldId id="286" r:id="rId3"/>
    <p:sldId id="258" r:id="rId4"/>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9144000" cy="6858000" type="screen4x3"/>
  <p:notesSz cx="6648450" cy="9782175"/>
  <p:custDataLst>
    <p:tags r:id="rId37"/>
  </p:custDataLst>
  <p:defaultTextStyle>
    <a:defPPr>
      <a:defRPr lang="en-US"/>
    </a:defPPr>
    <a:lvl1pPr algn="l" rtl="0" eaLnBrk="0" fontAlgn="base" hangingPunct="0">
      <a:spcBef>
        <a:spcPct val="0"/>
      </a:spcBef>
      <a:spcAft>
        <a:spcPct val="0"/>
      </a:spcAft>
      <a:defRPr sz="1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1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1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1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0000CC"/>
    <a:srgbClr val="FF66CC"/>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38" autoAdjust="0"/>
    <p:restoredTop sz="96757" autoAdjust="0"/>
  </p:normalViewPr>
  <p:slideViewPr>
    <p:cSldViewPr showGuides="1">
      <p:cViewPr varScale="1">
        <p:scale>
          <a:sx n="113" d="100"/>
          <a:sy n="113" d="100"/>
        </p:scale>
        <p:origin x="1554" y="90"/>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7" Type="http://schemas.openxmlformats.org/officeDocument/2006/relationships/tags" Target="tags/tag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handoutMaster" Target="handoutMasters/handoutMaster1.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2881313" cy="488950"/>
          </a:xfrm>
          <a:prstGeom prst="rect">
            <a:avLst/>
          </a:prstGeom>
          <a:noFill/>
          <a:ln w="9525">
            <a:noFill/>
            <a:miter lim="800000"/>
          </a:ln>
          <a:effectLst/>
        </p:spPr>
        <p:txBody>
          <a:bodyPr vert="horz" wrap="square" lIns="93878" tIns="46939" rIns="93878" bIns="46939" numCol="1" anchor="t" anchorCtr="0" compatLnSpc="1"/>
          <a:lstStyle>
            <a:lvl1pPr algn="l" defTabSz="938530">
              <a:defRPr sz="1200"/>
            </a:lvl1pPr>
          </a:lstStyle>
          <a:p>
            <a:pPr>
              <a:defRPr/>
            </a:pPr>
            <a:endParaRPr lang="zh-CN" altLang="en-US"/>
          </a:p>
        </p:txBody>
      </p:sp>
      <p:sp>
        <p:nvSpPr>
          <p:cNvPr id="34819" name="Rectangle 3"/>
          <p:cNvSpPr>
            <a:spLocks noGrp="1" noChangeArrowheads="1"/>
          </p:cNvSpPr>
          <p:nvPr>
            <p:ph type="dt" sz="quarter" idx="1"/>
          </p:nvPr>
        </p:nvSpPr>
        <p:spPr bwMode="auto">
          <a:xfrm>
            <a:off x="3767138" y="0"/>
            <a:ext cx="2881312" cy="488950"/>
          </a:xfrm>
          <a:prstGeom prst="rect">
            <a:avLst/>
          </a:prstGeom>
          <a:noFill/>
          <a:ln w="9525">
            <a:noFill/>
            <a:miter lim="800000"/>
          </a:ln>
          <a:effectLst/>
        </p:spPr>
        <p:txBody>
          <a:bodyPr vert="horz" wrap="square" lIns="93878" tIns="46939" rIns="93878" bIns="46939" numCol="1" anchor="t" anchorCtr="0" compatLnSpc="1"/>
          <a:lstStyle>
            <a:lvl1pPr algn="r" defTabSz="938530">
              <a:defRPr sz="1200"/>
            </a:lvl1pPr>
          </a:lstStyle>
          <a:p>
            <a:pPr>
              <a:defRPr/>
            </a:pPr>
            <a:endParaRPr lang="en-US" altLang="zh-CN"/>
          </a:p>
        </p:txBody>
      </p:sp>
      <p:sp>
        <p:nvSpPr>
          <p:cNvPr id="34820" name="Rectangle 4"/>
          <p:cNvSpPr>
            <a:spLocks noGrp="1" noChangeArrowheads="1"/>
          </p:cNvSpPr>
          <p:nvPr>
            <p:ph type="ftr" sz="quarter" idx="2"/>
          </p:nvPr>
        </p:nvSpPr>
        <p:spPr bwMode="auto">
          <a:xfrm>
            <a:off x="0" y="9293225"/>
            <a:ext cx="2881313" cy="488950"/>
          </a:xfrm>
          <a:prstGeom prst="rect">
            <a:avLst/>
          </a:prstGeom>
          <a:noFill/>
          <a:ln w="9525">
            <a:noFill/>
            <a:miter lim="800000"/>
          </a:ln>
          <a:effectLst/>
        </p:spPr>
        <p:txBody>
          <a:bodyPr vert="horz" wrap="square" lIns="93878" tIns="46939" rIns="93878" bIns="46939" numCol="1" anchor="b" anchorCtr="0" compatLnSpc="1"/>
          <a:lstStyle>
            <a:lvl1pPr algn="l" defTabSz="938530">
              <a:defRPr sz="1200"/>
            </a:lvl1pPr>
          </a:lstStyle>
          <a:p>
            <a:pPr>
              <a:defRPr/>
            </a:pPr>
            <a:endParaRPr lang="en-US" altLang="zh-CN"/>
          </a:p>
        </p:txBody>
      </p:sp>
      <p:sp>
        <p:nvSpPr>
          <p:cNvPr id="34821" name="Rectangle 5"/>
          <p:cNvSpPr>
            <a:spLocks noGrp="1" noChangeArrowheads="1"/>
          </p:cNvSpPr>
          <p:nvPr>
            <p:ph type="sldNum" sz="quarter" idx="3"/>
          </p:nvPr>
        </p:nvSpPr>
        <p:spPr bwMode="auto">
          <a:xfrm>
            <a:off x="3767138" y="9293225"/>
            <a:ext cx="2881312" cy="488950"/>
          </a:xfrm>
          <a:prstGeom prst="rect">
            <a:avLst/>
          </a:prstGeom>
          <a:noFill/>
          <a:ln w="9525">
            <a:noFill/>
            <a:miter lim="800000"/>
          </a:ln>
          <a:effectLst/>
        </p:spPr>
        <p:txBody>
          <a:bodyPr vert="horz" wrap="square" lIns="93878" tIns="46939" rIns="93878" bIns="46939" numCol="1" anchor="b" anchorCtr="0" compatLnSpc="1"/>
          <a:lstStyle>
            <a:lvl1pPr algn="r" defTabSz="938530">
              <a:defRPr sz="1200"/>
            </a:lvl1pPr>
          </a:lstStyle>
          <a:p>
            <a:pPr>
              <a:defRPr/>
            </a:pPr>
            <a:fld id="{83CDD1B1-1DFD-4237-9665-540E5C609461}"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881313" cy="488950"/>
          </a:xfrm>
          <a:prstGeom prst="rect">
            <a:avLst/>
          </a:prstGeom>
          <a:noFill/>
          <a:ln w="9525">
            <a:noFill/>
            <a:miter lim="800000"/>
          </a:ln>
          <a:effectLst/>
        </p:spPr>
        <p:txBody>
          <a:bodyPr vert="horz" wrap="square" lIns="93878" tIns="46939" rIns="93878" bIns="46939" numCol="1" anchor="t" anchorCtr="0" compatLnSpc="1"/>
          <a:lstStyle>
            <a:lvl1pPr algn="l" defTabSz="938530">
              <a:defRPr sz="1200"/>
            </a:lvl1pPr>
          </a:lstStyle>
          <a:p>
            <a:pPr>
              <a:defRPr/>
            </a:pPr>
            <a:endParaRPr lang="zh-CN" altLang="en-US"/>
          </a:p>
        </p:txBody>
      </p:sp>
      <p:sp>
        <p:nvSpPr>
          <p:cNvPr id="3075" name="Rectangle 3"/>
          <p:cNvSpPr>
            <a:spLocks noGrp="1" noChangeArrowheads="1"/>
          </p:cNvSpPr>
          <p:nvPr>
            <p:ph type="dt" idx="1"/>
          </p:nvPr>
        </p:nvSpPr>
        <p:spPr bwMode="auto">
          <a:xfrm>
            <a:off x="3767138" y="0"/>
            <a:ext cx="2881312" cy="488950"/>
          </a:xfrm>
          <a:prstGeom prst="rect">
            <a:avLst/>
          </a:prstGeom>
          <a:noFill/>
          <a:ln w="9525">
            <a:noFill/>
            <a:miter lim="800000"/>
          </a:ln>
          <a:effectLst/>
        </p:spPr>
        <p:txBody>
          <a:bodyPr vert="horz" wrap="square" lIns="93878" tIns="46939" rIns="93878" bIns="46939" numCol="1" anchor="t" anchorCtr="0" compatLnSpc="1"/>
          <a:lstStyle>
            <a:lvl1pPr algn="r" defTabSz="938530">
              <a:defRPr sz="1200"/>
            </a:lvl1pPr>
          </a:lstStyle>
          <a:p>
            <a:pPr>
              <a:defRPr/>
            </a:pPr>
            <a:endParaRPr lang="en-US" altLang="zh-CN"/>
          </a:p>
        </p:txBody>
      </p:sp>
      <p:sp>
        <p:nvSpPr>
          <p:cNvPr id="15364" name="Rectangle 4"/>
          <p:cNvSpPr>
            <a:spLocks noGrp="1" noRot="1" noChangeAspect="1" noChangeArrowheads="1" noTextEdit="1"/>
          </p:cNvSpPr>
          <p:nvPr>
            <p:ph type="sldImg" idx="2"/>
          </p:nvPr>
        </p:nvSpPr>
        <p:spPr bwMode="auto">
          <a:xfrm>
            <a:off x="879475" y="735013"/>
            <a:ext cx="4889500" cy="366712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885825" y="4646613"/>
            <a:ext cx="4876800" cy="4400550"/>
          </a:xfrm>
          <a:prstGeom prst="rect">
            <a:avLst/>
          </a:prstGeom>
          <a:noFill/>
          <a:ln w="9525">
            <a:noFill/>
            <a:miter lim="800000"/>
          </a:ln>
          <a:effectLst/>
        </p:spPr>
        <p:txBody>
          <a:bodyPr vert="horz" wrap="square" lIns="93878" tIns="46939" rIns="93878" bIns="46939"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3078" name="Rectangle 6"/>
          <p:cNvSpPr>
            <a:spLocks noGrp="1" noChangeArrowheads="1"/>
          </p:cNvSpPr>
          <p:nvPr>
            <p:ph type="ftr" sz="quarter" idx="4"/>
          </p:nvPr>
        </p:nvSpPr>
        <p:spPr bwMode="auto">
          <a:xfrm>
            <a:off x="0" y="9293225"/>
            <a:ext cx="2881313" cy="488950"/>
          </a:xfrm>
          <a:prstGeom prst="rect">
            <a:avLst/>
          </a:prstGeom>
          <a:noFill/>
          <a:ln w="9525">
            <a:noFill/>
            <a:miter lim="800000"/>
          </a:ln>
          <a:effectLst/>
        </p:spPr>
        <p:txBody>
          <a:bodyPr vert="horz" wrap="square" lIns="93878" tIns="46939" rIns="93878" bIns="46939" numCol="1" anchor="b" anchorCtr="0" compatLnSpc="1"/>
          <a:lstStyle>
            <a:lvl1pPr algn="l" defTabSz="938530">
              <a:defRPr sz="1200"/>
            </a:lvl1pPr>
          </a:lstStyle>
          <a:p>
            <a:pPr>
              <a:defRPr/>
            </a:pPr>
            <a:endParaRPr lang="en-US" altLang="zh-CN"/>
          </a:p>
        </p:txBody>
      </p:sp>
      <p:sp>
        <p:nvSpPr>
          <p:cNvPr id="3079" name="Rectangle 7"/>
          <p:cNvSpPr>
            <a:spLocks noGrp="1" noChangeArrowheads="1"/>
          </p:cNvSpPr>
          <p:nvPr>
            <p:ph type="sldNum" sz="quarter" idx="5"/>
          </p:nvPr>
        </p:nvSpPr>
        <p:spPr bwMode="auto">
          <a:xfrm>
            <a:off x="3767138" y="9293225"/>
            <a:ext cx="2881312" cy="488950"/>
          </a:xfrm>
          <a:prstGeom prst="rect">
            <a:avLst/>
          </a:prstGeom>
          <a:noFill/>
          <a:ln w="9525">
            <a:noFill/>
            <a:miter lim="800000"/>
          </a:ln>
          <a:effectLst/>
        </p:spPr>
        <p:txBody>
          <a:bodyPr vert="horz" wrap="square" lIns="93878" tIns="46939" rIns="93878" bIns="46939" numCol="1" anchor="b" anchorCtr="0" compatLnSpc="1"/>
          <a:lstStyle>
            <a:lvl1pPr algn="r" defTabSz="938530">
              <a:defRPr sz="1200"/>
            </a:lvl1pPr>
          </a:lstStyle>
          <a:p>
            <a:pPr>
              <a:defRPr/>
            </a:pPr>
            <a:fld id="{183B27F2-2CD7-4437-B2D2-D13EB6A86BB4}"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E500B90F-1AA3-4866-A2DB-28339F70DE12}" type="slidenum">
              <a:rPr lang="zh-CN" altLang="en-US" sz="1200" smtClean="0"/>
            </a:fld>
            <a:endParaRPr lang="en-US" altLang="zh-CN" sz="1200"/>
          </a:p>
        </p:txBody>
      </p:sp>
      <p:sp>
        <p:nvSpPr>
          <p:cNvPr id="20483" name="Rectangle 2"/>
          <p:cNvSpPr>
            <a:spLocks noGrp="1" noRot="1" noChangeAspect="1" noChangeArrowheads="1" noTextEdit="1"/>
          </p:cNvSpPr>
          <p:nvPr>
            <p:ph type="sldImg"/>
          </p:nvPr>
        </p:nvSpPr>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F858FFC1-5DFE-4F60-A253-80607CF4A864}" type="slidenum">
              <a:rPr lang="zh-CN" altLang="en-US" sz="1200" smtClean="0"/>
            </a:fld>
            <a:endParaRPr lang="en-US" altLang="zh-CN" sz="1200"/>
          </a:p>
        </p:txBody>
      </p:sp>
      <p:sp>
        <p:nvSpPr>
          <p:cNvPr id="22531" name="Rectangle 2"/>
          <p:cNvSpPr>
            <a:spLocks noGrp="1" noRot="1" noChangeAspect="1" noChangeArrowheads="1" noTextEdit="1"/>
          </p:cNvSpPr>
          <p:nvPr>
            <p:ph type="sldImg"/>
          </p:nvPr>
        </p:nvSpPr>
        <p:spPr/>
      </p:sp>
      <p:sp>
        <p:nvSpPr>
          <p:cNvPr id="225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BB3F6827-8819-4411-9DA5-4B15AB81A399}" type="slidenum">
              <a:rPr lang="zh-CN" altLang="en-US" sz="1200" smtClean="0"/>
            </a:fld>
            <a:endParaRPr lang="en-US" altLang="zh-CN" sz="1200"/>
          </a:p>
        </p:txBody>
      </p:sp>
      <p:sp>
        <p:nvSpPr>
          <p:cNvPr id="24579" name="Rectangle 2"/>
          <p:cNvSpPr>
            <a:spLocks noGrp="1" noRot="1" noChangeAspect="1" noChangeArrowheads="1" noTextEdit="1"/>
          </p:cNvSpPr>
          <p:nvPr>
            <p:ph type="sldImg"/>
          </p:nvPr>
        </p:nvSpPr>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数据元素，类似于</a:t>
            </a:r>
            <a:r>
              <a:rPr lang="en-US" altLang="zh-CN"/>
              <a:t>C</a:t>
            </a:r>
            <a:r>
              <a:rPr lang="zh-CN" altLang="en-US"/>
              <a:t>语言中的“结构型”数据类型，可以有嵌套。</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60DC91F1-6A45-42EB-8215-3157A1134B95}" type="slidenum">
              <a:rPr lang="zh-CN" altLang="en-US" sz="1200" smtClean="0"/>
            </a:fld>
            <a:endParaRPr lang="en-US" altLang="zh-CN" sz="1200"/>
          </a:p>
        </p:txBody>
      </p:sp>
      <p:sp>
        <p:nvSpPr>
          <p:cNvPr id="26627" name="Rectangle 2"/>
          <p:cNvSpPr>
            <a:spLocks noGrp="1" noRot="1" noChangeAspect="1" noChangeArrowheads="1" noTextEdit="1"/>
          </p:cNvSpPr>
          <p:nvPr>
            <p:ph type="sldImg"/>
          </p:nvPr>
        </p:nvSpPr>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例如：排队的时候，人与人之间就是一个接一个的顺序关系；上级机构和下级机构的关系，父子关系，构成一对多的关系；交叉路口之间构成多对多的关系。</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p:sp>
      <p:sp>
        <p:nvSpPr>
          <p:cNvPr id="2867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用于存储数据、用于算法和操作；</a:t>
            </a:r>
            <a:endParaRPr lang="en-US" altLang="zh-CN"/>
          </a:p>
          <a:p>
            <a:r>
              <a:rPr lang="zh-CN" altLang="en-US"/>
              <a:t>要想编好程序</a:t>
            </a:r>
            <a:r>
              <a:rPr lang="en-US" altLang="zh-CN"/>
              <a:t>,</a:t>
            </a:r>
            <a:r>
              <a:rPr lang="zh-CN" altLang="en-US"/>
              <a:t>必须首先弄懂数据结构</a:t>
            </a:r>
            <a:r>
              <a:rPr lang="en-US" altLang="zh-CN"/>
              <a:t>.</a:t>
            </a:r>
            <a:endParaRPr lang="en-US" altLang="zh-CN"/>
          </a:p>
          <a:p>
            <a:r>
              <a:rPr lang="zh-CN" altLang="en-US"/>
              <a:t>数据结构中，会介绍与其相关的一些基本算法。</a:t>
            </a:r>
            <a:endParaRPr lang="zh-CN" altLang="en-US"/>
          </a:p>
        </p:txBody>
      </p:sp>
      <p:sp>
        <p:nvSpPr>
          <p:cNvPr id="2867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02CD876B-573D-4DB8-B7A3-4BE28C953B4C}" type="slidenum">
              <a:rPr lang="zh-CN" altLang="en-US" sz="1200" smtClean="0"/>
            </a:fld>
            <a:endParaRPr lang="en-US" altLang="zh-CN"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p:sp>
      <p:sp>
        <p:nvSpPr>
          <p:cNvPr id="307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物理结构，也就是在计算机的存储器（内存或外存）当中存储的时候，数据和数据之间的关系。好比货物在仓库当中摆放的时候，货物和货物之间的关系。</a:t>
            </a:r>
            <a:endParaRPr lang="zh-CN" altLang="en-US"/>
          </a:p>
        </p:txBody>
      </p:sp>
      <p:sp>
        <p:nvSpPr>
          <p:cNvPr id="307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CEB80035-AE5F-455C-A7DA-398CFA5883F0}" type="slidenum">
              <a:rPr lang="zh-CN" altLang="en-US" sz="1200" smtClean="0"/>
            </a:fld>
            <a:endParaRPr lang="en-US" altLang="zh-CN"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p:sp>
      <p:sp>
        <p:nvSpPr>
          <p:cNvPr id="327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327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338E2E49-8380-43B0-BDBA-78BC15B33349}" type="slidenum">
              <a:rPr lang="zh-CN" altLang="en-US" sz="1200" smtClean="0"/>
            </a:fld>
            <a:endParaRPr lang="en-US" altLang="zh-CN"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4EF8F1BB-921E-4456-813F-831C2389CC50}" type="slidenum">
              <a:rPr lang="zh-CN" altLang="en-US" sz="1200" smtClean="0"/>
            </a:fld>
            <a:endParaRPr lang="en-US" altLang="zh-CN" sz="1200"/>
          </a:p>
        </p:txBody>
      </p:sp>
      <p:sp>
        <p:nvSpPr>
          <p:cNvPr id="34819" name="Rectangle 2"/>
          <p:cNvSpPr>
            <a:spLocks noGrp="1" noRot="1" noChangeAspect="1" noChangeArrowheads="1" noTextEdit="1"/>
          </p:cNvSpPr>
          <p:nvPr>
            <p:ph type="sldImg"/>
          </p:nvPr>
        </p:nvSpPr>
        <p:spPr/>
      </p:sp>
      <p:sp>
        <p:nvSpPr>
          <p:cNvPr id="49156" name="Rectangle 3"/>
          <p:cNvSpPr>
            <a:spLocks noGrp="1" noChangeArrowheads="1"/>
          </p:cNvSpPr>
          <p:nvPr>
            <p:ph type="body" idx="1"/>
          </p:nvPr>
        </p:nvSpPr>
        <p:spPr/>
        <p:txBody>
          <a:bodyPr/>
          <a:lstStyle/>
          <a:p>
            <a:pPr>
              <a:lnSpc>
                <a:spcPct val="90000"/>
              </a:lnSpc>
              <a:buFont typeface="Arial" panose="020B0604020202020204" pitchFamily="34" charset="0"/>
              <a:buNone/>
              <a:defRPr/>
            </a:pPr>
            <a:r>
              <a:rPr lang="zh-CN" altLang="en-US" sz="1400" dirty="0">
                <a:latin typeface="+mn-ea"/>
              </a:rPr>
              <a:t>索引存储结构</a:t>
            </a:r>
            <a:r>
              <a:rPr lang="en-US" altLang="zh-CN" sz="1400" dirty="0">
                <a:latin typeface="+mn-ea"/>
              </a:rPr>
              <a:t>:</a:t>
            </a:r>
            <a:r>
              <a:rPr lang="zh-CN" altLang="en-US" sz="1400" dirty="0">
                <a:latin typeface="+mn-ea"/>
              </a:rPr>
              <a:t> 创建一个索引表</a:t>
            </a:r>
            <a:r>
              <a:rPr lang="en-US" altLang="zh-CN" sz="1400" dirty="0">
                <a:latin typeface="+mn-ea"/>
              </a:rPr>
              <a:t>,</a:t>
            </a:r>
            <a:r>
              <a:rPr lang="zh-CN" altLang="en-US" sz="1400" dirty="0">
                <a:latin typeface="+mn-ea"/>
              </a:rPr>
              <a:t>保存数据元素的地址</a:t>
            </a:r>
            <a:endParaRPr lang="en-US" altLang="zh-CN" sz="1400" dirty="0">
              <a:latin typeface="+mn-ea"/>
            </a:endParaRPr>
          </a:p>
          <a:p>
            <a:pPr>
              <a:lnSpc>
                <a:spcPct val="90000"/>
              </a:lnSpc>
              <a:buFont typeface="Arial" panose="020B0604020202020204" pitchFamily="34" charset="0"/>
              <a:buNone/>
              <a:defRPr/>
            </a:pPr>
            <a:r>
              <a:rPr lang="zh-CN" altLang="en-US" sz="1400" dirty="0">
                <a:latin typeface="+mn-ea"/>
              </a:rPr>
              <a:t>散列存储结构</a:t>
            </a:r>
            <a:r>
              <a:rPr lang="en-US" altLang="zh-CN" sz="1400" dirty="0">
                <a:latin typeface="+mn-ea"/>
              </a:rPr>
              <a:t>:</a:t>
            </a:r>
            <a:r>
              <a:rPr lang="zh-CN" altLang="en-US" sz="1400" dirty="0">
                <a:latin typeface="+mn-ea"/>
              </a:rPr>
              <a:t> 通过对数据元素关键字的映射</a:t>
            </a:r>
            <a:r>
              <a:rPr lang="en-US" altLang="zh-CN" sz="1400" dirty="0">
                <a:latin typeface="+mn-ea"/>
              </a:rPr>
              <a:t>,</a:t>
            </a:r>
            <a:r>
              <a:rPr lang="zh-CN" altLang="en-US" sz="1400" dirty="0">
                <a:latin typeface="+mn-ea"/>
              </a:rPr>
              <a:t>直接找到数据</a:t>
            </a:r>
            <a:r>
              <a:rPr lang="zh-CN" altLang="en-US" sz="1600" dirty="0">
                <a:latin typeface="+mn-ea"/>
              </a:rPr>
              <a:t>元素的地址</a:t>
            </a:r>
            <a:endParaRPr lang="en-US" altLang="zh-CN" sz="1600" dirty="0">
              <a:latin typeface="+mn-ea"/>
            </a:endParaRPr>
          </a:p>
          <a:p>
            <a:pPr>
              <a:defRPr/>
            </a:pPr>
            <a:endParaRPr lang="en-US" altLang="zh-CN" sz="1400" dirty="0">
              <a:latin typeface="+mn-ea"/>
            </a:endParaRPr>
          </a:p>
          <a:p>
            <a:pPr>
              <a:defRPr/>
            </a:pPr>
            <a:r>
              <a:rPr lang="zh-CN" altLang="en-US" sz="1400" dirty="0">
                <a:latin typeface="+mn-ea"/>
              </a:rPr>
              <a:t>程序</a:t>
            </a:r>
            <a:r>
              <a:rPr lang="en-US" altLang="zh-CN" sz="1400" dirty="0">
                <a:latin typeface="+mn-ea"/>
              </a:rPr>
              <a:t>=</a:t>
            </a:r>
            <a:r>
              <a:rPr lang="zh-CN" altLang="en-US" sz="1400" dirty="0">
                <a:latin typeface="+mn-ea"/>
              </a:rPr>
              <a:t>数据结构</a:t>
            </a:r>
            <a:r>
              <a:rPr lang="en-US" altLang="zh-CN" sz="1400" dirty="0">
                <a:latin typeface="+mn-ea"/>
              </a:rPr>
              <a:t>+</a:t>
            </a:r>
            <a:r>
              <a:rPr lang="zh-CN" altLang="en-US" sz="1400" dirty="0">
                <a:latin typeface="+mn-ea"/>
              </a:rPr>
              <a:t>算法，讲数据结构，离不开算法，算法有好有坏、效率有高有低</a:t>
            </a:r>
            <a:endParaRPr lang="en-US" altLang="zh-CN" sz="1400" dirty="0">
              <a:latin typeface="+mn-ea"/>
            </a:endParaRPr>
          </a:p>
          <a:p>
            <a:pPr>
              <a:defRPr/>
            </a:pPr>
            <a:endParaRPr lang="en-US" altLang="zh-CN" sz="1400" dirty="0">
              <a:latin typeface="+mn-ea"/>
            </a:endParaRPr>
          </a:p>
          <a:p>
            <a:pPr>
              <a:defRPr/>
            </a:pPr>
            <a:r>
              <a:rPr lang="zh-CN" altLang="en-US" sz="1400" dirty="0">
                <a:latin typeface="+mn-ea"/>
              </a:rPr>
              <a:t>空间复杂度：辅助存储空间，而不是原始数据所占用的空间，一般指</a:t>
            </a:r>
            <a:r>
              <a:rPr lang="en-US" altLang="zh-CN" sz="1400" dirty="0" err="1">
                <a:latin typeface="+mn-ea"/>
              </a:rPr>
              <a:t>i,j</a:t>
            </a:r>
            <a:r>
              <a:rPr lang="en-US" altLang="zh-CN" sz="1400" dirty="0">
                <a:latin typeface="+mn-ea"/>
              </a:rPr>
              <a:t>,</a:t>
            </a:r>
            <a:r>
              <a:rPr lang="zh-CN" altLang="en-US" sz="1400" dirty="0">
                <a:latin typeface="+mn-ea"/>
              </a:rPr>
              <a:t>这样的为完成算法执行所占用的存储空间。</a:t>
            </a:r>
            <a:endParaRPr lang="en-US" altLang="zh-CN" sz="1400" dirty="0">
              <a:latin typeface="+mn-ea"/>
            </a:endParaRPr>
          </a:p>
          <a:p>
            <a:pPr>
              <a:defRPr/>
            </a:pPr>
            <a:endParaRPr lang="en-US" altLang="zh-CN" sz="1400" dirty="0">
              <a:latin typeface="+mn-ea"/>
            </a:endParaRPr>
          </a:p>
          <a:p>
            <a:pPr>
              <a:defRPr/>
            </a:pP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p:sp>
      <p:sp>
        <p:nvSpPr>
          <p:cNvPr id="368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68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D60C82C8-8F05-4B72-93B9-AA8A0E9F01F0}" type="slidenum">
              <a:rPr lang="zh-CN" altLang="en-US" sz="1200" smtClean="0"/>
            </a:fld>
            <a:endParaRPr lang="en-US" altLang="zh-CN"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p:sp>
      <p:sp>
        <p:nvSpPr>
          <p:cNvPr id="389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891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DA5147EE-70BF-4B45-B989-C40D74F831F4}" type="slidenum">
              <a:rPr lang="zh-CN" altLang="en-US" sz="1200" smtClean="0"/>
            </a:fld>
            <a:endParaRPr lang="en-US" altLang="zh-CN"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p:sp>
      <p:sp>
        <p:nvSpPr>
          <p:cNvPr id="419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通常用一个变量标记线性表的最大长度、用一个变量标记线性表中有效元素的个数，。。。</a:t>
            </a:r>
            <a:endParaRPr lang="zh-CN" altLang="en-US"/>
          </a:p>
        </p:txBody>
      </p:sp>
      <p:sp>
        <p:nvSpPr>
          <p:cNvPr id="419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EF9FB1A4-11CE-49BE-A9C0-62A468C0465C}" type="slidenum">
              <a:rPr lang="zh-CN" altLang="en-US" sz="1200" smtClean="0"/>
            </a:fld>
            <a:endParaRPr lang="en-US" altLang="zh-CN"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p:sp>
      <p:sp>
        <p:nvSpPr>
          <p:cNvPr id="440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在数据结构当中，算法以及操作的实现，我们采用伪代码来进行表示。</a:t>
            </a:r>
            <a:endParaRPr lang="zh-CN" altLang="en-US"/>
          </a:p>
        </p:txBody>
      </p:sp>
      <p:sp>
        <p:nvSpPr>
          <p:cNvPr id="440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6D3D17E8-7EBF-4CF2-B67C-A9A80EB8D7A4}" type="slidenum">
              <a:rPr lang="zh-CN" altLang="en-US" sz="1200" smtClean="0"/>
            </a:fld>
            <a:endParaRPr lang="en-US" altLang="zh-CN"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p:sp>
      <p:sp>
        <p:nvSpPr>
          <p:cNvPr id="460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i = n+1 </a:t>
            </a:r>
            <a:r>
              <a:rPr lang="zh-CN" altLang="en-US"/>
              <a:t>时，可代替前面讲的在结尾处插入。</a:t>
            </a:r>
            <a:endParaRPr lang="en-US" altLang="zh-CN"/>
          </a:p>
          <a:p>
            <a:r>
              <a:rPr lang="en-US" altLang="zh-CN">
                <a:latin typeface="宋体" panose="02010600030101010101" pitchFamily="2" charset="-122"/>
              </a:rPr>
              <a:t>for j = n to i step </a:t>
            </a:r>
            <a:r>
              <a:rPr lang="en-US" altLang="zh-CN"/>
              <a:t>–</a:t>
            </a:r>
            <a:r>
              <a:rPr lang="en-US" altLang="zh-CN">
                <a:latin typeface="宋体" panose="02010600030101010101" pitchFamily="2" charset="-122"/>
              </a:rPr>
              <a:t>1   </a:t>
            </a:r>
            <a:r>
              <a:rPr lang="zh-CN" altLang="en-US">
                <a:latin typeface="宋体" panose="02010600030101010101" pitchFamily="2" charset="-122"/>
              </a:rPr>
              <a:t>用</a:t>
            </a:r>
            <a:r>
              <a:rPr lang="en-US" altLang="zh-CN">
                <a:latin typeface="宋体" panose="02010600030101010101" pitchFamily="2" charset="-122"/>
              </a:rPr>
              <a:t>C</a:t>
            </a:r>
            <a:r>
              <a:rPr lang="zh-CN" altLang="en-US">
                <a:latin typeface="宋体" panose="02010600030101010101" pitchFamily="2" charset="-122"/>
              </a:rPr>
              <a:t>实现的话，</a:t>
            </a:r>
            <a:r>
              <a:rPr lang="en-US" altLang="zh-CN">
                <a:latin typeface="宋体" panose="02010600030101010101" pitchFamily="2" charset="-122"/>
              </a:rPr>
              <a:t>for (j=n, j&gt;=i, j--), </a:t>
            </a:r>
            <a:r>
              <a:rPr lang="zh-CN" altLang="en-US">
                <a:latin typeface="宋体" panose="02010600030101010101" pitchFamily="2" charset="-122"/>
              </a:rPr>
              <a:t>所以在结尾处插入的时候，无需数据的移动。</a:t>
            </a:r>
            <a:endParaRPr lang="zh-CN" altLang="en-US"/>
          </a:p>
        </p:txBody>
      </p:sp>
      <p:sp>
        <p:nvSpPr>
          <p:cNvPr id="4608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805E9A49-4863-4544-B2E2-A3A9233650C8}" type="slidenum">
              <a:rPr lang="zh-CN" altLang="en-US" sz="1200" smtClean="0"/>
            </a:fld>
            <a:endParaRPr lang="en-US" altLang="zh-CN"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p:sp>
      <p:sp>
        <p:nvSpPr>
          <p:cNvPr id="491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时间复杂性分析，不是我们讲解的重点，在此做简单的介绍，在后续的算法介绍中，只给结论而不进行详细分析。</a:t>
            </a:r>
            <a:endParaRPr lang="zh-CN" altLang="en-US"/>
          </a:p>
        </p:txBody>
      </p:sp>
      <p:sp>
        <p:nvSpPr>
          <p:cNvPr id="491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CBC30DE2-8CAF-4753-ACE8-8A4F4321E2A4}" type="slidenum">
              <a:rPr lang="zh-CN" altLang="en-US" sz="1200" smtClean="0"/>
            </a:fld>
            <a:endParaRPr lang="en-US" altLang="zh-CN"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链式存储的线性表在内存中的存储情况。</a:t>
            </a:r>
            <a:endParaRPr lang="zh-CN" altLang="en-US"/>
          </a:p>
        </p:txBody>
      </p:sp>
      <p:sp>
        <p:nvSpPr>
          <p:cNvPr id="512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89C489AE-0F14-40B2-8019-68C6DA91970F}" type="slidenum">
              <a:rPr lang="zh-CN" altLang="en-US" sz="1200" smtClean="0"/>
            </a:fld>
            <a:endParaRPr lang="en-US" altLang="zh-CN"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p:sp>
      <p:sp>
        <p:nvSpPr>
          <p:cNvPr id="532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16</a:t>
            </a:r>
            <a:r>
              <a:rPr lang="zh-CN" altLang="en-US"/>
              <a:t>位</a:t>
            </a:r>
            <a:r>
              <a:rPr lang="en-US" altLang="zh-CN"/>
              <a:t>CPU</a:t>
            </a:r>
            <a:r>
              <a:rPr lang="zh-CN" altLang="en-US"/>
              <a:t>，</a:t>
            </a:r>
            <a:r>
              <a:rPr lang="en-US" altLang="zh-CN"/>
              <a:t>8086,20</a:t>
            </a:r>
            <a:r>
              <a:rPr lang="zh-CN" altLang="en-US"/>
              <a:t>条地址线，最大寻址</a:t>
            </a:r>
            <a:r>
              <a:rPr lang="en-US" altLang="zh-CN"/>
              <a:t>1M</a:t>
            </a:r>
            <a:r>
              <a:rPr lang="zh-CN" altLang="en-US"/>
              <a:t>；</a:t>
            </a:r>
            <a:endParaRPr lang="en-US" altLang="zh-CN"/>
          </a:p>
          <a:p>
            <a:r>
              <a:rPr lang="en-US" altLang="zh-CN"/>
              <a:t>80286,24</a:t>
            </a:r>
            <a:r>
              <a:rPr lang="zh-CN" altLang="en-US"/>
              <a:t>位地址总线，最大寻址</a:t>
            </a:r>
            <a:r>
              <a:rPr lang="en-US" altLang="zh-CN"/>
              <a:t>16M</a:t>
            </a:r>
            <a:r>
              <a:rPr lang="zh-CN" altLang="en-US"/>
              <a:t>；（</a:t>
            </a:r>
            <a:r>
              <a:rPr lang="en-US" altLang="zh-CN"/>
              <a:t>3</a:t>
            </a:r>
            <a:r>
              <a:rPr lang="zh-CN" altLang="en-US"/>
              <a:t>字节）（例子中的指针域的指针占用</a:t>
            </a:r>
            <a:r>
              <a:rPr lang="en-US" altLang="zh-CN"/>
              <a:t>3</a:t>
            </a:r>
            <a:r>
              <a:rPr lang="zh-CN" altLang="en-US"/>
              <a:t>个字节）</a:t>
            </a:r>
            <a:endParaRPr lang="en-US" altLang="zh-CN"/>
          </a:p>
          <a:p>
            <a:r>
              <a:rPr lang="en-US" altLang="zh-CN"/>
              <a:t>32</a:t>
            </a:r>
            <a:r>
              <a:rPr lang="zh-CN" altLang="en-US"/>
              <a:t>位的</a:t>
            </a:r>
            <a:r>
              <a:rPr lang="en-US" altLang="zh-CN"/>
              <a:t>80386,32</a:t>
            </a:r>
            <a:r>
              <a:rPr lang="zh-CN" altLang="en-US"/>
              <a:t>位地址总线，最大寻址</a:t>
            </a:r>
            <a:r>
              <a:rPr lang="en-US" altLang="zh-CN"/>
              <a:t>4GB</a:t>
            </a:r>
            <a:r>
              <a:rPr lang="zh-CN" altLang="en-US"/>
              <a:t>；（</a:t>
            </a:r>
            <a:r>
              <a:rPr lang="en-US" altLang="zh-CN"/>
              <a:t>4</a:t>
            </a:r>
            <a:r>
              <a:rPr lang="zh-CN" altLang="en-US"/>
              <a:t>字节）</a:t>
            </a:r>
            <a:endParaRPr lang="en-US" altLang="zh-CN"/>
          </a:p>
          <a:p>
            <a:r>
              <a:rPr lang="en-US" altLang="zh-CN"/>
              <a:t>64</a:t>
            </a:r>
            <a:r>
              <a:rPr lang="zh-CN" altLang="en-US"/>
              <a:t>位</a:t>
            </a:r>
            <a:r>
              <a:rPr lang="en-US" altLang="zh-CN"/>
              <a:t>CPU</a:t>
            </a:r>
            <a:r>
              <a:rPr lang="zh-CN" altLang="en-US"/>
              <a:t>的最大寻址</a:t>
            </a:r>
            <a:r>
              <a:rPr lang="en-US" altLang="zh-CN"/>
              <a:t>2</a:t>
            </a:r>
            <a:r>
              <a:rPr lang="zh-CN" altLang="en-US"/>
              <a:t>的</a:t>
            </a:r>
            <a:r>
              <a:rPr lang="en-US" altLang="zh-CN"/>
              <a:t>64</a:t>
            </a:r>
            <a:r>
              <a:rPr lang="zh-CN" altLang="en-US"/>
              <a:t>次幂。</a:t>
            </a:r>
            <a:endParaRPr lang="zh-CN" altLang="en-US"/>
          </a:p>
          <a:p>
            <a:r>
              <a:rPr lang="zh-CN" altLang="en-US"/>
              <a:t>现在的</a:t>
            </a:r>
            <a:r>
              <a:rPr lang="en-US" altLang="zh-CN"/>
              <a:t>CPU</a:t>
            </a:r>
            <a:r>
              <a:rPr lang="zh-CN" altLang="en-US"/>
              <a:t>大部分都是</a:t>
            </a:r>
            <a:r>
              <a:rPr lang="en-US" altLang="zh-CN"/>
              <a:t>64</a:t>
            </a:r>
            <a:r>
              <a:rPr lang="zh-CN" altLang="en-US"/>
              <a:t>位的，操作系统有</a:t>
            </a:r>
            <a:r>
              <a:rPr lang="en-US" altLang="zh-CN"/>
              <a:t>32</a:t>
            </a:r>
            <a:r>
              <a:rPr lang="zh-CN" altLang="en-US"/>
              <a:t>位的也有</a:t>
            </a:r>
            <a:r>
              <a:rPr lang="en-US" altLang="zh-CN"/>
              <a:t>64</a:t>
            </a:r>
            <a:r>
              <a:rPr lang="zh-CN" altLang="en-US"/>
              <a:t>位的，</a:t>
            </a:r>
            <a:r>
              <a:rPr lang="en-US" altLang="zh-CN"/>
              <a:t>XP</a:t>
            </a:r>
            <a:r>
              <a:rPr lang="zh-CN" altLang="en-US"/>
              <a:t>绝大多数都是</a:t>
            </a:r>
            <a:r>
              <a:rPr lang="en-US" altLang="zh-CN"/>
              <a:t>32</a:t>
            </a:r>
            <a:r>
              <a:rPr lang="zh-CN" altLang="en-US"/>
              <a:t>位的，</a:t>
            </a:r>
            <a:r>
              <a:rPr lang="en-US" altLang="zh-CN"/>
              <a:t>Win8</a:t>
            </a:r>
            <a:r>
              <a:rPr lang="zh-CN" altLang="en-US"/>
              <a:t>是</a:t>
            </a:r>
            <a:r>
              <a:rPr lang="en-US" altLang="zh-CN"/>
              <a:t>64</a:t>
            </a:r>
            <a:r>
              <a:rPr lang="zh-CN" altLang="en-US"/>
              <a:t>位的。</a:t>
            </a:r>
            <a:endParaRPr lang="en-US" altLang="zh-CN"/>
          </a:p>
          <a:p>
            <a:endParaRPr lang="en-US" altLang="zh-CN"/>
          </a:p>
          <a:p>
            <a:endParaRPr lang="en-US" altLang="zh-CN"/>
          </a:p>
          <a:p>
            <a:endParaRPr lang="zh-CN" altLang="en-US"/>
          </a:p>
        </p:txBody>
      </p:sp>
      <p:sp>
        <p:nvSpPr>
          <p:cNvPr id="532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E421AC09-5534-4E8F-8A07-52D77C0DB67F}" type="slidenum">
              <a:rPr lang="zh-CN" altLang="en-US" sz="1200" smtClean="0"/>
            </a:fld>
            <a:endParaRPr lang="en-US" altLang="zh-CN"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p:sp>
      <p:sp>
        <p:nvSpPr>
          <p:cNvPr id="552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对于前插，这里假设插入点不是第一个节点，否则算法有问题。</a:t>
            </a:r>
            <a:endParaRPr lang="en-US" altLang="zh-CN"/>
          </a:p>
          <a:p>
            <a:endParaRPr lang="zh-CN" altLang="en-US"/>
          </a:p>
        </p:txBody>
      </p:sp>
      <p:sp>
        <p:nvSpPr>
          <p:cNvPr id="553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30F155A9-AAF9-4219-897A-597048D7CC9F}" type="slidenum">
              <a:rPr lang="zh-CN" altLang="en-US" sz="1200" smtClean="0"/>
            </a:fld>
            <a:endParaRPr lang="en-US" altLang="zh-CN"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p:sp>
      <p:sp>
        <p:nvSpPr>
          <p:cNvPr id="583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分配池</a:t>
            </a:r>
            <a:r>
              <a:rPr lang="en-US" altLang="zh-CN"/>
              <a:t>=</a:t>
            </a:r>
            <a:r>
              <a:rPr lang="zh-CN" altLang="en-US"/>
              <a:t>可利用空间站</a:t>
            </a:r>
            <a:endParaRPr lang="zh-CN" altLang="en-US"/>
          </a:p>
        </p:txBody>
      </p:sp>
      <p:sp>
        <p:nvSpPr>
          <p:cNvPr id="583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7E20D256-4212-46BF-8134-72AF90E8FD71}" type="slidenum">
              <a:rPr lang="zh-CN" altLang="en-US" sz="1200" smtClean="0"/>
            </a:fld>
            <a:endParaRPr lang="en-US" altLang="zh-CN"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p:sp>
      <p:sp>
        <p:nvSpPr>
          <p:cNvPr id="604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从后往前画。</a:t>
            </a:r>
            <a:endParaRPr lang="zh-CN" altLang="en-US"/>
          </a:p>
        </p:txBody>
      </p:sp>
      <p:sp>
        <p:nvSpPr>
          <p:cNvPr id="604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9BFD29B5-0179-4145-A03C-F7FC85CB7070}" type="slidenum">
              <a:rPr lang="zh-CN" altLang="en-US" sz="1200" smtClean="0"/>
            </a:fld>
            <a:endParaRPr lang="en-US" altLang="zh-CN"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p:sp>
      <p:sp>
        <p:nvSpPr>
          <p:cNvPr id="624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如果表中没有数据元素</a:t>
            </a:r>
            <a:r>
              <a:rPr lang="en-US" altLang="zh-CN"/>
              <a:t>a</a:t>
            </a:r>
            <a:r>
              <a:rPr lang="zh-CN" altLang="en-US"/>
              <a:t>，则找到的指针指向最后一个数据元素。</a:t>
            </a:r>
            <a:r>
              <a:rPr lang="zh-CN" altLang="en-US" b="1"/>
              <a:t>好的算法，应该区分这种情况。</a:t>
            </a:r>
            <a:endParaRPr lang="en-US" altLang="zh-CN" b="1"/>
          </a:p>
          <a:p>
            <a:r>
              <a:rPr lang="en-US" altLang="zh-CN"/>
              <a:t>   </a:t>
            </a:r>
            <a:endParaRPr lang="en-US" altLang="zh-CN"/>
          </a:p>
          <a:p>
            <a:endParaRPr lang="en-US" altLang="zh-CN"/>
          </a:p>
        </p:txBody>
      </p:sp>
      <p:sp>
        <p:nvSpPr>
          <p:cNvPr id="624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5385031F-4F8C-4156-9D59-BC5F3BB8ED97}" type="slidenum">
              <a:rPr lang="zh-CN" altLang="en-US" sz="1200" smtClean="0"/>
            </a:fld>
            <a:endParaRPr lang="en-US" altLang="zh-CN"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p:sp>
      <p:sp>
        <p:nvSpPr>
          <p:cNvPr id="645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kokomade</a:t>
            </a:r>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p:sp>
      <p:sp>
        <p:nvSpPr>
          <p:cNvPr id="665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通常情况下，可以采用这样的链式结构存储线性表，称之为单链表。</a:t>
            </a:r>
            <a:endParaRPr lang="en-US" altLang="zh-CN"/>
          </a:p>
          <a:p>
            <a:endParaRPr lang="en-US" altLang="zh-CN"/>
          </a:p>
          <a:p>
            <a:r>
              <a:rPr lang="zh-CN" altLang="en-US"/>
              <a:t>好处：便于表达一个空表。头结点中也可以存放表中数据元素的个数等信息。</a:t>
            </a:r>
            <a:endParaRPr lang="en-US" altLang="zh-CN"/>
          </a:p>
          <a:p>
            <a:r>
              <a:rPr lang="zh-CN" altLang="en-US"/>
              <a:t>如果没有头结点的话，表空的时候，头指针就没了，不是空表是没表。</a:t>
            </a:r>
            <a:endParaRPr lang="zh-CN" altLang="en-US"/>
          </a:p>
        </p:txBody>
      </p:sp>
      <p:sp>
        <p:nvSpPr>
          <p:cNvPr id="665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7337EA3E-DA31-4E5C-A46C-8B2F57360F82}" type="slidenum">
              <a:rPr lang="zh-CN" altLang="en-US" sz="1200" smtClean="0"/>
            </a:fld>
            <a:endParaRPr lang="en-US" altLang="zh-CN"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p:sp>
      <p:sp>
        <p:nvSpPr>
          <p:cNvPr id="686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链表和线性表不同，一个是物理结构，一个是逻辑结构。</a:t>
            </a:r>
            <a:endParaRPr lang="zh-CN" altLang="en-US"/>
          </a:p>
        </p:txBody>
      </p:sp>
      <p:sp>
        <p:nvSpPr>
          <p:cNvPr id="6861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60868D26-78C5-4999-9FD5-90036D11217F}" type="slidenum">
              <a:rPr lang="zh-CN" altLang="en-US" sz="1200" smtClean="0"/>
            </a:fld>
            <a:endParaRPr lang="en-US" altLang="zh-CN"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C7228297-49E0-44CC-AA2C-10B1819463BB}" type="slidenum">
              <a:rPr lang="zh-CN" altLang="en-US" sz="1200" smtClean="0"/>
            </a:fld>
            <a:endParaRPr lang="en-US" altLang="zh-CN" sz="1200"/>
          </a:p>
        </p:txBody>
      </p:sp>
      <p:sp>
        <p:nvSpPr>
          <p:cNvPr id="71683" name="Rectangle 2"/>
          <p:cNvSpPr>
            <a:spLocks noGrp="1" noRot="1" noChangeAspect="1" noChangeArrowheads="1" noTextEdit="1"/>
          </p:cNvSpPr>
          <p:nvPr>
            <p:ph type="sldImg"/>
          </p:nvPr>
        </p:nvSpPr>
        <p:spPr/>
      </p:sp>
      <p:sp>
        <p:nvSpPr>
          <p:cNvPr id="716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a:p>
            <a:endParaRPr lang="zh-CN" altLang="en-US"/>
          </a:p>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3C39B33F-B01C-4A73-B857-FD916B84ED52}"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E7EA1129-BC87-428B-A3D9-A1303BE72AD5}"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93EF8CC4-30B5-4FC4-9F72-0A0025F9D387}"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9213" y="1101725"/>
            <a:ext cx="4419600" cy="5476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21213" y="1101725"/>
            <a:ext cx="4421187" cy="5476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125F8216-0FD0-4934-AC22-85F87A88E597}"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lvl1pPr>
              <a:defRPr/>
            </a:lvl1pPr>
          </a:lstStyle>
          <a:p>
            <a:pPr>
              <a:defRPr/>
            </a:pPr>
            <a:endParaRPr lang="en-US" altLang="zh-CN"/>
          </a:p>
        </p:txBody>
      </p:sp>
      <p:sp>
        <p:nvSpPr>
          <p:cNvPr id="8" name="页脚占位符 7"/>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9" name="灯片编号占位符 8"/>
          <p:cNvSpPr>
            <a:spLocks noGrp="1"/>
          </p:cNvSpPr>
          <p:nvPr>
            <p:ph type="sldNum" sz="quarter" idx="12"/>
          </p:nvPr>
        </p:nvSpPr>
        <p:spPr/>
        <p:txBody>
          <a:bodyPr/>
          <a:lstStyle>
            <a:lvl1pPr>
              <a:defRPr/>
            </a:lvl1pPr>
          </a:lstStyle>
          <a:p>
            <a:pPr>
              <a:defRPr/>
            </a:pPr>
            <a:fld id="{1A5338DB-ED42-4D8F-93F8-6D6FB00B8E1D}"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a:defRPr/>
            </a:pPr>
            <a:endParaRPr lang="en-US" altLang="zh-CN"/>
          </a:p>
        </p:txBody>
      </p:sp>
      <p:sp>
        <p:nvSpPr>
          <p:cNvPr id="4" name="页脚占位符 3"/>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5" name="灯片编号占位符 4"/>
          <p:cNvSpPr>
            <a:spLocks noGrp="1"/>
          </p:cNvSpPr>
          <p:nvPr>
            <p:ph type="sldNum" sz="quarter" idx="12"/>
          </p:nvPr>
        </p:nvSpPr>
        <p:spPr/>
        <p:txBody>
          <a:bodyPr/>
          <a:lstStyle>
            <a:lvl1pPr>
              <a:defRPr/>
            </a:lvl1pPr>
          </a:lstStyle>
          <a:p>
            <a:pPr>
              <a:defRPr/>
            </a:pPr>
            <a:fld id="{28EDAD6E-15D6-4672-B48B-A71CC85E1F28}"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endParaRPr lang="en-US" altLang="zh-CN"/>
          </a:p>
        </p:txBody>
      </p:sp>
      <p:sp>
        <p:nvSpPr>
          <p:cNvPr id="3" name="页脚占位符 2"/>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4" name="灯片编号占位符 3"/>
          <p:cNvSpPr>
            <a:spLocks noGrp="1"/>
          </p:cNvSpPr>
          <p:nvPr>
            <p:ph type="sldNum" sz="quarter" idx="12"/>
          </p:nvPr>
        </p:nvSpPr>
        <p:spPr/>
        <p:txBody>
          <a:bodyPr/>
          <a:lstStyle>
            <a:lvl1pPr>
              <a:defRPr/>
            </a:lvl1pPr>
          </a:lstStyle>
          <a:p>
            <a:pPr>
              <a:defRPr/>
            </a:pPr>
            <a:fld id="{81F75F0A-F20A-406B-A004-B36DA7C936EC}"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51DB73A4-A5D8-4775-AF07-38177A320919}"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67D1A93E-7045-42A0-B182-B472316EDC90}"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3C4509BB-2FD6-4994-BD6F-E17565E9A28A}"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94500" y="44450"/>
            <a:ext cx="2247900" cy="65341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9213" y="44450"/>
            <a:ext cx="6592887" cy="65341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8EE43B75-56EC-42B4-B6B0-85B16308C540}"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4450"/>
            <a:ext cx="7772400" cy="9144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9213" y="1101725"/>
            <a:ext cx="4419600" cy="54768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21213" y="1101725"/>
            <a:ext cx="4421187" cy="26622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21213" y="3916363"/>
            <a:ext cx="4421187" cy="26622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p:txBody>
          <a:bodyPr/>
          <a:lstStyle>
            <a:lvl1pPr>
              <a:defRPr/>
            </a:lvl1pPr>
          </a:lstStyle>
          <a:p>
            <a:pPr>
              <a:defRPr/>
            </a:pPr>
            <a:endParaRPr lang="en-US" altLang="zh-CN"/>
          </a:p>
        </p:txBody>
      </p:sp>
      <p:sp>
        <p:nvSpPr>
          <p:cNvPr id="7" name="页脚占位符 6"/>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8" name="灯片编号占位符 7"/>
          <p:cNvSpPr>
            <a:spLocks noGrp="1"/>
          </p:cNvSpPr>
          <p:nvPr>
            <p:ph type="sldNum" sz="quarter" idx="12"/>
          </p:nvPr>
        </p:nvSpPr>
        <p:spPr/>
        <p:txBody>
          <a:bodyPr/>
          <a:lstStyle>
            <a:lvl1pPr>
              <a:defRPr/>
            </a:lvl1pPr>
          </a:lstStyle>
          <a:p>
            <a:pPr>
              <a:defRPr/>
            </a:pPr>
            <a:fld id="{5ED3C9E7-7536-45A8-AAB5-F001F22942C0}"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685800" y="44450"/>
            <a:ext cx="7772400" cy="9144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9213" y="1101725"/>
            <a:ext cx="4419600" cy="54768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图表占位符 3"/>
          <p:cNvSpPr>
            <a:spLocks noGrp="1"/>
          </p:cNvSpPr>
          <p:nvPr>
            <p:ph type="chart" sz="half" idx="2"/>
          </p:nvPr>
        </p:nvSpPr>
        <p:spPr>
          <a:xfrm>
            <a:off x="4621213" y="1101725"/>
            <a:ext cx="4421187" cy="5476875"/>
          </a:xfrm>
        </p:spPr>
        <p:txBody>
          <a:bodyPr/>
          <a:lstStyle/>
          <a:p>
            <a:pPr lvl="0"/>
            <a:endParaRPr lang="zh-CN" altLang="en-US" noProof="0"/>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D5EDF710-B726-4531-A3E9-34C7D992F4D6}"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44450"/>
            <a:ext cx="7772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zh-CN"/>
              <a:t>Click to edit Master title style</a:t>
            </a:r>
            <a:endParaRPr lang="en-US" altLang="zh-CN"/>
          </a:p>
        </p:txBody>
      </p:sp>
      <p:sp>
        <p:nvSpPr>
          <p:cNvPr id="1027" name="Rectangle 3"/>
          <p:cNvSpPr>
            <a:spLocks noGrp="1" noChangeArrowheads="1"/>
          </p:cNvSpPr>
          <p:nvPr>
            <p:ph type="body" idx="1"/>
          </p:nvPr>
        </p:nvSpPr>
        <p:spPr bwMode="auto">
          <a:xfrm>
            <a:off x="49213" y="1101725"/>
            <a:ext cx="8993187" cy="547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l">
              <a:defRPr>
                <a:solidFill>
                  <a:schemeClr val="bg2"/>
                </a:solidFill>
                <a:latin typeface="+mj-lt"/>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b="1">
                <a:solidFill>
                  <a:schemeClr val="bg2"/>
                </a:solidFill>
                <a:latin typeface="+mj-lt"/>
              </a:defRPr>
            </a:lvl1pPr>
          </a:lstStyle>
          <a:p>
            <a:pPr>
              <a:defRPr/>
            </a:pPr>
            <a:r>
              <a:rPr lang="zh-CN" altLang="en-US"/>
              <a:t>软件技术基础 东北大学 王庆 2005 R3</a:t>
            </a:r>
            <a:endParaRPr lang="en-US" altLang="zh-CN"/>
          </a:p>
        </p:txBody>
      </p:sp>
      <p:sp>
        <p:nvSpPr>
          <p:cNvPr id="1030" name="Rectangle 6"/>
          <p:cNvSpPr>
            <a:spLocks noGrp="1" noChangeArrowheads="1"/>
          </p:cNvSpPr>
          <p:nvPr>
            <p:ph type="sldNum" sz="quarter" idx="4"/>
          </p:nvPr>
        </p:nvSpPr>
        <p:spPr bwMode="auto">
          <a:xfrm>
            <a:off x="7131050" y="6524625"/>
            <a:ext cx="1905000" cy="217488"/>
          </a:xfrm>
          <a:prstGeom prst="rect">
            <a:avLst/>
          </a:prstGeom>
          <a:noFill/>
          <a:ln w="9525">
            <a:noFill/>
            <a:miter lim="800000"/>
          </a:ln>
          <a:effectLst/>
        </p:spPr>
        <p:txBody>
          <a:bodyPr vert="horz" wrap="square" lIns="91440" tIns="45720" rIns="91440" bIns="45720" numCol="1" anchor="t" anchorCtr="0" compatLnSpc="1"/>
          <a:lstStyle>
            <a:lvl1pPr algn="r">
              <a:defRPr>
                <a:solidFill>
                  <a:schemeClr val="bg2"/>
                </a:solidFill>
                <a:latin typeface="Arial" panose="020B0604020202020204" pitchFamily="34" charset="0"/>
              </a:defRPr>
            </a:lvl1pPr>
          </a:lstStyle>
          <a:p>
            <a:pPr>
              <a:defRPr/>
            </a:pPr>
            <a:fld id="{00C5FFA0-60EB-4BA3-968D-138AD45AF882}" type="slidenum">
              <a:rPr lang="zh-CN" altLang="en-US"/>
            </a:fld>
            <a:endParaRPr lang="en-US" altLang="zh-CN"/>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advClick="0"/>
  <p:hf hdr="0" ftr="0" dt="0"/>
  <p:txStyles>
    <p:titleStyle>
      <a:lvl1pPr algn="ctr" rtl="0" eaLnBrk="0" fontAlgn="base" hangingPunct="0">
        <a:spcBef>
          <a:spcPct val="0"/>
        </a:spcBef>
        <a:spcAft>
          <a:spcPct val="0"/>
        </a:spcAft>
        <a:defRPr sz="4000">
          <a:solidFill>
            <a:schemeClr val="bg2"/>
          </a:solidFill>
          <a:latin typeface="+mj-lt"/>
          <a:ea typeface="+mj-ea"/>
          <a:cs typeface="+mj-cs"/>
        </a:defRPr>
      </a:lvl1pPr>
      <a:lvl2pPr algn="ctr" rtl="0" eaLnBrk="0" fontAlgn="base" hangingPunct="0">
        <a:spcBef>
          <a:spcPct val="0"/>
        </a:spcBef>
        <a:spcAft>
          <a:spcPct val="0"/>
        </a:spcAft>
        <a:defRPr sz="4000">
          <a:solidFill>
            <a:schemeClr val="bg2"/>
          </a:solidFill>
          <a:latin typeface="Arial" panose="020B0604020202020204" pitchFamily="34" charset="0"/>
        </a:defRPr>
      </a:lvl2pPr>
      <a:lvl3pPr algn="ctr" rtl="0" eaLnBrk="0" fontAlgn="base" hangingPunct="0">
        <a:spcBef>
          <a:spcPct val="0"/>
        </a:spcBef>
        <a:spcAft>
          <a:spcPct val="0"/>
        </a:spcAft>
        <a:defRPr sz="4000">
          <a:solidFill>
            <a:schemeClr val="bg2"/>
          </a:solidFill>
          <a:latin typeface="Arial" panose="020B0604020202020204" pitchFamily="34" charset="0"/>
        </a:defRPr>
      </a:lvl3pPr>
      <a:lvl4pPr algn="ctr" rtl="0" eaLnBrk="0" fontAlgn="base" hangingPunct="0">
        <a:spcBef>
          <a:spcPct val="0"/>
        </a:spcBef>
        <a:spcAft>
          <a:spcPct val="0"/>
        </a:spcAft>
        <a:defRPr sz="4000">
          <a:solidFill>
            <a:schemeClr val="bg2"/>
          </a:solidFill>
          <a:latin typeface="Arial" panose="020B0604020202020204" pitchFamily="34" charset="0"/>
        </a:defRPr>
      </a:lvl4pPr>
      <a:lvl5pPr algn="ctr" rtl="0" eaLnBrk="0" fontAlgn="base" hangingPunct="0">
        <a:spcBef>
          <a:spcPct val="0"/>
        </a:spcBef>
        <a:spcAft>
          <a:spcPct val="0"/>
        </a:spcAft>
        <a:defRPr sz="4000">
          <a:solidFill>
            <a:schemeClr val="bg2"/>
          </a:solidFill>
          <a:latin typeface="Arial" panose="020B0604020202020204" pitchFamily="34" charset="0"/>
        </a:defRPr>
      </a:lvl5pPr>
      <a:lvl6pPr marL="457200" algn="ctr" rtl="0" eaLnBrk="0" fontAlgn="base" hangingPunct="0">
        <a:spcBef>
          <a:spcPct val="0"/>
        </a:spcBef>
        <a:spcAft>
          <a:spcPct val="0"/>
        </a:spcAft>
        <a:defRPr sz="4000">
          <a:solidFill>
            <a:schemeClr val="tx2"/>
          </a:solidFill>
          <a:latin typeface="Arial" panose="020B0604020202020204" pitchFamily="34" charset="0"/>
        </a:defRPr>
      </a:lvl6pPr>
      <a:lvl7pPr marL="914400" algn="ctr" rtl="0" eaLnBrk="0" fontAlgn="base" hangingPunct="0">
        <a:spcBef>
          <a:spcPct val="0"/>
        </a:spcBef>
        <a:spcAft>
          <a:spcPct val="0"/>
        </a:spcAft>
        <a:defRPr sz="4000">
          <a:solidFill>
            <a:schemeClr val="tx2"/>
          </a:solidFill>
          <a:latin typeface="Arial" panose="020B0604020202020204" pitchFamily="34" charset="0"/>
        </a:defRPr>
      </a:lvl7pPr>
      <a:lvl8pPr marL="1371600" algn="ctr" rtl="0" eaLnBrk="0" fontAlgn="base" hangingPunct="0">
        <a:spcBef>
          <a:spcPct val="0"/>
        </a:spcBef>
        <a:spcAft>
          <a:spcPct val="0"/>
        </a:spcAft>
        <a:defRPr sz="4000">
          <a:solidFill>
            <a:schemeClr val="tx2"/>
          </a:solidFill>
          <a:latin typeface="Arial" panose="020B0604020202020204" pitchFamily="34" charset="0"/>
        </a:defRPr>
      </a:lvl8pPr>
      <a:lvl9pPr marL="1828800" algn="ctr" rtl="0" eaLnBrk="0" fontAlgn="base" hangingPunct="0">
        <a:spcBef>
          <a:spcPct val="0"/>
        </a:spcBef>
        <a:spcAft>
          <a:spcPct val="0"/>
        </a:spcAft>
        <a:defRPr sz="40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b="1">
          <a:solidFill>
            <a:schemeClr val="bg2"/>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bg2"/>
          </a:solidFill>
          <a:latin typeface="+mn-lt"/>
        </a:defRPr>
      </a:lvl2pPr>
      <a:lvl3pPr marL="1143000" indent="-228600" algn="l" rtl="0" eaLnBrk="0" fontAlgn="base" hangingPunct="0">
        <a:spcBef>
          <a:spcPct val="20000"/>
        </a:spcBef>
        <a:spcAft>
          <a:spcPct val="0"/>
        </a:spcAft>
        <a:buChar char="•"/>
        <a:defRPr sz="2400" b="1">
          <a:solidFill>
            <a:schemeClr val="bg2"/>
          </a:solidFill>
          <a:latin typeface="+mn-lt"/>
        </a:defRPr>
      </a:lvl3pPr>
      <a:lvl4pPr marL="1600200" indent="-228600" algn="l" rtl="0" eaLnBrk="0" fontAlgn="base" hangingPunct="0">
        <a:spcBef>
          <a:spcPct val="20000"/>
        </a:spcBef>
        <a:spcAft>
          <a:spcPct val="0"/>
        </a:spcAft>
        <a:buChar char="–"/>
        <a:defRPr sz="2000" b="1">
          <a:solidFill>
            <a:schemeClr val="bg2"/>
          </a:solidFill>
          <a:latin typeface="+mn-lt"/>
        </a:defRPr>
      </a:lvl4pPr>
      <a:lvl5pPr marL="2057400" indent="-228600" algn="l" rtl="0" eaLnBrk="0" fontAlgn="base" hangingPunct="0">
        <a:spcBef>
          <a:spcPct val="20000"/>
        </a:spcBef>
        <a:spcAft>
          <a:spcPct val="0"/>
        </a:spcAft>
        <a:buChar char="»"/>
        <a:defRPr sz="2000" b="1">
          <a:solidFill>
            <a:schemeClr val="bg2"/>
          </a:solidFill>
          <a:latin typeface="+mn-lt"/>
        </a:defRPr>
      </a:lvl5pPr>
      <a:lvl6pPr marL="2514600" indent="-228600" algn="l" rtl="0" eaLnBrk="0" fontAlgn="base" hangingPunct="0">
        <a:spcBef>
          <a:spcPct val="20000"/>
        </a:spcBef>
        <a:spcAft>
          <a:spcPct val="0"/>
        </a:spcAft>
        <a:buChar char="»"/>
        <a:defRPr sz="2000" b="1">
          <a:solidFill>
            <a:schemeClr val="tx1"/>
          </a:solidFill>
          <a:latin typeface="+mn-lt"/>
        </a:defRPr>
      </a:lvl6pPr>
      <a:lvl7pPr marL="2971800" indent="-228600" algn="l" rtl="0" eaLnBrk="0" fontAlgn="base" hangingPunct="0">
        <a:spcBef>
          <a:spcPct val="20000"/>
        </a:spcBef>
        <a:spcAft>
          <a:spcPct val="0"/>
        </a:spcAft>
        <a:buChar char="»"/>
        <a:defRPr sz="2000" b="1">
          <a:solidFill>
            <a:schemeClr val="tx1"/>
          </a:solidFill>
          <a:latin typeface="+mn-lt"/>
        </a:defRPr>
      </a:lvl7pPr>
      <a:lvl8pPr marL="3429000" indent="-228600" algn="l" rtl="0" eaLnBrk="0" fontAlgn="base" hangingPunct="0">
        <a:spcBef>
          <a:spcPct val="20000"/>
        </a:spcBef>
        <a:spcAft>
          <a:spcPct val="0"/>
        </a:spcAft>
        <a:buChar char="»"/>
        <a:defRPr sz="2000" b="1">
          <a:solidFill>
            <a:schemeClr val="tx1"/>
          </a:solidFill>
          <a:latin typeface="+mn-lt"/>
        </a:defRPr>
      </a:lvl8pPr>
      <a:lvl9pPr marL="3886200" indent="-228600" algn="l" rtl="0" eaLnBrk="0" fontAlgn="base" hangingPunct="0">
        <a:spcBef>
          <a:spcPct val="20000"/>
        </a:spcBef>
        <a:spcAft>
          <a:spcPct val="0"/>
        </a:spcAft>
        <a:buChar char="»"/>
        <a:defRPr sz="2000" b="1">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hyperlink" Target="../CSampleList/CSampleList.cpp"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3.emf"/><Relationship Id="rId3" Type="http://schemas.openxmlformats.org/officeDocument/2006/relationships/oleObject" Target="../embeddings/oleObject2.bin"/><Relationship Id="rId2" Type="http://schemas.openxmlformats.org/officeDocument/2006/relationships/image" Target="../media/image2.emf"/><Relationship Id="rId1"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zh-CN" altLang="en-US" sz="6600" b="1" dirty="0">
                <a:latin typeface="微软雅黑" panose="020B0503020204020204" pitchFamily="34" charset="-122"/>
                <a:ea typeface="微软雅黑" panose="020B0503020204020204" pitchFamily="34" charset="-122"/>
              </a:rPr>
              <a:t>数据结构与操作系统</a:t>
            </a:r>
            <a:br>
              <a:rPr lang="en-US" altLang="zh-CN" sz="6600" b="1" dirty="0">
                <a:latin typeface="微软雅黑" panose="020B0503020204020204" pitchFamily="34" charset="-122"/>
                <a:ea typeface="微软雅黑" panose="020B0503020204020204" pitchFamily="34" charset="-122"/>
              </a:rPr>
            </a:br>
            <a:r>
              <a:rPr lang="zh-CN" altLang="en-US" sz="3200" b="1">
                <a:latin typeface="微软雅黑" panose="020B0503020204020204" pitchFamily="34" charset="-122"/>
                <a:ea typeface="微软雅黑" panose="020B0503020204020204" pitchFamily="34" charset="-122"/>
              </a:rPr>
              <a:t>（第三讲</a:t>
            </a:r>
            <a:r>
              <a:rPr lang="zh-CN" altLang="en-US" sz="3200" b="1" dirty="0">
                <a:latin typeface="微软雅黑" panose="020B0503020204020204" pitchFamily="34" charset="-122"/>
                <a:ea typeface="微软雅黑" panose="020B0503020204020204" pitchFamily="34" charset="-122"/>
              </a:rPr>
              <a:t>）</a:t>
            </a:r>
            <a:endParaRPr lang="zh-CN" altLang="en-US" sz="3200" b="1" dirty="0">
              <a:latin typeface="微软雅黑" panose="020B0503020204020204" pitchFamily="34" charset="-122"/>
              <a:ea typeface="微软雅黑" panose="020B0503020204020204" pitchFamily="34" charset="-122"/>
            </a:endParaRPr>
          </a:p>
        </p:txBody>
      </p:sp>
      <p:sp>
        <p:nvSpPr>
          <p:cNvPr id="6" name="副标题 5"/>
          <p:cNvSpPr>
            <a:spLocks noGrp="1"/>
          </p:cNvSpPr>
          <p:nvPr>
            <p:ph type="subTitle" idx="1"/>
          </p:nvPr>
        </p:nvSpPr>
        <p:spPr/>
        <p:txBody>
          <a:bodyPr/>
          <a:lstStyle/>
          <a:p>
            <a:r>
              <a:rPr lang="zh-CN" altLang="en-US" dirty="0"/>
              <a:t>张瑞友 教授</a:t>
            </a:r>
            <a:endParaRPr lang="en-US" altLang="zh-CN" dirty="0"/>
          </a:p>
          <a:p>
            <a:r>
              <a:rPr lang="zh-CN" altLang="en-US" dirty="0"/>
              <a:t>人工智能系</a:t>
            </a:r>
            <a:endParaRPr lang="en-US" altLang="zh-CN" dirty="0"/>
          </a:p>
          <a:p>
            <a:r>
              <a:rPr lang="en-US" altLang="zh-CN" dirty="0"/>
              <a:t>2024</a:t>
            </a:r>
            <a:r>
              <a:rPr lang="zh-CN" altLang="en-US" dirty="0"/>
              <a:t>年</a:t>
            </a:r>
            <a:endParaRPr lang="zh-CN" altLang="en-US" dirty="0"/>
          </a:p>
        </p:txBody>
      </p:sp>
      <p:sp>
        <p:nvSpPr>
          <p:cNvPr id="4" name="灯片编号占位符 3"/>
          <p:cNvSpPr>
            <a:spLocks noGrp="1"/>
          </p:cNvSpPr>
          <p:nvPr>
            <p:ph type="sldNum" sz="quarter" idx="12"/>
          </p:nvPr>
        </p:nvSpPr>
        <p:spPr/>
        <p:txBody>
          <a:bodyPr/>
          <a:lstStyle/>
          <a:p>
            <a:pPr>
              <a:defRPr/>
            </a:pPr>
            <a:fld id="{973FE639-C234-4E9A-910A-19A90FCCCE3E}" type="slidenum">
              <a:rPr lang="zh-CN" altLang="en-US" smtClean="0"/>
            </a:fld>
            <a:endParaRPr lang="en-US" altLang="zh-CN">
              <a:latin typeface="Times New Roman" panose="02020603050405020304" pitchFamily="18" charset="0"/>
            </a:endParaRPr>
          </a:p>
        </p:txBody>
      </p:sp>
    </p:spTree>
  </p:cSld>
  <p:clrMapOvr>
    <a:masterClrMapping/>
  </p:clrMapOvr>
  <p:transition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0D2679AE-810E-4EF0-96CC-82A8BC987142}"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19459" name="Rectangle 50"/>
          <p:cNvSpPr>
            <a:spLocks noGrp="1" noChangeArrowheads="1"/>
          </p:cNvSpPr>
          <p:nvPr>
            <p:ph type="title"/>
          </p:nvPr>
        </p:nvSpPr>
        <p:spPr>
          <a:xfrm>
            <a:off x="685800" y="-149225"/>
            <a:ext cx="7772400" cy="914400"/>
          </a:xfrm>
        </p:spPr>
        <p:txBody>
          <a:bodyPr/>
          <a:lstStyle/>
          <a:p>
            <a:r>
              <a:rPr lang="zh-CN" altLang="en-US">
                <a:ea typeface="宋体" panose="02010600030101010101" pitchFamily="2" charset="-122"/>
              </a:rPr>
              <a:t>3. 数据结构</a:t>
            </a:r>
            <a:endParaRPr lang="zh-CN" altLang="en-US">
              <a:ea typeface="宋体" panose="02010600030101010101" pitchFamily="2" charset="-122"/>
            </a:endParaRPr>
          </a:p>
        </p:txBody>
      </p:sp>
      <p:sp>
        <p:nvSpPr>
          <p:cNvPr id="19460" name="Rectangle 51"/>
          <p:cNvSpPr>
            <a:spLocks noGrp="1" noChangeArrowheads="1"/>
          </p:cNvSpPr>
          <p:nvPr>
            <p:ph type="body" idx="1"/>
          </p:nvPr>
        </p:nvSpPr>
        <p:spPr>
          <a:xfrm>
            <a:off x="2127250" y="1447800"/>
            <a:ext cx="5757863" cy="4648200"/>
          </a:xfrm>
        </p:spPr>
        <p:txBody>
          <a:bodyPr/>
          <a:lstStyle/>
          <a:p>
            <a:pPr>
              <a:lnSpc>
                <a:spcPct val="90000"/>
              </a:lnSpc>
              <a:buFontTx/>
              <a:buNone/>
            </a:pPr>
            <a:r>
              <a:rPr lang="en-US" altLang="zh-CN">
                <a:ea typeface="宋体" panose="02010600030101010101" pitchFamily="2" charset="-122"/>
              </a:rPr>
              <a:t>3.1 </a:t>
            </a:r>
            <a:r>
              <a:rPr lang="zh-CN" altLang="en-US">
                <a:ea typeface="宋体" panose="02010600030101010101" pitchFamily="2" charset="-122"/>
              </a:rPr>
              <a:t>概述</a:t>
            </a:r>
            <a:endParaRPr lang="zh-CN" altLang="en-US">
              <a:ea typeface="宋体" panose="02010600030101010101" pitchFamily="2" charset="-122"/>
            </a:endParaRPr>
          </a:p>
          <a:p>
            <a:pPr>
              <a:lnSpc>
                <a:spcPct val="90000"/>
              </a:lnSpc>
              <a:buFontTx/>
              <a:buNone/>
            </a:pPr>
            <a:r>
              <a:rPr lang="en-US" altLang="zh-CN">
                <a:ea typeface="宋体" panose="02010600030101010101" pitchFamily="2" charset="-122"/>
              </a:rPr>
              <a:t>3.2 </a:t>
            </a:r>
            <a:r>
              <a:rPr lang="zh-CN" altLang="en-US">
                <a:ea typeface="宋体" panose="02010600030101010101" pitchFamily="2" charset="-122"/>
              </a:rPr>
              <a:t>线性表</a:t>
            </a:r>
            <a:endParaRPr lang="zh-CN" altLang="en-US">
              <a:ea typeface="宋体" panose="02010600030101010101" pitchFamily="2" charset="-122"/>
            </a:endParaRPr>
          </a:p>
          <a:p>
            <a:pPr>
              <a:lnSpc>
                <a:spcPct val="90000"/>
              </a:lnSpc>
              <a:buFontTx/>
              <a:buNone/>
            </a:pPr>
            <a:r>
              <a:rPr lang="en-US" altLang="zh-CN">
                <a:ea typeface="宋体" panose="02010600030101010101" pitchFamily="2" charset="-122"/>
              </a:rPr>
              <a:t>3.3 </a:t>
            </a:r>
            <a:r>
              <a:rPr lang="zh-CN" altLang="en-US">
                <a:ea typeface="宋体" panose="02010600030101010101" pitchFamily="2" charset="-122"/>
              </a:rPr>
              <a:t>数组</a:t>
            </a:r>
            <a:endParaRPr lang="zh-CN" altLang="en-US">
              <a:ea typeface="宋体" panose="02010600030101010101" pitchFamily="2" charset="-122"/>
            </a:endParaRPr>
          </a:p>
          <a:p>
            <a:pPr>
              <a:lnSpc>
                <a:spcPct val="90000"/>
              </a:lnSpc>
              <a:buFontTx/>
              <a:buNone/>
            </a:pPr>
            <a:r>
              <a:rPr lang="en-US" altLang="zh-CN">
                <a:ea typeface="宋体" panose="02010600030101010101" pitchFamily="2" charset="-122"/>
              </a:rPr>
              <a:t>3.4 </a:t>
            </a:r>
            <a:r>
              <a:rPr lang="zh-CN" altLang="en-US">
                <a:ea typeface="宋体" panose="02010600030101010101" pitchFamily="2" charset="-122"/>
              </a:rPr>
              <a:t>栈与队</a:t>
            </a:r>
            <a:endParaRPr lang="zh-CN" altLang="en-US">
              <a:ea typeface="宋体" panose="02010600030101010101" pitchFamily="2" charset="-122"/>
            </a:endParaRPr>
          </a:p>
          <a:p>
            <a:pPr>
              <a:lnSpc>
                <a:spcPct val="90000"/>
              </a:lnSpc>
              <a:buFontTx/>
              <a:buNone/>
            </a:pPr>
            <a:r>
              <a:rPr lang="en-US" altLang="zh-CN">
                <a:ea typeface="宋体" panose="02010600030101010101" pitchFamily="2" charset="-122"/>
              </a:rPr>
              <a:t>3.5 </a:t>
            </a:r>
            <a:r>
              <a:rPr lang="zh-CN" altLang="en-US">
                <a:ea typeface="宋体" panose="02010600030101010101" pitchFamily="2" charset="-122"/>
              </a:rPr>
              <a:t>树与二叉树</a:t>
            </a:r>
            <a:endParaRPr lang="zh-CN" altLang="en-US">
              <a:ea typeface="宋体" panose="02010600030101010101" pitchFamily="2" charset="-122"/>
            </a:endParaRPr>
          </a:p>
          <a:p>
            <a:pPr>
              <a:lnSpc>
                <a:spcPct val="90000"/>
              </a:lnSpc>
              <a:buFontTx/>
              <a:buNone/>
            </a:pPr>
            <a:r>
              <a:rPr lang="en-US" altLang="zh-CN">
                <a:ea typeface="宋体" panose="02010600030101010101" pitchFamily="2" charset="-122"/>
              </a:rPr>
              <a:t>3.6 </a:t>
            </a:r>
            <a:r>
              <a:rPr lang="zh-CN" altLang="en-US">
                <a:ea typeface="宋体" panose="02010600030101010101" pitchFamily="2" charset="-122"/>
              </a:rPr>
              <a:t>图</a:t>
            </a:r>
            <a:endParaRPr lang="zh-CN" altLang="en-US">
              <a:ea typeface="宋体" panose="02010600030101010101" pitchFamily="2" charset="-122"/>
            </a:endParaRPr>
          </a:p>
          <a:p>
            <a:pPr>
              <a:lnSpc>
                <a:spcPct val="90000"/>
              </a:lnSpc>
              <a:buFontTx/>
              <a:buNone/>
            </a:pPr>
            <a:r>
              <a:rPr lang="en-US" altLang="zh-CN">
                <a:ea typeface="宋体" panose="02010600030101010101" pitchFamily="2" charset="-122"/>
              </a:rPr>
              <a:t>3.7 </a:t>
            </a:r>
            <a:r>
              <a:rPr lang="zh-CN" altLang="en-US">
                <a:ea typeface="宋体" panose="02010600030101010101" pitchFamily="2" charset="-122"/>
              </a:rPr>
              <a:t>查找</a:t>
            </a:r>
            <a:endParaRPr lang="zh-CN" altLang="en-US">
              <a:ea typeface="宋体" panose="02010600030101010101" pitchFamily="2" charset="-122"/>
            </a:endParaRPr>
          </a:p>
          <a:p>
            <a:pPr>
              <a:lnSpc>
                <a:spcPct val="90000"/>
              </a:lnSpc>
              <a:buFontTx/>
              <a:buNone/>
            </a:pPr>
            <a:r>
              <a:rPr lang="en-US" altLang="zh-CN">
                <a:ea typeface="宋体" panose="02010600030101010101" pitchFamily="2" charset="-122"/>
              </a:rPr>
              <a:t>3.8 </a:t>
            </a:r>
            <a:r>
              <a:rPr lang="zh-CN" altLang="en-US">
                <a:ea typeface="宋体" panose="02010600030101010101" pitchFamily="2" charset="-122"/>
              </a:rPr>
              <a:t>排序</a:t>
            </a:r>
            <a:endParaRPr lang="en-US" altLang="zh-CN">
              <a:ea typeface="宋体" panose="02010600030101010101"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658ECAA3-636D-4E15-A4A3-05F8C7D24A58}"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21507"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3.1 </a:t>
            </a:r>
            <a:r>
              <a:rPr lang="zh-CN" altLang="en-US" sz="2400">
                <a:latin typeface="宋体" panose="02010600030101010101" pitchFamily="2" charset="-122"/>
                <a:ea typeface="宋体" panose="02010600030101010101" pitchFamily="2" charset="-122"/>
              </a:rPr>
              <a:t>概述</a:t>
            </a:r>
            <a:endParaRPr lang="zh-CN" altLang="en-US" sz="2400">
              <a:latin typeface="宋体" panose="02010600030101010101" pitchFamily="2" charset="-122"/>
              <a:ea typeface="宋体" panose="02010600030101010101" pitchFamily="2" charset="-122"/>
            </a:endParaRPr>
          </a:p>
        </p:txBody>
      </p:sp>
      <p:sp>
        <p:nvSpPr>
          <p:cNvPr id="21508" name="Rectangle 3"/>
          <p:cNvSpPr>
            <a:spLocks noGrp="1" noChangeArrowheads="1"/>
          </p:cNvSpPr>
          <p:nvPr>
            <p:ph type="body" idx="1"/>
          </p:nvPr>
        </p:nvSpPr>
        <p:spPr>
          <a:xfrm>
            <a:off x="34925" y="981075"/>
            <a:ext cx="8966200" cy="5876925"/>
          </a:xfrm>
        </p:spPr>
        <p:txBody>
          <a:bodyPr/>
          <a:lstStyle/>
          <a:p>
            <a:pPr marL="285750" indent="-285750"/>
            <a:r>
              <a:rPr lang="zh-CN" altLang="en-US">
                <a:latin typeface="宋体" panose="02010600030101010101" pitchFamily="2" charset="-122"/>
                <a:ea typeface="宋体" panose="02010600030101010101" pitchFamily="2" charset="-122"/>
              </a:rPr>
              <a:t>数据结构研究的问题</a:t>
            </a:r>
            <a:endParaRPr lang="en-US" altLang="zh-CN">
              <a:latin typeface="宋体" panose="02010600030101010101" pitchFamily="2" charset="-122"/>
              <a:ea typeface="宋体" panose="02010600030101010101" pitchFamily="2" charset="-122"/>
            </a:endParaRPr>
          </a:p>
          <a:p>
            <a:pPr marL="862330" lvl="1"/>
            <a:r>
              <a:rPr lang="zh-CN" altLang="en-US">
                <a:latin typeface="宋体" panose="02010600030101010101" pitchFamily="2" charset="-122"/>
                <a:ea typeface="宋体" panose="02010600030101010101" pitchFamily="2" charset="-122"/>
              </a:rPr>
              <a:t>数据结构是计算机应用方面的基础课程之一</a:t>
            </a:r>
            <a:endParaRPr lang="zh-CN" altLang="en-US">
              <a:latin typeface="宋体" panose="02010600030101010101" pitchFamily="2" charset="-122"/>
              <a:ea typeface="宋体" panose="02010600030101010101" pitchFamily="2" charset="-122"/>
            </a:endParaRPr>
          </a:p>
          <a:p>
            <a:pPr marL="862330" lvl="1"/>
            <a:r>
              <a:rPr lang="zh-CN" altLang="en-US">
                <a:latin typeface="宋体" panose="02010600030101010101" pitchFamily="2" charset="-122"/>
                <a:ea typeface="宋体" panose="02010600030101010101" pitchFamily="2" charset="-122"/>
              </a:rPr>
              <a:t>早期的计算机主要用于解决</a:t>
            </a:r>
            <a:r>
              <a:rPr lang="zh-CN" altLang="en-US">
                <a:solidFill>
                  <a:srgbClr val="FF0000"/>
                </a:solidFill>
                <a:latin typeface="宋体" panose="02010600030101010101" pitchFamily="2" charset="-122"/>
                <a:ea typeface="宋体" panose="02010600030101010101" pitchFamily="2" charset="-122"/>
              </a:rPr>
              <a:t>数值计算问题</a:t>
            </a:r>
            <a:r>
              <a:rPr lang="zh-CN" altLang="en-US">
                <a:latin typeface="宋体" panose="02010600030101010101" pitchFamily="2" charset="-122"/>
                <a:ea typeface="宋体" panose="02010600030101010101" pitchFamily="2" charset="-122"/>
              </a:rPr>
              <a:t>，涉及的操作对象比较简单（整型、实数、布尔型等）</a:t>
            </a:r>
            <a:endParaRPr lang="zh-CN" altLang="en-US">
              <a:latin typeface="宋体" panose="02010600030101010101" pitchFamily="2" charset="-122"/>
              <a:ea typeface="宋体" panose="02010600030101010101" pitchFamily="2" charset="-122"/>
            </a:endParaRPr>
          </a:p>
          <a:p>
            <a:pPr marL="862330" lvl="1"/>
            <a:r>
              <a:rPr lang="zh-CN" altLang="en-US">
                <a:latin typeface="宋体" panose="02010600030101010101" pitchFamily="2" charset="-122"/>
                <a:ea typeface="宋体" panose="02010600030101010101" pitchFamily="2" charset="-122"/>
              </a:rPr>
              <a:t>随着计算机应用领域的扩大，如文献检索、</a:t>
            </a:r>
            <a:r>
              <a:rPr lang="en-US" altLang="zh-CN">
                <a:latin typeface="宋体" panose="02010600030101010101" pitchFamily="2" charset="-122"/>
                <a:ea typeface="宋体" panose="02010600030101010101" pitchFamily="2" charset="-122"/>
              </a:rPr>
              <a:t>CAD</a:t>
            </a:r>
            <a:r>
              <a:rPr lang="zh-CN" altLang="en-US">
                <a:latin typeface="宋体" panose="02010600030101010101" pitchFamily="2" charset="-122"/>
                <a:ea typeface="宋体" panose="02010600030101010101" pitchFamily="2" charset="-122"/>
              </a:rPr>
              <a:t>、图像模式识别等</a:t>
            </a:r>
            <a:r>
              <a:rPr lang="zh-CN" altLang="en-US">
                <a:solidFill>
                  <a:srgbClr val="FF0000"/>
                </a:solidFill>
                <a:latin typeface="宋体" panose="02010600030101010101" pitchFamily="2" charset="-122"/>
                <a:ea typeface="宋体" panose="02010600030101010101" pitchFamily="2" charset="-122"/>
              </a:rPr>
              <a:t>非数值运算</a:t>
            </a:r>
            <a:r>
              <a:rPr lang="zh-CN" altLang="en-US">
                <a:latin typeface="宋体" panose="02010600030101010101" pitchFamily="2" charset="-122"/>
                <a:ea typeface="宋体" panose="02010600030101010101" pitchFamily="2" charset="-122"/>
              </a:rPr>
              <a:t>越来越引起人们的重视</a:t>
            </a:r>
            <a:endParaRPr lang="zh-CN" altLang="en-US">
              <a:latin typeface="宋体" panose="02010600030101010101" pitchFamily="2" charset="-122"/>
              <a:ea typeface="宋体" panose="02010600030101010101" pitchFamily="2" charset="-122"/>
            </a:endParaRPr>
          </a:p>
          <a:p>
            <a:pPr marL="862330" lvl="1"/>
            <a:r>
              <a:rPr lang="zh-CN" altLang="en-US">
                <a:latin typeface="宋体" panose="02010600030101010101" pitchFamily="2" charset="-122"/>
                <a:ea typeface="宋体" panose="02010600030101010101" pitchFamily="2" charset="-122"/>
              </a:rPr>
              <a:t>非数值运算的数据类型比较复杂、数据元素之间具有各种特定的关系，人们</a:t>
            </a:r>
            <a:r>
              <a:rPr lang="zh-CN" altLang="en-US">
                <a:solidFill>
                  <a:schemeClr val="tx2"/>
                </a:solidFill>
                <a:latin typeface="宋体" panose="02010600030101010101" pitchFamily="2" charset="-122"/>
                <a:ea typeface="宋体" panose="02010600030101010101" pitchFamily="2" charset="-122"/>
              </a:rPr>
              <a:t>感兴趣的是数据集合中元素之间的</a:t>
            </a:r>
            <a:r>
              <a:rPr lang="zh-CN" altLang="en-US">
                <a:solidFill>
                  <a:srgbClr val="0000CC"/>
                </a:solidFill>
                <a:latin typeface="宋体" panose="02010600030101010101" pitchFamily="2" charset="-122"/>
                <a:ea typeface="宋体" panose="02010600030101010101" pitchFamily="2" charset="-122"/>
              </a:rPr>
              <a:t>关系</a:t>
            </a:r>
            <a:r>
              <a:rPr lang="zh-CN" altLang="en-US">
                <a:solidFill>
                  <a:schemeClr val="tx2"/>
                </a:solidFill>
                <a:latin typeface="宋体" panose="02010600030101010101" pitchFamily="2" charset="-122"/>
                <a:ea typeface="宋体" panose="02010600030101010101" pitchFamily="2" charset="-122"/>
              </a:rPr>
              <a:t>以及如何</a:t>
            </a:r>
            <a:r>
              <a:rPr lang="zh-CN" altLang="en-US">
                <a:solidFill>
                  <a:srgbClr val="0000CC"/>
                </a:solidFill>
                <a:latin typeface="宋体" panose="02010600030101010101" pitchFamily="2" charset="-122"/>
                <a:ea typeface="宋体" panose="02010600030101010101" pitchFamily="2" charset="-122"/>
              </a:rPr>
              <a:t>组织和表示</a:t>
            </a:r>
            <a:r>
              <a:rPr lang="zh-CN" altLang="en-US">
                <a:solidFill>
                  <a:schemeClr val="tx2"/>
                </a:solidFill>
                <a:latin typeface="宋体" panose="02010600030101010101" pitchFamily="2" charset="-122"/>
                <a:ea typeface="宋体" panose="02010600030101010101" pitchFamily="2" charset="-122"/>
              </a:rPr>
              <a:t>这些数据</a:t>
            </a:r>
            <a:r>
              <a:rPr lang="zh-CN" altLang="en-US">
                <a:latin typeface="宋体" panose="02010600030101010101" pitchFamily="2" charset="-122"/>
                <a:ea typeface="宋体" panose="02010600030101010101" pitchFamily="2" charset="-122"/>
              </a:rPr>
              <a:t>以提高处理效率</a:t>
            </a:r>
            <a:endParaRPr lang="zh-CN" altLang="en-US">
              <a:latin typeface="宋体" panose="02010600030101010101" pitchFamily="2" charset="-122"/>
              <a:ea typeface="宋体" panose="02010600030101010101" pitchFamily="2" charset="-122"/>
            </a:endParaRPr>
          </a:p>
          <a:p>
            <a:pPr marL="862330" lvl="1"/>
            <a:r>
              <a:rPr lang="zh-CN" altLang="en-US">
                <a:latin typeface="宋体" panose="02010600030101010101" pitchFamily="2" charset="-122"/>
                <a:ea typeface="宋体" panose="02010600030101010101" pitchFamily="2" charset="-122"/>
              </a:rPr>
              <a:t>这就是数据结构所要研究的问题。</a:t>
            </a:r>
            <a:endParaRPr lang="zh-CN" altLang="en-US">
              <a:latin typeface="宋体" panose="02010600030101010101" pitchFamily="2" charset="-122"/>
              <a:ea typeface="宋体" panose="02010600030101010101" pitchFamily="2"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B2AE0C4F-FFEB-43D7-9D57-EE5F20840B6C}"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23555"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3.1 </a:t>
            </a:r>
            <a:r>
              <a:rPr lang="zh-CN" altLang="en-US" sz="2400">
                <a:latin typeface="宋体" panose="02010600030101010101" pitchFamily="2" charset="-122"/>
                <a:ea typeface="宋体" panose="02010600030101010101" pitchFamily="2" charset="-122"/>
              </a:rPr>
              <a:t>概述</a:t>
            </a:r>
            <a:endParaRPr lang="zh-CN" altLang="en-US" sz="2400">
              <a:latin typeface="宋体" panose="02010600030101010101" pitchFamily="2" charset="-122"/>
              <a:ea typeface="宋体" panose="02010600030101010101" pitchFamily="2" charset="-122"/>
            </a:endParaRPr>
          </a:p>
        </p:txBody>
      </p:sp>
      <p:sp>
        <p:nvSpPr>
          <p:cNvPr id="23556" name="Rectangle 3"/>
          <p:cNvSpPr>
            <a:spLocks noGrp="1" noChangeArrowheads="1"/>
          </p:cNvSpPr>
          <p:nvPr>
            <p:ph type="body" idx="1"/>
          </p:nvPr>
        </p:nvSpPr>
        <p:spPr>
          <a:xfrm>
            <a:off x="34925" y="1019175"/>
            <a:ext cx="8826500" cy="5876925"/>
          </a:xfrm>
        </p:spPr>
        <p:txBody>
          <a:bodyPr/>
          <a:lstStyle/>
          <a:p>
            <a:pPr marL="285750" indent="-285750">
              <a:lnSpc>
                <a:spcPct val="80000"/>
              </a:lnSpc>
            </a:pPr>
            <a:r>
              <a:rPr lang="zh-CN" altLang="en-US" sz="2800" dirty="0">
                <a:latin typeface="宋体" panose="02010600030101010101" pitchFamily="2" charset="-122"/>
                <a:ea typeface="宋体" panose="02010600030101010101" pitchFamily="2" charset="-122"/>
              </a:rPr>
              <a:t>什么是数据结构（</a:t>
            </a:r>
            <a:r>
              <a:rPr lang="en-US" altLang="zh-CN" sz="2800" dirty="0">
                <a:latin typeface="宋体" panose="02010600030101010101" pitchFamily="2" charset="-122"/>
                <a:ea typeface="宋体" panose="02010600030101010101" pitchFamily="2" charset="-122"/>
              </a:rPr>
              <a:t>data structure）</a:t>
            </a:r>
            <a:endParaRPr lang="en-US" altLang="zh-CN" sz="2800" dirty="0">
              <a:latin typeface="宋体" panose="02010600030101010101" pitchFamily="2" charset="-122"/>
              <a:ea typeface="宋体" panose="02010600030101010101" pitchFamily="2" charset="-122"/>
            </a:endParaRPr>
          </a:p>
          <a:p>
            <a:pPr marL="862330" lvl="1">
              <a:lnSpc>
                <a:spcPct val="80000"/>
              </a:lnSpc>
            </a:pPr>
            <a:r>
              <a:rPr lang="zh-CN" altLang="en-US" sz="2400" dirty="0">
                <a:solidFill>
                  <a:schemeClr val="tx2"/>
                </a:solidFill>
                <a:latin typeface="宋体" panose="02010600030101010101" pitchFamily="2" charset="-122"/>
                <a:ea typeface="宋体" panose="02010600030101010101" pitchFamily="2" charset="-122"/>
              </a:rPr>
              <a:t>数据</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data）</a:t>
            </a:r>
            <a:r>
              <a:rPr lang="zh-CN" altLang="en-US" sz="2400" dirty="0">
                <a:latin typeface="宋体" panose="02010600030101010101" pitchFamily="2" charset="-122"/>
                <a:ea typeface="宋体" panose="02010600030101010101" pitchFamily="2" charset="-122"/>
              </a:rPr>
              <a:t>，是现实世界客观存在的实体或事务的属性值，包括：数值，文字，声音，图像等。</a:t>
            </a:r>
            <a:r>
              <a:rPr lang="zh-CN" altLang="en-US" sz="2400" dirty="0">
                <a:solidFill>
                  <a:schemeClr val="tx2"/>
                </a:solidFill>
                <a:latin typeface="宋体" panose="02010600030101010101" pitchFamily="2" charset="-122"/>
                <a:ea typeface="宋体" panose="02010600030101010101" pitchFamily="2" charset="-122"/>
              </a:rPr>
              <a:t>在计算机科学中指所有能输入并被计算机加工处理的符号集合</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marL="862330" lvl="1">
              <a:lnSpc>
                <a:spcPct val="80000"/>
              </a:lnSpc>
            </a:pPr>
            <a:r>
              <a:rPr lang="zh-CN" altLang="en-US" sz="2400" dirty="0">
                <a:solidFill>
                  <a:schemeClr val="tx2"/>
                </a:solidFill>
                <a:latin typeface="宋体" panose="02010600030101010101" pitchFamily="2" charset="-122"/>
                <a:ea typeface="宋体" panose="02010600030101010101" pitchFamily="2" charset="-122"/>
              </a:rPr>
              <a:t>数据项</a:t>
            </a:r>
            <a:r>
              <a:rPr lang="zh-CN" altLang="en-US" sz="2400" dirty="0">
                <a:latin typeface="宋体" panose="02010600030101010101" pitchFamily="2" charset="-122"/>
                <a:ea typeface="宋体" panose="02010600030101010101" pitchFamily="2" charset="-122"/>
              </a:rPr>
              <a:t>（</a:t>
            </a:r>
            <a:r>
              <a:rPr lang="en-US" altLang="zh-CN" sz="2400" dirty="0" err="1">
                <a:latin typeface="宋体" panose="02010600030101010101" pitchFamily="2" charset="-122"/>
                <a:ea typeface="宋体" panose="02010600030101010101" pitchFamily="2" charset="-122"/>
              </a:rPr>
              <a:t>field，item</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是数据</a:t>
            </a:r>
            <a:r>
              <a:rPr lang="zh-CN" altLang="en-US" sz="2400" dirty="0">
                <a:solidFill>
                  <a:schemeClr val="tx2"/>
                </a:solidFill>
                <a:latin typeface="宋体" panose="02010600030101010101" pitchFamily="2" charset="-122"/>
                <a:ea typeface="宋体" panose="02010600030101010101" pitchFamily="2" charset="-122"/>
              </a:rPr>
              <a:t>不可分割的最小单位</a:t>
            </a:r>
            <a:r>
              <a:rPr lang="zh-CN" altLang="en-US" sz="2400" dirty="0">
                <a:latin typeface="宋体" panose="02010600030101010101" pitchFamily="2" charset="-122"/>
                <a:ea typeface="宋体" panose="02010600030101010101" pitchFamily="2" charset="-122"/>
              </a:rPr>
              <a:t>，例如：年龄＝74</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身高</a:t>
            </a:r>
            <a:r>
              <a:rPr lang="en-US" altLang="zh-CN" sz="2400" dirty="0">
                <a:latin typeface="宋体" panose="02010600030101010101" pitchFamily="2" charset="-122"/>
                <a:ea typeface="宋体" panose="02010600030101010101" pitchFamily="2" charset="-122"/>
              </a:rPr>
              <a:t>=178</a:t>
            </a:r>
            <a:endParaRPr lang="zh-CN" altLang="en-US" sz="2400" dirty="0">
              <a:latin typeface="宋体" panose="02010600030101010101" pitchFamily="2" charset="-122"/>
              <a:ea typeface="宋体" panose="02010600030101010101" pitchFamily="2" charset="-122"/>
            </a:endParaRPr>
          </a:p>
          <a:p>
            <a:pPr marL="862330" lvl="1">
              <a:lnSpc>
                <a:spcPct val="80000"/>
              </a:lnSpc>
            </a:pPr>
            <a:r>
              <a:rPr lang="zh-CN" altLang="en-US" sz="2400" dirty="0">
                <a:solidFill>
                  <a:schemeClr val="tx2"/>
                </a:solidFill>
                <a:latin typeface="宋体" panose="02010600030101010101" pitchFamily="2" charset="-122"/>
                <a:ea typeface="宋体" panose="02010600030101010101" pitchFamily="2" charset="-122"/>
              </a:rPr>
              <a:t>数据元素</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data element）</a:t>
            </a:r>
            <a:r>
              <a:rPr lang="zh-CN" altLang="en-US" sz="2400" dirty="0">
                <a:latin typeface="宋体" panose="02010600030101010101" pitchFamily="2" charset="-122"/>
                <a:ea typeface="宋体" panose="02010600030101010101" pitchFamily="2" charset="-122"/>
              </a:rPr>
              <a:t>，数据的</a:t>
            </a:r>
            <a:r>
              <a:rPr lang="zh-CN" altLang="en-US" sz="2400" dirty="0">
                <a:solidFill>
                  <a:schemeClr val="tx2"/>
                </a:solidFill>
                <a:latin typeface="宋体" panose="02010600030101010101" pitchFamily="2" charset="-122"/>
                <a:ea typeface="宋体" panose="02010600030101010101" pitchFamily="2" charset="-122"/>
              </a:rPr>
              <a:t>基本单位</a:t>
            </a:r>
            <a:r>
              <a:rPr lang="zh-CN" altLang="en-US" sz="2400" dirty="0">
                <a:latin typeface="宋体" panose="02010600030101010101" pitchFamily="2" charset="-122"/>
                <a:ea typeface="宋体" panose="02010600030101010101" pitchFamily="2" charset="-122"/>
              </a:rPr>
              <a:t>，通常作为一个整体进行考虑和处理。</a:t>
            </a:r>
            <a:endParaRPr lang="en-US" altLang="zh-CN" sz="2400" dirty="0">
              <a:latin typeface="宋体" panose="02010600030101010101" pitchFamily="2" charset="-122"/>
              <a:ea typeface="宋体" panose="02010600030101010101" pitchFamily="2" charset="-122"/>
            </a:endParaRPr>
          </a:p>
          <a:p>
            <a:pPr marL="1333500" lvl="2">
              <a:lnSpc>
                <a:spcPct val="80000"/>
              </a:lnSpc>
            </a:pPr>
            <a:r>
              <a:rPr lang="zh-CN" altLang="en-US" sz="2000" dirty="0">
                <a:latin typeface="宋体" panose="02010600030101010101" pitchFamily="2" charset="-122"/>
                <a:ea typeface="宋体" panose="02010600030101010101" pitchFamily="2" charset="-122"/>
              </a:rPr>
              <a:t>可以是单个数据项</a:t>
            </a:r>
            <a:endParaRPr lang="zh-CN" altLang="en-US" sz="2000" dirty="0">
              <a:latin typeface="宋体" panose="02010600030101010101" pitchFamily="2" charset="-122"/>
              <a:ea typeface="宋体" panose="02010600030101010101" pitchFamily="2" charset="-122"/>
            </a:endParaRPr>
          </a:p>
          <a:p>
            <a:pPr marL="1333500" lvl="2">
              <a:lnSpc>
                <a:spcPct val="80000"/>
              </a:lnSpc>
            </a:pPr>
            <a:r>
              <a:rPr lang="zh-CN" altLang="en-US" sz="2000" dirty="0">
                <a:latin typeface="宋体" panose="02010600030101010101" pitchFamily="2" charset="-122"/>
                <a:ea typeface="宋体" panose="02010600030101010101" pitchFamily="2" charset="-122"/>
              </a:rPr>
              <a:t>可以是几个数据项的集合</a:t>
            </a:r>
            <a:endParaRPr lang="zh-CN" altLang="en-US" sz="2000" dirty="0">
              <a:latin typeface="宋体" panose="02010600030101010101" pitchFamily="2" charset="-122"/>
              <a:ea typeface="宋体" panose="02010600030101010101" pitchFamily="2" charset="-122"/>
            </a:endParaRPr>
          </a:p>
          <a:p>
            <a:pPr marL="1901825" lvl="3">
              <a:lnSpc>
                <a:spcPct val="80000"/>
              </a:lnSpc>
            </a:pPr>
            <a:r>
              <a:rPr lang="en-US" altLang="zh-CN" sz="1800" dirty="0">
                <a:latin typeface="宋体" panose="02010600030101010101" pitchFamily="2" charset="-122"/>
                <a:ea typeface="宋体" panose="02010600030101010101" pitchFamily="2" charset="-122"/>
              </a:rPr>
              <a:t>name = </a:t>
            </a:r>
            <a:r>
              <a:rPr lang="en-US" altLang="zh-CN" sz="1800" dirty="0" err="1">
                <a:latin typeface="宋体" panose="02010600030101010101" pitchFamily="2" charset="-122"/>
                <a:ea typeface="宋体" panose="02010600030101010101" pitchFamily="2" charset="-122"/>
              </a:rPr>
              <a:t>first_name</a:t>
            </a:r>
            <a:r>
              <a:rPr lang="en-US" altLang="zh-CN" sz="1800" dirty="0">
                <a:latin typeface="宋体" panose="02010600030101010101" pitchFamily="2" charset="-122"/>
                <a:ea typeface="宋体" panose="02010600030101010101" pitchFamily="2" charset="-122"/>
              </a:rPr>
              <a:t> + </a:t>
            </a:r>
            <a:r>
              <a:rPr lang="en-US" altLang="zh-CN" sz="1800" dirty="0" err="1">
                <a:latin typeface="宋体" panose="02010600030101010101" pitchFamily="2" charset="-122"/>
                <a:ea typeface="宋体" panose="02010600030101010101" pitchFamily="2" charset="-122"/>
              </a:rPr>
              <a:t>last_name</a:t>
            </a:r>
            <a:endParaRPr lang="en-US" altLang="zh-CN" sz="1800" dirty="0">
              <a:latin typeface="宋体" panose="02010600030101010101" pitchFamily="2" charset="-122"/>
              <a:ea typeface="宋体" panose="02010600030101010101" pitchFamily="2" charset="-122"/>
            </a:endParaRPr>
          </a:p>
          <a:p>
            <a:pPr marL="1333500" lvl="2">
              <a:lnSpc>
                <a:spcPct val="80000"/>
              </a:lnSpc>
            </a:pPr>
            <a:r>
              <a:rPr lang="zh-CN" altLang="en-US" sz="2000" dirty="0">
                <a:latin typeface="宋体" panose="02010600030101010101" pitchFamily="2" charset="-122"/>
                <a:ea typeface="宋体" panose="02010600030101010101" pitchFamily="2" charset="-122"/>
              </a:rPr>
              <a:t>可以由数据项和其它数据元素组成的集合</a:t>
            </a:r>
            <a:endParaRPr lang="zh-CN" altLang="en-US" sz="2000" dirty="0">
              <a:latin typeface="宋体" panose="02010600030101010101" pitchFamily="2" charset="-122"/>
              <a:ea typeface="宋体" panose="02010600030101010101" pitchFamily="2" charset="-122"/>
            </a:endParaRPr>
          </a:p>
          <a:p>
            <a:pPr marL="1901825" lvl="3">
              <a:lnSpc>
                <a:spcPct val="80000"/>
              </a:lnSpc>
            </a:pPr>
            <a:r>
              <a:rPr lang="en-US" altLang="zh-CN" sz="1800" dirty="0">
                <a:latin typeface="宋体" panose="02010600030101010101" pitchFamily="2" charset="-122"/>
                <a:ea typeface="宋体" panose="02010600030101010101" pitchFamily="2" charset="-122"/>
              </a:rPr>
              <a:t>Person = </a:t>
            </a:r>
            <a:r>
              <a:rPr lang="en-US" altLang="zh-CN" sz="1800" dirty="0">
                <a:solidFill>
                  <a:schemeClr val="tx2"/>
                </a:solidFill>
                <a:latin typeface="宋体" panose="02010600030101010101" pitchFamily="2" charset="-122"/>
                <a:ea typeface="宋体" panose="02010600030101010101" pitchFamily="2" charset="-122"/>
              </a:rPr>
              <a:t>name</a:t>
            </a:r>
            <a:r>
              <a:rPr lang="en-US" altLang="zh-CN" sz="1800" dirty="0">
                <a:latin typeface="宋体" panose="02010600030101010101" pitchFamily="2" charset="-122"/>
                <a:ea typeface="宋体" panose="02010600030101010101" pitchFamily="2" charset="-122"/>
              </a:rPr>
              <a:t> + age + gender</a:t>
            </a:r>
            <a:endParaRPr lang="en-US" altLang="zh-CN" sz="1800" dirty="0">
              <a:latin typeface="宋体" panose="02010600030101010101" pitchFamily="2" charset="-122"/>
              <a:ea typeface="宋体" panose="02010600030101010101" pitchFamily="2" charset="-122"/>
            </a:endParaRPr>
          </a:p>
          <a:p>
            <a:pPr marL="1901825" lvl="3">
              <a:lnSpc>
                <a:spcPct val="80000"/>
              </a:lnSpc>
            </a:pPr>
            <a:r>
              <a:rPr lang="zh-CN" altLang="en-US" sz="1800" dirty="0">
                <a:latin typeface="宋体" panose="02010600030101010101" pitchFamily="2" charset="-122"/>
                <a:ea typeface="宋体" panose="02010600030101010101" pitchFamily="2" charset="-122"/>
              </a:rPr>
              <a:t>数据元素是可以嵌套的</a:t>
            </a:r>
            <a:endParaRPr lang="zh-CN" altLang="en-US" sz="1800" dirty="0">
              <a:latin typeface="宋体" panose="02010600030101010101" pitchFamily="2" charset="-122"/>
              <a:ea typeface="宋体" panose="02010600030101010101" pitchFamily="2" charset="-122"/>
            </a:endParaRPr>
          </a:p>
          <a:p>
            <a:pPr marL="862330" lvl="1">
              <a:lnSpc>
                <a:spcPct val="80000"/>
              </a:lnSpc>
            </a:pPr>
            <a:r>
              <a:rPr lang="zh-CN" altLang="en-US" sz="2400" dirty="0">
                <a:solidFill>
                  <a:schemeClr val="tx2"/>
                </a:solidFill>
                <a:latin typeface="宋体" panose="02010600030101010101" pitchFamily="2" charset="-122"/>
                <a:ea typeface="宋体" panose="02010600030101010101" pitchFamily="2" charset="-122"/>
              </a:rPr>
              <a:t>数据对象</a:t>
            </a:r>
            <a:r>
              <a:rPr lang="en-US" altLang="zh-CN" sz="2400" dirty="0">
                <a:solidFill>
                  <a:schemeClr val="bg1"/>
                </a:solidFill>
                <a:latin typeface="宋体" panose="02010600030101010101" pitchFamily="2" charset="-122"/>
                <a:ea typeface="宋体" panose="02010600030101010101" pitchFamily="2" charset="-122"/>
              </a:rPr>
              <a:t>(data object)，</a:t>
            </a:r>
            <a:r>
              <a:rPr lang="zh-CN" altLang="en-US" sz="2400" dirty="0">
                <a:latin typeface="宋体" panose="02010600030101010101" pitchFamily="2" charset="-122"/>
                <a:ea typeface="宋体" panose="02010600030101010101" pitchFamily="2" charset="-122"/>
              </a:rPr>
              <a:t>具有相同性质的数据元素的集合</a:t>
            </a:r>
            <a:endParaRPr lang="zh-CN" altLang="en-US" sz="2400" dirty="0">
              <a:latin typeface="宋体" panose="02010600030101010101" pitchFamily="2" charset="-122"/>
              <a:ea typeface="宋体" panose="02010600030101010101" pitchFamily="2" charset="-122"/>
            </a:endParaRPr>
          </a:p>
          <a:p>
            <a:pPr marL="1333500" lvl="2">
              <a:lnSpc>
                <a:spcPct val="80000"/>
              </a:lnSpc>
            </a:pPr>
            <a:r>
              <a:rPr lang="zh-CN" altLang="en-US" sz="2000" dirty="0">
                <a:latin typeface="宋体" panose="02010600030101010101" pitchFamily="2" charset="-122"/>
                <a:ea typeface="宋体" panose="02010600030101010101" pitchFamily="2" charset="-122"/>
              </a:rPr>
              <a:t>正整数的集合 </a:t>
            </a:r>
            <a:r>
              <a:rPr lang="en-US" altLang="zh-CN" sz="2000" dirty="0">
                <a:latin typeface="宋体" panose="02010600030101010101" pitchFamily="2" charset="-122"/>
                <a:ea typeface="宋体" panose="02010600030101010101" pitchFamily="2" charset="-122"/>
              </a:rPr>
              <a:t>N = { 0, 1, 2, </a:t>
            </a:r>
            <a:r>
              <a:rPr lang="en-US" altLang="zh-CN" sz="2000" dirty="0">
                <a:latin typeface="Times New Roman" panose="02020603050405020304" pitchFamily="18" charset="0"/>
                <a:ea typeface="宋体" panose="02010600030101010101" pitchFamily="2" charset="-122"/>
              </a:rPr>
              <a:t>…</a:t>
            </a:r>
            <a:r>
              <a:rPr lang="en-US" altLang="zh-CN" sz="2000" dirty="0">
                <a:latin typeface="宋体" panose="02010600030101010101" pitchFamily="2" charset="-122"/>
                <a:ea typeface="宋体" panose="02010600030101010101" pitchFamily="2" charset="-122"/>
              </a:rPr>
              <a:t> }</a:t>
            </a:r>
            <a:endParaRPr lang="en-US" altLang="zh-CN" sz="2000" dirty="0">
              <a:latin typeface="宋体" panose="02010600030101010101" pitchFamily="2" charset="-122"/>
              <a:ea typeface="宋体" panose="02010600030101010101" pitchFamily="2" charset="-122"/>
            </a:endParaRPr>
          </a:p>
          <a:p>
            <a:pPr marL="1333500" lvl="2">
              <a:lnSpc>
                <a:spcPct val="80000"/>
              </a:lnSpc>
            </a:pPr>
            <a:r>
              <a:rPr lang="zh-CN" altLang="en-US" sz="2000" dirty="0">
                <a:latin typeface="宋体" panose="02010600030101010101" pitchFamily="2" charset="-122"/>
                <a:ea typeface="宋体" panose="02010600030101010101" pitchFamily="2" charset="-122"/>
              </a:rPr>
              <a:t>人员的集合 </a:t>
            </a:r>
            <a:r>
              <a:rPr lang="en-US" altLang="zh-CN" sz="2000" dirty="0">
                <a:latin typeface="宋体" panose="02010600030101010101" pitchFamily="2" charset="-122"/>
                <a:ea typeface="宋体" panose="02010600030101010101" pitchFamily="2" charset="-122"/>
              </a:rPr>
              <a:t>P = { </a:t>
            </a:r>
            <a:r>
              <a:rPr lang="en-US" altLang="zh-CN" sz="2000" dirty="0" err="1">
                <a:latin typeface="宋体" panose="02010600030101010101" pitchFamily="2" charset="-122"/>
                <a:ea typeface="宋体" panose="02010600030101010101" pitchFamily="2" charset="-122"/>
              </a:rPr>
              <a:t>person_a</a:t>
            </a:r>
            <a:r>
              <a:rPr lang="en-US" altLang="zh-CN" sz="2000" dirty="0">
                <a:latin typeface="宋体" panose="02010600030101010101" pitchFamily="2" charset="-122"/>
                <a:ea typeface="宋体" panose="02010600030101010101" pitchFamily="2" charset="-122"/>
              </a:rPr>
              <a:t>, </a:t>
            </a:r>
            <a:r>
              <a:rPr lang="en-US" altLang="zh-CN" sz="2000" dirty="0" err="1">
                <a:latin typeface="宋体" panose="02010600030101010101" pitchFamily="2" charset="-122"/>
                <a:ea typeface="宋体" panose="02010600030101010101" pitchFamily="2" charset="-122"/>
              </a:rPr>
              <a:t>person_b</a:t>
            </a:r>
            <a:r>
              <a:rPr lang="en-US" altLang="zh-CN" sz="2000" dirty="0">
                <a:latin typeface="宋体" panose="02010600030101010101" pitchFamily="2" charset="-122"/>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a:t>
            </a:r>
            <a:r>
              <a:rPr lang="en-US" altLang="zh-CN" sz="2000" dirty="0">
                <a:latin typeface="宋体" panose="02010600030101010101" pitchFamily="2" charset="-122"/>
                <a:ea typeface="宋体" panose="02010600030101010101" pitchFamily="2" charset="-122"/>
              </a:rPr>
              <a:t> }</a:t>
            </a:r>
            <a:endParaRPr lang="en-US" altLang="zh-CN" sz="2000" dirty="0">
              <a:latin typeface="宋体" panose="02010600030101010101" pitchFamily="2" charset="-122"/>
              <a:ea typeface="宋体" panose="02010600030101010101" pitchFamily="2" charset="-122"/>
            </a:endParaRPr>
          </a:p>
        </p:txBody>
      </p:sp>
      <p:graphicFrame>
        <p:nvGraphicFramePr>
          <p:cNvPr id="97284" name="Group 4"/>
          <p:cNvGraphicFramePr>
            <a:graphicFrameLocks noGrp="1"/>
          </p:cNvGraphicFramePr>
          <p:nvPr/>
        </p:nvGraphicFramePr>
        <p:xfrm>
          <a:off x="6227763" y="3573463"/>
          <a:ext cx="2808287" cy="1511300"/>
        </p:xfrm>
        <a:graphic>
          <a:graphicData uri="http://schemas.openxmlformats.org/drawingml/2006/table">
            <a:tbl>
              <a:tblPr/>
              <a:tblGrid>
                <a:gridCol w="701675"/>
                <a:gridCol w="703262"/>
                <a:gridCol w="701675"/>
                <a:gridCol w="701675"/>
              </a:tblGrid>
              <a:tr h="357188">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600" b="1" i="0" u="none" strike="noStrike" cap="none" normalizeH="0" baseline="0" dirty="0">
                          <a:ln>
                            <a:noFill/>
                          </a:ln>
                          <a:solidFill>
                            <a:schemeClr val="tx2"/>
                          </a:solidFill>
                          <a:effectLst/>
                          <a:latin typeface="Bookman" pitchFamily="18" charset="0"/>
                          <a:ea typeface="宋体" panose="02010600030101010101" pitchFamily="2" charset="-122"/>
                        </a:rPr>
                        <a:t>学号</a:t>
                      </a:r>
                      <a:endParaRPr kumimoji="0" lang="zh-CN" altLang="en-US" sz="1600" b="1" i="0" u="none" strike="noStrike" cap="none" normalizeH="0" baseline="0" dirty="0">
                        <a:ln>
                          <a:noFill/>
                        </a:ln>
                        <a:solidFill>
                          <a:schemeClr val="tx2"/>
                        </a:solidFill>
                        <a:effectLst/>
                        <a:latin typeface="Bookman"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600" b="1" i="0" u="none" strike="noStrike" cap="none" normalizeH="0" baseline="0" dirty="0">
                          <a:ln>
                            <a:noFill/>
                          </a:ln>
                          <a:solidFill>
                            <a:schemeClr val="tx2"/>
                          </a:solidFill>
                          <a:effectLst/>
                          <a:latin typeface="Bookman" pitchFamily="18" charset="0"/>
                          <a:ea typeface="宋体" panose="02010600030101010101" pitchFamily="2" charset="-122"/>
                        </a:rPr>
                        <a:t>姓名</a:t>
                      </a:r>
                      <a:endParaRPr kumimoji="0" lang="zh-CN" altLang="en-US" sz="1600" b="1" i="0" u="none" strike="noStrike" cap="none" normalizeH="0" baseline="0" dirty="0">
                        <a:ln>
                          <a:noFill/>
                        </a:ln>
                        <a:solidFill>
                          <a:schemeClr val="tx2"/>
                        </a:solidFill>
                        <a:effectLst/>
                        <a:latin typeface="Bookman"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600" b="1" i="0" u="none" strike="noStrike" cap="none" normalizeH="0" baseline="0" dirty="0">
                          <a:ln>
                            <a:noFill/>
                          </a:ln>
                          <a:solidFill>
                            <a:schemeClr val="tx2"/>
                          </a:solidFill>
                          <a:effectLst/>
                          <a:latin typeface="Bookman" pitchFamily="18" charset="0"/>
                          <a:ea typeface="宋体" panose="02010600030101010101" pitchFamily="2" charset="-122"/>
                        </a:rPr>
                        <a:t>班级</a:t>
                      </a:r>
                      <a:endParaRPr kumimoji="0" lang="zh-CN" altLang="en-US" sz="1600" b="1" i="0" u="none" strike="noStrike" cap="none" normalizeH="0" baseline="0" dirty="0">
                        <a:ln>
                          <a:noFill/>
                        </a:ln>
                        <a:solidFill>
                          <a:schemeClr val="tx2"/>
                        </a:solidFill>
                        <a:effectLst/>
                        <a:latin typeface="Bookman"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600" b="1" i="0" u="none" strike="noStrike" cap="none" normalizeH="0" baseline="0" dirty="0">
                          <a:ln>
                            <a:noFill/>
                          </a:ln>
                          <a:solidFill>
                            <a:schemeClr val="tx2"/>
                          </a:solidFill>
                          <a:effectLst/>
                          <a:latin typeface="Bookman" pitchFamily="18" charset="0"/>
                          <a:ea typeface="宋体" panose="02010600030101010101" pitchFamily="2" charset="-122"/>
                        </a:rPr>
                        <a:t>成绩</a:t>
                      </a:r>
                      <a:endParaRPr kumimoji="0" lang="zh-CN" altLang="en-US" sz="1600" b="1" i="0" u="none" strike="noStrike" cap="none" normalizeH="0" baseline="0" dirty="0">
                        <a:ln>
                          <a:noFill/>
                        </a:ln>
                        <a:solidFill>
                          <a:schemeClr val="tx2"/>
                        </a:solidFill>
                        <a:effectLst/>
                        <a:latin typeface="Bookman"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r h="40163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200" b="1" i="0" u="none" strike="noStrike" cap="none" normalizeH="0" baseline="0">
                          <a:ln>
                            <a:noFill/>
                          </a:ln>
                          <a:solidFill>
                            <a:schemeClr val="tx2"/>
                          </a:solidFill>
                          <a:effectLst/>
                          <a:latin typeface="Bookman" pitchFamily="18" charset="0"/>
                          <a:ea typeface="宋体" panose="02010600030101010101" pitchFamily="2" charset="-122"/>
                        </a:rPr>
                        <a:t>90025</a:t>
                      </a:r>
                      <a:endParaRPr kumimoji="0" lang="zh-CN" altLang="en-US" sz="1200" b="1" i="0" u="none" strike="noStrike" cap="none" normalizeH="0" baseline="0">
                        <a:ln>
                          <a:noFill/>
                        </a:ln>
                        <a:solidFill>
                          <a:schemeClr val="tx2"/>
                        </a:solidFill>
                        <a:effectLst/>
                        <a:latin typeface="Bookman"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200" b="1" i="0" u="none" strike="noStrike" cap="none" normalizeH="0" baseline="0">
                          <a:ln>
                            <a:noFill/>
                          </a:ln>
                          <a:solidFill>
                            <a:schemeClr val="tx2"/>
                          </a:solidFill>
                          <a:effectLst/>
                          <a:latin typeface="Bookman" pitchFamily="18" charset="0"/>
                          <a:ea typeface="宋体" panose="02010600030101010101" pitchFamily="2" charset="-122"/>
                        </a:rPr>
                        <a:t>张勇</a:t>
                      </a:r>
                      <a:endParaRPr kumimoji="0" lang="zh-CN" altLang="en-US" sz="1200" b="1" i="0" u="none" strike="noStrike" cap="none" normalizeH="0" baseline="0">
                        <a:ln>
                          <a:noFill/>
                        </a:ln>
                        <a:solidFill>
                          <a:schemeClr val="tx2"/>
                        </a:solidFill>
                        <a:effectLst/>
                        <a:latin typeface="Bookman"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200" b="1" i="0" u="none" strike="noStrike" cap="none" normalizeH="0" baseline="0">
                          <a:ln>
                            <a:noFill/>
                          </a:ln>
                          <a:solidFill>
                            <a:schemeClr val="tx2"/>
                          </a:solidFill>
                          <a:effectLst/>
                          <a:latin typeface="Bookman" pitchFamily="18" charset="0"/>
                          <a:ea typeface="宋体" panose="02010600030101010101" pitchFamily="2" charset="-122"/>
                        </a:rPr>
                        <a:t>仪1</a:t>
                      </a:r>
                      <a:endParaRPr kumimoji="0" lang="zh-CN" altLang="en-US" sz="1200" b="1" i="0" u="none" strike="noStrike" cap="none" normalizeH="0" baseline="0">
                        <a:ln>
                          <a:noFill/>
                        </a:ln>
                        <a:solidFill>
                          <a:schemeClr val="tx2"/>
                        </a:solidFill>
                        <a:effectLst/>
                        <a:latin typeface="Bookman"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200" b="1" i="0" u="none" strike="noStrike" cap="none" normalizeH="0" baseline="0">
                          <a:ln>
                            <a:noFill/>
                          </a:ln>
                          <a:solidFill>
                            <a:schemeClr val="tx2"/>
                          </a:solidFill>
                          <a:effectLst/>
                          <a:latin typeface="Bookman" pitchFamily="18" charset="0"/>
                          <a:ea typeface="宋体" panose="02010600030101010101" pitchFamily="2" charset="-122"/>
                        </a:rPr>
                        <a:t>85</a:t>
                      </a:r>
                      <a:endParaRPr kumimoji="0" lang="zh-CN" altLang="en-US" sz="1200" b="1" i="0" u="none" strike="noStrike" cap="none" normalizeH="0" baseline="0">
                        <a:ln>
                          <a:noFill/>
                        </a:ln>
                        <a:solidFill>
                          <a:schemeClr val="tx2"/>
                        </a:solidFill>
                        <a:effectLst/>
                        <a:latin typeface="Bookman"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7188">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200" b="1" i="0" u="none" strike="noStrike" cap="none" normalizeH="0" baseline="0">
                          <a:ln>
                            <a:noFill/>
                          </a:ln>
                          <a:solidFill>
                            <a:schemeClr val="tx2"/>
                          </a:solidFill>
                          <a:effectLst/>
                          <a:latin typeface="Bookman" pitchFamily="18" charset="0"/>
                          <a:ea typeface="宋体" panose="02010600030101010101" pitchFamily="2" charset="-122"/>
                        </a:rPr>
                        <a:t>90123</a:t>
                      </a:r>
                      <a:endParaRPr kumimoji="0" lang="zh-CN" altLang="en-US" sz="1200" b="1" i="0" u="none" strike="noStrike" cap="none" normalizeH="0" baseline="0">
                        <a:ln>
                          <a:noFill/>
                        </a:ln>
                        <a:solidFill>
                          <a:schemeClr val="tx2"/>
                        </a:solidFill>
                        <a:effectLst/>
                        <a:latin typeface="Bookman"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200" b="1" i="0" u="none" strike="noStrike" cap="none" normalizeH="0" baseline="0">
                          <a:ln>
                            <a:noFill/>
                          </a:ln>
                          <a:solidFill>
                            <a:schemeClr val="tx2"/>
                          </a:solidFill>
                          <a:effectLst/>
                          <a:latin typeface="Bookman" pitchFamily="18" charset="0"/>
                          <a:ea typeface="宋体" panose="02010600030101010101" pitchFamily="2" charset="-122"/>
                        </a:rPr>
                        <a:t>李军</a:t>
                      </a:r>
                      <a:endParaRPr kumimoji="0" lang="zh-CN" altLang="en-US" sz="1200" b="1" i="0" u="none" strike="noStrike" cap="none" normalizeH="0" baseline="0">
                        <a:ln>
                          <a:noFill/>
                        </a:ln>
                        <a:solidFill>
                          <a:schemeClr val="tx2"/>
                        </a:solidFill>
                        <a:effectLst/>
                        <a:latin typeface="Bookman"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200" b="1" i="0" u="none" strike="noStrike" cap="none" normalizeH="0" baseline="0">
                          <a:ln>
                            <a:noFill/>
                          </a:ln>
                          <a:solidFill>
                            <a:schemeClr val="tx2"/>
                          </a:solidFill>
                          <a:effectLst/>
                          <a:latin typeface="Bookman" pitchFamily="18" charset="0"/>
                          <a:ea typeface="宋体" panose="02010600030101010101" pitchFamily="2" charset="-122"/>
                        </a:rPr>
                        <a:t>计1</a:t>
                      </a:r>
                      <a:endParaRPr kumimoji="0" lang="zh-CN" altLang="en-US" sz="1200" b="1" i="0" u="none" strike="noStrike" cap="none" normalizeH="0" baseline="0">
                        <a:ln>
                          <a:noFill/>
                        </a:ln>
                        <a:solidFill>
                          <a:schemeClr val="tx2"/>
                        </a:solidFill>
                        <a:effectLst/>
                        <a:latin typeface="Bookman"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200" b="1" i="0" u="none" strike="noStrike" cap="none" normalizeH="0" baseline="0">
                          <a:ln>
                            <a:noFill/>
                          </a:ln>
                          <a:solidFill>
                            <a:schemeClr val="tx2"/>
                          </a:solidFill>
                          <a:effectLst/>
                          <a:latin typeface="Bookman" pitchFamily="18" charset="0"/>
                          <a:ea typeface="宋体" panose="02010600030101010101" pitchFamily="2" charset="-122"/>
                        </a:rPr>
                        <a:t>90</a:t>
                      </a:r>
                      <a:endParaRPr kumimoji="0" lang="zh-CN" altLang="en-US" sz="1200" b="1" i="0" u="none" strike="noStrike" cap="none" normalizeH="0" baseline="0">
                        <a:ln>
                          <a:noFill/>
                        </a:ln>
                        <a:solidFill>
                          <a:schemeClr val="tx2"/>
                        </a:solidFill>
                        <a:effectLst/>
                        <a:latin typeface="Bookman"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528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2"/>
                          </a:solidFill>
                          <a:effectLst/>
                          <a:latin typeface="Bookman" pitchFamily="18" charset="0"/>
                          <a:ea typeface="宋体" panose="02010600030101010101" pitchFamily="2" charset="-122"/>
                        </a:rPr>
                        <a:t>…</a:t>
                      </a:r>
                      <a:endParaRPr kumimoji="0" lang="zh-CN" altLang="en-US" sz="1600" b="1" i="0" u="none" strike="noStrike" cap="none" normalizeH="0" baseline="0">
                        <a:ln>
                          <a:noFill/>
                        </a:ln>
                        <a:solidFill>
                          <a:schemeClr val="tx2"/>
                        </a:solidFill>
                        <a:effectLst/>
                        <a:latin typeface="Bookman"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2"/>
                          </a:solidFill>
                          <a:effectLst/>
                          <a:latin typeface="Bookman" pitchFamily="18" charset="0"/>
                          <a:ea typeface="宋体" panose="02010600030101010101" pitchFamily="2" charset="-122"/>
                        </a:rPr>
                        <a:t>…</a:t>
                      </a:r>
                      <a:endParaRPr kumimoji="0" lang="zh-CN" altLang="en-US" sz="1600" b="1" i="0" u="none" strike="noStrike" cap="none" normalizeH="0" baseline="0">
                        <a:ln>
                          <a:noFill/>
                        </a:ln>
                        <a:solidFill>
                          <a:schemeClr val="tx2"/>
                        </a:solidFill>
                        <a:effectLst/>
                        <a:latin typeface="Bookman"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2"/>
                          </a:solidFill>
                          <a:effectLst/>
                          <a:latin typeface="Bookman" pitchFamily="18" charset="0"/>
                          <a:ea typeface="宋体" panose="02010600030101010101" pitchFamily="2" charset="-122"/>
                        </a:rPr>
                        <a:t>…</a:t>
                      </a:r>
                      <a:endParaRPr kumimoji="0" lang="zh-CN" altLang="en-US" sz="1600" b="1" i="0" u="none" strike="noStrike" cap="none" normalizeH="0" baseline="0">
                        <a:ln>
                          <a:noFill/>
                        </a:ln>
                        <a:solidFill>
                          <a:schemeClr val="tx2"/>
                        </a:solidFill>
                        <a:effectLst/>
                        <a:latin typeface="Bookman"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2"/>
                          </a:solidFill>
                          <a:effectLst/>
                          <a:latin typeface="Bookman" pitchFamily="18" charset="0"/>
                          <a:ea typeface="宋体" panose="02010600030101010101" pitchFamily="2" charset="-122"/>
                        </a:rPr>
                        <a:t>…</a:t>
                      </a:r>
                      <a:endParaRPr kumimoji="0" lang="zh-CN" altLang="en-US" sz="1600" b="1" i="0" u="none" strike="noStrike" cap="none" normalizeH="0" baseline="0">
                        <a:ln>
                          <a:noFill/>
                        </a:ln>
                        <a:solidFill>
                          <a:schemeClr val="tx2"/>
                        </a:solidFill>
                        <a:effectLst/>
                        <a:latin typeface="Bookman"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059A9413-E8D1-4747-8D6A-4ECB96D3C6D8}"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25603"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3.1 </a:t>
            </a:r>
            <a:r>
              <a:rPr lang="zh-CN" altLang="en-US" sz="2400">
                <a:latin typeface="宋体" panose="02010600030101010101" pitchFamily="2" charset="-122"/>
                <a:ea typeface="宋体" panose="02010600030101010101" pitchFamily="2" charset="-122"/>
              </a:rPr>
              <a:t>概述</a:t>
            </a:r>
            <a:endParaRPr lang="zh-CN" altLang="en-US" sz="2400">
              <a:latin typeface="宋体" panose="02010600030101010101" pitchFamily="2" charset="-122"/>
              <a:ea typeface="宋体" panose="02010600030101010101" pitchFamily="2" charset="-122"/>
            </a:endParaRPr>
          </a:p>
        </p:txBody>
      </p:sp>
      <p:sp>
        <p:nvSpPr>
          <p:cNvPr id="25604" name="Rectangle 3"/>
          <p:cNvSpPr>
            <a:spLocks noGrp="1" noChangeArrowheads="1"/>
          </p:cNvSpPr>
          <p:nvPr>
            <p:ph type="body" idx="1"/>
          </p:nvPr>
        </p:nvSpPr>
        <p:spPr>
          <a:xfrm>
            <a:off x="34925" y="947738"/>
            <a:ext cx="8610600" cy="5111750"/>
          </a:xfrm>
        </p:spPr>
        <p:txBody>
          <a:bodyPr/>
          <a:lstStyle/>
          <a:p>
            <a:pPr marL="285750" indent="-285750"/>
            <a:r>
              <a:rPr lang="zh-CN" altLang="en-US" sz="2800">
                <a:latin typeface="宋体" panose="02010600030101010101" pitchFamily="2" charset="-122"/>
                <a:ea typeface="宋体" panose="02010600030101010101" pitchFamily="2" charset="-122"/>
              </a:rPr>
              <a:t>什么是数据结构（</a:t>
            </a:r>
            <a:r>
              <a:rPr lang="en-US" altLang="zh-CN" sz="2800">
                <a:latin typeface="宋体" panose="02010600030101010101" pitchFamily="2" charset="-122"/>
                <a:ea typeface="宋体" panose="02010600030101010101" pitchFamily="2" charset="-122"/>
              </a:rPr>
              <a:t>data structure）</a:t>
            </a:r>
            <a:endParaRPr lang="en-US" altLang="zh-CN" sz="2800">
              <a:latin typeface="宋体" panose="02010600030101010101" pitchFamily="2" charset="-122"/>
              <a:ea typeface="宋体" panose="02010600030101010101" pitchFamily="2" charset="-122"/>
            </a:endParaRPr>
          </a:p>
          <a:p>
            <a:pPr marL="862330" lvl="1"/>
            <a:r>
              <a:rPr lang="zh-CN" altLang="en-US" sz="2400">
                <a:solidFill>
                  <a:schemeClr val="tx2"/>
                </a:solidFill>
                <a:latin typeface="宋体" panose="02010600030101010101" pitchFamily="2" charset="-122"/>
                <a:ea typeface="宋体" panose="02010600030101010101" pitchFamily="2" charset="-122"/>
              </a:rPr>
              <a:t>数据结构</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data structure），</a:t>
            </a:r>
            <a:r>
              <a:rPr lang="zh-CN" altLang="en-US" sz="2400">
                <a:latin typeface="宋体" panose="02010600030101010101" pitchFamily="2" charset="-122"/>
                <a:ea typeface="宋体" panose="02010600030101010101" pitchFamily="2" charset="-122"/>
              </a:rPr>
              <a:t>带有</a:t>
            </a:r>
            <a:r>
              <a:rPr lang="zh-CN" altLang="en-US" sz="2400">
                <a:solidFill>
                  <a:schemeClr val="tx2"/>
                </a:solidFill>
                <a:latin typeface="宋体" panose="02010600030101010101" pitchFamily="2" charset="-122"/>
                <a:ea typeface="宋体" panose="02010600030101010101" pitchFamily="2" charset="-122"/>
              </a:rPr>
              <a:t>结构特性</a:t>
            </a:r>
            <a:r>
              <a:rPr lang="zh-CN" altLang="en-US" sz="2400">
                <a:latin typeface="宋体" panose="02010600030101010101" pitchFamily="2" charset="-122"/>
                <a:ea typeface="宋体" panose="02010600030101010101" pitchFamily="2" charset="-122"/>
              </a:rPr>
              <a:t>的数据元素的集合，表示为二元组形式</a:t>
            </a:r>
            <a:endParaRPr lang="zh-CN" altLang="en-US" sz="2400">
              <a:latin typeface="宋体" panose="02010600030101010101" pitchFamily="2" charset="-122"/>
              <a:ea typeface="宋体" panose="02010600030101010101" pitchFamily="2" charset="-122"/>
            </a:endParaRPr>
          </a:p>
          <a:p>
            <a:pPr marL="1333500" lvl="2"/>
            <a:r>
              <a:rPr lang="en-US" altLang="zh-CN" sz="2000">
                <a:latin typeface="宋体" panose="02010600030101010101" pitchFamily="2" charset="-122"/>
                <a:ea typeface="宋体" panose="02010600030101010101" pitchFamily="2" charset="-122"/>
              </a:rPr>
              <a:t>S = ( D, R )</a:t>
            </a:r>
            <a:endParaRPr lang="en-US" altLang="zh-CN" sz="2000">
              <a:latin typeface="宋体" panose="02010600030101010101" pitchFamily="2" charset="-122"/>
              <a:ea typeface="宋体" panose="02010600030101010101" pitchFamily="2" charset="-122"/>
            </a:endParaRPr>
          </a:p>
          <a:p>
            <a:pPr marL="1333500" lvl="2"/>
            <a:r>
              <a:rPr lang="en-US" altLang="zh-CN" sz="2000">
                <a:latin typeface="宋体" panose="02010600030101010101" pitchFamily="2" charset="-122"/>
                <a:ea typeface="宋体" panose="02010600030101010101" pitchFamily="2" charset="-122"/>
              </a:rPr>
              <a:t>D </a:t>
            </a:r>
            <a:r>
              <a:rPr lang="zh-CN" altLang="en-US" sz="2000">
                <a:latin typeface="宋体" panose="02010600030101010101" pitchFamily="2" charset="-122"/>
                <a:ea typeface="宋体" panose="02010600030101010101" pitchFamily="2" charset="-122"/>
              </a:rPr>
              <a:t>是一个装有数据元素的非空有限集合</a:t>
            </a:r>
            <a:endParaRPr lang="zh-CN" altLang="en-US" sz="2000">
              <a:latin typeface="宋体" panose="02010600030101010101" pitchFamily="2" charset="-122"/>
              <a:ea typeface="宋体" panose="02010600030101010101" pitchFamily="2" charset="-122"/>
            </a:endParaRPr>
          </a:p>
          <a:p>
            <a:pPr marL="1333500" lvl="2"/>
            <a:r>
              <a:rPr lang="en-US" altLang="zh-CN" sz="2000">
                <a:latin typeface="宋体" panose="02010600030101010101" pitchFamily="2" charset="-122"/>
                <a:ea typeface="宋体" panose="02010600030101010101" pitchFamily="2" charset="-122"/>
              </a:rPr>
              <a:t>R </a:t>
            </a:r>
            <a:r>
              <a:rPr lang="zh-CN" altLang="en-US" sz="2000">
                <a:latin typeface="宋体" panose="02010600030101010101" pitchFamily="2" charset="-122"/>
                <a:ea typeface="宋体" panose="02010600030101010101" pitchFamily="2" charset="-122"/>
              </a:rPr>
              <a:t>是定义在 </a:t>
            </a:r>
            <a:r>
              <a:rPr lang="en-US" altLang="zh-CN" sz="2000">
                <a:latin typeface="宋体" panose="02010600030101010101" pitchFamily="2" charset="-122"/>
                <a:ea typeface="宋体" panose="02010600030101010101" pitchFamily="2" charset="-122"/>
              </a:rPr>
              <a:t>D </a:t>
            </a:r>
            <a:r>
              <a:rPr lang="zh-CN" altLang="en-US" sz="2000">
                <a:latin typeface="宋体" panose="02010600030101010101" pitchFamily="2" charset="-122"/>
                <a:ea typeface="宋体" panose="02010600030101010101" pitchFamily="2" charset="-122"/>
              </a:rPr>
              <a:t>上的关系的非空有限集合</a:t>
            </a:r>
            <a:endParaRPr lang="zh-CN" altLang="en-US" sz="2000">
              <a:latin typeface="宋体" panose="02010600030101010101" pitchFamily="2" charset="-122"/>
              <a:ea typeface="宋体" panose="02010600030101010101" pitchFamily="2" charset="-122"/>
            </a:endParaRPr>
          </a:p>
          <a:p>
            <a:pPr marL="862330" lvl="1"/>
            <a:r>
              <a:rPr lang="zh-CN" altLang="en-US" sz="2400">
                <a:solidFill>
                  <a:schemeClr val="tx2"/>
                </a:solidFill>
                <a:latin typeface="宋体" panose="02010600030101010101" pitchFamily="2" charset="-122"/>
                <a:ea typeface="宋体" panose="02010600030101010101" pitchFamily="2" charset="-122"/>
              </a:rPr>
              <a:t>数据结构的分类</a:t>
            </a:r>
            <a:endParaRPr lang="zh-CN" altLang="en-US" sz="2400">
              <a:solidFill>
                <a:schemeClr val="tx2"/>
              </a:solidFill>
              <a:latin typeface="宋体" panose="02010600030101010101" pitchFamily="2" charset="-122"/>
              <a:ea typeface="宋体" panose="02010600030101010101" pitchFamily="2" charset="-122"/>
            </a:endParaRPr>
          </a:p>
          <a:p>
            <a:pPr marL="1333500" lvl="2"/>
            <a:r>
              <a:rPr lang="zh-CN" altLang="en-US" sz="2000">
                <a:solidFill>
                  <a:schemeClr val="tx2"/>
                </a:solidFill>
                <a:latin typeface="宋体" panose="02010600030101010101" pitchFamily="2" charset="-122"/>
                <a:ea typeface="宋体" panose="02010600030101010101" pitchFamily="2" charset="-122"/>
              </a:rPr>
              <a:t>集合</a:t>
            </a:r>
            <a:r>
              <a:rPr lang="zh-CN" altLang="en-US" sz="2000">
                <a:latin typeface="宋体" panose="02010600030101010101" pitchFamily="2" charset="-122"/>
                <a:ea typeface="宋体" panose="02010600030101010101" pitchFamily="2" charset="-122"/>
              </a:rPr>
              <a:t>，各数据元素除了属于同一个集合外，无别的关系，</a:t>
            </a:r>
            <a:endParaRPr lang="zh-CN" altLang="en-US" sz="2000">
              <a:latin typeface="宋体" panose="02010600030101010101" pitchFamily="2" charset="-122"/>
              <a:ea typeface="宋体" panose="02010600030101010101" pitchFamily="2" charset="-122"/>
            </a:endParaRPr>
          </a:p>
          <a:p>
            <a:pPr marL="1901825" lvl="3"/>
            <a:r>
              <a:rPr lang="zh-CN" altLang="en-US" sz="1800">
                <a:latin typeface="宋体" panose="02010600030101010101" pitchFamily="2" charset="-122"/>
                <a:ea typeface="宋体" panose="02010600030101010101" pitchFamily="2" charset="-122"/>
              </a:rPr>
              <a:t>如：</a:t>
            </a:r>
            <a:r>
              <a:rPr lang="en-US" altLang="zh-CN" sz="1800">
                <a:latin typeface="宋体" panose="02010600030101010101" pitchFamily="2" charset="-122"/>
                <a:ea typeface="宋体" panose="02010600030101010101" pitchFamily="2" charset="-122"/>
              </a:rPr>
              <a:t>{ 0, 1, 4, 8 }</a:t>
            </a:r>
            <a:endParaRPr lang="en-US" altLang="zh-CN" sz="1800">
              <a:latin typeface="宋体" panose="02010600030101010101" pitchFamily="2" charset="-122"/>
              <a:ea typeface="宋体" panose="02010600030101010101" pitchFamily="2" charset="-122"/>
            </a:endParaRPr>
          </a:p>
          <a:p>
            <a:pPr marL="1333500" lvl="2"/>
            <a:r>
              <a:rPr lang="zh-CN" altLang="en-US" sz="2000">
                <a:solidFill>
                  <a:schemeClr val="tx2"/>
                </a:solidFill>
                <a:latin typeface="宋体" panose="02010600030101010101" pitchFamily="2" charset="-122"/>
                <a:ea typeface="宋体" panose="02010600030101010101" pitchFamily="2" charset="-122"/>
              </a:rPr>
              <a:t>线性结构</a:t>
            </a:r>
            <a:r>
              <a:rPr lang="zh-CN" altLang="en-US" sz="2000">
                <a:latin typeface="宋体" panose="02010600030101010101" pitchFamily="2" charset="-122"/>
                <a:ea typeface="宋体" panose="02010600030101010101" pitchFamily="2" charset="-122"/>
              </a:rPr>
              <a:t>，元素之间存在一个接一个的顺序关系，</a:t>
            </a:r>
            <a:endParaRPr lang="zh-CN" altLang="en-US" sz="2000">
              <a:latin typeface="宋体" panose="02010600030101010101" pitchFamily="2" charset="-122"/>
              <a:ea typeface="宋体" panose="02010600030101010101" pitchFamily="2" charset="-122"/>
            </a:endParaRPr>
          </a:p>
          <a:p>
            <a:pPr marL="1901825" lvl="3"/>
            <a:r>
              <a:rPr lang="zh-CN" altLang="en-US" sz="1800">
                <a:latin typeface="宋体" panose="02010600030101010101" pitchFamily="2" charset="-122"/>
                <a:ea typeface="宋体" panose="02010600030101010101" pitchFamily="2" charset="-122"/>
              </a:rPr>
              <a:t>如：</a:t>
            </a:r>
            <a:r>
              <a:rPr lang="en-US" altLang="zh-CN" sz="1800">
                <a:latin typeface="宋体" panose="02010600030101010101" pitchFamily="2" charset="-122"/>
                <a:ea typeface="宋体" panose="02010600030101010101" pitchFamily="2" charset="-122"/>
              </a:rPr>
              <a:t>0-1-8-4</a:t>
            </a:r>
            <a:endParaRPr lang="en-US" altLang="zh-CN" sz="1800">
              <a:latin typeface="宋体" panose="02010600030101010101" pitchFamily="2" charset="-122"/>
              <a:ea typeface="宋体" panose="02010600030101010101" pitchFamily="2" charset="-122"/>
            </a:endParaRPr>
          </a:p>
          <a:p>
            <a:pPr marL="1333500" lvl="2"/>
            <a:r>
              <a:rPr lang="zh-CN" altLang="en-US" sz="2000">
                <a:solidFill>
                  <a:schemeClr val="tx2"/>
                </a:solidFill>
                <a:latin typeface="宋体" panose="02010600030101010101" pitchFamily="2" charset="-122"/>
                <a:ea typeface="宋体" panose="02010600030101010101" pitchFamily="2" charset="-122"/>
              </a:rPr>
              <a:t>树形结构</a:t>
            </a:r>
            <a:r>
              <a:rPr lang="zh-CN" altLang="en-US" sz="2000">
                <a:latin typeface="宋体" panose="02010600030101010101" pitchFamily="2" charset="-122"/>
                <a:ea typeface="宋体" panose="02010600030101010101" pitchFamily="2" charset="-122"/>
              </a:rPr>
              <a:t>，元素之间存在一对多的关系</a:t>
            </a:r>
            <a:endParaRPr lang="zh-CN" altLang="en-US" sz="2000">
              <a:latin typeface="宋体" panose="02010600030101010101" pitchFamily="2" charset="-122"/>
              <a:ea typeface="宋体" panose="02010600030101010101" pitchFamily="2" charset="-122"/>
            </a:endParaRPr>
          </a:p>
          <a:p>
            <a:pPr marL="1333500" lvl="2"/>
            <a:r>
              <a:rPr lang="zh-CN" altLang="en-US" sz="2000">
                <a:solidFill>
                  <a:schemeClr val="tx2"/>
                </a:solidFill>
                <a:latin typeface="宋体" panose="02010600030101010101" pitchFamily="2" charset="-122"/>
                <a:ea typeface="宋体" panose="02010600030101010101" pitchFamily="2" charset="-122"/>
              </a:rPr>
              <a:t>网状结构</a:t>
            </a:r>
            <a:r>
              <a:rPr lang="zh-CN" altLang="en-US" sz="2000">
                <a:latin typeface="宋体" panose="02010600030101010101" pitchFamily="2" charset="-122"/>
                <a:ea typeface="宋体" panose="02010600030101010101" pitchFamily="2" charset="-122"/>
              </a:rPr>
              <a:t>，元素之间存在多对多的关系</a:t>
            </a:r>
            <a:endParaRPr lang="zh-CN" altLang="en-US" sz="2000">
              <a:latin typeface="宋体" panose="02010600030101010101" pitchFamily="2" charset="-122"/>
              <a:ea typeface="宋体" panose="02010600030101010101" pitchFamily="2" charset="-122"/>
            </a:endParaRPr>
          </a:p>
        </p:txBody>
      </p:sp>
      <p:sp>
        <p:nvSpPr>
          <p:cNvPr id="81951" name="AutoShape 31">
            <a:hlinkClick r:id="" action="ppaction://noaction">
              <a:snd r:embed="rId1" name="chimes.wav"/>
            </a:hlinkClick>
          </p:cNvPr>
          <p:cNvSpPr>
            <a:spLocks noChangeArrowheads="1"/>
          </p:cNvSpPr>
          <p:nvPr/>
        </p:nvSpPr>
        <p:spPr bwMode="auto">
          <a:xfrm>
            <a:off x="6442075" y="1347788"/>
            <a:ext cx="215900" cy="215900"/>
          </a:xfrm>
          <a:prstGeom prst="irregularSeal1">
            <a:avLst/>
          </a:prstGeom>
          <a:solidFill>
            <a:schemeClr val="accent1"/>
          </a:solidFill>
          <a:ln w="9525">
            <a:solidFill>
              <a:schemeClr val="tx1"/>
            </a:solidFill>
            <a:miter lim="800000"/>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1952" name="AutoShape 32">
            <a:hlinkHover r:id="" action="ppaction://noaction" highlightClick="1"/>
          </p:cNvPr>
          <p:cNvSpPr>
            <a:spLocks noChangeArrowheads="1"/>
          </p:cNvSpPr>
          <p:nvPr/>
        </p:nvSpPr>
        <p:spPr bwMode="auto">
          <a:xfrm>
            <a:off x="6572250" y="1928813"/>
            <a:ext cx="3203575" cy="1641475"/>
          </a:xfrm>
          <a:prstGeom prst="cloudCallout">
            <a:avLst>
              <a:gd name="adj1" fmla="val -47427"/>
              <a:gd name="adj2" fmla="val -52299"/>
            </a:avLst>
          </a:prstGeom>
          <a:solidFill>
            <a:schemeClr val="accent6">
              <a:lumMod val="60000"/>
              <a:lumOff val="40000"/>
            </a:schemeClr>
          </a:solidFill>
          <a:ln w="9525">
            <a:solidFill>
              <a:schemeClr val="tx1"/>
            </a:solidFill>
            <a:round/>
          </a:ln>
        </p:spPr>
        <p:txBody>
          <a:bodyPr lIns="0" tIns="0" rIns="0" bIns="0">
            <a:spAutoFit/>
          </a:bodyPr>
          <a:lstStyle/>
          <a:p>
            <a:pPr algn="ctr">
              <a:defRPr/>
            </a:pPr>
            <a:r>
              <a:rPr lang="zh-CN" altLang="en-US" b="1" dirty="0"/>
              <a:t>结构就是关系。</a:t>
            </a:r>
            <a:endParaRPr lang="zh-CN" altLang="en-US" b="1" dirty="0"/>
          </a:p>
          <a:p>
            <a:pPr algn="ctr">
              <a:defRPr/>
            </a:pPr>
            <a:r>
              <a:rPr lang="zh-CN" altLang="en-US" b="1" dirty="0"/>
              <a:t>被加工的数据不是孤立无关的，彼此之间存在着某些联系</a:t>
            </a:r>
            <a:endParaRPr lang="en-US" altLang="zh-CN" b="1" dirty="0"/>
          </a:p>
          <a:p>
            <a:pPr algn="ctr">
              <a:defRPr/>
            </a:pPr>
            <a:endParaRPr lang="en-US" altLang="zh-CN" dirty="0"/>
          </a:p>
        </p:txBody>
      </p:sp>
      <p:grpSp>
        <p:nvGrpSpPr>
          <p:cNvPr id="25607" name="Group 34"/>
          <p:cNvGrpSpPr/>
          <p:nvPr/>
        </p:nvGrpSpPr>
        <p:grpSpPr bwMode="auto">
          <a:xfrm>
            <a:off x="4645025" y="5949950"/>
            <a:ext cx="1150938" cy="836613"/>
            <a:chOff x="3236" y="2688"/>
            <a:chExt cx="364" cy="336"/>
          </a:xfrm>
        </p:grpSpPr>
        <p:sp>
          <p:nvSpPr>
            <p:cNvPr id="25634" name="Oval 35"/>
            <p:cNvSpPr>
              <a:spLocks noChangeArrowheads="1"/>
            </p:cNvSpPr>
            <p:nvPr/>
          </p:nvSpPr>
          <p:spPr bwMode="auto">
            <a:xfrm>
              <a:off x="3408" y="2688"/>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5635" name="Oval 36"/>
            <p:cNvSpPr>
              <a:spLocks noChangeArrowheads="1"/>
            </p:cNvSpPr>
            <p:nvPr/>
          </p:nvSpPr>
          <p:spPr bwMode="auto">
            <a:xfrm>
              <a:off x="3312" y="2832"/>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5636" name="Oval 37"/>
            <p:cNvSpPr>
              <a:spLocks noChangeArrowheads="1"/>
            </p:cNvSpPr>
            <p:nvPr/>
          </p:nvSpPr>
          <p:spPr bwMode="auto">
            <a:xfrm>
              <a:off x="3552" y="2832"/>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5637" name="Line 38"/>
            <p:cNvSpPr>
              <a:spLocks noChangeShapeType="1"/>
            </p:cNvSpPr>
            <p:nvPr/>
          </p:nvSpPr>
          <p:spPr bwMode="auto">
            <a:xfrm flipH="1">
              <a:off x="3357" y="2736"/>
              <a:ext cx="51"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38" name="Line 39"/>
            <p:cNvSpPr>
              <a:spLocks noChangeShapeType="1"/>
            </p:cNvSpPr>
            <p:nvPr/>
          </p:nvSpPr>
          <p:spPr bwMode="auto">
            <a:xfrm>
              <a:off x="3443" y="2733"/>
              <a:ext cx="109" cy="10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39" name="Oval 40"/>
            <p:cNvSpPr>
              <a:spLocks noChangeArrowheads="1"/>
            </p:cNvSpPr>
            <p:nvPr/>
          </p:nvSpPr>
          <p:spPr bwMode="auto">
            <a:xfrm>
              <a:off x="3236" y="2976"/>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5640" name="Oval 41"/>
            <p:cNvSpPr>
              <a:spLocks noChangeArrowheads="1"/>
            </p:cNvSpPr>
            <p:nvPr/>
          </p:nvSpPr>
          <p:spPr bwMode="auto">
            <a:xfrm>
              <a:off x="3476" y="2976"/>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5641" name="Line 42"/>
            <p:cNvSpPr>
              <a:spLocks noChangeShapeType="1"/>
            </p:cNvSpPr>
            <p:nvPr/>
          </p:nvSpPr>
          <p:spPr bwMode="auto">
            <a:xfrm flipH="1">
              <a:off x="3281" y="2880"/>
              <a:ext cx="51"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42" name="Line 43"/>
            <p:cNvSpPr>
              <a:spLocks noChangeShapeType="1"/>
            </p:cNvSpPr>
            <p:nvPr/>
          </p:nvSpPr>
          <p:spPr bwMode="auto">
            <a:xfrm>
              <a:off x="3367" y="2877"/>
              <a:ext cx="109" cy="10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5608" name="Group 44"/>
          <p:cNvGrpSpPr/>
          <p:nvPr/>
        </p:nvGrpSpPr>
        <p:grpSpPr bwMode="auto">
          <a:xfrm>
            <a:off x="6994525" y="5394325"/>
            <a:ext cx="1657350" cy="792163"/>
            <a:chOff x="3408" y="2634"/>
            <a:chExt cx="644" cy="363"/>
          </a:xfrm>
        </p:grpSpPr>
        <p:sp>
          <p:nvSpPr>
            <p:cNvPr id="25624" name="Oval 45"/>
            <p:cNvSpPr>
              <a:spLocks noChangeArrowheads="1"/>
            </p:cNvSpPr>
            <p:nvPr/>
          </p:nvSpPr>
          <p:spPr bwMode="auto">
            <a:xfrm>
              <a:off x="3580" y="2640"/>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5625" name="Oval 46"/>
            <p:cNvSpPr>
              <a:spLocks noChangeArrowheads="1"/>
            </p:cNvSpPr>
            <p:nvPr/>
          </p:nvSpPr>
          <p:spPr bwMode="auto">
            <a:xfrm>
              <a:off x="4004" y="2634"/>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5626" name="Line 47"/>
            <p:cNvSpPr>
              <a:spLocks noChangeShapeType="1"/>
            </p:cNvSpPr>
            <p:nvPr/>
          </p:nvSpPr>
          <p:spPr bwMode="auto">
            <a:xfrm>
              <a:off x="3615" y="2688"/>
              <a:ext cx="249" cy="2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7" name="Line 48"/>
            <p:cNvSpPr>
              <a:spLocks noChangeShapeType="1"/>
            </p:cNvSpPr>
            <p:nvPr/>
          </p:nvSpPr>
          <p:spPr bwMode="auto">
            <a:xfrm flipV="1">
              <a:off x="3636" y="2662"/>
              <a:ext cx="363" cy="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8" name="Oval 49"/>
            <p:cNvSpPr>
              <a:spLocks noChangeArrowheads="1"/>
            </p:cNvSpPr>
            <p:nvPr/>
          </p:nvSpPr>
          <p:spPr bwMode="auto">
            <a:xfrm>
              <a:off x="3408" y="2928"/>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5629" name="Oval 50"/>
            <p:cNvSpPr>
              <a:spLocks noChangeArrowheads="1"/>
            </p:cNvSpPr>
            <p:nvPr/>
          </p:nvSpPr>
          <p:spPr bwMode="auto">
            <a:xfrm>
              <a:off x="3867" y="2949"/>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5630" name="Line 51"/>
            <p:cNvSpPr>
              <a:spLocks noChangeShapeType="1"/>
            </p:cNvSpPr>
            <p:nvPr/>
          </p:nvSpPr>
          <p:spPr bwMode="auto">
            <a:xfrm flipH="1">
              <a:off x="3453" y="2684"/>
              <a:ext cx="138" cy="2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31" name="Line 52"/>
            <p:cNvSpPr>
              <a:spLocks noChangeShapeType="1"/>
            </p:cNvSpPr>
            <p:nvPr/>
          </p:nvSpPr>
          <p:spPr bwMode="auto">
            <a:xfrm flipH="1">
              <a:off x="3898" y="2683"/>
              <a:ext cx="119" cy="27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32" name="Line 53"/>
            <p:cNvSpPr>
              <a:spLocks noChangeShapeType="1"/>
            </p:cNvSpPr>
            <p:nvPr/>
          </p:nvSpPr>
          <p:spPr bwMode="auto">
            <a:xfrm>
              <a:off x="3470" y="2960"/>
              <a:ext cx="38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33" name="Line 54"/>
            <p:cNvSpPr>
              <a:spLocks noChangeShapeType="1"/>
            </p:cNvSpPr>
            <p:nvPr/>
          </p:nvSpPr>
          <p:spPr bwMode="auto">
            <a:xfrm flipV="1">
              <a:off x="3456" y="2679"/>
              <a:ext cx="549" cy="26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5609" name="Group 55"/>
          <p:cNvGrpSpPr/>
          <p:nvPr/>
        </p:nvGrpSpPr>
        <p:grpSpPr bwMode="auto">
          <a:xfrm>
            <a:off x="468313" y="5976938"/>
            <a:ext cx="1439862" cy="836612"/>
            <a:chOff x="4703" y="720"/>
            <a:chExt cx="657" cy="448"/>
          </a:xfrm>
        </p:grpSpPr>
        <p:sp>
          <p:nvSpPr>
            <p:cNvPr id="25618" name="Oval 56"/>
            <p:cNvSpPr>
              <a:spLocks noChangeArrowheads="1"/>
            </p:cNvSpPr>
            <p:nvPr/>
          </p:nvSpPr>
          <p:spPr bwMode="auto">
            <a:xfrm>
              <a:off x="5048" y="845"/>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5619" name="Oval 57"/>
            <p:cNvSpPr>
              <a:spLocks noChangeArrowheads="1"/>
            </p:cNvSpPr>
            <p:nvPr/>
          </p:nvSpPr>
          <p:spPr bwMode="auto">
            <a:xfrm>
              <a:off x="4952" y="989"/>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5620" name="Oval 58"/>
            <p:cNvSpPr>
              <a:spLocks noChangeArrowheads="1"/>
            </p:cNvSpPr>
            <p:nvPr/>
          </p:nvSpPr>
          <p:spPr bwMode="auto">
            <a:xfrm>
              <a:off x="5192" y="989"/>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5621" name="Oval 59"/>
            <p:cNvSpPr>
              <a:spLocks noChangeArrowheads="1"/>
            </p:cNvSpPr>
            <p:nvPr/>
          </p:nvSpPr>
          <p:spPr bwMode="auto">
            <a:xfrm>
              <a:off x="4876" y="890"/>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5622" name="Oval 60"/>
            <p:cNvSpPr>
              <a:spLocks noChangeArrowheads="1"/>
            </p:cNvSpPr>
            <p:nvPr/>
          </p:nvSpPr>
          <p:spPr bwMode="auto">
            <a:xfrm>
              <a:off x="5116" y="935"/>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5623" name="Freeform 61"/>
            <p:cNvSpPr/>
            <p:nvPr/>
          </p:nvSpPr>
          <p:spPr bwMode="auto">
            <a:xfrm>
              <a:off x="4703" y="720"/>
              <a:ext cx="657" cy="448"/>
            </a:xfrm>
            <a:custGeom>
              <a:avLst/>
              <a:gdLst>
                <a:gd name="T0" fmla="*/ 137 w 657"/>
                <a:gd name="T1" fmla="*/ 72 h 448"/>
                <a:gd name="T2" fmla="*/ 57 w 657"/>
                <a:gd name="T3" fmla="*/ 144 h 448"/>
                <a:gd name="T4" fmla="*/ 65 w 657"/>
                <a:gd name="T5" fmla="*/ 272 h 448"/>
                <a:gd name="T6" fmla="*/ 137 w 657"/>
                <a:gd name="T7" fmla="*/ 328 h 448"/>
                <a:gd name="T8" fmla="*/ 185 w 657"/>
                <a:gd name="T9" fmla="*/ 448 h 448"/>
                <a:gd name="T10" fmla="*/ 385 w 657"/>
                <a:gd name="T11" fmla="*/ 440 h 448"/>
                <a:gd name="T12" fmla="*/ 417 w 657"/>
                <a:gd name="T13" fmla="*/ 424 h 448"/>
                <a:gd name="T14" fmla="*/ 513 w 657"/>
                <a:gd name="T15" fmla="*/ 408 h 448"/>
                <a:gd name="T16" fmla="*/ 561 w 657"/>
                <a:gd name="T17" fmla="*/ 392 h 448"/>
                <a:gd name="T18" fmla="*/ 601 w 657"/>
                <a:gd name="T19" fmla="*/ 336 h 448"/>
                <a:gd name="T20" fmla="*/ 625 w 657"/>
                <a:gd name="T21" fmla="*/ 248 h 448"/>
                <a:gd name="T22" fmla="*/ 657 w 657"/>
                <a:gd name="T23" fmla="*/ 200 h 448"/>
                <a:gd name="T24" fmla="*/ 585 w 657"/>
                <a:gd name="T25" fmla="*/ 120 h 448"/>
                <a:gd name="T26" fmla="*/ 545 w 657"/>
                <a:gd name="T27" fmla="*/ 88 h 448"/>
                <a:gd name="T28" fmla="*/ 393 w 657"/>
                <a:gd name="T29" fmla="*/ 24 h 448"/>
                <a:gd name="T30" fmla="*/ 345 w 657"/>
                <a:gd name="T31" fmla="*/ 0 h 448"/>
                <a:gd name="T32" fmla="*/ 265 w 657"/>
                <a:gd name="T33" fmla="*/ 8 h 448"/>
                <a:gd name="T34" fmla="*/ 233 w 657"/>
                <a:gd name="T35" fmla="*/ 48 h 448"/>
                <a:gd name="T36" fmla="*/ 201 w 657"/>
                <a:gd name="T37" fmla="*/ 56 h 448"/>
                <a:gd name="T38" fmla="*/ 137 w 657"/>
                <a:gd name="T39" fmla="*/ 72 h 44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57"/>
                <a:gd name="T61" fmla="*/ 0 h 448"/>
                <a:gd name="T62" fmla="*/ 657 w 657"/>
                <a:gd name="T63" fmla="*/ 448 h 44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57" h="448">
                  <a:moveTo>
                    <a:pt x="137" y="72"/>
                  </a:moveTo>
                  <a:cubicBezTo>
                    <a:pt x="120" y="98"/>
                    <a:pt x="86" y="134"/>
                    <a:pt x="57" y="144"/>
                  </a:cubicBezTo>
                  <a:cubicBezTo>
                    <a:pt x="37" y="185"/>
                    <a:pt x="0" y="250"/>
                    <a:pt x="65" y="272"/>
                  </a:cubicBezTo>
                  <a:cubicBezTo>
                    <a:pt x="93" y="293"/>
                    <a:pt x="105" y="317"/>
                    <a:pt x="137" y="328"/>
                  </a:cubicBezTo>
                  <a:cubicBezTo>
                    <a:pt x="157" y="387"/>
                    <a:pt x="113" y="430"/>
                    <a:pt x="185" y="448"/>
                  </a:cubicBezTo>
                  <a:cubicBezTo>
                    <a:pt x="252" y="445"/>
                    <a:pt x="319" y="447"/>
                    <a:pt x="385" y="440"/>
                  </a:cubicBezTo>
                  <a:cubicBezTo>
                    <a:pt x="397" y="439"/>
                    <a:pt x="405" y="427"/>
                    <a:pt x="417" y="424"/>
                  </a:cubicBezTo>
                  <a:cubicBezTo>
                    <a:pt x="448" y="416"/>
                    <a:pt x="482" y="418"/>
                    <a:pt x="513" y="408"/>
                  </a:cubicBezTo>
                  <a:cubicBezTo>
                    <a:pt x="529" y="403"/>
                    <a:pt x="561" y="392"/>
                    <a:pt x="561" y="392"/>
                  </a:cubicBezTo>
                  <a:cubicBezTo>
                    <a:pt x="564" y="388"/>
                    <a:pt x="597" y="346"/>
                    <a:pt x="601" y="336"/>
                  </a:cubicBezTo>
                  <a:cubicBezTo>
                    <a:pt x="613" y="308"/>
                    <a:pt x="612" y="276"/>
                    <a:pt x="625" y="248"/>
                  </a:cubicBezTo>
                  <a:cubicBezTo>
                    <a:pt x="633" y="230"/>
                    <a:pt x="657" y="200"/>
                    <a:pt x="657" y="200"/>
                  </a:cubicBezTo>
                  <a:cubicBezTo>
                    <a:pt x="637" y="159"/>
                    <a:pt x="616" y="151"/>
                    <a:pt x="585" y="120"/>
                  </a:cubicBezTo>
                  <a:cubicBezTo>
                    <a:pt x="549" y="84"/>
                    <a:pt x="592" y="104"/>
                    <a:pt x="545" y="88"/>
                  </a:cubicBezTo>
                  <a:cubicBezTo>
                    <a:pt x="499" y="42"/>
                    <a:pt x="440" y="55"/>
                    <a:pt x="393" y="24"/>
                  </a:cubicBezTo>
                  <a:cubicBezTo>
                    <a:pt x="362" y="3"/>
                    <a:pt x="378" y="11"/>
                    <a:pt x="345" y="0"/>
                  </a:cubicBezTo>
                  <a:cubicBezTo>
                    <a:pt x="318" y="3"/>
                    <a:pt x="291" y="2"/>
                    <a:pt x="265" y="8"/>
                  </a:cubicBezTo>
                  <a:cubicBezTo>
                    <a:pt x="209" y="21"/>
                    <a:pt x="266" y="22"/>
                    <a:pt x="233" y="48"/>
                  </a:cubicBezTo>
                  <a:cubicBezTo>
                    <a:pt x="224" y="55"/>
                    <a:pt x="212" y="53"/>
                    <a:pt x="201" y="56"/>
                  </a:cubicBezTo>
                  <a:cubicBezTo>
                    <a:pt x="190" y="59"/>
                    <a:pt x="109" y="100"/>
                    <a:pt x="137" y="72"/>
                  </a:cubicBez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5610" name="Group 62"/>
          <p:cNvGrpSpPr/>
          <p:nvPr/>
        </p:nvGrpSpPr>
        <p:grpSpPr bwMode="auto">
          <a:xfrm>
            <a:off x="2484438" y="6308725"/>
            <a:ext cx="1223962" cy="144463"/>
            <a:chOff x="5012" y="1661"/>
            <a:chExt cx="456" cy="48"/>
          </a:xfrm>
        </p:grpSpPr>
        <p:sp>
          <p:nvSpPr>
            <p:cNvPr id="25611" name="Oval 63"/>
            <p:cNvSpPr>
              <a:spLocks noChangeArrowheads="1"/>
            </p:cNvSpPr>
            <p:nvPr/>
          </p:nvSpPr>
          <p:spPr bwMode="auto">
            <a:xfrm>
              <a:off x="5420" y="1661"/>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5612" name="Oval 64"/>
            <p:cNvSpPr>
              <a:spLocks noChangeArrowheads="1"/>
            </p:cNvSpPr>
            <p:nvPr/>
          </p:nvSpPr>
          <p:spPr bwMode="auto">
            <a:xfrm>
              <a:off x="5284" y="1661"/>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5613" name="Oval 65"/>
            <p:cNvSpPr>
              <a:spLocks noChangeArrowheads="1"/>
            </p:cNvSpPr>
            <p:nvPr/>
          </p:nvSpPr>
          <p:spPr bwMode="auto">
            <a:xfrm>
              <a:off x="5145" y="1661"/>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5614" name="Line 66"/>
            <p:cNvSpPr>
              <a:spLocks noChangeShapeType="1"/>
            </p:cNvSpPr>
            <p:nvPr/>
          </p:nvSpPr>
          <p:spPr bwMode="auto">
            <a:xfrm>
              <a:off x="5057" y="1685"/>
              <a:ext cx="9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15" name="Oval 67"/>
            <p:cNvSpPr>
              <a:spLocks noChangeArrowheads="1"/>
            </p:cNvSpPr>
            <p:nvPr/>
          </p:nvSpPr>
          <p:spPr bwMode="auto">
            <a:xfrm>
              <a:off x="5012" y="1661"/>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5616" name="Line 68"/>
            <p:cNvSpPr>
              <a:spLocks noChangeShapeType="1"/>
            </p:cNvSpPr>
            <p:nvPr/>
          </p:nvSpPr>
          <p:spPr bwMode="auto">
            <a:xfrm>
              <a:off x="5193" y="1685"/>
              <a:ext cx="9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17" name="Line 69"/>
            <p:cNvSpPr>
              <a:spLocks noChangeShapeType="1"/>
            </p:cNvSpPr>
            <p:nvPr/>
          </p:nvSpPr>
          <p:spPr bwMode="auto">
            <a:xfrm>
              <a:off x="5332" y="1685"/>
              <a:ext cx="9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81951"/>
                    </p:tgtEl>
                  </p:cond>
                </p:stCondLst>
                <p:endSync evt="end" delay="0">
                  <p:rtn val="all"/>
                </p:endSync>
                <p:childTnLst>
                  <p:par>
                    <p:cTn id="3" fill="hold">
                      <p:stCondLst>
                        <p:cond delay="0"/>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1952"/>
                                        </p:tgtEl>
                                        <p:attrNameLst>
                                          <p:attrName>style.visibility</p:attrName>
                                        </p:attrNameLst>
                                      </p:cBhvr>
                                      <p:to>
                                        <p:strVal val="visible"/>
                                      </p:to>
                                    </p:set>
                                    <p:anim calcmode="lin" valueType="num">
                                      <p:cBhvr>
                                        <p:cTn id="7" dur="500" fill="hold"/>
                                        <p:tgtEl>
                                          <p:spTgt spid="81952"/>
                                        </p:tgtEl>
                                        <p:attrNameLst>
                                          <p:attrName>ppt_w</p:attrName>
                                        </p:attrNameLst>
                                      </p:cBhvr>
                                      <p:tavLst>
                                        <p:tav tm="0">
                                          <p:val>
                                            <p:fltVal val="0"/>
                                          </p:val>
                                        </p:tav>
                                        <p:tav tm="100000">
                                          <p:val>
                                            <p:strVal val="#ppt_w"/>
                                          </p:val>
                                        </p:tav>
                                      </p:tavLst>
                                    </p:anim>
                                    <p:anim calcmode="lin" valueType="num">
                                      <p:cBhvr>
                                        <p:cTn id="8" dur="500" fill="hold"/>
                                        <p:tgtEl>
                                          <p:spTgt spid="81952"/>
                                        </p:tgtEl>
                                        <p:attrNameLst>
                                          <p:attrName>ppt_h</p:attrName>
                                        </p:attrNameLst>
                                      </p:cBhvr>
                                      <p:tavLst>
                                        <p:tav tm="0">
                                          <p:val>
                                            <p:fltVal val="0"/>
                                          </p:val>
                                        </p:tav>
                                        <p:tav tm="100000">
                                          <p:val>
                                            <p:strVal val="#ppt_h"/>
                                          </p:val>
                                        </p:tav>
                                      </p:tavLst>
                                    </p:anim>
                                    <p:animEffect transition="in" filter="fade">
                                      <p:cBhvr>
                                        <p:cTn id="9" dur="500"/>
                                        <p:tgtEl>
                                          <p:spTgt spid="81952"/>
                                        </p:tgtEl>
                                      </p:cBhvr>
                                    </p:animEffect>
                                  </p:childTnLst>
                                  <p:subTnLst>
                                    <p:set>
                                      <p:cBhvr override="childStyle">
                                        <p:cTn dur="1" fill="hold" display="0" masterRel="nextClick" afterEffect="1"/>
                                        <p:tgtEl>
                                          <p:spTgt spid="81952"/>
                                        </p:tgtEl>
                                        <p:attrNameLst>
                                          <p:attrName>style.visibility</p:attrName>
                                        </p:attrNameLst>
                                      </p:cBhvr>
                                      <p:to>
                                        <p:strVal val="hidden"/>
                                      </p:to>
                                    </p:set>
                                  </p:subTnLst>
                                </p:cTn>
                              </p:par>
                            </p:childTnLst>
                          </p:cTn>
                        </p:par>
                      </p:childTnLst>
                    </p:cTn>
                  </p:par>
                </p:childTnLst>
              </p:cTn>
              <p:nextCondLst>
                <p:cond evt="onClick" delay="0">
                  <p:tgtEl>
                    <p:spTgt spid="81951"/>
                  </p:tgtEl>
                </p:cond>
              </p:nextCondLst>
            </p:seq>
          </p:childTnLst>
        </p:cTn>
      </p:par>
    </p:tnLst>
    <p:bldLst>
      <p:bldP spid="81952"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4AFCD994-7249-45C5-BD6B-11A5F3A1B869}"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27651"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3.1 </a:t>
            </a:r>
            <a:r>
              <a:rPr lang="zh-CN" altLang="en-US" sz="2400">
                <a:latin typeface="宋体" panose="02010600030101010101" pitchFamily="2" charset="-122"/>
                <a:ea typeface="宋体" panose="02010600030101010101" pitchFamily="2" charset="-122"/>
              </a:rPr>
              <a:t>概述</a:t>
            </a:r>
            <a:endParaRPr lang="zh-CN" altLang="en-US" sz="2400">
              <a:latin typeface="宋体" panose="02010600030101010101" pitchFamily="2" charset="-122"/>
              <a:ea typeface="宋体" panose="02010600030101010101" pitchFamily="2" charset="-122"/>
            </a:endParaRPr>
          </a:p>
        </p:txBody>
      </p:sp>
      <p:sp>
        <p:nvSpPr>
          <p:cNvPr id="27652" name="Rectangle 3"/>
          <p:cNvSpPr>
            <a:spLocks noGrp="1" noChangeArrowheads="1"/>
          </p:cNvSpPr>
          <p:nvPr>
            <p:ph type="body" idx="1"/>
          </p:nvPr>
        </p:nvSpPr>
        <p:spPr>
          <a:xfrm>
            <a:off x="138113" y="1052513"/>
            <a:ext cx="8610600" cy="4876800"/>
          </a:xfrm>
        </p:spPr>
        <p:txBody>
          <a:bodyPr/>
          <a:lstStyle/>
          <a:p>
            <a:pPr marL="285750" indent="-285750"/>
            <a:r>
              <a:rPr lang="zh-CN" altLang="en-US">
                <a:latin typeface="宋体" panose="02010600030101010101" pitchFamily="2" charset="-122"/>
                <a:ea typeface="宋体" panose="02010600030101010101" pitchFamily="2" charset="-122"/>
              </a:rPr>
              <a:t>数据结构的用途</a:t>
            </a:r>
            <a:endParaRPr lang="zh-CN" altLang="en-US">
              <a:latin typeface="宋体" panose="02010600030101010101" pitchFamily="2" charset="-122"/>
              <a:ea typeface="宋体" panose="02010600030101010101" pitchFamily="2" charset="-122"/>
            </a:endParaRPr>
          </a:p>
          <a:p>
            <a:pPr marL="862330" lvl="1"/>
            <a:r>
              <a:rPr lang="zh-CN" altLang="en-US">
                <a:latin typeface="宋体" panose="02010600030101010101" pitchFamily="2" charset="-122"/>
                <a:ea typeface="宋体" panose="02010600030101010101" pitchFamily="2" charset="-122"/>
              </a:rPr>
              <a:t>用于存储数据</a:t>
            </a:r>
            <a:endParaRPr lang="zh-CN" altLang="en-US">
              <a:latin typeface="宋体" panose="02010600030101010101" pitchFamily="2" charset="-122"/>
              <a:ea typeface="宋体" panose="02010600030101010101" pitchFamily="2" charset="-122"/>
            </a:endParaRPr>
          </a:p>
          <a:p>
            <a:pPr marL="862330" lvl="1"/>
            <a:r>
              <a:rPr lang="zh-CN" altLang="en-US">
                <a:latin typeface="宋体" panose="02010600030101010101" pitchFamily="2" charset="-122"/>
                <a:ea typeface="宋体" panose="02010600030101010101" pitchFamily="2" charset="-122"/>
              </a:rPr>
              <a:t>用于实现各种功能的算法和操作</a:t>
            </a:r>
            <a:endParaRPr lang="zh-CN" altLang="en-US">
              <a:latin typeface="宋体" panose="02010600030101010101" pitchFamily="2" charset="-122"/>
              <a:ea typeface="宋体" panose="02010600030101010101" pitchFamily="2" charset="-122"/>
            </a:endParaRPr>
          </a:p>
          <a:p>
            <a:pPr marL="1333500" lvl="2"/>
            <a:r>
              <a:rPr lang="zh-CN" altLang="en-US">
                <a:latin typeface="宋体" panose="02010600030101010101" pitchFamily="2" charset="-122"/>
                <a:ea typeface="宋体" panose="02010600030101010101" pitchFamily="2" charset="-122"/>
              </a:rPr>
              <a:t>一个算法或操作，可以基于不同的数据结构来实现，但有的数据结构可以提高算法的效率，有的数据结构会降低算法的效率</a:t>
            </a:r>
            <a:endParaRPr lang="zh-CN" altLang="en-US">
              <a:latin typeface="宋体" panose="02010600030101010101" pitchFamily="2" charset="-122"/>
              <a:ea typeface="宋体" panose="02010600030101010101" pitchFamily="2" charset="-122"/>
            </a:endParaRPr>
          </a:p>
          <a:p>
            <a:pPr marL="1333500" lvl="2"/>
            <a:r>
              <a:rPr lang="zh-CN" altLang="en-US">
                <a:latin typeface="宋体" panose="02010600030101010101" pitchFamily="2" charset="-122"/>
                <a:ea typeface="宋体" panose="02010600030101010101" pitchFamily="2" charset="-122"/>
              </a:rPr>
              <a:t>数据结构影响算法的实现方式</a:t>
            </a:r>
            <a:endParaRPr lang="zh-CN" altLang="en-US">
              <a:latin typeface="宋体" panose="02010600030101010101" pitchFamily="2" charset="-122"/>
              <a:ea typeface="宋体" panose="02010600030101010101" pitchFamily="2" charset="-122"/>
            </a:endParaRPr>
          </a:p>
          <a:p>
            <a:pPr marL="1333500" lvl="2"/>
            <a:endParaRPr lang="zh-CN" altLang="en-US">
              <a:latin typeface="宋体" panose="02010600030101010101" pitchFamily="2" charset="-122"/>
              <a:ea typeface="宋体" panose="02010600030101010101" pitchFamily="2" charset="-122"/>
            </a:endParaRPr>
          </a:p>
          <a:p>
            <a:pPr marL="1333500" lvl="2">
              <a:buFontTx/>
              <a:buNone/>
            </a:pPr>
            <a:r>
              <a:rPr lang="zh-CN" altLang="en-US">
                <a:solidFill>
                  <a:schemeClr val="tx2"/>
                </a:solidFill>
                <a:latin typeface="宋体" panose="02010600030101010101" pitchFamily="2" charset="-122"/>
                <a:ea typeface="宋体" panose="02010600030101010101" pitchFamily="2" charset="-122"/>
              </a:rPr>
              <a:t>程序 </a:t>
            </a:r>
            <a:r>
              <a:rPr lang="en-US" altLang="zh-CN">
                <a:solidFill>
                  <a:schemeClr val="tx2"/>
                </a:solidFill>
                <a:latin typeface="宋体" panose="02010600030101010101" pitchFamily="2" charset="-122"/>
                <a:ea typeface="宋体" panose="02010600030101010101" pitchFamily="2" charset="-122"/>
              </a:rPr>
              <a:t>= </a:t>
            </a:r>
            <a:r>
              <a:rPr lang="zh-CN" altLang="en-US">
                <a:solidFill>
                  <a:schemeClr val="tx2"/>
                </a:solidFill>
                <a:latin typeface="宋体" panose="02010600030101010101" pitchFamily="2" charset="-122"/>
                <a:ea typeface="宋体" panose="02010600030101010101" pitchFamily="2" charset="-122"/>
              </a:rPr>
              <a:t>数据结构 </a:t>
            </a:r>
            <a:r>
              <a:rPr lang="en-US" altLang="zh-CN">
                <a:solidFill>
                  <a:schemeClr val="tx2"/>
                </a:solidFill>
                <a:latin typeface="宋体" panose="02010600030101010101" pitchFamily="2" charset="-122"/>
                <a:ea typeface="宋体" panose="02010600030101010101" pitchFamily="2" charset="-122"/>
              </a:rPr>
              <a:t>+ </a:t>
            </a:r>
            <a:r>
              <a:rPr lang="zh-CN" altLang="en-US">
                <a:solidFill>
                  <a:schemeClr val="tx2"/>
                </a:solidFill>
                <a:latin typeface="宋体" panose="02010600030101010101" pitchFamily="2" charset="-122"/>
                <a:ea typeface="宋体" panose="02010600030101010101" pitchFamily="2" charset="-122"/>
              </a:rPr>
              <a:t>算法</a:t>
            </a:r>
            <a:endParaRPr lang="zh-CN" altLang="en-US">
              <a:solidFill>
                <a:schemeClr val="tx2"/>
              </a:solidFill>
              <a:latin typeface="宋体" panose="02010600030101010101" pitchFamily="2" charset="-122"/>
              <a:ea typeface="宋体" panose="02010600030101010101" pitchFamily="2" charset="-122"/>
            </a:endParaRPr>
          </a:p>
        </p:txBody>
      </p:sp>
      <p:sp>
        <p:nvSpPr>
          <p:cNvPr id="21509" name="AutoShape 57"/>
          <p:cNvSpPr>
            <a:spLocks noChangeArrowheads="1"/>
          </p:cNvSpPr>
          <p:nvPr/>
        </p:nvSpPr>
        <p:spPr bwMode="auto">
          <a:xfrm>
            <a:off x="2124075" y="5589588"/>
            <a:ext cx="2520950" cy="360362"/>
          </a:xfrm>
          <a:prstGeom prst="wedgeRoundRectCallout">
            <a:avLst>
              <a:gd name="adj1" fmla="val -62407"/>
              <a:gd name="adj2" fmla="val -164537"/>
              <a:gd name="adj3" fmla="val 16667"/>
            </a:avLst>
          </a:prstGeom>
          <a:solidFill>
            <a:schemeClr val="accent6">
              <a:lumMod val="60000"/>
              <a:lumOff val="40000"/>
            </a:schemeClr>
          </a:solidFill>
          <a:ln w="9525">
            <a:solidFill>
              <a:schemeClr val="tx1"/>
            </a:solidFill>
            <a:miter lim="800000"/>
          </a:ln>
        </p:spPr>
        <p:txBody>
          <a:bodyPr/>
          <a:lstStyle/>
          <a:p>
            <a:pPr algn="ctr">
              <a:defRPr/>
            </a:pPr>
            <a:r>
              <a:rPr lang="zh-CN" altLang="en-US" sz="2000"/>
              <a:t>实现一定的功能</a:t>
            </a:r>
            <a:endParaRPr lang="en-US" altLang="zh-CN" sz="200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798A694B-6A96-4A73-BB18-453FE411B8D4}"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29699"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3.1 </a:t>
            </a:r>
            <a:r>
              <a:rPr lang="zh-CN" altLang="en-US" sz="2400">
                <a:latin typeface="宋体" panose="02010600030101010101" pitchFamily="2" charset="-122"/>
                <a:ea typeface="宋体" panose="02010600030101010101" pitchFamily="2" charset="-122"/>
              </a:rPr>
              <a:t>概述</a:t>
            </a:r>
            <a:endParaRPr lang="zh-CN" altLang="en-US" sz="2400">
              <a:latin typeface="宋体" panose="02010600030101010101" pitchFamily="2" charset="-122"/>
              <a:ea typeface="宋体" panose="02010600030101010101" pitchFamily="2" charset="-122"/>
            </a:endParaRPr>
          </a:p>
        </p:txBody>
      </p:sp>
      <p:sp>
        <p:nvSpPr>
          <p:cNvPr id="29700" name="Rectangle 3"/>
          <p:cNvSpPr>
            <a:spLocks noGrp="1" noChangeArrowheads="1"/>
          </p:cNvSpPr>
          <p:nvPr>
            <p:ph type="body" idx="1"/>
          </p:nvPr>
        </p:nvSpPr>
        <p:spPr>
          <a:xfrm>
            <a:off x="107950" y="981075"/>
            <a:ext cx="8856663" cy="5688013"/>
          </a:xfrm>
        </p:spPr>
        <p:txBody>
          <a:bodyPr/>
          <a:lstStyle/>
          <a:p>
            <a:pPr marL="285750" indent="-285750">
              <a:lnSpc>
                <a:spcPct val="90000"/>
              </a:lnSpc>
            </a:pPr>
            <a:r>
              <a:rPr lang="zh-CN" altLang="en-US">
                <a:latin typeface="宋体" panose="02010600030101010101" pitchFamily="2" charset="-122"/>
                <a:ea typeface="宋体" panose="02010600030101010101" pitchFamily="2" charset="-122"/>
              </a:rPr>
              <a:t>数据结构的存在形式</a:t>
            </a:r>
            <a:endParaRPr lang="en-US" altLang="zh-CN">
              <a:latin typeface="宋体" panose="02010600030101010101" pitchFamily="2" charset="-122"/>
              <a:ea typeface="宋体" panose="02010600030101010101" pitchFamily="2" charset="-122"/>
            </a:endParaRPr>
          </a:p>
          <a:p>
            <a:pPr marL="862330" lvl="1">
              <a:lnSpc>
                <a:spcPct val="90000"/>
              </a:lnSpc>
            </a:pPr>
            <a:r>
              <a:rPr lang="zh-CN" altLang="en-US">
                <a:solidFill>
                  <a:schemeClr val="tx2"/>
                </a:solidFill>
                <a:latin typeface="宋体" panose="02010600030101010101" pitchFamily="2" charset="-122"/>
                <a:ea typeface="宋体" panose="02010600030101010101" pitchFamily="2" charset="-122"/>
              </a:rPr>
              <a:t>逻辑结构</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logical structure）</a:t>
            </a:r>
            <a:endParaRPr lang="zh-CN" altLang="en-US">
              <a:latin typeface="宋体" panose="02010600030101010101" pitchFamily="2" charset="-122"/>
              <a:ea typeface="宋体" panose="02010600030101010101" pitchFamily="2" charset="-122"/>
            </a:endParaRPr>
          </a:p>
          <a:p>
            <a:pPr marL="1333500" lvl="2">
              <a:lnSpc>
                <a:spcPct val="90000"/>
              </a:lnSpc>
            </a:pPr>
            <a:r>
              <a:rPr lang="zh-CN" altLang="en-US">
                <a:latin typeface="宋体" panose="02010600030101010101" pitchFamily="2" charset="-122"/>
                <a:ea typeface="宋体" panose="02010600030101010101" pitchFamily="2" charset="-122"/>
              </a:rPr>
              <a:t>使用数据时的数据结构，不管数据是如何存储的</a:t>
            </a:r>
            <a:endParaRPr lang="zh-CN" altLang="en-US">
              <a:latin typeface="宋体" panose="02010600030101010101" pitchFamily="2" charset="-122"/>
              <a:ea typeface="宋体" panose="02010600030101010101" pitchFamily="2" charset="-122"/>
            </a:endParaRPr>
          </a:p>
          <a:p>
            <a:pPr marL="1333500" lvl="2">
              <a:lnSpc>
                <a:spcPct val="90000"/>
              </a:lnSpc>
            </a:pPr>
            <a:r>
              <a:rPr lang="zh-CN" altLang="en-US">
                <a:latin typeface="宋体" panose="02010600030101010101" pitchFamily="2" charset="-122"/>
                <a:ea typeface="宋体" panose="02010600030101010101" pitchFamily="2" charset="-122"/>
              </a:rPr>
              <a:t>是指一般我们通常所说的集合，线性表，树，图等</a:t>
            </a:r>
            <a:endParaRPr lang="zh-CN" altLang="en-US">
              <a:latin typeface="宋体" panose="02010600030101010101" pitchFamily="2" charset="-122"/>
              <a:ea typeface="宋体" panose="02010600030101010101" pitchFamily="2" charset="-122"/>
            </a:endParaRPr>
          </a:p>
          <a:p>
            <a:pPr marL="1333500" lvl="2">
              <a:lnSpc>
                <a:spcPct val="90000"/>
              </a:lnSpc>
            </a:pPr>
            <a:r>
              <a:rPr lang="zh-CN" altLang="en-US">
                <a:latin typeface="宋体" panose="02010600030101010101" pitchFamily="2" charset="-122"/>
                <a:ea typeface="宋体" panose="02010600030101010101" pitchFamily="2" charset="-122"/>
              </a:rPr>
              <a:t>是逻辑意义上的结构，一般是和数学上的数据表示形式相对应的，例如：数组－线性表</a:t>
            </a:r>
            <a:endParaRPr lang="zh-CN" altLang="en-US">
              <a:latin typeface="宋体" panose="02010600030101010101" pitchFamily="2" charset="-122"/>
              <a:ea typeface="宋体" panose="02010600030101010101" pitchFamily="2" charset="-122"/>
            </a:endParaRPr>
          </a:p>
          <a:p>
            <a:pPr marL="862330" lvl="1">
              <a:lnSpc>
                <a:spcPct val="90000"/>
              </a:lnSpc>
            </a:pPr>
            <a:r>
              <a:rPr lang="zh-CN" altLang="en-US">
                <a:solidFill>
                  <a:schemeClr val="tx2"/>
                </a:solidFill>
                <a:latin typeface="宋体" panose="02010600030101010101" pitchFamily="2" charset="-122"/>
                <a:ea typeface="宋体" panose="02010600030101010101" pitchFamily="2" charset="-122"/>
              </a:rPr>
              <a:t>物理结构</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physical structure）</a:t>
            </a:r>
            <a:endParaRPr lang="en-US" altLang="zh-CN">
              <a:latin typeface="宋体" panose="02010600030101010101" pitchFamily="2" charset="-122"/>
              <a:ea typeface="宋体" panose="02010600030101010101" pitchFamily="2" charset="-122"/>
            </a:endParaRPr>
          </a:p>
          <a:p>
            <a:pPr marL="1333500" lvl="2">
              <a:lnSpc>
                <a:spcPct val="90000"/>
              </a:lnSpc>
            </a:pPr>
            <a:r>
              <a:rPr lang="zh-CN" altLang="en-US">
                <a:latin typeface="宋体" panose="02010600030101010101" pitchFamily="2" charset="-122"/>
                <a:ea typeface="宋体" panose="02010600030101010101" pitchFamily="2" charset="-122"/>
              </a:rPr>
              <a:t>把逻辑结构映象到计算机中所得到的存储结构</a:t>
            </a:r>
            <a:endParaRPr lang="zh-CN" altLang="en-US">
              <a:latin typeface="宋体" panose="02010600030101010101" pitchFamily="2" charset="-122"/>
              <a:ea typeface="宋体" panose="02010600030101010101" pitchFamily="2" charset="-122"/>
            </a:endParaRPr>
          </a:p>
          <a:p>
            <a:pPr marL="1333500" lvl="2">
              <a:lnSpc>
                <a:spcPct val="90000"/>
              </a:lnSpc>
            </a:pPr>
            <a:r>
              <a:rPr lang="zh-CN" altLang="en-US">
                <a:latin typeface="宋体" panose="02010600030101010101" pitchFamily="2" charset="-122"/>
                <a:ea typeface="宋体" panose="02010600030101010101" pitchFamily="2" charset="-122"/>
              </a:rPr>
              <a:t>直接用于存储数据结构的</a:t>
            </a:r>
            <a:endParaRPr lang="zh-CN" altLang="en-US">
              <a:latin typeface="宋体" panose="02010600030101010101" pitchFamily="2" charset="-122"/>
              <a:ea typeface="宋体" panose="02010600030101010101" pitchFamily="2" charset="-122"/>
            </a:endParaRPr>
          </a:p>
          <a:p>
            <a:pPr marL="1333500" lvl="2">
              <a:lnSpc>
                <a:spcPct val="90000"/>
              </a:lnSpc>
            </a:pPr>
            <a:r>
              <a:rPr lang="zh-CN" altLang="en-US">
                <a:latin typeface="宋体" panose="02010600030101010101" pitchFamily="2" charset="-122"/>
                <a:ea typeface="宋体" panose="02010600030101010101" pitchFamily="2" charset="-122"/>
              </a:rPr>
              <a:t>存储结构主要有以下四种</a:t>
            </a:r>
            <a:endParaRPr lang="zh-CN" altLang="en-US">
              <a:latin typeface="宋体" panose="02010600030101010101" pitchFamily="2" charset="-122"/>
              <a:ea typeface="宋体" panose="02010600030101010101" pitchFamily="2" charset="-122"/>
            </a:endParaRPr>
          </a:p>
          <a:p>
            <a:pPr marL="1901825" lvl="3">
              <a:lnSpc>
                <a:spcPct val="90000"/>
              </a:lnSpc>
            </a:pPr>
            <a:r>
              <a:rPr lang="zh-CN" altLang="en-US">
                <a:solidFill>
                  <a:schemeClr val="tx2"/>
                </a:solidFill>
                <a:latin typeface="宋体" panose="02010600030101010101" pitchFamily="2" charset="-122"/>
                <a:ea typeface="宋体" panose="02010600030101010101" pitchFamily="2" charset="-122"/>
              </a:rPr>
              <a:t>顺序存储结构</a:t>
            </a:r>
            <a:endParaRPr lang="zh-CN" altLang="en-US">
              <a:solidFill>
                <a:schemeClr val="tx2"/>
              </a:solidFill>
              <a:latin typeface="宋体" panose="02010600030101010101" pitchFamily="2" charset="-122"/>
              <a:ea typeface="宋体" panose="02010600030101010101" pitchFamily="2" charset="-122"/>
            </a:endParaRPr>
          </a:p>
          <a:p>
            <a:pPr marL="1901825" lvl="3">
              <a:lnSpc>
                <a:spcPct val="90000"/>
              </a:lnSpc>
            </a:pPr>
            <a:r>
              <a:rPr lang="zh-CN" altLang="en-US">
                <a:solidFill>
                  <a:schemeClr val="tx2"/>
                </a:solidFill>
                <a:latin typeface="宋体" panose="02010600030101010101" pitchFamily="2" charset="-122"/>
                <a:ea typeface="宋体" panose="02010600030101010101" pitchFamily="2" charset="-122"/>
              </a:rPr>
              <a:t>链式存储结构</a:t>
            </a:r>
            <a:endParaRPr lang="zh-CN" altLang="en-US">
              <a:solidFill>
                <a:schemeClr val="tx2"/>
              </a:solidFill>
              <a:latin typeface="宋体" panose="02010600030101010101" pitchFamily="2" charset="-122"/>
              <a:ea typeface="宋体" panose="02010600030101010101" pitchFamily="2" charset="-122"/>
            </a:endParaRPr>
          </a:p>
          <a:p>
            <a:pPr marL="1901825" lvl="3">
              <a:lnSpc>
                <a:spcPct val="90000"/>
              </a:lnSpc>
            </a:pPr>
            <a:r>
              <a:rPr lang="zh-CN" altLang="en-US">
                <a:solidFill>
                  <a:schemeClr val="tx2"/>
                </a:solidFill>
                <a:latin typeface="宋体" panose="02010600030101010101" pitchFamily="2" charset="-122"/>
                <a:ea typeface="宋体" panose="02010600030101010101" pitchFamily="2" charset="-122"/>
              </a:rPr>
              <a:t>索引存储结构</a:t>
            </a:r>
            <a:endParaRPr lang="en-US" altLang="zh-CN">
              <a:latin typeface="宋体" panose="02010600030101010101" pitchFamily="2" charset="-122"/>
              <a:ea typeface="宋体" panose="02010600030101010101" pitchFamily="2" charset="-122"/>
            </a:endParaRPr>
          </a:p>
          <a:p>
            <a:pPr marL="1901825" lvl="3">
              <a:lnSpc>
                <a:spcPct val="90000"/>
              </a:lnSpc>
            </a:pPr>
            <a:r>
              <a:rPr lang="zh-CN" altLang="en-US">
                <a:solidFill>
                  <a:schemeClr val="tx2"/>
                </a:solidFill>
                <a:latin typeface="宋体" panose="02010600030101010101" pitchFamily="2" charset="-122"/>
                <a:ea typeface="宋体" panose="02010600030101010101" pitchFamily="2" charset="-122"/>
              </a:rPr>
              <a:t>散列存储结构</a:t>
            </a:r>
            <a:endParaRPr lang="en-US" altLang="zh-CN">
              <a:latin typeface="宋体" panose="02010600030101010101" pitchFamily="2" charset="-122"/>
              <a:ea typeface="宋体" panose="02010600030101010101" pitchFamily="2"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CC7238D1-31C3-417E-AA7C-F62815664E88}"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31747"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3.1 </a:t>
            </a:r>
            <a:r>
              <a:rPr lang="zh-CN" altLang="en-US" sz="2400">
                <a:latin typeface="宋体" panose="02010600030101010101" pitchFamily="2" charset="-122"/>
                <a:ea typeface="宋体" panose="02010600030101010101" pitchFamily="2" charset="-122"/>
              </a:rPr>
              <a:t>概述</a:t>
            </a:r>
            <a:endParaRPr lang="zh-CN" altLang="en-US" sz="2400">
              <a:latin typeface="宋体" panose="02010600030101010101" pitchFamily="2" charset="-122"/>
              <a:ea typeface="宋体" panose="02010600030101010101" pitchFamily="2" charset="-122"/>
            </a:endParaRPr>
          </a:p>
        </p:txBody>
      </p:sp>
      <p:sp>
        <p:nvSpPr>
          <p:cNvPr id="23556" name="Rectangle 3"/>
          <p:cNvSpPr>
            <a:spLocks noGrp="1" noChangeArrowheads="1"/>
          </p:cNvSpPr>
          <p:nvPr>
            <p:ph type="body" idx="1"/>
          </p:nvPr>
        </p:nvSpPr>
        <p:spPr>
          <a:xfrm>
            <a:off x="107950" y="952500"/>
            <a:ext cx="9036050" cy="5473700"/>
          </a:xfrm>
        </p:spPr>
        <p:txBody>
          <a:bodyPr/>
          <a:lstStyle/>
          <a:p>
            <a:pPr marL="285750" indent="-285750">
              <a:defRPr/>
            </a:pPr>
            <a:r>
              <a:rPr lang="zh-CN" altLang="en-US" dirty="0">
                <a:latin typeface="宋体" panose="02010600030101010101" pitchFamily="2" charset="-122"/>
                <a:ea typeface="宋体" panose="02010600030101010101" pitchFamily="2" charset="-122"/>
              </a:rPr>
              <a:t>物理结构（</a:t>
            </a:r>
            <a:r>
              <a:rPr lang="en-US" altLang="zh-CN" dirty="0">
                <a:latin typeface="宋体" panose="02010600030101010101" pitchFamily="2" charset="-122"/>
                <a:ea typeface="宋体" panose="02010600030101010101" pitchFamily="2" charset="-122"/>
              </a:rPr>
              <a:t>physical structure）</a:t>
            </a:r>
            <a:endParaRPr lang="en-US" altLang="zh-CN" dirty="0">
              <a:latin typeface="宋体" panose="02010600030101010101" pitchFamily="2" charset="-122"/>
              <a:ea typeface="宋体" panose="02010600030101010101" pitchFamily="2" charset="-122"/>
            </a:endParaRPr>
          </a:p>
          <a:p>
            <a:pPr marL="862330" lvl="1">
              <a:defRPr/>
            </a:pPr>
            <a:r>
              <a:rPr lang="zh-CN" altLang="en-US" dirty="0">
                <a:solidFill>
                  <a:schemeClr val="tx2"/>
                </a:solidFill>
                <a:latin typeface="宋体" panose="02010600030101010101" pitchFamily="2" charset="-122"/>
                <a:ea typeface="宋体" panose="02010600030101010101" pitchFamily="2" charset="-122"/>
              </a:rPr>
              <a:t>顺序存储结构</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sequenced）</a:t>
            </a:r>
            <a:endParaRPr lang="en-US" altLang="zh-CN" dirty="0">
              <a:latin typeface="宋体" panose="02010600030101010101" pitchFamily="2" charset="-122"/>
              <a:ea typeface="宋体" panose="02010600030101010101" pitchFamily="2" charset="-122"/>
            </a:endParaRPr>
          </a:p>
          <a:p>
            <a:pPr marL="1333500" lvl="2">
              <a:spcBef>
                <a:spcPct val="0"/>
              </a:spcBef>
              <a:defRPr/>
            </a:pPr>
            <a:r>
              <a:rPr lang="zh-CN" altLang="en-US" dirty="0">
                <a:latin typeface="宋体" panose="02010600030101010101" pitchFamily="2" charset="-122"/>
                <a:ea typeface="宋体" panose="02010600030101010101" pitchFamily="2" charset="-122"/>
              </a:rPr>
              <a:t>是将逻辑数据结构中的元素按顺序存放在计算机的</a:t>
            </a:r>
            <a:r>
              <a:rPr lang="zh-CN" altLang="en-US" dirty="0">
                <a:solidFill>
                  <a:schemeClr val="tx2"/>
                </a:solidFill>
                <a:latin typeface="宋体" panose="02010600030101010101" pitchFamily="2" charset="-122"/>
                <a:ea typeface="宋体" panose="02010600030101010101" pitchFamily="2" charset="-122"/>
              </a:rPr>
              <a:t>连续存储单元</a:t>
            </a:r>
            <a:r>
              <a:rPr lang="zh-CN" altLang="en-US" dirty="0">
                <a:latin typeface="宋体" panose="02010600030101010101" pitchFamily="2" charset="-122"/>
                <a:ea typeface="宋体" panose="02010600030101010101" pitchFamily="2" charset="-122"/>
              </a:rPr>
              <a:t>中（通常指计算机内存）</a:t>
            </a:r>
            <a:endParaRPr lang="zh-CN" altLang="en-US" dirty="0">
              <a:latin typeface="宋体" panose="02010600030101010101" pitchFamily="2" charset="-122"/>
              <a:ea typeface="宋体" panose="02010600030101010101" pitchFamily="2" charset="-122"/>
            </a:endParaRPr>
          </a:p>
          <a:p>
            <a:pPr marL="1333500" lvl="2">
              <a:spcBef>
                <a:spcPct val="0"/>
              </a:spcBef>
              <a:defRPr/>
            </a:pPr>
            <a:r>
              <a:rPr lang="zh-CN" altLang="en-US" dirty="0">
                <a:latin typeface="宋体" panose="02010600030101010101" pitchFamily="2" charset="-122"/>
                <a:ea typeface="宋体" panose="02010600030101010101" pitchFamily="2" charset="-122"/>
              </a:rPr>
              <a:t>第 </a:t>
            </a:r>
            <a:r>
              <a:rPr lang="en-US" altLang="zh-CN" i="1" dirty="0" err="1">
                <a:latin typeface="Times New Roman" panose="02020603050405020304" pitchFamily="18" charset="0"/>
                <a:ea typeface="宋体" panose="02010600030101010101" pitchFamily="2" charset="-122"/>
              </a:rPr>
              <a:t>i</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个数据元素的存储位置，</a:t>
            </a:r>
            <a:r>
              <a:rPr lang="en-US" altLang="zh-CN" sz="1600" dirty="0">
                <a:solidFill>
                  <a:schemeClr val="accent1">
                    <a:lumMod val="60000"/>
                    <a:lumOff val="40000"/>
                  </a:schemeClr>
                </a:solidFill>
                <a:latin typeface="宋体" panose="02010600030101010101" pitchFamily="2" charset="-122"/>
                <a:ea typeface="宋体" panose="02010600030101010101" pitchFamily="2" charset="-122"/>
              </a:rPr>
              <a:t>LOC( </a:t>
            </a:r>
            <a:r>
              <a:rPr lang="en-US" altLang="zh-CN" sz="1600" dirty="0" err="1">
                <a:solidFill>
                  <a:schemeClr val="accent1">
                    <a:lumMod val="60000"/>
                    <a:lumOff val="40000"/>
                  </a:schemeClr>
                </a:solidFill>
                <a:latin typeface="宋体" panose="02010600030101010101" pitchFamily="2" charset="-122"/>
                <a:ea typeface="宋体" panose="02010600030101010101" pitchFamily="2" charset="-122"/>
              </a:rPr>
              <a:t>a</a:t>
            </a:r>
            <a:r>
              <a:rPr lang="en-US" altLang="zh-CN" sz="1600" baseline="-25000" dirty="0" err="1">
                <a:solidFill>
                  <a:schemeClr val="accent1">
                    <a:lumMod val="60000"/>
                    <a:lumOff val="40000"/>
                  </a:schemeClr>
                </a:solidFill>
                <a:latin typeface="宋体" panose="02010600030101010101" pitchFamily="2" charset="-122"/>
                <a:ea typeface="宋体" panose="02010600030101010101" pitchFamily="2" charset="-122"/>
              </a:rPr>
              <a:t>i</a:t>
            </a:r>
            <a:r>
              <a:rPr lang="en-US" altLang="zh-CN" sz="1600" dirty="0">
                <a:solidFill>
                  <a:schemeClr val="accent1">
                    <a:lumMod val="60000"/>
                    <a:lumOff val="40000"/>
                  </a:schemeClr>
                </a:solidFill>
                <a:latin typeface="宋体" panose="02010600030101010101" pitchFamily="2" charset="-122"/>
                <a:ea typeface="宋体" panose="02010600030101010101" pitchFamily="2" charset="-122"/>
              </a:rPr>
              <a:t> ) = S + ( </a:t>
            </a:r>
            <a:r>
              <a:rPr lang="en-US" altLang="zh-CN" sz="1600" dirty="0" err="1">
                <a:solidFill>
                  <a:schemeClr val="accent1">
                    <a:lumMod val="60000"/>
                    <a:lumOff val="40000"/>
                  </a:schemeClr>
                </a:solidFill>
                <a:latin typeface="宋体" panose="02010600030101010101" pitchFamily="2" charset="-122"/>
                <a:ea typeface="宋体" panose="02010600030101010101" pitchFamily="2" charset="-122"/>
              </a:rPr>
              <a:t>i</a:t>
            </a:r>
            <a:r>
              <a:rPr lang="en-US" altLang="zh-CN" sz="1600" dirty="0">
                <a:solidFill>
                  <a:schemeClr val="accent1">
                    <a:lumMod val="60000"/>
                    <a:lumOff val="40000"/>
                  </a:schemeClr>
                </a:solidFill>
                <a:latin typeface="宋体" panose="02010600030101010101" pitchFamily="2" charset="-122"/>
                <a:ea typeface="宋体" panose="02010600030101010101" pitchFamily="2" charset="-122"/>
              </a:rPr>
              <a:t> </a:t>
            </a:r>
            <a:r>
              <a:rPr lang="en-US" altLang="zh-CN" sz="1600" dirty="0">
                <a:solidFill>
                  <a:schemeClr val="accent1">
                    <a:lumMod val="60000"/>
                    <a:lumOff val="40000"/>
                  </a:schemeClr>
                </a:solidFill>
                <a:latin typeface="Times New Roman" panose="02020603050405020304" pitchFamily="18" charset="0"/>
                <a:ea typeface="宋体" panose="02010600030101010101" pitchFamily="2" charset="-122"/>
              </a:rPr>
              <a:t>–</a:t>
            </a:r>
            <a:r>
              <a:rPr lang="en-US" altLang="zh-CN" sz="1600" dirty="0">
                <a:solidFill>
                  <a:schemeClr val="accent1">
                    <a:lumMod val="60000"/>
                    <a:lumOff val="40000"/>
                  </a:schemeClr>
                </a:solidFill>
                <a:latin typeface="宋体" panose="02010600030101010101" pitchFamily="2" charset="-122"/>
                <a:ea typeface="宋体" panose="02010600030101010101" pitchFamily="2" charset="-122"/>
              </a:rPr>
              <a:t> 1 ) * L</a:t>
            </a:r>
            <a:endParaRPr lang="en-US" altLang="zh-CN" sz="1600" dirty="0">
              <a:solidFill>
                <a:schemeClr val="accent1">
                  <a:lumMod val="60000"/>
                  <a:lumOff val="40000"/>
                </a:schemeClr>
              </a:solidFill>
              <a:latin typeface="宋体" panose="02010600030101010101" pitchFamily="2" charset="-122"/>
              <a:ea typeface="宋体" panose="02010600030101010101" pitchFamily="2" charset="-122"/>
            </a:endParaRPr>
          </a:p>
          <a:p>
            <a:pPr marL="1333500" lvl="2">
              <a:defRPr/>
            </a:pPr>
            <a:endParaRPr lang="en-US" altLang="zh-CN" sz="1600" dirty="0">
              <a:latin typeface="宋体" panose="02010600030101010101" pitchFamily="2" charset="-122"/>
              <a:ea typeface="宋体" panose="02010600030101010101" pitchFamily="2" charset="-122"/>
            </a:endParaRPr>
          </a:p>
          <a:p>
            <a:pPr marL="1333500" lvl="2">
              <a:defRPr/>
            </a:pPr>
            <a:endParaRPr lang="en-US" altLang="zh-CN" dirty="0">
              <a:latin typeface="宋体" panose="02010600030101010101" pitchFamily="2" charset="-122"/>
              <a:ea typeface="宋体" panose="02010600030101010101" pitchFamily="2" charset="-122"/>
            </a:endParaRPr>
          </a:p>
          <a:p>
            <a:pPr marL="1333500" lvl="2">
              <a:defRPr/>
            </a:pPr>
            <a:endParaRPr lang="en-US" altLang="zh-CN" dirty="0">
              <a:latin typeface="宋体" panose="02010600030101010101" pitchFamily="2" charset="-122"/>
              <a:ea typeface="宋体" panose="02010600030101010101" pitchFamily="2" charset="-122"/>
            </a:endParaRPr>
          </a:p>
          <a:p>
            <a:pPr marL="1333500" lvl="2">
              <a:defRPr/>
            </a:pPr>
            <a:endParaRPr lang="en-US" altLang="zh-CN" dirty="0">
              <a:latin typeface="宋体" panose="02010600030101010101" pitchFamily="2" charset="-122"/>
              <a:ea typeface="宋体" panose="02010600030101010101" pitchFamily="2" charset="-122"/>
            </a:endParaRPr>
          </a:p>
          <a:p>
            <a:pPr marL="862330" lvl="1">
              <a:defRPr/>
            </a:pPr>
            <a:r>
              <a:rPr lang="zh-CN" altLang="en-US" dirty="0">
                <a:solidFill>
                  <a:schemeClr val="tx2"/>
                </a:solidFill>
                <a:latin typeface="宋体" panose="02010600030101010101" pitchFamily="2" charset="-122"/>
                <a:ea typeface="宋体" panose="02010600030101010101" pitchFamily="2" charset="-122"/>
              </a:rPr>
              <a:t>链式存储结构</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linked list）</a:t>
            </a:r>
            <a:endParaRPr lang="en-US" altLang="zh-CN" dirty="0">
              <a:latin typeface="宋体" panose="02010600030101010101" pitchFamily="2" charset="-122"/>
              <a:ea typeface="宋体" panose="02010600030101010101" pitchFamily="2" charset="-122"/>
            </a:endParaRPr>
          </a:p>
          <a:p>
            <a:pPr marL="1333500" lvl="2">
              <a:defRPr/>
            </a:pPr>
            <a:r>
              <a:rPr lang="zh-CN" altLang="en-US" dirty="0">
                <a:latin typeface="宋体" panose="02010600030101010101" pitchFamily="2" charset="-122"/>
                <a:ea typeface="宋体" panose="02010600030101010101" pitchFamily="2" charset="-122"/>
              </a:rPr>
              <a:t>每个数据元素，除包含自身的数据项外，还包含一个指针域，用于指向其它相关的元素</a:t>
            </a:r>
            <a:endParaRPr lang="zh-CN" altLang="en-US" dirty="0">
              <a:latin typeface="宋体" panose="02010600030101010101" pitchFamily="2" charset="-122"/>
              <a:ea typeface="宋体" panose="02010600030101010101" pitchFamily="2" charset="-122"/>
            </a:endParaRPr>
          </a:p>
          <a:p>
            <a:pPr marL="1333500" lvl="2">
              <a:defRPr/>
            </a:pPr>
            <a:endParaRPr lang="en-US" altLang="zh-CN" dirty="0">
              <a:latin typeface="宋体" panose="02010600030101010101" pitchFamily="2" charset="-122"/>
              <a:ea typeface="宋体" panose="02010600030101010101" pitchFamily="2" charset="-122"/>
            </a:endParaRPr>
          </a:p>
        </p:txBody>
      </p:sp>
      <p:grpSp>
        <p:nvGrpSpPr>
          <p:cNvPr id="31749" name="Group 30"/>
          <p:cNvGrpSpPr/>
          <p:nvPr/>
        </p:nvGrpSpPr>
        <p:grpSpPr bwMode="auto">
          <a:xfrm>
            <a:off x="1714500" y="3262313"/>
            <a:ext cx="6889750" cy="1166812"/>
            <a:chOff x="1202" y="2105"/>
            <a:chExt cx="4340" cy="735"/>
          </a:xfrm>
        </p:grpSpPr>
        <p:sp>
          <p:nvSpPr>
            <p:cNvPr id="31761" name="Text Box 31"/>
            <p:cNvSpPr txBox="1">
              <a:spLocks noChangeArrowheads="1"/>
            </p:cNvSpPr>
            <p:nvPr/>
          </p:nvSpPr>
          <p:spPr bwMode="auto">
            <a:xfrm>
              <a:off x="1931" y="2220"/>
              <a:ext cx="702" cy="198"/>
            </a:xfrm>
            <a:prstGeom prst="rect">
              <a:avLst/>
            </a:prstGeom>
            <a:noFill/>
            <a:ln w="25400">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b="0">
                  <a:solidFill>
                    <a:schemeClr val="tx1"/>
                  </a:solidFill>
                  <a:latin typeface="Times New Roman" panose="02020603050405020304" pitchFamily="18" charset="0"/>
                </a:rPr>
                <a:t>元素 1</a:t>
              </a:r>
              <a:endParaRPr lang="en-US" altLang="zh-CN" sz="1600" b="0">
                <a:solidFill>
                  <a:schemeClr val="tx1"/>
                </a:solidFill>
                <a:latin typeface="Times New Roman" panose="02020603050405020304" pitchFamily="18" charset="0"/>
              </a:endParaRPr>
            </a:p>
          </p:txBody>
        </p:sp>
        <p:sp>
          <p:nvSpPr>
            <p:cNvPr id="31762" name="Text Box 32"/>
            <p:cNvSpPr txBox="1">
              <a:spLocks noChangeArrowheads="1"/>
            </p:cNvSpPr>
            <p:nvPr/>
          </p:nvSpPr>
          <p:spPr bwMode="auto">
            <a:xfrm>
              <a:off x="1931" y="2416"/>
              <a:ext cx="702" cy="224"/>
            </a:xfrm>
            <a:prstGeom prst="rect">
              <a:avLst/>
            </a:prstGeom>
            <a:noFill/>
            <a:ln w="25400">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b="0">
                  <a:solidFill>
                    <a:schemeClr val="tx1"/>
                  </a:solidFill>
                  <a:latin typeface="Times New Roman" panose="02020603050405020304" pitchFamily="18" charset="0"/>
                </a:rPr>
                <a:t>元素 2</a:t>
              </a:r>
              <a:endParaRPr lang="zh-CN" altLang="en-US" sz="1600" b="0">
                <a:solidFill>
                  <a:schemeClr val="tx1"/>
                </a:solidFill>
                <a:latin typeface="Times New Roman" panose="02020603050405020304" pitchFamily="18" charset="0"/>
              </a:endParaRPr>
            </a:p>
          </p:txBody>
        </p:sp>
        <p:sp>
          <p:nvSpPr>
            <p:cNvPr id="31763" name="Text Box 33"/>
            <p:cNvSpPr txBox="1">
              <a:spLocks noChangeArrowheads="1"/>
            </p:cNvSpPr>
            <p:nvPr/>
          </p:nvSpPr>
          <p:spPr bwMode="auto">
            <a:xfrm>
              <a:off x="1936" y="2642"/>
              <a:ext cx="703" cy="198"/>
            </a:xfrm>
            <a:prstGeom prst="rect">
              <a:avLst/>
            </a:prstGeom>
            <a:noFill/>
            <a:ln w="25400">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200" b="0">
                  <a:solidFill>
                    <a:schemeClr val="tx1"/>
                  </a:solidFill>
                  <a:latin typeface="Times New Roman" panose="02020603050405020304" pitchFamily="18" charset="0"/>
                </a:rPr>
                <a:t>… …</a:t>
              </a:r>
              <a:endParaRPr lang="zh-CN" altLang="en-US" sz="1200" b="0">
                <a:solidFill>
                  <a:schemeClr val="tx1"/>
                </a:solidFill>
                <a:latin typeface="Times New Roman" panose="02020603050405020304" pitchFamily="18" charset="0"/>
              </a:endParaRPr>
            </a:p>
          </p:txBody>
        </p:sp>
        <p:sp>
          <p:nvSpPr>
            <p:cNvPr id="31764" name="Text Box 34"/>
            <p:cNvSpPr txBox="1">
              <a:spLocks noChangeArrowheads="1"/>
            </p:cNvSpPr>
            <p:nvPr/>
          </p:nvSpPr>
          <p:spPr bwMode="auto">
            <a:xfrm>
              <a:off x="1202" y="2105"/>
              <a:ext cx="437" cy="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b="0">
                  <a:solidFill>
                    <a:schemeClr val="tx1"/>
                  </a:solidFill>
                  <a:latin typeface="Times New Roman" panose="02020603050405020304" pitchFamily="18" charset="0"/>
                </a:rPr>
                <a:t>地址</a:t>
              </a:r>
              <a:endParaRPr lang="zh-CN" altLang="en-US" sz="1600" b="0">
                <a:solidFill>
                  <a:schemeClr val="tx1"/>
                </a:solidFill>
                <a:latin typeface="Times New Roman" panose="02020603050405020304" pitchFamily="18" charset="0"/>
              </a:endParaRPr>
            </a:p>
            <a:p>
              <a:pPr algn="ctr">
                <a:spcBef>
                  <a:spcPct val="50000"/>
                </a:spcBef>
                <a:buFontTx/>
                <a:buNone/>
              </a:pPr>
              <a:r>
                <a:rPr lang="en-US" altLang="zh-CN" sz="1600" b="0">
                  <a:solidFill>
                    <a:schemeClr val="tx1"/>
                  </a:solidFill>
                  <a:latin typeface="Times New Roman" panose="02020603050405020304" pitchFamily="18" charset="0"/>
                </a:rPr>
                <a:t>S</a:t>
              </a:r>
              <a:endParaRPr lang="en-US" altLang="zh-CN" sz="1600" b="0">
                <a:solidFill>
                  <a:schemeClr val="tx1"/>
                </a:solidFill>
                <a:latin typeface="Times New Roman" panose="02020603050405020304" pitchFamily="18" charset="0"/>
              </a:endParaRPr>
            </a:p>
            <a:p>
              <a:pPr algn="ctr">
                <a:spcBef>
                  <a:spcPct val="50000"/>
                </a:spcBef>
                <a:buFontTx/>
                <a:buNone/>
              </a:pPr>
              <a:r>
                <a:rPr lang="en-US" altLang="zh-CN" sz="1600" b="0">
                  <a:solidFill>
                    <a:schemeClr val="tx1"/>
                  </a:solidFill>
                  <a:latin typeface="Times New Roman" panose="02020603050405020304" pitchFamily="18" charset="0"/>
                </a:rPr>
                <a:t>S + L</a:t>
              </a:r>
              <a:endParaRPr lang="en-US" altLang="zh-CN" sz="1600" b="0">
                <a:solidFill>
                  <a:schemeClr val="tx1"/>
                </a:solidFill>
                <a:latin typeface="Times New Roman" panose="02020603050405020304" pitchFamily="18" charset="0"/>
              </a:endParaRPr>
            </a:p>
          </p:txBody>
        </p:sp>
        <p:sp>
          <p:nvSpPr>
            <p:cNvPr id="31765" name="Line 35"/>
            <p:cNvSpPr>
              <a:spLocks noChangeShapeType="1"/>
            </p:cNvSpPr>
            <p:nvPr/>
          </p:nvSpPr>
          <p:spPr bwMode="auto">
            <a:xfrm flipV="1">
              <a:off x="1516" y="2223"/>
              <a:ext cx="400" cy="244"/>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6" name="Line 36"/>
            <p:cNvSpPr>
              <a:spLocks noChangeShapeType="1"/>
            </p:cNvSpPr>
            <p:nvPr/>
          </p:nvSpPr>
          <p:spPr bwMode="auto">
            <a:xfrm flipV="1">
              <a:off x="1584" y="2401"/>
              <a:ext cx="340" cy="217"/>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7" name="Text Box 37"/>
            <p:cNvSpPr txBox="1">
              <a:spLocks noChangeArrowheads="1"/>
            </p:cNvSpPr>
            <p:nvPr/>
          </p:nvSpPr>
          <p:spPr bwMode="auto">
            <a:xfrm>
              <a:off x="2792" y="2205"/>
              <a:ext cx="2750"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50000"/>
                </a:spcBef>
                <a:buFontTx/>
                <a:buNone/>
              </a:pPr>
              <a:r>
                <a:rPr lang="en-US" altLang="zh-CN" sz="1600" b="0">
                  <a:solidFill>
                    <a:schemeClr val="tx1"/>
                  </a:solidFill>
                  <a:latin typeface="Times New Roman" panose="02020603050405020304" pitchFamily="18" charset="0"/>
                </a:rPr>
                <a:t>L， </a:t>
              </a:r>
              <a:r>
                <a:rPr lang="zh-CN" altLang="en-US" sz="1600" b="0">
                  <a:solidFill>
                    <a:schemeClr val="tx1"/>
                  </a:solidFill>
                  <a:latin typeface="Times New Roman" panose="02020603050405020304" pitchFamily="18" charset="0"/>
                </a:rPr>
                <a:t>是每个元素占用存储单元（字节）的个数</a:t>
              </a:r>
              <a:endParaRPr lang="zh-CN" altLang="en-US" sz="1600" b="0">
                <a:solidFill>
                  <a:schemeClr val="tx1"/>
                </a:solidFill>
                <a:latin typeface="Times New Roman" panose="02020603050405020304" pitchFamily="18" charset="0"/>
              </a:endParaRPr>
            </a:p>
            <a:p>
              <a:pPr>
                <a:spcBef>
                  <a:spcPct val="50000"/>
                </a:spcBef>
                <a:buFontTx/>
                <a:buNone/>
              </a:pPr>
              <a:r>
                <a:rPr lang="en-US" altLang="zh-CN" sz="1600" b="0">
                  <a:solidFill>
                    <a:schemeClr val="tx1"/>
                  </a:solidFill>
                  <a:latin typeface="Times New Roman" panose="02020603050405020304" pitchFamily="18" charset="0"/>
                </a:rPr>
                <a:t>S，</a:t>
              </a:r>
              <a:r>
                <a:rPr lang="zh-CN" altLang="en-US" sz="1600" b="0">
                  <a:solidFill>
                    <a:schemeClr val="tx1"/>
                  </a:solidFill>
                  <a:latin typeface="Times New Roman" panose="02020603050405020304" pitchFamily="18" charset="0"/>
                </a:rPr>
                <a:t>是首地址</a:t>
              </a:r>
              <a:endParaRPr lang="en-US" altLang="zh-CN" sz="1600" b="0">
                <a:solidFill>
                  <a:schemeClr val="tx1"/>
                </a:solidFill>
                <a:latin typeface="Times New Roman" panose="02020603050405020304" pitchFamily="18" charset="0"/>
              </a:endParaRPr>
            </a:p>
          </p:txBody>
        </p:sp>
      </p:grpSp>
      <p:grpSp>
        <p:nvGrpSpPr>
          <p:cNvPr id="31750" name="Group 38"/>
          <p:cNvGrpSpPr/>
          <p:nvPr/>
        </p:nvGrpSpPr>
        <p:grpSpPr bwMode="auto">
          <a:xfrm>
            <a:off x="665163" y="6064250"/>
            <a:ext cx="6192837" cy="793750"/>
            <a:chOff x="1536" y="2832"/>
            <a:chExt cx="3216" cy="500"/>
          </a:xfrm>
        </p:grpSpPr>
        <p:sp>
          <p:nvSpPr>
            <p:cNvPr id="31752" name="Text Box 39"/>
            <p:cNvSpPr txBox="1">
              <a:spLocks noChangeArrowheads="1"/>
            </p:cNvSpPr>
            <p:nvPr/>
          </p:nvSpPr>
          <p:spPr bwMode="auto">
            <a:xfrm>
              <a:off x="2384" y="2892"/>
              <a:ext cx="540" cy="179"/>
            </a:xfrm>
            <a:prstGeom prst="rect">
              <a:avLst/>
            </a:prstGeom>
            <a:noFill/>
            <a:ln w="25400">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b="0">
                  <a:solidFill>
                    <a:schemeClr val="tx1"/>
                  </a:solidFill>
                  <a:latin typeface="Times New Roman" panose="02020603050405020304" pitchFamily="18" charset="0"/>
                </a:rPr>
                <a:t>元素 (16)</a:t>
              </a:r>
              <a:endParaRPr lang="en-US" altLang="zh-CN" sz="1600" b="0">
                <a:solidFill>
                  <a:schemeClr val="tx1"/>
                </a:solidFill>
                <a:latin typeface="Times New Roman" panose="02020603050405020304" pitchFamily="18" charset="0"/>
              </a:endParaRPr>
            </a:p>
          </p:txBody>
        </p:sp>
        <p:sp>
          <p:nvSpPr>
            <p:cNvPr id="31753" name="Text Box 40"/>
            <p:cNvSpPr txBox="1">
              <a:spLocks noChangeArrowheads="1"/>
            </p:cNvSpPr>
            <p:nvPr/>
          </p:nvSpPr>
          <p:spPr bwMode="auto">
            <a:xfrm>
              <a:off x="2928" y="2892"/>
              <a:ext cx="540" cy="179"/>
            </a:xfrm>
            <a:prstGeom prst="rect">
              <a:avLst/>
            </a:prstGeom>
            <a:noFill/>
            <a:ln w="25400">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2"/>
                  </a:solidFill>
                  <a:latin typeface="Times New Roman" panose="02020603050405020304" pitchFamily="18" charset="0"/>
                </a:rPr>
                <a:t>FFAB01</a:t>
              </a:r>
              <a:endParaRPr lang="zh-CN" altLang="en-US" sz="1600" b="0">
                <a:solidFill>
                  <a:schemeClr val="tx2"/>
                </a:solidFill>
                <a:latin typeface="Times New Roman" panose="02020603050405020304" pitchFamily="18" charset="0"/>
              </a:endParaRPr>
            </a:p>
          </p:txBody>
        </p:sp>
        <p:sp>
          <p:nvSpPr>
            <p:cNvPr id="31754" name="Text Box 41"/>
            <p:cNvSpPr txBox="1">
              <a:spLocks noChangeArrowheads="1"/>
            </p:cNvSpPr>
            <p:nvPr/>
          </p:nvSpPr>
          <p:spPr bwMode="auto">
            <a:xfrm>
              <a:off x="4212" y="3076"/>
              <a:ext cx="540" cy="194"/>
            </a:xfrm>
            <a:prstGeom prst="rect">
              <a:avLst/>
            </a:prstGeom>
            <a:noFill/>
            <a:ln w="25400">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200" b="0">
                  <a:solidFill>
                    <a:schemeClr val="tx1"/>
                  </a:solidFill>
                  <a:latin typeface="Times New Roman" panose="02020603050405020304" pitchFamily="18" charset="0"/>
                </a:rPr>
                <a:t>… …</a:t>
              </a:r>
              <a:endParaRPr lang="zh-CN" altLang="en-US" sz="1200" b="0">
                <a:solidFill>
                  <a:schemeClr val="tx1"/>
                </a:solidFill>
                <a:latin typeface="Times New Roman" panose="02020603050405020304" pitchFamily="18" charset="0"/>
              </a:endParaRPr>
            </a:p>
          </p:txBody>
        </p:sp>
        <p:sp>
          <p:nvSpPr>
            <p:cNvPr id="31755" name="Text Box 42"/>
            <p:cNvSpPr txBox="1">
              <a:spLocks noChangeArrowheads="1"/>
            </p:cNvSpPr>
            <p:nvPr/>
          </p:nvSpPr>
          <p:spPr bwMode="auto">
            <a:xfrm>
              <a:off x="1536" y="2832"/>
              <a:ext cx="624" cy="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b="0">
                  <a:solidFill>
                    <a:schemeClr val="tx1"/>
                  </a:solidFill>
                  <a:latin typeface="Times New Roman" panose="02020603050405020304" pitchFamily="18" charset="0"/>
                </a:rPr>
                <a:t>地址</a:t>
              </a:r>
              <a:endParaRPr lang="zh-CN" altLang="en-US" sz="1600" b="0">
                <a:solidFill>
                  <a:schemeClr val="tx1"/>
                </a:solidFill>
                <a:latin typeface="Times New Roman" panose="02020603050405020304" pitchFamily="18" charset="0"/>
              </a:endParaRPr>
            </a:p>
            <a:p>
              <a:pPr algn="ctr">
                <a:spcBef>
                  <a:spcPct val="50000"/>
                </a:spcBef>
                <a:buFontTx/>
                <a:buNone/>
              </a:pPr>
              <a:r>
                <a:rPr lang="en-US" altLang="zh-CN" sz="1600" b="0">
                  <a:solidFill>
                    <a:schemeClr val="tx1"/>
                  </a:solidFill>
                  <a:latin typeface="Times New Roman" panose="02020603050405020304" pitchFamily="18" charset="0"/>
                </a:rPr>
                <a:t>AFB03D</a:t>
              </a:r>
              <a:endParaRPr lang="en-US" altLang="zh-CN" sz="1600" b="0">
                <a:solidFill>
                  <a:schemeClr val="tx1"/>
                </a:solidFill>
                <a:latin typeface="Times New Roman" panose="02020603050405020304" pitchFamily="18" charset="0"/>
              </a:endParaRPr>
            </a:p>
          </p:txBody>
        </p:sp>
        <p:sp>
          <p:nvSpPr>
            <p:cNvPr id="31756" name="Line 43"/>
            <p:cNvSpPr>
              <a:spLocks noChangeShapeType="1"/>
            </p:cNvSpPr>
            <p:nvPr/>
          </p:nvSpPr>
          <p:spPr bwMode="auto">
            <a:xfrm flipV="1">
              <a:off x="2065" y="2893"/>
              <a:ext cx="308" cy="181"/>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57" name="Text Box 44"/>
            <p:cNvSpPr txBox="1">
              <a:spLocks noChangeArrowheads="1"/>
            </p:cNvSpPr>
            <p:nvPr/>
          </p:nvSpPr>
          <p:spPr bwMode="auto">
            <a:xfrm>
              <a:off x="2442" y="3120"/>
              <a:ext cx="43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b="0">
                  <a:solidFill>
                    <a:schemeClr val="tx1"/>
                  </a:solidFill>
                  <a:latin typeface="Times New Roman" panose="02020603050405020304" pitchFamily="18" charset="0"/>
                </a:rPr>
                <a:t>数据域</a:t>
              </a:r>
              <a:endParaRPr lang="zh-CN" altLang="en-US" sz="1600" b="0">
                <a:solidFill>
                  <a:schemeClr val="tx1"/>
                </a:solidFill>
                <a:latin typeface="Times New Roman" panose="02020603050405020304" pitchFamily="18" charset="0"/>
              </a:endParaRPr>
            </a:p>
          </p:txBody>
        </p:sp>
        <p:sp>
          <p:nvSpPr>
            <p:cNvPr id="31758" name="Line 45"/>
            <p:cNvSpPr>
              <a:spLocks noChangeShapeType="1"/>
            </p:cNvSpPr>
            <p:nvPr/>
          </p:nvSpPr>
          <p:spPr bwMode="auto">
            <a:xfrm>
              <a:off x="3408" y="2976"/>
              <a:ext cx="793" cy="96"/>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59" name="Text Box 46"/>
            <p:cNvSpPr txBox="1">
              <a:spLocks noChangeArrowheads="1"/>
            </p:cNvSpPr>
            <p:nvPr/>
          </p:nvSpPr>
          <p:spPr bwMode="auto">
            <a:xfrm>
              <a:off x="2990" y="3120"/>
              <a:ext cx="43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b="0">
                  <a:solidFill>
                    <a:schemeClr val="tx1"/>
                  </a:solidFill>
                  <a:latin typeface="Times New Roman" panose="02020603050405020304" pitchFamily="18" charset="0"/>
                </a:rPr>
                <a:t>指针域</a:t>
              </a:r>
              <a:endParaRPr lang="zh-CN" altLang="en-US" sz="1600" b="0">
                <a:solidFill>
                  <a:schemeClr val="tx1"/>
                </a:solidFill>
                <a:latin typeface="Times New Roman" panose="02020603050405020304" pitchFamily="18" charset="0"/>
              </a:endParaRPr>
            </a:p>
          </p:txBody>
        </p:sp>
        <p:sp>
          <p:nvSpPr>
            <p:cNvPr id="31760" name="Text Box 47"/>
            <p:cNvSpPr txBox="1">
              <a:spLocks noChangeArrowheads="1"/>
            </p:cNvSpPr>
            <p:nvPr/>
          </p:nvSpPr>
          <p:spPr bwMode="auto">
            <a:xfrm>
              <a:off x="3765" y="3029"/>
              <a:ext cx="3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en-US" altLang="zh-CN" sz="1600" b="0">
                  <a:solidFill>
                    <a:schemeClr val="tx1"/>
                  </a:solidFill>
                  <a:latin typeface="Times New Roman" panose="02020603050405020304" pitchFamily="18" charset="0"/>
                </a:rPr>
                <a:t>FFAB01</a:t>
              </a:r>
              <a:endParaRPr lang="en-US" altLang="zh-CN" sz="1600" b="0">
                <a:solidFill>
                  <a:schemeClr val="tx1"/>
                </a:solidFill>
                <a:latin typeface="Times New Roman" panose="02020603050405020304" pitchFamily="18" charset="0"/>
              </a:endParaRPr>
            </a:p>
          </p:txBody>
        </p:sp>
      </p:grpSp>
      <p:sp>
        <p:nvSpPr>
          <p:cNvPr id="31751" name="圆角矩形标注 1"/>
          <p:cNvSpPr>
            <a:spLocks noChangeArrowheads="1"/>
          </p:cNvSpPr>
          <p:nvPr/>
        </p:nvSpPr>
        <p:spPr bwMode="auto">
          <a:xfrm>
            <a:off x="6011863" y="4076700"/>
            <a:ext cx="3024187" cy="739775"/>
          </a:xfrm>
          <a:prstGeom prst="wedgeRoundRectCallout">
            <a:avLst>
              <a:gd name="adj1" fmla="val -10764"/>
              <a:gd name="adj2" fmla="val -91708"/>
              <a:gd name="adj3" fmla="val 16667"/>
            </a:avLst>
          </a:prstGeom>
          <a:noFill/>
          <a:ln w="952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1400">
                <a:solidFill>
                  <a:schemeClr val="tx1"/>
                </a:solidFill>
                <a:latin typeface="Times New Roman" panose="02020603050405020304" pitchFamily="18" charset="0"/>
              </a:rPr>
              <a:t>计算机最基本的存储单元；一个字节通常可以存储一个字符（如字母、数字等）。只有字节才有地址的概念</a:t>
            </a:r>
            <a:r>
              <a:rPr lang="zh-CN" altLang="en-US" sz="1400" b="0">
                <a:solidFill>
                  <a:schemeClr val="tx1"/>
                </a:solidFill>
                <a:latin typeface="Times New Roman" panose="02020603050405020304" pitchFamily="18" charset="0"/>
              </a:rPr>
              <a:t>。</a:t>
            </a:r>
            <a:endParaRPr lang="zh-CN" altLang="en-US" sz="1400" b="0">
              <a:solidFill>
                <a:schemeClr val="tx1"/>
              </a:solidFill>
              <a:latin typeface="Times New Roman" panose="02020603050405020304" pitchFamily="18"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A5DA02FA-D9AF-4B2A-8D80-927AD25DC690}"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33795"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3.1 </a:t>
            </a:r>
            <a:r>
              <a:rPr lang="zh-CN" altLang="en-US" sz="2400">
                <a:latin typeface="宋体" panose="02010600030101010101" pitchFamily="2" charset="-122"/>
                <a:ea typeface="宋体" panose="02010600030101010101" pitchFamily="2" charset="-122"/>
              </a:rPr>
              <a:t>概述</a:t>
            </a:r>
            <a:endParaRPr lang="zh-CN" altLang="en-US" sz="2400">
              <a:latin typeface="宋体" panose="02010600030101010101" pitchFamily="2" charset="-122"/>
              <a:ea typeface="宋体" panose="02010600030101010101" pitchFamily="2" charset="-122"/>
            </a:endParaRPr>
          </a:p>
        </p:txBody>
      </p:sp>
      <p:sp>
        <p:nvSpPr>
          <p:cNvPr id="24580" name="Rectangle 3"/>
          <p:cNvSpPr>
            <a:spLocks noGrp="1" noChangeArrowheads="1"/>
          </p:cNvSpPr>
          <p:nvPr>
            <p:ph type="body" idx="1"/>
          </p:nvPr>
        </p:nvSpPr>
        <p:spPr>
          <a:xfrm>
            <a:off x="107950" y="981075"/>
            <a:ext cx="9036050" cy="5688013"/>
          </a:xfrm>
        </p:spPr>
        <p:txBody>
          <a:bodyPr/>
          <a:lstStyle/>
          <a:p>
            <a:pPr marL="285750" indent="-285750">
              <a:lnSpc>
                <a:spcPct val="90000"/>
              </a:lnSpc>
              <a:defRPr/>
            </a:pPr>
            <a:r>
              <a:rPr lang="zh-CN" altLang="en-US" sz="2400" dirty="0">
                <a:latin typeface="宋体" panose="02010600030101010101" pitchFamily="2" charset="-122"/>
                <a:ea typeface="宋体" panose="02010600030101010101" pitchFamily="2" charset="-122"/>
              </a:rPr>
              <a:t>物理结构（</a:t>
            </a:r>
            <a:r>
              <a:rPr lang="en-US" altLang="zh-CN" sz="2400" dirty="0">
                <a:latin typeface="宋体" panose="02010600030101010101" pitchFamily="2" charset="-122"/>
                <a:ea typeface="宋体" panose="02010600030101010101" pitchFamily="2" charset="-122"/>
              </a:rPr>
              <a:t>physical structure）</a:t>
            </a:r>
            <a:endParaRPr lang="en-US" altLang="zh-CN" sz="2400" dirty="0">
              <a:latin typeface="宋体" panose="02010600030101010101" pitchFamily="2" charset="-122"/>
              <a:ea typeface="宋体" panose="02010600030101010101" pitchFamily="2" charset="-122"/>
            </a:endParaRPr>
          </a:p>
          <a:p>
            <a:pPr marL="862330" lvl="1">
              <a:lnSpc>
                <a:spcPct val="90000"/>
              </a:lnSpc>
              <a:defRPr/>
            </a:pPr>
            <a:r>
              <a:rPr lang="zh-CN" altLang="en-US" sz="2000" dirty="0">
                <a:solidFill>
                  <a:schemeClr val="tx2"/>
                </a:solidFill>
                <a:latin typeface="宋体" panose="02010600030101010101" pitchFamily="2" charset="-122"/>
                <a:ea typeface="宋体" panose="02010600030101010101" pitchFamily="2" charset="-122"/>
              </a:rPr>
              <a:t>索引存储结构</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indexed）</a:t>
            </a:r>
            <a:endParaRPr lang="en-US" altLang="zh-CN" sz="2000" dirty="0">
              <a:latin typeface="宋体" panose="02010600030101010101" pitchFamily="2" charset="-122"/>
              <a:ea typeface="宋体" panose="02010600030101010101" pitchFamily="2" charset="-122"/>
            </a:endParaRPr>
          </a:p>
          <a:p>
            <a:pPr marL="862330" lvl="1">
              <a:lnSpc>
                <a:spcPct val="90000"/>
              </a:lnSpc>
              <a:defRPr/>
            </a:pPr>
            <a:r>
              <a:rPr lang="zh-CN" altLang="en-US" sz="2000" dirty="0">
                <a:solidFill>
                  <a:schemeClr val="tx2"/>
                </a:solidFill>
                <a:latin typeface="宋体" panose="02010600030101010101" pitchFamily="2" charset="-122"/>
                <a:ea typeface="宋体" panose="02010600030101010101" pitchFamily="2" charset="-122"/>
              </a:rPr>
              <a:t>散列存储结构</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hash）</a:t>
            </a:r>
            <a:endParaRPr lang="en-US" altLang="zh-CN" sz="2000" dirty="0">
              <a:latin typeface="宋体" panose="02010600030101010101" pitchFamily="2" charset="-122"/>
              <a:ea typeface="宋体" panose="02010600030101010101" pitchFamily="2" charset="-122"/>
            </a:endParaRPr>
          </a:p>
          <a:p>
            <a:pPr marL="1333500" lvl="2">
              <a:lnSpc>
                <a:spcPct val="90000"/>
              </a:lnSpc>
              <a:defRPr/>
            </a:pPr>
            <a:endParaRPr lang="zh-CN" altLang="en-US" sz="1800" dirty="0">
              <a:latin typeface="宋体" panose="02010600030101010101" pitchFamily="2" charset="-122"/>
              <a:ea typeface="宋体" panose="02010600030101010101" pitchFamily="2" charset="-122"/>
            </a:endParaRPr>
          </a:p>
          <a:p>
            <a:pPr marL="862330" lvl="1">
              <a:lnSpc>
                <a:spcPct val="90000"/>
              </a:lnSpc>
              <a:defRPr/>
            </a:pPr>
            <a:r>
              <a:rPr lang="zh-CN" altLang="en-US" sz="2000" dirty="0">
                <a:solidFill>
                  <a:schemeClr val="accent1">
                    <a:lumMod val="60000"/>
                    <a:lumOff val="40000"/>
                  </a:schemeClr>
                </a:solidFill>
                <a:latin typeface="宋体" panose="02010600030101010101" pitchFamily="2" charset="-122"/>
                <a:ea typeface="宋体" panose="02010600030101010101" pitchFamily="2" charset="-122"/>
              </a:rPr>
              <a:t>顺序存储</a:t>
            </a:r>
            <a:r>
              <a:rPr lang="zh-CN" altLang="en-US" sz="2000" dirty="0">
                <a:latin typeface="宋体" panose="02010600030101010101" pitchFamily="2" charset="-122"/>
                <a:ea typeface="宋体" panose="02010600030101010101" pitchFamily="2" charset="-122"/>
              </a:rPr>
              <a:t>，需要空间是连续的，当不知道数据元素的确切数目时，必须按最大要求分配空间，造成空间浪费较大</a:t>
            </a:r>
            <a:endParaRPr lang="zh-CN" altLang="en-US" sz="2000" dirty="0">
              <a:latin typeface="宋体" panose="02010600030101010101" pitchFamily="2" charset="-122"/>
              <a:ea typeface="宋体" panose="02010600030101010101" pitchFamily="2" charset="-122"/>
            </a:endParaRPr>
          </a:p>
          <a:p>
            <a:pPr marL="862330" lvl="1">
              <a:lnSpc>
                <a:spcPct val="90000"/>
              </a:lnSpc>
              <a:defRPr/>
            </a:pPr>
            <a:r>
              <a:rPr lang="zh-CN" altLang="en-US" sz="2000" dirty="0">
                <a:solidFill>
                  <a:schemeClr val="accent1">
                    <a:lumMod val="60000"/>
                    <a:lumOff val="40000"/>
                  </a:schemeClr>
                </a:solidFill>
                <a:latin typeface="宋体" panose="02010600030101010101" pitchFamily="2" charset="-122"/>
                <a:ea typeface="宋体" panose="02010600030101010101" pitchFamily="2" charset="-122"/>
              </a:rPr>
              <a:t>链式存储</a:t>
            </a:r>
            <a:r>
              <a:rPr lang="zh-CN" altLang="en-US" sz="2000" dirty="0">
                <a:latin typeface="宋体" panose="02010600030101010101" pitchFamily="2" charset="-122"/>
                <a:ea typeface="宋体" panose="02010600030101010101" pitchFamily="2" charset="-122"/>
              </a:rPr>
              <a:t>，不要求连续的存储空间，使用灵活，可随时分配与回收，应用比较广泛；虽然指针域占用了一些空间，但当不知道数据元素的确切数目时，效率还是很高</a:t>
            </a:r>
            <a:endParaRPr lang="zh-CN" altLang="en-US" sz="2000" dirty="0">
              <a:latin typeface="宋体" panose="02010600030101010101" pitchFamily="2" charset="-122"/>
              <a:ea typeface="宋体" panose="02010600030101010101" pitchFamily="2" charset="-122"/>
            </a:endParaRPr>
          </a:p>
          <a:p>
            <a:pPr marL="862330" lvl="1">
              <a:lnSpc>
                <a:spcPct val="90000"/>
              </a:lnSpc>
              <a:defRPr/>
            </a:pPr>
            <a:endParaRPr lang="zh-CN" altLang="en-US" sz="2000" dirty="0">
              <a:latin typeface="宋体" panose="02010600030101010101" pitchFamily="2" charset="-122"/>
              <a:ea typeface="宋体" panose="02010600030101010101" pitchFamily="2" charset="-122"/>
            </a:endParaRPr>
          </a:p>
          <a:p>
            <a:pPr marL="285750" indent="-285750">
              <a:lnSpc>
                <a:spcPct val="90000"/>
              </a:lnSpc>
              <a:defRPr/>
            </a:pPr>
            <a:r>
              <a:rPr lang="zh-CN" altLang="en-US" sz="2400" dirty="0">
                <a:solidFill>
                  <a:schemeClr val="tx1"/>
                </a:solidFill>
                <a:latin typeface="宋体" panose="02010600030101010101" pitchFamily="2" charset="-122"/>
                <a:ea typeface="宋体" panose="02010600030101010101" pitchFamily="2" charset="-122"/>
              </a:rPr>
              <a:t>算法分析</a:t>
            </a:r>
            <a:r>
              <a:rPr lang="zh-CN" altLang="en-US" sz="2400" dirty="0">
                <a:latin typeface="宋体" panose="02010600030101010101" pitchFamily="2" charset="-122"/>
                <a:ea typeface="宋体" panose="02010600030101010101" pitchFamily="2" charset="-122"/>
              </a:rPr>
              <a:t>，是进行评价算法好坏、效率高低的，见 </a:t>
            </a:r>
            <a:r>
              <a:rPr lang="en-US" altLang="zh-CN" sz="2400" dirty="0">
                <a:latin typeface="宋体" panose="02010600030101010101" pitchFamily="2" charset="-122"/>
                <a:ea typeface="宋体" panose="02010600030101010101" pitchFamily="2" charset="-122"/>
              </a:rPr>
              <a:t>P24</a:t>
            </a:r>
            <a:endParaRPr lang="en-US" altLang="zh-CN" sz="2400" dirty="0">
              <a:latin typeface="宋体" panose="02010600030101010101" pitchFamily="2" charset="-122"/>
              <a:ea typeface="宋体" panose="02010600030101010101" pitchFamily="2" charset="-122"/>
            </a:endParaRPr>
          </a:p>
          <a:p>
            <a:pPr marL="862330" lvl="1">
              <a:lnSpc>
                <a:spcPct val="90000"/>
              </a:lnSpc>
              <a:defRPr/>
            </a:pPr>
            <a:r>
              <a:rPr lang="zh-CN" altLang="en-US" sz="2000" dirty="0">
                <a:latin typeface="宋体" panose="02010600030101010101" pitchFamily="2" charset="-122"/>
                <a:ea typeface="宋体" panose="02010600030101010101" pitchFamily="2" charset="-122"/>
              </a:rPr>
              <a:t>时间复杂度（算法执行的步数，而不是具体的时间）</a:t>
            </a:r>
            <a:endParaRPr lang="en-US" altLang="zh-CN" sz="2000" dirty="0">
              <a:latin typeface="宋体" panose="02010600030101010101" pitchFamily="2" charset="-122"/>
              <a:ea typeface="宋体" panose="02010600030101010101" pitchFamily="2" charset="-122"/>
            </a:endParaRPr>
          </a:p>
          <a:p>
            <a:pPr marL="1262380" lvl="2">
              <a:lnSpc>
                <a:spcPct val="90000"/>
              </a:lnSpc>
              <a:defRPr/>
            </a:pPr>
            <a:r>
              <a:rPr lang="zh-CN" altLang="en-US" sz="1600" dirty="0">
                <a:solidFill>
                  <a:srgbClr val="0000CC"/>
                </a:solidFill>
                <a:latin typeface="宋体" panose="02010600030101010101" pitchFamily="2" charset="-122"/>
                <a:ea typeface="宋体" panose="02010600030101010101" pitchFamily="2" charset="-122"/>
              </a:rPr>
              <a:t>通常归结为与数据元素个数之间的一个</a:t>
            </a:r>
            <a:r>
              <a:rPr lang="zh-CN" altLang="en-US" sz="1600" dirty="0">
                <a:solidFill>
                  <a:srgbClr val="FF0000"/>
                </a:solidFill>
                <a:latin typeface="宋体" panose="02010600030101010101" pitchFamily="2" charset="-122"/>
                <a:ea typeface="宋体" panose="02010600030101010101" pitchFamily="2" charset="-122"/>
              </a:rPr>
              <a:t>同阶关系</a:t>
            </a:r>
            <a:r>
              <a:rPr lang="zh-CN" altLang="en-US" sz="1600" dirty="0">
                <a:solidFill>
                  <a:srgbClr val="0000CC"/>
                </a:solidFill>
                <a:latin typeface="宋体" panose="02010600030101010101" pitchFamily="2" charset="-122"/>
                <a:ea typeface="宋体" panose="02010600030101010101" pitchFamily="2" charset="-122"/>
              </a:rPr>
              <a:t>，例如：</a:t>
            </a:r>
            <a:endParaRPr lang="en-US" altLang="zh-CN" sz="1600" dirty="0">
              <a:solidFill>
                <a:srgbClr val="0000CC"/>
              </a:solidFill>
              <a:latin typeface="宋体" panose="02010600030101010101" pitchFamily="2" charset="-122"/>
              <a:ea typeface="宋体" panose="02010600030101010101" pitchFamily="2" charset="-122"/>
            </a:endParaRPr>
          </a:p>
          <a:p>
            <a:pPr marL="1262380" lvl="2">
              <a:lnSpc>
                <a:spcPct val="90000"/>
              </a:lnSpc>
              <a:defRPr/>
            </a:pPr>
            <a:r>
              <a:rPr lang="en-US" altLang="zh-CN" sz="1600" i="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O</a:t>
            </a:r>
            <a:r>
              <a:rPr lang="en-US" altLang="zh-CN" sz="16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600" i="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1600" baseline="30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3</a:t>
            </a:r>
            <a:r>
              <a:rPr lang="en-US" altLang="zh-CN" sz="16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dirty="0">
                <a:solidFill>
                  <a:srgbClr val="0000CC"/>
                </a:solidFill>
                <a:latin typeface="宋体" panose="02010600030101010101" pitchFamily="2" charset="-122"/>
                <a:ea typeface="宋体" panose="02010600030101010101" pitchFamily="2" charset="-122"/>
              </a:rPr>
              <a:t>表示算法的执行步数和数据元素个数的三次方是同阶的。</a:t>
            </a:r>
            <a:endParaRPr lang="zh-CN" altLang="en-US" sz="1600" dirty="0">
              <a:solidFill>
                <a:srgbClr val="0000CC"/>
              </a:solidFill>
              <a:latin typeface="宋体" panose="02010600030101010101" pitchFamily="2" charset="-122"/>
              <a:ea typeface="宋体" panose="02010600030101010101" pitchFamily="2" charset="-122"/>
            </a:endParaRPr>
          </a:p>
          <a:p>
            <a:pPr marL="862330" lvl="1">
              <a:lnSpc>
                <a:spcPct val="90000"/>
              </a:lnSpc>
              <a:defRPr/>
            </a:pPr>
            <a:r>
              <a:rPr lang="zh-CN" altLang="en-US" sz="2000" dirty="0">
                <a:latin typeface="宋体" panose="02010600030101010101" pitchFamily="2" charset="-122"/>
                <a:ea typeface="宋体" panose="02010600030101010101" pitchFamily="2" charset="-122"/>
              </a:rPr>
              <a:t>空间复杂度（算法在执行过程中所需的辅助存储空间）</a:t>
            </a:r>
            <a:endParaRPr lang="zh-CN" altLang="en-US" sz="2000" dirty="0">
              <a:latin typeface="宋体" panose="02010600030101010101" pitchFamily="2" charset="-122"/>
              <a:ea typeface="宋体" panose="02010600030101010101" pitchFamily="2" charset="-122"/>
            </a:endParaRPr>
          </a:p>
          <a:p>
            <a:pPr marL="862330" lvl="1">
              <a:lnSpc>
                <a:spcPct val="90000"/>
              </a:lnSpc>
              <a:defRPr/>
            </a:pPr>
            <a:r>
              <a:rPr lang="zh-CN" altLang="en-US" sz="2000" dirty="0">
                <a:latin typeface="宋体" panose="02010600030101010101" pitchFamily="2" charset="-122"/>
                <a:ea typeface="宋体" panose="02010600030101010101" pitchFamily="2" charset="-122"/>
              </a:rPr>
              <a:t>算法的复杂程度</a:t>
            </a:r>
            <a:endParaRPr lang="en-US" altLang="zh-CN" sz="2000" dirty="0">
              <a:latin typeface="宋体" panose="02010600030101010101" pitchFamily="2" charset="-122"/>
              <a:ea typeface="宋体" panose="02010600030101010101" pitchFamily="2" charset="-122"/>
            </a:endParaRPr>
          </a:p>
          <a:p>
            <a:pPr marL="862330" lvl="1">
              <a:lnSpc>
                <a:spcPct val="90000"/>
              </a:lnSpc>
              <a:buFontTx/>
              <a:buNone/>
              <a:defRPr/>
            </a:pPr>
            <a:r>
              <a:rPr lang="zh-CN" altLang="en-US" sz="2000" dirty="0">
                <a:latin typeface="宋体" panose="02010600030101010101" pitchFamily="2" charset="-122"/>
                <a:ea typeface="宋体" panose="02010600030101010101" pitchFamily="2" charset="-122"/>
              </a:rPr>
              <a:t>数据结构可以从时间和空间复杂度两个角度影响算法的实现以及执行效率</a:t>
            </a:r>
            <a:endParaRPr lang="zh-CN" altLang="en-US" sz="2000" dirty="0">
              <a:latin typeface="宋体" panose="02010600030101010101" pitchFamily="2" charset="-122"/>
              <a:ea typeface="宋体" panose="02010600030101010101" pitchFamily="2"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457AD68B-F53F-494B-89D0-F17DC66830E9}"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35843"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3.2 </a:t>
            </a:r>
            <a:r>
              <a:rPr lang="zh-CN" altLang="en-US" sz="2400">
                <a:latin typeface="宋体" panose="02010600030101010101" pitchFamily="2" charset="-122"/>
                <a:ea typeface="宋体" panose="02010600030101010101" pitchFamily="2" charset="-122"/>
              </a:rPr>
              <a:t>线性表</a:t>
            </a:r>
            <a:endParaRPr lang="zh-CN" altLang="en-US" sz="2400">
              <a:latin typeface="宋体" panose="02010600030101010101" pitchFamily="2" charset="-122"/>
              <a:ea typeface="宋体" panose="02010600030101010101" pitchFamily="2" charset="-122"/>
            </a:endParaRPr>
          </a:p>
        </p:txBody>
      </p:sp>
      <p:sp>
        <p:nvSpPr>
          <p:cNvPr id="35844" name="Rectangle 3"/>
          <p:cNvSpPr>
            <a:spLocks noGrp="1" noChangeArrowheads="1"/>
          </p:cNvSpPr>
          <p:nvPr>
            <p:ph type="body" idx="1"/>
          </p:nvPr>
        </p:nvSpPr>
        <p:spPr>
          <a:xfrm>
            <a:off x="107950" y="933450"/>
            <a:ext cx="8610600" cy="5807075"/>
          </a:xfrm>
        </p:spPr>
        <p:txBody>
          <a:bodyPr/>
          <a:lstStyle/>
          <a:p>
            <a:pPr marL="285750" indent="-285750"/>
            <a:r>
              <a:rPr lang="zh-CN" altLang="en-US" sz="2800">
                <a:latin typeface="宋体" panose="02010600030101010101" pitchFamily="2" charset="-122"/>
                <a:ea typeface="宋体" panose="02010600030101010101" pitchFamily="2" charset="-122"/>
              </a:rPr>
              <a:t>线性表定义（</a:t>
            </a:r>
            <a:r>
              <a:rPr lang="en-US" altLang="zh-CN" sz="2800">
                <a:latin typeface="宋体" panose="02010600030101010101" pitchFamily="2" charset="-122"/>
                <a:ea typeface="宋体" panose="02010600030101010101" pitchFamily="2" charset="-122"/>
              </a:rPr>
              <a:t>sequenced list，linear list）</a:t>
            </a:r>
            <a:endParaRPr lang="en-US" altLang="zh-CN" sz="2800">
              <a:latin typeface="宋体" panose="02010600030101010101" pitchFamily="2" charset="-122"/>
              <a:ea typeface="宋体" panose="02010600030101010101" pitchFamily="2" charset="-122"/>
            </a:endParaRPr>
          </a:p>
          <a:p>
            <a:pPr marL="862330" lvl="1"/>
            <a:r>
              <a:rPr lang="zh-CN" altLang="en-US" sz="2400">
                <a:latin typeface="宋体" panose="02010600030101010101" pitchFamily="2" charset="-122"/>
                <a:ea typeface="宋体" panose="02010600030101010101" pitchFamily="2" charset="-122"/>
              </a:rPr>
              <a:t>线性表是一种最简单、最常用的数据结构</a:t>
            </a:r>
            <a:endParaRPr lang="zh-CN" altLang="en-US" sz="2400">
              <a:latin typeface="宋体" panose="02010600030101010101" pitchFamily="2" charset="-122"/>
              <a:ea typeface="宋体" panose="02010600030101010101" pitchFamily="2" charset="-122"/>
            </a:endParaRPr>
          </a:p>
          <a:p>
            <a:pPr marL="862330" lvl="1"/>
            <a:r>
              <a:rPr lang="zh-CN" altLang="en-US" sz="2400">
                <a:latin typeface="宋体" panose="02010600030101010101" pitchFamily="2" charset="-122"/>
                <a:ea typeface="宋体" panose="02010600030101010101" pitchFamily="2" charset="-122"/>
              </a:rPr>
              <a:t>线性表是一组</a:t>
            </a:r>
            <a:r>
              <a:rPr lang="zh-CN" altLang="en-US" sz="2400">
                <a:solidFill>
                  <a:schemeClr val="tx2"/>
                </a:solidFill>
                <a:latin typeface="宋体" panose="02010600030101010101" pitchFamily="2" charset="-122"/>
                <a:ea typeface="宋体" panose="02010600030101010101" pitchFamily="2" charset="-122"/>
              </a:rPr>
              <a:t>有序、有限的数据元素</a:t>
            </a:r>
            <a:endParaRPr lang="zh-CN" altLang="en-US" sz="2400">
              <a:solidFill>
                <a:schemeClr val="tx2"/>
              </a:solidFill>
              <a:latin typeface="宋体" panose="02010600030101010101" pitchFamily="2" charset="-122"/>
              <a:ea typeface="宋体" panose="02010600030101010101" pitchFamily="2" charset="-122"/>
            </a:endParaRPr>
          </a:p>
          <a:p>
            <a:pPr marL="862330" lvl="1"/>
            <a:r>
              <a:rPr lang="zh-CN" altLang="en-US" sz="2400">
                <a:latin typeface="宋体" panose="02010600030101010101" pitchFamily="2" charset="-122"/>
                <a:ea typeface="宋体" panose="02010600030101010101" pitchFamily="2" charset="-122"/>
              </a:rPr>
              <a:t>一般表示形式：</a:t>
            </a:r>
            <a:endParaRPr lang="zh-CN" altLang="en-US" sz="2400">
              <a:latin typeface="宋体" panose="02010600030101010101" pitchFamily="2" charset="-122"/>
              <a:ea typeface="宋体" panose="02010600030101010101" pitchFamily="2" charset="-122"/>
            </a:endParaRPr>
          </a:p>
          <a:p>
            <a:pPr marL="862330" lvl="1">
              <a:buFontTx/>
              <a:buNone/>
            </a:pPr>
            <a:r>
              <a:rPr lang="en-US" altLang="zh-CN" sz="2400">
                <a:latin typeface="宋体" panose="02010600030101010101" pitchFamily="2" charset="-122"/>
                <a:ea typeface="宋体" panose="02010600030101010101" pitchFamily="2" charset="-122"/>
              </a:rPr>
              <a:t>        L = ( </a:t>
            </a:r>
            <a:r>
              <a:rPr lang="en-US" altLang="zh-CN" i="1">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i="1" baseline="-25000">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i="1">
                <a:latin typeface="Times New Roman" panose="02020603050405020304" pitchFamily="18" charset="0"/>
                <a:ea typeface="宋体" panose="02010600030101010101" pitchFamily="2" charset="-122"/>
                <a:cs typeface="Times New Roman" panose="02020603050405020304" pitchFamily="18" charset="0"/>
              </a:rPr>
              <a:t>, </a:t>
            </a:r>
            <a:r>
              <a:rPr lang="en-US" altLang="zh-CN" i="1">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i="1" baseline="-25000">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i="1">
                <a:latin typeface="Times New Roman" panose="02020603050405020304" pitchFamily="18" charset="0"/>
                <a:ea typeface="宋体" panose="02010600030101010101" pitchFamily="2" charset="-122"/>
                <a:cs typeface="Times New Roman" panose="02020603050405020304" pitchFamily="18" charset="0"/>
              </a:rPr>
              <a:t>, </a:t>
            </a:r>
            <a:r>
              <a:rPr lang="en-US" altLang="zh-CN" i="1">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i="1" baseline="-25000">
                <a:latin typeface="Times New Roman" panose="02020603050405020304" pitchFamily="18" charset="0"/>
                <a:ea typeface="宋体" panose="02010600030101010101" pitchFamily="2" charset="-122"/>
                <a:cs typeface="Times New Roman" panose="02020603050405020304" pitchFamily="18" charset="0"/>
              </a:rPr>
              <a:t>3</a:t>
            </a:r>
            <a:r>
              <a:rPr lang="en-US" altLang="zh-CN" sz="2400" i="1">
                <a:latin typeface="Times New Roman" panose="02020603050405020304" pitchFamily="18" charset="0"/>
                <a:ea typeface="宋体" panose="02010600030101010101" pitchFamily="2" charset="-122"/>
                <a:cs typeface="Times New Roman" panose="02020603050405020304" pitchFamily="18" charset="0"/>
              </a:rPr>
              <a:t>, … , </a:t>
            </a:r>
            <a:r>
              <a:rPr lang="en-US" altLang="zh-CN" i="1">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i="1" baseline="-25000">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i="1">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a:latin typeface="宋体" panose="02010600030101010101" pitchFamily="2" charset="-122"/>
                <a:ea typeface="宋体" panose="02010600030101010101" pitchFamily="2" charset="-122"/>
              </a:rPr>
              <a:t>)</a:t>
            </a:r>
            <a:endParaRPr lang="en-US" altLang="zh-CN" sz="2400">
              <a:latin typeface="宋体" panose="02010600030101010101" pitchFamily="2" charset="-122"/>
              <a:ea typeface="宋体" panose="02010600030101010101" pitchFamily="2" charset="-122"/>
            </a:endParaRPr>
          </a:p>
          <a:p>
            <a:pPr marL="862330" lvl="1"/>
            <a:r>
              <a:rPr lang="zh-CN" altLang="en-US" sz="2400">
                <a:latin typeface="宋体" panose="02010600030101010101" pitchFamily="2" charset="-122"/>
                <a:ea typeface="宋体" panose="02010600030101010101" pitchFamily="2" charset="-122"/>
              </a:rPr>
              <a:t>例如，一个星期有七天，</a:t>
            </a:r>
            <a:r>
              <a:rPr lang="en-US" altLang="zh-CN" sz="2400">
                <a:latin typeface="宋体" panose="02010600030101010101" pitchFamily="2" charset="-122"/>
                <a:ea typeface="宋体" panose="02010600030101010101" pitchFamily="2" charset="-122"/>
              </a:rPr>
              <a:t>week</a:t>
            </a:r>
            <a:endParaRPr lang="en-US" altLang="zh-CN" sz="2400">
              <a:latin typeface="宋体" panose="02010600030101010101" pitchFamily="2" charset="-122"/>
              <a:ea typeface="宋体" panose="02010600030101010101" pitchFamily="2" charset="-122"/>
            </a:endParaRPr>
          </a:p>
          <a:p>
            <a:pPr marL="862330" lvl="1">
              <a:buFontTx/>
              <a:buNone/>
            </a:pPr>
            <a:r>
              <a:rPr lang="en-US" altLang="zh-CN" sz="2400">
                <a:latin typeface="宋体" panose="02010600030101010101" pitchFamily="2" charset="-122"/>
                <a:ea typeface="宋体" panose="02010600030101010101" pitchFamily="2" charset="-122"/>
              </a:rPr>
              <a:t>   Week = ( Monday, Tuesday, Wednesday, Thursday, Friday, Saturday, Sunday )</a:t>
            </a:r>
            <a:endParaRPr lang="en-US" altLang="zh-CN" sz="2400">
              <a:latin typeface="宋体" panose="02010600030101010101" pitchFamily="2" charset="-122"/>
              <a:ea typeface="宋体" panose="02010600030101010101" pitchFamily="2" charset="-122"/>
            </a:endParaRPr>
          </a:p>
          <a:p>
            <a:pPr marL="862330" lvl="1">
              <a:buFontTx/>
              <a:buNone/>
            </a:pPr>
            <a:r>
              <a:rPr lang="en-US" altLang="zh-CN" sz="2400">
                <a:latin typeface="宋体" panose="02010600030101010101" pitchFamily="2" charset="-122"/>
                <a:ea typeface="宋体" panose="02010600030101010101" pitchFamily="2" charset="-122"/>
              </a:rPr>
              <a:t>   Month = ( 1, 2, 3, 4, </a:t>
            </a:r>
            <a:r>
              <a:rPr lang="en-US" altLang="zh-CN" sz="2400">
                <a:latin typeface="Times New Roman" panose="02020603050405020304" pitchFamily="18" charset="0"/>
                <a:ea typeface="宋体" panose="02010600030101010101" pitchFamily="2" charset="-122"/>
              </a:rPr>
              <a:t>…</a:t>
            </a:r>
            <a:r>
              <a:rPr lang="en-US" altLang="zh-CN" sz="2400">
                <a:latin typeface="宋体" panose="02010600030101010101" pitchFamily="2" charset="-122"/>
                <a:ea typeface="宋体" panose="02010600030101010101" pitchFamily="2" charset="-122"/>
              </a:rPr>
              <a:t> , 31 )</a:t>
            </a:r>
            <a:endParaRPr lang="en-US" altLang="zh-CN" sz="2400">
              <a:latin typeface="宋体" panose="02010600030101010101" pitchFamily="2" charset="-122"/>
              <a:ea typeface="宋体" panose="02010600030101010101" pitchFamily="2" charset="-122"/>
            </a:endParaRPr>
          </a:p>
          <a:p>
            <a:pPr marL="862330" lvl="1"/>
            <a:r>
              <a:rPr lang="zh-CN" altLang="en-US" sz="2400">
                <a:latin typeface="宋体" panose="02010600030101010101" pitchFamily="2" charset="-122"/>
                <a:ea typeface="宋体" panose="02010600030101010101" pitchFamily="2" charset="-122"/>
              </a:rPr>
              <a:t>特点：</a:t>
            </a:r>
            <a:endParaRPr lang="zh-CN" altLang="en-US" sz="2400">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除第一个元素外，其它每个元素都仅有一个直接前趋元素</a:t>
            </a:r>
            <a:endParaRPr lang="zh-CN" altLang="en-US" sz="2000">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除最后一个元素外，其它每个元素都仅有一个直接后继元素</a:t>
            </a:r>
            <a:endParaRPr lang="zh-CN" altLang="en-US" sz="2000">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线性表中的数据元素是</a:t>
            </a:r>
            <a:r>
              <a:rPr lang="zh-CN" altLang="en-US" sz="2000">
                <a:solidFill>
                  <a:schemeClr val="tx2"/>
                </a:solidFill>
                <a:latin typeface="宋体" panose="02010600030101010101" pitchFamily="2" charset="-122"/>
                <a:ea typeface="宋体" panose="02010600030101010101" pitchFamily="2" charset="-122"/>
              </a:rPr>
              <a:t>有序排列的</a:t>
            </a:r>
            <a:r>
              <a:rPr lang="zh-CN" altLang="en-US" sz="2000">
                <a:latin typeface="宋体" panose="02010600030101010101" pitchFamily="2" charset="-122"/>
                <a:ea typeface="宋体" panose="02010600030101010101" pitchFamily="2" charset="-122"/>
              </a:rPr>
              <a:t>，既 ( </a:t>
            </a:r>
            <a:r>
              <a:rPr lang="en-US" altLang="zh-CN" sz="2000">
                <a:latin typeface="宋体" panose="02010600030101010101" pitchFamily="2" charset="-122"/>
                <a:ea typeface="宋体" panose="02010600030101010101" pitchFamily="2" charset="-122"/>
              </a:rPr>
              <a:t>a，b ) ≠ ( b, a )</a:t>
            </a:r>
            <a:endParaRPr lang="en-US" altLang="zh-CN" sz="2000">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不论是什么数据类型，所有元素的</a:t>
            </a:r>
            <a:r>
              <a:rPr lang="zh-CN" altLang="en-US" sz="2000">
                <a:solidFill>
                  <a:schemeClr val="tx2"/>
                </a:solidFill>
                <a:latin typeface="宋体" panose="02010600030101010101" pitchFamily="2" charset="-122"/>
                <a:ea typeface="宋体" panose="02010600030101010101" pitchFamily="2" charset="-122"/>
              </a:rPr>
              <a:t>数据类型都一样</a:t>
            </a:r>
            <a:endParaRPr lang="zh-CN" altLang="en-US" sz="2000">
              <a:solidFill>
                <a:schemeClr val="tx2"/>
              </a:solidFill>
              <a:latin typeface="宋体" panose="02010600030101010101" pitchFamily="2" charset="-122"/>
              <a:ea typeface="宋体" panose="02010600030101010101" pitchFamily="2" charset="-122"/>
            </a:endParaRPr>
          </a:p>
        </p:txBody>
      </p:sp>
      <p:grpSp>
        <p:nvGrpSpPr>
          <p:cNvPr id="35845" name="Group 14"/>
          <p:cNvGrpSpPr/>
          <p:nvPr/>
        </p:nvGrpSpPr>
        <p:grpSpPr bwMode="auto">
          <a:xfrm>
            <a:off x="6659563" y="2492375"/>
            <a:ext cx="2016125" cy="144463"/>
            <a:chOff x="1180" y="1248"/>
            <a:chExt cx="932" cy="48"/>
          </a:xfrm>
        </p:grpSpPr>
        <p:sp>
          <p:nvSpPr>
            <p:cNvPr id="35846" name="Oval 15"/>
            <p:cNvSpPr>
              <a:spLocks noChangeArrowheads="1"/>
            </p:cNvSpPr>
            <p:nvPr/>
          </p:nvSpPr>
          <p:spPr bwMode="auto">
            <a:xfrm>
              <a:off x="1180" y="1248"/>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35847" name="Oval 16"/>
            <p:cNvSpPr>
              <a:spLocks noChangeArrowheads="1"/>
            </p:cNvSpPr>
            <p:nvPr/>
          </p:nvSpPr>
          <p:spPr bwMode="auto">
            <a:xfrm>
              <a:off x="1474" y="1248"/>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35848" name="Line 17"/>
            <p:cNvSpPr>
              <a:spLocks noChangeShapeType="1"/>
            </p:cNvSpPr>
            <p:nvPr/>
          </p:nvSpPr>
          <p:spPr bwMode="auto">
            <a:xfrm>
              <a:off x="1234" y="1275"/>
              <a:ext cx="22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49" name="Oval 18"/>
            <p:cNvSpPr>
              <a:spLocks noChangeArrowheads="1"/>
            </p:cNvSpPr>
            <p:nvPr/>
          </p:nvSpPr>
          <p:spPr bwMode="auto">
            <a:xfrm>
              <a:off x="1769" y="1248"/>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35850" name="Oval 19"/>
            <p:cNvSpPr>
              <a:spLocks noChangeArrowheads="1"/>
            </p:cNvSpPr>
            <p:nvPr/>
          </p:nvSpPr>
          <p:spPr bwMode="auto">
            <a:xfrm>
              <a:off x="2064" y="1248"/>
              <a:ext cx="48" cy="48"/>
            </a:xfrm>
            <a:prstGeom prst="ellipse">
              <a:avLst/>
            </a:prstGeom>
            <a:solidFill>
              <a:schemeClr val="accent1"/>
            </a:solidFill>
            <a:ln w="9525">
              <a:solidFill>
                <a:schemeClr val="tx1"/>
              </a:solidFill>
              <a:rou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35851" name="Line 20"/>
            <p:cNvSpPr>
              <a:spLocks noChangeShapeType="1"/>
            </p:cNvSpPr>
            <p:nvPr/>
          </p:nvSpPr>
          <p:spPr bwMode="auto">
            <a:xfrm>
              <a:off x="1532" y="1275"/>
              <a:ext cx="22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52" name="Line 21"/>
            <p:cNvSpPr>
              <a:spLocks noChangeShapeType="1"/>
            </p:cNvSpPr>
            <p:nvPr/>
          </p:nvSpPr>
          <p:spPr bwMode="auto">
            <a:xfrm>
              <a:off x="1831" y="1275"/>
              <a:ext cx="22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F0E0A3C1-4CDD-4BE6-9A8D-03939CA78BC0}"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37891"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3.2 </a:t>
            </a:r>
            <a:r>
              <a:rPr lang="zh-CN" altLang="en-US" sz="2400">
                <a:latin typeface="宋体" panose="02010600030101010101" pitchFamily="2" charset="-122"/>
                <a:ea typeface="宋体" panose="02010600030101010101" pitchFamily="2" charset="-122"/>
              </a:rPr>
              <a:t>线性表</a:t>
            </a:r>
            <a:endParaRPr lang="zh-CN" altLang="en-US" sz="2400">
              <a:latin typeface="宋体" panose="02010600030101010101" pitchFamily="2" charset="-122"/>
              <a:ea typeface="宋体" panose="02010600030101010101" pitchFamily="2" charset="-122"/>
            </a:endParaRPr>
          </a:p>
        </p:txBody>
      </p:sp>
      <p:sp>
        <p:nvSpPr>
          <p:cNvPr id="37892" name="Rectangle 3"/>
          <p:cNvSpPr>
            <a:spLocks noGrp="1" noChangeArrowheads="1"/>
          </p:cNvSpPr>
          <p:nvPr>
            <p:ph type="body" idx="1"/>
          </p:nvPr>
        </p:nvSpPr>
        <p:spPr>
          <a:xfrm>
            <a:off x="179388" y="981075"/>
            <a:ext cx="8610600" cy="3816350"/>
          </a:xfrm>
        </p:spPr>
        <p:txBody>
          <a:bodyPr/>
          <a:lstStyle/>
          <a:p>
            <a:pPr marL="285750" indent="-285750">
              <a:lnSpc>
                <a:spcPct val="90000"/>
              </a:lnSpc>
            </a:pPr>
            <a:r>
              <a:rPr lang="zh-CN" altLang="en-US">
                <a:latin typeface="宋体" panose="02010600030101010101" pitchFamily="2" charset="-122"/>
                <a:ea typeface="宋体" panose="02010600030101010101" pitchFamily="2" charset="-122"/>
              </a:rPr>
              <a:t>线性表的基本操作（运算）</a:t>
            </a:r>
            <a:endParaRPr lang="zh-CN" altLang="en-US">
              <a:latin typeface="宋体" panose="02010600030101010101" pitchFamily="2" charset="-122"/>
              <a:ea typeface="宋体" panose="02010600030101010101" pitchFamily="2" charset="-122"/>
            </a:endParaRPr>
          </a:p>
          <a:p>
            <a:pPr marL="862330" lvl="1">
              <a:lnSpc>
                <a:spcPct val="90000"/>
              </a:lnSpc>
            </a:pPr>
            <a:r>
              <a:rPr lang="zh-CN" altLang="en-US">
                <a:latin typeface="宋体" panose="02010600030101010101" pitchFamily="2" charset="-122"/>
                <a:ea typeface="宋体" panose="02010600030101010101" pitchFamily="2" charset="-122"/>
              </a:rPr>
              <a:t>线性表的声明、创建和初始化（</a:t>
            </a:r>
            <a:r>
              <a:rPr lang="en-US" altLang="zh-CN">
                <a:latin typeface="宋体" panose="02010600030101010101" pitchFamily="2" charset="-122"/>
                <a:ea typeface="宋体" panose="02010600030101010101" pitchFamily="2" charset="-122"/>
              </a:rPr>
              <a:t>declaration，create，initialization）</a:t>
            </a:r>
            <a:endParaRPr lang="en-US" altLang="zh-CN">
              <a:latin typeface="宋体" panose="02010600030101010101" pitchFamily="2" charset="-122"/>
              <a:ea typeface="宋体" panose="02010600030101010101" pitchFamily="2" charset="-122"/>
            </a:endParaRPr>
          </a:p>
          <a:p>
            <a:pPr marL="862330" lvl="1">
              <a:lnSpc>
                <a:spcPct val="90000"/>
              </a:lnSpc>
            </a:pPr>
            <a:r>
              <a:rPr lang="zh-CN" altLang="en-US">
                <a:latin typeface="宋体" panose="02010600030101010101" pitchFamily="2" charset="-122"/>
                <a:ea typeface="宋体" panose="02010600030101010101" pitchFamily="2" charset="-122"/>
              </a:rPr>
              <a:t>数据元素的插入、删除、修改（</a:t>
            </a:r>
            <a:r>
              <a:rPr lang="en-US" altLang="zh-CN">
                <a:latin typeface="宋体" panose="02010600030101010101" pitchFamily="2" charset="-122"/>
                <a:ea typeface="宋体" panose="02010600030101010101" pitchFamily="2" charset="-122"/>
              </a:rPr>
              <a:t>insert, delete, update）</a:t>
            </a:r>
            <a:endParaRPr lang="en-US" altLang="zh-CN">
              <a:latin typeface="宋体" panose="02010600030101010101" pitchFamily="2" charset="-122"/>
              <a:ea typeface="宋体" panose="02010600030101010101" pitchFamily="2" charset="-122"/>
            </a:endParaRPr>
          </a:p>
          <a:p>
            <a:pPr marL="862330" lvl="1">
              <a:lnSpc>
                <a:spcPct val="90000"/>
              </a:lnSpc>
            </a:pPr>
            <a:r>
              <a:rPr lang="zh-CN" altLang="en-US">
                <a:latin typeface="宋体" panose="02010600030101010101" pitchFamily="2" charset="-122"/>
                <a:ea typeface="宋体" panose="02010600030101010101" pitchFamily="2" charset="-122"/>
              </a:rPr>
              <a:t>数据元素的查找、排序（</a:t>
            </a:r>
            <a:r>
              <a:rPr lang="en-US" altLang="zh-CN">
                <a:latin typeface="宋体" panose="02010600030101010101" pitchFamily="2" charset="-122"/>
                <a:ea typeface="宋体" panose="02010600030101010101" pitchFamily="2" charset="-122"/>
              </a:rPr>
              <a:t>search, sorting）</a:t>
            </a:r>
            <a:endParaRPr lang="en-US" altLang="zh-CN">
              <a:latin typeface="宋体" panose="02010600030101010101" pitchFamily="2" charset="-122"/>
              <a:ea typeface="宋体" panose="02010600030101010101" pitchFamily="2" charset="-122"/>
            </a:endParaRPr>
          </a:p>
          <a:p>
            <a:pPr marL="862330" lvl="1">
              <a:lnSpc>
                <a:spcPct val="90000"/>
              </a:lnSpc>
            </a:pPr>
            <a:r>
              <a:rPr lang="zh-CN" altLang="en-US">
                <a:latin typeface="宋体" panose="02010600030101010101" pitchFamily="2" charset="-122"/>
                <a:ea typeface="宋体" panose="02010600030101010101" pitchFamily="2" charset="-122"/>
              </a:rPr>
              <a:t>线性表的释放（</a:t>
            </a:r>
            <a:r>
              <a:rPr lang="en-US" altLang="zh-CN">
                <a:latin typeface="宋体" panose="02010600030101010101" pitchFamily="2" charset="-122"/>
                <a:ea typeface="宋体" panose="02010600030101010101" pitchFamily="2" charset="-122"/>
              </a:rPr>
              <a:t>release，destruct）</a:t>
            </a:r>
            <a:endParaRPr lang="en-US" altLang="zh-CN">
              <a:latin typeface="宋体" panose="02010600030101010101" pitchFamily="2" charset="-122"/>
              <a:ea typeface="宋体" panose="02010600030101010101" pitchFamily="2" charset="-122"/>
            </a:endParaRPr>
          </a:p>
          <a:p>
            <a:pPr marL="862330" lvl="1">
              <a:lnSpc>
                <a:spcPct val="90000"/>
              </a:lnSpc>
            </a:pPr>
            <a:r>
              <a:rPr lang="zh-CN" altLang="en-US">
                <a:latin typeface="宋体" panose="02010600030101010101" pitchFamily="2" charset="-122"/>
                <a:ea typeface="宋体" panose="02010600030101010101" pitchFamily="2" charset="-122"/>
              </a:rPr>
              <a:t>组合操作，运用以上操作完成更复杂的功能</a:t>
            </a:r>
            <a:endParaRPr lang="en-US" altLang="zh-CN">
              <a:latin typeface="宋体" panose="02010600030101010101" pitchFamily="2" charset="-122"/>
              <a:ea typeface="宋体" panose="02010600030101010101" pitchFamily="2"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30D39168-0A68-44F5-99BA-4AC6F2A4E724}"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39939"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3.2 </a:t>
            </a:r>
            <a:r>
              <a:rPr lang="zh-CN" altLang="en-US" sz="2400">
                <a:latin typeface="宋体" panose="02010600030101010101" pitchFamily="2" charset="-122"/>
                <a:ea typeface="宋体" panose="02010600030101010101" pitchFamily="2" charset="-122"/>
              </a:rPr>
              <a:t>线性表</a:t>
            </a:r>
            <a:endParaRPr lang="zh-CN" altLang="en-US" sz="2400">
              <a:latin typeface="宋体" panose="02010600030101010101" pitchFamily="2" charset="-122"/>
              <a:ea typeface="宋体" panose="02010600030101010101" pitchFamily="2" charset="-122"/>
            </a:endParaRPr>
          </a:p>
        </p:txBody>
      </p:sp>
      <p:sp>
        <p:nvSpPr>
          <p:cNvPr id="39940" name="Rectangle 3"/>
          <p:cNvSpPr>
            <a:spLocks noGrp="1" noChangeArrowheads="1"/>
          </p:cNvSpPr>
          <p:nvPr>
            <p:ph type="body" idx="1"/>
          </p:nvPr>
        </p:nvSpPr>
        <p:spPr>
          <a:xfrm>
            <a:off x="107950" y="981075"/>
            <a:ext cx="8610600" cy="5040313"/>
          </a:xfrm>
        </p:spPr>
        <p:txBody>
          <a:bodyPr/>
          <a:lstStyle/>
          <a:p>
            <a:pPr marL="285750" indent="-285750"/>
            <a:r>
              <a:rPr lang="zh-CN" altLang="en-US">
                <a:latin typeface="宋体" panose="02010600030101010101" pitchFamily="2" charset="-122"/>
                <a:ea typeface="宋体" panose="02010600030101010101" pitchFamily="2" charset="-122"/>
              </a:rPr>
              <a:t>线性表的存储</a:t>
            </a:r>
            <a:endParaRPr lang="en-US" altLang="zh-CN">
              <a:latin typeface="宋体" panose="02010600030101010101" pitchFamily="2" charset="-122"/>
              <a:ea typeface="宋体" panose="02010600030101010101" pitchFamily="2" charset="-122"/>
            </a:endParaRPr>
          </a:p>
          <a:p>
            <a:pPr marL="862330" lvl="1"/>
            <a:r>
              <a:rPr lang="zh-CN" altLang="en-US">
                <a:latin typeface="宋体" panose="02010600030101010101" pitchFamily="2" charset="-122"/>
                <a:ea typeface="宋体" panose="02010600030101010101" pitchFamily="2" charset="-122"/>
              </a:rPr>
              <a:t>线性表在计算机中的具体存储方式：</a:t>
            </a:r>
            <a:endParaRPr lang="zh-CN" altLang="en-US">
              <a:latin typeface="宋体" panose="02010600030101010101" pitchFamily="2" charset="-122"/>
              <a:ea typeface="宋体" panose="02010600030101010101" pitchFamily="2" charset="-122"/>
            </a:endParaRPr>
          </a:p>
          <a:p>
            <a:pPr marL="1333500" lvl="2"/>
            <a:r>
              <a:rPr lang="zh-CN" altLang="en-US">
                <a:solidFill>
                  <a:schemeClr val="tx2"/>
                </a:solidFill>
                <a:latin typeface="宋体" panose="02010600030101010101" pitchFamily="2" charset="-122"/>
                <a:ea typeface="宋体" panose="02010600030101010101" pitchFamily="2" charset="-122"/>
              </a:rPr>
              <a:t>顺序存储</a:t>
            </a:r>
            <a:r>
              <a:rPr lang="zh-CN" altLang="en-US">
                <a:latin typeface="宋体" panose="02010600030101010101" pitchFamily="2" charset="-122"/>
                <a:ea typeface="宋体" panose="02010600030101010101" pitchFamily="2" charset="-122"/>
              </a:rPr>
              <a:t>，在计算机内存中，连续存储，存储数据元素的内存地址（存储地址）是连续的</a:t>
            </a:r>
            <a:endParaRPr lang="zh-CN" altLang="en-US">
              <a:latin typeface="宋体" panose="02010600030101010101" pitchFamily="2" charset="-122"/>
              <a:ea typeface="宋体" panose="02010600030101010101" pitchFamily="2" charset="-122"/>
            </a:endParaRPr>
          </a:p>
          <a:p>
            <a:pPr marL="1333500" lvl="2"/>
            <a:r>
              <a:rPr lang="zh-CN" altLang="en-US">
                <a:solidFill>
                  <a:schemeClr val="tx2"/>
                </a:solidFill>
                <a:latin typeface="宋体" panose="02010600030101010101" pitchFamily="2" charset="-122"/>
                <a:ea typeface="宋体" panose="02010600030101010101" pitchFamily="2" charset="-122"/>
              </a:rPr>
              <a:t>链表</a:t>
            </a:r>
            <a:r>
              <a:rPr lang="en-US" altLang="zh-CN">
                <a:solidFill>
                  <a:schemeClr val="tx2"/>
                </a:solidFill>
                <a:latin typeface="宋体" panose="02010600030101010101" pitchFamily="2" charset="-122"/>
                <a:ea typeface="宋体" panose="02010600030101010101" pitchFamily="2" charset="-122"/>
              </a:rPr>
              <a:t>(</a:t>
            </a:r>
            <a:r>
              <a:rPr lang="zh-CN" altLang="en-US">
                <a:solidFill>
                  <a:schemeClr val="tx2"/>
                </a:solidFill>
                <a:latin typeface="宋体" panose="02010600030101010101" pitchFamily="2" charset="-122"/>
                <a:ea typeface="宋体" panose="02010600030101010101" pitchFamily="2" charset="-122"/>
              </a:rPr>
              <a:t>链式</a:t>
            </a:r>
            <a:r>
              <a:rPr lang="en-US" altLang="zh-CN">
                <a:solidFill>
                  <a:schemeClr val="tx2"/>
                </a:solidFill>
                <a:latin typeface="宋体" panose="02010600030101010101" pitchFamily="2" charset="-122"/>
                <a:ea typeface="宋体" panose="02010600030101010101" pitchFamily="2" charset="-122"/>
              </a:rPr>
              <a:t>)</a:t>
            </a:r>
            <a:r>
              <a:rPr lang="zh-CN" altLang="en-US">
                <a:solidFill>
                  <a:schemeClr val="tx2"/>
                </a:solidFill>
                <a:latin typeface="宋体" panose="02010600030101010101" pitchFamily="2" charset="-122"/>
                <a:ea typeface="宋体" panose="02010600030101010101" pitchFamily="2" charset="-122"/>
              </a:rPr>
              <a:t>存储</a:t>
            </a:r>
            <a:r>
              <a:rPr lang="zh-CN" altLang="en-US">
                <a:latin typeface="宋体" panose="02010600030101010101" pitchFamily="2" charset="-122"/>
                <a:ea typeface="宋体" panose="02010600030101010101" pitchFamily="2" charset="-122"/>
              </a:rPr>
              <a:t>，分散存储在内存中，存储地址用 地址指针 把数据元素链接在一起；</a:t>
            </a:r>
            <a:endParaRPr lang="zh-CN" altLang="en-US">
              <a:latin typeface="宋体" panose="02010600030101010101" pitchFamily="2" charset="-122"/>
              <a:ea typeface="宋体" panose="02010600030101010101" pitchFamily="2" charset="-122"/>
            </a:endParaRPr>
          </a:p>
          <a:p>
            <a:pPr marL="1901825" lvl="3"/>
            <a:r>
              <a:rPr lang="zh-CN" altLang="en-US">
                <a:latin typeface="宋体" panose="02010600030101010101" pitchFamily="2" charset="-122"/>
                <a:ea typeface="宋体" panose="02010600030101010101" pitchFamily="2" charset="-122"/>
              </a:rPr>
              <a:t>单向链表</a:t>
            </a:r>
            <a:endParaRPr lang="zh-CN" altLang="en-US">
              <a:latin typeface="宋体" panose="02010600030101010101" pitchFamily="2" charset="-122"/>
              <a:ea typeface="宋体" panose="02010600030101010101" pitchFamily="2" charset="-122"/>
            </a:endParaRPr>
          </a:p>
          <a:p>
            <a:pPr marL="1901825" lvl="3"/>
            <a:r>
              <a:rPr lang="zh-CN" altLang="en-US">
                <a:latin typeface="宋体" panose="02010600030101010101" pitchFamily="2" charset="-122"/>
                <a:ea typeface="宋体" panose="02010600030101010101" pitchFamily="2" charset="-122"/>
              </a:rPr>
              <a:t>双向链表</a:t>
            </a:r>
            <a:endParaRPr lang="zh-CN" altLang="en-US">
              <a:latin typeface="宋体" panose="02010600030101010101" pitchFamily="2" charset="-122"/>
              <a:ea typeface="宋体" panose="02010600030101010101" pitchFamily="2" charset="-122"/>
            </a:endParaRPr>
          </a:p>
          <a:p>
            <a:pPr marL="1901825" lvl="3"/>
            <a:r>
              <a:rPr lang="zh-CN" altLang="en-US">
                <a:latin typeface="宋体" panose="02010600030101010101" pitchFamily="2" charset="-122"/>
                <a:ea typeface="宋体" panose="02010600030101010101" pitchFamily="2" charset="-122"/>
              </a:rPr>
              <a:t>循环链表</a:t>
            </a:r>
            <a:endParaRPr lang="zh-CN" altLang="en-US">
              <a:latin typeface="宋体" panose="02010600030101010101" pitchFamily="2" charset="-122"/>
              <a:ea typeface="宋体" panose="02010600030101010101" pitchFamily="2" charset="-122"/>
            </a:endParaRPr>
          </a:p>
          <a:p>
            <a:pPr marL="862330" lvl="1"/>
            <a:r>
              <a:rPr lang="zh-CN" altLang="en-US">
                <a:latin typeface="宋体" panose="02010600030101010101" pitchFamily="2" charset="-122"/>
                <a:ea typeface="宋体" panose="02010600030101010101" pitchFamily="2" charset="-122"/>
              </a:rPr>
              <a:t>存储方式不同，线性表的运算也不相同。</a:t>
            </a:r>
            <a:endParaRPr lang="zh-CN" altLang="en-US">
              <a:latin typeface="宋体" panose="02010600030101010101" pitchFamily="2" charset="-122"/>
              <a:ea typeface="宋体" panose="02010600030101010101" pitchFamily="2" charset="-122"/>
            </a:endParaRPr>
          </a:p>
          <a:p>
            <a:pPr marL="862330" lvl="1"/>
            <a:endParaRPr lang="zh-CN" altLang="en-US">
              <a:latin typeface="宋体" panose="02010600030101010101" pitchFamily="2" charset="-122"/>
              <a:ea typeface="宋体" panose="02010600030101010101" pitchFamily="2"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8875C390-0E2F-4D1D-AB0E-9BDF8796B336}"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40963"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3.2 </a:t>
            </a:r>
            <a:r>
              <a:rPr lang="zh-CN" altLang="en-US" sz="2400">
                <a:latin typeface="宋体" panose="02010600030101010101" pitchFamily="2" charset="-122"/>
                <a:ea typeface="宋体" panose="02010600030101010101" pitchFamily="2" charset="-122"/>
              </a:rPr>
              <a:t>线性表</a:t>
            </a:r>
            <a:endParaRPr lang="zh-CN" altLang="en-US" sz="2400">
              <a:latin typeface="宋体" panose="02010600030101010101" pitchFamily="2" charset="-122"/>
              <a:ea typeface="宋体" panose="02010600030101010101" pitchFamily="2" charset="-122"/>
            </a:endParaRPr>
          </a:p>
        </p:txBody>
      </p:sp>
      <p:sp>
        <p:nvSpPr>
          <p:cNvPr id="40964" name="Rectangle 3"/>
          <p:cNvSpPr>
            <a:spLocks noGrp="1" noChangeArrowheads="1"/>
          </p:cNvSpPr>
          <p:nvPr>
            <p:ph type="body" idx="1"/>
          </p:nvPr>
        </p:nvSpPr>
        <p:spPr>
          <a:xfrm>
            <a:off x="107950" y="981075"/>
            <a:ext cx="8856663" cy="5040313"/>
          </a:xfrm>
        </p:spPr>
        <p:txBody>
          <a:bodyPr/>
          <a:lstStyle/>
          <a:p>
            <a:pPr marL="285750" indent="-285750"/>
            <a:r>
              <a:rPr lang="zh-CN" altLang="en-US" sz="2800">
                <a:latin typeface="宋体" panose="02010600030101010101" pitchFamily="2" charset="-122"/>
                <a:ea typeface="宋体" panose="02010600030101010101" pitchFamily="2" charset="-122"/>
              </a:rPr>
              <a:t>顺序存储的线性表</a:t>
            </a:r>
            <a:endParaRPr lang="zh-CN" altLang="en-US" sz="2800">
              <a:latin typeface="宋体" panose="02010600030101010101" pitchFamily="2" charset="-122"/>
              <a:ea typeface="宋体" panose="02010600030101010101" pitchFamily="2" charset="-122"/>
            </a:endParaRPr>
          </a:p>
          <a:p>
            <a:pPr marL="862330" lvl="1"/>
            <a:r>
              <a:rPr lang="zh-CN" altLang="en-US" sz="2400">
                <a:solidFill>
                  <a:schemeClr val="tx2"/>
                </a:solidFill>
                <a:latin typeface="宋体" panose="02010600030101010101" pitchFamily="2" charset="-122"/>
                <a:ea typeface="宋体" panose="02010600030101010101" pitchFamily="2" charset="-122"/>
              </a:rPr>
              <a:t>存储地址的计算</a:t>
            </a:r>
            <a:endParaRPr lang="zh-CN" altLang="en-US" sz="2400">
              <a:solidFill>
                <a:schemeClr val="tx2"/>
              </a:solidFill>
              <a:latin typeface="宋体" panose="02010600030101010101" pitchFamily="2" charset="-122"/>
              <a:ea typeface="宋体" panose="02010600030101010101" pitchFamily="2" charset="-122"/>
            </a:endParaRPr>
          </a:p>
          <a:p>
            <a:pPr marL="862330" lvl="1">
              <a:buFontTx/>
              <a:buNone/>
            </a:pPr>
            <a:r>
              <a:rPr lang="en-US" altLang="zh-CN" sz="24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addr(ai) = addr(a1) + (i </a:t>
            </a:r>
            <a:r>
              <a:rPr lang="en-US" altLang="zh-CN" sz="2000">
                <a:latin typeface="Times New Roman" panose="02020603050405020304" pitchFamily="18" charset="0"/>
                <a:ea typeface="宋体" panose="02010600030101010101" pitchFamily="2" charset="-122"/>
              </a:rPr>
              <a:t>–</a:t>
            </a:r>
            <a:r>
              <a:rPr lang="en-US" altLang="zh-CN" sz="2000">
                <a:latin typeface="宋体" panose="02010600030101010101" pitchFamily="2" charset="-122"/>
                <a:ea typeface="宋体" panose="02010600030101010101" pitchFamily="2" charset="-122"/>
              </a:rPr>
              <a:t> 1) * element_size</a:t>
            </a:r>
            <a:endParaRPr lang="en-US" altLang="zh-CN" sz="2000">
              <a:latin typeface="宋体" panose="02010600030101010101" pitchFamily="2" charset="-122"/>
              <a:ea typeface="宋体" panose="02010600030101010101" pitchFamily="2" charset="-122"/>
            </a:endParaRPr>
          </a:p>
          <a:p>
            <a:pPr marL="862330" lvl="1">
              <a:buFontTx/>
              <a:buNone/>
            </a:pPr>
            <a:r>
              <a:rPr lang="zh-CN" altLang="en-US" sz="24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element_size</a:t>
            </a:r>
            <a:r>
              <a:rPr lang="zh-CN" altLang="en-US" sz="2400">
                <a:latin typeface="宋体" panose="02010600030101010101" pitchFamily="2" charset="-122"/>
                <a:ea typeface="宋体" panose="02010600030101010101" pitchFamily="2" charset="-122"/>
              </a:rPr>
              <a:t>是一个数据元素所占存储单元的数目</a:t>
            </a:r>
            <a:endParaRPr lang="zh-CN" altLang="en-US" sz="2400">
              <a:latin typeface="宋体" panose="02010600030101010101" pitchFamily="2" charset="-122"/>
              <a:ea typeface="宋体" panose="02010600030101010101" pitchFamily="2" charset="-122"/>
            </a:endParaRPr>
          </a:p>
          <a:p>
            <a:pPr marL="862330" lvl="1"/>
            <a:r>
              <a:rPr lang="zh-CN" altLang="en-US" sz="2400">
                <a:solidFill>
                  <a:schemeClr val="tx2"/>
                </a:solidFill>
                <a:latin typeface="宋体" panose="02010600030101010101" pitchFamily="2" charset="-122"/>
                <a:ea typeface="宋体" panose="02010600030101010101" pitchFamily="2" charset="-122"/>
              </a:rPr>
              <a:t>声明</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char s[16]</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int s[20];</a:t>
            </a:r>
            <a:endParaRPr lang="en-US" altLang="zh-CN" sz="2400">
              <a:latin typeface="宋体" panose="02010600030101010101" pitchFamily="2" charset="-122"/>
              <a:ea typeface="宋体" panose="02010600030101010101" pitchFamily="2" charset="-122"/>
            </a:endParaRPr>
          </a:p>
          <a:p>
            <a:pPr marL="1333500" lvl="2"/>
            <a:r>
              <a:rPr lang="zh-CN" altLang="en-US" sz="2000">
                <a:solidFill>
                  <a:schemeClr val="tx2"/>
                </a:solidFill>
                <a:latin typeface="宋体" panose="02010600030101010101" pitchFamily="2" charset="-122"/>
                <a:ea typeface="宋体" panose="02010600030101010101" pitchFamily="2" charset="-122"/>
              </a:rPr>
              <a:t>线性表的最大长度</a:t>
            </a:r>
            <a:r>
              <a:rPr lang="zh-CN" altLang="en-US" sz="2000">
                <a:latin typeface="宋体" panose="02010600030101010101" pitchFamily="2" charset="-122"/>
                <a:ea typeface="宋体" panose="02010600030101010101" pitchFamily="2" charset="-122"/>
              </a:rPr>
              <a:t>，线性表最多可容纳的元素个数，</a:t>
            </a:r>
            <a:r>
              <a:rPr lang="en-US" altLang="zh-CN" sz="2000">
                <a:latin typeface="宋体" panose="02010600030101010101" pitchFamily="2" charset="-122"/>
                <a:ea typeface="宋体" panose="02010600030101010101" pitchFamily="2" charset="-122"/>
              </a:rPr>
              <a:t>max_size</a:t>
            </a:r>
            <a:endParaRPr lang="en-US" altLang="zh-CN" sz="2000">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线性表的</a:t>
            </a:r>
            <a:r>
              <a:rPr lang="zh-CN" altLang="en-US" sz="2000">
                <a:solidFill>
                  <a:schemeClr val="tx2"/>
                </a:solidFill>
                <a:latin typeface="宋体" panose="02010600030101010101" pitchFamily="2" charset="-122"/>
                <a:ea typeface="宋体" panose="02010600030101010101" pitchFamily="2" charset="-122"/>
              </a:rPr>
              <a:t>正在使用的长度</a:t>
            </a:r>
            <a:r>
              <a:rPr lang="zh-CN" altLang="en-US" sz="2000">
                <a:latin typeface="宋体" panose="02010600030101010101" pitchFamily="2" charset="-122"/>
                <a:ea typeface="宋体" panose="02010600030101010101" pitchFamily="2" charset="-122"/>
              </a:rPr>
              <a:t>，有效的数据元素的个数 </a:t>
            </a:r>
            <a:r>
              <a:rPr lang="en-US" altLang="zh-CN" sz="2000">
                <a:latin typeface="宋体" panose="02010600030101010101" pitchFamily="2" charset="-122"/>
                <a:ea typeface="宋体" panose="02010600030101010101" pitchFamily="2" charset="-122"/>
              </a:rPr>
              <a:t>n</a:t>
            </a:r>
            <a:endParaRPr lang="en-US" altLang="zh-CN" sz="2000">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初始化时，</a:t>
            </a:r>
            <a:r>
              <a:rPr lang="en-US" altLang="zh-CN" sz="2000">
                <a:latin typeface="宋体" panose="02010600030101010101" pitchFamily="2" charset="-122"/>
                <a:ea typeface="宋体" panose="02010600030101010101" pitchFamily="2" charset="-122"/>
              </a:rPr>
              <a:t>n = 0</a:t>
            </a:r>
            <a:endParaRPr lang="en-US" altLang="zh-CN" sz="2000">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增加一个元素，</a:t>
            </a:r>
            <a:r>
              <a:rPr lang="en-US" altLang="zh-CN" sz="2000">
                <a:latin typeface="宋体" panose="02010600030101010101" pitchFamily="2" charset="-122"/>
                <a:ea typeface="宋体" panose="02010600030101010101" pitchFamily="2" charset="-122"/>
              </a:rPr>
              <a:t>n = n + 1</a:t>
            </a:r>
            <a:endParaRPr lang="en-US" altLang="zh-CN" sz="2000">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减少一个元素，</a:t>
            </a:r>
            <a:r>
              <a:rPr lang="en-US" altLang="zh-CN" sz="2000">
                <a:latin typeface="宋体" panose="02010600030101010101" pitchFamily="2" charset="-122"/>
                <a:ea typeface="宋体" panose="02010600030101010101" pitchFamily="2" charset="-122"/>
              </a:rPr>
              <a:t>n = n - 1</a:t>
            </a:r>
            <a:endParaRPr lang="en-US" altLang="zh-CN" sz="2000">
              <a:latin typeface="宋体" panose="02010600030101010101" pitchFamily="2" charset="-122"/>
              <a:ea typeface="宋体" panose="02010600030101010101" pitchFamily="2" charset="-122"/>
            </a:endParaRPr>
          </a:p>
        </p:txBody>
      </p:sp>
      <p:grpSp>
        <p:nvGrpSpPr>
          <p:cNvPr id="40965" name="Group 30"/>
          <p:cNvGrpSpPr/>
          <p:nvPr/>
        </p:nvGrpSpPr>
        <p:grpSpPr bwMode="auto">
          <a:xfrm>
            <a:off x="4786313" y="4071938"/>
            <a:ext cx="3743325" cy="2105025"/>
            <a:chOff x="2971" y="2886"/>
            <a:chExt cx="2358" cy="1326"/>
          </a:xfrm>
        </p:grpSpPr>
        <p:sp>
          <p:nvSpPr>
            <p:cNvPr id="40966" name="Text Box 18"/>
            <p:cNvSpPr txBox="1">
              <a:spLocks noChangeArrowheads="1"/>
            </p:cNvSpPr>
            <p:nvPr/>
          </p:nvSpPr>
          <p:spPr bwMode="auto">
            <a:xfrm>
              <a:off x="4724" y="3001"/>
              <a:ext cx="605" cy="221"/>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1"/>
                  </a:solidFill>
                  <a:latin typeface="宋体" panose="02010600030101010101" pitchFamily="2" charset="-122"/>
                </a:rPr>
                <a:t>a1</a:t>
              </a:r>
              <a:endParaRPr lang="en-US" altLang="zh-CN" sz="1600" b="0">
                <a:solidFill>
                  <a:schemeClr val="tx1"/>
                </a:solidFill>
                <a:latin typeface="宋体" panose="02010600030101010101" pitchFamily="2" charset="-122"/>
              </a:endParaRPr>
            </a:p>
          </p:txBody>
        </p:sp>
        <p:sp>
          <p:nvSpPr>
            <p:cNvPr id="40967" name="Text Box 19"/>
            <p:cNvSpPr txBox="1">
              <a:spLocks noChangeArrowheads="1"/>
            </p:cNvSpPr>
            <p:nvPr/>
          </p:nvSpPr>
          <p:spPr bwMode="auto">
            <a:xfrm>
              <a:off x="4724" y="3221"/>
              <a:ext cx="605" cy="221"/>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1"/>
                  </a:solidFill>
                  <a:latin typeface="宋体" panose="02010600030101010101" pitchFamily="2" charset="-122"/>
                </a:rPr>
                <a:t>a2</a:t>
              </a:r>
              <a:endParaRPr lang="zh-CN" altLang="en-US" sz="1600" b="0">
                <a:solidFill>
                  <a:schemeClr val="tx1"/>
                </a:solidFill>
                <a:latin typeface="宋体" panose="02010600030101010101" pitchFamily="2" charset="-122"/>
              </a:endParaRPr>
            </a:p>
          </p:txBody>
        </p:sp>
        <p:sp>
          <p:nvSpPr>
            <p:cNvPr id="40968" name="Text Box 20"/>
            <p:cNvSpPr txBox="1">
              <a:spLocks noChangeArrowheads="1"/>
            </p:cNvSpPr>
            <p:nvPr/>
          </p:nvSpPr>
          <p:spPr bwMode="auto">
            <a:xfrm>
              <a:off x="4724" y="3445"/>
              <a:ext cx="605" cy="275"/>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b="0">
                  <a:solidFill>
                    <a:schemeClr val="tx1"/>
                  </a:solidFill>
                  <a:latin typeface="Times New Roman" panose="02020603050405020304" pitchFamily="18" charset="0"/>
                </a:rPr>
                <a:t>… …</a:t>
              </a:r>
              <a:endParaRPr lang="zh-CN" altLang="en-US" sz="1600" b="0">
                <a:solidFill>
                  <a:schemeClr val="tx1"/>
                </a:solidFill>
                <a:latin typeface="Times New Roman" panose="02020603050405020304" pitchFamily="18" charset="0"/>
              </a:endParaRPr>
            </a:p>
          </p:txBody>
        </p:sp>
        <p:sp>
          <p:nvSpPr>
            <p:cNvPr id="40969" name="Text Box 21"/>
            <p:cNvSpPr txBox="1">
              <a:spLocks noChangeArrowheads="1"/>
            </p:cNvSpPr>
            <p:nvPr/>
          </p:nvSpPr>
          <p:spPr bwMode="auto">
            <a:xfrm>
              <a:off x="3943" y="2887"/>
              <a:ext cx="37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b="0">
                  <a:solidFill>
                    <a:schemeClr val="tx1"/>
                  </a:solidFill>
                  <a:latin typeface="Times New Roman" panose="02020603050405020304" pitchFamily="18" charset="0"/>
                </a:rPr>
                <a:t>地址</a:t>
              </a:r>
              <a:endParaRPr lang="en-US" altLang="zh-CN" sz="1600" b="0">
                <a:solidFill>
                  <a:schemeClr val="tx1"/>
                </a:solidFill>
                <a:latin typeface="Times New Roman" panose="02020603050405020304" pitchFamily="18" charset="0"/>
              </a:endParaRPr>
            </a:p>
          </p:txBody>
        </p:sp>
        <p:sp>
          <p:nvSpPr>
            <p:cNvPr id="40970" name="Line 22"/>
            <p:cNvSpPr>
              <a:spLocks noChangeShapeType="1"/>
            </p:cNvSpPr>
            <p:nvPr/>
          </p:nvSpPr>
          <p:spPr bwMode="auto">
            <a:xfrm flipV="1">
              <a:off x="4502" y="2994"/>
              <a:ext cx="20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71" name="Line 23"/>
            <p:cNvSpPr>
              <a:spLocks noChangeShapeType="1"/>
            </p:cNvSpPr>
            <p:nvPr/>
          </p:nvSpPr>
          <p:spPr bwMode="auto">
            <a:xfrm flipV="1">
              <a:off x="4502" y="3214"/>
              <a:ext cx="20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72" name="Text Box 24"/>
            <p:cNvSpPr txBox="1">
              <a:spLocks noChangeArrowheads="1"/>
            </p:cNvSpPr>
            <p:nvPr/>
          </p:nvSpPr>
          <p:spPr bwMode="auto">
            <a:xfrm>
              <a:off x="4724" y="3715"/>
              <a:ext cx="605" cy="221"/>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1"/>
                  </a:solidFill>
                  <a:latin typeface="宋体" panose="02010600030101010101" pitchFamily="2" charset="-122"/>
                </a:rPr>
                <a:t>ai</a:t>
              </a:r>
              <a:endParaRPr lang="zh-CN" altLang="en-US" sz="1600" b="0">
                <a:solidFill>
                  <a:schemeClr val="tx1"/>
                </a:solidFill>
                <a:latin typeface="宋体" panose="02010600030101010101" pitchFamily="2" charset="-122"/>
              </a:endParaRPr>
            </a:p>
          </p:txBody>
        </p:sp>
        <p:sp>
          <p:nvSpPr>
            <p:cNvPr id="40973" name="Text Box 25"/>
            <p:cNvSpPr txBox="1">
              <a:spLocks noChangeArrowheads="1"/>
            </p:cNvSpPr>
            <p:nvPr/>
          </p:nvSpPr>
          <p:spPr bwMode="auto">
            <a:xfrm>
              <a:off x="4724" y="3937"/>
              <a:ext cx="605" cy="275"/>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b="0">
                  <a:solidFill>
                    <a:schemeClr val="tx1"/>
                  </a:solidFill>
                  <a:latin typeface="Times New Roman" panose="02020603050405020304" pitchFamily="18" charset="0"/>
                </a:rPr>
                <a:t>… …</a:t>
              </a:r>
              <a:endParaRPr lang="zh-CN" altLang="en-US" sz="1600" b="0">
                <a:solidFill>
                  <a:schemeClr val="tx1"/>
                </a:solidFill>
                <a:latin typeface="Times New Roman" panose="02020603050405020304" pitchFamily="18" charset="0"/>
              </a:endParaRPr>
            </a:p>
          </p:txBody>
        </p:sp>
        <p:sp>
          <p:nvSpPr>
            <p:cNvPr id="40974" name="Text Box 26"/>
            <p:cNvSpPr txBox="1">
              <a:spLocks noChangeArrowheads="1"/>
            </p:cNvSpPr>
            <p:nvPr/>
          </p:nvSpPr>
          <p:spPr bwMode="auto">
            <a:xfrm>
              <a:off x="4180" y="2886"/>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en-US" altLang="zh-CN" sz="1600" b="0">
                  <a:solidFill>
                    <a:schemeClr val="tx1"/>
                  </a:solidFill>
                  <a:latin typeface="Times New Roman" panose="02020603050405020304" pitchFamily="18" charset="0"/>
                </a:rPr>
                <a:t>b</a:t>
              </a:r>
              <a:endParaRPr lang="en-US" altLang="zh-CN" sz="1600" b="0">
                <a:solidFill>
                  <a:schemeClr val="tx1"/>
                </a:solidFill>
                <a:latin typeface="Times New Roman" panose="02020603050405020304" pitchFamily="18" charset="0"/>
              </a:endParaRPr>
            </a:p>
          </p:txBody>
        </p:sp>
        <p:sp>
          <p:nvSpPr>
            <p:cNvPr id="40975" name="Text Box 27"/>
            <p:cNvSpPr txBox="1">
              <a:spLocks noChangeArrowheads="1"/>
            </p:cNvSpPr>
            <p:nvPr/>
          </p:nvSpPr>
          <p:spPr bwMode="auto">
            <a:xfrm>
              <a:off x="3450" y="3098"/>
              <a:ext cx="10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en-US" altLang="zh-CN" sz="1600" b="0">
                  <a:solidFill>
                    <a:schemeClr val="tx1"/>
                  </a:solidFill>
                  <a:latin typeface="Times New Roman" panose="02020603050405020304" pitchFamily="18" charset="0"/>
                </a:rPr>
                <a:t>b + element_size </a:t>
              </a:r>
              <a:endParaRPr lang="en-US" altLang="zh-CN" sz="1600" b="0">
                <a:solidFill>
                  <a:schemeClr val="tx1"/>
                </a:solidFill>
                <a:latin typeface="Times New Roman" panose="02020603050405020304" pitchFamily="18" charset="0"/>
              </a:endParaRPr>
            </a:p>
          </p:txBody>
        </p:sp>
        <p:sp>
          <p:nvSpPr>
            <p:cNvPr id="40976" name="Line 28"/>
            <p:cNvSpPr>
              <a:spLocks noChangeShapeType="1"/>
            </p:cNvSpPr>
            <p:nvPr/>
          </p:nvSpPr>
          <p:spPr bwMode="auto">
            <a:xfrm flipV="1">
              <a:off x="4502" y="3715"/>
              <a:ext cx="20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77" name="Text Box 29"/>
            <p:cNvSpPr txBox="1">
              <a:spLocks noChangeArrowheads="1"/>
            </p:cNvSpPr>
            <p:nvPr/>
          </p:nvSpPr>
          <p:spPr bwMode="auto">
            <a:xfrm>
              <a:off x="2971" y="3599"/>
              <a:ext cx="147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en-US" altLang="zh-CN" sz="1600" b="0">
                  <a:solidFill>
                    <a:schemeClr val="tx1"/>
                  </a:solidFill>
                  <a:latin typeface="Times New Roman" panose="02020603050405020304" pitchFamily="18" charset="0"/>
                </a:rPr>
                <a:t>b + ( i – 1) * element_size</a:t>
              </a:r>
              <a:endParaRPr lang="en-US" altLang="zh-CN" sz="1600" b="0">
                <a:solidFill>
                  <a:schemeClr val="tx1"/>
                </a:solidFill>
                <a:latin typeface="Times New Roman" panose="02020603050405020304" pitchFamily="18" charset="0"/>
              </a:endParaRPr>
            </a:p>
          </p:txBody>
        </p:sp>
      </p:gr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矩形 1"/>
          <p:cNvSpPr>
            <a:spLocks noChangeArrowheads="1"/>
          </p:cNvSpPr>
          <p:nvPr/>
        </p:nvSpPr>
        <p:spPr bwMode="auto">
          <a:xfrm>
            <a:off x="6372225" y="6119813"/>
            <a:ext cx="2879725" cy="765175"/>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8000" tIns="10800" rIns="18000" bIns="1080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43011"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A8817D1E-20C7-4728-9060-8EFDF82C23F7}"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43012"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3.2 </a:t>
            </a:r>
            <a:r>
              <a:rPr lang="zh-CN" altLang="en-US" sz="2400">
                <a:latin typeface="宋体" panose="02010600030101010101" pitchFamily="2" charset="-122"/>
                <a:ea typeface="宋体" panose="02010600030101010101" pitchFamily="2" charset="-122"/>
              </a:rPr>
              <a:t>线性表</a:t>
            </a:r>
            <a:endParaRPr lang="zh-CN" altLang="en-US" sz="2400">
              <a:latin typeface="宋体" panose="02010600030101010101" pitchFamily="2" charset="-122"/>
              <a:ea typeface="宋体" panose="02010600030101010101" pitchFamily="2" charset="-122"/>
            </a:endParaRPr>
          </a:p>
        </p:txBody>
      </p:sp>
      <p:sp>
        <p:nvSpPr>
          <p:cNvPr id="29700" name="Rectangle 3"/>
          <p:cNvSpPr>
            <a:spLocks noGrp="1" noChangeArrowheads="1"/>
          </p:cNvSpPr>
          <p:nvPr>
            <p:ph type="body" idx="1"/>
          </p:nvPr>
        </p:nvSpPr>
        <p:spPr>
          <a:xfrm>
            <a:off x="138113" y="981075"/>
            <a:ext cx="9005887" cy="5688013"/>
          </a:xfrm>
        </p:spPr>
        <p:txBody>
          <a:bodyPr>
            <a:normAutofit/>
          </a:bodyPr>
          <a:lstStyle/>
          <a:p>
            <a:pPr marL="285750" indent="-285750">
              <a:lnSpc>
                <a:spcPct val="90000"/>
              </a:lnSpc>
              <a:defRPr/>
            </a:pPr>
            <a:r>
              <a:rPr lang="zh-CN" altLang="en-US" sz="2800" dirty="0">
                <a:latin typeface="宋体" panose="02010600030101010101" pitchFamily="2" charset="-122"/>
                <a:ea typeface="宋体" panose="02010600030101010101" pitchFamily="2" charset="-122"/>
              </a:rPr>
              <a:t>顺序存储的线性表</a:t>
            </a:r>
            <a:endParaRPr lang="zh-CN" altLang="en-US" sz="2800" dirty="0">
              <a:latin typeface="宋体" panose="02010600030101010101" pitchFamily="2" charset="-122"/>
              <a:ea typeface="宋体" panose="02010600030101010101" pitchFamily="2" charset="-122"/>
            </a:endParaRPr>
          </a:p>
          <a:p>
            <a:pPr marL="862330" lvl="1">
              <a:lnSpc>
                <a:spcPct val="90000"/>
              </a:lnSpc>
              <a:defRPr/>
            </a:pPr>
            <a:r>
              <a:rPr lang="zh-CN" altLang="en-US" sz="2400" dirty="0">
                <a:latin typeface="宋体" panose="02010600030101010101" pitchFamily="2" charset="-122"/>
                <a:ea typeface="宋体" panose="02010600030101010101" pitchFamily="2" charset="-122"/>
              </a:rPr>
              <a:t>操作的实现（用伪代码</a:t>
            </a:r>
            <a:r>
              <a:rPr lang="en-US" altLang="zh-CN" sz="2400" dirty="0">
                <a:latin typeface="宋体" panose="02010600030101010101" pitchFamily="2" charset="-122"/>
                <a:ea typeface="宋体" panose="02010600030101010101" pitchFamily="2" charset="-122"/>
              </a:rPr>
              <a:t>[pseudo-code]</a:t>
            </a:r>
            <a:r>
              <a:rPr lang="zh-CN" altLang="en-US" sz="2400" dirty="0">
                <a:latin typeface="宋体" panose="02010600030101010101" pitchFamily="2" charset="-122"/>
                <a:ea typeface="宋体" panose="02010600030101010101" pitchFamily="2" charset="-122"/>
              </a:rPr>
              <a:t>来表示）</a:t>
            </a:r>
            <a:endParaRPr lang="zh-CN" altLang="en-US" sz="2400" dirty="0">
              <a:latin typeface="宋体" panose="02010600030101010101" pitchFamily="2" charset="-122"/>
              <a:ea typeface="宋体" panose="02010600030101010101" pitchFamily="2" charset="-122"/>
            </a:endParaRPr>
          </a:p>
          <a:p>
            <a:pPr marL="862330" lvl="1">
              <a:lnSpc>
                <a:spcPct val="90000"/>
              </a:lnSpc>
              <a:defRPr/>
            </a:pPr>
            <a:r>
              <a:rPr lang="zh-CN" altLang="en-US" sz="2400" dirty="0">
                <a:solidFill>
                  <a:schemeClr val="tx2"/>
                </a:solidFill>
                <a:latin typeface="宋体" panose="02010600030101010101" pitchFamily="2" charset="-122"/>
                <a:ea typeface="宋体" panose="02010600030101010101" pitchFamily="2" charset="-122"/>
              </a:rPr>
              <a:t>插入</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insert），</a:t>
            </a:r>
            <a:r>
              <a:rPr lang="zh-CN" altLang="en-US" sz="2400" dirty="0">
                <a:latin typeface="宋体" panose="02010600030101010101" pitchFamily="2" charset="-122"/>
                <a:ea typeface="宋体" panose="02010600030101010101" pitchFamily="2" charset="-122"/>
              </a:rPr>
              <a:t>按插入位置的不同可以分为：</a:t>
            </a:r>
            <a:endParaRPr lang="zh-CN" altLang="en-US" sz="2400" dirty="0">
              <a:latin typeface="宋体" panose="02010600030101010101" pitchFamily="2" charset="-122"/>
              <a:ea typeface="宋体" panose="02010600030101010101" pitchFamily="2" charset="-122"/>
            </a:endParaRPr>
          </a:p>
          <a:p>
            <a:pPr marL="1333500" lvl="2">
              <a:lnSpc>
                <a:spcPct val="90000"/>
              </a:lnSpc>
              <a:defRPr/>
            </a:pPr>
            <a:r>
              <a:rPr lang="zh-CN" altLang="en-US" dirty="0">
                <a:solidFill>
                  <a:schemeClr val="tx2"/>
                </a:solidFill>
                <a:latin typeface="宋体" panose="02010600030101010101" pitchFamily="2" charset="-122"/>
                <a:ea typeface="宋体" panose="02010600030101010101" pitchFamily="2" charset="-122"/>
              </a:rPr>
              <a:t>在结尾处插入</a:t>
            </a:r>
            <a:r>
              <a:rPr lang="zh-CN" altLang="en-US" dirty="0">
                <a:latin typeface="宋体" panose="02010600030101010101" pitchFamily="2" charset="-122"/>
                <a:ea typeface="宋体" panose="02010600030101010101" pitchFamily="2" charset="-122"/>
              </a:rPr>
              <a:t>，也称为追加（</a:t>
            </a:r>
            <a:r>
              <a:rPr lang="en-US" altLang="zh-CN" dirty="0">
                <a:latin typeface="宋体" panose="02010600030101010101" pitchFamily="2" charset="-122"/>
                <a:ea typeface="宋体" panose="02010600030101010101" pitchFamily="2" charset="-122"/>
              </a:rPr>
              <a:t>append），</a:t>
            </a:r>
            <a:r>
              <a:rPr lang="zh-CN" altLang="en-US" dirty="0">
                <a:latin typeface="宋体" panose="02010600030101010101" pitchFamily="2" charset="-122"/>
                <a:ea typeface="宋体" panose="02010600030101010101" pitchFamily="2" charset="-122"/>
              </a:rPr>
              <a:t>例如，在长度为 </a:t>
            </a:r>
            <a:r>
              <a:rPr lang="en-US" altLang="zh-CN" dirty="0">
                <a:latin typeface="宋体" panose="02010600030101010101" pitchFamily="2" charset="-122"/>
                <a:ea typeface="宋体" panose="02010600030101010101" pitchFamily="2" charset="-122"/>
              </a:rPr>
              <a:t>n </a:t>
            </a:r>
            <a:r>
              <a:rPr lang="zh-CN" altLang="en-US" dirty="0">
                <a:latin typeface="宋体" panose="02010600030101010101" pitchFamily="2" charset="-122"/>
                <a:ea typeface="宋体" panose="02010600030101010101" pitchFamily="2" charset="-122"/>
              </a:rPr>
              <a:t>的线性表 </a:t>
            </a:r>
            <a:r>
              <a:rPr lang="en-US" altLang="zh-CN" dirty="0">
                <a:latin typeface="宋体" panose="02010600030101010101" pitchFamily="2" charset="-122"/>
                <a:ea typeface="宋体" panose="02010600030101010101" pitchFamily="2" charset="-122"/>
              </a:rPr>
              <a:t>V </a:t>
            </a:r>
            <a:r>
              <a:rPr lang="zh-CN" altLang="en-US" dirty="0">
                <a:latin typeface="宋体" panose="02010600030101010101" pitchFamily="2" charset="-122"/>
                <a:ea typeface="宋体" panose="02010600030101010101" pitchFamily="2" charset="-122"/>
              </a:rPr>
              <a:t>尾部加一个元素 </a:t>
            </a:r>
            <a:r>
              <a:rPr lang="en-US" altLang="zh-CN" dirty="0">
                <a:latin typeface="宋体" panose="02010600030101010101" pitchFamily="2" charset="-122"/>
                <a:ea typeface="宋体" panose="02010600030101010101" pitchFamily="2" charset="-122"/>
              </a:rPr>
              <a:t>X</a:t>
            </a:r>
            <a:endParaRPr lang="en-US" altLang="zh-CN" dirty="0">
              <a:latin typeface="宋体" panose="02010600030101010101" pitchFamily="2" charset="-122"/>
              <a:ea typeface="宋体" panose="02010600030101010101" pitchFamily="2" charset="-122"/>
            </a:endParaRPr>
          </a:p>
          <a:p>
            <a:pPr marL="2384425" lvl="4">
              <a:lnSpc>
                <a:spcPct val="90000"/>
              </a:lnSpc>
              <a:spcBef>
                <a:spcPct val="0"/>
              </a:spcBef>
              <a:buFontTx/>
              <a:buNone/>
              <a:defRPr/>
            </a:pPr>
            <a:endParaRPr lang="en-US" altLang="zh-CN" dirty="0">
              <a:latin typeface="宋体" panose="02010600030101010101" pitchFamily="2" charset="-122"/>
              <a:ea typeface="宋体" panose="02010600030101010101" pitchFamily="2" charset="-122"/>
            </a:endParaRPr>
          </a:p>
          <a:p>
            <a:pPr marL="2384425" lvl="4">
              <a:lnSpc>
                <a:spcPct val="90000"/>
              </a:lnSpc>
              <a:spcBef>
                <a:spcPct val="0"/>
              </a:spcBef>
              <a:buFontTx/>
              <a:buNone/>
              <a:defRPr/>
            </a:pPr>
            <a:endParaRPr lang="en-US" altLang="zh-CN" dirty="0">
              <a:latin typeface="宋体" panose="02010600030101010101" pitchFamily="2" charset="-122"/>
              <a:ea typeface="宋体" panose="02010600030101010101" pitchFamily="2" charset="-122"/>
            </a:endParaRPr>
          </a:p>
          <a:p>
            <a:pPr marL="2384425" lvl="4">
              <a:lnSpc>
                <a:spcPct val="90000"/>
              </a:lnSpc>
              <a:spcBef>
                <a:spcPct val="0"/>
              </a:spcBef>
              <a:buFontTx/>
              <a:buNone/>
              <a:defRPr/>
            </a:pPr>
            <a:r>
              <a:rPr lang="en-US" altLang="zh-CN" dirty="0" err="1">
                <a:latin typeface="宋体" panose="02010600030101010101" pitchFamily="2" charset="-122"/>
                <a:ea typeface="宋体" panose="02010600030101010101" pitchFamily="2" charset="-122"/>
              </a:rPr>
              <a:t>AppendList</a:t>
            </a:r>
            <a:r>
              <a:rPr lang="en-US" altLang="zh-CN" dirty="0">
                <a:latin typeface="宋体" panose="02010600030101010101" pitchFamily="2" charset="-122"/>
                <a:ea typeface="宋体" panose="02010600030101010101" pitchFamily="2" charset="-122"/>
              </a:rPr>
              <a:t>( V, n, x )</a:t>
            </a:r>
            <a:endParaRPr lang="en-US" altLang="zh-CN" dirty="0">
              <a:latin typeface="宋体" panose="02010600030101010101" pitchFamily="2" charset="-122"/>
              <a:ea typeface="宋体" panose="02010600030101010101" pitchFamily="2" charset="-122"/>
            </a:endParaRPr>
          </a:p>
          <a:p>
            <a:pPr marL="2384425" lvl="4">
              <a:lnSpc>
                <a:spcPct val="90000"/>
              </a:lnSpc>
              <a:spcBef>
                <a:spcPct val="0"/>
              </a:spcBef>
              <a:buFontTx/>
              <a:buNone/>
              <a:defRPr/>
            </a:pPr>
            <a:r>
              <a:rPr lang="en-US" altLang="zh-CN"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marL="2384425" lvl="4">
              <a:lnSpc>
                <a:spcPct val="90000"/>
              </a:lnSpc>
              <a:spcBef>
                <a:spcPct val="0"/>
              </a:spcBef>
              <a:buFontTx/>
              <a:buNone/>
              <a:defRPr/>
            </a:pPr>
            <a:r>
              <a:rPr lang="en-US" altLang="zh-CN" dirty="0">
                <a:latin typeface="宋体" panose="02010600030101010101" pitchFamily="2" charset="-122"/>
                <a:ea typeface="宋体" panose="02010600030101010101" pitchFamily="2" charset="-122"/>
              </a:rPr>
              <a:t>   V[ </a:t>
            </a:r>
            <a:r>
              <a:rPr lang="en-US" altLang="zh-CN" dirty="0">
                <a:solidFill>
                  <a:srgbClr val="FF0000"/>
                </a:solidFill>
                <a:latin typeface="宋体" panose="02010600030101010101" pitchFamily="2" charset="-122"/>
                <a:ea typeface="宋体" panose="02010600030101010101" pitchFamily="2" charset="-122"/>
              </a:rPr>
              <a:t>n + 1</a:t>
            </a:r>
            <a:r>
              <a:rPr lang="en-US" altLang="zh-CN" dirty="0">
                <a:latin typeface="宋体" panose="02010600030101010101" pitchFamily="2" charset="-122"/>
                <a:ea typeface="宋体" panose="02010600030101010101" pitchFamily="2" charset="-122"/>
              </a:rPr>
              <a:t> ] = X</a:t>
            </a:r>
            <a:endParaRPr lang="en-US" altLang="zh-CN" dirty="0">
              <a:latin typeface="宋体" panose="02010600030101010101" pitchFamily="2" charset="-122"/>
              <a:ea typeface="宋体" panose="02010600030101010101" pitchFamily="2" charset="-122"/>
            </a:endParaRPr>
          </a:p>
          <a:p>
            <a:pPr marL="2384425" lvl="4">
              <a:lnSpc>
                <a:spcPct val="90000"/>
              </a:lnSpc>
              <a:spcBef>
                <a:spcPct val="0"/>
              </a:spcBef>
              <a:buFontTx/>
              <a:buNone/>
              <a:defRPr/>
            </a:pPr>
            <a:r>
              <a:rPr lang="en-US" altLang="zh-CN" dirty="0">
                <a:latin typeface="宋体" panose="02010600030101010101" pitchFamily="2" charset="-122"/>
                <a:ea typeface="宋体" panose="02010600030101010101" pitchFamily="2" charset="-122"/>
              </a:rPr>
              <a:t>   n = n + 1</a:t>
            </a:r>
            <a:endParaRPr lang="en-US" altLang="zh-CN" dirty="0">
              <a:latin typeface="宋体" panose="02010600030101010101" pitchFamily="2" charset="-122"/>
              <a:ea typeface="宋体" panose="02010600030101010101" pitchFamily="2" charset="-122"/>
            </a:endParaRPr>
          </a:p>
          <a:p>
            <a:pPr marL="2384425" lvl="4">
              <a:lnSpc>
                <a:spcPct val="90000"/>
              </a:lnSpc>
              <a:spcBef>
                <a:spcPct val="0"/>
              </a:spcBef>
              <a:buFontTx/>
              <a:buNone/>
              <a:defRPr/>
            </a:pPr>
            <a:r>
              <a:rPr lang="en-US" altLang="zh-CN" dirty="0">
                <a:latin typeface="宋体" panose="02010600030101010101" pitchFamily="2" charset="-122"/>
                <a:ea typeface="宋体" panose="02010600030101010101" pitchFamily="2" charset="-122"/>
              </a:rPr>
              <a:t>   </a:t>
            </a:r>
            <a:endParaRPr lang="en-US" altLang="zh-CN" dirty="0">
              <a:latin typeface="宋体" panose="02010600030101010101" pitchFamily="2" charset="-122"/>
              <a:ea typeface="宋体" panose="02010600030101010101" pitchFamily="2" charset="-122"/>
            </a:endParaRPr>
          </a:p>
          <a:p>
            <a:pPr marL="2384425" lvl="4">
              <a:lnSpc>
                <a:spcPct val="90000"/>
              </a:lnSpc>
              <a:spcBef>
                <a:spcPct val="0"/>
              </a:spcBef>
              <a:buFontTx/>
              <a:buNone/>
              <a:defRPr/>
            </a:pPr>
            <a:r>
              <a:rPr lang="en-US" altLang="zh-CN"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marL="2384425" lvl="4">
              <a:lnSpc>
                <a:spcPct val="90000"/>
              </a:lnSpc>
              <a:spcBef>
                <a:spcPct val="0"/>
              </a:spcBef>
              <a:buFontTx/>
              <a:buNone/>
              <a:defRPr/>
            </a:pPr>
            <a:endParaRPr lang="en-US" altLang="zh-CN" dirty="0">
              <a:latin typeface="宋体" panose="02010600030101010101" pitchFamily="2" charset="-122"/>
              <a:ea typeface="宋体" panose="02010600030101010101" pitchFamily="2" charset="-122"/>
            </a:endParaRPr>
          </a:p>
          <a:p>
            <a:pPr marL="2384425" lvl="4">
              <a:lnSpc>
                <a:spcPct val="90000"/>
              </a:lnSpc>
              <a:spcBef>
                <a:spcPct val="0"/>
              </a:spcBef>
              <a:buFontTx/>
              <a:buNone/>
              <a:defRPr/>
            </a:pPr>
            <a:r>
              <a:rPr lang="en-US" altLang="zh-CN" sz="1600" b="0" dirty="0">
                <a:solidFill>
                  <a:schemeClr val="tx2"/>
                </a:solidFill>
                <a:latin typeface="宋体" panose="02010600030101010101" pitchFamily="2" charset="-122"/>
                <a:ea typeface="宋体" panose="02010600030101010101" pitchFamily="2" charset="-122"/>
              </a:rPr>
              <a:t>(</a:t>
            </a:r>
            <a:r>
              <a:rPr lang="zh-CN" altLang="en-US" sz="1600" b="0" dirty="0">
                <a:solidFill>
                  <a:schemeClr val="tx2"/>
                </a:solidFill>
                <a:latin typeface="宋体" panose="02010600030101010101" pitchFamily="2" charset="-122"/>
                <a:ea typeface="宋体" panose="02010600030101010101" pitchFamily="2" charset="-122"/>
              </a:rPr>
              <a:t>如果表满插入时会出错</a:t>
            </a:r>
            <a:r>
              <a:rPr lang="en-US" altLang="zh-CN" sz="1600" b="0" dirty="0">
                <a:solidFill>
                  <a:schemeClr val="tx2"/>
                </a:solidFill>
                <a:latin typeface="宋体" panose="02010600030101010101" pitchFamily="2" charset="-122"/>
                <a:ea typeface="宋体" panose="02010600030101010101" pitchFamily="2" charset="-122"/>
              </a:rPr>
              <a:t>)</a:t>
            </a:r>
            <a:endParaRPr lang="en-US" altLang="zh-CN" sz="1600" b="0" dirty="0">
              <a:solidFill>
                <a:schemeClr val="tx2"/>
              </a:solidFill>
              <a:latin typeface="宋体" panose="02010600030101010101" pitchFamily="2" charset="-122"/>
              <a:ea typeface="宋体" panose="02010600030101010101" pitchFamily="2" charset="-122"/>
            </a:endParaRPr>
          </a:p>
          <a:p>
            <a:pPr marL="2384425" lvl="4">
              <a:lnSpc>
                <a:spcPct val="90000"/>
              </a:lnSpc>
              <a:spcBef>
                <a:spcPct val="0"/>
              </a:spcBef>
              <a:buFontTx/>
              <a:buNone/>
              <a:defRPr/>
            </a:pPr>
            <a:r>
              <a:rPr lang="en-US" altLang="zh-CN" sz="1600" b="0" dirty="0">
                <a:solidFill>
                  <a:schemeClr val="tx2"/>
                </a:solidFill>
                <a:latin typeface="宋体" panose="02010600030101010101" pitchFamily="2" charset="-122"/>
                <a:ea typeface="宋体" panose="02010600030101010101" pitchFamily="2" charset="-122"/>
              </a:rPr>
              <a:t>(</a:t>
            </a:r>
            <a:r>
              <a:rPr lang="zh-CN" altLang="en-US" sz="1600" b="0" dirty="0">
                <a:solidFill>
                  <a:schemeClr val="tx2"/>
                </a:solidFill>
                <a:latin typeface="宋体" panose="02010600030101010101" pitchFamily="2" charset="-122"/>
                <a:ea typeface="宋体" panose="02010600030101010101" pitchFamily="2" charset="-122"/>
              </a:rPr>
              <a:t>可用在非尾处插入代替）</a:t>
            </a:r>
            <a:endParaRPr lang="zh-CN" altLang="en-US" sz="1600" b="0" dirty="0">
              <a:solidFill>
                <a:schemeClr val="tx2"/>
              </a:solidFill>
              <a:latin typeface="宋体" panose="02010600030101010101" pitchFamily="2" charset="-122"/>
              <a:ea typeface="宋体" panose="02010600030101010101" pitchFamily="2" charset="-122"/>
            </a:endParaRPr>
          </a:p>
          <a:p>
            <a:pPr marL="1333500" lvl="2">
              <a:lnSpc>
                <a:spcPct val="90000"/>
              </a:lnSpc>
              <a:defRPr/>
            </a:pPr>
            <a:r>
              <a:rPr lang="zh-CN" altLang="en-US" dirty="0">
                <a:solidFill>
                  <a:schemeClr val="tx2"/>
                </a:solidFill>
                <a:latin typeface="宋体" panose="02010600030101010101" pitchFamily="2" charset="-122"/>
                <a:ea typeface="宋体" panose="02010600030101010101" pitchFamily="2" charset="-122"/>
              </a:rPr>
              <a:t>在非尾处插入</a:t>
            </a:r>
            <a:r>
              <a:rPr lang="zh-CN" altLang="en-US" dirty="0">
                <a:latin typeface="宋体" panose="02010600030101010101" pitchFamily="2" charset="-122"/>
                <a:ea typeface="宋体" panose="02010600030101010101" pitchFamily="2" charset="-122"/>
              </a:rPr>
              <a:t>，第 </a:t>
            </a:r>
            <a:r>
              <a:rPr lang="en-US" altLang="zh-CN" dirty="0" err="1">
                <a:latin typeface="宋体" panose="02010600030101010101" pitchFamily="2" charset="-122"/>
                <a:ea typeface="宋体" panose="02010600030101010101" pitchFamily="2" charset="-122"/>
              </a:rPr>
              <a:t>i</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个元素前插入一个数据元素 </a:t>
            </a:r>
            <a:r>
              <a:rPr lang="en-US" altLang="zh-CN" dirty="0">
                <a:latin typeface="宋体" panose="02010600030101010101" pitchFamily="2" charset="-122"/>
                <a:ea typeface="宋体" panose="02010600030101010101" pitchFamily="2" charset="-122"/>
              </a:rPr>
              <a:t>X，</a:t>
            </a:r>
            <a:r>
              <a:rPr lang="zh-CN" altLang="en-US" dirty="0">
                <a:latin typeface="宋体" panose="02010600030101010101" pitchFamily="2" charset="-122"/>
                <a:ea typeface="宋体" panose="02010600030101010101" pitchFamily="2" charset="-122"/>
              </a:rPr>
              <a:t>插入前，线性表的最大长度为</a:t>
            </a:r>
            <a:r>
              <a:rPr lang="en-US" altLang="zh-CN" dirty="0" err="1">
                <a:latin typeface="Times New Roman" panose="02020603050405020304" pitchFamily="18" charset="0"/>
                <a:ea typeface="+mj-ea"/>
                <a:cs typeface="Times New Roman" panose="02020603050405020304" pitchFamily="18" charset="0"/>
              </a:rPr>
              <a:t>max_size</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有效长度为 </a:t>
            </a:r>
            <a:r>
              <a:rPr lang="en-US" altLang="zh-CN" dirty="0">
                <a:latin typeface="宋体" panose="02010600030101010101" pitchFamily="2" charset="-122"/>
                <a:ea typeface="宋体" panose="02010600030101010101" pitchFamily="2" charset="-122"/>
              </a:rPr>
              <a:t>n</a:t>
            </a:r>
            <a:endParaRPr lang="en-US" altLang="zh-CN" dirty="0">
              <a:latin typeface="宋体" panose="02010600030101010101" pitchFamily="2" charset="-122"/>
              <a:ea typeface="宋体" panose="02010600030101010101" pitchFamily="2" charset="-122"/>
            </a:endParaRPr>
          </a:p>
          <a:p>
            <a:pPr marL="2384425" lvl="4">
              <a:lnSpc>
                <a:spcPct val="90000"/>
              </a:lnSpc>
              <a:spcBef>
                <a:spcPct val="0"/>
              </a:spcBef>
              <a:buFontTx/>
              <a:buNone/>
              <a:defRPr/>
            </a:pPr>
            <a:endParaRPr lang="en-US" altLang="zh-CN" dirty="0">
              <a:latin typeface="宋体" panose="02010600030101010101" pitchFamily="2" charset="-122"/>
              <a:ea typeface="宋体" panose="02010600030101010101" pitchFamily="2" charset="-122"/>
            </a:endParaRPr>
          </a:p>
        </p:txBody>
      </p:sp>
      <p:grpSp>
        <p:nvGrpSpPr>
          <p:cNvPr id="43014" name="Group 30"/>
          <p:cNvGrpSpPr/>
          <p:nvPr/>
        </p:nvGrpSpPr>
        <p:grpSpPr bwMode="auto">
          <a:xfrm>
            <a:off x="5795963" y="3179763"/>
            <a:ext cx="2817812" cy="2265362"/>
            <a:chOff x="3243" y="2496"/>
            <a:chExt cx="1775" cy="1427"/>
          </a:xfrm>
        </p:grpSpPr>
        <p:sp>
          <p:nvSpPr>
            <p:cNvPr id="43017" name="Text Box 31"/>
            <p:cNvSpPr txBox="1">
              <a:spLocks noChangeArrowheads="1"/>
            </p:cNvSpPr>
            <p:nvPr/>
          </p:nvSpPr>
          <p:spPr bwMode="auto">
            <a:xfrm>
              <a:off x="3334" y="2853"/>
              <a:ext cx="56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a1</a:t>
              </a:r>
              <a:endParaRPr lang="en-US" altLang="zh-CN" sz="1600">
                <a:solidFill>
                  <a:schemeClr val="tx1"/>
                </a:solidFill>
                <a:latin typeface="宋体" panose="02010600030101010101" pitchFamily="2" charset="-122"/>
              </a:endParaRPr>
            </a:p>
          </p:txBody>
        </p:sp>
        <p:sp>
          <p:nvSpPr>
            <p:cNvPr id="43018" name="Text Box 32"/>
            <p:cNvSpPr txBox="1">
              <a:spLocks noChangeArrowheads="1"/>
            </p:cNvSpPr>
            <p:nvPr/>
          </p:nvSpPr>
          <p:spPr bwMode="auto">
            <a:xfrm>
              <a:off x="3334" y="3031"/>
              <a:ext cx="56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a2</a:t>
              </a:r>
              <a:endParaRPr lang="zh-CN" altLang="en-US" sz="1600">
                <a:solidFill>
                  <a:schemeClr val="tx1"/>
                </a:solidFill>
                <a:latin typeface="宋体" panose="02010600030101010101" pitchFamily="2" charset="-122"/>
              </a:endParaRPr>
            </a:p>
          </p:txBody>
        </p:sp>
        <p:sp>
          <p:nvSpPr>
            <p:cNvPr id="43019" name="Text Box 33"/>
            <p:cNvSpPr txBox="1">
              <a:spLocks noChangeArrowheads="1"/>
            </p:cNvSpPr>
            <p:nvPr/>
          </p:nvSpPr>
          <p:spPr bwMode="auto">
            <a:xfrm>
              <a:off x="3334" y="3209"/>
              <a:ext cx="56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a3</a:t>
              </a:r>
              <a:endParaRPr lang="zh-CN" altLang="en-US" sz="1600">
                <a:solidFill>
                  <a:schemeClr val="tx1"/>
                </a:solidFill>
                <a:latin typeface="宋体" panose="02010600030101010101" pitchFamily="2" charset="-122"/>
              </a:endParaRPr>
            </a:p>
          </p:txBody>
        </p:sp>
        <p:sp>
          <p:nvSpPr>
            <p:cNvPr id="43020" name="Text Box 34"/>
            <p:cNvSpPr txBox="1">
              <a:spLocks noChangeArrowheads="1"/>
            </p:cNvSpPr>
            <p:nvPr/>
          </p:nvSpPr>
          <p:spPr bwMode="auto">
            <a:xfrm>
              <a:off x="3334" y="3387"/>
              <a:ext cx="56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a:solidFill>
                    <a:schemeClr val="tx1"/>
                  </a:solidFill>
                  <a:latin typeface="Times New Roman" panose="02020603050405020304" pitchFamily="18" charset="0"/>
                </a:rPr>
                <a:t>…</a:t>
              </a:r>
              <a:endParaRPr lang="zh-CN" altLang="en-US" sz="1600">
                <a:solidFill>
                  <a:schemeClr val="tx1"/>
                </a:solidFill>
                <a:latin typeface="宋体" panose="02010600030101010101" pitchFamily="2" charset="-122"/>
              </a:endParaRPr>
            </a:p>
          </p:txBody>
        </p:sp>
        <p:sp>
          <p:nvSpPr>
            <p:cNvPr id="43021" name="Text Box 35"/>
            <p:cNvSpPr txBox="1">
              <a:spLocks noChangeArrowheads="1"/>
            </p:cNvSpPr>
            <p:nvPr/>
          </p:nvSpPr>
          <p:spPr bwMode="auto">
            <a:xfrm>
              <a:off x="3334" y="3565"/>
              <a:ext cx="56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an</a:t>
              </a:r>
              <a:endParaRPr lang="zh-CN" altLang="en-US" sz="1600">
                <a:solidFill>
                  <a:schemeClr val="tx1"/>
                </a:solidFill>
                <a:latin typeface="宋体" panose="02010600030101010101" pitchFamily="2" charset="-122"/>
              </a:endParaRPr>
            </a:p>
          </p:txBody>
        </p:sp>
        <p:sp>
          <p:nvSpPr>
            <p:cNvPr id="43022" name="Text Box 36"/>
            <p:cNvSpPr txBox="1">
              <a:spLocks noChangeArrowheads="1"/>
            </p:cNvSpPr>
            <p:nvPr/>
          </p:nvSpPr>
          <p:spPr bwMode="auto">
            <a:xfrm>
              <a:off x="3243" y="2496"/>
              <a:ext cx="80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a:solidFill>
                    <a:schemeClr val="tx1"/>
                  </a:solidFill>
                  <a:latin typeface="Times New Roman" panose="02020603050405020304" pitchFamily="18" charset="0"/>
                </a:rPr>
                <a:t>插入前 </a:t>
              </a:r>
              <a:r>
                <a:rPr lang="en-US" altLang="zh-CN" sz="1600">
                  <a:solidFill>
                    <a:schemeClr val="tx1"/>
                  </a:solidFill>
                  <a:latin typeface="Times New Roman" panose="02020603050405020304" pitchFamily="18" charset="0"/>
                </a:rPr>
                <a:t>V</a:t>
              </a:r>
              <a:r>
                <a:rPr lang="zh-CN" altLang="en-US" sz="1600">
                  <a:solidFill>
                    <a:schemeClr val="tx1"/>
                  </a:solidFill>
                  <a:latin typeface="Times New Roman" panose="02020603050405020304" pitchFamily="18" charset="0"/>
                </a:rPr>
                <a:t>表</a:t>
              </a:r>
              <a:endParaRPr lang="zh-CN" altLang="en-US" sz="1600">
                <a:solidFill>
                  <a:schemeClr val="tx1"/>
                </a:solidFill>
                <a:latin typeface="Times New Roman" panose="02020603050405020304" pitchFamily="18" charset="0"/>
              </a:endParaRPr>
            </a:p>
          </p:txBody>
        </p:sp>
        <p:sp>
          <p:nvSpPr>
            <p:cNvPr id="43023" name="Text Box 37"/>
            <p:cNvSpPr txBox="1">
              <a:spLocks noChangeArrowheads="1"/>
            </p:cNvSpPr>
            <p:nvPr/>
          </p:nvSpPr>
          <p:spPr bwMode="auto">
            <a:xfrm>
              <a:off x="4318" y="2853"/>
              <a:ext cx="56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a1</a:t>
              </a:r>
              <a:endParaRPr lang="en-US" altLang="zh-CN" sz="1600">
                <a:solidFill>
                  <a:schemeClr val="tx1"/>
                </a:solidFill>
                <a:latin typeface="宋体" panose="02010600030101010101" pitchFamily="2" charset="-122"/>
              </a:endParaRPr>
            </a:p>
          </p:txBody>
        </p:sp>
        <p:sp>
          <p:nvSpPr>
            <p:cNvPr id="43024" name="Text Box 38"/>
            <p:cNvSpPr txBox="1">
              <a:spLocks noChangeArrowheads="1"/>
            </p:cNvSpPr>
            <p:nvPr/>
          </p:nvSpPr>
          <p:spPr bwMode="auto">
            <a:xfrm>
              <a:off x="4318" y="3031"/>
              <a:ext cx="56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a2</a:t>
              </a:r>
              <a:endParaRPr lang="zh-CN" altLang="en-US" sz="1600">
                <a:solidFill>
                  <a:schemeClr val="tx1"/>
                </a:solidFill>
                <a:latin typeface="宋体" panose="02010600030101010101" pitchFamily="2" charset="-122"/>
              </a:endParaRPr>
            </a:p>
          </p:txBody>
        </p:sp>
        <p:sp>
          <p:nvSpPr>
            <p:cNvPr id="43025" name="Text Box 39"/>
            <p:cNvSpPr txBox="1">
              <a:spLocks noChangeArrowheads="1"/>
            </p:cNvSpPr>
            <p:nvPr/>
          </p:nvSpPr>
          <p:spPr bwMode="auto">
            <a:xfrm>
              <a:off x="4318" y="3209"/>
              <a:ext cx="56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a3</a:t>
              </a:r>
              <a:endParaRPr lang="zh-CN" altLang="en-US" sz="1600">
                <a:solidFill>
                  <a:schemeClr val="tx1"/>
                </a:solidFill>
                <a:latin typeface="宋体" panose="02010600030101010101" pitchFamily="2" charset="-122"/>
              </a:endParaRPr>
            </a:p>
          </p:txBody>
        </p:sp>
        <p:sp>
          <p:nvSpPr>
            <p:cNvPr id="43026" name="Text Box 40"/>
            <p:cNvSpPr txBox="1">
              <a:spLocks noChangeArrowheads="1"/>
            </p:cNvSpPr>
            <p:nvPr/>
          </p:nvSpPr>
          <p:spPr bwMode="auto">
            <a:xfrm>
              <a:off x="4318" y="3387"/>
              <a:ext cx="56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a:t>
              </a:r>
              <a:endParaRPr lang="zh-CN" altLang="en-US" sz="1600">
                <a:solidFill>
                  <a:schemeClr val="tx1"/>
                </a:solidFill>
                <a:latin typeface="宋体" panose="02010600030101010101" pitchFamily="2" charset="-122"/>
              </a:endParaRPr>
            </a:p>
          </p:txBody>
        </p:sp>
        <p:sp>
          <p:nvSpPr>
            <p:cNvPr id="43027" name="Text Box 41"/>
            <p:cNvSpPr txBox="1">
              <a:spLocks noChangeArrowheads="1"/>
            </p:cNvSpPr>
            <p:nvPr/>
          </p:nvSpPr>
          <p:spPr bwMode="auto">
            <a:xfrm>
              <a:off x="4318" y="3565"/>
              <a:ext cx="56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an</a:t>
              </a:r>
              <a:endParaRPr lang="zh-CN" altLang="en-US" sz="1600">
                <a:solidFill>
                  <a:schemeClr val="tx1"/>
                </a:solidFill>
                <a:latin typeface="宋体" panose="02010600030101010101" pitchFamily="2" charset="-122"/>
              </a:endParaRPr>
            </a:p>
          </p:txBody>
        </p:sp>
        <p:sp>
          <p:nvSpPr>
            <p:cNvPr id="43028" name="Text Box 42"/>
            <p:cNvSpPr txBox="1">
              <a:spLocks noChangeArrowheads="1"/>
            </p:cNvSpPr>
            <p:nvPr/>
          </p:nvSpPr>
          <p:spPr bwMode="auto">
            <a:xfrm>
              <a:off x="4150" y="2496"/>
              <a:ext cx="8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a:solidFill>
                    <a:schemeClr val="tx1"/>
                  </a:solidFill>
                  <a:latin typeface="Times New Roman" panose="02020603050405020304" pitchFamily="18" charset="0"/>
                </a:rPr>
                <a:t>插入后 </a:t>
              </a:r>
              <a:r>
                <a:rPr lang="en-US" altLang="zh-CN" sz="1600">
                  <a:solidFill>
                    <a:schemeClr val="tx1"/>
                  </a:solidFill>
                  <a:latin typeface="Times New Roman" panose="02020603050405020304" pitchFamily="18" charset="0"/>
                </a:rPr>
                <a:t>V</a:t>
              </a:r>
              <a:r>
                <a:rPr lang="zh-CN" altLang="en-US" sz="1600">
                  <a:solidFill>
                    <a:schemeClr val="tx1"/>
                  </a:solidFill>
                  <a:latin typeface="Times New Roman" panose="02020603050405020304" pitchFamily="18" charset="0"/>
                </a:rPr>
                <a:t>表</a:t>
              </a:r>
              <a:endParaRPr lang="zh-CN" altLang="en-US" sz="1600">
                <a:solidFill>
                  <a:schemeClr val="tx1"/>
                </a:solidFill>
                <a:latin typeface="Times New Roman" panose="02020603050405020304" pitchFamily="18" charset="0"/>
              </a:endParaRPr>
            </a:p>
          </p:txBody>
        </p:sp>
        <p:sp>
          <p:nvSpPr>
            <p:cNvPr id="43029" name="Text Box 43"/>
            <p:cNvSpPr txBox="1">
              <a:spLocks noChangeArrowheads="1"/>
            </p:cNvSpPr>
            <p:nvPr/>
          </p:nvSpPr>
          <p:spPr bwMode="auto">
            <a:xfrm>
              <a:off x="4318" y="3744"/>
              <a:ext cx="567" cy="179"/>
            </a:xfrm>
            <a:prstGeom prst="rect">
              <a:avLst/>
            </a:prstGeom>
            <a:solidFill>
              <a:schemeClr val="tx2"/>
            </a:solidFill>
            <a:ln w="9525">
              <a:solidFill>
                <a:schemeClr val="bg2"/>
              </a:solidFill>
              <a:miter lim="800000"/>
            </a:ln>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latin typeface="宋体" panose="02010600030101010101" pitchFamily="2" charset="-122"/>
                </a:rPr>
                <a:t>X</a:t>
              </a:r>
              <a:endParaRPr lang="zh-CN" altLang="en-US" sz="1600">
                <a:latin typeface="宋体" panose="02010600030101010101" pitchFamily="2" charset="-122"/>
              </a:endParaRPr>
            </a:p>
          </p:txBody>
        </p:sp>
      </p:grpSp>
      <p:sp>
        <p:nvSpPr>
          <p:cNvPr id="20" name="AutoShape 31">
            <a:hlinkClick r:id="" action="ppaction://noaction">
              <a:snd r:embed="rId1" name="chimes.wav"/>
            </a:hlinkClick>
          </p:cNvPr>
          <p:cNvSpPr>
            <a:spLocks noChangeArrowheads="1"/>
          </p:cNvSpPr>
          <p:nvPr/>
        </p:nvSpPr>
        <p:spPr bwMode="auto">
          <a:xfrm>
            <a:off x="7286625" y="1571625"/>
            <a:ext cx="215900" cy="215900"/>
          </a:xfrm>
          <a:prstGeom prst="irregularSeal1">
            <a:avLst/>
          </a:prstGeom>
          <a:solidFill>
            <a:schemeClr val="accent1"/>
          </a:solidFill>
          <a:ln w="9525">
            <a:solidFill>
              <a:schemeClr val="tx1"/>
            </a:solidFill>
            <a:miter lim="800000"/>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1" name="AutoShape 32">
            <a:hlinkHover r:id="" action="ppaction://noaction" highlightClick="1"/>
          </p:cNvPr>
          <p:cNvSpPr>
            <a:spLocks noChangeArrowheads="1"/>
          </p:cNvSpPr>
          <p:nvPr/>
        </p:nvSpPr>
        <p:spPr bwMode="auto">
          <a:xfrm>
            <a:off x="-152400" y="2805113"/>
            <a:ext cx="2203450" cy="4264025"/>
          </a:xfrm>
          <a:prstGeom prst="cloudCallout">
            <a:avLst>
              <a:gd name="adj1" fmla="val 64787"/>
              <a:gd name="adj2" fmla="val -36301"/>
            </a:avLst>
          </a:prstGeom>
          <a:solidFill>
            <a:schemeClr val="accent6">
              <a:lumMod val="60000"/>
              <a:lumOff val="40000"/>
            </a:schemeClr>
          </a:solidFill>
          <a:ln w="9525">
            <a:solidFill>
              <a:schemeClr val="tx1"/>
            </a:solidFill>
            <a:round/>
          </a:ln>
        </p:spPr>
        <p:txBody>
          <a:bodyPr lIns="0" tIns="0" rIns="0" bIns="0">
            <a:spAutoFit/>
          </a:bodyPr>
          <a:lstStyle/>
          <a:p>
            <a:pPr>
              <a:defRPr/>
            </a:pPr>
            <a:r>
              <a:rPr lang="zh-CN" altLang="en-US" dirty="0"/>
              <a:t>不是编程语言，</a:t>
            </a:r>
            <a:endParaRPr lang="en-US" altLang="zh-CN" dirty="0"/>
          </a:p>
          <a:p>
            <a:pPr>
              <a:defRPr/>
            </a:pPr>
            <a:r>
              <a:rPr lang="zh-CN" altLang="en-US" dirty="0"/>
              <a:t>而是一种用于描述算法实现过程的语言，</a:t>
            </a:r>
            <a:endParaRPr lang="en-US" altLang="zh-CN" dirty="0"/>
          </a:p>
          <a:p>
            <a:pPr>
              <a:defRPr/>
            </a:pPr>
            <a:r>
              <a:rPr lang="zh-CN" altLang="en-US" dirty="0"/>
              <a:t>伪代码具有结构清晰，代码简单，可读性好，并且类似于自然语言，甚至可以使用自然语言的特点。</a:t>
            </a:r>
            <a:endParaRPr lang="en-US" altLang="zh-CN" dirty="0"/>
          </a:p>
          <a:p>
            <a:pPr>
              <a:defRPr/>
            </a:pPr>
            <a:r>
              <a:rPr lang="zh-CN" altLang="en-US" dirty="0"/>
              <a:t>伪代码描述的算法，可采用任何一种编程语言来实现。</a:t>
            </a:r>
            <a:endParaRPr lang="en-US" altLang="zh-CN" dirty="0"/>
          </a:p>
        </p:txBody>
      </p:sp>
    </p:spTree>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childTnLst>
        </p:cTn>
      </p:par>
    </p:tnLst>
    <p:bldLst>
      <p:bldP spid="21"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1592C763-7BD2-4386-9A7B-42AF5137AEFD}"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45059"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3.2 </a:t>
            </a:r>
            <a:r>
              <a:rPr lang="zh-CN" altLang="en-US" sz="2400">
                <a:latin typeface="宋体" panose="02010600030101010101" pitchFamily="2" charset="-122"/>
                <a:ea typeface="宋体" panose="02010600030101010101" pitchFamily="2" charset="-122"/>
              </a:rPr>
              <a:t>线性表</a:t>
            </a:r>
            <a:endParaRPr lang="zh-CN" altLang="en-US" sz="2400">
              <a:latin typeface="宋体" panose="02010600030101010101" pitchFamily="2" charset="-122"/>
              <a:ea typeface="宋体" panose="02010600030101010101" pitchFamily="2" charset="-122"/>
            </a:endParaRPr>
          </a:p>
        </p:txBody>
      </p:sp>
      <p:sp>
        <p:nvSpPr>
          <p:cNvPr id="45060" name="Rectangle 3"/>
          <p:cNvSpPr>
            <a:spLocks noGrp="1" noChangeArrowheads="1"/>
          </p:cNvSpPr>
          <p:nvPr>
            <p:ph type="body" idx="1"/>
          </p:nvPr>
        </p:nvSpPr>
        <p:spPr>
          <a:xfrm>
            <a:off x="34925" y="981075"/>
            <a:ext cx="6121400" cy="5876925"/>
          </a:xfrm>
        </p:spPr>
        <p:txBody>
          <a:bodyPr/>
          <a:lstStyle/>
          <a:p>
            <a:pPr marL="285750" indent="-285750">
              <a:lnSpc>
                <a:spcPct val="80000"/>
              </a:lnSpc>
            </a:pPr>
            <a:r>
              <a:rPr lang="zh-CN" altLang="en-US" sz="2800">
                <a:latin typeface="宋体" panose="02010600030101010101" pitchFamily="2" charset="-122"/>
                <a:ea typeface="宋体" panose="02010600030101010101" pitchFamily="2" charset="-122"/>
              </a:rPr>
              <a:t>在非尾处插入</a:t>
            </a:r>
            <a:endParaRPr lang="zh-CN" altLang="en-US" sz="2800">
              <a:latin typeface="宋体" panose="02010600030101010101" pitchFamily="2" charset="-122"/>
              <a:ea typeface="宋体" panose="02010600030101010101" pitchFamily="2" charset="-122"/>
            </a:endParaRPr>
          </a:p>
          <a:p>
            <a:pPr marL="862330" lvl="1">
              <a:lnSpc>
                <a:spcPct val="80000"/>
              </a:lnSpc>
              <a:buFontTx/>
              <a:buNone/>
            </a:pPr>
            <a:r>
              <a:rPr lang="en-US" altLang="zh-CN" sz="1800">
                <a:latin typeface="宋体" panose="02010600030101010101" pitchFamily="2" charset="-122"/>
                <a:ea typeface="宋体" panose="02010600030101010101" pitchFamily="2" charset="-122"/>
              </a:rPr>
              <a:t>InsertList( V, n, i, X ) </a:t>
            </a:r>
            <a:endParaRPr lang="en-US" altLang="zh-CN" sz="1800">
              <a:latin typeface="宋体" panose="02010600030101010101" pitchFamily="2" charset="-122"/>
              <a:ea typeface="宋体" panose="02010600030101010101" pitchFamily="2" charset="-122"/>
            </a:endParaRPr>
          </a:p>
          <a:p>
            <a:pPr marL="862330" lvl="1">
              <a:lnSpc>
                <a:spcPct val="80000"/>
              </a:lnSpc>
              <a:buFontTx/>
              <a:buNone/>
            </a:pP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p>
            <a:pPr marL="862330" lvl="1">
              <a:lnSpc>
                <a:spcPct val="80000"/>
              </a:lnSpc>
              <a:buFontTx/>
              <a:buNone/>
            </a:pPr>
            <a:r>
              <a:rPr lang="en-US" altLang="zh-CN" sz="1800">
                <a:latin typeface="宋体" panose="02010600030101010101" pitchFamily="2" charset="-122"/>
                <a:ea typeface="宋体" panose="02010600030101010101" pitchFamily="2" charset="-122"/>
              </a:rPr>
              <a:t>   if ( n &gt;= max_size ) { //</a:t>
            </a:r>
            <a:r>
              <a:rPr lang="zh-CN" altLang="en-US" sz="1800">
                <a:latin typeface="宋体" panose="02010600030101010101" pitchFamily="2" charset="-122"/>
                <a:ea typeface="宋体" panose="02010600030101010101" pitchFamily="2" charset="-122"/>
              </a:rPr>
              <a:t>或用函数来判断</a:t>
            </a:r>
            <a:endParaRPr lang="en-US" altLang="zh-CN" sz="1800">
              <a:latin typeface="宋体" panose="02010600030101010101" pitchFamily="2" charset="-122"/>
              <a:ea typeface="宋体" panose="02010600030101010101" pitchFamily="2" charset="-122"/>
            </a:endParaRPr>
          </a:p>
          <a:p>
            <a:pPr marL="862330" lvl="1">
              <a:lnSpc>
                <a:spcPct val="80000"/>
              </a:lnSpc>
              <a:buFontTx/>
              <a:buNone/>
            </a:pPr>
            <a:r>
              <a:rPr lang="en-US" altLang="zh-CN" sz="1800">
                <a:latin typeface="宋体" panose="02010600030101010101" pitchFamily="2" charset="-122"/>
                <a:ea typeface="宋体" panose="02010600030101010101" pitchFamily="2" charset="-122"/>
              </a:rPr>
              <a:t>        </a:t>
            </a:r>
            <a:r>
              <a:rPr lang="zh-CN" altLang="en-US" sz="1800">
                <a:latin typeface="宋体" panose="02010600030101010101" pitchFamily="2" charset="-122"/>
                <a:ea typeface="宋体" panose="02010600030101010101" pitchFamily="2" charset="-122"/>
              </a:rPr>
              <a:t>表满， </a:t>
            </a:r>
            <a:r>
              <a:rPr lang="en-US" altLang="zh-CN" sz="1800">
                <a:latin typeface="宋体" panose="02010600030101010101" pitchFamily="2" charset="-122"/>
                <a:ea typeface="宋体" panose="02010600030101010101" pitchFamily="2" charset="-122"/>
              </a:rPr>
              <a:t>return</a:t>
            </a:r>
            <a:endParaRPr lang="en-US" altLang="zh-CN" sz="1800">
              <a:latin typeface="宋体" panose="02010600030101010101" pitchFamily="2" charset="-122"/>
              <a:ea typeface="宋体" panose="02010600030101010101" pitchFamily="2" charset="-122"/>
            </a:endParaRPr>
          </a:p>
          <a:p>
            <a:pPr marL="862330" lvl="1">
              <a:lnSpc>
                <a:spcPct val="80000"/>
              </a:lnSpc>
              <a:buFontTx/>
              <a:buNone/>
            </a:pPr>
            <a:r>
              <a:rPr lang="en-US" altLang="zh-CN" sz="1800">
                <a:latin typeface="宋体" panose="02010600030101010101" pitchFamily="2" charset="-122"/>
                <a:ea typeface="宋体" panose="02010600030101010101" pitchFamily="2" charset="-122"/>
              </a:rPr>
              <a:t>   }</a:t>
            </a:r>
            <a:endParaRPr lang="en-US" altLang="zh-CN" sz="1800">
              <a:latin typeface="宋体" panose="02010600030101010101" pitchFamily="2" charset="-122"/>
              <a:ea typeface="宋体" panose="02010600030101010101" pitchFamily="2" charset="-122"/>
            </a:endParaRPr>
          </a:p>
          <a:p>
            <a:pPr marL="862330" lvl="1">
              <a:lnSpc>
                <a:spcPct val="80000"/>
              </a:lnSpc>
              <a:buFontTx/>
              <a:buNone/>
            </a:pPr>
            <a:r>
              <a:rPr lang="en-US" altLang="zh-CN" sz="1800">
                <a:latin typeface="宋体" panose="02010600030101010101" pitchFamily="2" charset="-122"/>
                <a:ea typeface="宋体" panose="02010600030101010101" pitchFamily="2" charset="-122"/>
              </a:rPr>
              <a:t>   if ( i &lt; 1 ) or ( i &gt; n + 1 ) then {</a:t>
            </a:r>
            <a:endParaRPr lang="en-US" altLang="zh-CN" sz="1800">
              <a:latin typeface="宋体" panose="02010600030101010101" pitchFamily="2" charset="-122"/>
              <a:ea typeface="宋体" panose="02010600030101010101" pitchFamily="2" charset="-122"/>
            </a:endParaRPr>
          </a:p>
          <a:p>
            <a:pPr marL="862330" lvl="1">
              <a:lnSpc>
                <a:spcPct val="80000"/>
              </a:lnSpc>
              <a:buFontTx/>
              <a:buNone/>
            </a:pPr>
            <a:r>
              <a:rPr lang="en-US" altLang="zh-CN" sz="1800">
                <a:latin typeface="宋体" panose="02010600030101010101" pitchFamily="2" charset="-122"/>
                <a:ea typeface="宋体" panose="02010600030101010101" pitchFamily="2" charset="-122"/>
              </a:rPr>
              <a:t>      </a:t>
            </a:r>
            <a:r>
              <a:rPr lang="zh-CN" altLang="en-US" sz="1800">
                <a:latin typeface="宋体" panose="02010600030101010101" pitchFamily="2" charset="-122"/>
                <a:ea typeface="宋体" panose="02010600030101010101" pitchFamily="2" charset="-122"/>
              </a:rPr>
              <a:t>参数 </a:t>
            </a:r>
            <a:r>
              <a:rPr lang="en-US" altLang="zh-CN" sz="1800">
                <a:latin typeface="宋体" panose="02010600030101010101" pitchFamily="2" charset="-122"/>
                <a:ea typeface="宋体" panose="02010600030101010101" pitchFamily="2" charset="-122"/>
              </a:rPr>
              <a:t>i </a:t>
            </a:r>
            <a:r>
              <a:rPr lang="zh-CN" altLang="en-US" sz="1800">
                <a:latin typeface="宋体" panose="02010600030101010101" pitchFamily="2" charset="-122"/>
                <a:ea typeface="宋体" panose="02010600030101010101" pitchFamily="2" charset="-122"/>
              </a:rPr>
              <a:t>错误，</a:t>
            </a:r>
            <a:r>
              <a:rPr lang="en-US" altLang="zh-CN" sz="1800">
                <a:latin typeface="宋体" panose="02010600030101010101" pitchFamily="2" charset="-122"/>
                <a:ea typeface="宋体" panose="02010600030101010101" pitchFamily="2" charset="-122"/>
              </a:rPr>
              <a:t>return </a:t>
            </a:r>
            <a:endParaRPr lang="en-US" altLang="zh-CN" sz="1800">
              <a:latin typeface="宋体" panose="02010600030101010101" pitchFamily="2" charset="-122"/>
              <a:ea typeface="宋体" panose="02010600030101010101" pitchFamily="2" charset="-122"/>
            </a:endParaRPr>
          </a:p>
          <a:p>
            <a:pPr marL="862330" lvl="1">
              <a:lnSpc>
                <a:spcPct val="80000"/>
              </a:lnSpc>
              <a:buFontTx/>
              <a:buNone/>
            </a:pPr>
            <a:r>
              <a:rPr lang="en-US" altLang="zh-CN" sz="1800">
                <a:latin typeface="宋体" panose="02010600030101010101" pitchFamily="2" charset="-122"/>
                <a:ea typeface="宋体" panose="02010600030101010101" pitchFamily="2" charset="-122"/>
              </a:rPr>
              <a:t>   }</a:t>
            </a:r>
            <a:endParaRPr lang="en-US" altLang="zh-CN" sz="1800">
              <a:latin typeface="宋体" panose="02010600030101010101" pitchFamily="2" charset="-122"/>
              <a:ea typeface="宋体" panose="02010600030101010101" pitchFamily="2" charset="-122"/>
            </a:endParaRPr>
          </a:p>
          <a:p>
            <a:pPr marL="862330" lvl="1">
              <a:lnSpc>
                <a:spcPct val="80000"/>
              </a:lnSpc>
              <a:buFontTx/>
              <a:buNone/>
            </a:pPr>
            <a:r>
              <a:rPr lang="en-US" altLang="zh-CN" sz="1800">
                <a:latin typeface="宋体" panose="02010600030101010101" pitchFamily="2" charset="-122"/>
                <a:ea typeface="宋体" panose="02010600030101010101" pitchFamily="2" charset="-122"/>
              </a:rPr>
              <a:t>   else {</a:t>
            </a:r>
            <a:endParaRPr lang="en-US" altLang="zh-CN" sz="1800">
              <a:latin typeface="宋体" panose="02010600030101010101" pitchFamily="2" charset="-122"/>
              <a:ea typeface="宋体" panose="02010600030101010101" pitchFamily="2" charset="-122"/>
            </a:endParaRPr>
          </a:p>
          <a:p>
            <a:pPr marL="862330" lvl="1">
              <a:lnSpc>
                <a:spcPct val="80000"/>
              </a:lnSpc>
              <a:buFontTx/>
              <a:buNone/>
            </a:pPr>
            <a:r>
              <a:rPr lang="en-US" altLang="zh-CN" sz="1800">
                <a:latin typeface="宋体" panose="02010600030101010101" pitchFamily="2" charset="-122"/>
                <a:ea typeface="宋体" panose="02010600030101010101" pitchFamily="2" charset="-122"/>
              </a:rPr>
              <a:t>       for j = n to i step </a:t>
            </a:r>
            <a:r>
              <a:rPr lang="en-US" altLang="zh-CN" sz="1800">
                <a:latin typeface="Times New Roman" panose="02020603050405020304" pitchFamily="18" charset="0"/>
                <a:ea typeface="宋体" panose="02010600030101010101" pitchFamily="2" charset="-122"/>
              </a:rPr>
              <a:t>–</a:t>
            </a:r>
            <a:r>
              <a:rPr lang="en-US" altLang="zh-CN" sz="1800">
                <a:latin typeface="宋体" panose="02010600030101010101" pitchFamily="2" charset="-122"/>
                <a:ea typeface="宋体" panose="02010600030101010101" pitchFamily="2" charset="-122"/>
              </a:rPr>
              <a:t>1</a:t>
            </a:r>
            <a:endParaRPr lang="en-US" altLang="zh-CN" sz="1800">
              <a:latin typeface="宋体" panose="02010600030101010101" pitchFamily="2" charset="-122"/>
              <a:ea typeface="宋体" panose="02010600030101010101" pitchFamily="2" charset="-122"/>
            </a:endParaRPr>
          </a:p>
          <a:p>
            <a:pPr marL="862330" lvl="1">
              <a:lnSpc>
                <a:spcPct val="80000"/>
              </a:lnSpc>
              <a:buFontTx/>
              <a:buNone/>
            </a:pPr>
            <a:r>
              <a:rPr lang="en-US" altLang="zh-CN" sz="1800">
                <a:latin typeface="宋体" panose="02010600030101010101" pitchFamily="2" charset="-122"/>
                <a:ea typeface="宋体" panose="02010600030101010101" pitchFamily="2" charset="-122"/>
              </a:rPr>
              <a:t>           V[j+1] ← V[j]</a:t>
            </a:r>
            <a:endParaRPr lang="en-US" altLang="zh-CN" sz="1800">
              <a:latin typeface="宋体" panose="02010600030101010101" pitchFamily="2" charset="-122"/>
              <a:ea typeface="宋体" panose="02010600030101010101" pitchFamily="2" charset="-122"/>
            </a:endParaRPr>
          </a:p>
          <a:p>
            <a:pPr marL="862330" lvl="1">
              <a:lnSpc>
                <a:spcPct val="80000"/>
              </a:lnSpc>
              <a:buFontTx/>
              <a:buNone/>
            </a:pPr>
            <a:r>
              <a:rPr lang="en-US" altLang="zh-CN" sz="1800">
                <a:latin typeface="宋体" panose="02010600030101010101" pitchFamily="2" charset="-122"/>
                <a:ea typeface="宋体" panose="02010600030101010101" pitchFamily="2" charset="-122"/>
              </a:rPr>
              <a:t>       end (j)</a:t>
            </a:r>
            <a:endParaRPr lang="en-US" altLang="zh-CN" sz="1800">
              <a:latin typeface="宋体" panose="02010600030101010101" pitchFamily="2" charset="-122"/>
              <a:ea typeface="宋体" panose="02010600030101010101" pitchFamily="2" charset="-122"/>
            </a:endParaRPr>
          </a:p>
          <a:p>
            <a:pPr marL="862330" lvl="1">
              <a:lnSpc>
                <a:spcPct val="80000"/>
              </a:lnSpc>
              <a:buFontTx/>
              <a:buNone/>
            </a:pPr>
            <a:r>
              <a:rPr lang="en-US" altLang="zh-CN" sz="1800">
                <a:latin typeface="宋体" panose="02010600030101010101" pitchFamily="2" charset="-122"/>
                <a:ea typeface="宋体" panose="02010600030101010101" pitchFamily="2" charset="-122"/>
              </a:rPr>
              <a:t>       V[i] ← X</a:t>
            </a:r>
            <a:endParaRPr lang="en-US" altLang="zh-CN" sz="1800">
              <a:latin typeface="宋体" panose="02010600030101010101" pitchFamily="2" charset="-122"/>
              <a:ea typeface="宋体" panose="02010600030101010101" pitchFamily="2" charset="-122"/>
            </a:endParaRPr>
          </a:p>
          <a:p>
            <a:pPr marL="862330" lvl="1">
              <a:lnSpc>
                <a:spcPct val="80000"/>
              </a:lnSpc>
              <a:buFontTx/>
              <a:buNone/>
            </a:pPr>
            <a:r>
              <a:rPr lang="en-US" altLang="zh-CN" sz="1800">
                <a:latin typeface="宋体" panose="02010600030101010101" pitchFamily="2" charset="-122"/>
                <a:ea typeface="宋体" panose="02010600030101010101" pitchFamily="2" charset="-122"/>
              </a:rPr>
              <a:t>       n = n + 1</a:t>
            </a:r>
            <a:endParaRPr lang="en-US" altLang="zh-CN" sz="1800">
              <a:latin typeface="宋体" panose="02010600030101010101" pitchFamily="2" charset="-122"/>
              <a:ea typeface="宋体" panose="02010600030101010101" pitchFamily="2" charset="-122"/>
            </a:endParaRPr>
          </a:p>
          <a:p>
            <a:pPr marL="862330" lvl="1">
              <a:lnSpc>
                <a:spcPct val="80000"/>
              </a:lnSpc>
              <a:buFontTx/>
              <a:buNone/>
            </a:pPr>
            <a:r>
              <a:rPr lang="en-US" altLang="zh-CN" sz="1800">
                <a:latin typeface="宋体" panose="02010600030101010101" pitchFamily="2" charset="-122"/>
                <a:ea typeface="宋体" panose="02010600030101010101" pitchFamily="2" charset="-122"/>
              </a:rPr>
              <a:t>       return</a:t>
            </a:r>
            <a:endParaRPr lang="en-US" altLang="zh-CN" sz="1800">
              <a:latin typeface="宋体" panose="02010600030101010101" pitchFamily="2" charset="-122"/>
              <a:ea typeface="宋体" panose="02010600030101010101" pitchFamily="2" charset="-122"/>
            </a:endParaRPr>
          </a:p>
          <a:p>
            <a:pPr marL="862330" lvl="1">
              <a:lnSpc>
                <a:spcPct val="80000"/>
              </a:lnSpc>
              <a:buFontTx/>
              <a:buNone/>
            </a:pPr>
            <a:r>
              <a:rPr lang="en-US" altLang="zh-CN" sz="1800">
                <a:latin typeface="宋体" panose="02010600030101010101" pitchFamily="2" charset="-122"/>
                <a:ea typeface="宋体" panose="02010600030101010101" pitchFamily="2" charset="-122"/>
              </a:rPr>
              <a:t>    }</a:t>
            </a:r>
            <a:endParaRPr lang="en-US" altLang="zh-CN" sz="1800">
              <a:latin typeface="宋体" panose="02010600030101010101" pitchFamily="2" charset="-122"/>
              <a:ea typeface="宋体" panose="02010600030101010101" pitchFamily="2" charset="-122"/>
            </a:endParaRPr>
          </a:p>
          <a:p>
            <a:pPr marL="862330" lvl="1">
              <a:lnSpc>
                <a:spcPct val="80000"/>
              </a:lnSpc>
              <a:buFontTx/>
              <a:buNone/>
            </a:pP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p>
            <a:pPr marL="862330" lvl="1">
              <a:lnSpc>
                <a:spcPct val="80000"/>
              </a:lnSpc>
              <a:buFontTx/>
              <a:buNone/>
            </a:pPr>
            <a:r>
              <a:rPr lang="zh-CN" altLang="en-US" sz="1800">
                <a:solidFill>
                  <a:schemeClr val="tx2"/>
                </a:solidFill>
                <a:latin typeface="宋体" panose="02010600030101010101" pitchFamily="2" charset="-122"/>
                <a:ea typeface="宋体" panose="02010600030101010101" pitchFamily="2" charset="-122"/>
                <a:hlinkClick r:id="rId1" action="ppaction://hlinkfile"/>
              </a:rPr>
              <a:t>参见：</a:t>
            </a:r>
            <a:r>
              <a:rPr lang="en-US" altLang="zh-CN" sz="1800">
                <a:solidFill>
                  <a:schemeClr val="tx2"/>
                </a:solidFill>
                <a:latin typeface="宋体" panose="02010600030101010101" pitchFamily="2" charset="-122"/>
                <a:ea typeface="宋体" panose="02010600030101010101" pitchFamily="2" charset="-122"/>
                <a:hlinkClick r:id="rId1" action="ppaction://hlinkfile"/>
              </a:rPr>
              <a:t>CSampleList</a:t>
            </a:r>
            <a:endParaRPr lang="en-US" altLang="zh-CN" sz="1800">
              <a:solidFill>
                <a:schemeClr val="tx2"/>
              </a:solidFill>
              <a:latin typeface="宋体" panose="02010600030101010101" pitchFamily="2" charset="-122"/>
              <a:ea typeface="宋体" panose="02010600030101010101" pitchFamily="2" charset="-122"/>
            </a:endParaRPr>
          </a:p>
          <a:p>
            <a:pPr marL="862330" lvl="1">
              <a:lnSpc>
                <a:spcPct val="80000"/>
              </a:lnSpc>
              <a:buFontTx/>
              <a:buNone/>
            </a:pPr>
            <a:r>
              <a:rPr lang="en-US" altLang="zh-CN" sz="1800">
                <a:solidFill>
                  <a:schemeClr val="tx2"/>
                </a:solidFill>
                <a:latin typeface="宋体" panose="02010600030101010101" pitchFamily="2" charset="-122"/>
                <a:ea typeface="宋体" panose="02010600030101010101" pitchFamily="2" charset="-122"/>
              </a:rPr>
              <a:t>     </a:t>
            </a:r>
            <a:r>
              <a:rPr lang="zh-CN" altLang="en-US" sz="1800">
                <a:solidFill>
                  <a:schemeClr val="tx2"/>
                </a:solidFill>
                <a:latin typeface="宋体" panose="02010600030101010101" pitchFamily="2" charset="-122"/>
                <a:ea typeface="宋体" panose="02010600030101010101" pitchFamily="2" charset="-122"/>
              </a:rPr>
              <a:t>（伪代码转化为</a:t>
            </a:r>
            <a:r>
              <a:rPr lang="en-US" altLang="zh-CN" sz="1800">
                <a:solidFill>
                  <a:schemeClr val="tx2"/>
                </a:solidFill>
                <a:latin typeface="宋体" panose="02010600030101010101" pitchFamily="2" charset="-122"/>
                <a:ea typeface="宋体" panose="02010600030101010101" pitchFamily="2" charset="-122"/>
              </a:rPr>
              <a:t>C++</a:t>
            </a:r>
            <a:r>
              <a:rPr lang="zh-CN" altLang="en-US" sz="1800">
                <a:solidFill>
                  <a:schemeClr val="tx2"/>
                </a:solidFill>
                <a:latin typeface="宋体" panose="02010600030101010101" pitchFamily="2" charset="-122"/>
                <a:ea typeface="宋体" panose="02010600030101010101" pitchFamily="2" charset="-122"/>
              </a:rPr>
              <a:t>代码）</a:t>
            </a:r>
            <a:endParaRPr lang="en-US" altLang="zh-CN" sz="1800">
              <a:solidFill>
                <a:schemeClr val="tx2"/>
              </a:solidFill>
              <a:latin typeface="宋体" panose="02010600030101010101" pitchFamily="2" charset="-122"/>
              <a:ea typeface="宋体" panose="02010600030101010101" pitchFamily="2" charset="-122"/>
            </a:endParaRPr>
          </a:p>
        </p:txBody>
      </p:sp>
      <p:grpSp>
        <p:nvGrpSpPr>
          <p:cNvPr id="45061" name="Group 25"/>
          <p:cNvGrpSpPr/>
          <p:nvPr/>
        </p:nvGrpSpPr>
        <p:grpSpPr bwMode="auto">
          <a:xfrm>
            <a:off x="5824538" y="1949450"/>
            <a:ext cx="3300412" cy="2127250"/>
            <a:chOff x="3314" y="1875"/>
            <a:chExt cx="2079" cy="1340"/>
          </a:xfrm>
        </p:grpSpPr>
        <p:sp>
          <p:nvSpPr>
            <p:cNvPr id="45063" name="Text Box 26"/>
            <p:cNvSpPr txBox="1">
              <a:spLocks noChangeArrowheads="1"/>
            </p:cNvSpPr>
            <p:nvPr/>
          </p:nvSpPr>
          <p:spPr bwMode="auto">
            <a:xfrm>
              <a:off x="4109" y="2146"/>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a1</a:t>
              </a:r>
              <a:endParaRPr lang="en-US" altLang="zh-CN" sz="1600">
                <a:solidFill>
                  <a:schemeClr val="tx1"/>
                </a:solidFill>
                <a:latin typeface="宋体" panose="02010600030101010101" pitchFamily="2" charset="-122"/>
              </a:endParaRPr>
            </a:p>
          </p:txBody>
        </p:sp>
        <p:sp>
          <p:nvSpPr>
            <p:cNvPr id="45064" name="Text Box 27"/>
            <p:cNvSpPr txBox="1">
              <a:spLocks noChangeArrowheads="1"/>
            </p:cNvSpPr>
            <p:nvPr/>
          </p:nvSpPr>
          <p:spPr bwMode="auto">
            <a:xfrm>
              <a:off x="4109" y="2324"/>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a:t>
              </a:r>
              <a:endParaRPr lang="zh-CN" altLang="en-US" sz="1600">
                <a:solidFill>
                  <a:schemeClr val="tx1"/>
                </a:solidFill>
                <a:latin typeface="宋体" panose="02010600030101010101" pitchFamily="2" charset="-122"/>
              </a:endParaRPr>
            </a:p>
          </p:txBody>
        </p:sp>
        <p:sp>
          <p:nvSpPr>
            <p:cNvPr id="45065" name="Text Box 28"/>
            <p:cNvSpPr txBox="1">
              <a:spLocks noChangeArrowheads="1"/>
            </p:cNvSpPr>
            <p:nvPr/>
          </p:nvSpPr>
          <p:spPr bwMode="auto">
            <a:xfrm>
              <a:off x="4109" y="2502"/>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ai</a:t>
              </a:r>
              <a:endParaRPr lang="zh-CN" altLang="en-US" sz="1600">
                <a:solidFill>
                  <a:schemeClr val="tx1"/>
                </a:solidFill>
                <a:latin typeface="宋体" panose="02010600030101010101" pitchFamily="2" charset="-122"/>
              </a:endParaRPr>
            </a:p>
          </p:txBody>
        </p:sp>
        <p:sp>
          <p:nvSpPr>
            <p:cNvPr id="45066" name="Text Box 29"/>
            <p:cNvSpPr txBox="1">
              <a:spLocks noChangeArrowheads="1"/>
            </p:cNvSpPr>
            <p:nvPr/>
          </p:nvSpPr>
          <p:spPr bwMode="auto">
            <a:xfrm>
              <a:off x="4109" y="2680"/>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a:t>
              </a:r>
              <a:endParaRPr lang="zh-CN" altLang="en-US" sz="1600">
                <a:solidFill>
                  <a:schemeClr val="tx1"/>
                </a:solidFill>
                <a:latin typeface="宋体" panose="02010600030101010101" pitchFamily="2" charset="-122"/>
              </a:endParaRPr>
            </a:p>
          </p:txBody>
        </p:sp>
        <p:sp>
          <p:nvSpPr>
            <p:cNvPr id="45067" name="Text Box 30"/>
            <p:cNvSpPr txBox="1">
              <a:spLocks noChangeArrowheads="1"/>
            </p:cNvSpPr>
            <p:nvPr/>
          </p:nvSpPr>
          <p:spPr bwMode="auto">
            <a:xfrm>
              <a:off x="4109" y="2858"/>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an</a:t>
              </a:r>
              <a:endParaRPr lang="zh-CN" altLang="en-US" sz="1600">
                <a:solidFill>
                  <a:schemeClr val="tx1"/>
                </a:solidFill>
                <a:latin typeface="宋体" panose="02010600030101010101" pitchFamily="2" charset="-122"/>
              </a:endParaRPr>
            </a:p>
          </p:txBody>
        </p:sp>
        <p:sp>
          <p:nvSpPr>
            <p:cNvPr id="45068" name="Text Box 31"/>
            <p:cNvSpPr txBox="1">
              <a:spLocks noChangeArrowheads="1"/>
            </p:cNvSpPr>
            <p:nvPr/>
          </p:nvSpPr>
          <p:spPr bwMode="auto">
            <a:xfrm>
              <a:off x="4123" y="1888"/>
              <a:ext cx="52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a:solidFill>
                    <a:schemeClr val="tx1"/>
                  </a:solidFill>
                  <a:latin typeface="Times New Roman" panose="02020603050405020304" pitchFamily="18" charset="0"/>
                </a:rPr>
                <a:t>插入前</a:t>
              </a:r>
              <a:endParaRPr lang="zh-CN" altLang="en-US" sz="1600">
                <a:solidFill>
                  <a:schemeClr val="tx1"/>
                </a:solidFill>
                <a:latin typeface="Times New Roman" panose="02020603050405020304" pitchFamily="18" charset="0"/>
              </a:endParaRPr>
            </a:p>
          </p:txBody>
        </p:sp>
        <p:sp>
          <p:nvSpPr>
            <p:cNvPr id="45069" name="Text Box 32"/>
            <p:cNvSpPr txBox="1">
              <a:spLocks noChangeArrowheads="1"/>
            </p:cNvSpPr>
            <p:nvPr/>
          </p:nvSpPr>
          <p:spPr bwMode="auto">
            <a:xfrm>
              <a:off x="4834" y="1875"/>
              <a:ext cx="55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a:solidFill>
                    <a:schemeClr val="tx1"/>
                  </a:solidFill>
                  <a:latin typeface="Times New Roman" panose="02020603050405020304" pitchFamily="18" charset="0"/>
                </a:rPr>
                <a:t>插入后</a:t>
              </a:r>
              <a:endParaRPr lang="zh-CN" altLang="en-US" sz="1600">
                <a:solidFill>
                  <a:schemeClr val="tx1"/>
                </a:solidFill>
                <a:latin typeface="Times New Roman" panose="02020603050405020304" pitchFamily="18" charset="0"/>
              </a:endParaRPr>
            </a:p>
          </p:txBody>
        </p:sp>
        <p:sp>
          <p:nvSpPr>
            <p:cNvPr id="45070" name="Text Box 33"/>
            <p:cNvSpPr txBox="1">
              <a:spLocks noChangeArrowheads="1"/>
            </p:cNvSpPr>
            <p:nvPr/>
          </p:nvSpPr>
          <p:spPr bwMode="auto">
            <a:xfrm>
              <a:off x="3314" y="2418"/>
              <a:ext cx="540" cy="179"/>
            </a:xfrm>
            <a:prstGeom prst="rect">
              <a:avLst/>
            </a:prstGeom>
            <a:solidFill>
              <a:schemeClr val="tx2"/>
            </a:solidFill>
            <a:ln w="9525">
              <a:solidFill>
                <a:schemeClr val="bg2"/>
              </a:solidFill>
              <a:miter lim="800000"/>
            </a:ln>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latin typeface="宋体" panose="02010600030101010101" pitchFamily="2" charset="-122"/>
                </a:rPr>
                <a:t>X</a:t>
              </a:r>
              <a:endParaRPr lang="zh-CN" altLang="en-US" sz="1600">
                <a:latin typeface="宋体" panose="02010600030101010101" pitchFamily="2" charset="-122"/>
              </a:endParaRPr>
            </a:p>
          </p:txBody>
        </p:sp>
        <p:sp>
          <p:nvSpPr>
            <p:cNvPr id="45071" name="Text Box 34"/>
            <p:cNvSpPr txBox="1">
              <a:spLocks noChangeArrowheads="1"/>
            </p:cNvSpPr>
            <p:nvPr/>
          </p:nvSpPr>
          <p:spPr bwMode="auto">
            <a:xfrm>
              <a:off x="4836" y="2134"/>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a1</a:t>
              </a:r>
              <a:endParaRPr lang="en-US" altLang="zh-CN" sz="1600">
                <a:solidFill>
                  <a:schemeClr val="tx1"/>
                </a:solidFill>
                <a:latin typeface="宋体" panose="02010600030101010101" pitchFamily="2" charset="-122"/>
              </a:endParaRPr>
            </a:p>
          </p:txBody>
        </p:sp>
        <p:sp>
          <p:nvSpPr>
            <p:cNvPr id="45072" name="Text Box 35"/>
            <p:cNvSpPr txBox="1">
              <a:spLocks noChangeArrowheads="1"/>
            </p:cNvSpPr>
            <p:nvPr/>
          </p:nvSpPr>
          <p:spPr bwMode="auto">
            <a:xfrm>
              <a:off x="4836" y="2312"/>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a:t>
              </a:r>
              <a:endParaRPr lang="zh-CN" altLang="en-US" sz="1600">
                <a:solidFill>
                  <a:schemeClr val="tx1"/>
                </a:solidFill>
                <a:latin typeface="宋体" panose="02010600030101010101" pitchFamily="2" charset="-122"/>
              </a:endParaRPr>
            </a:p>
          </p:txBody>
        </p:sp>
        <p:sp>
          <p:nvSpPr>
            <p:cNvPr id="45073" name="Text Box 36"/>
            <p:cNvSpPr txBox="1">
              <a:spLocks noChangeArrowheads="1"/>
            </p:cNvSpPr>
            <p:nvPr/>
          </p:nvSpPr>
          <p:spPr bwMode="auto">
            <a:xfrm>
              <a:off x="4836" y="2680"/>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ai</a:t>
              </a:r>
              <a:endParaRPr lang="zh-CN" altLang="en-US" sz="1600">
                <a:solidFill>
                  <a:schemeClr val="tx1"/>
                </a:solidFill>
                <a:latin typeface="宋体" panose="02010600030101010101" pitchFamily="2" charset="-122"/>
              </a:endParaRPr>
            </a:p>
          </p:txBody>
        </p:sp>
        <p:sp>
          <p:nvSpPr>
            <p:cNvPr id="45074" name="Text Box 37"/>
            <p:cNvSpPr txBox="1">
              <a:spLocks noChangeArrowheads="1"/>
            </p:cNvSpPr>
            <p:nvPr/>
          </p:nvSpPr>
          <p:spPr bwMode="auto">
            <a:xfrm>
              <a:off x="4836" y="2858"/>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a:t>
              </a:r>
              <a:endParaRPr lang="zh-CN" altLang="en-US" sz="1600">
                <a:solidFill>
                  <a:schemeClr val="tx1"/>
                </a:solidFill>
                <a:latin typeface="宋体" panose="02010600030101010101" pitchFamily="2" charset="-122"/>
              </a:endParaRPr>
            </a:p>
          </p:txBody>
        </p:sp>
        <p:sp>
          <p:nvSpPr>
            <p:cNvPr id="45075" name="Text Box 38"/>
            <p:cNvSpPr txBox="1">
              <a:spLocks noChangeArrowheads="1"/>
            </p:cNvSpPr>
            <p:nvPr/>
          </p:nvSpPr>
          <p:spPr bwMode="auto">
            <a:xfrm>
              <a:off x="4836" y="3036"/>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an</a:t>
              </a:r>
              <a:endParaRPr lang="zh-CN" altLang="en-US" sz="1600">
                <a:solidFill>
                  <a:schemeClr val="tx1"/>
                </a:solidFill>
                <a:latin typeface="宋体" panose="02010600030101010101" pitchFamily="2" charset="-122"/>
              </a:endParaRPr>
            </a:p>
          </p:txBody>
        </p:sp>
        <p:sp>
          <p:nvSpPr>
            <p:cNvPr id="45076" name="Text Box 39"/>
            <p:cNvSpPr txBox="1">
              <a:spLocks noChangeArrowheads="1"/>
            </p:cNvSpPr>
            <p:nvPr/>
          </p:nvSpPr>
          <p:spPr bwMode="auto">
            <a:xfrm>
              <a:off x="4836" y="2497"/>
              <a:ext cx="540" cy="179"/>
            </a:xfrm>
            <a:prstGeom prst="rect">
              <a:avLst/>
            </a:prstGeom>
            <a:solidFill>
              <a:schemeClr val="tx2"/>
            </a:solidFill>
            <a:ln w="9525">
              <a:solidFill>
                <a:schemeClr val="bg2"/>
              </a:solidFill>
              <a:miter lim="800000"/>
            </a:ln>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latin typeface="宋体" panose="02010600030101010101" pitchFamily="2" charset="-122"/>
                </a:rPr>
                <a:t>X</a:t>
              </a:r>
              <a:endParaRPr lang="zh-CN" altLang="en-US" sz="1600">
                <a:latin typeface="宋体" panose="02010600030101010101" pitchFamily="2" charset="-122"/>
              </a:endParaRPr>
            </a:p>
          </p:txBody>
        </p:sp>
        <p:sp>
          <p:nvSpPr>
            <p:cNvPr id="45077" name="Line 40"/>
            <p:cNvSpPr>
              <a:spLocks noChangeShapeType="1"/>
            </p:cNvSpPr>
            <p:nvPr/>
          </p:nvSpPr>
          <p:spPr bwMode="auto">
            <a:xfrm>
              <a:off x="3875" y="2507"/>
              <a:ext cx="19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5062" name="Rectangle 41"/>
          <p:cNvSpPr>
            <a:spLocks noChangeArrowheads="1"/>
          </p:cNvSpPr>
          <p:nvPr/>
        </p:nvSpPr>
        <p:spPr bwMode="auto">
          <a:xfrm>
            <a:off x="3635375" y="4357688"/>
            <a:ext cx="5508625"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b="1">
                <a:solidFill>
                  <a:schemeClr val="bg2"/>
                </a:solidFill>
                <a:latin typeface="Bookman" pitchFamily="18" charset="0"/>
              </a:defRPr>
            </a:lvl1pPr>
            <a:lvl2pPr marL="86233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lvl="1">
              <a:lnSpc>
                <a:spcPct val="80000"/>
              </a:lnSpc>
            </a:pPr>
            <a:r>
              <a:rPr lang="zh-CN" altLang="en-US" sz="2200">
                <a:solidFill>
                  <a:schemeClr val="tx1"/>
                </a:solidFill>
                <a:latin typeface="宋体" panose="02010600030101010101" pitchFamily="2" charset="-122"/>
              </a:rPr>
              <a:t>表满否</a:t>
            </a:r>
            <a:endParaRPr lang="en-US" altLang="zh-CN" sz="2200">
              <a:solidFill>
                <a:schemeClr val="tx1"/>
              </a:solidFill>
              <a:latin typeface="宋体" panose="02010600030101010101" pitchFamily="2" charset="-122"/>
            </a:endParaRPr>
          </a:p>
          <a:p>
            <a:pPr lvl="1">
              <a:lnSpc>
                <a:spcPct val="80000"/>
              </a:lnSpc>
            </a:pPr>
            <a:r>
              <a:rPr lang="zh-CN" altLang="en-US" sz="2200">
                <a:solidFill>
                  <a:schemeClr val="tx1"/>
                </a:solidFill>
                <a:latin typeface="宋体" panose="02010600030101010101" pitchFamily="2" charset="-122"/>
              </a:rPr>
              <a:t>合理的插入位置</a:t>
            </a:r>
            <a:endParaRPr lang="zh-CN" altLang="en-US" sz="2200">
              <a:solidFill>
                <a:schemeClr val="tx1"/>
              </a:solidFill>
              <a:latin typeface="宋体" panose="02010600030101010101" pitchFamily="2" charset="-122"/>
            </a:endParaRPr>
          </a:p>
          <a:p>
            <a:pPr lvl="1">
              <a:lnSpc>
                <a:spcPct val="80000"/>
              </a:lnSpc>
            </a:pPr>
            <a:r>
              <a:rPr lang="zh-CN" altLang="en-US" sz="2200">
                <a:solidFill>
                  <a:schemeClr val="tx1"/>
                </a:solidFill>
                <a:latin typeface="宋体" panose="02010600030101010101" pitchFamily="2" charset="-122"/>
              </a:rPr>
              <a:t>第 </a:t>
            </a:r>
            <a:r>
              <a:rPr lang="en-US" altLang="zh-CN" sz="2200">
                <a:solidFill>
                  <a:schemeClr val="tx1"/>
                </a:solidFill>
                <a:latin typeface="宋体" panose="02010600030101010101" pitchFamily="2" charset="-122"/>
              </a:rPr>
              <a:t>i </a:t>
            </a:r>
            <a:r>
              <a:rPr lang="zh-CN" altLang="en-US" sz="2200">
                <a:solidFill>
                  <a:schemeClr val="tx1"/>
                </a:solidFill>
                <a:latin typeface="宋体" panose="02010600030101010101" pitchFamily="2" charset="-122"/>
              </a:rPr>
              <a:t>个以后的元素（包括第 </a:t>
            </a:r>
            <a:r>
              <a:rPr lang="en-US" altLang="zh-CN" sz="2200">
                <a:solidFill>
                  <a:schemeClr val="tx1"/>
                </a:solidFill>
                <a:latin typeface="宋体" panose="02010600030101010101" pitchFamily="2" charset="-122"/>
              </a:rPr>
              <a:t>i </a:t>
            </a:r>
            <a:r>
              <a:rPr lang="zh-CN" altLang="en-US" sz="2200">
                <a:solidFill>
                  <a:schemeClr val="tx1"/>
                </a:solidFill>
                <a:latin typeface="宋体" panose="02010600030101010101" pitchFamily="2" charset="-122"/>
              </a:rPr>
              <a:t>个元素）向后窜一个元素位置</a:t>
            </a:r>
            <a:endParaRPr lang="zh-CN" altLang="en-US" sz="2200">
              <a:solidFill>
                <a:schemeClr val="tx1"/>
              </a:solidFill>
              <a:latin typeface="宋体" panose="02010600030101010101" pitchFamily="2" charset="-122"/>
            </a:endParaRPr>
          </a:p>
          <a:p>
            <a:pPr lvl="1">
              <a:lnSpc>
                <a:spcPct val="80000"/>
              </a:lnSpc>
            </a:pPr>
            <a:r>
              <a:rPr lang="zh-CN" altLang="en-US" sz="2200">
                <a:solidFill>
                  <a:schemeClr val="tx1"/>
                </a:solidFill>
                <a:latin typeface="宋体" panose="02010600030101010101" pitchFamily="2" charset="-122"/>
              </a:rPr>
              <a:t>把 </a:t>
            </a:r>
            <a:r>
              <a:rPr lang="en-US" altLang="zh-CN" sz="2200">
                <a:solidFill>
                  <a:schemeClr val="tx1"/>
                </a:solidFill>
                <a:latin typeface="宋体" panose="02010600030101010101" pitchFamily="2" charset="-122"/>
              </a:rPr>
              <a:t>X </a:t>
            </a:r>
            <a:r>
              <a:rPr lang="zh-CN" altLang="en-US" sz="2200">
                <a:solidFill>
                  <a:schemeClr val="tx1"/>
                </a:solidFill>
                <a:latin typeface="宋体" panose="02010600030101010101" pitchFamily="2" charset="-122"/>
              </a:rPr>
              <a:t>元素放在第 </a:t>
            </a:r>
            <a:r>
              <a:rPr lang="en-US" altLang="zh-CN" sz="2200">
                <a:solidFill>
                  <a:schemeClr val="tx1"/>
                </a:solidFill>
                <a:latin typeface="宋体" panose="02010600030101010101" pitchFamily="2" charset="-122"/>
              </a:rPr>
              <a:t>i </a:t>
            </a:r>
            <a:r>
              <a:rPr lang="zh-CN" altLang="en-US" sz="2200">
                <a:solidFill>
                  <a:schemeClr val="tx1"/>
                </a:solidFill>
                <a:latin typeface="宋体" panose="02010600030101010101" pitchFamily="2" charset="-122"/>
              </a:rPr>
              <a:t>个元素位置上</a:t>
            </a:r>
            <a:endParaRPr lang="zh-CN" altLang="en-US" sz="2200">
              <a:solidFill>
                <a:schemeClr val="tx1"/>
              </a:solidFill>
              <a:latin typeface="宋体" panose="02010600030101010101" pitchFamily="2" charset="-122"/>
            </a:endParaRPr>
          </a:p>
          <a:p>
            <a:pPr lvl="1">
              <a:lnSpc>
                <a:spcPct val="80000"/>
              </a:lnSpc>
            </a:pPr>
            <a:r>
              <a:rPr lang="zh-CN" altLang="en-US" sz="2200">
                <a:solidFill>
                  <a:schemeClr val="tx1"/>
                </a:solidFill>
                <a:latin typeface="宋体" panose="02010600030101010101" pitchFamily="2" charset="-122"/>
              </a:rPr>
              <a:t>线性表的有效元素个数 ＋ 1</a:t>
            </a:r>
            <a:endParaRPr lang="zh-CN" altLang="en-US" sz="2200">
              <a:solidFill>
                <a:schemeClr val="tx1"/>
              </a:solidFill>
              <a:latin typeface="宋体" panose="02010600030101010101" pitchFamily="2"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304DB8E5-C3D9-4832-983E-FC86BAEE143E}"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47107"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3.2 </a:t>
            </a:r>
            <a:r>
              <a:rPr lang="zh-CN" altLang="en-US" sz="2400">
                <a:latin typeface="宋体" panose="02010600030101010101" pitchFamily="2" charset="-122"/>
                <a:ea typeface="宋体" panose="02010600030101010101" pitchFamily="2" charset="-122"/>
              </a:rPr>
              <a:t>线性表</a:t>
            </a:r>
            <a:endParaRPr lang="zh-CN" altLang="en-US" sz="2400">
              <a:latin typeface="宋体" panose="02010600030101010101" pitchFamily="2" charset="-122"/>
              <a:ea typeface="宋体" panose="02010600030101010101" pitchFamily="2" charset="-122"/>
            </a:endParaRPr>
          </a:p>
        </p:txBody>
      </p:sp>
      <p:sp>
        <p:nvSpPr>
          <p:cNvPr id="47108" name="Rectangle 3"/>
          <p:cNvSpPr>
            <a:spLocks noGrp="1" noChangeArrowheads="1"/>
          </p:cNvSpPr>
          <p:nvPr>
            <p:ph type="body" idx="1"/>
          </p:nvPr>
        </p:nvSpPr>
        <p:spPr>
          <a:xfrm>
            <a:off x="179388" y="1054100"/>
            <a:ext cx="6035675" cy="5111750"/>
          </a:xfrm>
        </p:spPr>
        <p:txBody>
          <a:bodyPr/>
          <a:lstStyle/>
          <a:p>
            <a:pPr marL="285750" indent="-285750">
              <a:lnSpc>
                <a:spcPct val="90000"/>
              </a:lnSpc>
            </a:pPr>
            <a:r>
              <a:rPr lang="zh-CN" altLang="en-US" sz="2800">
                <a:latin typeface="宋体" panose="02010600030101010101" pitchFamily="2" charset="-122"/>
                <a:ea typeface="宋体" panose="02010600030101010101" pitchFamily="2" charset="-122"/>
              </a:rPr>
              <a:t>删除（</a:t>
            </a:r>
            <a:r>
              <a:rPr lang="en-US" altLang="zh-CN" sz="2800">
                <a:latin typeface="宋体" panose="02010600030101010101" pitchFamily="2" charset="-122"/>
                <a:ea typeface="宋体" panose="02010600030101010101" pitchFamily="2" charset="-122"/>
              </a:rPr>
              <a:t>delete）</a:t>
            </a:r>
            <a:endParaRPr lang="en-US" altLang="zh-CN" sz="2800">
              <a:latin typeface="宋体" panose="02010600030101010101" pitchFamily="2" charset="-122"/>
              <a:ea typeface="宋体" panose="02010600030101010101" pitchFamily="2" charset="-122"/>
            </a:endParaRPr>
          </a:p>
          <a:p>
            <a:pPr marL="862330" lvl="1">
              <a:lnSpc>
                <a:spcPct val="90000"/>
              </a:lnSpc>
            </a:pPr>
            <a:r>
              <a:rPr lang="zh-CN" altLang="en-US" sz="2000">
                <a:latin typeface="宋体" panose="02010600030101010101" pitchFamily="2" charset="-122"/>
                <a:ea typeface="宋体" panose="02010600030101010101" pitchFamily="2" charset="-122"/>
              </a:rPr>
              <a:t>按位置删除，把线性表的第 </a:t>
            </a:r>
            <a:r>
              <a:rPr lang="en-US" altLang="zh-CN" sz="2000">
                <a:latin typeface="宋体" panose="02010600030101010101" pitchFamily="2" charset="-122"/>
                <a:ea typeface="宋体" panose="02010600030101010101" pitchFamily="2" charset="-122"/>
              </a:rPr>
              <a:t>i </a:t>
            </a:r>
            <a:r>
              <a:rPr lang="zh-CN" altLang="en-US" sz="2000">
                <a:latin typeface="宋体" panose="02010600030101010101" pitchFamily="2" charset="-122"/>
                <a:ea typeface="宋体" panose="02010600030101010101" pitchFamily="2" charset="-122"/>
              </a:rPr>
              <a:t>个元素删除；删除前线性表的最大长度为</a:t>
            </a:r>
            <a:r>
              <a:rPr lang="en-US" altLang="zh-CN" sz="2000">
                <a:latin typeface="宋体" panose="02010600030101010101" pitchFamily="2" charset="-122"/>
                <a:ea typeface="宋体" panose="02010600030101010101" pitchFamily="2" charset="-122"/>
              </a:rPr>
              <a:t>max_size，</a:t>
            </a:r>
            <a:r>
              <a:rPr lang="zh-CN" altLang="en-US" sz="2000">
                <a:latin typeface="宋体" panose="02010600030101010101" pitchFamily="2" charset="-122"/>
                <a:ea typeface="宋体" panose="02010600030101010101" pitchFamily="2" charset="-122"/>
              </a:rPr>
              <a:t>有效长度为 </a:t>
            </a:r>
            <a:r>
              <a:rPr lang="en-US" altLang="zh-CN" sz="2000">
                <a:latin typeface="宋体" panose="02010600030101010101" pitchFamily="2" charset="-122"/>
                <a:ea typeface="宋体" panose="02010600030101010101" pitchFamily="2" charset="-122"/>
              </a:rPr>
              <a:t>n</a:t>
            </a:r>
            <a:endParaRPr lang="en-US" altLang="zh-CN" sz="2000">
              <a:latin typeface="宋体" panose="02010600030101010101" pitchFamily="2" charset="-122"/>
              <a:ea typeface="宋体" panose="02010600030101010101" pitchFamily="2" charset="-122"/>
            </a:endParaRPr>
          </a:p>
          <a:p>
            <a:pPr marL="862330" lvl="1">
              <a:lnSpc>
                <a:spcPct val="90000"/>
              </a:lnSpc>
              <a:spcBef>
                <a:spcPct val="0"/>
              </a:spcBef>
              <a:buFontTx/>
              <a:buNone/>
            </a:pPr>
            <a:r>
              <a:rPr lang="en-US" altLang="zh-CN" sz="2000">
                <a:latin typeface="宋体" panose="02010600030101010101" pitchFamily="2" charset="-122"/>
                <a:ea typeface="宋体" panose="02010600030101010101" pitchFamily="2" charset="-122"/>
              </a:rPr>
              <a:t>DeleteList( V, n, i ) </a:t>
            </a:r>
            <a:endParaRPr lang="en-US" altLang="zh-CN" sz="2000">
              <a:latin typeface="宋体" panose="02010600030101010101" pitchFamily="2" charset="-122"/>
              <a:ea typeface="宋体" panose="02010600030101010101" pitchFamily="2" charset="-122"/>
            </a:endParaRPr>
          </a:p>
          <a:p>
            <a:pPr marL="862330" lvl="1">
              <a:lnSpc>
                <a:spcPct val="90000"/>
              </a:lnSpc>
              <a:spcBef>
                <a:spcPct val="0"/>
              </a:spcBef>
              <a:buFontTx/>
              <a:buNone/>
            </a:pPr>
            <a:r>
              <a:rPr lang="en-US" altLang="zh-CN" sz="2000">
                <a:latin typeface="宋体" panose="02010600030101010101" pitchFamily="2" charset="-122"/>
                <a:ea typeface="宋体" panose="02010600030101010101" pitchFamily="2" charset="-122"/>
              </a:rPr>
              <a:t>{</a:t>
            </a:r>
            <a:endParaRPr lang="en-US" altLang="zh-CN" sz="2000">
              <a:latin typeface="宋体" panose="02010600030101010101" pitchFamily="2" charset="-122"/>
              <a:ea typeface="宋体" panose="02010600030101010101" pitchFamily="2" charset="-122"/>
            </a:endParaRPr>
          </a:p>
          <a:p>
            <a:pPr marL="862330" lvl="1">
              <a:lnSpc>
                <a:spcPct val="90000"/>
              </a:lnSpc>
              <a:spcBef>
                <a:spcPct val="0"/>
              </a:spcBef>
              <a:buFontTx/>
              <a:buNone/>
            </a:pPr>
            <a:r>
              <a:rPr lang="en-US" altLang="zh-CN" sz="2000">
                <a:latin typeface="宋体" panose="02010600030101010101" pitchFamily="2" charset="-122"/>
                <a:ea typeface="宋体" panose="02010600030101010101" pitchFamily="2" charset="-122"/>
              </a:rPr>
              <a:t>   if ( i &lt; 1 ) or ( i &gt; n ) then {</a:t>
            </a:r>
            <a:endParaRPr lang="en-US" altLang="zh-CN" sz="2000">
              <a:latin typeface="宋体" panose="02010600030101010101" pitchFamily="2" charset="-122"/>
              <a:ea typeface="宋体" panose="02010600030101010101" pitchFamily="2" charset="-122"/>
            </a:endParaRPr>
          </a:p>
          <a:p>
            <a:pPr marL="862330" lvl="1">
              <a:lnSpc>
                <a:spcPct val="90000"/>
              </a:lnSpc>
              <a:spcBef>
                <a:spcPct val="0"/>
              </a:spcBef>
              <a:buFontTx/>
              <a:buNone/>
            </a:pPr>
            <a:r>
              <a:rPr lang="en-US" altLang="zh-CN" sz="2000">
                <a:latin typeface="宋体" panose="02010600030101010101" pitchFamily="2" charset="-122"/>
                <a:ea typeface="宋体" panose="02010600030101010101" pitchFamily="2" charset="-122"/>
              </a:rPr>
              <a:t>      </a:t>
            </a:r>
            <a:r>
              <a:rPr lang="zh-CN" altLang="en-US" sz="2000">
                <a:latin typeface="宋体" panose="02010600030101010101" pitchFamily="2" charset="-122"/>
                <a:ea typeface="宋体" panose="02010600030101010101" pitchFamily="2" charset="-122"/>
              </a:rPr>
              <a:t>参数 </a:t>
            </a:r>
            <a:r>
              <a:rPr lang="en-US" altLang="zh-CN" sz="2000">
                <a:latin typeface="宋体" panose="02010600030101010101" pitchFamily="2" charset="-122"/>
                <a:ea typeface="宋体" panose="02010600030101010101" pitchFamily="2" charset="-122"/>
              </a:rPr>
              <a:t>i </a:t>
            </a:r>
            <a:r>
              <a:rPr lang="zh-CN" altLang="en-US" sz="2000">
                <a:latin typeface="宋体" panose="02010600030101010101" pitchFamily="2" charset="-122"/>
                <a:ea typeface="宋体" panose="02010600030101010101" pitchFamily="2" charset="-122"/>
              </a:rPr>
              <a:t>错误，</a:t>
            </a:r>
            <a:r>
              <a:rPr lang="en-US" altLang="zh-CN" sz="2000">
                <a:latin typeface="宋体" panose="02010600030101010101" pitchFamily="2" charset="-122"/>
                <a:ea typeface="宋体" panose="02010600030101010101" pitchFamily="2" charset="-122"/>
              </a:rPr>
              <a:t>return </a:t>
            </a:r>
            <a:endParaRPr lang="en-US" altLang="zh-CN" sz="2000">
              <a:latin typeface="宋体" panose="02010600030101010101" pitchFamily="2" charset="-122"/>
              <a:ea typeface="宋体" panose="02010600030101010101" pitchFamily="2" charset="-122"/>
            </a:endParaRPr>
          </a:p>
          <a:p>
            <a:pPr marL="862330" lvl="1">
              <a:lnSpc>
                <a:spcPct val="90000"/>
              </a:lnSpc>
              <a:spcBef>
                <a:spcPct val="0"/>
              </a:spcBef>
              <a:buFontTx/>
              <a:buNone/>
            </a:pPr>
            <a:r>
              <a:rPr lang="en-US" altLang="zh-CN" sz="2000">
                <a:latin typeface="宋体" panose="02010600030101010101" pitchFamily="2" charset="-122"/>
                <a:ea typeface="宋体" panose="02010600030101010101" pitchFamily="2" charset="-122"/>
              </a:rPr>
              <a:t>   }</a:t>
            </a:r>
            <a:endParaRPr lang="en-US" altLang="zh-CN" sz="2000">
              <a:latin typeface="宋体" panose="02010600030101010101" pitchFamily="2" charset="-122"/>
              <a:ea typeface="宋体" panose="02010600030101010101" pitchFamily="2" charset="-122"/>
            </a:endParaRPr>
          </a:p>
          <a:p>
            <a:pPr marL="862330" lvl="1">
              <a:lnSpc>
                <a:spcPct val="90000"/>
              </a:lnSpc>
              <a:spcBef>
                <a:spcPct val="0"/>
              </a:spcBef>
              <a:buFontTx/>
              <a:buNone/>
            </a:pPr>
            <a:r>
              <a:rPr lang="en-US" altLang="zh-CN" sz="2000">
                <a:latin typeface="宋体" panose="02010600030101010101" pitchFamily="2" charset="-122"/>
                <a:ea typeface="宋体" panose="02010600030101010101" pitchFamily="2" charset="-122"/>
              </a:rPr>
              <a:t>   else {</a:t>
            </a:r>
            <a:endParaRPr lang="en-US" altLang="zh-CN" sz="2000">
              <a:latin typeface="宋体" panose="02010600030101010101" pitchFamily="2" charset="-122"/>
              <a:ea typeface="宋体" panose="02010600030101010101" pitchFamily="2" charset="-122"/>
            </a:endParaRPr>
          </a:p>
          <a:p>
            <a:pPr marL="862330" lvl="1">
              <a:lnSpc>
                <a:spcPct val="90000"/>
              </a:lnSpc>
              <a:spcBef>
                <a:spcPct val="0"/>
              </a:spcBef>
              <a:buFontTx/>
              <a:buNone/>
            </a:pPr>
            <a:r>
              <a:rPr lang="en-US" altLang="zh-CN" sz="2000">
                <a:latin typeface="宋体" panose="02010600030101010101" pitchFamily="2" charset="-122"/>
                <a:ea typeface="宋体" panose="02010600030101010101" pitchFamily="2" charset="-122"/>
              </a:rPr>
              <a:t>       for j = i to n-1</a:t>
            </a:r>
            <a:endParaRPr lang="en-US" altLang="zh-CN" sz="2000">
              <a:latin typeface="宋体" panose="02010600030101010101" pitchFamily="2" charset="-122"/>
              <a:ea typeface="宋体" panose="02010600030101010101" pitchFamily="2" charset="-122"/>
            </a:endParaRPr>
          </a:p>
          <a:p>
            <a:pPr marL="862330" lvl="1">
              <a:lnSpc>
                <a:spcPct val="90000"/>
              </a:lnSpc>
              <a:spcBef>
                <a:spcPct val="0"/>
              </a:spcBef>
              <a:buFontTx/>
              <a:buNone/>
            </a:pPr>
            <a:r>
              <a:rPr lang="en-US" altLang="zh-CN" sz="2000">
                <a:latin typeface="宋体" panose="02010600030101010101" pitchFamily="2" charset="-122"/>
                <a:ea typeface="宋体" panose="02010600030101010101" pitchFamily="2" charset="-122"/>
              </a:rPr>
              <a:t>           V[j] ← V[j+1]</a:t>
            </a:r>
            <a:endParaRPr lang="en-US" altLang="zh-CN" sz="2000">
              <a:latin typeface="宋体" panose="02010600030101010101" pitchFamily="2" charset="-122"/>
              <a:ea typeface="宋体" panose="02010600030101010101" pitchFamily="2" charset="-122"/>
            </a:endParaRPr>
          </a:p>
          <a:p>
            <a:pPr marL="862330" lvl="1">
              <a:lnSpc>
                <a:spcPct val="90000"/>
              </a:lnSpc>
              <a:spcBef>
                <a:spcPct val="0"/>
              </a:spcBef>
              <a:buFontTx/>
              <a:buNone/>
            </a:pPr>
            <a:r>
              <a:rPr lang="en-US" altLang="zh-CN" sz="2000">
                <a:latin typeface="宋体" panose="02010600030101010101" pitchFamily="2" charset="-122"/>
                <a:ea typeface="宋体" panose="02010600030101010101" pitchFamily="2" charset="-122"/>
              </a:rPr>
              <a:t>       end (j)</a:t>
            </a:r>
            <a:endParaRPr lang="en-US" altLang="zh-CN" sz="2000">
              <a:latin typeface="宋体" panose="02010600030101010101" pitchFamily="2" charset="-122"/>
              <a:ea typeface="宋体" panose="02010600030101010101" pitchFamily="2" charset="-122"/>
            </a:endParaRPr>
          </a:p>
          <a:p>
            <a:pPr marL="862330" lvl="1">
              <a:lnSpc>
                <a:spcPct val="90000"/>
              </a:lnSpc>
              <a:spcBef>
                <a:spcPct val="0"/>
              </a:spcBef>
              <a:buFontTx/>
              <a:buNone/>
            </a:pPr>
            <a:r>
              <a:rPr lang="en-US" altLang="zh-CN" sz="2000">
                <a:latin typeface="宋体" panose="02010600030101010101" pitchFamily="2" charset="-122"/>
                <a:ea typeface="宋体" panose="02010600030101010101" pitchFamily="2" charset="-122"/>
              </a:rPr>
              <a:t>       n = n - 1</a:t>
            </a:r>
            <a:endParaRPr lang="en-US" altLang="zh-CN" sz="2000">
              <a:latin typeface="宋体" panose="02010600030101010101" pitchFamily="2" charset="-122"/>
              <a:ea typeface="宋体" panose="02010600030101010101" pitchFamily="2" charset="-122"/>
            </a:endParaRPr>
          </a:p>
          <a:p>
            <a:pPr marL="862330" lvl="1">
              <a:lnSpc>
                <a:spcPct val="90000"/>
              </a:lnSpc>
              <a:spcBef>
                <a:spcPct val="0"/>
              </a:spcBef>
              <a:buFontTx/>
              <a:buNone/>
            </a:pPr>
            <a:r>
              <a:rPr lang="en-US" altLang="zh-CN" sz="2000">
                <a:latin typeface="宋体" panose="02010600030101010101" pitchFamily="2" charset="-122"/>
                <a:ea typeface="宋体" panose="02010600030101010101" pitchFamily="2" charset="-122"/>
              </a:rPr>
              <a:t>       return</a:t>
            </a:r>
            <a:endParaRPr lang="en-US" altLang="zh-CN" sz="2000">
              <a:latin typeface="宋体" panose="02010600030101010101" pitchFamily="2" charset="-122"/>
              <a:ea typeface="宋体" panose="02010600030101010101" pitchFamily="2" charset="-122"/>
            </a:endParaRPr>
          </a:p>
          <a:p>
            <a:pPr marL="862330" lvl="1">
              <a:lnSpc>
                <a:spcPct val="90000"/>
              </a:lnSpc>
              <a:spcBef>
                <a:spcPct val="0"/>
              </a:spcBef>
              <a:buFontTx/>
              <a:buNone/>
            </a:pPr>
            <a:r>
              <a:rPr lang="en-US" altLang="zh-CN" sz="2000">
                <a:latin typeface="宋体" panose="02010600030101010101" pitchFamily="2" charset="-122"/>
                <a:ea typeface="宋体" panose="02010600030101010101" pitchFamily="2" charset="-122"/>
              </a:rPr>
              <a:t>    }</a:t>
            </a:r>
            <a:endParaRPr lang="en-US" altLang="zh-CN" sz="2000">
              <a:latin typeface="宋体" panose="02010600030101010101" pitchFamily="2" charset="-122"/>
              <a:ea typeface="宋体" panose="02010600030101010101" pitchFamily="2" charset="-122"/>
            </a:endParaRPr>
          </a:p>
          <a:p>
            <a:pPr marL="862330" lvl="1">
              <a:lnSpc>
                <a:spcPct val="90000"/>
              </a:lnSpc>
              <a:spcBef>
                <a:spcPct val="0"/>
              </a:spcBef>
              <a:buFontTx/>
              <a:buNone/>
            </a:pPr>
            <a:r>
              <a:rPr lang="en-US" altLang="zh-CN" sz="2000">
                <a:latin typeface="宋体" panose="02010600030101010101" pitchFamily="2" charset="-122"/>
                <a:ea typeface="宋体" panose="02010600030101010101" pitchFamily="2" charset="-122"/>
              </a:rPr>
              <a:t>}</a:t>
            </a:r>
            <a:endParaRPr lang="en-US" altLang="zh-CN" sz="2000">
              <a:latin typeface="宋体" panose="02010600030101010101" pitchFamily="2" charset="-122"/>
              <a:ea typeface="宋体" panose="02010600030101010101" pitchFamily="2" charset="-122"/>
            </a:endParaRPr>
          </a:p>
        </p:txBody>
      </p:sp>
      <p:sp>
        <p:nvSpPr>
          <p:cNvPr id="47109" name="Rectangle 40"/>
          <p:cNvSpPr>
            <a:spLocks noChangeArrowheads="1"/>
          </p:cNvSpPr>
          <p:nvPr/>
        </p:nvSpPr>
        <p:spPr bwMode="auto">
          <a:xfrm>
            <a:off x="3779838" y="4597400"/>
            <a:ext cx="5256212"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b="1">
                <a:solidFill>
                  <a:schemeClr val="bg2"/>
                </a:solidFill>
                <a:latin typeface="Bookman" pitchFamily="18" charset="0"/>
              </a:defRPr>
            </a:lvl1pPr>
            <a:lvl2pPr marL="86233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lvl="1">
              <a:lnSpc>
                <a:spcPct val="90000"/>
              </a:lnSpc>
            </a:pPr>
            <a:r>
              <a:rPr lang="zh-CN" altLang="en-US" sz="2000">
                <a:solidFill>
                  <a:schemeClr val="tx1"/>
                </a:solidFill>
                <a:latin typeface="宋体" panose="02010600030101010101" pitchFamily="2" charset="-122"/>
              </a:rPr>
              <a:t>合理的删除位置</a:t>
            </a:r>
            <a:endParaRPr lang="zh-CN" altLang="en-US" sz="2000">
              <a:solidFill>
                <a:schemeClr val="tx1"/>
              </a:solidFill>
              <a:latin typeface="宋体" panose="02010600030101010101" pitchFamily="2" charset="-122"/>
            </a:endParaRPr>
          </a:p>
          <a:p>
            <a:pPr lvl="1">
              <a:lnSpc>
                <a:spcPct val="90000"/>
              </a:lnSpc>
            </a:pPr>
            <a:r>
              <a:rPr lang="zh-CN" altLang="en-US" sz="2000">
                <a:solidFill>
                  <a:schemeClr val="tx1"/>
                </a:solidFill>
                <a:latin typeface="宋体" panose="02010600030101010101" pitchFamily="2" charset="-122"/>
              </a:rPr>
              <a:t>第 </a:t>
            </a:r>
            <a:r>
              <a:rPr lang="en-US" altLang="zh-CN" sz="2000">
                <a:solidFill>
                  <a:schemeClr val="tx1"/>
                </a:solidFill>
                <a:latin typeface="宋体" panose="02010600030101010101" pitchFamily="2" charset="-122"/>
              </a:rPr>
              <a:t>i+1 </a:t>
            </a:r>
            <a:r>
              <a:rPr lang="zh-CN" altLang="en-US" sz="2000">
                <a:solidFill>
                  <a:schemeClr val="tx1"/>
                </a:solidFill>
                <a:latin typeface="宋体" panose="02010600030101010101" pitchFamily="2" charset="-122"/>
              </a:rPr>
              <a:t>个以后的元素（包括第 </a:t>
            </a:r>
            <a:r>
              <a:rPr lang="en-US" altLang="zh-CN" sz="2000">
                <a:solidFill>
                  <a:schemeClr val="tx1"/>
                </a:solidFill>
                <a:latin typeface="宋体" panose="02010600030101010101" pitchFamily="2" charset="-122"/>
              </a:rPr>
              <a:t>i+1 </a:t>
            </a:r>
            <a:r>
              <a:rPr lang="zh-CN" altLang="en-US" sz="2000">
                <a:solidFill>
                  <a:schemeClr val="tx1"/>
                </a:solidFill>
                <a:latin typeface="宋体" panose="02010600030101010101" pitchFamily="2" charset="-122"/>
              </a:rPr>
              <a:t>个元素）向前窜一个元素位置</a:t>
            </a:r>
            <a:endParaRPr lang="zh-CN" altLang="en-US" sz="2000">
              <a:solidFill>
                <a:schemeClr val="tx1"/>
              </a:solidFill>
              <a:latin typeface="宋体" panose="02010600030101010101" pitchFamily="2" charset="-122"/>
            </a:endParaRPr>
          </a:p>
          <a:p>
            <a:pPr lvl="1">
              <a:lnSpc>
                <a:spcPct val="90000"/>
              </a:lnSpc>
            </a:pPr>
            <a:r>
              <a:rPr lang="zh-CN" altLang="en-US" sz="2000">
                <a:solidFill>
                  <a:schemeClr val="tx1"/>
                </a:solidFill>
                <a:latin typeface="宋体" panose="02010600030101010101" pitchFamily="2" charset="-122"/>
              </a:rPr>
              <a:t>第 </a:t>
            </a:r>
            <a:r>
              <a:rPr lang="en-US" altLang="zh-CN" sz="2000">
                <a:solidFill>
                  <a:schemeClr val="tx1"/>
                </a:solidFill>
                <a:latin typeface="宋体" panose="02010600030101010101" pitchFamily="2" charset="-122"/>
              </a:rPr>
              <a:t>i </a:t>
            </a:r>
            <a:r>
              <a:rPr lang="zh-CN" altLang="en-US" sz="2000">
                <a:solidFill>
                  <a:schemeClr val="tx1"/>
                </a:solidFill>
                <a:latin typeface="宋体" panose="02010600030101010101" pitchFamily="2" charset="-122"/>
              </a:rPr>
              <a:t>个元素所在的存储单元，被第 </a:t>
            </a:r>
            <a:r>
              <a:rPr lang="en-US" altLang="zh-CN" sz="2000">
                <a:solidFill>
                  <a:schemeClr val="tx1"/>
                </a:solidFill>
                <a:latin typeface="宋体" panose="02010600030101010101" pitchFamily="2" charset="-122"/>
              </a:rPr>
              <a:t>i+1 </a:t>
            </a:r>
            <a:r>
              <a:rPr lang="zh-CN" altLang="en-US" sz="2000">
                <a:solidFill>
                  <a:schemeClr val="tx1"/>
                </a:solidFill>
                <a:latin typeface="宋体" panose="02010600030101010101" pitchFamily="2" charset="-122"/>
              </a:rPr>
              <a:t>个元素占用</a:t>
            </a:r>
            <a:endParaRPr lang="zh-CN" altLang="en-US" sz="2000">
              <a:solidFill>
                <a:schemeClr val="tx1"/>
              </a:solidFill>
              <a:latin typeface="宋体" panose="02010600030101010101" pitchFamily="2" charset="-122"/>
            </a:endParaRPr>
          </a:p>
          <a:p>
            <a:pPr lvl="1">
              <a:lnSpc>
                <a:spcPct val="90000"/>
              </a:lnSpc>
            </a:pPr>
            <a:r>
              <a:rPr lang="zh-CN" altLang="en-US" sz="2000">
                <a:solidFill>
                  <a:schemeClr val="tx1"/>
                </a:solidFill>
                <a:latin typeface="宋体" panose="02010600030101010101" pitchFamily="2" charset="-122"/>
              </a:rPr>
              <a:t>线性表的有效元素个数 - 1</a:t>
            </a:r>
            <a:endParaRPr lang="zh-CN" altLang="en-US" sz="2000">
              <a:solidFill>
                <a:schemeClr val="tx1"/>
              </a:solidFill>
              <a:latin typeface="宋体" panose="02010600030101010101" pitchFamily="2" charset="-122"/>
            </a:endParaRPr>
          </a:p>
        </p:txBody>
      </p:sp>
      <p:grpSp>
        <p:nvGrpSpPr>
          <p:cNvPr id="47110" name="组合 23"/>
          <p:cNvGrpSpPr/>
          <p:nvPr/>
        </p:nvGrpSpPr>
        <p:grpSpPr bwMode="auto">
          <a:xfrm>
            <a:off x="5724525" y="1857375"/>
            <a:ext cx="3155950" cy="2378075"/>
            <a:chOff x="5724525" y="2133605"/>
            <a:chExt cx="3155950" cy="2378765"/>
          </a:xfrm>
        </p:grpSpPr>
        <p:grpSp>
          <p:nvGrpSpPr>
            <p:cNvPr id="47111" name="Group 41"/>
            <p:cNvGrpSpPr/>
            <p:nvPr/>
          </p:nvGrpSpPr>
          <p:grpSpPr bwMode="auto">
            <a:xfrm>
              <a:off x="5724525" y="2133605"/>
              <a:ext cx="3155950" cy="2090738"/>
              <a:chOff x="975" y="1542"/>
              <a:chExt cx="1988" cy="1317"/>
            </a:xfrm>
          </p:grpSpPr>
          <p:sp>
            <p:nvSpPr>
              <p:cNvPr id="47114" name="Text Box 42"/>
              <p:cNvSpPr txBox="1">
                <a:spLocks noChangeArrowheads="1"/>
              </p:cNvSpPr>
              <p:nvPr/>
            </p:nvSpPr>
            <p:spPr bwMode="auto">
              <a:xfrm>
                <a:off x="1565" y="1542"/>
                <a:ext cx="6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a:solidFill>
                      <a:schemeClr val="tx1"/>
                    </a:solidFill>
                    <a:latin typeface="Times New Roman" panose="02020603050405020304" pitchFamily="18" charset="0"/>
                  </a:rPr>
                  <a:t>删除前</a:t>
                </a:r>
                <a:endParaRPr lang="zh-CN" altLang="en-US" sz="1600">
                  <a:solidFill>
                    <a:schemeClr val="tx1"/>
                  </a:solidFill>
                  <a:latin typeface="Times New Roman" panose="02020603050405020304" pitchFamily="18" charset="0"/>
                </a:endParaRPr>
              </a:p>
            </p:txBody>
          </p:sp>
          <p:sp>
            <p:nvSpPr>
              <p:cNvPr id="47115" name="Text Box 43"/>
              <p:cNvSpPr txBox="1">
                <a:spLocks noChangeArrowheads="1"/>
              </p:cNvSpPr>
              <p:nvPr/>
            </p:nvSpPr>
            <p:spPr bwMode="auto">
              <a:xfrm>
                <a:off x="1595" y="1791"/>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a1</a:t>
                </a:r>
                <a:endParaRPr lang="en-US" altLang="zh-CN" sz="1600">
                  <a:solidFill>
                    <a:schemeClr val="tx1"/>
                  </a:solidFill>
                  <a:latin typeface="宋体" panose="02010600030101010101" pitchFamily="2" charset="-122"/>
                </a:endParaRPr>
              </a:p>
            </p:txBody>
          </p:sp>
          <p:sp>
            <p:nvSpPr>
              <p:cNvPr id="47116" name="Text Box 44"/>
              <p:cNvSpPr txBox="1">
                <a:spLocks noChangeArrowheads="1"/>
              </p:cNvSpPr>
              <p:nvPr/>
            </p:nvSpPr>
            <p:spPr bwMode="auto">
              <a:xfrm>
                <a:off x="1595" y="1969"/>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a:t>
                </a:r>
                <a:endParaRPr lang="zh-CN" altLang="en-US" sz="1600">
                  <a:solidFill>
                    <a:schemeClr val="tx1"/>
                  </a:solidFill>
                  <a:latin typeface="宋体" panose="02010600030101010101" pitchFamily="2" charset="-122"/>
                </a:endParaRPr>
              </a:p>
            </p:txBody>
          </p:sp>
          <p:sp>
            <p:nvSpPr>
              <p:cNvPr id="47117" name="Text Box 45"/>
              <p:cNvSpPr txBox="1">
                <a:spLocks noChangeArrowheads="1"/>
              </p:cNvSpPr>
              <p:nvPr/>
            </p:nvSpPr>
            <p:spPr bwMode="auto">
              <a:xfrm>
                <a:off x="1595" y="2147"/>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ai-1</a:t>
                </a:r>
                <a:endParaRPr lang="zh-CN" altLang="en-US" sz="1600">
                  <a:solidFill>
                    <a:schemeClr val="tx1"/>
                  </a:solidFill>
                  <a:latin typeface="宋体" panose="02010600030101010101" pitchFamily="2" charset="-122"/>
                </a:endParaRPr>
              </a:p>
            </p:txBody>
          </p:sp>
          <p:sp>
            <p:nvSpPr>
              <p:cNvPr id="47118" name="Text Box 46"/>
              <p:cNvSpPr txBox="1">
                <a:spLocks noChangeArrowheads="1"/>
              </p:cNvSpPr>
              <p:nvPr/>
            </p:nvSpPr>
            <p:spPr bwMode="auto">
              <a:xfrm>
                <a:off x="1595" y="2325"/>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ai</a:t>
                </a:r>
                <a:endParaRPr lang="zh-CN" altLang="en-US" sz="1600">
                  <a:solidFill>
                    <a:schemeClr val="tx1"/>
                  </a:solidFill>
                  <a:latin typeface="宋体" panose="02010600030101010101" pitchFamily="2" charset="-122"/>
                </a:endParaRPr>
              </a:p>
            </p:txBody>
          </p:sp>
          <p:sp>
            <p:nvSpPr>
              <p:cNvPr id="47119" name="Text Box 47"/>
              <p:cNvSpPr txBox="1">
                <a:spLocks noChangeArrowheads="1"/>
              </p:cNvSpPr>
              <p:nvPr/>
            </p:nvSpPr>
            <p:spPr bwMode="auto">
              <a:xfrm>
                <a:off x="1595" y="2503"/>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ai+1</a:t>
                </a:r>
                <a:endParaRPr lang="zh-CN" altLang="en-US" sz="1600">
                  <a:solidFill>
                    <a:schemeClr val="tx1"/>
                  </a:solidFill>
                  <a:latin typeface="宋体" panose="02010600030101010101" pitchFamily="2" charset="-122"/>
                </a:endParaRPr>
              </a:p>
            </p:txBody>
          </p:sp>
          <p:sp>
            <p:nvSpPr>
              <p:cNvPr id="47120" name="Text Box 48"/>
              <p:cNvSpPr txBox="1">
                <a:spLocks noChangeArrowheads="1"/>
              </p:cNvSpPr>
              <p:nvPr/>
            </p:nvSpPr>
            <p:spPr bwMode="auto">
              <a:xfrm>
                <a:off x="2413" y="1542"/>
                <a:ext cx="52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a:solidFill>
                      <a:schemeClr val="tx1"/>
                    </a:solidFill>
                    <a:latin typeface="Times New Roman" panose="02020603050405020304" pitchFamily="18" charset="0"/>
                  </a:rPr>
                  <a:t>删除后</a:t>
                </a:r>
                <a:endParaRPr lang="zh-CN" altLang="en-US" sz="1600">
                  <a:solidFill>
                    <a:schemeClr val="tx1"/>
                  </a:solidFill>
                  <a:latin typeface="Times New Roman" panose="02020603050405020304" pitchFamily="18" charset="0"/>
                </a:endParaRPr>
              </a:p>
            </p:txBody>
          </p:sp>
          <p:sp>
            <p:nvSpPr>
              <p:cNvPr id="47121" name="Text Box 49"/>
              <p:cNvSpPr txBox="1">
                <a:spLocks noChangeArrowheads="1"/>
              </p:cNvSpPr>
              <p:nvPr/>
            </p:nvSpPr>
            <p:spPr bwMode="auto">
              <a:xfrm>
                <a:off x="975" y="2314"/>
                <a:ext cx="540"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zh-CN" altLang="en-US" sz="1600">
                    <a:solidFill>
                      <a:schemeClr val="tx2"/>
                    </a:solidFill>
                    <a:latin typeface="宋体" panose="02010600030101010101" pitchFamily="2" charset="-122"/>
                  </a:rPr>
                  <a:t>删除 -&gt;</a:t>
                </a:r>
                <a:endParaRPr lang="zh-CN" altLang="en-US" sz="1600">
                  <a:solidFill>
                    <a:schemeClr val="tx2"/>
                  </a:solidFill>
                  <a:latin typeface="宋体" panose="02010600030101010101" pitchFamily="2" charset="-122"/>
                </a:endParaRPr>
              </a:p>
            </p:txBody>
          </p:sp>
          <p:sp>
            <p:nvSpPr>
              <p:cNvPr id="47122" name="Text Box 50"/>
              <p:cNvSpPr txBox="1">
                <a:spLocks noChangeArrowheads="1"/>
              </p:cNvSpPr>
              <p:nvPr/>
            </p:nvSpPr>
            <p:spPr bwMode="auto">
              <a:xfrm>
                <a:off x="2423" y="1792"/>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a1</a:t>
                </a:r>
                <a:endParaRPr lang="en-US" altLang="zh-CN" sz="1600">
                  <a:solidFill>
                    <a:schemeClr val="tx1"/>
                  </a:solidFill>
                  <a:latin typeface="宋体" panose="02010600030101010101" pitchFamily="2" charset="-122"/>
                </a:endParaRPr>
              </a:p>
            </p:txBody>
          </p:sp>
          <p:sp>
            <p:nvSpPr>
              <p:cNvPr id="47123" name="Text Box 51"/>
              <p:cNvSpPr txBox="1">
                <a:spLocks noChangeArrowheads="1"/>
              </p:cNvSpPr>
              <p:nvPr/>
            </p:nvSpPr>
            <p:spPr bwMode="auto">
              <a:xfrm>
                <a:off x="2423" y="1970"/>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a:t>
                </a:r>
                <a:endParaRPr lang="zh-CN" altLang="en-US" sz="1600">
                  <a:solidFill>
                    <a:schemeClr val="tx1"/>
                  </a:solidFill>
                  <a:latin typeface="宋体" panose="02010600030101010101" pitchFamily="2" charset="-122"/>
                </a:endParaRPr>
              </a:p>
            </p:txBody>
          </p:sp>
          <p:sp>
            <p:nvSpPr>
              <p:cNvPr id="47124" name="Text Box 52"/>
              <p:cNvSpPr txBox="1">
                <a:spLocks noChangeArrowheads="1"/>
              </p:cNvSpPr>
              <p:nvPr/>
            </p:nvSpPr>
            <p:spPr bwMode="auto">
              <a:xfrm>
                <a:off x="2423" y="2324"/>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ai+1</a:t>
                </a:r>
                <a:endParaRPr lang="zh-CN" altLang="en-US" sz="1600">
                  <a:solidFill>
                    <a:schemeClr val="tx1"/>
                  </a:solidFill>
                  <a:latin typeface="宋体" panose="02010600030101010101" pitchFamily="2" charset="-122"/>
                </a:endParaRPr>
              </a:p>
            </p:txBody>
          </p:sp>
          <p:sp>
            <p:nvSpPr>
              <p:cNvPr id="47125" name="Text Box 53"/>
              <p:cNvSpPr txBox="1">
                <a:spLocks noChangeArrowheads="1"/>
              </p:cNvSpPr>
              <p:nvPr/>
            </p:nvSpPr>
            <p:spPr bwMode="auto">
              <a:xfrm>
                <a:off x="2423" y="2502"/>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a:t>
                </a:r>
                <a:endParaRPr lang="zh-CN" altLang="en-US" sz="1600">
                  <a:solidFill>
                    <a:schemeClr val="tx1"/>
                  </a:solidFill>
                  <a:latin typeface="宋体" panose="02010600030101010101" pitchFamily="2" charset="-122"/>
                </a:endParaRPr>
              </a:p>
            </p:txBody>
          </p:sp>
          <p:sp>
            <p:nvSpPr>
              <p:cNvPr id="47126" name="Text Box 54"/>
              <p:cNvSpPr txBox="1">
                <a:spLocks noChangeArrowheads="1"/>
              </p:cNvSpPr>
              <p:nvPr/>
            </p:nvSpPr>
            <p:spPr bwMode="auto">
              <a:xfrm>
                <a:off x="2423" y="2680"/>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an</a:t>
                </a:r>
                <a:endParaRPr lang="zh-CN" altLang="en-US" sz="1600">
                  <a:solidFill>
                    <a:schemeClr val="tx1"/>
                  </a:solidFill>
                  <a:latin typeface="宋体" panose="02010600030101010101" pitchFamily="2" charset="-122"/>
                </a:endParaRPr>
              </a:p>
            </p:txBody>
          </p:sp>
          <p:sp>
            <p:nvSpPr>
              <p:cNvPr id="47127" name="Text Box 55"/>
              <p:cNvSpPr txBox="1">
                <a:spLocks noChangeArrowheads="1"/>
              </p:cNvSpPr>
              <p:nvPr/>
            </p:nvSpPr>
            <p:spPr bwMode="auto">
              <a:xfrm>
                <a:off x="2423" y="2148"/>
                <a:ext cx="5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ai-1</a:t>
                </a:r>
                <a:endParaRPr lang="zh-CN" altLang="en-US" sz="1600">
                  <a:solidFill>
                    <a:schemeClr val="tx1"/>
                  </a:solidFill>
                  <a:latin typeface="宋体" panose="02010600030101010101" pitchFamily="2" charset="-122"/>
                </a:endParaRPr>
              </a:p>
            </p:txBody>
          </p:sp>
        </p:grpSp>
        <p:sp>
          <p:nvSpPr>
            <p:cNvPr id="47112" name="Text Box 47"/>
            <p:cNvSpPr txBox="1">
              <a:spLocks noChangeArrowheads="1"/>
            </p:cNvSpPr>
            <p:nvPr/>
          </p:nvSpPr>
          <p:spPr bwMode="auto">
            <a:xfrm>
              <a:off x="6711677" y="3943907"/>
              <a:ext cx="857250" cy="284163"/>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a:t>
              </a:r>
              <a:endParaRPr lang="zh-CN" altLang="en-US" sz="1600">
                <a:solidFill>
                  <a:schemeClr val="tx1"/>
                </a:solidFill>
                <a:latin typeface="宋体" panose="02010600030101010101" pitchFamily="2" charset="-122"/>
              </a:endParaRPr>
            </a:p>
          </p:txBody>
        </p:sp>
        <p:sp>
          <p:nvSpPr>
            <p:cNvPr id="47113" name="Text Box 47"/>
            <p:cNvSpPr txBox="1">
              <a:spLocks noChangeArrowheads="1"/>
            </p:cNvSpPr>
            <p:nvPr/>
          </p:nvSpPr>
          <p:spPr bwMode="auto">
            <a:xfrm>
              <a:off x="6716592" y="4228207"/>
              <a:ext cx="857250" cy="284163"/>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宋体" panose="02010600030101010101" pitchFamily="2" charset="-122"/>
                </a:rPr>
                <a:t>an</a:t>
              </a:r>
              <a:endParaRPr lang="zh-CN" altLang="en-US" sz="1600">
                <a:solidFill>
                  <a:schemeClr val="tx1"/>
                </a:solidFill>
                <a:latin typeface="宋体" panose="02010600030101010101" pitchFamily="2" charset="-122"/>
              </a:endParaRPr>
            </a:p>
          </p:txBody>
        </p:sp>
      </p:gr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9F9B5501-187D-4623-B592-DEDB8B5F120E}"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48131"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3.2 </a:t>
            </a:r>
            <a:r>
              <a:rPr lang="zh-CN" altLang="en-US" sz="2400">
                <a:latin typeface="宋体" panose="02010600030101010101" pitchFamily="2" charset="-122"/>
                <a:ea typeface="宋体" panose="02010600030101010101" pitchFamily="2" charset="-122"/>
              </a:rPr>
              <a:t>线性表</a:t>
            </a:r>
            <a:endParaRPr lang="zh-CN" altLang="en-US" sz="2400">
              <a:latin typeface="宋体" panose="02010600030101010101" pitchFamily="2" charset="-122"/>
              <a:ea typeface="宋体" panose="02010600030101010101" pitchFamily="2" charset="-122"/>
            </a:endParaRPr>
          </a:p>
        </p:txBody>
      </p:sp>
      <p:sp>
        <p:nvSpPr>
          <p:cNvPr id="48132" name="Rectangle 3"/>
          <p:cNvSpPr>
            <a:spLocks noGrp="1" noChangeArrowheads="1"/>
          </p:cNvSpPr>
          <p:nvPr>
            <p:ph type="body" idx="1"/>
          </p:nvPr>
        </p:nvSpPr>
        <p:spPr>
          <a:xfrm>
            <a:off x="107950" y="1001713"/>
            <a:ext cx="9036050" cy="5689600"/>
          </a:xfrm>
        </p:spPr>
        <p:txBody>
          <a:bodyPr/>
          <a:lstStyle/>
          <a:p>
            <a:pPr marL="285750" indent="-285750">
              <a:lnSpc>
                <a:spcPct val="90000"/>
              </a:lnSpc>
            </a:pPr>
            <a:r>
              <a:rPr lang="zh-CN" altLang="en-US" sz="2000">
                <a:latin typeface="宋体" panose="02010600030101010101" pitchFamily="2" charset="-122"/>
                <a:ea typeface="宋体" panose="02010600030101010101" pitchFamily="2" charset="-122"/>
              </a:rPr>
              <a:t>顺序存储的线性表操作的计算时间复杂性分析</a:t>
            </a:r>
            <a:endParaRPr lang="en-US" altLang="zh-CN" sz="2000">
              <a:latin typeface="宋体" panose="02010600030101010101" pitchFamily="2" charset="-122"/>
              <a:ea typeface="宋体" panose="02010600030101010101" pitchFamily="2" charset="-122"/>
            </a:endParaRPr>
          </a:p>
          <a:p>
            <a:pPr marL="862330" lvl="1">
              <a:lnSpc>
                <a:spcPct val="90000"/>
              </a:lnSpc>
            </a:pPr>
            <a:r>
              <a:rPr lang="zh-CN" altLang="en-US" sz="1800">
                <a:latin typeface="宋体" panose="02010600030101010101" pitchFamily="2" charset="-122"/>
                <a:ea typeface="宋体" panose="02010600030101010101" pitchFamily="2" charset="-122"/>
              </a:rPr>
              <a:t>对于插入操作</a:t>
            </a:r>
            <a:endParaRPr lang="zh-CN" altLang="en-US" sz="1800">
              <a:latin typeface="宋体" panose="02010600030101010101" pitchFamily="2" charset="-122"/>
              <a:ea typeface="宋体" panose="02010600030101010101" pitchFamily="2" charset="-122"/>
            </a:endParaRPr>
          </a:p>
          <a:p>
            <a:pPr marL="1333500" lvl="2">
              <a:lnSpc>
                <a:spcPct val="90000"/>
              </a:lnSpc>
            </a:pPr>
            <a:r>
              <a:rPr lang="zh-CN" altLang="en-US" sz="1600">
                <a:latin typeface="宋体" panose="02010600030101010101" pitchFamily="2" charset="-122"/>
                <a:ea typeface="宋体" panose="02010600030101010101" pitchFamily="2" charset="-122"/>
              </a:rPr>
              <a:t>设 </a:t>
            </a:r>
            <a:r>
              <a:rPr lang="en-US" altLang="zh-CN" sz="1600" i="1">
                <a:latin typeface="宋体" panose="02010600030101010101" pitchFamily="2" charset="-122"/>
                <a:ea typeface="宋体" panose="02010600030101010101" pitchFamily="2" charset="-122"/>
              </a:rPr>
              <a:t>Pi</a:t>
            </a:r>
            <a:r>
              <a:rPr lang="en-US" altLang="zh-CN" sz="1600">
                <a:latin typeface="宋体" panose="02010600030101010101" pitchFamily="2" charset="-122"/>
                <a:ea typeface="宋体" panose="02010600030101010101" pitchFamily="2" charset="-122"/>
              </a:rPr>
              <a:t> </a:t>
            </a:r>
            <a:r>
              <a:rPr lang="zh-CN" altLang="en-US" sz="1600">
                <a:latin typeface="宋体" panose="02010600030101010101" pitchFamily="2" charset="-122"/>
                <a:ea typeface="宋体" panose="02010600030101010101" pitchFamily="2" charset="-122"/>
              </a:rPr>
              <a:t>是在第 </a:t>
            </a:r>
            <a:r>
              <a:rPr lang="en-US" altLang="zh-CN" sz="1600" i="1">
                <a:latin typeface="宋体" panose="02010600030101010101" pitchFamily="2" charset="-122"/>
                <a:ea typeface="宋体" panose="02010600030101010101" pitchFamily="2" charset="-122"/>
              </a:rPr>
              <a:t>i</a:t>
            </a:r>
            <a:r>
              <a:rPr lang="en-US" altLang="zh-CN" sz="1600">
                <a:latin typeface="宋体" panose="02010600030101010101" pitchFamily="2" charset="-122"/>
                <a:ea typeface="宋体" panose="02010600030101010101" pitchFamily="2" charset="-122"/>
              </a:rPr>
              <a:t> </a:t>
            </a:r>
            <a:r>
              <a:rPr lang="zh-CN" altLang="en-US" sz="1600">
                <a:latin typeface="宋体" panose="02010600030101010101" pitchFamily="2" charset="-122"/>
                <a:ea typeface="宋体" panose="02010600030101010101" pitchFamily="2" charset="-122"/>
              </a:rPr>
              <a:t>个元素前插入一个新元素的概率， </a:t>
            </a:r>
            <a:r>
              <a:rPr lang="en-US" altLang="zh-CN" sz="1600" i="1">
                <a:latin typeface="宋体" panose="02010600030101010101" pitchFamily="2" charset="-122"/>
                <a:ea typeface="宋体" panose="02010600030101010101" pitchFamily="2" charset="-122"/>
              </a:rPr>
              <a:t>Pi</a:t>
            </a:r>
            <a:r>
              <a:rPr lang="en-US" altLang="zh-CN" sz="1600">
                <a:latin typeface="宋体" panose="02010600030101010101" pitchFamily="2" charset="-122"/>
                <a:ea typeface="宋体" panose="02010600030101010101" pitchFamily="2" charset="-122"/>
              </a:rPr>
              <a:t> = 1 / ( n + 1 )</a:t>
            </a:r>
            <a:endParaRPr lang="zh-CN" altLang="en-US" sz="1600">
              <a:latin typeface="宋体" panose="02010600030101010101" pitchFamily="2" charset="-122"/>
              <a:ea typeface="宋体" panose="02010600030101010101" pitchFamily="2" charset="-122"/>
            </a:endParaRPr>
          </a:p>
          <a:p>
            <a:pPr marL="1333500" lvl="2">
              <a:lnSpc>
                <a:spcPct val="90000"/>
              </a:lnSpc>
            </a:pPr>
            <a:r>
              <a:rPr lang="zh-CN" altLang="en-US" sz="1600">
                <a:latin typeface="宋体" panose="02010600030101010101" pitchFamily="2" charset="-122"/>
                <a:ea typeface="宋体" panose="02010600030101010101" pitchFamily="2" charset="-122"/>
              </a:rPr>
              <a:t>如果在第 </a:t>
            </a:r>
            <a:r>
              <a:rPr lang="en-US" altLang="zh-CN" sz="1600" i="1">
                <a:latin typeface="宋体" panose="02010600030101010101" pitchFamily="2" charset="-122"/>
                <a:ea typeface="宋体" panose="02010600030101010101" pitchFamily="2" charset="-122"/>
              </a:rPr>
              <a:t>i</a:t>
            </a:r>
            <a:r>
              <a:rPr lang="en-US" altLang="zh-CN" sz="1600">
                <a:latin typeface="宋体" panose="02010600030101010101" pitchFamily="2" charset="-122"/>
                <a:ea typeface="宋体" panose="02010600030101010101" pitchFamily="2" charset="-122"/>
              </a:rPr>
              <a:t> </a:t>
            </a:r>
            <a:r>
              <a:rPr lang="zh-CN" altLang="en-US" sz="1600">
                <a:latin typeface="宋体" panose="02010600030101010101" pitchFamily="2" charset="-122"/>
                <a:ea typeface="宋体" panose="02010600030101010101" pitchFamily="2" charset="-122"/>
              </a:rPr>
              <a:t>个元素前插入一个新元素，则移动次数为 ( </a:t>
            </a:r>
            <a:r>
              <a:rPr lang="en-US" altLang="zh-CN" sz="1600">
                <a:latin typeface="宋体" panose="02010600030101010101" pitchFamily="2" charset="-122"/>
                <a:ea typeface="宋体" panose="02010600030101010101" pitchFamily="2" charset="-122"/>
              </a:rPr>
              <a:t>n </a:t>
            </a:r>
            <a:r>
              <a:rPr lang="en-US" altLang="zh-CN" sz="1600">
                <a:latin typeface="Times New Roman" panose="02020603050405020304" pitchFamily="18" charset="0"/>
                <a:ea typeface="宋体" panose="02010600030101010101" pitchFamily="2" charset="-122"/>
              </a:rPr>
              <a:t>–</a:t>
            </a:r>
            <a:r>
              <a:rPr lang="en-US" altLang="zh-CN" sz="1600">
                <a:latin typeface="宋体" panose="02010600030101010101" pitchFamily="2" charset="-122"/>
                <a:ea typeface="宋体" panose="02010600030101010101" pitchFamily="2" charset="-122"/>
              </a:rPr>
              <a:t> i + 1 )</a:t>
            </a:r>
            <a:endParaRPr lang="en-US" altLang="zh-CN" sz="1600">
              <a:latin typeface="宋体" panose="02010600030101010101" pitchFamily="2" charset="-122"/>
              <a:ea typeface="宋体" panose="02010600030101010101" pitchFamily="2" charset="-122"/>
            </a:endParaRPr>
          </a:p>
          <a:p>
            <a:pPr marL="1333500" lvl="2">
              <a:lnSpc>
                <a:spcPct val="90000"/>
              </a:lnSpc>
            </a:pPr>
            <a:r>
              <a:rPr lang="zh-CN" altLang="en-US" sz="1600">
                <a:latin typeface="宋体" panose="02010600030101010101" pitchFamily="2" charset="-122"/>
                <a:ea typeface="宋体" panose="02010600030101010101" pitchFamily="2" charset="-122"/>
              </a:rPr>
              <a:t>按数学期望的计算方法，向长度为 </a:t>
            </a:r>
            <a:r>
              <a:rPr lang="en-US" altLang="zh-CN" sz="1600">
                <a:latin typeface="宋体" panose="02010600030101010101" pitchFamily="2" charset="-122"/>
                <a:ea typeface="宋体" panose="02010600030101010101" pitchFamily="2" charset="-122"/>
              </a:rPr>
              <a:t>n </a:t>
            </a:r>
            <a:r>
              <a:rPr lang="zh-CN" altLang="en-US" sz="1600">
                <a:latin typeface="宋体" panose="02010600030101010101" pitchFamily="2" charset="-122"/>
                <a:ea typeface="宋体" panose="02010600030101010101" pitchFamily="2" charset="-122"/>
              </a:rPr>
              <a:t>的线性表插入一个元素所需的平均移动次数为</a:t>
            </a:r>
            <a:endParaRPr lang="zh-CN" altLang="en-US" sz="1600">
              <a:latin typeface="宋体" panose="02010600030101010101" pitchFamily="2" charset="-122"/>
              <a:ea typeface="宋体" panose="02010600030101010101" pitchFamily="2" charset="-122"/>
            </a:endParaRPr>
          </a:p>
          <a:p>
            <a:pPr marL="1333500" lvl="2">
              <a:lnSpc>
                <a:spcPct val="90000"/>
              </a:lnSpc>
            </a:pPr>
            <a:endParaRPr lang="zh-CN" altLang="en-US" sz="1600">
              <a:latin typeface="宋体" panose="02010600030101010101" pitchFamily="2" charset="-122"/>
              <a:ea typeface="宋体" panose="02010600030101010101" pitchFamily="2" charset="-122"/>
            </a:endParaRPr>
          </a:p>
          <a:p>
            <a:pPr marL="1333500" lvl="2">
              <a:lnSpc>
                <a:spcPct val="90000"/>
              </a:lnSpc>
            </a:pPr>
            <a:endParaRPr lang="zh-CN" altLang="en-US" sz="1600">
              <a:latin typeface="宋体" panose="02010600030101010101" pitchFamily="2" charset="-122"/>
              <a:ea typeface="宋体" panose="02010600030101010101" pitchFamily="2" charset="-122"/>
            </a:endParaRPr>
          </a:p>
          <a:p>
            <a:pPr marL="1333500" lvl="2">
              <a:lnSpc>
                <a:spcPct val="90000"/>
              </a:lnSpc>
            </a:pPr>
            <a:endParaRPr lang="en-US" altLang="zh-CN" sz="1600">
              <a:latin typeface="宋体" panose="02010600030101010101" pitchFamily="2" charset="-122"/>
              <a:ea typeface="宋体" panose="02010600030101010101" pitchFamily="2" charset="-122"/>
            </a:endParaRPr>
          </a:p>
          <a:p>
            <a:pPr marL="862330" lvl="1">
              <a:lnSpc>
                <a:spcPct val="90000"/>
              </a:lnSpc>
            </a:pPr>
            <a:r>
              <a:rPr lang="zh-CN" altLang="en-US" sz="1800">
                <a:latin typeface="宋体" panose="02010600030101010101" pitchFamily="2" charset="-122"/>
                <a:ea typeface="宋体" panose="02010600030101010101" pitchFamily="2" charset="-122"/>
              </a:rPr>
              <a:t>对于删除操作</a:t>
            </a:r>
            <a:endParaRPr lang="zh-CN" altLang="en-US" sz="1800">
              <a:latin typeface="宋体" panose="02010600030101010101" pitchFamily="2" charset="-122"/>
              <a:ea typeface="宋体" panose="02010600030101010101" pitchFamily="2" charset="-122"/>
            </a:endParaRPr>
          </a:p>
          <a:p>
            <a:pPr marL="1333500" lvl="2">
              <a:lnSpc>
                <a:spcPct val="90000"/>
              </a:lnSpc>
            </a:pPr>
            <a:r>
              <a:rPr lang="zh-CN" altLang="en-US" sz="1600">
                <a:latin typeface="宋体" panose="02010600030101010101" pitchFamily="2" charset="-122"/>
                <a:ea typeface="宋体" panose="02010600030101010101" pitchFamily="2" charset="-122"/>
              </a:rPr>
              <a:t>设 </a:t>
            </a:r>
            <a:r>
              <a:rPr lang="en-US" altLang="zh-CN" sz="1600">
                <a:latin typeface="宋体" panose="02010600030101010101" pitchFamily="2" charset="-122"/>
                <a:ea typeface="宋体" panose="02010600030101010101" pitchFamily="2" charset="-122"/>
              </a:rPr>
              <a:t>Qi </a:t>
            </a:r>
            <a:r>
              <a:rPr lang="zh-CN" altLang="en-US" sz="1600">
                <a:latin typeface="宋体" panose="02010600030101010101" pitchFamily="2" charset="-122"/>
                <a:ea typeface="宋体" panose="02010600030101010101" pitchFamily="2" charset="-122"/>
              </a:rPr>
              <a:t>是删除第 </a:t>
            </a:r>
            <a:r>
              <a:rPr lang="en-US" altLang="zh-CN" sz="1600">
                <a:latin typeface="宋体" panose="02010600030101010101" pitchFamily="2" charset="-122"/>
                <a:ea typeface="宋体" panose="02010600030101010101" pitchFamily="2" charset="-122"/>
              </a:rPr>
              <a:t>i </a:t>
            </a:r>
            <a:r>
              <a:rPr lang="zh-CN" altLang="en-US" sz="1600">
                <a:latin typeface="宋体" panose="02010600030101010101" pitchFamily="2" charset="-122"/>
                <a:ea typeface="宋体" panose="02010600030101010101" pitchFamily="2" charset="-122"/>
              </a:rPr>
              <a:t>个元素的概率， </a:t>
            </a:r>
            <a:r>
              <a:rPr lang="en-US" altLang="zh-CN" sz="1600">
                <a:latin typeface="宋体" panose="02010600030101010101" pitchFamily="2" charset="-122"/>
                <a:ea typeface="宋体" panose="02010600030101010101" pitchFamily="2" charset="-122"/>
              </a:rPr>
              <a:t>Qi = 1 / n</a:t>
            </a:r>
            <a:endParaRPr lang="en-US" altLang="zh-CN" sz="1600">
              <a:latin typeface="宋体" panose="02010600030101010101" pitchFamily="2" charset="-122"/>
              <a:ea typeface="宋体" panose="02010600030101010101" pitchFamily="2" charset="-122"/>
            </a:endParaRPr>
          </a:p>
          <a:p>
            <a:pPr marL="1333500" lvl="2">
              <a:lnSpc>
                <a:spcPct val="90000"/>
              </a:lnSpc>
            </a:pPr>
            <a:r>
              <a:rPr lang="zh-CN" altLang="en-US" sz="1600">
                <a:latin typeface="宋体" panose="02010600030101010101" pitchFamily="2" charset="-122"/>
                <a:ea typeface="宋体" panose="02010600030101010101" pitchFamily="2" charset="-122"/>
              </a:rPr>
              <a:t>如果删除第 </a:t>
            </a:r>
            <a:r>
              <a:rPr lang="en-US" altLang="zh-CN" sz="1600">
                <a:latin typeface="宋体" panose="02010600030101010101" pitchFamily="2" charset="-122"/>
                <a:ea typeface="宋体" panose="02010600030101010101" pitchFamily="2" charset="-122"/>
              </a:rPr>
              <a:t>i </a:t>
            </a:r>
            <a:r>
              <a:rPr lang="zh-CN" altLang="en-US" sz="1600">
                <a:latin typeface="宋体" panose="02010600030101010101" pitchFamily="2" charset="-122"/>
                <a:ea typeface="宋体" panose="02010600030101010101" pitchFamily="2" charset="-122"/>
              </a:rPr>
              <a:t>个元素，则移动次数为 ( </a:t>
            </a:r>
            <a:r>
              <a:rPr lang="en-US" altLang="zh-CN" sz="1600">
                <a:latin typeface="宋体" panose="02010600030101010101" pitchFamily="2" charset="-122"/>
                <a:ea typeface="宋体" panose="02010600030101010101" pitchFamily="2" charset="-122"/>
              </a:rPr>
              <a:t>n </a:t>
            </a:r>
            <a:r>
              <a:rPr lang="en-US" altLang="zh-CN" sz="1600">
                <a:latin typeface="Times New Roman" panose="02020603050405020304" pitchFamily="18" charset="0"/>
                <a:ea typeface="宋体" panose="02010600030101010101" pitchFamily="2" charset="-122"/>
              </a:rPr>
              <a:t>–</a:t>
            </a:r>
            <a:r>
              <a:rPr lang="en-US" altLang="zh-CN" sz="1600">
                <a:latin typeface="宋体" panose="02010600030101010101" pitchFamily="2" charset="-122"/>
                <a:ea typeface="宋体" panose="02010600030101010101" pitchFamily="2" charset="-122"/>
              </a:rPr>
              <a:t> i )</a:t>
            </a:r>
            <a:endParaRPr lang="en-US" altLang="zh-CN" sz="1600">
              <a:latin typeface="宋体" panose="02010600030101010101" pitchFamily="2" charset="-122"/>
              <a:ea typeface="宋体" panose="02010600030101010101" pitchFamily="2" charset="-122"/>
            </a:endParaRPr>
          </a:p>
          <a:p>
            <a:pPr marL="1333500" lvl="2">
              <a:lnSpc>
                <a:spcPct val="90000"/>
              </a:lnSpc>
            </a:pPr>
            <a:r>
              <a:rPr lang="zh-CN" altLang="en-US" sz="1600">
                <a:latin typeface="宋体" panose="02010600030101010101" pitchFamily="2" charset="-122"/>
                <a:ea typeface="宋体" panose="02010600030101010101" pitchFamily="2" charset="-122"/>
              </a:rPr>
              <a:t>按数学期望的计算方法，删除长度为 </a:t>
            </a:r>
            <a:r>
              <a:rPr lang="en-US" altLang="zh-CN" sz="1600">
                <a:latin typeface="宋体" panose="02010600030101010101" pitchFamily="2" charset="-122"/>
                <a:ea typeface="宋体" panose="02010600030101010101" pitchFamily="2" charset="-122"/>
              </a:rPr>
              <a:t>n </a:t>
            </a:r>
            <a:r>
              <a:rPr lang="zh-CN" altLang="en-US" sz="1600">
                <a:latin typeface="宋体" panose="02010600030101010101" pitchFamily="2" charset="-122"/>
                <a:ea typeface="宋体" panose="02010600030101010101" pitchFamily="2" charset="-122"/>
              </a:rPr>
              <a:t>的线性表中的一个元素所需的平均移动次数为</a:t>
            </a:r>
            <a:endParaRPr lang="zh-CN" altLang="en-US" sz="1600">
              <a:latin typeface="宋体" panose="02010600030101010101" pitchFamily="2" charset="-122"/>
              <a:ea typeface="宋体" panose="02010600030101010101" pitchFamily="2" charset="-122"/>
            </a:endParaRPr>
          </a:p>
          <a:p>
            <a:pPr marL="1333500" lvl="2">
              <a:lnSpc>
                <a:spcPct val="90000"/>
              </a:lnSpc>
            </a:pPr>
            <a:endParaRPr lang="zh-CN" altLang="en-US" sz="1600">
              <a:latin typeface="宋体" panose="02010600030101010101" pitchFamily="2" charset="-122"/>
              <a:ea typeface="宋体" panose="02010600030101010101" pitchFamily="2" charset="-122"/>
            </a:endParaRPr>
          </a:p>
          <a:p>
            <a:pPr marL="1333500" lvl="2">
              <a:lnSpc>
                <a:spcPct val="90000"/>
              </a:lnSpc>
            </a:pPr>
            <a:endParaRPr lang="zh-CN" altLang="en-US" sz="1600">
              <a:latin typeface="宋体" panose="02010600030101010101" pitchFamily="2" charset="-122"/>
              <a:ea typeface="宋体" panose="02010600030101010101" pitchFamily="2" charset="-122"/>
            </a:endParaRPr>
          </a:p>
          <a:p>
            <a:pPr marL="1333500" lvl="2">
              <a:lnSpc>
                <a:spcPct val="90000"/>
              </a:lnSpc>
            </a:pPr>
            <a:endParaRPr lang="zh-CN" altLang="en-US" sz="1600">
              <a:latin typeface="宋体" panose="02010600030101010101" pitchFamily="2" charset="-122"/>
              <a:ea typeface="宋体" panose="02010600030101010101" pitchFamily="2" charset="-122"/>
            </a:endParaRPr>
          </a:p>
          <a:p>
            <a:pPr marL="862330" lvl="1">
              <a:lnSpc>
                <a:spcPct val="90000"/>
              </a:lnSpc>
            </a:pPr>
            <a:r>
              <a:rPr lang="zh-CN" altLang="en-US" sz="1800">
                <a:latin typeface="宋体" panose="02010600030101010101" pitchFamily="2" charset="-122"/>
                <a:ea typeface="宋体" panose="02010600030101010101" pitchFamily="2" charset="-122"/>
              </a:rPr>
              <a:t>可以看出，时间复杂性是与线性表的有效长度 </a:t>
            </a:r>
            <a:r>
              <a:rPr lang="en-US" altLang="zh-CN" sz="1800">
                <a:latin typeface="宋体" panose="02010600030101010101" pitchFamily="2" charset="-122"/>
                <a:ea typeface="宋体" panose="02010600030101010101" pitchFamily="2" charset="-122"/>
              </a:rPr>
              <a:t>n </a:t>
            </a:r>
            <a:r>
              <a:rPr lang="zh-CN" altLang="en-US" sz="1800">
                <a:latin typeface="宋体" panose="02010600030101010101" pitchFamily="2" charset="-122"/>
                <a:ea typeface="宋体" panose="02010600030101010101" pitchFamily="2" charset="-122"/>
              </a:rPr>
              <a:t>的大小线性相关的</a:t>
            </a:r>
            <a:endParaRPr lang="zh-CN" altLang="en-US" sz="1800">
              <a:latin typeface="宋体" panose="02010600030101010101" pitchFamily="2" charset="-122"/>
              <a:ea typeface="宋体" panose="02010600030101010101" pitchFamily="2" charset="-122"/>
            </a:endParaRPr>
          </a:p>
          <a:p>
            <a:pPr marL="862330" lvl="1">
              <a:lnSpc>
                <a:spcPct val="90000"/>
              </a:lnSpc>
            </a:pPr>
            <a:r>
              <a:rPr lang="zh-CN" altLang="en-US" sz="1800">
                <a:solidFill>
                  <a:schemeClr val="tx1"/>
                </a:solidFill>
                <a:latin typeface="宋体" panose="02010600030101010101" pitchFamily="2" charset="-122"/>
                <a:ea typeface="宋体" panose="02010600030101010101" pitchFamily="2" charset="-122"/>
              </a:rPr>
              <a:t>长度 </a:t>
            </a:r>
            <a:r>
              <a:rPr lang="en-US" altLang="zh-CN" sz="1800">
                <a:solidFill>
                  <a:schemeClr val="tx1"/>
                </a:solidFill>
                <a:latin typeface="宋体" panose="02010600030101010101" pitchFamily="2" charset="-122"/>
                <a:ea typeface="宋体" panose="02010600030101010101" pitchFamily="2" charset="-122"/>
              </a:rPr>
              <a:t>n </a:t>
            </a:r>
            <a:r>
              <a:rPr lang="zh-CN" altLang="en-US" sz="1800">
                <a:solidFill>
                  <a:schemeClr val="tx1"/>
                </a:solidFill>
                <a:latin typeface="宋体" panose="02010600030101010101" pitchFamily="2" charset="-122"/>
                <a:ea typeface="宋体" panose="02010600030101010101" pitchFamily="2" charset="-122"/>
              </a:rPr>
              <a:t>越大，所要进行的移动操作越多，占用的运算时间越长</a:t>
            </a:r>
            <a:endParaRPr lang="zh-CN" altLang="en-US" sz="1800">
              <a:solidFill>
                <a:schemeClr val="tx1"/>
              </a:solidFill>
              <a:latin typeface="宋体" panose="02010600030101010101" pitchFamily="2" charset="-122"/>
              <a:ea typeface="宋体" panose="02010600030101010101" pitchFamily="2" charset="-122"/>
            </a:endParaRPr>
          </a:p>
          <a:p>
            <a:pPr marL="862330" lvl="1">
              <a:lnSpc>
                <a:spcPct val="90000"/>
              </a:lnSpc>
            </a:pPr>
            <a:r>
              <a:rPr lang="zh-CN" altLang="en-US" sz="1800">
                <a:latin typeface="宋体" panose="02010600030101010101" pitchFamily="2" charset="-122"/>
                <a:ea typeface="宋体" panose="02010600030101010101" pitchFamily="2" charset="-122"/>
              </a:rPr>
              <a:t>因此，顺序存储的线性表，不适合经常进行插入、删除操作，而适合表中元素相对稳定的场合</a:t>
            </a:r>
            <a:endParaRPr lang="en-US" altLang="zh-CN" sz="1800">
              <a:latin typeface="宋体" panose="02010600030101010101" pitchFamily="2" charset="-122"/>
              <a:ea typeface="宋体" panose="02010600030101010101" pitchFamily="2" charset="-122"/>
            </a:endParaRPr>
          </a:p>
        </p:txBody>
      </p:sp>
      <p:graphicFrame>
        <p:nvGraphicFramePr>
          <p:cNvPr id="48133" name="Object 19"/>
          <p:cNvGraphicFramePr>
            <a:graphicFrameLocks noChangeAspect="1"/>
          </p:cNvGraphicFramePr>
          <p:nvPr/>
        </p:nvGraphicFramePr>
        <p:xfrm>
          <a:off x="2135188" y="2428875"/>
          <a:ext cx="5605462" cy="844550"/>
        </p:xfrm>
        <a:graphic>
          <a:graphicData uri="http://schemas.openxmlformats.org/presentationml/2006/ole">
            <mc:AlternateContent xmlns:mc="http://schemas.openxmlformats.org/markup-compatibility/2006">
              <mc:Choice xmlns:v="urn:schemas-microsoft-com:vml" Requires="v">
                <p:oleObj spid="_x0000_s1038" name="Equation" r:id="rId1" imgW="2586990" imgH="364490" progId="Equation.DSMT4">
                  <p:embed/>
                </p:oleObj>
              </mc:Choice>
              <mc:Fallback>
                <p:oleObj name="Equation" r:id="rId1" imgW="2586990" imgH="364490" progId="Equation.DSMT4">
                  <p:embed/>
                  <p:pic>
                    <p:nvPicPr>
                      <p:cNvPr id="0" name="Object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188" y="2428875"/>
                        <a:ext cx="5605462"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34" name="Object 20"/>
          <p:cNvGraphicFramePr>
            <a:graphicFrameLocks noChangeAspect="1"/>
          </p:cNvGraphicFramePr>
          <p:nvPr/>
        </p:nvGraphicFramePr>
        <p:xfrm>
          <a:off x="2124075" y="4370388"/>
          <a:ext cx="5006975" cy="817562"/>
        </p:xfrm>
        <a:graphic>
          <a:graphicData uri="http://schemas.openxmlformats.org/presentationml/2006/ole">
            <mc:AlternateContent xmlns:mc="http://schemas.openxmlformats.org/markup-compatibility/2006">
              <mc:Choice xmlns:v="urn:schemas-microsoft-com:vml" Requires="v">
                <p:oleObj spid="_x0000_s1039" name="Equation" r:id="rId3" imgW="2268855" imgH="364490" progId="Equation.DSMT4">
                  <p:embed/>
                </p:oleObj>
              </mc:Choice>
              <mc:Fallback>
                <p:oleObj name="Equation" r:id="rId3" imgW="2268855" imgH="364490" progId="Equation.DSMT4">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4370388"/>
                        <a:ext cx="5006975"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DD4D426A-4C60-47BB-869C-4AE485CE9350}"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50179"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3.2 </a:t>
            </a:r>
            <a:r>
              <a:rPr lang="zh-CN" altLang="en-US" sz="2400">
                <a:latin typeface="宋体" panose="02010600030101010101" pitchFamily="2" charset="-122"/>
                <a:ea typeface="宋体" panose="02010600030101010101" pitchFamily="2" charset="-122"/>
              </a:rPr>
              <a:t>线性表</a:t>
            </a:r>
            <a:endParaRPr lang="zh-CN" altLang="en-US" sz="2400">
              <a:latin typeface="宋体" panose="02010600030101010101" pitchFamily="2" charset="-122"/>
              <a:ea typeface="宋体" panose="02010600030101010101" pitchFamily="2" charset="-122"/>
            </a:endParaRPr>
          </a:p>
        </p:txBody>
      </p:sp>
      <p:sp>
        <p:nvSpPr>
          <p:cNvPr id="50180" name="Rectangle 3"/>
          <p:cNvSpPr>
            <a:spLocks noGrp="1" noChangeArrowheads="1"/>
          </p:cNvSpPr>
          <p:nvPr>
            <p:ph type="body" idx="1"/>
          </p:nvPr>
        </p:nvSpPr>
        <p:spPr>
          <a:xfrm>
            <a:off x="179388" y="1052513"/>
            <a:ext cx="5472112" cy="4105275"/>
          </a:xfrm>
        </p:spPr>
        <p:txBody>
          <a:bodyPr/>
          <a:lstStyle/>
          <a:p>
            <a:pPr marL="285750" indent="-285750">
              <a:lnSpc>
                <a:spcPct val="90000"/>
              </a:lnSpc>
            </a:pPr>
            <a:r>
              <a:rPr lang="zh-CN" altLang="en-US" sz="2800">
                <a:latin typeface="宋体" panose="02010600030101010101" pitchFamily="2" charset="-122"/>
                <a:ea typeface="宋体" panose="02010600030101010101" pitchFamily="2" charset="-122"/>
              </a:rPr>
              <a:t>链式存储的线性表</a:t>
            </a:r>
            <a:endParaRPr lang="zh-CN" altLang="en-US" sz="2800">
              <a:latin typeface="宋体" panose="02010600030101010101" pitchFamily="2" charset="-122"/>
              <a:ea typeface="宋体" panose="02010600030101010101" pitchFamily="2" charset="-122"/>
            </a:endParaRPr>
          </a:p>
          <a:p>
            <a:pPr marL="862330" lvl="1">
              <a:lnSpc>
                <a:spcPct val="90000"/>
              </a:lnSpc>
            </a:pPr>
            <a:r>
              <a:rPr lang="zh-CN" altLang="en-US" sz="2400">
                <a:latin typeface="宋体" panose="02010600030101010101" pitchFamily="2" charset="-122"/>
                <a:ea typeface="宋体" panose="02010600030101010101" pitchFamily="2" charset="-122"/>
              </a:rPr>
              <a:t>顺序存储的线性表的一些缺点</a:t>
            </a:r>
            <a:endParaRPr lang="zh-CN" altLang="en-US" sz="2400">
              <a:latin typeface="宋体" panose="02010600030101010101" pitchFamily="2" charset="-122"/>
              <a:ea typeface="宋体" panose="02010600030101010101" pitchFamily="2" charset="-122"/>
            </a:endParaRPr>
          </a:p>
          <a:p>
            <a:pPr marL="1333500" lvl="2">
              <a:lnSpc>
                <a:spcPct val="90000"/>
              </a:lnSpc>
            </a:pPr>
            <a:r>
              <a:rPr lang="zh-CN" altLang="en-US" sz="2000">
                <a:latin typeface="宋体" panose="02010600030101010101" pitchFamily="2" charset="-122"/>
                <a:ea typeface="宋体" panose="02010600030101010101" pitchFamily="2" charset="-122"/>
              </a:rPr>
              <a:t>在分配线性表空间时，如果最大长度定大了，则浪费存储空间；如果定小了，则所分配的存储空间不能满足需要</a:t>
            </a:r>
            <a:endParaRPr lang="zh-CN" altLang="en-US" sz="2000">
              <a:latin typeface="宋体" panose="02010600030101010101" pitchFamily="2" charset="-122"/>
              <a:ea typeface="宋体" panose="02010600030101010101" pitchFamily="2" charset="-122"/>
            </a:endParaRPr>
          </a:p>
          <a:p>
            <a:pPr marL="1333500" lvl="2">
              <a:lnSpc>
                <a:spcPct val="90000"/>
              </a:lnSpc>
            </a:pPr>
            <a:r>
              <a:rPr lang="zh-CN" altLang="en-US" sz="2000">
                <a:latin typeface="宋体" panose="02010600030101010101" pitchFamily="2" charset="-122"/>
                <a:ea typeface="宋体" panose="02010600030101010101" pitchFamily="2" charset="-122"/>
              </a:rPr>
              <a:t>经常进行插入和删除操作，降低了效率</a:t>
            </a:r>
            <a:endParaRPr lang="zh-CN" altLang="en-US" sz="2000">
              <a:latin typeface="宋体" panose="02010600030101010101" pitchFamily="2" charset="-122"/>
              <a:ea typeface="宋体" panose="02010600030101010101" pitchFamily="2" charset="-122"/>
            </a:endParaRPr>
          </a:p>
          <a:p>
            <a:pPr marL="862330" lvl="1">
              <a:lnSpc>
                <a:spcPct val="90000"/>
              </a:lnSpc>
            </a:pPr>
            <a:r>
              <a:rPr lang="zh-CN" altLang="en-US" sz="2400">
                <a:latin typeface="宋体" panose="02010600030101010101" pitchFamily="2" charset="-122"/>
                <a:ea typeface="宋体" panose="02010600030101010101" pitchFamily="2" charset="-122"/>
              </a:rPr>
              <a:t>采用链式存储可以避免上述缺点</a:t>
            </a:r>
            <a:endParaRPr lang="zh-CN" altLang="en-US" sz="2400">
              <a:latin typeface="宋体" panose="02010600030101010101" pitchFamily="2" charset="-122"/>
              <a:ea typeface="宋体" panose="02010600030101010101" pitchFamily="2" charset="-122"/>
            </a:endParaRPr>
          </a:p>
          <a:p>
            <a:pPr marL="862330" lvl="1">
              <a:lnSpc>
                <a:spcPct val="90000"/>
              </a:lnSpc>
            </a:pPr>
            <a:r>
              <a:rPr lang="zh-CN" altLang="en-US" sz="2400">
                <a:solidFill>
                  <a:schemeClr val="tx2"/>
                </a:solidFill>
                <a:latin typeface="宋体" panose="02010600030101010101" pitchFamily="2" charset="-122"/>
                <a:ea typeface="宋体" panose="02010600030101010101" pitchFamily="2" charset="-122"/>
              </a:rPr>
              <a:t>链表存储结构</a:t>
            </a:r>
            <a:endParaRPr lang="zh-CN" altLang="en-US" sz="2400">
              <a:solidFill>
                <a:schemeClr val="tx2"/>
              </a:solidFill>
              <a:latin typeface="宋体" panose="02010600030101010101" pitchFamily="2" charset="-122"/>
              <a:ea typeface="宋体" panose="02010600030101010101" pitchFamily="2" charset="-122"/>
            </a:endParaRPr>
          </a:p>
          <a:p>
            <a:pPr marL="862330" lvl="1">
              <a:lnSpc>
                <a:spcPct val="90000"/>
              </a:lnSpc>
            </a:pPr>
            <a:endParaRPr lang="zh-CN" altLang="en-US" sz="2400">
              <a:latin typeface="宋体" panose="02010600030101010101" pitchFamily="2" charset="-122"/>
              <a:ea typeface="宋体" panose="02010600030101010101" pitchFamily="2" charset="-122"/>
            </a:endParaRPr>
          </a:p>
        </p:txBody>
      </p:sp>
      <p:grpSp>
        <p:nvGrpSpPr>
          <p:cNvPr id="50181" name="Group 64"/>
          <p:cNvGrpSpPr/>
          <p:nvPr/>
        </p:nvGrpSpPr>
        <p:grpSpPr bwMode="auto">
          <a:xfrm>
            <a:off x="412750" y="5022850"/>
            <a:ext cx="7688263" cy="1574800"/>
            <a:chOff x="612" y="1117"/>
            <a:chExt cx="4717" cy="992"/>
          </a:xfrm>
        </p:grpSpPr>
        <p:grpSp>
          <p:nvGrpSpPr>
            <p:cNvPr id="50207" name="Group 65"/>
            <p:cNvGrpSpPr/>
            <p:nvPr/>
          </p:nvGrpSpPr>
          <p:grpSpPr bwMode="auto">
            <a:xfrm>
              <a:off x="1486" y="1325"/>
              <a:ext cx="714" cy="201"/>
              <a:chOff x="3200" y="2623"/>
              <a:chExt cx="634" cy="179"/>
            </a:xfrm>
          </p:grpSpPr>
          <p:sp>
            <p:nvSpPr>
              <p:cNvPr id="50226" name="Text Box 66"/>
              <p:cNvSpPr txBox="1">
                <a:spLocks noChangeArrowheads="1"/>
              </p:cNvSpPr>
              <p:nvPr/>
            </p:nvSpPr>
            <p:spPr bwMode="auto">
              <a:xfrm>
                <a:off x="3200"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a1</a:t>
                </a:r>
                <a:endParaRPr lang="en-US" altLang="zh-CN" sz="1600">
                  <a:solidFill>
                    <a:schemeClr val="tx1"/>
                  </a:solidFill>
                  <a:latin typeface="Times New Roman" panose="02020603050405020304" pitchFamily="18" charset="0"/>
                </a:endParaRPr>
              </a:p>
            </p:txBody>
          </p:sp>
          <p:sp>
            <p:nvSpPr>
              <p:cNvPr id="50227" name="Text Box 67"/>
              <p:cNvSpPr txBox="1">
                <a:spLocks noChangeArrowheads="1"/>
              </p:cNvSpPr>
              <p:nvPr/>
            </p:nvSpPr>
            <p:spPr bwMode="auto">
              <a:xfrm>
                <a:off x="3517"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2"/>
                    </a:solidFill>
                    <a:latin typeface="Times New Roman" panose="02020603050405020304" pitchFamily="18" charset="0"/>
                  </a:rPr>
                  <a:t>AB01</a:t>
                </a:r>
                <a:endParaRPr lang="zh-CN" altLang="en-US" sz="1600">
                  <a:solidFill>
                    <a:schemeClr val="tx2"/>
                  </a:solidFill>
                  <a:latin typeface="Times New Roman" panose="02020603050405020304" pitchFamily="18" charset="0"/>
                </a:endParaRPr>
              </a:p>
            </p:txBody>
          </p:sp>
        </p:grpSp>
        <p:sp>
          <p:nvSpPr>
            <p:cNvPr id="50208" name="Text Box 68"/>
            <p:cNvSpPr txBox="1">
              <a:spLocks noChangeArrowheads="1"/>
            </p:cNvSpPr>
            <p:nvPr/>
          </p:nvSpPr>
          <p:spPr bwMode="auto">
            <a:xfrm>
              <a:off x="612" y="1117"/>
              <a:ext cx="730" cy="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Head </a:t>
              </a:r>
              <a:r>
                <a:rPr lang="zh-CN" altLang="en-US" sz="1600">
                  <a:solidFill>
                    <a:schemeClr val="tx1"/>
                  </a:solidFill>
                  <a:latin typeface="Times New Roman" panose="02020603050405020304" pitchFamily="18" charset="0"/>
                </a:rPr>
                <a:t>地址</a:t>
              </a:r>
              <a:endParaRPr lang="zh-CN" altLang="en-US" sz="1600">
                <a:solidFill>
                  <a:schemeClr val="tx1"/>
                </a:solidFill>
                <a:latin typeface="Times New Roman" panose="02020603050405020304" pitchFamily="18" charset="0"/>
              </a:endParaRPr>
            </a:p>
            <a:p>
              <a:pPr algn="ctr">
                <a:spcBef>
                  <a:spcPct val="50000"/>
                </a:spcBef>
                <a:buFontTx/>
                <a:buNone/>
              </a:pPr>
              <a:r>
                <a:rPr lang="en-US" altLang="zh-CN" sz="1600">
                  <a:solidFill>
                    <a:schemeClr val="tx1"/>
                  </a:solidFill>
                  <a:latin typeface="Times New Roman" panose="02020603050405020304" pitchFamily="18" charset="0"/>
                </a:rPr>
                <a:t>B03D</a:t>
              </a:r>
              <a:endParaRPr lang="en-US" altLang="zh-CN" sz="1600">
                <a:solidFill>
                  <a:schemeClr val="tx1"/>
                </a:solidFill>
                <a:latin typeface="Times New Roman" panose="02020603050405020304" pitchFamily="18" charset="0"/>
              </a:endParaRPr>
            </a:p>
          </p:txBody>
        </p:sp>
        <p:sp>
          <p:nvSpPr>
            <p:cNvPr id="50209" name="Line 69"/>
            <p:cNvSpPr>
              <a:spLocks noChangeShapeType="1"/>
            </p:cNvSpPr>
            <p:nvPr/>
          </p:nvSpPr>
          <p:spPr bwMode="auto">
            <a:xfrm flipV="1">
              <a:off x="1127" y="1326"/>
              <a:ext cx="347" cy="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10" name="Line 70"/>
            <p:cNvSpPr>
              <a:spLocks noChangeShapeType="1"/>
            </p:cNvSpPr>
            <p:nvPr/>
          </p:nvSpPr>
          <p:spPr bwMode="auto">
            <a:xfrm>
              <a:off x="2153" y="1427"/>
              <a:ext cx="357" cy="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11" name="Text Box 71"/>
            <p:cNvSpPr txBox="1">
              <a:spLocks noChangeArrowheads="1"/>
            </p:cNvSpPr>
            <p:nvPr/>
          </p:nvSpPr>
          <p:spPr bwMode="auto">
            <a:xfrm>
              <a:off x="2315" y="1236"/>
              <a:ext cx="30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en-US" altLang="zh-CN" sz="1600">
                  <a:solidFill>
                    <a:schemeClr val="tx1"/>
                  </a:solidFill>
                  <a:latin typeface="Times New Roman" panose="02020603050405020304" pitchFamily="18" charset="0"/>
                </a:rPr>
                <a:t>AB01</a:t>
              </a:r>
              <a:endParaRPr lang="en-US" altLang="zh-CN" sz="1600">
                <a:solidFill>
                  <a:schemeClr val="tx1"/>
                </a:solidFill>
                <a:latin typeface="Times New Roman" panose="02020603050405020304" pitchFamily="18" charset="0"/>
              </a:endParaRPr>
            </a:p>
          </p:txBody>
        </p:sp>
        <p:grpSp>
          <p:nvGrpSpPr>
            <p:cNvPr id="50212" name="Group 72"/>
            <p:cNvGrpSpPr/>
            <p:nvPr/>
          </p:nvGrpSpPr>
          <p:grpSpPr bwMode="auto">
            <a:xfrm>
              <a:off x="2524" y="1436"/>
              <a:ext cx="714" cy="201"/>
              <a:chOff x="3200" y="2623"/>
              <a:chExt cx="634" cy="179"/>
            </a:xfrm>
          </p:grpSpPr>
          <p:sp>
            <p:nvSpPr>
              <p:cNvPr id="50224" name="Text Box 73"/>
              <p:cNvSpPr txBox="1">
                <a:spLocks noChangeArrowheads="1"/>
              </p:cNvSpPr>
              <p:nvPr/>
            </p:nvSpPr>
            <p:spPr bwMode="auto">
              <a:xfrm>
                <a:off x="3200"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a2</a:t>
                </a:r>
                <a:endParaRPr lang="en-US" altLang="zh-CN" sz="1600">
                  <a:solidFill>
                    <a:schemeClr val="tx1"/>
                  </a:solidFill>
                  <a:latin typeface="Times New Roman" panose="02020603050405020304" pitchFamily="18" charset="0"/>
                </a:endParaRPr>
              </a:p>
            </p:txBody>
          </p:sp>
          <p:sp>
            <p:nvSpPr>
              <p:cNvPr id="50225" name="Text Box 74"/>
              <p:cNvSpPr txBox="1">
                <a:spLocks noChangeArrowheads="1"/>
              </p:cNvSpPr>
              <p:nvPr/>
            </p:nvSpPr>
            <p:spPr bwMode="auto">
              <a:xfrm>
                <a:off x="3517"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2"/>
                    </a:solidFill>
                    <a:latin typeface="Times New Roman" panose="02020603050405020304" pitchFamily="18" charset="0"/>
                  </a:rPr>
                  <a:t>DA29</a:t>
                </a:r>
                <a:endParaRPr lang="zh-CN" altLang="en-US" sz="1600">
                  <a:solidFill>
                    <a:schemeClr val="tx2"/>
                  </a:solidFill>
                  <a:latin typeface="Times New Roman" panose="02020603050405020304" pitchFamily="18" charset="0"/>
                </a:endParaRPr>
              </a:p>
            </p:txBody>
          </p:sp>
        </p:grpSp>
        <p:grpSp>
          <p:nvGrpSpPr>
            <p:cNvPr id="50213" name="Group 75"/>
            <p:cNvGrpSpPr/>
            <p:nvPr/>
          </p:nvGrpSpPr>
          <p:grpSpPr bwMode="auto">
            <a:xfrm>
              <a:off x="3574" y="1541"/>
              <a:ext cx="714" cy="201"/>
              <a:chOff x="3200" y="2623"/>
              <a:chExt cx="634" cy="179"/>
            </a:xfrm>
          </p:grpSpPr>
          <p:sp>
            <p:nvSpPr>
              <p:cNvPr id="50222" name="Text Box 76"/>
              <p:cNvSpPr txBox="1">
                <a:spLocks noChangeArrowheads="1"/>
              </p:cNvSpPr>
              <p:nvPr/>
            </p:nvSpPr>
            <p:spPr bwMode="auto">
              <a:xfrm>
                <a:off x="3200"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a3</a:t>
                </a:r>
                <a:endParaRPr lang="en-US" altLang="zh-CN" sz="1600">
                  <a:solidFill>
                    <a:schemeClr val="tx1"/>
                  </a:solidFill>
                  <a:latin typeface="Times New Roman" panose="02020603050405020304" pitchFamily="18" charset="0"/>
                </a:endParaRPr>
              </a:p>
            </p:txBody>
          </p:sp>
          <p:sp>
            <p:nvSpPr>
              <p:cNvPr id="50223" name="Text Box 77"/>
              <p:cNvSpPr txBox="1">
                <a:spLocks noChangeArrowheads="1"/>
              </p:cNvSpPr>
              <p:nvPr/>
            </p:nvSpPr>
            <p:spPr bwMode="auto">
              <a:xfrm>
                <a:off x="3517"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2"/>
                    </a:solidFill>
                    <a:latin typeface="Times New Roman" panose="02020603050405020304" pitchFamily="18" charset="0"/>
                  </a:rPr>
                  <a:t>BEF5</a:t>
                </a:r>
                <a:endParaRPr lang="zh-CN" altLang="en-US" sz="1600">
                  <a:solidFill>
                    <a:schemeClr val="tx2"/>
                  </a:solidFill>
                  <a:latin typeface="Times New Roman" panose="02020603050405020304" pitchFamily="18" charset="0"/>
                </a:endParaRPr>
              </a:p>
            </p:txBody>
          </p:sp>
        </p:grpSp>
        <p:sp>
          <p:nvSpPr>
            <p:cNvPr id="50214" name="Line 78"/>
            <p:cNvSpPr>
              <a:spLocks noChangeShapeType="1"/>
            </p:cNvSpPr>
            <p:nvPr/>
          </p:nvSpPr>
          <p:spPr bwMode="auto">
            <a:xfrm>
              <a:off x="3196" y="1541"/>
              <a:ext cx="357" cy="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15" name="Text Box 79"/>
            <p:cNvSpPr txBox="1">
              <a:spLocks noChangeArrowheads="1"/>
            </p:cNvSpPr>
            <p:nvPr/>
          </p:nvSpPr>
          <p:spPr bwMode="auto">
            <a:xfrm>
              <a:off x="3364" y="1350"/>
              <a:ext cx="3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en-US" altLang="zh-CN" sz="1600">
                  <a:solidFill>
                    <a:schemeClr val="tx1"/>
                  </a:solidFill>
                  <a:latin typeface="Times New Roman" panose="02020603050405020304" pitchFamily="18" charset="0"/>
                </a:rPr>
                <a:t>DA29</a:t>
              </a:r>
              <a:endParaRPr lang="en-US" altLang="zh-CN" sz="1600">
                <a:solidFill>
                  <a:schemeClr val="tx1"/>
                </a:solidFill>
                <a:latin typeface="Times New Roman" panose="02020603050405020304" pitchFamily="18" charset="0"/>
              </a:endParaRPr>
            </a:p>
          </p:txBody>
        </p:sp>
        <p:grpSp>
          <p:nvGrpSpPr>
            <p:cNvPr id="50216" name="Group 80"/>
            <p:cNvGrpSpPr/>
            <p:nvPr/>
          </p:nvGrpSpPr>
          <p:grpSpPr bwMode="auto">
            <a:xfrm>
              <a:off x="4615" y="1641"/>
              <a:ext cx="714" cy="201"/>
              <a:chOff x="3200" y="2623"/>
              <a:chExt cx="634" cy="179"/>
            </a:xfrm>
          </p:grpSpPr>
          <p:sp>
            <p:nvSpPr>
              <p:cNvPr id="50220" name="Text Box 81"/>
              <p:cNvSpPr txBox="1">
                <a:spLocks noChangeArrowheads="1"/>
              </p:cNvSpPr>
              <p:nvPr/>
            </p:nvSpPr>
            <p:spPr bwMode="auto">
              <a:xfrm>
                <a:off x="3200"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a4</a:t>
                </a:r>
                <a:endParaRPr lang="en-US" altLang="zh-CN" sz="1600">
                  <a:solidFill>
                    <a:schemeClr val="tx1"/>
                  </a:solidFill>
                  <a:latin typeface="Times New Roman" panose="02020603050405020304" pitchFamily="18" charset="0"/>
                </a:endParaRPr>
              </a:p>
            </p:txBody>
          </p:sp>
          <p:sp>
            <p:nvSpPr>
              <p:cNvPr id="50221" name="Text Box 82"/>
              <p:cNvSpPr txBox="1">
                <a:spLocks noChangeArrowheads="1"/>
              </p:cNvSpPr>
              <p:nvPr/>
            </p:nvSpPr>
            <p:spPr bwMode="auto">
              <a:xfrm>
                <a:off x="3517"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2"/>
                    </a:solidFill>
                    <a:latin typeface="Times New Roman" panose="02020603050405020304" pitchFamily="18" charset="0"/>
                  </a:rPr>
                  <a:t>Nil</a:t>
                </a:r>
                <a:endParaRPr lang="en-US" altLang="zh-CN" sz="1600">
                  <a:solidFill>
                    <a:schemeClr val="tx2"/>
                  </a:solidFill>
                  <a:latin typeface="Times New Roman" panose="02020603050405020304" pitchFamily="18" charset="0"/>
                </a:endParaRPr>
              </a:p>
            </p:txBody>
          </p:sp>
        </p:grpSp>
        <p:sp>
          <p:nvSpPr>
            <p:cNvPr id="50217" name="Line 83"/>
            <p:cNvSpPr>
              <a:spLocks noChangeShapeType="1"/>
            </p:cNvSpPr>
            <p:nvPr/>
          </p:nvSpPr>
          <p:spPr bwMode="auto">
            <a:xfrm>
              <a:off x="4246" y="1641"/>
              <a:ext cx="357" cy="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18" name="Text Box 84"/>
            <p:cNvSpPr txBox="1">
              <a:spLocks noChangeArrowheads="1"/>
            </p:cNvSpPr>
            <p:nvPr/>
          </p:nvSpPr>
          <p:spPr bwMode="auto">
            <a:xfrm>
              <a:off x="4405" y="1450"/>
              <a:ext cx="3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en-US" altLang="zh-CN" sz="1600">
                  <a:solidFill>
                    <a:schemeClr val="tx1"/>
                  </a:solidFill>
                  <a:latin typeface="Times New Roman" panose="02020603050405020304" pitchFamily="18" charset="0"/>
                </a:rPr>
                <a:t>BEF5</a:t>
              </a:r>
              <a:endParaRPr lang="en-US" altLang="zh-CN" sz="1600">
                <a:solidFill>
                  <a:schemeClr val="tx1"/>
                </a:solidFill>
                <a:latin typeface="Times New Roman" panose="02020603050405020304" pitchFamily="18" charset="0"/>
              </a:endParaRPr>
            </a:p>
          </p:txBody>
        </p:sp>
        <p:sp>
          <p:nvSpPr>
            <p:cNvPr id="50219" name="Text Box 85"/>
            <p:cNvSpPr txBox="1">
              <a:spLocks noChangeArrowheads="1"/>
            </p:cNvSpPr>
            <p:nvPr/>
          </p:nvSpPr>
          <p:spPr bwMode="auto">
            <a:xfrm>
              <a:off x="3079" y="1897"/>
              <a:ext cx="154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Nil </a:t>
              </a:r>
              <a:r>
                <a:rPr lang="zh-CN" altLang="en-US" sz="1600">
                  <a:solidFill>
                    <a:schemeClr val="tx1"/>
                  </a:solidFill>
                  <a:latin typeface="Times New Roman" panose="02020603050405020304" pitchFamily="18" charset="0"/>
                </a:rPr>
                <a:t>表示空指针（值为 0 ）</a:t>
              </a:r>
              <a:endParaRPr lang="zh-CN" altLang="en-US" sz="1600">
                <a:solidFill>
                  <a:schemeClr val="tx1"/>
                </a:solidFill>
                <a:latin typeface="Times New Roman" panose="02020603050405020304" pitchFamily="18" charset="0"/>
              </a:endParaRPr>
            </a:p>
          </p:txBody>
        </p:sp>
      </p:grpSp>
      <p:grpSp>
        <p:nvGrpSpPr>
          <p:cNvPr id="50182" name="Group 86"/>
          <p:cNvGrpSpPr/>
          <p:nvPr/>
        </p:nvGrpSpPr>
        <p:grpSpPr bwMode="auto">
          <a:xfrm>
            <a:off x="5280025" y="1701800"/>
            <a:ext cx="4292600" cy="2951163"/>
            <a:chOff x="176" y="2297"/>
            <a:chExt cx="2704" cy="1859"/>
          </a:xfrm>
        </p:grpSpPr>
        <p:grpSp>
          <p:nvGrpSpPr>
            <p:cNvPr id="50183" name="Group 87"/>
            <p:cNvGrpSpPr/>
            <p:nvPr/>
          </p:nvGrpSpPr>
          <p:grpSpPr bwMode="auto">
            <a:xfrm>
              <a:off x="414" y="2298"/>
              <a:ext cx="1550" cy="1611"/>
              <a:chOff x="550" y="2359"/>
              <a:chExt cx="1385" cy="1611"/>
            </a:xfrm>
          </p:grpSpPr>
          <p:sp>
            <p:nvSpPr>
              <p:cNvPr id="50189" name="Text Box 88"/>
              <p:cNvSpPr txBox="1">
                <a:spLocks noChangeArrowheads="1"/>
              </p:cNvSpPr>
              <p:nvPr/>
            </p:nvSpPr>
            <p:spPr bwMode="auto">
              <a:xfrm>
                <a:off x="960" y="3791"/>
                <a:ext cx="975"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600">
                  <a:solidFill>
                    <a:schemeClr val="tx1"/>
                  </a:solidFill>
                  <a:latin typeface="Times New Roman" panose="02020603050405020304" pitchFamily="18" charset="0"/>
                </a:endParaRPr>
              </a:p>
            </p:txBody>
          </p:sp>
          <p:sp>
            <p:nvSpPr>
              <p:cNvPr id="50190" name="Text Box 89"/>
              <p:cNvSpPr txBox="1">
                <a:spLocks noChangeArrowheads="1"/>
              </p:cNvSpPr>
              <p:nvPr/>
            </p:nvSpPr>
            <p:spPr bwMode="auto">
              <a:xfrm>
                <a:off x="960" y="3257"/>
                <a:ext cx="975"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600">
                  <a:solidFill>
                    <a:schemeClr val="tx1"/>
                  </a:solidFill>
                  <a:latin typeface="Times New Roman" panose="02020603050405020304" pitchFamily="18" charset="0"/>
                </a:endParaRPr>
              </a:p>
            </p:txBody>
          </p:sp>
          <p:sp>
            <p:nvSpPr>
              <p:cNvPr id="50191" name="Text Box 90"/>
              <p:cNvSpPr txBox="1">
                <a:spLocks noChangeArrowheads="1"/>
              </p:cNvSpPr>
              <p:nvPr/>
            </p:nvSpPr>
            <p:spPr bwMode="auto">
              <a:xfrm>
                <a:off x="960" y="2537"/>
                <a:ext cx="975"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600">
                  <a:solidFill>
                    <a:schemeClr val="tx1"/>
                  </a:solidFill>
                  <a:latin typeface="Times New Roman" panose="02020603050405020304" pitchFamily="18" charset="0"/>
                </a:endParaRPr>
              </a:p>
            </p:txBody>
          </p:sp>
          <p:sp>
            <p:nvSpPr>
              <p:cNvPr id="50192" name="Text Box 91"/>
              <p:cNvSpPr txBox="1">
                <a:spLocks noChangeArrowheads="1"/>
              </p:cNvSpPr>
              <p:nvPr/>
            </p:nvSpPr>
            <p:spPr bwMode="auto">
              <a:xfrm>
                <a:off x="960" y="2359"/>
                <a:ext cx="975"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B03D</a:t>
                </a:r>
                <a:endParaRPr lang="en-US" altLang="zh-CN" sz="1600">
                  <a:solidFill>
                    <a:schemeClr val="tx1"/>
                  </a:solidFill>
                  <a:latin typeface="Times New Roman" panose="02020603050405020304" pitchFamily="18" charset="0"/>
                </a:endParaRPr>
              </a:p>
            </p:txBody>
          </p:sp>
          <p:sp>
            <p:nvSpPr>
              <p:cNvPr id="50193" name="Text Box 92"/>
              <p:cNvSpPr txBox="1">
                <a:spLocks noChangeArrowheads="1"/>
              </p:cNvSpPr>
              <p:nvPr/>
            </p:nvSpPr>
            <p:spPr bwMode="auto">
              <a:xfrm>
                <a:off x="550" y="2387"/>
                <a:ext cx="280" cy="1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15000"/>
                  </a:spcBef>
                  <a:buFontTx/>
                  <a:buNone/>
                </a:pPr>
                <a:r>
                  <a:rPr lang="en-US" altLang="zh-CN" sz="1600" u="sng">
                    <a:solidFill>
                      <a:schemeClr val="tx2"/>
                    </a:solidFill>
                    <a:latin typeface="Times New Roman" panose="02020603050405020304" pitchFamily="18" charset="0"/>
                  </a:rPr>
                  <a:t>7A39</a:t>
                </a:r>
                <a:endParaRPr lang="en-US" altLang="zh-CN" sz="1600" u="sng">
                  <a:solidFill>
                    <a:schemeClr val="tx2"/>
                  </a:solidFill>
                  <a:latin typeface="Times New Roman" panose="02020603050405020304" pitchFamily="18" charset="0"/>
                </a:endParaRPr>
              </a:p>
              <a:p>
                <a:pPr algn="r">
                  <a:spcBef>
                    <a:spcPct val="15000"/>
                  </a:spcBef>
                  <a:buFontTx/>
                  <a:buNone/>
                </a:pPr>
                <a:endParaRPr lang="en-US" altLang="zh-CN" sz="1600" u="sng">
                  <a:solidFill>
                    <a:schemeClr val="tx2"/>
                  </a:solidFill>
                  <a:latin typeface="Times New Roman" panose="02020603050405020304" pitchFamily="18" charset="0"/>
                </a:endParaRPr>
              </a:p>
              <a:p>
                <a:pPr algn="r">
                  <a:spcBef>
                    <a:spcPct val="15000"/>
                  </a:spcBef>
                  <a:buFontTx/>
                  <a:buNone/>
                </a:pPr>
                <a:r>
                  <a:rPr lang="en-US" altLang="zh-CN" sz="1600" u="sng">
                    <a:solidFill>
                      <a:schemeClr val="tx2"/>
                    </a:solidFill>
                    <a:latin typeface="Times New Roman" panose="02020603050405020304" pitchFamily="18" charset="0"/>
                  </a:rPr>
                  <a:t>AB01</a:t>
                </a:r>
                <a:endParaRPr lang="en-US" altLang="zh-CN" sz="1600" u="sng">
                  <a:solidFill>
                    <a:schemeClr val="tx2"/>
                  </a:solidFill>
                  <a:latin typeface="Times New Roman" panose="02020603050405020304" pitchFamily="18" charset="0"/>
                </a:endParaRPr>
              </a:p>
              <a:p>
                <a:pPr algn="r">
                  <a:spcBef>
                    <a:spcPct val="15000"/>
                  </a:spcBef>
                  <a:buFontTx/>
                  <a:buNone/>
                </a:pPr>
                <a:endParaRPr lang="en-US" altLang="zh-CN" sz="1600" u="sng">
                  <a:solidFill>
                    <a:schemeClr val="tx2"/>
                  </a:solidFill>
                  <a:latin typeface="Times New Roman" panose="02020603050405020304" pitchFamily="18" charset="0"/>
                </a:endParaRPr>
              </a:p>
              <a:p>
                <a:pPr algn="r">
                  <a:spcBef>
                    <a:spcPct val="15000"/>
                  </a:spcBef>
                  <a:buFontTx/>
                  <a:buNone/>
                </a:pPr>
                <a:r>
                  <a:rPr lang="en-US" altLang="zh-CN" sz="1600" u="sng">
                    <a:solidFill>
                      <a:schemeClr val="tx2"/>
                    </a:solidFill>
                    <a:latin typeface="Times New Roman" panose="02020603050405020304" pitchFamily="18" charset="0"/>
                  </a:rPr>
                  <a:t>B03D</a:t>
                </a:r>
                <a:endParaRPr lang="en-US" altLang="zh-CN" sz="1600" u="sng">
                  <a:solidFill>
                    <a:schemeClr val="tx2"/>
                  </a:solidFill>
                  <a:latin typeface="Times New Roman" panose="02020603050405020304" pitchFamily="18" charset="0"/>
                </a:endParaRPr>
              </a:p>
              <a:p>
                <a:pPr algn="r">
                  <a:spcBef>
                    <a:spcPct val="15000"/>
                  </a:spcBef>
                  <a:buFontTx/>
                  <a:buNone/>
                </a:pPr>
                <a:endParaRPr lang="en-US" altLang="zh-CN" sz="1600" u="sng">
                  <a:solidFill>
                    <a:schemeClr val="tx2"/>
                  </a:solidFill>
                  <a:latin typeface="Times New Roman" panose="02020603050405020304" pitchFamily="18" charset="0"/>
                </a:endParaRPr>
              </a:p>
              <a:p>
                <a:pPr algn="r">
                  <a:spcBef>
                    <a:spcPct val="15000"/>
                  </a:spcBef>
                  <a:buFontTx/>
                  <a:buNone/>
                </a:pPr>
                <a:r>
                  <a:rPr lang="en-US" altLang="zh-CN" sz="1600" u="sng">
                    <a:solidFill>
                      <a:schemeClr val="tx2"/>
                    </a:solidFill>
                    <a:latin typeface="Times New Roman" panose="02020603050405020304" pitchFamily="18" charset="0"/>
                  </a:rPr>
                  <a:t>BEF5</a:t>
                </a:r>
                <a:endParaRPr lang="en-US" altLang="zh-CN" sz="1600" u="sng">
                  <a:solidFill>
                    <a:schemeClr val="tx2"/>
                  </a:solidFill>
                  <a:latin typeface="Times New Roman" panose="02020603050405020304" pitchFamily="18" charset="0"/>
                </a:endParaRPr>
              </a:p>
              <a:p>
                <a:pPr algn="r">
                  <a:spcBef>
                    <a:spcPct val="15000"/>
                  </a:spcBef>
                  <a:buFontTx/>
                  <a:buNone/>
                </a:pPr>
                <a:r>
                  <a:rPr lang="en-US" altLang="zh-CN" sz="1600" u="sng">
                    <a:solidFill>
                      <a:schemeClr val="tx2"/>
                    </a:solidFill>
                    <a:latin typeface="Times New Roman" panose="02020603050405020304" pitchFamily="18" charset="0"/>
                  </a:rPr>
                  <a:t>DA29</a:t>
                </a:r>
                <a:endParaRPr lang="en-US" altLang="zh-CN" sz="1600" u="sng">
                  <a:solidFill>
                    <a:schemeClr val="tx2"/>
                  </a:solidFill>
                  <a:latin typeface="Times New Roman" panose="02020603050405020304" pitchFamily="18" charset="0"/>
                </a:endParaRPr>
              </a:p>
            </p:txBody>
          </p:sp>
          <p:grpSp>
            <p:nvGrpSpPr>
              <p:cNvPr id="50194" name="Group 93"/>
              <p:cNvGrpSpPr/>
              <p:nvPr/>
            </p:nvGrpSpPr>
            <p:grpSpPr bwMode="auto">
              <a:xfrm>
                <a:off x="960" y="2722"/>
                <a:ext cx="975" cy="179"/>
                <a:chOff x="960" y="2722"/>
                <a:chExt cx="975" cy="179"/>
              </a:xfrm>
            </p:grpSpPr>
            <p:sp>
              <p:nvSpPr>
                <p:cNvPr id="50205" name="Text Box 94"/>
                <p:cNvSpPr txBox="1">
                  <a:spLocks noChangeArrowheads="1"/>
                </p:cNvSpPr>
                <p:nvPr/>
              </p:nvSpPr>
              <p:spPr bwMode="auto">
                <a:xfrm>
                  <a:off x="960" y="2722"/>
                  <a:ext cx="975"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   a2             DA29</a:t>
                  </a:r>
                  <a:endParaRPr lang="en-US" altLang="zh-CN" sz="1600">
                    <a:solidFill>
                      <a:schemeClr val="tx1"/>
                    </a:solidFill>
                    <a:latin typeface="Times New Roman" panose="02020603050405020304" pitchFamily="18" charset="0"/>
                  </a:endParaRPr>
                </a:p>
              </p:txBody>
            </p:sp>
            <p:sp>
              <p:nvSpPr>
                <p:cNvPr id="50206" name="Line 95"/>
                <p:cNvSpPr>
                  <a:spLocks noChangeShapeType="1"/>
                </p:cNvSpPr>
                <p:nvPr/>
              </p:nvSpPr>
              <p:spPr bwMode="auto">
                <a:xfrm>
                  <a:off x="1447" y="2729"/>
                  <a:ext cx="0" cy="163"/>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0195" name="Text Box 96"/>
              <p:cNvSpPr txBox="1">
                <a:spLocks noChangeArrowheads="1"/>
              </p:cNvSpPr>
              <p:nvPr/>
            </p:nvSpPr>
            <p:spPr bwMode="auto">
              <a:xfrm>
                <a:off x="960" y="2900"/>
                <a:ext cx="975"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600">
                  <a:solidFill>
                    <a:schemeClr val="tx1"/>
                  </a:solidFill>
                  <a:latin typeface="Times New Roman" panose="02020603050405020304" pitchFamily="18" charset="0"/>
                </a:endParaRPr>
              </a:p>
            </p:txBody>
          </p:sp>
          <p:grpSp>
            <p:nvGrpSpPr>
              <p:cNvPr id="50196" name="Group 97"/>
              <p:cNvGrpSpPr/>
              <p:nvPr/>
            </p:nvGrpSpPr>
            <p:grpSpPr bwMode="auto">
              <a:xfrm>
                <a:off x="960" y="3078"/>
                <a:ext cx="975" cy="179"/>
                <a:chOff x="960" y="2722"/>
                <a:chExt cx="975" cy="179"/>
              </a:xfrm>
            </p:grpSpPr>
            <p:sp>
              <p:nvSpPr>
                <p:cNvPr id="50203" name="Text Box 98"/>
                <p:cNvSpPr txBox="1">
                  <a:spLocks noChangeArrowheads="1"/>
                </p:cNvSpPr>
                <p:nvPr/>
              </p:nvSpPr>
              <p:spPr bwMode="auto">
                <a:xfrm>
                  <a:off x="960" y="2722"/>
                  <a:ext cx="975"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   a1             AB01</a:t>
                  </a:r>
                  <a:endParaRPr lang="en-US" altLang="zh-CN" sz="1600">
                    <a:solidFill>
                      <a:schemeClr val="tx1"/>
                    </a:solidFill>
                    <a:latin typeface="Times New Roman" panose="02020603050405020304" pitchFamily="18" charset="0"/>
                  </a:endParaRPr>
                </a:p>
              </p:txBody>
            </p:sp>
            <p:sp>
              <p:nvSpPr>
                <p:cNvPr id="50204" name="Line 99"/>
                <p:cNvSpPr>
                  <a:spLocks noChangeShapeType="1"/>
                </p:cNvSpPr>
                <p:nvPr/>
              </p:nvSpPr>
              <p:spPr bwMode="auto">
                <a:xfrm>
                  <a:off x="1447" y="2729"/>
                  <a:ext cx="0" cy="163"/>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0197" name="Group 100"/>
              <p:cNvGrpSpPr/>
              <p:nvPr/>
            </p:nvGrpSpPr>
            <p:grpSpPr bwMode="auto">
              <a:xfrm>
                <a:off x="960" y="3436"/>
                <a:ext cx="975" cy="179"/>
                <a:chOff x="960" y="2722"/>
                <a:chExt cx="975" cy="179"/>
              </a:xfrm>
            </p:grpSpPr>
            <p:sp>
              <p:nvSpPr>
                <p:cNvPr id="50201" name="Text Box 101"/>
                <p:cNvSpPr txBox="1">
                  <a:spLocks noChangeArrowheads="1"/>
                </p:cNvSpPr>
                <p:nvPr/>
              </p:nvSpPr>
              <p:spPr bwMode="auto">
                <a:xfrm>
                  <a:off x="960" y="2722"/>
                  <a:ext cx="975"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   a4             Nil(0)</a:t>
                  </a:r>
                  <a:endParaRPr lang="en-US" altLang="zh-CN" sz="1600">
                    <a:solidFill>
                      <a:schemeClr val="tx1"/>
                    </a:solidFill>
                    <a:latin typeface="Times New Roman" panose="02020603050405020304" pitchFamily="18" charset="0"/>
                  </a:endParaRPr>
                </a:p>
              </p:txBody>
            </p:sp>
            <p:sp>
              <p:nvSpPr>
                <p:cNvPr id="50202" name="Line 102"/>
                <p:cNvSpPr>
                  <a:spLocks noChangeShapeType="1"/>
                </p:cNvSpPr>
                <p:nvPr/>
              </p:nvSpPr>
              <p:spPr bwMode="auto">
                <a:xfrm>
                  <a:off x="1447" y="2729"/>
                  <a:ext cx="0" cy="163"/>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0198" name="Group 103"/>
              <p:cNvGrpSpPr/>
              <p:nvPr/>
            </p:nvGrpSpPr>
            <p:grpSpPr bwMode="auto">
              <a:xfrm>
                <a:off x="960" y="3614"/>
                <a:ext cx="975" cy="179"/>
                <a:chOff x="960" y="2722"/>
                <a:chExt cx="975" cy="179"/>
              </a:xfrm>
            </p:grpSpPr>
            <p:sp>
              <p:nvSpPr>
                <p:cNvPr id="50199" name="Text Box 104"/>
                <p:cNvSpPr txBox="1">
                  <a:spLocks noChangeArrowheads="1"/>
                </p:cNvSpPr>
                <p:nvPr/>
              </p:nvSpPr>
              <p:spPr bwMode="auto">
                <a:xfrm>
                  <a:off x="960" y="2722"/>
                  <a:ext cx="975"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   a3             BEF5</a:t>
                  </a:r>
                  <a:endParaRPr lang="en-US" altLang="zh-CN" sz="1600">
                    <a:solidFill>
                      <a:schemeClr val="tx1"/>
                    </a:solidFill>
                    <a:latin typeface="Times New Roman" panose="02020603050405020304" pitchFamily="18" charset="0"/>
                  </a:endParaRPr>
                </a:p>
              </p:txBody>
            </p:sp>
            <p:sp>
              <p:nvSpPr>
                <p:cNvPr id="50200" name="Line 105"/>
                <p:cNvSpPr>
                  <a:spLocks noChangeShapeType="1"/>
                </p:cNvSpPr>
                <p:nvPr/>
              </p:nvSpPr>
              <p:spPr bwMode="auto">
                <a:xfrm>
                  <a:off x="1447" y="2729"/>
                  <a:ext cx="0" cy="163"/>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50184" name="Text Box 106"/>
            <p:cNvSpPr txBox="1">
              <a:spLocks noChangeArrowheads="1"/>
            </p:cNvSpPr>
            <p:nvPr/>
          </p:nvSpPr>
          <p:spPr bwMode="auto">
            <a:xfrm>
              <a:off x="2020" y="2297"/>
              <a:ext cx="86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Head</a:t>
              </a:r>
              <a:endParaRPr lang="zh-CN" altLang="en-US" sz="1600">
                <a:solidFill>
                  <a:schemeClr val="tx1"/>
                </a:solidFill>
                <a:latin typeface="Times New Roman" panose="02020603050405020304" pitchFamily="18" charset="0"/>
              </a:endParaRPr>
            </a:p>
          </p:txBody>
        </p:sp>
        <p:grpSp>
          <p:nvGrpSpPr>
            <p:cNvPr id="50185" name="Group 107"/>
            <p:cNvGrpSpPr/>
            <p:nvPr/>
          </p:nvGrpSpPr>
          <p:grpSpPr bwMode="auto">
            <a:xfrm>
              <a:off x="176" y="2656"/>
              <a:ext cx="2523" cy="1500"/>
              <a:chOff x="330" y="2722"/>
              <a:chExt cx="2254" cy="1500"/>
            </a:xfrm>
          </p:grpSpPr>
          <p:sp>
            <p:nvSpPr>
              <p:cNvPr id="50186" name="Freeform 108"/>
              <p:cNvSpPr/>
              <p:nvPr/>
            </p:nvSpPr>
            <p:spPr bwMode="auto">
              <a:xfrm>
                <a:off x="330" y="2722"/>
                <a:ext cx="1944" cy="432"/>
              </a:xfrm>
              <a:custGeom>
                <a:avLst/>
                <a:gdLst>
                  <a:gd name="T0" fmla="*/ 1528 w 1944"/>
                  <a:gd name="T1" fmla="*/ 432 h 432"/>
                  <a:gd name="T2" fmla="*/ 1720 w 1944"/>
                  <a:gd name="T3" fmla="*/ 288 h 432"/>
                  <a:gd name="T4" fmla="*/ 184 w 1944"/>
                  <a:gd name="T5" fmla="*/ 192 h 432"/>
                  <a:gd name="T6" fmla="*/ 616 w 1944"/>
                  <a:gd name="T7" fmla="*/ 0 h 432"/>
                  <a:gd name="T8" fmla="*/ 0 60000 65536"/>
                  <a:gd name="T9" fmla="*/ 0 60000 65536"/>
                  <a:gd name="T10" fmla="*/ 0 60000 65536"/>
                  <a:gd name="T11" fmla="*/ 0 60000 65536"/>
                  <a:gd name="T12" fmla="*/ 0 w 1944"/>
                  <a:gd name="T13" fmla="*/ 0 h 432"/>
                  <a:gd name="T14" fmla="*/ 1944 w 1944"/>
                  <a:gd name="T15" fmla="*/ 432 h 432"/>
                </a:gdLst>
                <a:ahLst/>
                <a:cxnLst>
                  <a:cxn ang="T8">
                    <a:pos x="T0" y="T1"/>
                  </a:cxn>
                  <a:cxn ang="T9">
                    <a:pos x="T2" y="T3"/>
                  </a:cxn>
                  <a:cxn ang="T10">
                    <a:pos x="T4" y="T5"/>
                  </a:cxn>
                  <a:cxn ang="T11">
                    <a:pos x="T6" y="T7"/>
                  </a:cxn>
                </a:cxnLst>
                <a:rect l="T12" t="T13" r="T14" b="T15"/>
                <a:pathLst>
                  <a:path w="1944" h="432">
                    <a:moveTo>
                      <a:pt x="1528" y="432"/>
                    </a:moveTo>
                    <a:cubicBezTo>
                      <a:pt x="1736" y="380"/>
                      <a:pt x="1944" y="328"/>
                      <a:pt x="1720" y="288"/>
                    </a:cubicBezTo>
                    <a:cubicBezTo>
                      <a:pt x="1496" y="248"/>
                      <a:pt x="368" y="240"/>
                      <a:pt x="184" y="192"/>
                    </a:cubicBezTo>
                    <a:cubicBezTo>
                      <a:pt x="0" y="144"/>
                      <a:pt x="552" y="32"/>
                      <a:pt x="616" y="0"/>
                    </a:cubicBezTo>
                  </a:path>
                </a:pathLst>
              </a:custGeom>
              <a:noFill/>
              <a:ln w="9525">
                <a:solidFill>
                  <a:schemeClr val="tx1"/>
                </a:solidFill>
                <a:prstDash val="dashDot"/>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187" name="Freeform 109"/>
              <p:cNvSpPr/>
              <p:nvPr/>
            </p:nvSpPr>
            <p:spPr bwMode="auto">
              <a:xfrm>
                <a:off x="400" y="2838"/>
                <a:ext cx="2184" cy="1384"/>
              </a:xfrm>
              <a:custGeom>
                <a:avLst/>
                <a:gdLst>
                  <a:gd name="T0" fmla="*/ 1472 w 2184"/>
                  <a:gd name="T1" fmla="*/ 8 h 1384"/>
                  <a:gd name="T2" fmla="*/ 1904 w 2184"/>
                  <a:gd name="T3" fmla="*/ 200 h 1384"/>
                  <a:gd name="T4" fmla="*/ 1904 w 2184"/>
                  <a:gd name="T5" fmla="*/ 1208 h 1384"/>
                  <a:gd name="T6" fmla="*/ 224 w 2184"/>
                  <a:gd name="T7" fmla="*/ 1256 h 1384"/>
                  <a:gd name="T8" fmla="*/ 560 w 2184"/>
                  <a:gd name="T9" fmla="*/ 776 h 1384"/>
                  <a:gd name="T10" fmla="*/ 0 60000 65536"/>
                  <a:gd name="T11" fmla="*/ 0 60000 65536"/>
                  <a:gd name="T12" fmla="*/ 0 60000 65536"/>
                  <a:gd name="T13" fmla="*/ 0 60000 65536"/>
                  <a:gd name="T14" fmla="*/ 0 60000 65536"/>
                  <a:gd name="T15" fmla="*/ 0 w 2184"/>
                  <a:gd name="T16" fmla="*/ 0 h 1384"/>
                  <a:gd name="T17" fmla="*/ 2184 w 2184"/>
                  <a:gd name="T18" fmla="*/ 1384 h 1384"/>
                </a:gdLst>
                <a:ahLst/>
                <a:cxnLst>
                  <a:cxn ang="T10">
                    <a:pos x="T0" y="T1"/>
                  </a:cxn>
                  <a:cxn ang="T11">
                    <a:pos x="T2" y="T3"/>
                  </a:cxn>
                  <a:cxn ang="T12">
                    <a:pos x="T4" y="T5"/>
                  </a:cxn>
                  <a:cxn ang="T13">
                    <a:pos x="T6" y="T7"/>
                  </a:cxn>
                  <a:cxn ang="T14">
                    <a:pos x="T8" y="T9"/>
                  </a:cxn>
                </a:cxnLst>
                <a:rect l="T15" t="T16" r="T17" b="T18"/>
                <a:pathLst>
                  <a:path w="2184" h="1384">
                    <a:moveTo>
                      <a:pt x="1472" y="8"/>
                    </a:moveTo>
                    <a:cubicBezTo>
                      <a:pt x="1652" y="4"/>
                      <a:pt x="1832" y="0"/>
                      <a:pt x="1904" y="200"/>
                    </a:cubicBezTo>
                    <a:cubicBezTo>
                      <a:pt x="1976" y="400"/>
                      <a:pt x="2184" y="1032"/>
                      <a:pt x="1904" y="1208"/>
                    </a:cubicBezTo>
                    <a:cubicBezTo>
                      <a:pt x="1624" y="1384"/>
                      <a:pt x="448" y="1328"/>
                      <a:pt x="224" y="1256"/>
                    </a:cubicBezTo>
                    <a:cubicBezTo>
                      <a:pt x="0" y="1184"/>
                      <a:pt x="280" y="980"/>
                      <a:pt x="560" y="776"/>
                    </a:cubicBezTo>
                  </a:path>
                </a:pathLst>
              </a:custGeom>
              <a:noFill/>
              <a:ln w="9525">
                <a:solidFill>
                  <a:schemeClr val="tx1"/>
                </a:solidFill>
                <a:prstDash val="dashDot"/>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188" name="Freeform 110"/>
              <p:cNvSpPr/>
              <p:nvPr/>
            </p:nvSpPr>
            <p:spPr bwMode="auto">
              <a:xfrm>
                <a:off x="518" y="3298"/>
                <a:ext cx="1874" cy="398"/>
              </a:xfrm>
              <a:custGeom>
                <a:avLst/>
                <a:gdLst>
                  <a:gd name="T0" fmla="*/ 1354 w 1874"/>
                  <a:gd name="T1" fmla="*/ 398 h 398"/>
                  <a:gd name="T2" fmla="*/ 1594 w 1874"/>
                  <a:gd name="T3" fmla="*/ 302 h 398"/>
                  <a:gd name="T4" fmla="*/ 1642 w 1874"/>
                  <a:gd name="T5" fmla="*/ 62 h 398"/>
                  <a:gd name="T6" fmla="*/ 202 w 1874"/>
                  <a:gd name="T7" fmla="*/ 14 h 398"/>
                  <a:gd name="T8" fmla="*/ 433 w 1874"/>
                  <a:gd name="T9" fmla="*/ 145 h 398"/>
                  <a:gd name="T10" fmla="*/ 0 60000 65536"/>
                  <a:gd name="T11" fmla="*/ 0 60000 65536"/>
                  <a:gd name="T12" fmla="*/ 0 60000 65536"/>
                  <a:gd name="T13" fmla="*/ 0 60000 65536"/>
                  <a:gd name="T14" fmla="*/ 0 60000 65536"/>
                  <a:gd name="T15" fmla="*/ 0 w 1874"/>
                  <a:gd name="T16" fmla="*/ 0 h 398"/>
                  <a:gd name="T17" fmla="*/ 1874 w 1874"/>
                  <a:gd name="T18" fmla="*/ 398 h 398"/>
                </a:gdLst>
                <a:ahLst/>
                <a:cxnLst>
                  <a:cxn ang="T10">
                    <a:pos x="T0" y="T1"/>
                  </a:cxn>
                  <a:cxn ang="T11">
                    <a:pos x="T2" y="T3"/>
                  </a:cxn>
                  <a:cxn ang="T12">
                    <a:pos x="T4" y="T5"/>
                  </a:cxn>
                  <a:cxn ang="T13">
                    <a:pos x="T6" y="T7"/>
                  </a:cxn>
                  <a:cxn ang="T14">
                    <a:pos x="T8" y="T9"/>
                  </a:cxn>
                </a:cxnLst>
                <a:rect l="T15" t="T16" r="T17" b="T18"/>
                <a:pathLst>
                  <a:path w="1874" h="398">
                    <a:moveTo>
                      <a:pt x="1354" y="398"/>
                    </a:moveTo>
                    <a:cubicBezTo>
                      <a:pt x="1450" y="378"/>
                      <a:pt x="1546" y="358"/>
                      <a:pt x="1594" y="302"/>
                    </a:cubicBezTo>
                    <a:cubicBezTo>
                      <a:pt x="1642" y="246"/>
                      <a:pt x="1874" y="110"/>
                      <a:pt x="1642" y="62"/>
                    </a:cubicBezTo>
                    <a:cubicBezTo>
                      <a:pt x="1410" y="14"/>
                      <a:pt x="404" y="0"/>
                      <a:pt x="202" y="14"/>
                    </a:cubicBezTo>
                    <a:cubicBezTo>
                      <a:pt x="0" y="28"/>
                      <a:pt x="216" y="86"/>
                      <a:pt x="433" y="145"/>
                    </a:cubicBezTo>
                  </a:path>
                </a:pathLst>
              </a:custGeom>
              <a:noFill/>
              <a:ln w="9525">
                <a:solidFill>
                  <a:schemeClr val="tx1"/>
                </a:solidFill>
                <a:prstDash val="dashDot"/>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AB14F5D9-4D9C-4F3F-AC2E-0C64C69D6C74}"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52227"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3.2 </a:t>
            </a:r>
            <a:r>
              <a:rPr lang="zh-CN" altLang="en-US" sz="2400">
                <a:latin typeface="宋体" panose="02010600030101010101" pitchFamily="2" charset="-122"/>
                <a:ea typeface="宋体" panose="02010600030101010101" pitchFamily="2" charset="-122"/>
              </a:rPr>
              <a:t>线性表</a:t>
            </a:r>
            <a:endParaRPr lang="zh-CN" altLang="en-US" sz="2400">
              <a:latin typeface="宋体" panose="02010600030101010101" pitchFamily="2" charset="-122"/>
              <a:ea typeface="宋体" panose="02010600030101010101" pitchFamily="2" charset="-122"/>
            </a:endParaRPr>
          </a:p>
        </p:txBody>
      </p:sp>
      <p:sp>
        <p:nvSpPr>
          <p:cNvPr id="52228" name="Rectangle 3"/>
          <p:cNvSpPr>
            <a:spLocks noGrp="1" noChangeArrowheads="1"/>
          </p:cNvSpPr>
          <p:nvPr>
            <p:ph type="body" idx="1"/>
          </p:nvPr>
        </p:nvSpPr>
        <p:spPr>
          <a:xfrm>
            <a:off x="107950" y="981075"/>
            <a:ext cx="8610600" cy="3816350"/>
          </a:xfrm>
        </p:spPr>
        <p:txBody>
          <a:bodyPr/>
          <a:lstStyle/>
          <a:p>
            <a:pPr marL="285750" indent="-285750"/>
            <a:r>
              <a:rPr lang="zh-CN" altLang="en-US" sz="2800">
                <a:latin typeface="宋体" panose="02010600030101010101" pitchFamily="2" charset="-122"/>
                <a:ea typeface="宋体" panose="02010600030101010101" pitchFamily="2" charset="-122"/>
              </a:rPr>
              <a:t>链式存储的线性表</a:t>
            </a:r>
            <a:endParaRPr lang="zh-CN" altLang="en-US" sz="2800">
              <a:latin typeface="宋体" panose="02010600030101010101" pitchFamily="2" charset="-122"/>
              <a:ea typeface="宋体" panose="02010600030101010101" pitchFamily="2" charset="-122"/>
            </a:endParaRPr>
          </a:p>
          <a:p>
            <a:pPr marL="862330" lvl="1"/>
            <a:r>
              <a:rPr lang="zh-CN" altLang="en-US" sz="2400">
                <a:latin typeface="宋体" panose="02010600030101010101" pitchFamily="2" charset="-122"/>
                <a:ea typeface="宋体" panose="02010600030101010101" pitchFamily="2" charset="-122"/>
              </a:rPr>
              <a:t>数据元素的存储</a:t>
            </a:r>
            <a:endParaRPr lang="zh-CN" altLang="en-US" sz="2400">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和顺序存储方式不同</a:t>
            </a:r>
            <a:endParaRPr lang="zh-CN" altLang="en-US" sz="2000">
              <a:latin typeface="宋体" panose="02010600030101010101" pitchFamily="2" charset="-122"/>
              <a:ea typeface="宋体" panose="02010600030101010101" pitchFamily="2" charset="-122"/>
            </a:endParaRPr>
          </a:p>
          <a:p>
            <a:pPr marL="1333500" lvl="2"/>
            <a:r>
              <a:rPr lang="zh-CN" altLang="en-US" sz="2000">
                <a:solidFill>
                  <a:schemeClr val="tx2"/>
                </a:solidFill>
                <a:latin typeface="宋体" panose="02010600030101010101" pitchFamily="2" charset="-122"/>
                <a:ea typeface="宋体" panose="02010600030101010101" pitchFamily="2" charset="-122"/>
              </a:rPr>
              <a:t>每个元素（结点）由两个部分组成</a:t>
            </a:r>
            <a:endParaRPr lang="zh-CN" altLang="en-US" sz="2000">
              <a:solidFill>
                <a:schemeClr val="tx2"/>
              </a:solidFill>
              <a:latin typeface="宋体" panose="02010600030101010101" pitchFamily="2" charset="-122"/>
              <a:ea typeface="宋体" panose="02010600030101010101" pitchFamily="2" charset="-122"/>
            </a:endParaRPr>
          </a:p>
          <a:p>
            <a:pPr marL="1901825" lvl="3"/>
            <a:r>
              <a:rPr lang="zh-CN" altLang="en-US" sz="1800">
                <a:solidFill>
                  <a:schemeClr val="tx2"/>
                </a:solidFill>
                <a:latin typeface="宋体" panose="02010600030101010101" pitchFamily="2" charset="-122"/>
                <a:ea typeface="宋体" panose="02010600030101010101" pitchFamily="2" charset="-122"/>
              </a:rPr>
              <a:t>数据域</a:t>
            </a:r>
            <a:r>
              <a:rPr lang="zh-CN" altLang="en-US" sz="1800">
                <a:latin typeface="宋体" panose="02010600030101010101" pitchFamily="2" charset="-122"/>
                <a:ea typeface="宋体" panose="02010600030101010101" pitchFamily="2" charset="-122"/>
              </a:rPr>
              <a:t>，存储一个或多个数据项的数据</a:t>
            </a:r>
            <a:endParaRPr lang="zh-CN" altLang="en-US" sz="1800">
              <a:latin typeface="宋体" panose="02010600030101010101" pitchFamily="2" charset="-122"/>
              <a:ea typeface="宋体" panose="02010600030101010101" pitchFamily="2" charset="-122"/>
            </a:endParaRPr>
          </a:p>
          <a:p>
            <a:pPr marL="1901825" lvl="3"/>
            <a:r>
              <a:rPr lang="zh-CN" altLang="en-US" sz="1800">
                <a:solidFill>
                  <a:schemeClr val="tx2"/>
                </a:solidFill>
                <a:latin typeface="宋体" panose="02010600030101010101" pitchFamily="2" charset="-122"/>
                <a:ea typeface="宋体" panose="02010600030101010101" pitchFamily="2" charset="-122"/>
              </a:rPr>
              <a:t>地址域</a:t>
            </a:r>
            <a:r>
              <a:rPr lang="zh-CN" altLang="en-US" sz="1800">
                <a:latin typeface="宋体" panose="02010600030101010101" pitchFamily="2" charset="-122"/>
                <a:ea typeface="宋体" panose="02010600030101010101" pitchFamily="2" charset="-122"/>
              </a:rPr>
              <a:t>，存储其它数据元素的地址（指针，</a:t>
            </a:r>
            <a:r>
              <a:rPr lang="en-US" altLang="zh-CN" sz="1800">
                <a:latin typeface="宋体" panose="02010600030101010101" pitchFamily="2" charset="-122"/>
                <a:ea typeface="宋体" panose="02010600030101010101" pitchFamily="2" charset="-122"/>
              </a:rPr>
              <a:t>pointer），</a:t>
            </a:r>
            <a:r>
              <a:rPr lang="zh-CN" altLang="en-US" sz="1800">
                <a:latin typeface="宋体" panose="02010600030101010101" pitchFamily="2" charset="-122"/>
                <a:ea typeface="宋体" panose="02010600030101010101" pitchFamily="2" charset="-122"/>
              </a:rPr>
              <a:t>地址域可以包含一个或多个指针</a:t>
            </a:r>
            <a:endParaRPr lang="zh-CN" altLang="en-US" sz="1800">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用 </a:t>
            </a:r>
            <a:r>
              <a:rPr lang="en-US" altLang="zh-CN" sz="2000">
                <a:latin typeface="宋体" panose="02010600030101010101" pitchFamily="2" charset="-122"/>
                <a:ea typeface="宋体" panose="02010600030101010101" pitchFamily="2" charset="-122"/>
              </a:rPr>
              <a:t>data( x ) </a:t>
            </a:r>
            <a:r>
              <a:rPr lang="zh-CN" altLang="en-US" sz="2000">
                <a:latin typeface="宋体" panose="02010600030101010101" pitchFamily="2" charset="-122"/>
                <a:ea typeface="宋体" panose="02010600030101010101" pitchFamily="2" charset="-122"/>
              </a:rPr>
              <a:t>表示 </a:t>
            </a:r>
            <a:r>
              <a:rPr lang="en-US" altLang="zh-CN" sz="2000">
                <a:latin typeface="宋体" panose="02010600030101010101" pitchFamily="2" charset="-122"/>
                <a:ea typeface="宋体" panose="02010600030101010101" pitchFamily="2" charset="-122"/>
              </a:rPr>
              <a:t>x </a:t>
            </a:r>
            <a:r>
              <a:rPr lang="zh-CN" altLang="en-US" sz="2000">
                <a:latin typeface="宋体" panose="02010600030101010101" pitchFamily="2" charset="-122"/>
                <a:ea typeface="宋体" panose="02010600030101010101" pitchFamily="2" charset="-122"/>
              </a:rPr>
              <a:t>指针所指向的结点的数据域内容</a:t>
            </a:r>
            <a:endParaRPr lang="en-US" altLang="zh-CN" sz="2000">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用 </a:t>
            </a:r>
            <a:r>
              <a:rPr lang="en-US" altLang="zh-CN" sz="2000">
                <a:latin typeface="宋体" panose="02010600030101010101" pitchFamily="2" charset="-122"/>
                <a:ea typeface="宋体" panose="02010600030101010101" pitchFamily="2" charset="-122"/>
              </a:rPr>
              <a:t>next( x ) </a:t>
            </a:r>
            <a:r>
              <a:rPr lang="zh-CN" altLang="en-US" sz="2000">
                <a:latin typeface="宋体" panose="02010600030101010101" pitchFamily="2" charset="-122"/>
                <a:ea typeface="宋体" panose="02010600030101010101" pitchFamily="2" charset="-122"/>
              </a:rPr>
              <a:t>表示 </a:t>
            </a:r>
            <a:r>
              <a:rPr lang="en-US" altLang="zh-CN" sz="2000">
                <a:latin typeface="宋体" panose="02010600030101010101" pitchFamily="2" charset="-122"/>
                <a:ea typeface="宋体" panose="02010600030101010101" pitchFamily="2" charset="-122"/>
              </a:rPr>
              <a:t>x </a:t>
            </a:r>
            <a:r>
              <a:rPr lang="zh-CN" altLang="en-US" sz="2000">
                <a:latin typeface="宋体" panose="02010600030101010101" pitchFamily="2" charset="-122"/>
                <a:ea typeface="宋体" panose="02010600030101010101" pitchFamily="2" charset="-122"/>
              </a:rPr>
              <a:t>指针所指向的结点的指针域内容</a:t>
            </a:r>
            <a:endParaRPr lang="en-US" altLang="zh-CN" sz="2000">
              <a:latin typeface="宋体" panose="02010600030101010101" pitchFamily="2" charset="-122"/>
              <a:ea typeface="宋体" panose="02010600030101010101" pitchFamily="2" charset="-122"/>
            </a:endParaRPr>
          </a:p>
        </p:txBody>
      </p:sp>
      <p:grpSp>
        <p:nvGrpSpPr>
          <p:cNvPr id="52229" name="Group 56"/>
          <p:cNvGrpSpPr/>
          <p:nvPr/>
        </p:nvGrpSpPr>
        <p:grpSpPr bwMode="auto">
          <a:xfrm>
            <a:off x="2124075" y="4581525"/>
            <a:ext cx="4895850" cy="1884363"/>
            <a:chOff x="1872" y="2544"/>
            <a:chExt cx="1900" cy="1021"/>
          </a:xfrm>
        </p:grpSpPr>
        <p:sp>
          <p:nvSpPr>
            <p:cNvPr id="52232" name="Text Box 57"/>
            <p:cNvSpPr txBox="1">
              <a:spLocks noChangeArrowheads="1"/>
            </p:cNvSpPr>
            <p:nvPr/>
          </p:nvSpPr>
          <p:spPr bwMode="auto">
            <a:xfrm>
              <a:off x="2160" y="3367"/>
              <a:ext cx="672" cy="198"/>
            </a:xfrm>
            <a:prstGeom prst="rect">
              <a:avLst/>
            </a:prstGeom>
            <a:noFill/>
            <a:ln w="28575">
              <a:solidFill>
                <a:schemeClr val="tx2"/>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2"/>
                  </a:solidFill>
                  <a:latin typeface="Times New Roman" panose="02020603050405020304" pitchFamily="18" charset="0"/>
                </a:rPr>
                <a:t>Data fields</a:t>
              </a:r>
              <a:endParaRPr lang="en-US" altLang="zh-CN" sz="1600" b="0">
                <a:solidFill>
                  <a:schemeClr val="tx2"/>
                </a:solidFill>
                <a:latin typeface="Times New Roman" panose="02020603050405020304" pitchFamily="18" charset="0"/>
              </a:endParaRPr>
            </a:p>
          </p:txBody>
        </p:sp>
        <p:sp>
          <p:nvSpPr>
            <p:cNvPr id="52233" name="Text Box 58"/>
            <p:cNvSpPr txBox="1">
              <a:spLocks noChangeArrowheads="1"/>
            </p:cNvSpPr>
            <p:nvPr/>
          </p:nvSpPr>
          <p:spPr bwMode="auto">
            <a:xfrm>
              <a:off x="2832" y="3367"/>
              <a:ext cx="672" cy="197"/>
            </a:xfrm>
            <a:prstGeom prst="rect">
              <a:avLst/>
            </a:prstGeom>
            <a:noFill/>
            <a:ln w="28575">
              <a:solidFill>
                <a:schemeClr val="tx2"/>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2"/>
                  </a:solidFill>
                  <a:latin typeface="Times New Roman" panose="02020603050405020304" pitchFamily="18" charset="0"/>
                </a:rPr>
                <a:t>Next pointer</a:t>
              </a:r>
              <a:endParaRPr lang="en-US" altLang="zh-CN" sz="1600" b="0">
                <a:solidFill>
                  <a:schemeClr val="tx2"/>
                </a:solidFill>
                <a:latin typeface="Times New Roman" panose="02020603050405020304" pitchFamily="18" charset="0"/>
              </a:endParaRPr>
            </a:p>
          </p:txBody>
        </p:sp>
        <p:sp>
          <p:nvSpPr>
            <p:cNvPr id="52234" name="AutoShape 59"/>
            <p:cNvSpPr>
              <a:spLocks noChangeArrowheads="1"/>
            </p:cNvSpPr>
            <p:nvPr/>
          </p:nvSpPr>
          <p:spPr bwMode="auto">
            <a:xfrm>
              <a:off x="1872" y="2558"/>
              <a:ext cx="672" cy="747"/>
            </a:xfrm>
            <a:prstGeom prst="wedgeEllipseCallout">
              <a:avLst>
                <a:gd name="adj1" fmla="val 16370"/>
                <a:gd name="adj2" fmla="val 55491"/>
              </a:avLst>
            </a:prstGeom>
            <a:noFill/>
            <a:ln w="2857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lnSpc>
                  <a:spcPct val="90000"/>
                </a:lnSpc>
                <a:spcBef>
                  <a:spcPct val="0"/>
                </a:spcBef>
                <a:buFontTx/>
                <a:buNone/>
              </a:pPr>
              <a:r>
                <a:rPr lang="en-US" altLang="zh-CN" sz="1600" b="0">
                  <a:solidFill>
                    <a:schemeClr val="tx1"/>
                  </a:solidFill>
                  <a:latin typeface="Times New Roman" panose="02020603050405020304" pitchFamily="18" charset="0"/>
                </a:rPr>
                <a:t>Student {</a:t>
              </a:r>
              <a:endParaRPr lang="en-US" altLang="zh-CN" sz="1600" b="0">
                <a:solidFill>
                  <a:schemeClr val="tx1"/>
                </a:solidFill>
                <a:latin typeface="Times New Roman" panose="02020603050405020304" pitchFamily="18" charset="0"/>
              </a:endParaRPr>
            </a:p>
            <a:p>
              <a:pPr algn="ctr">
                <a:lnSpc>
                  <a:spcPct val="90000"/>
                </a:lnSpc>
                <a:spcBef>
                  <a:spcPct val="0"/>
                </a:spcBef>
                <a:buFontTx/>
                <a:buNone/>
              </a:pPr>
              <a:r>
                <a:rPr lang="en-US" altLang="zh-CN" sz="1600" b="0">
                  <a:solidFill>
                    <a:schemeClr val="tx1"/>
                  </a:solidFill>
                  <a:latin typeface="Times New Roman" panose="02020603050405020304" pitchFamily="18" charset="0"/>
                </a:rPr>
                <a:t>ID,</a:t>
              </a:r>
              <a:endParaRPr lang="en-US" altLang="zh-CN" sz="1600" b="0">
                <a:solidFill>
                  <a:schemeClr val="tx1"/>
                </a:solidFill>
                <a:latin typeface="Times New Roman" panose="02020603050405020304" pitchFamily="18" charset="0"/>
              </a:endParaRPr>
            </a:p>
            <a:p>
              <a:pPr algn="ctr">
                <a:lnSpc>
                  <a:spcPct val="90000"/>
                </a:lnSpc>
                <a:spcBef>
                  <a:spcPct val="0"/>
                </a:spcBef>
                <a:buFontTx/>
                <a:buNone/>
              </a:pPr>
              <a:r>
                <a:rPr lang="en-US" altLang="zh-CN" sz="1600" b="0">
                  <a:solidFill>
                    <a:schemeClr val="tx1"/>
                  </a:solidFill>
                  <a:latin typeface="Times New Roman" panose="02020603050405020304" pitchFamily="18" charset="0"/>
                </a:rPr>
                <a:t>Age,</a:t>
              </a:r>
              <a:endParaRPr lang="en-US" altLang="zh-CN" sz="1600" b="0">
                <a:solidFill>
                  <a:schemeClr val="tx1"/>
                </a:solidFill>
                <a:latin typeface="Times New Roman" panose="02020603050405020304" pitchFamily="18" charset="0"/>
              </a:endParaRPr>
            </a:p>
            <a:p>
              <a:pPr algn="ctr">
                <a:lnSpc>
                  <a:spcPct val="90000"/>
                </a:lnSpc>
                <a:spcBef>
                  <a:spcPct val="0"/>
                </a:spcBef>
                <a:buFontTx/>
                <a:buNone/>
              </a:pPr>
              <a:r>
                <a:rPr lang="en-US" altLang="zh-CN" sz="1600" b="0">
                  <a:solidFill>
                    <a:schemeClr val="tx1"/>
                  </a:solidFill>
                  <a:latin typeface="Times New Roman" panose="02020603050405020304" pitchFamily="18" charset="0"/>
                </a:rPr>
                <a:t>…</a:t>
              </a:r>
              <a:endParaRPr lang="en-US" altLang="zh-CN" sz="1600" b="0">
                <a:solidFill>
                  <a:schemeClr val="tx1"/>
                </a:solidFill>
                <a:latin typeface="Times New Roman" panose="02020603050405020304" pitchFamily="18" charset="0"/>
              </a:endParaRPr>
            </a:p>
            <a:p>
              <a:pPr algn="ctr">
                <a:lnSpc>
                  <a:spcPct val="90000"/>
                </a:lnSpc>
                <a:spcBef>
                  <a:spcPct val="0"/>
                </a:spcBef>
                <a:buFontTx/>
                <a:buNone/>
              </a:pPr>
              <a:r>
                <a:rPr lang="en-US" altLang="zh-CN" sz="1600" b="0">
                  <a:solidFill>
                    <a:schemeClr val="tx1"/>
                  </a:solidFill>
                  <a:latin typeface="Times New Roman" panose="02020603050405020304" pitchFamily="18" charset="0"/>
                </a:rPr>
                <a:t>}</a:t>
              </a:r>
              <a:endParaRPr lang="en-US" altLang="zh-CN" sz="1600" b="0">
                <a:solidFill>
                  <a:schemeClr val="tx1"/>
                </a:solidFill>
                <a:latin typeface="Times New Roman" panose="02020603050405020304" pitchFamily="18" charset="0"/>
              </a:endParaRPr>
            </a:p>
          </p:txBody>
        </p:sp>
        <p:sp>
          <p:nvSpPr>
            <p:cNvPr id="52235" name="AutoShape 60"/>
            <p:cNvSpPr>
              <a:spLocks noChangeArrowheads="1"/>
            </p:cNvSpPr>
            <p:nvPr/>
          </p:nvSpPr>
          <p:spPr bwMode="auto">
            <a:xfrm>
              <a:off x="3100" y="2544"/>
              <a:ext cx="672" cy="747"/>
            </a:xfrm>
            <a:prstGeom prst="wedgeEllipseCallout">
              <a:avLst>
                <a:gd name="adj1" fmla="val -13690"/>
                <a:gd name="adj2" fmla="val 58301"/>
              </a:avLst>
            </a:prstGeom>
            <a:noFill/>
            <a:ln w="2857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lnSpc>
                  <a:spcPct val="90000"/>
                </a:lnSpc>
                <a:spcBef>
                  <a:spcPct val="0"/>
                </a:spcBef>
                <a:buFontTx/>
                <a:buNone/>
              </a:pPr>
              <a:r>
                <a:rPr lang="en-US" altLang="zh-CN" sz="1600" b="0">
                  <a:solidFill>
                    <a:schemeClr val="tx1"/>
                  </a:solidFill>
                  <a:latin typeface="Times New Roman" panose="02020603050405020304" pitchFamily="18" charset="0"/>
                </a:rPr>
                <a:t>16 bits /</a:t>
              </a:r>
              <a:endParaRPr lang="en-US" altLang="zh-CN" sz="1600" b="0">
                <a:solidFill>
                  <a:schemeClr val="tx1"/>
                </a:solidFill>
                <a:latin typeface="Times New Roman" panose="02020603050405020304" pitchFamily="18" charset="0"/>
              </a:endParaRPr>
            </a:p>
            <a:p>
              <a:pPr algn="ctr">
                <a:lnSpc>
                  <a:spcPct val="90000"/>
                </a:lnSpc>
                <a:spcBef>
                  <a:spcPct val="0"/>
                </a:spcBef>
                <a:buFontTx/>
                <a:buNone/>
              </a:pPr>
              <a:r>
                <a:rPr lang="en-US" altLang="zh-CN" sz="1600" b="0">
                  <a:solidFill>
                    <a:schemeClr val="tx1"/>
                  </a:solidFill>
                  <a:latin typeface="Times New Roman" panose="02020603050405020304" pitchFamily="18" charset="0"/>
                </a:rPr>
                <a:t>32 bits /</a:t>
              </a:r>
              <a:endParaRPr lang="en-US" altLang="zh-CN" sz="1600" b="0">
                <a:solidFill>
                  <a:schemeClr val="tx1"/>
                </a:solidFill>
                <a:latin typeface="Times New Roman" panose="02020603050405020304" pitchFamily="18" charset="0"/>
              </a:endParaRPr>
            </a:p>
            <a:p>
              <a:pPr algn="ctr">
                <a:lnSpc>
                  <a:spcPct val="90000"/>
                </a:lnSpc>
                <a:spcBef>
                  <a:spcPct val="0"/>
                </a:spcBef>
                <a:buFontTx/>
                <a:buNone/>
              </a:pPr>
              <a:r>
                <a:rPr lang="en-US" altLang="zh-CN" sz="1600" b="0">
                  <a:solidFill>
                    <a:schemeClr val="tx1"/>
                  </a:solidFill>
                  <a:latin typeface="Times New Roman" panose="02020603050405020304" pitchFamily="18" charset="0"/>
                </a:rPr>
                <a:t>64 bits</a:t>
              </a:r>
              <a:endParaRPr lang="en-US" altLang="zh-CN" sz="1600" b="0">
                <a:solidFill>
                  <a:schemeClr val="tx1"/>
                </a:solidFill>
                <a:latin typeface="Times New Roman" panose="02020603050405020304" pitchFamily="18" charset="0"/>
              </a:endParaRPr>
            </a:p>
            <a:p>
              <a:pPr algn="ctr">
                <a:lnSpc>
                  <a:spcPct val="90000"/>
                </a:lnSpc>
                <a:spcBef>
                  <a:spcPct val="0"/>
                </a:spcBef>
                <a:buFontTx/>
                <a:buNone/>
              </a:pPr>
              <a:r>
                <a:rPr lang="en-US" altLang="zh-CN" sz="1600" b="0">
                  <a:solidFill>
                    <a:schemeClr val="tx1"/>
                  </a:solidFill>
                  <a:latin typeface="Times New Roman" panose="02020603050405020304" pitchFamily="18" charset="0"/>
                </a:rPr>
                <a:t>Memory</a:t>
              </a:r>
              <a:endParaRPr lang="en-US" altLang="zh-CN" sz="1600" b="0">
                <a:solidFill>
                  <a:schemeClr val="tx1"/>
                </a:solidFill>
                <a:latin typeface="Times New Roman" panose="02020603050405020304" pitchFamily="18" charset="0"/>
              </a:endParaRPr>
            </a:p>
            <a:p>
              <a:pPr algn="ctr">
                <a:lnSpc>
                  <a:spcPct val="90000"/>
                </a:lnSpc>
                <a:spcBef>
                  <a:spcPct val="0"/>
                </a:spcBef>
                <a:buFontTx/>
                <a:buNone/>
              </a:pPr>
              <a:r>
                <a:rPr lang="en-US" altLang="zh-CN" sz="1600" b="0">
                  <a:solidFill>
                    <a:schemeClr val="tx1"/>
                  </a:solidFill>
                  <a:latin typeface="Times New Roman" panose="02020603050405020304" pitchFamily="18" charset="0"/>
                </a:rPr>
                <a:t>address</a:t>
              </a:r>
              <a:endParaRPr lang="en-US" altLang="zh-CN" sz="1600" b="0">
                <a:solidFill>
                  <a:schemeClr val="tx1"/>
                </a:solidFill>
                <a:latin typeface="Times New Roman" panose="02020603050405020304" pitchFamily="18" charset="0"/>
              </a:endParaRPr>
            </a:p>
          </p:txBody>
        </p:sp>
      </p:grpSp>
      <p:sp>
        <p:nvSpPr>
          <p:cNvPr id="52230" name="Text Box 61"/>
          <p:cNvSpPr txBox="1">
            <a:spLocks noChangeArrowheads="1"/>
          </p:cNvSpPr>
          <p:nvPr/>
        </p:nvSpPr>
        <p:spPr bwMode="auto">
          <a:xfrm>
            <a:off x="642938" y="6038850"/>
            <a:ext cx="11033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1400" b="0">
                <a:solidFill>
                  <a:schemeClr val="tx1"/>
                </a:solidFill>
                <a:latin typeface="Times New Roman" panose="02020603050405020304" pitchFamily="18" charset="0"/>
              </a:rPr>
              <a:t>指针 </a:t>
            </a:r>
            <a:r>
              <a:rPr lang="en-US" altLang="zh-CN" sz="1400" b="0">
                <a:solidFill>
                  <a:schemeClr val="tx1"/>
                </a:solidFill>
                <a:latin typeface="Times New Roman" panose="02020603050405020304" pitchFamily="18" charset="0"/>
              </a:rPr>
              <a:t>X</a:t>
            </a:r>
            <a:endParaRPr lang="en-US" altLang="zh-CN" sz="1400" b="0">
              <a:solidFill>
                <a:schemeClr val="tx1"/>
              </a:solidFill>
              <a:latin typeface="Times New Roman" panose="02020603050405020304" pitchFamily="18" charset="0"/>
            </a:endParaRPr>
          </a:p>
        </p:txBody>
      </p:sp>
      <p:sp>
        <p:nvSpPr>
          <p:cNvPr id="52231" name="Line 62"/>
          <p:cNvSpPr>
            <a:spLocks noChangeShapeType="1"/>
          </p:cNvSpPr>
          <p:nvPr/>
        </p:nvSpPr>
        <p:spPr bwMode="auto">
          <a:xfrm>
            <a:off x="1692275" y="6308725"/>
            <a:ext cx="935038"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34821" name="Picture 12" descr="Snap7"/>
          <p:cNvPicPr>
            <a:picLocks noChangeAspect="1" noChangeArrowheads="1"/>
          </p:cNvPicPr>
          <p:nvPr/>
        </p:nvPicPr>
        <p:blipFill>
          <a:blip r:embed="rId1" cstate="print">
            <a:duotone>
              <a:prstClr val="black"/>
              <a:schemeClr val="tx2">
                <a:tint val="45000"/>
                <a:satMod val="400000"/>
              </a:schemeClr>
            </a:duotone>
            <a:lum bright="-3000" contrast="100000"/>
          </a:blip>
          <a:srcRect/>
          <a:stretch>
            <a:fillRect/>
          </a:stretch>
        </p:blipFill>
        <p:spPr bwMode="auto">
          <a:xfrm>
            <a:off x="425450" y="2133600"/>
            <a:ext cx="8459788" cy="4581525"/>
          </a:xfrm>
          <a:prstGeom prst="rect">
            <a:avLst/>
          </a:prstGeom>
          <a:noFill/>
          <a:ln w="9525">
            <a:noFill/>
            <a:miter lim="800000"/>
            <a:headEnd/>
            <a:tailEnd/>
          </a:ln>
        </p:spPr>
      </p:pic>
      <p:sp>
        <p:nvSpPr>
          <p:cNvPr id="5427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F65F4A09-77A1-4945-A859-685CDA3DE7BA}"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54275"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3.2 </a:t>
            </a:r>
            <a:r>
              <a:rPr lang="zh-CN" altLang="en-US" sz="2400">
                <a:latin typeface="宋体" panose="02010600030101010101" pitchFamily="2" charset="-122"/>
                <a:ea typeface="宋体" panose="02010600030101010101" pitchFamily="2" charset="-122"/>
              </a:rPr>
              <a:t>线性表</a:t>
            </a:r>
            <a:endParaRPr lang="zh-CN" altLang="en-US" sz="2400">
              <a:latin typeface="宋体" panose="02010600030101010101" pitchFamily="2" charset="-122"/>
              <a:ea typeface="宋体" panose="02010600030101010101" pitchFamily="2" charset="-122"/>
            </a:endParaRPr>
          </a:p>
        </p:txBody>
      </p:sp>
      <p:sp>
        <p:nvSpPr>
          <p:cNvPr id="54276" name="Rectangle 3"/>
          <p:cNvSpPr>
            <a:spLocks noGrp="1" noChangeArrowheads="1"/>
          </p:cNvSpPr>
          <p:nvPr>
            <p:ph type="body" idx="1"/>
          </p:nvPr>
        </p:nvSpPr>
        <p:spPr>
          <a:xfrm>
            <a:off x="107950" y="981075"/>
            <a:ext cx="8610600" cy="1152525"/>
          </a:xfrm>
        </p:spPr>
        <p:txBody>
          <a:bodyPr/>
          <a:lstStyle/>
          <a:p>
            <a:pPr marL="285750" indent="-285750">
              <a:lnSpc>
                <a:spcPct val="90000"/>
              </a:lnSpc>
            </a:pPr>
            <a:r>
              <a:rPr lang="zh-CN" altLang="en-US" sz="2400">
                <a:latin typeface="宋体" panose="02010600030101010101" pitchFamily="2" charset="-122"/>
                <a:ea typeface="宋体" panose="02010600030101010101" pitchFamily="2" charset="-122"/>
              </a:rPr>
              <a:t>链式存储的线性表</a:t>
            </a:r>
            <a:endParaRPr lang="zh-CN" altLang="en-US" sz="2400">
              <a:latin typeface="宋体" panose="02010600030101010101" pitchFamily="2" charset="-122"/>
              <a:ea typeface="宋体" panose="02010600030101010101" pitchFamily="2" charset="-122"/>
            </a:endParaRPr>
          </a:p>
          <a:p>
            <a:pPr marL="862330" lvl="1">
              <a:lnSpc>
                <a:spcPct val="90000"/>
              </a:lnSpc>
            </a:pPr>
            <a:r>
              <a:rPr lang="zh-CN" altLang="en-US" sz="2000">
                <a:latin typeface="宋体" panose="02010600030101010101" pitchFamily="2" charset="-122"/>
                <a:ea typeface="宋体" panose="02010600030101010101" pitchFamily="2" charset="-122"/>
              </a:rPr>
              <a:t>操作的实现，参见 </a:t>
            </a:r>
            <a:r>
              <a:rPr lang="en-US" altLang="zh-CN" sz="2000">
                <a:latin typeface="宋体" panose="02010600030101010101" pitchFamily="2" charset="-122"/>
                <a:ea typeface="宋体" panose="02010600030101010101" pitchFamily="2" charset="-122"/>
              </a:rPr>
              <a:t>P29 </a:t>
            </a:r>
            <a:r>
              <a:rPr lang="zh-CN" altLang="en-US" sz="2000">
                <a:latin typeface="宋体" panose="02010600030101010101" pitchFamily="2" charset="-122"/>
                <a:ea typeface="宋体" panose="02010600030101010101" pitchFamily="2" charset="-122"/>
              </a:rPr>
              <a:t>表2.2</a:t>
            </a:r>
            <a:endParaRPr lang="zh-CN" altLang="en-US" sz="2000">
              <a:latin typeface="宋体" panose="02010600030101010101" pitchFamily="2" charset="-122"/>
              <a:ea typeface="宋体" panose="02010600030101010101" pitchFamily="2" charset="-122"/>
            </a:endParaRPr>
          </a:p>
          <a:p>
            <a:pPr marL="862330" lvl="1">
              <a:lnSpc>
                <a:spcPct val="90000"/>
              </a:lnSpc>
            </a:pPr>
            <a:r>
              <a:rPr lang="zh-CN" altLang="en-US" sz="2000">
                <a:latin typeface="宋体" panose="02010600030101010101" pitchFamily="2" charset="-122"/>
                <a:ea typeface="宋体" panose="02010600030101010101" pitchFamily="2" charset="-122"/>
              </a:rPr>
              <a:t>（在后续的算法描述中，经常用到链表的基本操作）</a:t>
            </a:r>
            <a:endParaRPr lang="zh-CN" altLang="en-US" sz="2000">
              <a:latin typeface="宋体" panose="02010600030101010101" pitchFamily="2" charset="-122"/>
              <a:ea typeface="宋体" panose="02010600030101010101" pitchFamily="2" charset="-122"/>
            </a:endParaRPr>
          </a:p>
        </p:txBody>
      </p:sp>
      <p:sp>
        <p:nvSpPr>
          <p:cNvPr id="68621" name="AutoShape 13">
            <a:hlinkClick r:id="" action="ppaction://noaction">
              <a:snd r:embed="rId2" name="chimes.wav"/>
            </a:hlinkClick>
          </p:cNvPr>
          <p:cNvSpPr>
            <a:spLocks noChangeArrowheads="1"/>
          </p:cNvSpPr>
          <p:nvPr/>
        </p:nvSpPr>
        <p:spPr bwMode="auto">
          <a:xfrm>
            <a:off x="611188" y="5589588"/>
            <a:ext cx="215900" cy="215900"/>
          </a:xfrm>
          <a:prstGeom prst="irregularSeal1">
            <a:avLst/>
          </a:prstGeom>
          <a:solidFill>
            <a:schemeClr val="accent1"/>
          </a:solidFill>
          <a:ln w="9525">
            <a:solidFill>
              <a:schemeClr val="tx1"/>
            </a:solidFill>
            <a:miter lim="800000"/>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68622" name="AutoShape 14">
            <a:hlinkHover r:id="" action="ppaction://noaction" highlightClick="1"/>
          </p:cNvPr>
          <p:cNvSpPr>
            <a:spLocks noChangeArrowheads="1"/>
          </p:cNvSpPr>
          <p:nvPr/>
        </p:nvSpPr>
        <p:spPr bwMode="auto">
          <a:xfrm>
            <a:off x="5940425" y="188913"/>
            <a:ext cx="3203575" cy="1311275"/>
          </a:xfrm>
          <a:prstGeom prst="cloudCallout">
            <a:avLst>
              <a:gd name="adj1" fmla="val -61894"/>
              <a:gd name="adj2" fmla="val 60639"/>
            </a:avLst>
          </a:prstGeom>
          <a:solidFill>
            <a:schemeClr val="accent6">
              <a:lumMod val="60000"/>
              <a:lumOff val="40000"/>
            </a:schemeClr>
          </a:solidFill>
          <a:ln w="9525">
            <a:solidFill>
              <a:schemeClr val="tx1"/>
            </a:solidFill>
            <a:round/>
          </a:ln>
        </p:spPr>
        <p:txBody>
          <a:bodyPr lIns="0" tIns="0" rIns="0" bIns="0">
            <a:spAutoFit/>
          </a:bodyPr>
          <a:lstStyle/>
          <a:p>
            <a:pPr algn="ctr">
              <a:defRPr/>
            </a:pPr>
            <a:endParaRPr lang="zh-CN" altLang="en-US"/>
          </a:p>
          <a:p>
            <a:pPr algn="ctr">
              <a:defRPr/>
            </a:pPr>
            <a:r>
              <a:rPr lang="zh-CN" altLang="en-US"/>
              <a:t>首先要找到插入点前面的结点（前三句）</a:t>
            </a:r>
            <a:endParaRPr lang="en-US" altLang="zh-CN"/>
          </a:p>
          <a:p>
            <a:pPr algn="ctr">
              <a:defRPr/>
            </a:pPr>
            <a:endParaRPr lang="en-US" altLang="zh-CN"/>
          </a:p>
        </p:txBody>
      </p:sp>
    </p:spTree>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68621"/>
                    </p:tgtEl>
                  </p:cond>
                </p:stCondLst>
                <p:endSync evt="end" delay="0">
                  <p:rtn val="all"/>
                </p:endSync>
                <p:childTnLst>
                  <p:par>
                    <p:cTn id="3" fill="hold">
                      <p:stCondLst>
                        <p:cond delay="0"/>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8622"/>
                                        </p:tgtEl>
                                        <p:attrNameLst>
                                          <p:attrName>style.visibility</p:attrName>
                                        </p:attrNameLst>
                                      </p:cBhvr>
                                      <p:to>
                                        <p:strVal val="visible"/>
                                      </p:to>
                                    </p:set>
                                    <p:anim calcmode="lin" valueType="num">
                                      <p:cBhvr>
                                        <p:cTn id="7" dur="500" fill="hold"/>
                                        <p:tgtEl>
                                          <p:spTgt spid="68622"/>
                                        </p:tgtEl>
                                        <p:attrNameLst>
                                          <p:attrName>ppt_w</p:attrName>
                                        </p:attrNameLst>
                                      </p:cBhvr>
                                      <p:tavLst>
                                        <p:tav tm="0">
                                          <p:val>
                                            <p:fltVal val="0"/>
                                          </p:val>
                                        </p:tav>
                                        <p:tav tm="100000">
                                          <p:val>
                                            <p:strVal val="#ppt_w"/>
                                          </p:val>
                                        </p:tav>
                                      </p:tavLst>
                                    </p:anim>
                                    <p:anim calcmode="lin" valueType="num">
                                      <p:cBhvr>
                                        <p:cTn id="8" dur="500" fill="hold"/>
                                        <p:tgtEl>
                                          <p:spTgt spid="68622"/>
                                        </p:tgtEl>
                                        <p:attrNameLst>
                                          <p:attrName>ppt_h</p:attrName>
                                        </p:attrNameLst>
                                      </p:cBhvr>
                                      <p:tavLst>
                                        <p:tav tm="0">
                                          <p:val>
                                            <p:fltVal val="0"/>
                                          </p:val>
                                        </p:tav>
                                        <p:tav tm="100000">
                                          <p:val>
                                            <p:strVal val="#ppt_h"/>
                                          </p:val>
                                        </p:tav>
                                      </p:tavLst>
                                    </p:anim>
                                    <p:animEffect transition="in" filter="fade">
                                      <p:cBhvr>
                                        <p:cTn id="9" dur="500"/>
                                        <p:tgtEl>
                                          <p:spTgt spid="68622"/>
                                        </p:tgtEl>
                                      </p:cBhvr>
                                    </p:animEffect>
                                  </p:childTnLst>
                                  <p:subTnLst>
                                    <p:set>
                                      <p:cBhvr override="childStyle">
                                        <p:cTn dur="1" fill="hold" display="0" masterRel="nextClick" afterEffect="1"/>
                                        <p:tgtEl>
                                          <p:spTgt spid="68622"/>
                                        </p:tgtEl>
                                        <p:attrNameLst>
                                          <p:attrName>style.visibility</p:attrName>
                                        </p:attrNameLst>
                                      </p:cBhvr>
                                      <p:to>
                                        <p:strVal val="hidden"/>
                                      </p:to>
                                    </p:set>
                                  </p:subTnLst>
                                </p:cTn>
                              </p:par>
                            </p:childTnLst>
                          </p:cTn>
                        </p:par>
                      </p:childTnLst>
                    </p:cTn>
                  </p:par>
                </p:childTnLst>
              </p:cTn>
              <p:nextCondLst>
                <p:cond evt="onClick" delay="0">
                  <p:tgtEl>
                    <p:spTgt spid="68621"/>
                  </p:tgtEl>
                </p:cond>
              </p:nextCondLst>
            </p:seq>
          </p:childTnLst>
        </p:cTn>
      </p:par>
    </p:tnLst>
    <p:bldLst>
      <p:bldP spid="68622"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0BD5A43E-0A54-40B1-B108-F00704CA16E2}"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56323"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3.2 </a:t>
            </a:r>
            <a:r>
              <a:rPr lang="zh-CN" altLang="en-US" sz="2400">
                <a:latin typeface="宋体" panose="02010600030101010101" pitchFamily="2" charset="-122"/>
                <a:ea typeface="宋体" panose="02010600030101010101" pitchFamily="2" charset="-122"/>
              </a:rPr>
              <a:t>线性表</a:t>
            </a:r>
            <a:endParaRPr lang="zh-CN" altLang="en-US" sz="2400">
              <a:latin typeface="宋体" panose="02010600030101010101" pitchFamily="2" charset="-122"/>
              <a:ea typeface="宋体" panose="02010600030101010101" pitchFamily="2" charset="-122"/>
            </a:endParaRPr>
          </a:p>
        </p:txBody>
      </p:sp>
      <p:sp>
        <p:nvSpPr>
          <p:cNvPr id="56324" name="Rectangle 3"/>
          <p:cNvSpPr>
            <a:spLocks noGrp="1" noChangeArrowheads="1"/>
          </p:cNvSpPr>
          <p:nvPr>
            <p:ph type="body" idx="1"/>
          </p:nvPr>
        </p:nvSpPr>
        <p:spPr>
          <a:xfrm>
            <a:off x="179388" y="981075"/>
            <a:ext cx="8424862" cy="4392613"/>
          </a:xfrm>
        </p:spPr>
        <p:txBody>
          <a:bodyPr/>
          <a:lstStyle/>
          <a:p>
            <a:pPr marL="285750" indent="-285750"/>
            <a:r>
              <a:rPr lang="zh-CN" altLang="en-US">
                <a:latin typeface="宋体" panose="02010600030101010101" pitchFamily="2" charset="-122"/>
                <a:ea typeface="宋体" panose="02010600030101010101" pitchFamily="2" charset="-122"/>
              </a:rPr>
              <a:t>链式存储的线性表</a:t>
            </a:r>
            <a:endParaRPr lang="zh-CN" altLang="en-US">
              <a:latin typeface="宋体" panose="02010600030101010101" pitchFamily="2" charset="-122"/>
              <a:ea typeface="宋体" panose="02010600030101010101" pitchFamily="2" charset="-122"/>
            </a:endParaRPr>
          </a:p>
          <a:p>
            <a:pPr marL="862330" lvl="1"/>
            <a:r>
              <a:rPr lang="zh-CN" altLang="en-US">
                <a:solidFill>
                  <a:schemeClr val="tx2"/>
                </a:solidFill>
                <a:latin typeface="宋体" panose="02010600030101010101" pitchFamily="2" charset="-122"/>
                <a:ea typeface="宋体" panose="02010600030101010101" pitchFamily="2" charset="-122"/>
              </a:rPr>
              <a:t>存储单元的分配和释放</a:t>
            </a:r>
            <a:endParaRPr lang="zh-CN" altLang="en-US">
              <a:solidFill>
                <a:schemeClr val="tx2"/>
              </a:solidFill>
              <a:latin typeface="宋体" panose="02010600030101010101" pitchFamily="2" charset="-122"/>
              <a:ea typeface="宋体" panose="02010600030101010101" pitchFamily="2" charset="-122"/>
            </a:endParaRPr>
          </a:p>
          <a:p>
            <a:pPr marL="1333500" lvl="2"/>
            <a:r>
              <a:rPr lang="zh-CN" altLang="en-US">
                <a:latin typeface="宋体" panose="02010600030101010101" pitchFamily="2" charset="-122"/>
                <a:ea typeface="宋体" panose="02010600030101010101" pitchFamily="2" charset="-122"/>
              </a:rPr>
              <a:t>线性链表的存储空间是动态分配的</a:t>
            </a:r>
            <a:endParaRPr lang="zh-CN" altLang="en-US">
              <a:latin typeface="宋体" panose="02010600030101010101" pitchFamily="2" charset="-122"/>
              <a:ea typeface="宋体" panose="02010600030101010101" pitchFamily="2" charset="-122"/>
            </a:endParaRPr>
          </a:p>
          <a:p>
            <a:pPr marL="1333500" lvl="2"/>
            <a:r>
              <a:rPr lang="zh-CN" altLang="en-US">
                <a:latin typeface="宋体" panose="02010600030101010101" pitchFamily="2" charset="-122"/>
                <a:ea typeface="宋体" panose="02010600030101010101" pitchFamily="2" charset="-122"/>
              </a:rPr>
              <a:t>在需要一个新的数据元素时，分配存储单元给这个新元素</a:t>
            </a:r>
            <a:endParaRPr lang="zh-CN" altLang="en-US">
              <a:latin typeface="宋体" panose="02010600030101010101" pitchFamily="2" charset="-122"/>
              <a:ea typeface="宋体" panose="02010600030101010101" pitchFamily="2" charset="-122"/>
            </a:endParaRPr>
          </a:p>
          <a:p>
            <a:pPr marL="1333500" lvl="2"/>
            <a:r>
              <a:rPr lang="zh-CN" altLang="en-US">
                <a:latin typeface="宋体" panose="02010600030101010101" pitchFamily="2" charset="-122"/>
                <a:ea typeface="宋体" panose="02010600030101010101" pitchFamily="2" charset="-122"/>
              </a:rPr>
              <a:t>在不再需要某个数据元素时，释放该元素所占用的存储单元</a:t>
            </a:r>
            <a:endParaRPr lang="zh-CN" altLang="en-US">
              <a:latin typeface="宋体" panose="02010600030101010101" pitchFamily="2" charset="-122"/>
              <a:ea typeface="宋体" panose="02010600030101010101" pitchFamily="2" charset="-122"/>
            </a:endParaRPr>
          </a:p>
          <a:p>
            <a:pPr marL="1333500" lvl="2"/>
            <a:r>
              <a:rPr lang="zh-CN" altLang="en-US">
                <a:latin typeface="宋体" panose="02010600030101010101" pitchFamily="2" charset="-122"/>
                <a:ea typeface="宋体" panose="02010600030101010101" pitchFamily="2" charset="-122"/>
              </a:rPr>
              <a:t>分配、释放的管理方式</a:t>
            </a:r>
            <a:endParaRPr lang="zh-CN" altLang="en-US">
              <a:latin typeface="宋体" panose="02010600030101010101" pitchFamily="2" charset="-122"/>
              <a:ea typeface="宋体" panose="02010600030101010101" pitchFamily="2" charset="-122"/>
            </a:endParaRPr>
          </a:p>
          <a:p>
            <a:pPr marL="1901825" lvl="3"/>
            <a:r>
              <a:rPr lang="zh-CN" altLang="en-US">
                <a:latin typeface="Times New Roman" panose="02020603050405020304" pitchFamily="18" charset="0"/>
                <a:ea typeface="宋体" panose="02010600030101010101" pitchFamily="2" charset="-122"/>
              </a:rPr>
              <a:t>有两种</a:t>
            </a:r>
            <a:r>
              <a:rPr lang="en-US" altLang="zh-CN">
                <a:latin typeface="Times New Roman" panose="02020603050405020304" pitchFamily="18" charset="0"/>
                <a:ea typeface="宋体" panose="02010600030101010101" pitchFamily="2" charset="-122"/>
              </a:rPr>
              <a:t>……</a:t>
            </a:r>
            <a:endParaRPr lang="en-US" altLang="zh-CN">
              <a:latin typeface="宋体" panose="02010600030101010101" pitchFamily="2" charset="-122"/>
              <a:ea typeface="宋体" panose="02010600030101010101" pitchFamily="2"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03673DBE-9550-495B-BDDA-F8836B055FFA}"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57347"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3.2 </a:t>
            </a:r>
            <a:r>
              <a:rPr lang="zh-CN" altLang="en-US" sz="2400">
                <a:latin typeface="宋体" panose="02010600030101010101" pitchFamily="2" charset="-122"/>
                <a:ea typeface="宋体" panose="02010600030101010101" pitchFamily="2" charset="-122"/>
              </a:rPr>
              <a:t>线性表</a:t>
            </a:r>
            <a:endParaRPr lang="zh-CN" altLang="en-US" sz="2400">
              <a:latin typeface="宋体" panose="02010600030101010101" pitchFamily="2" charset="-122"/>
              <a:ea typeface="宋体" panose="02010600030101010101" pitchFamily="2" charset="-122"/>
            </a:endParaRPr>
          </a:p>
        </p:txBody>
      </p:sp>
      <p:sp>
        <p:nvSpPr>
          <p:cNvPr id="57348" name="Rectangle 3"/>
          <p:cNvSpPr>
            <a:spLocks noGrp="1" noChangeArrowheads="1"/>
          </p:cNvSpPr>
          <p:nvPr>
            <p:ph type="body" idx="1"/>
          </p:nvPr>
        </p:nvSpPr>
        <p:spPr>
          <a:xfrm>
            <a:off x="179388" y="981075"/>
            <a:ext cx="8964612" cy="4103688"/>
          </a:xfrm>
        </p:spPr>
        <p:txBody>
          <a:bodyPr/>
          <a:lstStyle/>
          <a:p>
            <a:pPr marL="285750" indent="-285750"/>
            <a:r>
              <a:rPr lang="zh-CN" altLang="en-US" sz="2800">
                <a:latin typeface="宋体" panose="02010600030101010101" pitchFamily="2" charset="-122"/>
                <a:ea typeface="宋体" panose="02010600030101010101" pitchFamily="2" charset="-122"/>
              </a:rPr>
              <a:t>链式存储的线性表</a:t>
            </a:r>
            <a:endParaRPr lang="zh-CN" altLang="en-US" sz="2800">
              <a:latin typeface="宋体" panose="02010600030101010101" pitchFamily="2" charset="-122"/>
              <a:ea typeface="宋体" panose="02010600030101010101" pitchFamily="2" charset="-122"/>
            </a:endParaRPr>
          </a:p>
          <a:p>
            <a:pPr marL="862330" lvl="1"/>
            <a:r>
              <a:rPr lang="zh-CN" altLang="en-US" sz="2400">
                <a:latin typeface="宋体" panose="02010600030101010101" pitchFamily="2" charset="-122"/>
                <a:ea typeface="宋体" panose="02010600030101010101" pitchFamily="2" charset="-122"/>
              </a:rPr>
              <a:t>存储单元的分配和释放</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分配、释放的管理方式</a:t>
            </a:r>
            <a:r>
              <a:rPr lang="en-US" altLang="zh-CN" sz="2400">
                <a:latin typeface="宋体" panose="02010600030101010101" pitchFamily="2" charset="-122"/>
                <a:ea typeface="宋体" panose="02010600030101010101" pitchFamily="2" charset="-122"/>
              </a:rPr>
              <a:t>)</a:t>
            </a:r>
            <a:endParaRPr lang="en-US" altLang="zh-CN" sz="2400">
              <a:latin typeface="宋体" panose="02010600030101010101" pitchFamily="2" charset="-122"/>
              <a:ea typeface="宋体" panose="02010600030101010101" pitchFamily="2" charset="-122"/>
            </a:endParaRPr>
          </a:p>
          <a:p>
            <a:pPr marL="1333500" lvl="2"/>
            <a:r>
              <a:rPr lang="zh-CN" altLang="en-US" sz="2000">
                <a:solidFill>
                  <a:schemeClr val="tx2"/>
                </a:solidFill>
                <a:latin typeface="宋体" panose="02010600030101010101" pitchFamily="2" charset="-122"/>
                <a:ea typeface="宋体" panose="02010600030101010101" pitchFamily="2" charset="-122"/>
              </a:rPr>
              <a:t>随机方式</a:t>
            </a:r>
            <a:r>
              <a:rPr lang="zh-CN" altLang="en-US" sz="2000">
                <a:latin typeface="宋体" panose="02010600030101010101" pitchFamily="2" charset="-122"/>
                <a:ea typeface="宋体" panose="02010600030101010101" pitchFamily="2" charset="-122"/>
              </a:rPr>
              <a:t>管理，需要时分配，不再需要时就释放；节省存储空间，但可能要频繁执行分配释放操作，例如，</a:t>
            </a:r>
            <a:r>
              <a:rPr lang="en-US" altLang="zh-CN" sz="2000">
                <a:latin typeface="宋体" panose="02010600030101010101" pitchFamily="2" charset="-122"/>
                <a:ea typeface="宋体" panose="02010600030101010101" pitchFamily="2" charset="-122"/>
              </a:rPr>
              <a:t>p = new( Student ) </a:t>
            </a:r>
            <a:r>
              <a:rPr lang="zh-CN" altLang="en-US" sz="2000">
                <a:latin typeface="宋体" panose="02010600030101010101" pitchFamily="2" charset="-122"/>
                <a:ea typeface="宋体" panose="02010600030101010101" pitchFamily="2" charset="-122"/>
              </a:rPr>
              <a:t>和 </a:t>
            </a:r>
            <a:r>
              <a:rPr lang="en-US" altLang="zh-CN" sz="2000">
                <a:latin typeface="宋体" panose="02010600030101010101" pitchFamily="2" charset="-122"/>
                <a:ea typeface="宋体" panose="02010600030101010101" pitchFamily="2" charset="-122"/>
              </a:rPr>
              <a:t>delete( p )</a:t>
            </a:r>
            <a:endParaRPr lang="en-US" altLang="zh-CN" sz="2000">
              <a:latin typeface="宋体" panose="02010600030101010101" pitchFamily="2" charset="-122"/>
              <a:ea typeface="宋体" panose="02010600030101010101" pitchFamily="2" charset="-122"/>
            </a:endParaRPr>
          </a:p>
          <a:p>
            <a:pPr marL="1333500" lvl="2"/>
            <a:r>
              <a:rPr lang="zh-CN" altLang="en-US" sz="2000">
                <a:solidFill>
                  <a:schemeClr val="tx2"/>
                </a:solidFill>
                <a:latin typeface="宋体" panose="02010600030101010101" pitchFamily="2" charset="-122"/>
                <a:ea typeface="宋体" panose="02010600030101010101" pitchFamily="2" charset="-122"/>
              </a:rPr>
              <a:t>集中方式</a:t>
            </a:r>
            <a:r>
              <a:rPr lang="zh-CN" altLang="en-US" sz="2000">
                <a:latin typeface="宋体" panose="02010600030101010101" pitchFamily="2" charset="-122"/>
                <a:ea typeface="宋体" panose="02010600030101010101" pitchFamily="2" charset="-122"/>
              </a:rPr>
              <a:t>管理，先建立一个由多个数据元素组成的链表，把这个链表称为</a:t>
            </a:r>
            <a:r>
              <a:rPr lang="zh-CN" altLang="en-US" sz="2000">
                <a:solidFill>
                  <a:schemeClr val="tx2"/>
                </a:solidFill>
                <a:latin typeface="宋体" panose="02010600030101010101" pitchFamily="2" charset="-122"/>
                <a:ea typeface="宋体" panose="02010600030101010101" pitchFamily="2" charset="-122"/>
              </a:rPr>
              <a:t>分配池</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buffer）；</a:t>
            </a:r>
            <a:endParaRPr lang="en-US" altLang="zh-CN" sz="2000">
              <a:latin typeface="宋体" panose="02010600030101010101" pitchFamily="2" charset="-122"/>
              <a:ea typeface="宋体" panose="02010600030101010101" pitchFamily="2" charset="-122"/>
            </a:endParaRPr>
          </a:p>
          <a:p>
            <a:pPr marL="1901825" lvl="3"/>
            <a:r>
              <a:rPr lang="zh-CN" altLang="en-US" sz="1800">
                <a:latin typeface="宋体" panose="02010600030101010101" pitchFamily="2" charset="-122"/>
                <a:ea typeface="宋体" panose="02010600030101010101" pitchFamily="2" charset="-122"/>
              </a:rPr>
              <a:t>需要分配时，如果分配池中还有元素，就从分配池中取出第一个元素来使用；如果分配池中没有元素了，就从内存直接分配一个数据元素</a:t>
            </a:r>
            <a:endParaRPr lang="zh-CN" altLang="en-US" sz="1800">
              <a:latin typeface="宋体" panose="02010600030101010101" pitchFamily="2" charset="-122"/>
              <a:ea typeface="宋体" panose="02010600030101010101" pitchFamily="2" charset="-122"/>
            </a:endParaRPr>
          </a:p>
          <a:p>
            <a:pPr marL="1901825" lvl="3"/>
            <a:r>
              <a:rPr lang="zh-CN" altLang="en-US" sz="1800">
                <a:latin typeface="宋体" panose="02010600030101010101" pitchFamily="2" charset="-122"/>
                <a:ea typeface="宋体" panose="02010600030101010101" pitchFamily="2" charset="-122"/>
              </a:rPr>
              <a:t>需要释放时，把不再需要的数据元素放回分配池的首部作为第一个元素</a:t>
            </a:r>
            <a:endParaRPr lang="zh-CN" altLang="en-US" sz="1800">
              <a:latin typeface="宋体" panose="02010600030101010101" pitchFamily="2" charset="-122"/>
              <a:ea typeface="宋体" panose="02010600030101010101" pitchFamily="2" charset="-122"/>
            </a:endParaRPr>
          </a:p>
        </p:txBody>
      </p:sp>
      <p:grpSp>
        <p:nvGrpSpPr>
          <p:cNvPr id="57349" name="Group 4"/>
          <p:cNvGrpSpPr/>
          <p:nvPr/>
        </p:nvGrpSpPr>
        <p:grpSpPr bwMode="auto">
          <a:xfrm>
            <a:off x="1785938" y="4746625"/>
            <a:ext cx="5403850" cy="2039938"/>
            <a:chOff x="713" y="845"/>
            <a:chExt cx="2769" cy="1285"/>
          </a:xfrm>
        </p:grpSpPr>
        <p:sp>
          <p:nvSpPr>
            <p:cNvPr id="57352" name="Oval 5"/>
            <p:cNvSpPr>
              <a:spLocks noChangeArrowheads="1"/>
            </p:cNvSpPr>
            <p:nvPr/>
          </p:nvSpPr>
          <p:spPr bwMode="auto">
            <a:xfrm>
              <a:off x="713" y="978"/>
              <a:ext cx="2688" cy="1152"/>
            </a:xfrm>
            <a:prstGeom prst="ellipse">
              <a:avLst/>
            </a:pr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a:solidFill>
                  <a:schemeClr val="tx1"/>
                </a:solidFill>
                <a:latin typeface="Times New Roman" panose="02020603050405020304" pitchFamily="18" charset="0"/>
              </a:endParaRPr>
            </a:p>
          </p:txBody>
        </p:sp>
        <p:sp>
          <p:nvSpPr>
            <p:cNvPr id="57353" name="Text Box 6"/>
            <p:cNvSpPr txBox="1">
              <a:spLocks noChangeArrowheads="1"/>
            </p:cNvSpPr>
            <p:nvPr/>
          </p:nvSpPr>
          <p:spPr bwMode="auto">
            <a:xfrm>
              <a:off x="1845" y="991"/>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u="sng">
                  <a:solidFill>
                    <a:schemeClr val="tx2"/>
                  </a:solidFill>
                  <a:latin typeface="Times New Roman" panose="02020603050405020304" pitchFamily="18" charset="0"/>
                </a:rPr>
                <a:t>内存</a:t>
              </a:r>
              <a:endParaRPr lang="zh-CN" altLang="en-US" sz="1400" u="sng">
                <a:solidFill>
                  <a:schemeClr val="tx2"/>
                </a:solidFill>
                <a:latin typeface="Times New Roman" panose="02020603050405020304" pitchFamily="18" charset="0"/>
              </a:endParaRPr>
            </a:p>
          </p:txBody>
        </p:sp>
        <p:sp>
          <p:nvSpPr>
            <p:cNvPr id="57354" name="Text Box 7"/>
            <p:cNvSpPr txBox="1">
              <a:spLocks noChangeArrowheads="1"/>
            </p:cNvSpPr>
            <p:nvPr/>
          </p:nvSpPr>
          <p:spPr bwMode="auto">
            <a:xfrm>
              <a:off x="953" y="1588"/>
              <a:ext cx="720" cy="194"/>
            </a:xfrm>
            <a:prstGeom prst="rect">
              <a:avLst/>
            </a:prstGeom>
            <a:noFill/>
            <a:ln w="2857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a:solidFill>
                    <a:schemeClr val="tx1"/>
                  </a:solidFill>
                  <a:latin typeface="Times New Roman" panose="02020603050405020304" pitchFamily="18" charset="0"/>
                </a:rPr>
                <a:t>编程使用的链表</a:t>
              </a:r>
              <a:endParaRPr lang="zh-CN" altLang="en-US" sz="1400">
                <a:solidFill>
                  <a:schemeClr val="tx1"/>
                </a:solidFill>
                <a:latin typeface="Times New Roman" panose="02020603050405020304" pitchFamily="18" charset="0"/>
              </a:endParaRPr>
            </a:p>
          </p:txBody>
        </p:sp>
        <p:sp>
          <p:nvSpPr>
            <p:cNvPr id="57355" name="Text Box 8"/>
            <p:cNvSpPr txBox="1">
              <a:spLocks noChangeArrowheads="1"/>
            </p:cNvSpPr>
            <p:nvPr/>
          </p:nvSpPr>
          <p:spPr bwMode="auto">
            <a:xfrm>
              <a:off x="2106" y="1444"/>
              <a:ext cx="815" cy="545"/>
            </a:xfrm>
            <a:prstGeom prst="rect">
              <a:avLst/>
            </a:prstGeom>
            <a:noFill/>
            <a:ln w="28575">
              <a:solidFill>
                <a:schemeClr val="tx2"/>
              </a:solidFill>
              <a:miter lim="800000"/>
            </a:ln>
            <a:extLst>
              <a:ext uri="{909E8E84-426E-40DD-AFC4-6F175D3DCCD1}">
                <a14:hiddenFill xmlns:a14="http://schemas.microsoft.com/office/drawing/2010/main">
                  <a:solidFill>
                    <a:srgbClr val="FFFFFF"/>
                  </a:solidFill>
                </a14:hiddenFill>
              </a:ext>
            </a:extLst>
          </p:spPr>
          <p:txBody>
            <a:bodyPr lIns="36000" rIns="3600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u="sng">
                  <a:solidFill>
                    <a:schemeClr val="tx1"/>
                  </a:solidFill>
                  <a:latin typeface="Times New Roman" panose="02020603050405020304" pitchFamily="18" charset="0"/>
                </a:rPr>
                <a:t>分配池</a:t>
              </a:r>
              <a:endParaRPr lang="zh-CN" altLang="en-US" sz="1400" u="sng">
                <a:solidFill>
                  <a:schemeClr val="tx1"/>
                </a:solidFill>
                <a:latin typeface="Times New Roman" panose="02020603050405020304" pitchFamily="18" charset="0"/>
              </a:endParaRPr>
            </a:p>
            <a:p>
              <a:pPr algn="ctr">
                <a:spcBef>
                  <a:spcPct val="50000"/>
                </a:spcBef>
                <a:buFontTx/>
                <a:buNone/>
              </a:pPr>
              <a:r>
                <a:rPr lang="zh-CN" altLang="en-US" sz="1400">
                  <a:solidFill>
                    <a:schemeClr val="tx1"/>
                  </a:solidFill>
                  <a:latin typeface="Times New Roman" panose="02020603050405020304" pitchFamily="18" charset="0"/>
                </a:rPr>
                <a:t>(可分配的数据元素组成的链表)</a:t>
              </a:r>
              <a:endParaRPr lang="zh-CN" altLang="en-US" sz="1400">
                <a:solidFill>
                  <a:schemeClr val="tx1"/>
                </a:solidFill>
                <a:latin typeface="Times New Roman" panose="02020603050405020304" pitchFamily="18" charset="0"/>
              </a:endParaRPr>
            </a:p>
          </p:txBody>
        </p:sp>
        <p:sp>
          <p:nvSpPr>
            <p:cNvPr id="57356" name="Line 9"/>
            <p:cNvSpPr>
              <a:spLocks noChangeShapeType="1"/>
            </p:cNvSpPr>
            <p:nvPr/>
          </p:nvSpPr>
          <p:spPr bwMode="auto">
            <a:xfrm flipV="1">
              <a:off x="1680" y="1628"/>
              <a:ext cx="409" cy="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57" name="Line 10"/>
            <p:cNvSpPr>
              <a:spLocks noChangeShapeType="1"/>
            </p:cNvSpPr>
            <p:nvPr/>
          </p:nvSpPr>
          <p:spPr bwMode="auto">
            <a:xfrm flipH="1">
              <a:off x="1680" y="1732"/>
              <a:ext cx="408" cy="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58" name="Text Box 11"/>
            <p:cNvSpPr txBox="1">
              <a:spLocks noChangeArrowheads="1"/>
            </p:cNvSpPr>
            <p:nvPr/>
          </p:nvSpPr>
          <p:spPr bwMode="auto">
            <a:xfrm>
              <a:off x="1625" y="1452"/>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a:solidFill>
                    <a:schemeClr val="tx1"/>
                  </a:solidFill>
                  <a:latin typeface="Times New Roman" panose="02020603050405020304" pitchFamily="18" charset="0"/>
                </a:rPr>
                <a:t>释放元素</a:t>
              </a:r>
              <a:endParaRPr lang="zh-CN" altLang="en-US" sz="1400">
                <a:solidFill>
                  <a:schemeClr val="tx1"/>
                </a:solidFill>
                <a:latin typeface="Times New Roman" panose="02020603050405020304" pitchFamily="18" charset="0"/>
              </a:endParaRPr>
            </a:p>
          </p:txBody>
        </p:sp>
        <p:sp>
          <p:nvSpPr>
            <p:cNvPr id="57359" name="Text Box 12"/>
            <p:cNvSpPr txBox="1">
              <a:spLocks noChangeArrowheads="1"/>
            </p:cNvSpPr>
            <p:nvPr/>
          </p:nvSpPr>
          <p:spPr bwMode="auto">
            <a:xfrm>
              <a:off x="1625" y="1752"/>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a:solidFill>
                    <a:schemeClr val="tx1"/>
                  </a:solidFill>
                  <a:latin typeface="Times New Roman" panose="02020603050405020304" pitchFamily="18" charset="0"/>
                </a:rPr>
                <a:t>分配元素</a:t>
              </a:r>
              <a:endParaRPr lang="zh-CN" altLang="en-US" sz="1400">
                <a:solidFill>
                  <a:schemeClr val="tx1"/>
                </a:solidFill>
                <a:latin typeface="Times New Roman" panose="02020603050405020304" pitchFamily="18" charset="0"/>
              </a:endParaRPr>
            </a:p>
          </p:txBody>
        </p:sp>
        <p:sp>
          <p:nvSpPr>
            <p:cNvPr id="57360" name="Line 13"/>
            <p:cNvSpPr>
              <a:spLocks noChangeShapeType="1"/>
            </p:cNvSpPr>
            <p:nvPr/>
          </p:nvSpPr>
          <p:spPr bwMode="auto">
            <a:xfrm>
              <a:off x="2489" y="1302"/>
              <a:ext cx="0" cy="1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61" name="Text Box 14"/>
            <p:cNvSpPr txBox="1">
              <a:spLocks noChangeArrowheads="1"/>
            </p:cNvSpPr>
            <p:nvPr/>
          </p:nvSpPr>
          <p:spPr bwMode="auto">
            <a:xfrm>
              <a:off x="2170" y="1157"/>
              <a:ext cx="6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i="1">
                  <a:solidFill>
                    <a:schemeClr val="tx1"/>
                  </a:solidFill>
                  <a:latin typeface="Times New Roman" panose="02020603050405020304" pitchFamily="18" charset="0"/>
                </a:rPr>
                <a:t>分配空白元素</a:t>
              </a:r>
              <a:endParaRPr lang="zh-CN" altLang="en-US" sz="1400" i="1">
                <a:solidFill>
                  <a:schemeClr val="tx1"/>
                </a:solidFill>
                <a:latin typeface="Times New Roman" panose="02020603050405020304" pitchFamily="18" charset="0"/>
              </a:endParaRPr>
            </a:p>
          </p:txBody>
        </p:sp>
        <p:sp>
          <p:nvSpPr>
            <p:cNvPr id="57362" name="Line 15"/>
            <p:cNvSpPr>
              <a:spLocks noChangeShapeType="1"/>
            </p:cNvSpPr>
            <p:nvPr/>
          </p:nvSpPr>
          <p:spPr bwMode="auto">
            <a:xfrm>
              <a:off x="1303" y="1375"/>
              <a:ext cx="0" cy="204"/>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63" name="Text Box 16"/>
            <p:cNvSpPr txBox="1">
              <a:spLocks noChangeArrowheads="1"/>
            </p:cNvSpPr>
            <p:nvPr/>
          </p:nvSpPr>
          <p:spPr bwMode="auto">
            <a:xfrm>
              <a:off x="980" y="1233"/>
              <a:ext cx="6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a:solidFill>
                    <a:schemeClr val="tx1"/>
                  </a:solidFill>
                  <a:latin typeface="Times New Roman" panose="02020603050405020304" pitchFamily="18" charset="0"/>
                </a:rPr>
                <a:t>分配空白元素</a:t>
              </a:r>
              <a:endParaRPr lang="zh-CN" altLang="en-US" sz="1400">
                <a:solidFill>
                  <a:schemeClr val="tx1"/>
                </a:solidFill>
                <a:latin typeface="Times New Roman" panose="02020603050405020304" pitchFamily="18" charset="0"/>
              </a:endParaRPr>
            </a:p>
          </p:txBody>
        </p:sp>
        <p:sp>
          <p:nvSpPr>
            <p:cNvPr id="57364" name="Line 17"/>
            <p:cNvSpPr>
              <a:spLocks noChangeShapeType="1"/>
            </p:cNvSpPr>
            <p:nvPr/>
          </p:nvSpPr>
          <p:spPr bwMode="auto">
            <a:xfrm flipH="1">
              <a:off x="2825" y="1071"/>
              <a:ext cx="236" cy="147"/>
            </a:xfrm>
            <a:prstGeom prst="line">
              <a:avLst/>
            </a:prstGeom>
            <a:noFill/>
            <a:ln w="9525">
              <a:solidFill>
                <a:schemeClr val="tx1"/>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65" name="Text Box 18"/>
            <p:cNvSpPr txBox="1">
              <a:spLocks noChangeArrowheads="1"/>
            </p:cNvSpPr>
            <p:nvPr/>
          </p:nvSpPr>
          <p:spPr bwMode="auto">
            <a:xfrm>
              <a:off x="2426" y="845"/>
              <a:ext cx="105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a:solidFill>
                    <a:schemeClr val="tx1"/>
                  </a:solidFill>
                  <a:latin typeface="Times New Roman" panose="02020603050405020304" pitchFamily="18" charset="0"/>
                </a:rPr>
                <a:t>一般在程序开始处的执行</a:t>
              </a:r>
              <a:endParaRPr lang="zh-CN" altLang="en-US" sz="1400">
                <a:solidFill>
                  <a:schemeClr val="tx1"/>
                </a:solidFill>
                <a:latin typeface="Times New Roman" panose="02020603050405020304" pitchFamily="18" charset="0"/>
              </a:endParaRPr>
            </a:p>
          </p:txBody>
        </p:sp>
      </p:grpSp>
      <p:sp>
        <p:nvSpPr>
          <p:cNvPr id="21" name="AutoShape 13">
            <a:hlinkClick r:id="" action="ppaction://noaction">
              <a:snd r:embed="rId1" name="chimes.wav"/>
            </a:hlinkClick>
          </p:cNvPr>
          <p:cNvSpPr>
            <a:spLocks noChangeArrowheads="1"/>
          </p:cNvSpPr>
          <p:nvPr/>
        </p:nvSpPr>
        <p:spPr bwMode="auto">
          <a:xfrm>
            <a:off x="3071813" y="2643188"/>
            <a:ext cx="215900" cy="215900"/>
          </a:xfrm>
          <a:prstGeom prst="irregularSeal1">
            <a:avLst/>
          </a:prstGeom>
          <a:solidFill>
            <a:schemeClr val="accent1"/>
          </a:solidFill>
          <a:ln w="9525">
            <a:solidFill>
              <a:schemeClr val="tx1"/>
            </a:solidFill>
            <a:miter lim="800000"/>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2" name="AutoShape 14">
            <a:hlinkHover r:id="" action="ppaction://noaction" highlightClick="1"/>
          </p:cNvPr>
          <p:cNvSpPr>
            <a:spLocks noChangeArrowheads="1"/>
          </p:cNvSpPr>
          <p:nvPr/>
        </p:nvSpPr>
        <p:spPr bwMode="auto">
          <a:xfrm>
            <a:off x="5786438" y="0"/>
            <a:ext cx="3214687" cy="1311275"/>
          </a:xfrm>
          <a:prstGeom prst="cloudCallout">
            <a:avLst>
              <a:gd name="adj1" fmla="val -61894"/>
              <a:gd name="adj2" fmla="val 60639"/>
            </a:avLst>
          </a:prstGeom>
          <a:solidFill>
            <a:schemeClr val="accent6">
              <a:lumMod val="60000"/>
              <a:lumOff val="40000"/>
            </a:schemeClr>
          </a:solidFill>
          <a:ln w="9525">
            <a:solidFill>
              <a:schemeClr val="tx1"/>
            </a:solidFill>
            <a:round/>
          </a:ln>
        </p:spPr>
        <p:txBody>
          <a:bodyPr lIns="0" tIns="0" rIns="0" bIns="0">
            <a:spAutoFit/>
          </a:bodyPr>
          <a:lstStyle/>
          <a:p>
            <a:pPr>
              <a:defRPr/>
            </a:pPr>
            <a:r>
              <a:rPr lang="en-US" altLang="zh-CN" dirty="0" err="1"/>
              <a:t>int</a:t>
            </a:r>
            <a:r>
              <a:rPr lang="en-US" altLang="zh-CN" dirty="0"/>
              <a:t> *p = NULL;</a:t>
            </a:r>
            <a:endParaRPr lang="en-US" altLang="zh-CN" dirty="0"/>
          </a:p>
          <a:p>
            <a:pPr>
              <a:defRPr/>
            </a:pPr>
            <a:r>
              <a:rPr lang="en-US" altLang="zh-CN" dirty="0"/>
              <a:t>p = (</a:t>
            </a:r>
            <a:r>
              <a:rPr lang="en-US" altLang="zh-CN" dirty="0" err="1"/>
              <a:t>int</a:t>
            </a:r>
            <a:r>
              <a:rPr lang="en-US" altLang="zh-CN" dirty="0"/>
              <a:t> *)</a:t>
            </a:r>
            <a:r>
              <a:rPr lang="en-US" altLang="zh-CN" dirty="0" err="1"/>
              <a:t>malloc</a:t>
            </a:r>
            <a:r>
              <a:rPr lang="en-US" altLang="zh-CN" dirty="0"/>
              <a:t>(</a:t>
            </a:r>
            <a:r>
              <a:rPr lang="en-US" altLang="zh-CN" dirty="0" err="1"/>
              <a:t>sizeof</a:t>
            </a:r>
            <a:r>
              <a:rPr lang="en-US" altLang="zh-CN" dirty="0"/>
              <a:t>(</a:t>
            </a:r>
            <a:r>
              <a:rPr lang="en-US" altLang="zh-CN" dirty="0" err="1"/>
              <a:t>int</a:t>
            </a:r>
            <a:r>
              <a:rPr lang="en-US" altLang="zh-CN" dirty="0"/>
              <a:t>));</a:t>
            </a:r>
            <a:endParaRPr lang="en-US" altLang="zh-CN" dirty="0"/>
          </a:p>
          <a:p>
            <a:pPr>
              <a:defRPr/>
            </a:pPr>
            <a:r>
              <a:rPr lang="en-US" altLang="zh-CN" dirty="0"/>
              <a:t>*p= 10;</a:t>
            </a:r>
            <a:endParaRPr lang="en-US" altLang="zh-CN" dirty="0"/>
          </a:p>
          <a:p>
            <a:pPr>
              <a:defRPr/>
            </a:pPr>
            <a:r>
              <a:rPr lang="en-US" altLang="zh-CN" dirty="0"/>
              <a:t>free(p);</a:t>
            </a:r>
            <a:endParaRPr lang="en-US" altLang="zh-CN" dirty="0"/>
          </a:p>
        </p:txBody>
      </p:sp>
    </p:spTree>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childTnLst>
                    </p:cTn>
                  </p:par>
                </p:childTnLst>
              </p:cTn>
              <p:nextCondLst>
                <p:cond evt="onClick" delay="0">
                  <p:tgtEl>
                    <p:spTgt spid="21"/>
                  </p:tgtEl>
                </p:cond>
              </p:nextCondLst>
            </p:seq>
          </p:childTnLst>
        </p:cTn>
      </p:par>
    </p:tnLst>
    <p:bldLst>
      <p:bldP spid="22"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BBC42DC7-A54A-4E3F-A286-4A1AB1B41BA4}"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59395"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3.2 </a:t>
            </a:r>
            <a:r>
              <a:rPr lang="zh-CN" altLang="en-US" sz="2400">
                <a:latin typeface="宋体" panose="02010600030101010101" pitchFamily="2" charset="-122"/>
                <a:ea typeface="宋体" panose="02010600030101010101" pitchFamily="2" charset="-122"/>
              </a:rPr>
              <a:t>线性表</a:t>
            </a:r>
            <a:endParaRPr lang="zh-CN" altLang="en-US" sz="2400">
              <a:latin typeface="宋体" panose="02010600030101010101" pitchFamily="2" charset="-122"/>
              <a:ea typeface="宋体" panose="02010600030101010101" pitchFamily="2" charset="-122"/>
            </a:endParaRPr>
          </a:p>
        </p:txBody>
      </p:sp>
      <p:sp>
        <p:nvSpPr>
          <p:cNvPr id="59396" name="Rectangle 3"/>
          <p:cNvSpPr>
            <a:spLocks noGrp="1" noChangeArrowheads="1"/>
          </p:cNvSpPr>
          <p:nvPr>
            <p:ph type="body" idx="1"/>
          </p:nvPr>
        </p:nvSpPr>
        <p:spPr>
          <a:xfrm>
            <a:off x="107950" y="1031875"/>
            <a:ext cx="8610600" cy="5876925"/>
          </a:xfrm>
        </p:spPr>
        <p:txBody>
          <a:bodyPr/>
          <a:lstStyle/>
          <a:p>
            <a:pPr marL="285750" indent="-285750">
              <a:lnSpc>
                <a:spcPct val="80000"/>
              </a:lnSpc>
            </a:pPr>
            <a:r>
              <a:rPr lang="zh-CN" altLang="en-US" sz="2800">
                <a:latin typeface="宋体" panose="02010600030101010101" pitchFamily="2" charset="-122"/>
                <a:ea typeface="宋体" panose="02010600030101010101" pitchFamily="2" charset="-122"/>
              </a:rPr>
              <a:t>链式存储的线性表</a:t>
            </a:r>
            <a:endParaRPr lang="zh-CN" altLang="en-US" sz="2800">
              <a:latin typeface="宋体" panose="02010600030101010101" pitchFamily="2" charset="-122"/>
              <a:ea typeface="宋体" panose="02010600030101010101" pitchFamily="2" charset="-122"/>
            </a:endParaRPr>
          </a:p>
          <a:p>
            <a:pPr marL="862330" lvl="1">
              <a:lnSpc>
                <a:spcPct val="80000"/>
              </a:lnSpc>
            </a:pPr>
            <a:r>
              <a:rPr lang="zh-CN" altLang="en-US" sz="2400">
                <a:latin typeface="宋体" panose="02010600030101010101" pitchFamily="2" charset="-122"/>
                <a:ea typeface="宋体" panose="02010600030101010101" pitchFamily="2" charset="-122"/>
              </a:rPr>
              <a:t>集中式管理的实现</a:t>
            </a:r>
            <a:r>
              <a:rPr lang="zh-CN" altLang="en-US" sz="1600">
                <a:solidFill>
                  <a:schemeClr val="bg1"/>
                </a:solidFill>
                <a:latin typeface="宋体" panose="02010600030101010101" pitchFamily="2" charset="-122"/>
                <a:ea typeface="宋体" panose="02010600030101010101" pitchFamily="2" charset="-122"/>
              </a:rPr>
              <a:t>（图示说明）</a:t>
            </a:r>
            <a:endParaRPr lang="zh-CN" altLang="en-US" sz="1600">
              <a:solidFill>
                <a:schemeClr val="bg1"/>
              </a:solidFill>
              <a:latin typeface="宋体" panose="02010600030101010101" pitchFamily="2" charset="-122"/>
              <a:ea typeface="宋体" panose="02010600030101010101" pitchFamily="2" charset="-122"/>
            </a:endParaRPr>
          </a:p>
          <a:p>
            <a:pPr marL="1333500" lvl="2">
              <a:lnSpc>
                <a:spcPct val="80000"/>
              </a:lnSpc>
            </a:pPr>
            <a:r>
              <a:rPr lang="zh-CN" altLang="en-US" sz="2000">
                <a:solidFill>
                  <a:schemeClr val="tx2"/>
                </a:solidFill>
                <a:latin typeface="宋体" panose="02010600030101010101" pitchFamily="2" charset="-122"/>
                <a:ea typeface="宋体" panose="02010600030101010101" pitchFamily="2" charset="-122"/>
              </a:rPr>
              <a:t>创建分配池</a:t>
            </a:r>
            <a:r>
              <a:rPr lang="zh-CN" altLang="en-US" sz="2000">
                <a:latin typeface="宋体" panose="02010600030101010101" pitchFamily="2" charset="-122"/>
                <a:ea typeface="宋体" panose="02010600030101010101" pitchFamily="2" charset="-122"/>
              </a:rPr>
              <a:t>，分配池的大小为 </a:t>
            </a:r>
            <a:r>
              <a:rPr lang="en-US" altLang="zh-CN" sz="2000">
                <a:latin typeface="宋体" panose="02010600030101010101" pitchFamily="2" charset="-122"/>
                <a:ea typeface="宋体" panose="02010600030101010101" pitchFamily="2" charset="-122"/>
              </a:rPr>
              <a:t>N，</a:t>
            </a:r>
            <a:r>
              <a:rPr lang="zh-CN" altLang="en-US" sz="2000">
                <a:latin typeface="宋体" panose="02010600030101010101" pitchFamily="2" charset="-122"/>
                <a:ea typeface="宋体" panose="02010600030101010101" pitchFamily="2" charset="-122"/>
              </a:rPr>
              <a:t>数据元素是 </a:t>
            </a:r>
            <a:r>
              <a:rPr lang="en-US" altLang="zh-CN" sz="2000">
                <a:latin typeface="宋体" panose="02010600030101010101" pitchFamily="2" charset="-122"/>
                <a:ea typeface="宋体" panose="02010600030101010101" pitchFamily="2" charset="-122"/>
              </a:rPr>
              <a:t>Student </a:t>
            </a:r>
            <a:r>
              <a:rPr lang="zh-CN" altLang="en-US" sz="2000">
                <a:latin typeface="宋体" panose="02010600030101010101" pitchFamily="2" charset="-122"/>
                <a:ea typeface="宋体" panose="02010600030101010101" pitchFamily="2" charset="-122"/>
              </a:rPr>
              <a:t>类型</a:t>
            </a:r>
            <a:endParaRPr lang="zh-CN" altLang="en-US" sz="2000">
              <a:latin typeface="宋体" panose="02010600030101010101" pitchFamily="2" charset="-122"/>
              <a:ea typeface="宋体" panose="02010600030101010101" pitchFamily="2" charset="-122"/>
            </a:endParaRPr>
          </a:p>
          <a:p>
            <a:pPr marL="1333500" lvl="2">
              <a:lnSpc>
                <a:spcPct val="80000"/>
              </a:lnSpc>
              <a:spcBef>
                <a:spcPct val="0"/>
              </a:spcBef>
              <a:buFontTx/>
              <a:buNone/>
            </a:pPr>
            <a:r>
              <a:rPr lang="en-US" altLang="zh-CN" sz="2000">
                <a:solidFill>
                  <a:schemeClr val="tx2"/>
                </a:solidFill>
                <a:latin typeface="宋体" panose="02010600030101010101" pitchFamily="2" charset="-122"/>
                <a:ea typeface="宋体" panose="02010600030101010101" pitchFamily="2" charset="-122"/>
              </a:rPr>
              <a:t>InitialBuffer</a:t>
            </a:r>
            <a:r>
              <a:rPr lang="en-US" altLang="zh-CN" sz="2000">
                <a:latin typeface="宋体" panose="02010600030101010101" pitchFamily="2" charset="-122"/>
                <a:ea typeface="宋体" panose="02010600030101010101" pitchFamily="2" charset="-122"/>
              </a:rPr>
              <a:t>( av, N )</a:t>
            </a:r>
            <a:endParaRPr lang="en-US" altLang="zh-CN" sz="2000">
              <a:latin typeface="宋体" panose="02010600030101010101" pitchFamily="2" charset="-122"/>
              <a:ea typeface="宋体" panose="02010600030101010101" pitchFamily="2" charset="-122"/>
            </a:endParaRPr>
          </a:p>
          <a:p>
            <a:pPr marL="1333500" lvl="2">
              <a:lnSpc>
                <a:spcPct val="80000"/>
              </a:lnSpc>
              <a:spcBef>
                <a:spcPct val="0"/>
              </a:spcBef>
              <a:buFontTx/>
              <a:buNone/>
            </a:pPr>
            <a:r>
              <a:rPr lang="en-US" altLang="zh-CN" sz="2000">
                <a:latin typeface="宋体" panose="02010600030101010101" pitchFamily="2" charset="-122"/>
                <a:ea typeface="宋体" panose="02010600030101010101" pitchFamily="2" charset="-122"/>
              </a:rPr>
              <a:t>   av </a:t>
            </a:r>
            <a:r>
              <a:rPr lang="en-US" altLang="zh-CN" sz="18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 new( Student )</a:t>
            </a:r>
            <a:endParaRPr lang="en-US" altLang="zh-CN" sz="2000">
              <a:latin typeface="宋体" panose="02010600030101010101" pitchFamily="2" charset="-122"/>
              <a:ea typeface="宋体" panose="02010600030101010101" pitchFamily="2" charset="-122"/>
            </a:endParaRPr>
          </a:p>
          <a:p>
            <a:pPr marL="1333500" lvl="2">
              <a:lnSpc>
                <a:spcPct val="80000"/>
              </a:lnSpc>
              <a:spcBef>
                <a:spcPct val="0"/>
              </a:spcBef>
              <a:buFontTx/>
              <a:buNone/>
            </a:pPr>
            <a:r>
              <a:rPr lang="en-US" altLang="zh-CN" sz="2000">
                <a:latin typeface="宋体" panose="02010600030101010101" pitchFamily="2" charset="-122"/>
                <a:ea typeface="宋体" panose="02010600030101010101" pitchFamily="2" charset="-122"/>
              </a:rPr>
              <a:t>   next( av ) </a:t>
            </a:r>
            <a:r>
              <a:rPr lang="en-US" altLang="zh-CN" sz="18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 Nil</a:t>
            </a:r>
            <a:endParaRPr lang="en-US" altLang="zh-CN" sz="2000">
              <a:latin typeface="宋体" panose="02010600030101010101" pitchFamily="2" charset="-122"/>
              <a:ea typeface="宋体" panose="02010600030101010101" pitchFamily="2" charset="-122"/>
            </a:endParaRPr>
          </a:p>
          <a:p>
            <a:pPr marL="1333500" lvl="2">
              <a:lnSpc>
                <a:spcPct val="80000"/>
              </a:lnSpc>
              <a:spcBef>
                <a:spcPct val="0"/>
              </a:spcBef>
              <a:buFontTx/>
              <a:buNone/>
            </a:pPr>
            <a:r>
              <a:rPr lang="en-US" altLang="zh-CN" sz="2000">
                <a:latin typeface="宋体" panose="02010600030101010101" pitchFamily="2" charset="-122"/>
                <a:ea typeface="宋体" panose="02010600030101010101" pitchFamily="2" charset="-122"/>
              </a:rPr>
              <a:t>   for i = 1 to ( N </a:t>
            </a:r>
            <a:r>
              <a:rPr lang="en-US" altLang="zh-CN" sz="2000">
                <a:latin typeface="Times New Roman" panose="02020603050405020304" pitchFamily="18" charset="0"/>
                <a:ea typeface="宋体" panose="02010600030101010101" pitchFamily="2" charset="-122"/>
              </a:rPr>
              <a:t>–</a:t>
            </a:r>
            <a:r>
              <a:rPr lang="en-US" altLang="zh-CN" sz="2000">
                <a:latin typeface="宋体" panose="02010600030101010101" pitchFamily="2" charset="-122"/>
                <a:ea typeface="宋体" panose="02010600030101010101" pitchFamily="2" charset="-122"/>
              </a:rPr>
              <a:t> 1 ) {</a:t>
            </a:r>
            <a:endParaRPr lang="en-US" altLang="zh-CN" sz="2000">
              <a:latin typeface="宋体" panose="02010600030101010101" pitchFamily="2" charset="-122"/>
              <a:ea typeface="宋体" panose="02010600030101010101" pitchFamily="2" charset="-122"/>
            </a:endParaRPr>
          </a:p>
          <a:p>
            <a:pPr marL="1333500" lvl="2">
              <a:lnSpc>
                <a:spcPct val="80000"/>
              </a:lnSpc>
              <a:spcBef>
                <a:spcPct val="0"/>
              </a:spcBef>
              <a:buFontTx/>
              <a:buNone/>
            </a:pPr>
            <a:r>
              <a:rPr lang="en-US" altLang="zh-CN" sz="2000">
                <a:latin typeface="宋体" panose="02010600030101010101" pitchFamily="2" charset="-122"/>
                <a:ea typeface="宋体" panose="02010600030101010101" pitchFamily="2" charset="-122"/>
              </a:rPr>
              <a:t>      temp </a:t>
            </a:r>
            <a:r>
              <a:rPr lang="en-US" altLang="zh-CN" sz="18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 new( Student )</a:t>
            </a:r>
            <a:endParaRPr lang="en-US" altLang="zh-CN" sz="2000">
              <a:latin typeface="宋体" panose="02010600030101010101" pitchFamily="2" charset="-122"/>
              <a:ea typeface="宋体" panose="02010600030101010101" pitchFamily="2" charset="-122"/>
            </a:endParaRPr>
          </a:p>
          <a:p>
            <a:pPr marL="1333500" lvl="2">
              <a:lnSpc>
                <a:spcPct val="80000"/>
              </a:lnSpc>
              <a:spcBef>
                <a:spcPct val="0"/>
              </a:spcBef>
              <a:buFontTx/>
              <a:buNone/>
            </a:pPr>
            <a:r>
              <a:rPr lang="en-US" altLang="zh-CN" sz="2000">
                <a:latin typeface="宋体" panose="02010600030101010101" pitchFamily="2" charset="-122"/>
                <a:ea typeface="宋体" panose="02010600030101010101" pitchFamily="2" charset="-122"/>
              </a:rPr>
              <a:t>      next( temp ) </a:t>
            </a:r>
            <a:r>
              <a:rPr lang="en-US" altLang="zh-CN" sz="18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 av</a:t>
            </a:r>
            <a:endParaRPr lang="en-US" altLang="zh-CN" sz="2000">
              <a:latin typeface="宋体" panose="02010600030101010101" pitchFamily="2" charset="-122"/>
              <a:ea typeface="宋体" panose="02010600030101010101" pitchFamily="2" charset="-122"/>
            </a:endParaRPr>
          </a:p>
          <a:p>
            <a:pPr marL="1333500" lvl="2">
              <a:lnSpc>
                <a:spcPct val="80000"/>
              </a:lnSpc>
              <a:spcBef>
                <a:spcPct val="0"/>
              </a:spcBef>
              <a:buFontTx/>
              <a:buNone/>
            </a:pPr>
            <a:r>
              <a:rPr lang="en-US" altLang="zh-CN" sz="2000">
                <a:latin typeface="宋体" panose="02010600030101010101" pitchFamily="2" charset="-122"/>
                <a:ea typeface="宋体" panose="02010600030101010101" pitchFamily="2" charset="-122"/>
              </a:rPr>
              <a:t>      av </a:t>
            </a:r>
            <a:r>
              <a:rPr lang="en-US" altLang="zh-CN" sz="18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 temp</a:t>
            </a:r>
            <a:endParaRPr lang="en-US" altLang="zh-CN" sz="2000">
              <a:latin typeface="宋体" panose="02010600030101010101" pitchFamily="2" charset="-122"/>
              <a:ea typeface="宋体" panose="02010600030101010101" pitchFamily="2" charset="-122"/>
            </a:endParaRPr>
          </a:p>
          <a:p>
            <a:pPr marL="1333500" lvl="2">
              <a:lnSpc>
                <a:spcPct val="80000"/>
              </a:lnSpc>
              <a:spcBef>
                <a:spcPct val="0"/>
              </a:spcBef>
              <a:buFontTx/>
              <a:buNone/>
            </a:pPr>
            <a:r>
              <a:rPr lang="en-US" altLang="zh-CN" sz="2000">
                <a:latin typeface="宋体" panose="02010600030101010101" pitchFamily="2" charset="-122"/>
                <a:ea typeface="宋体" panose="02010600030101010101" pitchFamily="2" charset="-122"/>
              </a:rPr>
              <a:t>   }</a:t>
            </a:r>
            <a:endParaRPr lang="en-US" altLang="zh-CN" sz="2000">
              <a:latin typeface="宋体" panose="02010600030101010101" pitchFamily="2" charset="-122"/>
              <a:ea typeface="宋体" panose="02010600030101010101" pitchFamily="2" charset="-122"/>
            </a:endParaRPr>
          </a:p>
          <a:p>
            <a:pPr marL="1333500" lvl="2">
              <a:lnSpc>
                <a:spcPct val="80000"/>
              </a:lnSpc>
            </a:pPr>
            <a:r>
              <a:rPr lang="zh-CN" altLang="en-US" sz="2000">
                <a:latin typeface="宋体" panose="02010600030101010101" pitchFamily="2" charset="-122"/>
                <a:ea typeface="宋体" panose="02010600030101010101" pitchFamily="2" charset="-122"/>
              </a:rPr>
              <a:t>从分配池中</a:t>
            </a:r>
            <a:r>
              <a:rPr lang="zh-CN" altLang="en-US" sz="2000">
                <a:solidFill>
                  <a:schemeClr val="tx2"/>
                </a:solidFill>
                <a:latin typeface="宋体" panose="02010600030101010101" pitchFamily="2" charset="-122"/>
                <a:ea typeface="宋体" panose="02010600030101010101" pitchFamily="2" charset="-122"/>
              </a:rPr>
              <a:t>分配出一个元素</a:t>
            </a:r>
            <a:r>
              <a:rPr lang="zh-CN" altLang="en-US" sz="2000">
                <a:latin typeface="宋体" panose="02010600030101010101" pitchFamily="2" charset="-122"/>
                <a:ea typeface="宋体" panose="02010600030101010101" pitchFamily="2" charset="-122"/>
              </a:rPr>
              <a:t>给指针 </a:t>
            </a:r>
            <a:r>
              <a:rPr lang="en-US" altLang="zh-CN" sz="2000">
                <a:latin typeface="宋体" panose="02010600030101010101" pitchFamily="2" charset="-122"/>
                <a:ea typeface="宋体" panose="02010600030101010101" pitchFamily="2" charset="-122"/>
              </a:rPr>
              <a:t>p</a:t>
            </a:r>
            <a:endParaRPr lang="en-US" altLang="zh-CN" sz="2000">
              <a:latin typeface="宋体" panose="02010600030101010101" pitchFamily="2" charset="-122"/>
              <a:ea typeface="宋体" panose="02010600030101010101" pitchFamily="2" charset="-122"/>
            </a:endParaRPr>
          </a:p>
          <a:p>
            <a:pPr marL="1333500" lvl="2">
              <a:lnSpc>
                <a:spcPct val="80000"/>
              </a:lnSpc>
              <a:spcBef>
                <a:spcPct val="0"/>
              </a:spcBef>
              <a:buFontTx/>
              <a:buNone/>
            </a:pPr>
            <a:r>
              <a:rPr lang="en-US" altLang="zh-CN" sz="2000">
                <a:solidFill>
                  <a:schemeClr val="tx2"/>
                </a:solidFill>
                <a:latin typeface="宋体" panose="02010600030101010101" pitchFamily="2" charset="-122"/>
                <a:ea typeface="宋体" panose="02010600030101010101" pitchFamily="2" charset="-122"/>
              </a:rPr>
              <a:t>GetNode</a:t>
            </a:r>
            <a:r>
              <a:rPr lang="en-US" altLang="zh-CN" sz="2000">
                <a:latin typeface="宋体" panose="02010600030101010101" pitchFamily="2" charset="-122"/>
                <a:ea typeface="宋体" panose="02010600030101010101" pitchFamily="2" charset="-122"/>
              </a:rPr>
              <a:t>( p )</a:t>
            </a:r>
            <a:endParaRPr lang="en-US" altLang="zh-CN" sz="2000">
              <a:latin typeface="宋体" panose="02010600030101010101" pitchFamily="2" charset="-122"/>
              <a:ea typeface="宋体" panose="02010600030101010101" pitchFamily="2" charset="-122"/>
            </a:endParaRPr>
          </a:p>
          <a:p>
            <a:pPr marL="1333500" lvl="2">
              <a:lnSpc>
                <a:spcPct val="80000"/>
              </a:lnSpc>
              <a:spcBef>
                <a:spcPct val="0"/>
              </a:spcBef>
              <a:buFontTx/>
              <a:buNone/>
            </a:pPr>
            <a:r>
              <a:rPr lang="en-US" altLang="zh-CN" sz="2000">
                <a:latin typeface="宋体" panose="02010600030101010101" pitchFamily="2" charset="-122"/>
                <a:ea typeface="宋体" panose="02010600030101010101" pitchFamily="2" charset="-122"/>
              </a:rPr>
              <a:t>   p ← av</a:t>
            </a:r>
            <a:endParaRPr lang="en-US" altLang="zh-CN" sz="2000">
              <a:latin typeface="宋体" panose="02010600030101010101" pitchFamily="2" charset="-122"/>
              <a:ea typeface="宋体" panose="02010600030101010101" pitchFamily="2" charset="-122"/>
            </a:endParaRPr>
          </a:p>
          <a:p>
            <a:pPr marL="1333500" lvl="2">
              <a:lnSpc>
                <a:spcPct val="80000"/>
              </a:lnSpc>
              <a:spcBef>
                <a:spcPct val="0"/>
              </a:spcBef>
              <a:buFontTx/>
              <a:buNone/>
            </a:pPr>
            <a:r>
              <a:rPr lang="en-US" altLang="zh-CN" sz="2000">
                <a:latin typeface="宋体" panose="02010600030101010101" pitchFamily="2" charset="-122"/>
                <a:ea typeface="宋体" panose="02010600030101010101" pitchFamily="2" charset="-122"/>
              </a:rPr>
              <a:t>   av ← next( av )</a:t>
            </a:r>
            <a:endParaRPr lang="en-US" altLang="zh-CN" sz="2000">
              <a:latin typeface="宋体" panose="02010600030101010101" pitchFamily="2" charset="-122"/>
              <a:ea typeface="宋体" panose="02010600030101010101" pitchFamily="2" charset="-122"/>
            </a:endParaRPr>
          </a:p>
          <a:p>
            <a:pPr marL="1333500" lvl="2">
              <a:lnSpc>
                <a:spcPct val="80000"/>
              </a:lnSpc>
              <a:spcBef>
                <a:spcPct val="0"/>
              </a:spcBef>
              <a:buFontTx/>
              <a:buNone/>
            </a:pPr>
            <a:r>
              <a:rPr lang="en-US" altLang="zh-CN" sz="2000">
                <a:latin typeface="宋体" panose="02010600030101010101" pitchFamily="2" charset="-122"/>
                <a:ea typeface="宋体" panose="02010600030101010101" pitchFamily="2" charset="-122"/>
              </a:rPr>
              <a:t>   return</a:t>
            </a:r>
            <a:endParaRPr lang="en-US" altLang="zh-CN" sz="1800">
              <a:latin typeface="宋体" panose="02010600030101010101" pitchFamily="2" charset="-122"/>
              <a:ea typeface="宋体" panose="02010600030101010101" pitchFamily="2" charset="-122"/>
            </a:endParaRPr>
          </a:p>
          <a:p>
            <a:pPr marL="1333500" lvl="2">
              <a:lnSpc>
                <a:spcPct val="80000"/>
              </a:lnSpc>
            </a:pPr>
            <a:r>
              <a:rPr lang="zh-CN" altLang="en-US" sz="2000">
                <a:solidFill>
                  <a:schemeClr val="tx2"/>
                </a:solidFill>
                <a:latin typeface="宋体" panose="02010600030101010101" pitchFamily="2" charset="-122"/>
                <a:ea typeface="宋体" panose="02010600030101010101" pitchFamily="2" charset="-122"/>
              </a:rPr>
              <a:t>释放一个</a:t>
            </a:r>
            <a:r>
              <a:rPr lang="zh-CN" altLang="en-US" sz="2000">
                <a:latin typeface="宋体" panose="02010600030101010101" pitchFamily="2" charset="-122"/>
                <a:ea typeface="宋体" panose="02010600030101010101" pitchFamily="2" charset="-122"/>
              </a:rPr>
              <a:t>指针 </a:t>
            </a:r>
            <a:r>
              <a:rPr lang="en-US" altLang="zh-CN" sz="2000">
                <a:latin typeface="宋体" panose="02010600030101010101" pitchFamily="2" charset="-122"/>
                <a:ea typeface="宋体" panose="02010600030101010101" pitchFamily="2" charset="-122"/>
              </a:rPr>
              <a:t>p </a:t>
            </a:r>
            <a:r>
              <a:rPr lang="zh-CN" altLang="en-US" sz="2000">
                <a:latin typeface="宋体" panose="02010600030101010101" pitchFamily="2" charset="-122"/>
                <a:ea typeface="宋体" panose="02010600030101010101" pitchFamily="2" charset="-122"/>
              </a:rPr>
              <a:t>所指向的</a:t>
            </a:r>
            <a:r>
              <a:rPr lang="zh-CN" altLang="en-US" sz="2000">
                <a:solidFill>
                  <a:schemeClr val="tx2"/>
                </a:solidFill>
                <a:latin typeface="宋体" panose="02010600030101010101" pitchFamily="2" charset="-122"/>
                <a:ea typeface="宋体" panose="02010600030101010101" pitchFamily="2" charset="-122"/>
              </a:rPr>
              <a:t>数据元素</a:t>
            </a:r>
            <a:r>
              <a:rPr lang="zh-CN" altLang="en-US" sz="2000">
                <a:latin typeface="宋体" panose="02010600030101010101" pitchFamily="2" charset="-122"/>
                <a:ea typeface="宋体" panose="02010600030101010101" pitchFamily="2" charset="-122"/>
              </a:rPr>
              <a:t>，并返回分配池</a:t>
            </a:r>
            <a:endParaRPr lang="zh-CN" altLang="en-US" sz="2000">
              <a:latin typeface="宋体" panose="02010600030101010101" pitchFamily="2" charset="-122"/>
              <a:ea typeface="宋体" panose="02010600030101010101" pitchFamily="2" charset="-122"/>
            </a:endParaRPr>
          </a:p>
          <a:p>
            <a:pPr marL="1333500" lvl="2">
              <a:lnSpc>
                <a:spcPct val="80000"/>
              </a:lnSpc>
              <a:spcBef>
                <a:spcPct val="0"/>
              </a:spcBef>
              <a:buFontTx/>
              <a:buNone/>
            </a:pPr>
            <a:r>
              <a:rPr lang="en-US" altLang="zh-CN" sz="2000">
                <a:solidFill>
                  <a:schemeClr val="tx2"/>
                </a:solidFill>
                <a:latin typeface="宋体" panose="02010600030101010101" pitchFamily="2" charset="-122"/>
                <a:ea typeface="宋体" panose="02010600030101010101" pitchFamily="2" charset="-122"/>
              </a:rPr>
              <a:t>Ret</a:t>
            </a:r>
            <a:r>
              <a:rPr lang="en-US" altLang="zh-CN" sz="2000">
                <a:latin typeface="宋体" panose="02010600030101010101" pitchFamily="2" charset="-122"/>
                <a:ea typeface="宋体" panose="02010600030101010101" pitchFamily="2" charset="-122"/>
              </a:rPr>
              <a:t>( p )</a:t>
            </a:r>
            <a:endParaRPr lang="en-US" altLang="zh-CN" sz="2000">
              <a:latin typeface="宋体" panose="02010600030101010101" pitchFamily="2" charset="-122"/>
              <a:ea typeface="宋体" panose="02010600030101010101" pitchFamily="2" charset="-122"/>
            </a:endParaRPr>
          </a:p>
          <a:p>
            <a:pPr marL="1333500" lvl="2">
              <a:lnSpc>
                <a:spcPct val="80000"/>
              </a:lnSpc>
              <a:spcBef>
                <a:spcPct val="0"/>
              </a:spcBef>
              <a:buFontTx/>
              <a:buNone/>
            </a:pPr>
            <a:r>
              <a:rPr lang="en-US" altLang="zh-CN" sz="2000">
                <a:latin typeface="宋体" panose="02010600030101010101" pitchFamily="2" charset="-122"/>
                <a:ea typeface="宋体" panose="02010600030101010101" pitchFamily="2" charset="-122"/>
              </a:rPr>
              <a:t>   next( p ) ← av</a:t>
            </a:r>
            <a:endParaRPr lang="en-US" altLang="zh-CN" sz="2000">
              <a:latin typeface="宋体" panose="02010600030101010101" pitchFamily="2" charset="-122"/>
              <a:ea typeface="宋体" panose="02010600030101010101" pitchFamily="2" charset="-122"/>
            </a:endParaRPr>
          </a:p>
          <a:p>
            <a:pPr marL="1333500" lvl="2">
              <a:lnSpc>
                <a:spcPct val="80000"/>
              </a:lnSpc>
              <a:spcBef>
                <a:spcPct val="0"/>
              </a:spcBef>
              <a:buFontTx/>
              <a:buNone/>
            </a:pPr>
            <a:r>
              <a:rPr lang="en-US" altLang="zh-CN" sz="2000">
                <a:latin typeface="宋体" panose="02010600030101010101" pitchFamily="2" charset="-122"/>
                <a:ea typeface="宋体" panose="02010600030101010101" pitchFamily="2" charset="-122"/>
              </a:rPr>
              <a:t>   av ← p</a:t>
            </a:r>
            <a:endParaRPr lang="en-US" altLang="zh-CN" sz="2000">
              <a:latin typeface="宋体" panose="02010600030101010101" pitchFamily="2" charset="-122"/>
              <a:ea typeface="宋体" panose="02010600030101010101" pitchFamily="2" charset="-122"/>
            </a:endParaRPr>
          </a:p>
          <a:p>
            <a:pPr marL="1333500" lvl="2">
              <a:lnSpc>
                <a:spcPct val="80000"/>
              </a:lnSpc>
              <a:spcBef>
                <a:spcPct val="0"/>
              </a:spcBef>
              <a:buFontTx/>
              <a:buNone/>
            </a:pPr>
            <a:r>
              <a:rPr lang="en-US" altLang="zh-CN" sz="2000">
                <a:latin typeface="宋体" panose="02010600030101010101" pitchFamily="2" charset="-122"/>
                <a:ea typeface="宋体" panose="02010600030101010101" pitchFamily="2" charset="-122"/>
              </a:rPr>
              <a:t>   return</a:t>
            </a:r>
            <a:endParaRPr lang="en-US" altLang="zh-CN" sz="2000">
              <a:latin typeface="宋体" panose="02010600030101010101" pitchFamily="2" charset="-122"/>
              <a:ea typeface="宋体" panose="02010600030101010101" pitchFamily="2"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矩形 99"/>
          <p:cNvSpPr>
            <a:spLocks noChangeArrowheads="1"/>
          </p:cNvSpPr>
          <p:nvPr/>
        </p:nvSpPr>
        <p:spPr bwMode="auto">
          <a:xfrm>
            <a:off x="6554788" y="6092825"/>
            <a:ext cx="2879725" cy="765175"/>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8000" tIns="10800" rIns="18000" bIns="1080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61443"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18B80548-0534-4C72-A145-0BD4D35C7257}"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61444"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3.2 </a:t>
            </a:r>
            <a:r>
              <a:rPr lang="zh-CN" altLang="en-US" sz="2400">
                <a:latin typeface="宋体" panose="02010600030101010101" pitchFamily="2" charset="-122"/>
                <a:ea typeface="宋体" panose="02010600030101010101" pitchFamily="2" charset="-122"/>
              </a:rPr>
              <a:t>线性表</a:t>
            </a:r>
            <a:endParaRPr lang="zh-CN" altLang="en-US" sz="2400">
              <a:latin typeface="宋体" panose="02010600030101010101" pitchFamily="2" charset="-122"/>
              <a:ea typeface="宋体" panose="02010600030101010101" pitchFamily="2" charset="-122"/>
            </a:endParaRPr>
          </a:p>
        </p:txBody>
      </p:sp>
      <p:sp>
        <p:nvSpPr>
          <p:cNvPr id="61445" name="Rectangle 3"/>
          <p:cNvSpPr>
            <a:spLocks noGrp="1" noChangeArrowheads="1"/>
          </p:cNvSpPr>
          <p:nvPr>
            <p:ph type="body" idx="1"/>
          </p:nvPr>
        </p:nvSpPr>
        <p:spPr>
          <a:xfrm>
            <a:off x="152400" y="981075"/>
            <a:ext cx="8991600" cy="5876925"/>
          </a:xfrm>
        </p:spPr>
        <p:txBody>
          <a:bodyPr/>
          <a:lstStyle/>
          <a:p>
            <a:pPr marL="285750" indent="-285750">
              <a:lnSpc>
                <a:spcPct val="90000"/>
              </a:lnSpc>
            </a:pPr>
            <a:r>
              <a:rPr lang="zh-CN" altLang="en-US" sz="2800">
                <a:latin typeface="宋体" panose="02010600030101010101" pitchFamily="2" charset="-122"/>
                <a:ea typeface="宋体" panose="02010600030101010101" pitchFamily="2" charset="-122"/>
              </a:rPr>
              <a:t>链式存储的线性表</a:t>
            </a:r>
            <a:endParaRPr lang="zh-CN" altLang="en-US" sz="2800">
              <a:latin typeface="宋体" panose="02010600030101010101" pitchFamily="2" charset="-122"/>
              <a:ea typeface="宋体" panose="02010600030101010101" pitchFamily="2" charset="-122"/>
            </a:endParaRPr>
          </a:p>
          <a:p>
            <a:pPr marL="285750" indent="-285750">
              <a:lnSpc>
                <a:spcPct val="90000"/>
              </a:lnSpc>
              <a:buFontTx/>
              <a:buNone/>
            </a:pPr>
            <a:r>
              <a:rPr lang="zh-CN" altLang="en-US" sz="1600">
                <a:solidFill>
                  <a:schemeClr val="tx2"/>
                </a:solidFill>
                <a:latin typeface="宋体" panose="02010600030101010101" pitchFamily="2" charset="-122"/>
                <a:ea typeface="宋体" panose="02010600030101010101" pitchFamily="2" charset="-122"/>
              </a:rPr>
              <a:t>插入（</a:t>
            </a:r>
            <a:r>
              <a:rPr lang="en-US" altLang="zh-CN" sz="1600">
                <a:solidFill>
                  <a:schemeClr val="tx2"/>
                </a:solidFill>
                <a:latin typeface="宋体" panose="02010600030101010101" pitchFamily="2" charset="-122"/>
                <a:ea typeface="宋体" panose="02010600030101010101" pitchFamily="2" charset="-122"/>
              </a:rPr>
              <a:t>insert）</a:t>
            </a:r>
            <a:endParaRPr lang="en-US" altLang="zh-CN" sz="1600">
              <a:solidFill>
                <a:schemeClr val="tx2"/>
              </a:solidFill>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solidFill>
                  <a:schemeClr val="tx2"/>
                </a:solidFill>
                <a:latin typeface="宋体" panose="02010600030101010101" pitchFamily="2" charset="-122"/>
                <a:ea typeface="宋体" panose="02010600030101010101" pitchFamily="2" charset="-122"/>
              </a:rPr>
              <a:t>InsertLinkedList( </a:t>
            </a:r>
            <a:r>
              <a:rPr lang="en-US" altLang="zh-CN" sz="1400">
                <a:latin typeface="宋体" panose="02010600030101010101" pitchFamily="2" charset="-122"/>
                <a:ea typeface="宋体" panose="02010600030101010101" pitchFamily="2" charset="-122"/>
              </a:rPr>
              <a:t>head, a, b )</a:t>
            </a:r>
            <a:endParaRPr lang="en-US" altLang="zh-CN" sz="1400">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latin typeface="宋体" panose="02010600030101010101" pitchFamily="2" charset="-122"/>
                <a:ea typeface="宋体" panose="02010600030101010101" pitchFamily="2" charset="-122"/>
              </a:rPr>
              <a:t>   GetNode( p ) // </a:t>
            </a:r>
            <a:r>
              <a:rPr lang="zh-CN" altLang="en-US" sz="1400">
                <a:latin typeface="宋体" panose="02010600030101010101" pitchFamily="2" charset="-122"/>
                <a:ea typeface="宋体" panose="02010600030101010101" pitchFamily="2" charset="-122"/>
              </a:rPr>
              <a:t>取得新结点 </a:t>
            </a:r>
            <a:r>
              <a:rPr lang="en-US" altLang="zh-CN" sz="1400">
                <a:latin typeface="宋体" panose="02010600030101010101" pitchFamily="2" charset="-122"/>
                <a:ea typeface="宋体" panose="02010600030101010101" pitchFamily="2" charset="-122"/>
              </a:rPr>
              <a:t>p</a:t>
            </a:r>
            <a:endParaRPr lang="en-US" altLang="zh-CN" sz="1400">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latin typeface="宋体" panose="02010600030101010101" pitchFamily="2" charset="-122"/>
                <a:ea typeface="宋体" panose="02010600030101010101" pitchFamily="2" charset="-122"/>
              </a:rPr>
              <a:t>   data( p ) ← b</a:t>
            </a:r>
            <a:endParaRPr lang="en-US" altLang="zh-CN" sz="1400">
              <a:latin typeface="宋体" panose="02010600030101010101" pitchFamily="2" charset="-122"/>
              <a:ea typeface="宋体" panose="02010600030101010101" pitchFamily="2" charset="-122"/>
            </a:endParaRPr>
          </a:p>
          <a:p>
            <a:pPr marL="285750" indent="-285750">
              <a:lnSpc>
                <a:spcPct val="90000"/>
              </a:lnSpc>
              <a:buFontTx/>
              <a:buNone/>
            </a:pPr>
            <a:r>
              <a:rPr lang="zh-CN" altLang="en-US" sz="1400">
                <a:latin typeface="宋体" panose="02010600030101010101" pitchFamily="2" charset="-122"/>
                <a:ea typeface="宋体" panose="02010600030101010101" pitchFamily="2" charset="-122"/>
              </a:rPr>
              <a:t>   </a:t>
            </a:r>
            <a:r>
              <a:rPr lang="en-US" altLang="zh-CN" sz="1400">
                <a:latin typeface="宋体" panose="02010600030101010101" pitchFamily="2" charset="-122"/>
                <a:ea typeface="宋体" panose="02010600030101010101" pitchFamily="2" charset="-122"/>
              </a:rPr>
              <a:t>if ( head = Nil ) then { //</a:t>
            </a:r>
            <a:r>
              <a:rPr lang="zh-CN" altLang="en-US" sz="1400">
                <a:latin typeface="宋体" panose="02010600030101010101" pitchFamily="2" charset="-122"/>
                <a:ea typeface="宋体" panose="02010600030101010101" pitchFamily="2" charset="-122"/>
              </a:rPr>
              <a:t>空表</a:t>
            </a:r>
            <a:endParaRPr lang="zh-CN" altLang="en-US" sz="1400">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latin typeface="宋体" panose="02010600030101010101" pitchFamily="2" charset="-122"/>
                <a:ea typeface="宋体" panose="02010600030101010101" pitchFamily="2" charset="-122"/>
              </a:rPr>
              <a:t>      head ← p; next( p ) ← Nil</a:t>
            </a:r>
            <a:endParaRPr lang="en-US" altLang="zh-CN" sz="1400">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latin typeface="宋体" panose="02010600030101010101" pitchFamily="2" charset="-122"/>
                <a:ea typeface="宋体" panose="02010600030101010101" pitchFamily="2" charset="-122"/>
              </a:rPr>
              <a:t>      return</a:t>
            </a:r>
            <a:endParaRPr lang="en-US" altLang="zh-CN" sz="1400">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latin typeface="宋体" panose="02010600030101010101" pitchFamily="2" charset="-122"/>
                <a:ea typeface="宋体" panose="02010600030101010101" pitchFamily="2" charset="-122"/>
              </a:rPr>
              <a:t>   }</a:t>
            </a:r>
            <a:endParaRPr lang="en-US" altLang="zh-CN" sz="1400">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latin typeface="宋体" panose="02010600030101010101" pitchFamily="2" charset="-122"/>
                <a:ea typeface="宋体" panose="02010600030101010101" pitchFamily="2" charset="-122"/>
              </a:rPr>
              <a:t>   if (data(head)==a) { //a</a:t>
            </a:r>
            <a:r>
              <a:rPr lang="zh-CN" altLang="en-US" sz="1400">
                <a:latin typeface="宋体" panose="02010600030101010101" pitchFamily="2" charset="-122"/>
                <a:ea typeface="宋体" panose="02010600030101010101" pitchFamily="2" charset="-122"/>
              </a:rPr>
              <a:t>为头结点</a:t>
            </a:r>
            <a:endParaRPr lang="en-US" altLang="zh-CN" sz="1400">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latin typeface="宋体" panose="02010600030101010101" pitchFamily="2" charset="-122"/>
                <a:ea typeface="宋体" panose="02010600030101010101" pitchFamily="2" charset="-122"/>
              </a:rPr>
              <a:t>      next(p) ← head; head ← p</a:t>
            </a:r>
            <a:endParaRPr lang="en-US" altLang="zh-CN" sz="1400">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latin typeface="宋体" panose="02010600030101010101" pitchFamily="2" charset="-122"/>
                <a:ea typeface="宋体" panose="02010600030101010101" pitchFamily="2" charset="-122"/>
              </a:rPr>
              <a:t>   }    </a:t>
            </a:r>
            <a:endParaRPr lang="en-US" altLang="zh-CN" sz="1400">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latin typeface="宋体" panose="02010600030101010101" pitchFamily="2" charset="-122"/>
                <a:ea typeface="宋体" panose="02010600030101010101" pitchFamily="2" charset="-122"/>
              </a:rPr>
              <a:t>   else { </a:t>
            </a:r>
            <a:r>
              <a:rPr lang="en-US" altLang="zh-CN" sz="1400">
                <a:solidFill>
                  <a:schemeClr val="tx2"/>
                </a:solidFill>
                <a:latin typeface="宋体" panose="02010600030101010101" pitchFamily="2" charset="-122"/>
                <a:ea typeface="宋体" panose="02010600030101010101" pitchFamily="2" charset="-122"/>
              </a:rPr>
              <a:t>// </a:t>
            </a:r>
            <a:r>
              <a:rPr lang="zh-CN" altLang="en-US" sz="1400">
                <a:solidFill>
                  <a:schemeClr val="tx2"/>
                </a:solidFill>
                <a:latin typeface="宋体" panose="02010600030101010101" pitchFamily="2" charset="-122"/>
                <a:ea typeface="宋体" panose="02010600030101010101" pitchFamily="2" charset="-122"/>
              </a:rPr>
              <a:t>先找</a:t>
            </a:r>
            <a:r>
              <a:rPr lang="en-US" altLang="zh-CN" sz="1400">
                <a:solidFill>
                  <a:schemeClr val="tx2"/>
                </a:solidFill>
                <a:latin typeface="宋体" panose="02010600030101010101" pitchFamily="2" charset="-122"/>
                <a:ea typeface="宋体" panose="02010600030101010101" pitchFamily="2" charset="-122"/>
              </a:rPr>
              <a:t>a</a:t>
            </a:r>
            <a:r>
              <a:rPr lang="zh-CN" altLang="en-US" sz="1400">
                <a:solidFill>
                  <a:schemeClr val="tx2"/>
                </a:solidFill>
                <a:latin typeface="宋体" panose="02010600030101010101" pitchFamily="2" charset="-122"/>
                <a:ea typeface="宋体" panose="02010600030101010101" pitchFamily="2" charset="-122"/>
              </a:rPr>
              <a:t>的前继结点的指针</a:t>
            </a:r>
            <a:r>
              <a:rPr lang="en-US" altLang="zh-CN" sz="1400">
                <a:solidFill>
                  <a:schemeClr val="tx2"/>
                </a:solidFill>
                <a:latin typeface="宋体" panose="02010600030101010101" pitchFamily="2" charset="-122"/>
                <a:ea typeface="宋体" panose="02010600030101010101" pitchFamily="2" charset="-122"/>
              </a:rPr>
              <a:t>q</a:t>
            </a:r>
            <a:endParaRPr lang="en-US" altLang="zh-CN" sz="1400">
              <a:solidFill>
                <a:schemeClr val="tx2"/>
              </a:solidFill>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latin typeface="宋体" panose="02010600030101010101" pitchFamily="2" charset="-122"/>
                <a:ea typeface="宋体" panose="02010600030101010101" pitchFamily="2" charset="-122"/>
              </a:rPr>
              <a:t>      LookFor( head, a, q )</a:t>
            </a:r>
            <a:endParaRPr lang="en-US" altLang="zh-CN" sz="1400">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latin typeface="宋体" panose="02010600030101010101" pitchFamily="2" charset="-122"/>
                <a:ea typeface="宋体" panose="02010600030101010101" pitchFamily="2" charset="-122"/>
              </a:rPr>
              <a:t>      next( p ) ← next( q )</a:t>
            </a:r>
            <a:endParaRPr lang="en-US" altLang="zh-CN" sz="1400">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latin typeface="宋体" panose="02010600030101010101" pitchFamily="2" charset="-122"/>
                <a:ea typeface="宋体" panose="02010600030101010101" pitchFamily="2" charset="-122"/>
              </a:rPr>
              <a:t>      next( q ) = p</a:t>
            </a:r>
            <a:endParaRPr lang="en-US" altLang="zh-CN" sz="1400">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latin typeface="宋体" panose="02010600030101010101" pitchFamily="2" charset="-122"/>
                <a:ea typeface="宋体" panose="02010600030101010101" pitchFamily="2" charset="-122"/>
              </a:rPr>
              <a:t>   }</a:t>
            </a:r>
            <a:endParaRPr lang="en-US" altLang="zh-CN" sz="1400">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latin typeface="宋体" panose="02010600030101010101" pitchFamily="2" charset="-122"/>
                <a:ea typeface="宋体" panose="02010600030101010101" pitchFamily="2" charset="-122"/>
              </a:rPr>
              <a:t>   return</a:t>
            </a:r>
            <a:endParaRPr lang="en-US" altLang="zh-CN" sz="1400">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solidFill>
                  <a:schemeClr val="tx2"/>
                </a:solidFill>
                <a:latin typeface="宋体" panose="02010600030101010101" pitchFamily="2" charset="-122"/>
                <a:ea typeface="宋体" panose="02010600030101010101" pitchFamily="2" charset="-122"/>
              </a:rPr>
              <a:t>LookFor( </a:t>
            </a:r>
            <a:r>
              <a:rPr lang="en-US" altLang="zh-CN" sz="1400">
                <a:latin typeface="宋体" panose="02010600030101010101" pitchFamily="2" charset="-122"/>
                <a:ea typeface="宋体" panose="02010600030101010101" pitchFamily="2" charset="-122"/>
              </a:rPr>
              <a:t>head, a, q ) </a:t>
            </a:r>
            <a:r>
              <a:rPr lang="en-US" altLang="zh-CN" sz="1400">
                <a:solidFill>
                  <a:schemeClr val="tx2"/>
                </a:solidFill>
                <a:latin typeface="宋体" panose="02010600030101010101" pitchFamily="2" charset="-122"/>
                <a:ea typeface="宋体" panose="02010600030101010101" pitchFamily="2" charset="-122"/>
              </a:rPr>
              <a:t>// </a:t>
            </a:r>
            <a:r>
              <a:rPr lang="zh-CN" altLang="en-US" sz="1400">
                <a:solidFill>
                  <a:schemeClr val="tx2"/>
                </a:solidFill>
                <a:latin typeface="宋体" panose="02010600030101010101" pitchFamily="2" charset="-122"/>
                <a:ea typeface="宋体" panose="02010600030101010101" pitchFamily="2" charset="-122"/>
              </a:rPr>
              <a:t>这里的</a:t>
            </a:r>
            <a:r>
              <a:rPr lang="en-US" altLang="zh-CN" sz="1400">
                <a:solidFill>
                  <a:schemeClr val="tx2"/>
                </a:solidFill>
                <a:latin typeface="宋体" panose="02010600030101010101" pitchFamily="2" charset="-122"/>
                <a:ea typeface="宋体" panose="02010600030101010101" pitchFamily="2" charset="-122"/>
              </a:rPr>
              <a:t>q</a:t>
            </a:r>
            <a:r>
              <a:rPr lang="zh-CN" altLang="en-US" sz="1400">
                <a:solidFill>
                  <a:schemeClr val="tx2"/>
                </a:solidFill>
                <a:latin typeface="宋体" panose="02010600030101010101" pitchFamily="2" charset="-122"/>
                <a:ea typeface="宋体" panose="02010600030101010101" pitchFamily="2" charset="-122"/>
              </a:rPr>
              <a:t>是指向</a:t>
            </a:r>
            <a:r>
              <a:rPr lang="en-US" altLang="zh-CN" sz="1400">
                <a:solidFill>
                  <a:schemeClr val="tx2"/>
                </a:solidFill>
                <a:latin typeface="宋体" panose="02010600030101010101" pitchFamily="2" charset="-122"/>
                <a:ea typeface="宋体" panose="02010600030101010101" pitchFamily="2" charset="-122"/>
              </a:rPr>
              <a:t>a</a:t>
            </a:r>
            <a:r>
              <a:rPr lang="zh-CN" altLang="en-US" sz="1400">
                <a:solidFill>
                  <a:schemeClr val="tx2"/>
                </a:solidFill>
                <a:latin typeface="宋体" panose="02010600030101010101" pitchFamily="2" charset="-122"/>
                <a:ea typeface="宋体" panose="02010600030101010101" pitchFamily="2" charset="-122"/>
              </a:rPr>
              <a:t>的前继结点的指针，而不是数据元素</a:t>
            </a:r>
            <a:r>
              <a:rPr lang="en-US" altLang="zh-CN" sz="1400">
                <a:solidFill>
                  <a:schemeClr val="tx2"/>
                </a:solidFill>
                <a:latin typeface="宋体" panose="02010600030101010101" pitchFamily="2" charset="-122"/>
                <a:ea typeface="宋体" panose="02010600030101010101" pitchFamily="2" charset="-122"/>
              </a:rPr>
              <a:t>q</a:t>
            </a:r>
            <a:endParaRPr lang="en-US" altLang="zh-CN" sz="1400">
              <a:solidFill>
                <a:schemeClr val="tx2"/>
              </a:solidFill>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latin typeface="宋体" panose="02010600030101010101" pitchFamily="2" charset="-122"/>
                <a:ea typeface="宋体" panose="02010600030101010101" pitchFamily="2" charset="-122"/>
              </a:rPr>
              <a:t>   q ← head</a:t>
            </a:r>
            <a:endParaRPr lang="en-US" altLang="zh-CN" sz="1400">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latin typeface="宋体" panose="02010600030101010101" pitchFamily="2" charset="-122"/>
                <a:ea typeface="宋体" panose="02010600030101010101" pitchFamily="2" charset="-122"/>
              </a:rPr>
              <a:t>   while ( next( q ) ≠ Nil ) and ( data( next( q ) ) ≠ a ) do</a:t>
            </a:r>
            <a:endParaRPr lang="en-US" altLang="zh-CN" sz="1400">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latin typeface="宋体" panose="02010600030101010101" pitchFamily="2" charset="-122"/>
                <a:ea typeface="宋体" panose="02010600030101010101" pitchFamily="2" charset="-122"/>
              </a:rPr>
              <a:t>      q ← next( q )</a:t>
            </a:r>
            <a:endParaRPr lang="en-US" altLang="zh-CN" sz="1400">
              <a:latin typeface="宋体" panose="02010600030101010101" pitchFamily="2" charset="-122"/>
              <a:ea typeface="宋体" panose="02010600030101010101" pitchFamily="2" charset="-122"/>
            </a:endParaRPr>
          </a:p>
          <a:p>
            <a:pPr marL="285750" indent="-285750">
              <a:lnSpc>
                <a:spcPct val="90000"/>
              </a:lnSpc>
              <a:buFontTx/>
              <a:buNone/>
            </a:pPr>
            <a:r>
              <a:rPr lang="en-US" altLang="zh-CN" sz="1400">
                <a:latin typeface="宋体" panose="02010600030101010101" pitchFamily="2" charset="-122"/>
                <a:ea typeface="宋体" panose="02010600030101010101" pitchFamily="2" charset="-122"/>
              </a:rPr>
              <a:t>   return		</a:t>
            </a:r>
            <a:r>
              <a:rPr lang="en-US" altLang="zh-CN" sz="1400">
                <a:solidFill>
                  <a:srgbClr val="FF0000"/>
                </a:solidFill>
                <a:latin typeface="宋体" panose="02010600030101010101" pitchFamily="2" charset="-122"/>
                <a:ea typeface="宋体" panose="02010600030101010101" pitchFamily="2" charset="-122"/>
              </a:rPr>
              <a:t>// </a:t>
            </a:r>
            <a:r>
              <a:rPr lang="zh-CN" altLang="en-US" sz="1400">
                <a:solidFill>
                  <a:srgbClr val="FF0000"/>
                </a:solidFill>
                <a:latin typeface="宋体" panose="02010600030101010101" pitchFamily="2" charset="-122"/>
                <a:ea typeface="宋体" panose="02010600030101010101" pitchFamily="2" charset="-122"/>
              </a:rPr>
              <a:t>如果表中没有数据元素</a:t>
            </a:r>
            <a:r>
              <a:rPr lang="en-US" altLang="zh-CN" sz="1400">
                <a:solidFill>
                  <a:srgbClr val="FF0000"/>
                </a:solidFill>
                <a:latin typeface="宋体" panose="02010600030101010101" pitchFamily="2" charset="-122"/>
                <a:ea typeface="宋体" panose="02010600030101010101" pitchFamily="2" charset="-122"/>
              </a:rPr>
              <a:t>a</a:t>
            </a:r>
            <a:r>
              <a:rPr lang="zh-CN" altLang="en-US" sz="1400">
                <a:solidFill>
                  <a:srgbClr val="FF0000"/>
                </a:solidFill>
                <a:latin typeface="宋体" panose="02010600030101010101" pitchFamily="2" charset="-122"/>
                <a:ea typeface="宋体" panose="02010600030101010101" pitchFamily="2" charset="-122"/>
              </a:rPr>
              <a:t>，返回的</a:t>
            </a:r>
            <a:r>
              <a:rPr lang="en-US" altLang="zh-CN" sz="1400">
                <a:solidFill>
                  <a:srgbClr val="FF0000"/>
                </a:solidFill>
                <a:latin typeface="宋体" panose="02010600030101010101" pitchFamily="2" charset="-122"/>
                <a:ea typeface="宋体" panose="02010600030101010101" pitchFamily="2" charset="-122"/>
              </a:rPr>
              <a:t>q</a:t>
            </a:r>
            <a:r>
              <a:rPr lang="zh-CN" altLang="en-US" sz="1400">
                <a:solidFill>
                  <a:srgbClr val="FF0000"/>
                </a:solidFill>
                <a:latin typeface="宋体" panose="02010600030101010101" pitchFamily="2" charset="-122"/>
                <a:ea typeface="宋体" panose="02010600030101010101" pitchFamily="2" charset="-122"/>
              </a:rPr>
              <a:t>指向最后一个节点，</a:t>
            </a:r>
            <a:r>
              <a:rPr lang="en-US" altLang="zh-CN" sz="1400">
                <a:solidFill>
                  <a:srgbClr val="FF0000"/>
                </a:solidFill>
                <a:latin typeface="宋体" panose="02010600030101010101" pitchFamily="2" charset="-122"/>
                <a:ea typeface="宋体" panose="02010600030101010101" pitchFamily="2" charset="-122"/>
              </a:rPr>
              <a:t>b</a:t>
            </a:r>
            <a:r>
              <a:rPr lang="zh-CN" altLang="en-US" sz="1400">
                <a:solidFill>
                  <a:srgbClr val="FF0000"/>
                </a:solidFill>
                <a:latin typeface="宋体" panose="02010600030101010101" pitchFamily="2" charset="-122"/>
                <a:ea typeface="宋体" panose="02010600030101010101" pitchFamily="2" charset="-122"/>
              </a:rPr>
              <a:t>被插入到最后。</a:t>
            </a:r>
            <a:endParaRPr lang="en-US" altLang="zh-CN" sz="1400">
              <a:solidFill>
                <a:srgbClr val="FF0000"/>
              </a:solidFill>
              <a:latin typeface="宋体" panose="02010600030101010101" pitchFamily="2" charset="-122"/>
              <a:ea typeface="宋体" panose="02010600030101010101" pitchFamily="2" charset="-122"/>
            </a:endParaRPr>
          </a:p>
        </p:txBody>
      </p:sp>
      <p:grpSp>
        <p:nvGrpSpPr>
          <p:cNvPr id="61446" name="Group 115"/>
          <p:cNvGrpSpPr/>
          <p:nvPr/>
        </p:nvGrpSpPr>
        <p:grpSpPr bwMode="auto">
          <a:xfrm>
            <a:off x="3327400" y="1155700"/>
            <a:ext cx="5715000" cy="4129088"/>
            <a:chOff x="816" y="1047"/>
            <a:chExt cx="3840" cy="2601"/>
          </a:xfrm>
        </p:grpSpPr>
        <p:sp>
          <p:nvSpPr>
            <p:cNvPr id="61453" name="Text Box 116"/>
            <p:cNvSpPr txBox="1">
              <a:spLocks noChangeArrowheads="1"/>
            </p:cNvSpPr>
            <p:nvPr/>
          </p:nvSpPr>
          <p:spPr bwMode="auto">
            <a:xfrm>
              <a:off x="1262" y="1486"/>
              <a:ext cx="20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a:solidFill>
                  <a:schemeClr val="tx1"/>
                </a:solidFill>
                <a:latin typeface="Times New Roman" panose="02020603050405020304" pitchFamily="18" charset="0"/>
              </a:endParaRPr>
            </a:p>
          </p:txBody>
        </p:sp>
        <p:sp>
          <p:nvSpPr>
            <p:cNvPr id="61454" name="Text Box 117"/>
            <p:cNvSpPr txBox="1">
              <a:spLocks noChangeArrowheads="1"/>
            </p:cNvSpPr>
            <p:nvPr/>
          </p:nvSpPr>
          <p:spPr bwMode="auto">
            <a:xfrm>
              <a:off x="1462" y="1486"/>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a:solidFill>
                  <a:schemeClr val="tx2"/>
                </a:solidFill>
                <a:latin typeface="Times New Roman" panose="02020603050405020304" pitchFamily="18" charset="0"/>
              </a:endParaRPr>
            </a:p>
          </p:txBody>
        </p:sp>
        <p:sp>
          <p:nvSpPr>
            <p:cNvPr id="61455" name="Line 118"/>
            <p:cNvSpPr>
              <a:spLocks noChangeShapeType="1"/>
            </p:cNvSpPr>
            <p:nvPr/>
          </p:nvSpPr>
          <p:spPr bwMode="auto">
            <a:xfrm flipV="1">
              <a:off x="1070" y="1578"/>
              <a:ext cx="17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56" name="Line 119"/>
            <p:cNvSpPr>
              <a:spLocks noChangeShapeType="1"/>
            </p:cNvSpPr>
            <p:nvPr/>
          </p:nvSpPr>
          <p:spPr bwMode="auto">
            <a:xfrm>
              <a:off x="1543" y="1570"/>
              <a:ext cx="355" cy="0"/>
            </a:xfrm>
            <a:prstGeom prst="line">
              <a:avLst/>
            </a:prstGeom>
            <a:noFill/>
            <a:ln w="9525">
              <a:solidFill>
                <a:schemeClr val="tx1"/>
              </a:solidFill>
              <a:prstDash val="lgDashDot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57" name="Text Box 120"/>
            <p:cNvSpPr txBox="1">
              <a:spLocks noChangeArrowheads="1"/>
            </p:cNvSpPr>
            <p:nvPr/>
          </p:nvSpPr>
          <p:spPr bwMode="auto">
            <a:xfrm>
              <a:off x="3537" y="1135"/>
              <a:ext cx="5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200">
                  <a:solidFill>
                    <a:schemeClr val="tx1"/>
                  </a:solidFill>
                  <a:latin typeface="Times New Roman" panose="02020603050405020304" pitchFamily="18" charset="0"/>
                </a:rPr>
                <a:t>分配池</a:t>
              </a:r>
              <a:endParaRPr lang="zh-CN" altLang="en-US" sz="1200">
                <a:solidFill>
                  <a:schemeClr val="tx1"/>
                </a:solidFill>
                <a:latin typeface="Times New Roman" panose="02020603050405020304" pitchFamily="18" charset="0"/>
              </a:endParaRPr>
            </a:p>
          </p:txBody>
        </p:sp>
        <p:sp>
          <p:nvSpPr>
            <p:cNvPr id="61458" name="Line 121"/>
            <p:cNvSpPr>
              <a:spLocks noChangeShapeType="1"/>
            </p:cNvSpPr>
            <p:nvPr/>
          </p:nvSpPr>
          <p:spPr bwMode="auto">
            <a:xfrm>
              <a:off x="2192" y="1576"/>
              <a:ext cx="2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59" name="Text Box 122"/>
            <p:cNvSpPr txBox="1">
              <a:spLocks noChangeArrowheads="1"/>
            </p:cNvSpPr>
            <p:nvPr/>
          </p:nvSpPr>
          <p:spPr bwMode="auto">
            <a:xfrm>
              <a:off x="1911" y="1486"/>
              <a:ext cx="20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a:solidFill>
                  <a:schemeClr val="tx1"/>
                </a:solidFill>
                <a:latin typeface="Times New Roman" panose="02020603050405020304" pitchFamily="18" charset="0"/>
              </a:endParaRPr>
            </a:p>
          </p:txBody>
        </p:sp>
        <p:sp>
          <p:nvSpPr>
            <p:cNvPr id="61460" name="Text Box 123"/>
            <p:cNvSpPr txBox="1">
              <a:spLocks noChangeArrowheads="1"/>
            </p:cNvSpPr>
            <p:nvPr/>
          </p:nvSpPr>
          <p:spPr bwMode="auto">
            <a:xfrm>
              <a:off x="2111" y="1486"/>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a:solidFill>
                  <a:schemeClr val="tx2"/>
                </a:solidFill>
                <a:latin typeface="Times New Roman" panose="02020603050405020304" pitchFamily="18" charset="0"/>
              </a:endParaRPr>
            </a:p>
          </p:txBody>
        </p:sp>
        <p:sp>
          <p:nvSpPr>
            <p:cNvPr id="61461" name="Text Box 124"/>
            <p:cNvSpPr txBox="1">
              <a:spLocks noChangeArrowheads="1"/>
            </p:cNvSpPr>
            <p:nvPr/>
          </p:nvSpPr>
          <p:spPr bwMode="auto">
            <a:xfrm>
              <a:off x="2487" y="1486"/>
              <a:ext cx="20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400">
                  <a:solidFill>
                    <a:schemeClr val="tx1"/>
                  </a:solidFill>
                  <a:latin typeface="Times New Roman" panose="02020603050405020304" pitchFamily="18" charset="0"/>
                </a:rPr>
                <a:t>a</a:t>
              </a:r>
              <a:endParaRPr lang="en-US" altLang="zh-CN" sz="1400">
                <a:solidFill>
                  <a:schemeClr val="tx1"/>
                </a:solidFill>
                <a:latin typeface="Times New Roman" panose="02020603050405020304" pitchFamily="18" charset="0"/>
              </a:endParaRPr>
            </a:p>
          </p:txBody>
        </p:sp>
        <p:sp>
          <p:nvSpPr>
            <p:cNvPr id="61462" name="Text Box 125"/>
            <p:cNvSpPr txBox="1">
              <a:spLocks noChangeArrowheads="1"/>
            </p:cNvSpPr>
            <p:nvPr/>
          </p:nvSpPr>
          <p:spPr bwMode="auto">
            <a:xfrm>
              <a:off x="2687" y="1486"/>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a:solidFill>
                  <a:schemeClr val="tx2"/>
                </a:solidFill>
                <a:latin typeface="Times New Roman" panose="02020603050405020304" pitchFamily="18" charset="0"/>
              </a:endParaRPr>
            </a:p>
          </p:txBody>
        </p:sp>
        <p:sp>
          <p:nvSpPr>
            <p:cNvPr id="61463" name="Line 126"/>
            <p:cNvSpPr>
              <a:spLocks noChangeShapeType="1"/>
            </p:cNvSpPr>
            <p:nvPr/>
          </p:nvSpPr>
          <p:spPr bwMode="auto">
            <a:xfrm>
              <a:off x="2770" y="1576"/>
              <a:ext cx="2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64" name="Text Box 127"/>
            <p:cNvSpPr txBox="1">
              <a:spLocks noChangeArrowheads="1"/>
            </p:cNvSpPr>
            <p:nvPr/>
          </p:nvSpPr>
          <p:spPr bwMode="auto">
            <a:xfrm>
              <a:off x="3065" y="1486"/>
              <a:ext cx="20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a:solidFill>
                  <a:schemeClr val="tx1"/>
                </a:solidFill>
                <a:latin typeface="Times New Roman" panose="02020603050405020304" pitchFamily="18" charset="0"/>
              </a:endParaRPr>
            </a:p>
          </p:txBody>
        </p:sp>
        <p:sp>
          <p:nvSpPr>
            <p:cNvPr id="61465" name="Text Box 128"/>
            <p:cNvSpPr txBox="1">
              <a:spLocks noChangeArrowheads="1"/>
            </p:cNvSpPr>
            <p:nvPr/>
          </p:nvSpPr>
          <p:spPr bwMode="auto">
            <a:xfrm>
              <a:off x="3265" y="1486"/>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a:solidFill>
                  <a:schemeClr val="tx2"/>
                </a:solidFill>
                <a:latin typeface="Times New Roman" panose="02020603050405020304" pitchFamily="18" charset="0"/>
              </a:endParaRPr>
            </a:p>
          </p:txBody>
        </p:sp>
        <p:sp>
          <p:nvSpPr>
            <p:cNvPr id="61466" name="Line 129"/>
            <p:cNvSpPr>
              <a:spLocks noChangeShapeType="1"/>
            </p:cNvSpPr>
            <p:nvPr/>
          </p:nvSpPr>
          <p:spPr bwMode="auto">
            <a:xfrm>
              <a:off x="3346" y="1576"/>
              <a:ext cx="355" cy="0"/>
            </a:xfrm>
            <a:prstGeom prst="line">
              <a:avLst/>
            </a:prstGeom>
            <a:noFill/>
            <a:ln w="9525">
              <a:solidFill>
                <a:schemeClr val="tx1"/>
              </a:solidFill>
              <a:prstDash val="lgDashDot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67" name="Text Box 130"/>
            <p:cNvSpPr txBox="1">
              <a:spLocks noChangeArrowheads="1"/>
            </p:cNvSpPr>
            <p:nvPr/>
          </p:nvSpPr>
          <p:spPr bwMode="auto">
            <a:xfrm>
              <a:off x="3711" y="1486"/>
              <a:ext cx="20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a:solidFill>
                  <a:schemeClr val="tx1"/>
                </a:solidFill>
                <a:latin typeface="Times New Roman" panose="02020603050405020304" pitchFamily="18" charset="0"/>
              </a:endParaRPr>
            </a:p>
          </p:txBody>
        </p:sp>
        <p:sp>
          <p:nvSpPr>
            <p:cNvPr id="61468" name="Text Box 131"/>
            <p:cNvSpPr txBox="1">
              <a:spLocks noChangeArrowheads="1"/>
            </p:cNvSpPr>
            <p:nvPr/>
          </p:nvSpPr>
          <p:spPr bwMode="auto">
            <a:xfrm>
              <a:off x="3912" y="1486"/>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a:solidFill>
                    <a:schemeClr val="tx2"/>
                  </a:solidFill>
                  <a:latin typeface="Times New Roman" panose="02020603050405020304" pitchFamily="18" charset="0"/>
                </a:rPr>
                <a:t>^</a:t>
              </a:r>
              <a:endParaRPr lang="zh-CN" altLang="en-US" sz="1400">
                <a:solidFill>
                  <a:schemeClr val="tx2"/>
                </a:solidFill>
                <a:latin typeface="Times New Roman" panose="02020603050405020304" pitchFamily="18" charset="0"/>
              </a:endParaRPr>
            </a:p>
          </p:txBody>
        </p:sp>
        <p:sp>
          <p:nvSpPr>
            <p:cNvPr id="61469" name="Line 132"/>
            <p:cNvSpPr>
              <a:spLocks noChangeShapeType="1"/>
            </p:cNvSpPr>
            <p:nvPr/>
          </p:nvSpPr>
          <p:spPr bwMode="auto">
            <a:xfrm>
              <a:off x="1721" y="1219"/>
              <a:ext cx="17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70" name="Text Box 133"/>
            <p:cNvSpPr txBox="1">
              <a:spLocks noChangeArrowheads="1"/>
            </p:cNvSpPr>
            <p:nvPr/>
          </p:nvSpPr>
          <p:spPr bwMode="auto">
            <a:xfrm>
              <a:off x="1911" y="1129"/>
              <a:ext cx="20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400">
                <a:solidFill>
                  <a:schemeClr val="tx1"/>
                </a:solidFill>
                <a:latin typeface="Times New Roman" panose="02020603050405020304" pitchFamily="18" charset="0"/>
              </a:endParaRPr>
            </a:p>
          </p:txBody>
        </p:sp>
        <p:sp>
          <p:nvSpPr>
            <p:cNvPr id="61471" name="Text Box 134"/>
            <p:cNvSpPr txBox="1">
              <a:spLocks noChangeArrowheads="1"/>
            </p:cNvSpPr>
            <p:nvPr/>
          </p:nvSpPr>
          <p:spPr bwMode="auto">
            <a:xfrm>
              <a:off x="2111" y="1129"/>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a:solidFill>
                  <a:schemeClr val="tx2"/>
                </a:solidFill>
                <a:latin typeface="Times New Roman" panose="02020603050405020304" pitchFamily="18" charset="0"/>
              </a:endParaRPr>
            </a:p>
          </p:txBody>
        </p:sp>
        <p:sp>
          <p:nvSpPr>
            <p:cNvPr id="61472" name="Line 135"/>
            <p:cNvSpPr>
              <a:spLocks noChangeShapeType="1"/>
            </p:cNvSpPr>
            <p:nvPr/>
          </p:nvSpPr>
          <p:spPr bwMode="auto">
            <a:xfrm>
              <a:off x="2193" y="1219"/>
              <a:ext cx="28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73" name="Text Box 136"/>
            <p:cNvSpPr txBox="1">
              <a:spLocks noChangeArrowheads="1"/>
            </p:cNvSpPr>
            <p:nvPr/>
          </p:nvSpPr>
          <p:spPr bwMode="auto">
            <a:xfrm>
              <a:off x="2489" y="1129"/>
              <a:ext cx="20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a:solidFill>
                  <a:schemeClr val="tx1"/>
                </a:solidFill>
                <a:latin typeface="Times New Roman" panose="02020603050405020304" pitchFamily="18" charset="0"/>
              </a:endParaRPr>
            </a:p>
          </p:txBody>
        </p:sp>
        <p:sp>
          <p:nvSpPr>
            <p:cNvPr id="61474" name="Text Box 137"/>
            <p:cNvSpPr txBox="1">
              <a:spLocks noChangeArrowheads="1"/>
            </p:cNvSpPr>
            <p:nvPr/>
          </p:nvSpPr>
          <p:spPr bwMode="auto">
            <a:xfrm>
              <a:off x="2689" y="1129"/>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a:solidFill>
                  <a:schemeClr val="tx2"/>
                </a:solidFill>
                <a:latin typeface="Times New Roman" panose="02020603050405020304" pitchFamily="18" charset="0"/>
              </a:endParaRPr>
            </a:p>
          </p:txBody>
        </p:sp>
        <p:sp>
          <p:nvSpPr>
            <p:cNvPr id="61475" name="Line 138"/>
            <p:cNvSpPr>
              <a:spLocks noChangeShapeType="1"/>
            </p:cNvSpPr>
            <p:nvPr/>
          </p:nvSpPr>
          <p:spPr bwMode="auto">
            <a:xfrm>
              <a:off x="2770" y="1219"/>
              <a:ext cx="355" cy="0"/>
            </a:xfrm>
            <a:prstGeom prst="line">
              <a:avLst/>
            </a:prstGeom>
            <a:noFill/>
            <a:ln w="9525">
              <a:solidFill>
                <a:schemeClr val="tx1"/>
              </a:solidFill>
              <a:prstDash val="lgDashDot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76" name="Text Box 139"/>
            <p:cNvSpPr txBox="1">
              <a:spLocks noChangeArrowheads="1"/>
            </p:cNvSpPr>
            <p:nvPr/>
          </p:nvSpPr>
          <p:spPr bwMode="auto">
            <a:xfrm>
              <a:off x="3135" y="1129"/>
              <a:ext cx="20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a:solidFill>
                  <a:schemeClr val="tx1"/>
                </a:solidFill>
                <a:latin typeface="Times New Roman" panose="02020603050405020304" pitchFamily="18" charset="0"/>
              </a:endParaRPr>
            </a:p>
          </p:txBody>
        </p:sp>
        <p:sp>
          <p:nvSpPr>
            <p:cNvPr id="61477" name="Text Box 140"/>
            <p:cNvSpPr txBox="1">
              <a:spLocks noChangeArrowheads="1"/>
            </p:cNvSpPr>
            <p:nvPr/>
          </p:nvSpPr>
          <p:spPr bwMode="auto">
            <a:xfrm>
              <a:off x="3336" y="1129"/>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a:solidFill>
                    <a:schemeClr val="tx2"/>
                  </a:solidFill>
                  <a:latin typeface="Times New Roman" panose="02020603050405020304" pitchFamily="18" charset="0"/>
                </a:rPr>
                <a:t>^</a:t>
              </a:r>
              <a:endParaRPr lang="zh-CN" altLang="en-US" sz="1400">
                <a:solidFill>
                  <a:schemeClr val="tx2"/>
                </a:solidFill>
                <a:latin typeface="Times New Roman" panose="02020603050405020304" pitchFamily="18" charset="0"/>
              </a:endParaRPr>
            </a:p>
          </p:txBody>
        </p:sp>
        <p:sp>
          <p:nvSpPr>
            <p:cNvPr id="61478" name="Text Box 141"/>
            <p:cNvSpPr txBox="1">
              <a:spLocks noChangeArrowheads="1"/>
            </p:cNvSpPr>
            <p:nvPr/>
          </p:nvSpPr>
          <p:spPr bwMode="auto">
            <a:xfrm>
              <a:off x="1511" y="1047"/>
              <a:ext cx="2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en-US" altLang="zh-CN" sz="1400">
                  <a:solidFill>
                    <a:schemeClr val="tx1"/>
                  </a:solidFill>
                  <a:latin typeface="Times New Roman" panose="02020603050405020304" pitchFamily="18" charset="0"/>
                </a:rPr>
                <a:t>av</a:t>
              </a:r>
              <a:endParaRPr lang="en-US" altLang="zh-CN" sz="1400">
                <a:solidFill>
                  <a:schemeClr val="tx1"/>
                </a:solidFill>
                <a:latin typeface="Times New Roman" panose="02020603050405020304" pitchFamily="18" charset="0"/>
              </a:endParaRPr>
            </a:p>
          </p:txBody>
        </p:sp>
        <p:sp>
          <p:nvSpPr>
            <p:cNvPr id="61479" name="Text Box 142"/>
            <p:cNvSpPr txBox="1">
              <a:spLocks noChangeArrowheads="1"/>
            </p:cNvSpPr>
            <p:nvPr/>
          </p:nvSpPr>
          <p:spPr bwMode="auto">
            <a:xfrm>
              <a:off x="1242" y="2590"/>
              <a:ext cx="20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a:solidFill>
                  <a:schemeClr val="tx1"/>
                </a:solidFill>
                <a:latin typeface="Times New Roman" panose="02020603050405020304" pitchFamily="18" charset="0"/>
              </a:endParaRPr>
            </a:p>
          </p:txBody>
        </p:sp>
        <p:sp>
          <p:nvSpPr>
            <p:cNvPr id="61480" name="Text Box 143"/>
            <p:cNvSpPr txBox="1">
              <a:spLocks noChangeArrowheads="1"/>
            </p:cNvSpPr>
            <p:nvPr/>
          </p:nvSpPr>
          <p:spPr bwMode="auto">
            <a:xfrm>
              <a:off x="1442" y="2590"/>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a:solidFill>
                  <a:schemeClr val="tx2"/>
                </a:solidFill>
                <a:latin typeface="Times New Roman" panose="02020603050405020304" pitchFamily="18" charset="0"/>
              </a:endParaRPr>
            </a:p>
          </p:txBody>
        </p:sp>
        <p:sp>
          <p:nvSpPr>
            <p:cNvPr id="61481" name="Line 144"/>
            <p:cNvSpPr>
              <a:spLocks noChangeShapeType="1"/>
            </p:cNvSpPr>
            <p:nvPr/>
          </p:nvSpPr>
          <p:spPr bwMode="auto">
            <a:xfrm flipV="1">
              <a:off x="1050" y="2682"/>
              <a:ext cx="17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82" name="Line 145"/>
            <p:cNvSpPr>
              <a:spLocks noChangeShapeType="1"/>
            </p:cNvSpPr>
            <p:nvPr/>
          </p:nvSpPr>
          <p:spPr bwMode="auto">
            <a:xfrm>
              <a:off x="1523" y="2674"/>
              <a:ext cx="354" cy="0"/>
            </a:xfrm>
            <a:prstGeom prst="line">
              <a:avLst/>
            </a:prstGeom>
            <a:noFill/>
            <a:ln w="9525">
              <a:solidFill>
                <a:schemeClr val="tx1"/>
              </a:solidFill>
              <a:prstDash val="lgDashDot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83" name="Text Box 146"/>
            <p:cNvSpPr txBox="1">
              <a:spLocks noChangeArrowheads="1"/>
            </p:cNvSpPr>
            <p:nvPr/>
          </p:nvSpPr>
          <p:spPr bwMode="auto">
            <a:xfrm>
              <a:off x="3536" y="2137"/>
              <a:ext cx="5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200">
                  <a:solidFill>
                    <a:schemeClr val="tx1"/>
                  </a:solidFill>
                  <a:latin typeface="Times New Roman" panose="02020603050405020304" pitchFamily="18" charset="0"/>
                </a:rPr>
                <a:t>分配池</a:t>
              </a:r>
              <a:endParaRPr lang="zh-CN" altLang="en-US" sz="1200">
                <a:solidFill>
                  <a:schemeClr val="tx1"/>
                </a:solidFill>
                <a:latin typeface="Times New Roman" panose="02020603050405020304" pitchFamily="18" charset="0"/>
              </a:endParaRPr>
            </a:p>
          </p:txBody>
        </p:sp>
        <p:sp>
          <p:nvSpPr>
            <p:cNvPr id="61484" name="Line 147"/>
            <p:cNvSpPr>
              <a:spLocks noChangeShapeType="1"/>
            </p:cNvSpPr>
            <p:nvPr/>
          </p:nvSpPr>
          <p:spPr bwMode="auto">
            <a:xfrm>
              <a:off x="2172" y="2680"/>
              <a:ext cx="284" cy="0"/>
            </a:xfrm>
            <a:prstGeom prst="line">
              <a:avLst/>
            </a:prstGeom>
            <a:noFill/>
            <a:ln w="9525">
              <a:solidFill>
                <a:schemeClr val="accent2"/>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85" name="Text Box 148"/>
            <p:cNvSpPr txBox="1">
              <a:spLocks noChangeArrowheads="1"/>
            </p:cNvSpPr>
            <p:nvPr/>
          </p:nvSpPr>
          <p:spPr bwMode="auto">
            <a:xfrm>
              <a:off x="1891" y="2590"/>
              <a:ext cx="20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a:solidFill>
                  <a:schemeClr val="tx1"/>
                </a:solidFill>
                <a:latin typeface="Times New Roman" panose="02020603050405020304" pitchFamily="18" charset="0"/>
              </a:endParaRPr>
            </a:p>
          </p:txBody>
        </p:sp>
        <p:sp>
          <p:nvSpPr>
            <p:cNvPr id="61486" name="Text Box 149"/>
            <p:cNvSpPr txBox="1">
              <a:spLocks noChangeArrowheads="1"/>
            </p:cNvSpPr>
            <p:nvPr/>
          </p:nvSpPr>
          <p:spPr bwMode="auto">
            <a:xfrm>
              <a:off x="2091" y="2590"/>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a:solidFill>
                  <a:schemeClr val="tx2"/>
                </a:solidFill>
                <a:latin typeface="Times New Roman" panose="02020603050405020304" pitchFamily="18" charset="0"/>
              </a:endParaRPr>
            </a:p>
          </p:txBody>
        </p:sp>
        <p:sp>
          <p:nvSpPr>
            <p:cNvPr id="61487" name="Text Box 150"/>
            <p:cNvSpPr txBox="1">
              <a:spLocks noChangeArrowheads="1"/>
            </p:cNvSpPr>
            <p:nvPr/>
          </p:nvSpPr>
          <p:spPr bwMode="auto">
            <a:xfrm>
              <a:off x="2467" y="2590"/>
              <a:ext cx="20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400">
                  <a:solidFill>
                    <a:schemeClr val="tx1"/>
                  </a:solidFill>
                  <a:latin typeface="Times New Roman" panose="02020603050405020304" pitchFamily="18" charset="0"/>
                </a:rPr>
                <a:t>a</a:t>
              </a:r>
              <a:endParaRPr lang="en-US" altLang="zh-CN" sz="1400">
                <a:solidFill>
                  <a:schemeClr val="tx1"/>
                </a:solidFill>
                <a:latin typeface="Times New Roman" panose="02020603050405020304" pitchFamily="18" charset="0"/>
              </a:endParaRPr>
            </a:p>
          </p:txBody>
        </p:sp>
        <p:sp>
          <p:nvSpPr>
            <p:cNvPr id="61488" name="Text Box 151"/>
            <p:cNvSpPr txBox="1">
              <a:spLocks noChangeArrowheads="1"/>
            </p:cNvSpPr>
            <p:nvPr/>
          </p:nvSpPr>
          <p:spPr bwMode="auto">
            <a:xfrm>
              <a:off x="2667" y="2590"/>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a:solidFill>
                  <a:schemeClr val="tx2"/>
                </a:solidFill>
                <a:latin typeface="Times New Roman" panose="02020603050405020304" pitchFamily="18" charset="0"/>
              </a:endParaRPr>
            </a:p>
          </p:txBody>
        </p:sp>
        <p:sp>
          <p:nvSpPr>
            <p:cNvPr id="61489" name="Line 152"/>
            <p:cNvSpPr>
              <a:spLocks noChangeShapeType="1"/>
            </p:cNvSpPr>
            <p:nvPr/>
          </p:nvSpPr>
          <p:spPr bwMode="auto">
            <a:xfrm>
              <a:off x="2749" y="2680"/>
              <a:ext cx="2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90" name="Text Box 153"/>
            <p:cNvSpPr txBox="1">
              <a:spLocks noChangeArrowheads="1"/>
            </p:cNvSpPr>
            <p:nvPr/>
          </p:nvSpPr>
          <p:spPr bwMode="auto">
            <a:xfrm>
              <a:off x="3044" y="2590"/>
              <a:ext cx="20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a:solidFill>
                  <a:schemeClr val="tx1"/>
                </a:solidFill>
                <a:latin typeface="Times New Roman" panose="02020603050405020304" pitchFamily="18" charset="0"/>
              </a:endParaRPr>
            </a:p>
          </p:txBody>
        </p:sp>
        <p:sp>
          <p:nvSpPr>
            <p:cNvPr id="61491" name="Text Box 154"/>
            <p:cNvSpPr txBox="1">
              <a:spLocks noChangeArrowheads="1"/>
            </p:cNvSpPr>
            <p:nvPr/>
          </p:nvSpPr>
          <p:spPr bwMode="auto">
            <a:xfrm>
              <a:off x="3245" y="2590"/>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a:solidFill>
                  <a:schemeClr val="tx2"/>
                </a:solidFill>
                <a:latin typeface="Times New Roman" panose="02020603050405020304" pitchFamily="18" charset="0"/>
              </a:endParaRPr>
            </a:p>
          </p:txBody>
        </p:sp>
        <p:sp>
          <p:nvSpPr>
            <p:cNvPr id="61492" name="Line 155"/>
            <p:cNvSpPr>
              <a:spLocks noChangeShapeType="1"/>
            </p:cNvSpPr>
            <p:nvPr/>
          </p:nvSpPr>
          <p:spPr bwMode="auto">
            <a:xfrm>
              <a:off x="3326" y="2680"/>
              <a:ext cx="355" cy="0"/>
            </a:xfrm>
            <a:prstGeom prst="line">
              <a:avLst/>
            </a:prstGeom>
            <a:noFill/>
            <a:ln w="9525">
              <a:solidFill>
                <a:schemeClr val="tx1"/>
              </a:solidFill>
              <a:prstDash val="lgDashDot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93" name="Text Box 156"/>
            <p:cNvSpPr txBox="1">
              <a:spLocks noChangeArrowheads="1"/>
            </p:cNvSpPr>
            <p:nvPr/>
          </p:nvSpPr>
          <p:spPr bwMode="auto">
            <a:xfrm>
              <a:off x="3691" y="2590"/>
              <a:ext cx="20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a:solidFill>
                  <a:schemeClr val="tx1"/>
                </a:solidFill>
                <a:latin typeface="Times New Roman" panose="02020603050405020304" pitchFamily="18" charset="0"/>
              </a:endParaRPr>
            </a:p>
          </p:txBody>
        </p:sp>
        <p:sp>
          <p:nvSpPr>
            <p:cNvPr id="61494" name="Text Box 157"/>
            <p:cNvSpPr txBox="1">
              <a:spLocks noChangeArrowheads="1"/>
            </p:cNvSpPr>
            <p:nvPr/>
          </p:nvSpPr>
          <p:spPr bwMode="auto">
            <a:xfrm>
              <a:off x="3891" y="2590"/>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a:solidFill>
                    <a:schemeClr val="tx2"/>
                  </a:solidFill>
                  <a:latin typeface="Times New Roman" panose="02020603050405020304" pitchFamily="18" charset="0"/>
                </a:rPr>
                <a:t>^</a:t>
              </a:r>
              <a:endParaRPr lang="zh-CN" altLang="en-US" sz="1400">
                <a:solidFill>
                  <a:schemeClr val="tx2"/>
                </a:solidFill>
                <a:latin typeface="Times New Roman" panose="02020603050405020304" pitchFamily="18" charset="0"/>
              </a:endParaRPr>
            </a:p>
          </p:txBody>
        </p:sp>
        <p:sp>
          <p:nvSpPr>
            <p:cNvPr id="61495" name="Line 158"/>
            <p:cNvSpPr>
              <a:spLocks noChangeShapeType="1"/>
            </p:cNvSpPr>
            <p:nvPr/>
          </p:nvSpPr>
          <p:spPr bwMode="auto">
            <a:xfrm>
              <a:off x="1773" y="1953"/>
              <a:ext cx="720" cy="18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96" name="Text Box 159"/>
            <p:cNvSpPr txBox="1">
              <a:spLocks noChangeArrowheads="1"/>
            </p:cNvSpPr>
            <p:nvPr/>
          </p:nvSpPr>
          <p:spPr bwMode="auto">
            <a:xfrm>
              <a:off x="1910" y="2131"/>
              <a:ext cx="20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400">
                  <a:solidFill>
                    <a:schemeClr val="tx1"/>
                  </a:solidFill>
                  <a:latin typeface="Times New Roman" panose="02020603050405020304" pitchFamily="18" charset="0"/>
                </a:rPr>
                <a:t>b</a:t>
              </a:r>
              <a:endParaRPr lang="en-US" altLang="zh-CN" sz="1400">
                <a:solidFill>
                  <a:schemeClr val="tx1"/>
                </a:solidFill>
                <a:latin typeface="Times New Roman" panose="02020603050405020304" pitchFamily="18" charset="0"/>
              </a:endParaRPr>
            </a:p>
          </p:txBody>
        </p:sp>
        <p:sp>
          <p:nvSpPr>
            <p:cNvPr id="61497" name="Text Box 160"/>
            <p:cNvSpPr txBox="1">
              <a:spLocks noChangeArrowheads="1"/>
            </p:cNvSpPr>
            <p:nvPr/>
          </p:nvSpPr>
          <p:spPr bwMode="auto">
            <a:xfrm>
              <a:off x="2111" y="2131"/>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a:solidFill>
                  <a:schemeClr val="tx2"/>
                </a:solidFill>
                <a:latin typeface="Times New Roman" panose="02020603050405020304" pitchFamily="18" charset="0"/>
              </a:endParaRPr>
            </a:p>
          </p:txBody>
        </p:sp>
        <p:sp>
          <p:nvSpPr>
            <p:cNvPr id="61498" name="Line 161"/>
            <p:cNvSpPr>
              <a:spLocks noChangeShapeType="1"/>
            </p:cNvSpPr>
            <p:nvPr/>
          </p:nvSpPr>
          <p:spPr bwMode="auto">
            <a:xfrm>
              <a:off x="2193" y="2221"/>
              <a:ext cx="284" cy="0"/>
            </a:xfrm>
            <a:prstGeom prst="line">
              <a:avLst/>
            </a:prstGeom>
            <a:noFill/>
            <a:ln w="9525">
              <a:solidFill>
                <a:schemeClr val="accent2"/>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99" name="Text Box 162"/>
            <p:cNvSpPr txBox="1">
              <a:spLocks noChangeArrowheads="1"/>
            </p:cNvSpPr>
            <p:nvPr/>
          </p:nvSpPr>
          <p:spPr bwMode="auto">
            <a:xfrm>
              <a:off x="2488" y="2131"/>
              <a:ext cx="20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a:solidFill>
                  <a:schemeClr val="tx1"/>
                </a:solidFill>
                <a:latin typeface="Times New Roman" panose="02020603050405020304" pitchFamily="18" charset="0"/>
              </a:endParaRPr>
            </a:p>
          </p:txBody>
        </p:sp>
        <p:sp>
          <p:nvSpPr>
            <p:cNvPr id="61500" name="Text Box 163"/>
            <p:cNvSpPr txBox="1">
              <a:spLocks noChangeArrowheads="1"/>
            </p:cNvSpPr>
            <p:nvPr/>
          </p:nvSpPr>
          <p:spPr bwMode="auto">
            <a:xfrm>
              <a:off x="2688" y="2131"/>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a:solidFill>
                  <a:schemeClr val="tx2"/>
                </a:solidFill>
                <a:latin typeface="Times New Roman" panose="02020603050405020304" pitchFamily="18" charset="0"/>
              </a:endParaRPr>
            </a:p>
          </p:txBody>
        </p:sp>
        <p:sp>
          <p:nvSpPr>
            <p:cNvPr id="61501" name="Line 164"/>
            <p:cNvSpPr>
              <a:spLocks noChangeShapeType="1"/>
            </p:cNvSpPr>
            <p:nvPr/>
          </p:nvSpPr>
          <p:spPr bwMode="auto">
            <a:xfrm>
              <a:off x="2770" y="2221"/>
              <a:ext cx="354" cy="0"/>
            </a:xfrm>
            <a:prstGeom prst="line">
              <a:avLst/>
            </a:prstGeom>
            <a:noFill/>
            <a:ln w="9525">
              <a:solidFill>
                <a:schemeClr val="tx1"/>
              </a:solidFill>
              <a:prstDash val="lgDashDot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02" name="Text Box 165"/>
            <p:cNvSpPr txBox="1">
              <a:spLocks noChangeArrowheads="1"/>
            </p:cNvSpPr>
            <p:nvPr/>
          </p:nvSpPr>
          <p:spPr bwMode="auto">
            <a:xfrm>
              <a:off x="3134" y="2131"/>
              <a:ext cx="20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a:solidFill>
                  <a:schemeClr val="tx1"/>
                </a:solidFill>
                <a:latin typeface="Times New Roman" panose="02020603050405020304" pitchFamily="18" charset="0"/>
              </a:endParaRPr>
            </a:p>
          </p:txBody>
        </p:sp>
        <p:sp>
          <p:nvSpPr>
            <p:cNvPr id="61503" name="Text Box 166"/>
            <p:cNvSpPr txBox="1">
              <a:spLocks noChangeArrowheads="1"/>
            </p:cNvSpPr>
            <p:nvPr/>
          </p:nvSpPr>
          <p:spPr bwMode="auto">
            <a:xfrm>
              <a:off x="3335" y="2131"/>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a:solidFill>
                    <a:schemeClr val="tx2"/>
                  </a:solidFill>
                  <a:latin typeface="Times New Roman" panose="02020603050405020304" pitchFamily="18" charset="0"/>
                </a:rPr>
                <a:t>^</a:t>
              </a:r>
              <a:endParaRPr lang="zh-CN" altLang="en-US" sz="1400">
                <a:solidFill>
                  <a:schemeClr val="tx2"/>
                </a:solidFill>
                <a:latin typeface="Times New Roman" panose="02020603050405020304" pitchFamily="18" charset="0"/>
              </a:endParaRPr>
            </a:p>
          </p:txBody>
        </p:sp>
        <p:sp>
          <p:nvSpPr>
            <p:cNvPr id="61504" name="Text Box 167"/>
            <p:cNvSpPr txBox="1">
              <a:spLocks noChangeArrowheads="1"/>
            </p:cNvSpPr>
            <p:nvPr/>
          </p:nvSpPr>
          <p:spPr bwMode="auto">
            <a:xfrm>
              <a:off x="1516" y="1843"/>
              <a:ext cx="2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en-US" altLang="zh-CN" sz="1400">
                  <a:solidFill>
                    <a:schemeClr val="tx1"/>
                  </a:solidFill>
                  <a:latin typeface="Times New Roman" panose="02020603050405020304" pitchFamily="18" charset="0"/>
                </a:rPr>
                <a:t>av</a:t>
              </a:r>
              <a:endParaRPr lang="en-US" altLang="zh-CN" sz="1400">
                <a:solidFill>
                  <a:schemeClr val="tx1"/>
                </a:solidFill>
                <a:latin typeface="Times New Roman" panose="02020603050405020304" pitchFamily="18" charset="0"/>
              </a:endParaRPr>
            </a:p>
          </p:txBody>
        </p:sp>
        <p:sp>
          <p:nvSpPr>
            <p:cNvPr id="61505" name="Line 168"/>
            <p:cNvSpPr>
              <a:spLocks noChangeShapeType="1"/>
            </p:cNvSpPr>
            <p:nvPr/>
          </p:nvSpPr>
          <p:spPr bwMode="auto">
            <a:xfrm flipH="1" flipV="1">
              <a:off x="2014" y="2310"/>
              <a:ext cx="135" cy="34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06" name="Line 169"/>
            <p:cNvSpPr>
              <a:spLocks noChangeShapeType="1"/>
            </p:cNvSpPr>
            <p:nvPr/>
          </p:nvSpPr>
          <p:spPr bwMode="auto">
            <a:xfrm>
              <a:off x="2176" y="2250"/>
              <a:ext cx="278" cy="33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07" name="Text Box 170"/>
            <p:cNvSpPr txBox="1">
              <a:spLocks noChangeArrowheads="1"/>
            </p:cNvSpPr>
            <p:nvPr/>
          </p:nvSpPr>
          <p:spPr bwMode="auto">
            <a:xfrm>
              <a:off x="1220" y="3469"/>
              <a:ext cx="20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a:solidFill>
                  <a:schemeClr val="tx1"/>
                </a:solidFill>
                <a:latin typeface="Times New Roman" panose="02020603050405020304" pitchFamily="18" charset="0"/>
              </a:endParaRPr>
            </a:p>
          </p:txBody>
        </p:sp>
        <p:sp>
          <p:nvSpPr>
            <p:cNvPr id="61508" name="Text Box 171"/>
            <p:cNvSpPr txBox="1">
              <a:spLocks noChangeArrowheads="1"/>
            </p:cNvSpPr>
            <p:nvPr/>
          </p:nvSpPr>
          <p:spPr bwMode="auto">
            <a:xfrm>
              <a:off x="1420" y="3469"/>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a:solidFill>
                  <a:schemeClr val="tx2"/>
                </a:solidFill>
                <a:latin typeface="Times New Roman" panose="02020603050405020304" pitchFamily="18" charset="0"/>
              </a:endParaRPr>
            </a:p>
          </p:txBody>
        </p:sp>
        <p:sp>
          <p:nvSpPr>
            <p:cNvPr id="61509" name="Text Box 172"/>
            <p:cNvSpPr txBox="1">
              <a:spLocks noChangeArrowheads="1"/>
            </p:cNvSpPr>
            <p:nvPr/>
          </p:nvSpPr>
          <p:spPr bwMode="auto">
            <a:xfrm>
              <a:off x="851" y="3395"/>
              <a:ext cx="3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400">
                  <a:solidFill>
                    <a:schemeClr val="tx1"/>
                  </a:solidFill>
                  <a:latin typeface="Times New Roman" panose="02020603050405020304" pitchFamily="18" charset="0"/>
                </a:rPr>
                <a:t>head</a:t>
              </a:r>
              <a:endParaRPr lang="en-US" altLang="zh-CN" sz="1400">
                <a:solidFill>
                  <a:schemeClr val="tx1"/>
                </a:solidFill>
                <a:latin typeface="Times New Roman" panose="02020603050405020304" pitchFamily="18" charset="0"/>
              </a:endParaRPr>
            </a:p>
          </p:txBody>
        </p:sp>
        <p:sp>
          <p:nvSpPr>
            <p:cNvPr id="61510" name="Line 173"/>
            <p:cNvSpPr>
              <a:spLocks noChangeShapeType="1"/>
            </p:cNvSpPr>
            <p:nvPr/>
          </p:nvSpPr>
          <p:spPr bwMode="auto">
            <a:xfrm flipV="1">
              <a:off x="1028" y="3561"/>
              <a:ext cx="17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11" name="Line 174"/>
            <p:cNvSpPr>
              <a:spLocks noChangeShapeType="1"/>
            </p:cNvSpPr>
            <p:nvPr/>
          </p:nvSpPr>
          <p:spPr bwMode="auto">
            <a:xfrm>
              <a:off x="1501" y="3553"/>
              <a:ext cx="354" cy="0"/>
            </a:xfrm>
            <a:prstGeom prst="line">
              <a:avLst/>
            </a:prstGeom>
            <a:noFill/>
            <a:ln w="9525">
              <a:solidFill>
                <a:schemeClr val="tx1"/>
              </a:solidFill>
              <a:prstDash val="lgDashDot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12" name="Text Box 175"/>
            <p:cNvSpPr txBox="1">
              <a:spLocks noChangeArrowheads="1"/>
            </p:cNvSpPr>
            <p:nvPr/>
          </p:nvSpPr>
          <p:spPr bwMode="auto">
            <a:xfrm>
              <a:off x="3493" y="3139"/>
              <a:ext cx="56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200">
                  <a:solidFill>
                    <a:schemeClr val="tx1"/>
                  </a:solidFill>
                  <a:latin typeface="Times New Roman" panose="02020603050405020304" pitchFamily="18" charset="0"/>
                </a:rPr>
                <a:t>分配池</a:t>
              </a:r>
              <a:endParaRPr lang="zh-CN" altLang="en-US" sz="1200">
                <a:solidFill>
                  <a:schemeClr val="tx1"/>
                </a:solidFill>
                <a:latin typeface="Times New Roman" panose="02020603050405020304" pitchFamily="18" charset="0"/>
              </a:endParaRPr>
            </a:p>
          </p:txBody>
        </p:sp>
        <p:sp>
          <p:nvSpPr>
            <p:cNvPr id="61513" name="Line 176"/>
            <p:cNvSpPr>
              <a:spLocks noChangeShapeType="1"/>
            </p:cNvSpPr>
            <p:nvPr/>
          </p:nvSpPr>
          <p:spPr bwMode="auto">
            <a:xfrm>
              <a:off x="2150" y="3559"/>
              <a:ext cx="2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14" name="Text Box 177"/>
            <p:cNvSpPr txBox="1">
              <a:spLocks noChangeArrowheads="1"/>
            </p:cNvSpPr>
            <p:nvPr/>
          </p:nvSpPr>
          <p:spPr bwMode="auto">
            <a:xfrm>
              <a:off x="1869" y="3469"/>
              <a:ext cx="20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a:solidFill>
                  <a:schemeClr val="tx1"/>
                </a:solidFill>
                <a:latin typeface="Times New Roman" panose="02020603050405020304" pitchFamily="18" charset="0"/>
              </a:endParaRPr>
            </a:p>
          </p:txBody>
        </p:sp>
        <p:sp>
          <p:nvSpPr>
            <p:cNvPr id="61515" name="Text Box 178"/>
            <p:cNvSpPr txBox="1">
              <a:spLocks noChangeArrowheads="1"/>
            </p:cNvSpPr>
            <p:nvPr/>
          </p:nvSpPr>
          <p:spPr bwMode="auto">
            <a:xfrm>
              <a:off x="2069" y="3469"/>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a:solidFill>
                  <a:schemeClr val="tx2"/>
                </a:solidFill>
                <a:latin typeface="Times New Roman" panose="02020603050405020304" pitchFamily="18" charset="0"/>
              </a:endParaRPr>
            </a:p>
          </p:txBody>
        </p:sp>
        <p:sp>
          <p:nvSpPr>
            <p:cNvPr id="61516" name="Text Box 179"/>
            <p:cNvSpPr txBox="1">
              <a:spLocks noChangeArrowheads="1"/>
            </p:cNvSpPr>
            <p:nvPr/>
          </p:nvSpPr>
          <p:spPr bwMode="auto">
            <a:xfrm>
              <a:off x="2445" y="3469"/>
              <a:ext cx="20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400">
                  <a:solidFill>
                    <a:schemeClr val="tx1"/>
                  </a:solidFill>
                  <a:latin typeface="Times New Roman" panose="02020603050405020304" pitchFamily="18" charset="0"/>
                </a:rPr>
                <a:t>b</a:t>
              </a:r>
              <a:endParaRPr lang="en-US" altLang="zh-CN" sz="1400">
                <a:solidFill>
                  <a:schemeClr val="tx1"/>
                </a:solidFill>
                <a:latin typeface="Times New Roman" panose="02020603050405020304" pitchFamily="18" charset="0"/>
              </a:endParaRPr>
            </a:p>
          </p:txBody>
        </p:sp>
        <p:sp>
          <p:nvSpPr>
            <p:cNvPr id="61517" name="Text Box 180"/>
            <p:cNvSpPr txBox="1">
              <a:spLocks noChangeArrowheads="1"/>
            </p:cNvSpPr>
            <p:nvPr/>
          </p:nvSpPr>
          <p:spPr bwMode="auto">
            <a:xfrm>
              <a:off x="2645" y="3469"/>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a:solidFill>
                  <a:schemeClr val="tx2"/>
                </a:solidFill>
                <a:latin typeface="Times New Roman" panose="02020603050405020304" pitchFamily="18" charset="0"/>
              </a:endParaRPr>
            </a:p>
          </p:txBody>
        </p:sp>
        <p:sp>
          <p:nvSpPr>
            <p:cNvPr id="61518" name="Line 181"/>
            <p:cNvSpPr>
              <a:spLocks noChangeShapeType="1"/>
            </p:cNvSpPr>
            <p:nvPr/>
          </p:nvSpPr>
          <p:spPr bwMode="auto">
            <a:xfrm>
              <a:off x="2727" y="3559"/>
              <a:ext cx="2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19" name="Text Box 182"/>
            <p:cNvSpPr txBox="1">
              <a:spLocks noChangeArrowheads="1"/>
            </p:cNvSpPr>
            <p:nvPr/>
          </p:nvSpPr>
          <p:spPr bwMode="auto">
            <a:xfrm>
              <a:off x="3022" y="3469"/>
              <a:ext cx="20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400">
                  <a:solidFill>
                    <a:schemeClr val="tx1"/>
                  </a:solidFill>
                  <a:latin typeface="Times New Roman" panose="02020603050405020304" pitchFamily="18" charset="0"/>
                </a:rPr>
                <a:t>a</a:t>
              </a:r>
              <a:endParaRPr lang="en-US" altLang="zh-CN" sz="1400">
                <a:solidFill>
                  <a:schemeClr val="tx1"/>
                </a:solidFill>
                <a:latin typeface="Times New Roman" panose="02020603050405020304" pitchFamily="18" charset="0"/>
              </a:endParaRPr>
            </a:p>
          </p:txBody>
        </p:sp>
        <p:sp>
          <p:nvSpPr>
            <p:cNvPr id="61520" name="Text Box 183"/>
            <p:cNvSpPr txBox="1">
              <a:spLocks noChangeArrowheads="1"/>
            </p:cNvSpPr>
            <p:nvPr/>
          </p:nvSpPr>
          <p:spPr bwMode="auto">
            <a:xfrm>
              <a:off x="3223" y="3469"/>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a:solidFill>
                  <a:schemeClr val="tx2"/>
                </a:solidFill>
                <a:latin typeface="Times New Roman" panose="02020603050405020304" pitchFamily="18" charset="0"/>
              </a:endParaRPr>
            </a:p>
          </p:txBody>
        </p:sp>
        <p:sp>
          <p:nvSpPr>
            <p:cNvPr id="61521" name="Line 184"/>
            <p:cNvSpPr>
              <a:spLocks noChangeShapeType="1"/>
            </p:cNvSpPr>
            <p:nvPr/>
          </p:nvSpPr>
          <p:spPr bwMode="auto">
            <a:xfrm>
              <a:off x="3951" y="3559"/>
              <a:ext cx="354" cy="0"/>
            </a:xfrm>
            <a:prstGeom prst="line">
              <a:avLst/>
            </a:prstGeom>
            <a:noFill/>
            <a:ln w="9525">
              <a:solidFill>
                <a:schemeClr val="tx1"/>
              </a:solidFill>
              <a:prstDash val="lgDashDot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22" name="Text Box 185"/>
            <p:cNvSpPr txBox="1">
              <a:spLocks noChangeArrowheads="1"/>
            </p:cNvSpPr>
            <p:nvPr/>
          </p:nvSpPr>
          <p:spPr bwMode="auto">
            <a:xfrm>
              <a:off x="4315" y="3469"/>
              <a:ext cx="20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a:solidFill>
                  <a:schemeClr val="tx1"/>
                </a:solidFill>
                <a:latin typeface="Times New Roman" panose="02020603050405020304" pitchFamily="18" charset="0"/>
              </a:endParaRPr>
            </a:p>
          </p:txBody>
        </p:sp>
        <p:sp>
          <p:nvSpPr>
            <p:cNvPr id="61523" name="Text Box 186"/>
            <p:cNvSpPr txBox="1">
              <a:spLocks noChangeArrowheads="1"/>
            </p:cNvSpPr>
            <p:nvPr/>
          </p:nvSpPr>
          <p:spPr bwMode="auto">
            <a:xfrm>
              <a:off x="4516" y="3469"/>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a:solidFill>
                    <a:schemeClr val="tx2"/>
                  </a:solidFill>
                  <a:latin typeface="Times New Roman" panose="02020603050405020304" pitchFamily="18" charset="0"/>
                </a:rPr>
                <a:t>^</a:t>
              </a:r>
              <a:endParaRPr lang="zh-CN" altLang="en-US" sz="1400">
                <a:solidFill>
                  <a:schemeClr val="tx2"/>
                </a:solidFill>
                <a:latin typeface="Times New Roman" panose="02020603050405020304" pitchFamily="18" charset="0"/>
              </a:endParaRPr>
            </a:p>
          </p:txBody>
        </p:sp>
        <p:sp>
          <p:nvSpPr>
            <p:cNvPr id="61524" name="Line 187"/>
            <p:cNvSpPr>
              <a:spLocks noChangeShapeType="1"/>
            </p:cNvSpPr>
            <p:nvPr/>
          </p:nvSpPr>
          <p:spPr bwMode="auto">
            <a:xfrm>
              <a:off x="2149" y="3223"/>
              <a:ext cx="2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25" name="Text Box 188"/>
            <p:cNvSpPr txBox="1">
              <a:spLocks noChangeArrowheads="1"/>
            </p:cNvSpPr>
            <p:nvPr/>
          </p:nvSpPr>
          <p:spPr bwMode="auto">
            <a:xfrm>
              <a:off x="2444" y="3133"/>
              <a:ext cx="20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a:solidFill>
                  <a:schemeClr val="tx1"/>
                </a:solidFill>
                <a:latin typeface="Times New Roman" panose="02020603050405020304" pitchFamily="18" charset="0"/>
              </a:endParaRPr>
            </a:p>
          </p:txBody>
        </p:sp>
        <p:sp>
          <p:nvSpPr>
            <p:cNvPr id="61526" name="Text Box 189"/>
            <p:cNvSpPr txBox="1">
              <a:spLocks noChangeArrowheads="1"/>
            </p:cNvSpPr>
            <p:nvPr/>
          </p:nvSpPr>
          <p:spPr bwMode="auto">
            <a:xfrm>
              <a:off x="2644" y="3133"/>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a:solidFill>
                  <a:schemeClr val="tx2"/>
                </a:solidFill>
                <a:latin typeface="Times New Roman" panose="02020603050405020304" pitchFamily="18" charset="0"/>
              </a:endParaRPr>
            </a:p>
          </p:txBody>
        </p:sp>
        <p:sp>
          <p:nvSpPr>
            <p:cNvPr id="61527" name="Line 190"/>
            <p:cNvSpPr>
              <a:spLocks noChangeShapeType="1"/>
            </p:cNvSpPr>
            <p:nvPr/>
          </p:nvSpPr>
          <p:spPr bwMode="auto">
            <a:xfrm>
              <a:off x="2726" y="3223"/>
              <a:ext cx="354" cy="0"/>
            </a:xfrm>
            <a:prstGeom prst="line">
              <a:avLst/>
            </a:prstGeom>
            <a:noFill/>
            <a:ln w="9525">
              <a:solidFill>
                <a:schemeClr val="tx1"/>
              </a:solidFill>
              <a:prstDash val="lgDashDot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28" name="Text Box 191"/>
            <p:cNvSpPr txBox="1">
              <a:spLocks noChangeArrowheads="1"/>
            </p:cNvSpPr>
            <p:nvPr/>
          </p:nvSpPr>
          <p:spPr bwMode="auto">
            <a:xfrm>
              <a:off x="3090" y="3133"/>
              <a:ext cx="20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a:solidFill>
                  <a:schemeClr val="tx1"/>
                </a:solidFill>
                <a:latin typeface="Times New Roman" panose="02020603050405020304" pitchFamily="18" charset="0"/>
              </a:endParaRPr>
            </a:p>
          </p:txBody>
        </p:sp>
        <p:sp>
          <p:nvSpPr>
            <p:cNvPr id="61529" name="Text Box 192"/>
            <p:cNvSpPr txBox="1">
              <a:spLocks noChangeArrowheads="1"/>
            </p:cNvSpPr>
            <p:nvPr/>
          </p:nvSpPr>
          <p:spPr bwMode="auto">
            <a:xfrm>
              <a:off x="3291" y="3133"/>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a:solidFill>
                    <a:schemeClr val="tx2"/>
                  </a:solidFill>
                  <a:latin typeface="Times New Roman" panose="02020603050405020304" pitchFamily="18" charset="0"/>
                </a:rPr>
                <a:t>^</a:t>
              </a:r>
              <a:endParaRPr lang="zh-CN" altLang="en-US" sz="1400">
                <a:solidFill>
                  <a:schemeClr val="tx2"/>
                </a:solidFill>
                <a:latin typeface="Times New Roman" panose="02020603050405020304" pitchFamily="18" charset="0"/>
              </a:endParaRPr>
            </a:p>
          </p:txBody>
        </p:sp>
        <p:sp>
          <p:nvSpPr>
            <p:cNvPr id="61530" name="Text Box 193"/>
            <p:cNvSpPr txBox="1">
              <a:spLocks noChangeArrowheads="1"/>
            </p:cNvSpPr>
            <p:nvPr/>
          </p:nvSpPr>
          <p:spPr bwMode="auto">
            <a:xfrm>
              <a:off x="1934" y="3057"/>
              <a:ext cx="2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en-US" altLang="zh-CN" sz="1400">
                  <a:solidFill>
                    <a:schemeClr val="tx1"/>
                  </a:solidFill>
                  <a:latin typeface="Times New Roman" panose="02020603050405020304" pitchFamily="18" charset="0"/>
                </a:rPr>
                <a:t>av</a:t>
              </a:r>
              <a:endParaRPr lang="en-US" altLang="zh-CN" sz="1400">
                <a:solidFill>
                  <a:schemeClr val="tx1"/>
                </a:solidFill>
                <a:latin typeface="Times New Roman" panose="02020603050405020304" pitchFamily="18" charset="0"/>
              </a:endParaRPr>
            </a:p>
          </p:txBody>
        </p:sp>
        <p:sp>
          <p:nvSpPr>
            <p:cNvPr id="61531" name="Text Box 194"/>
            <p:cNvSpPr txBox="1">
              <a:spLocks noChangeArrowheads="1"/>
            </p:cNvSpPr>
            <p:nvPr/>
          </p:nvSpPr>
          <p:spPr bwMode="auto">
            <a:xfrm>
              <a:off x="953" y="3265"/>
              <a:ext cx="93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200">
                  <a:solidFill>
                    <a:schemeClr val="tx1"/>
                  </a:solidFill>
                  <a:latin typeface="Times New Roman" panose="02020603050405020304" pitchFamily="18" charset="0"/>
                </a:rPr>
                <a:t>编程使用的链表</a:t>
              </a:r>
              <a:endParaRPr lang="en-US" altLang="zh-CN" sz="1200">
                <a:solidFill>
                  <a:schemeClr val="tx1"/>
                </a:solidFill>
                <a:latin typeface="Times New Roman" panose="02020603050405020304" pitchFamily="18" charset="0"/>
              </a:endParaRPr>
            </a:p>
          </p:txBody>
        </p:sp>
        <p:sp>
          <p:nvSpPr>
            <p:cNvPr id="61532" name="Line 195"/>
            <p:cNvSpPr>
              <a:spLocks noChangeShapeType="1"/>
            </p:cNvSpPr>
            <p:nvPr/>
          </p:nvSpPr>
          <p:spPr bwMode="auto">
            <a:xfrm>
              <a:off x="3303" y="3559"/>
              <a:ext cx="28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33" name="Text Box 196"/>
            <p:cNvSpPr txBox="1">
              <a:spLocks noChangeArrowheads="1"/>
            </p:cNvSpPr>
            <p:nvPr/>
          </p:nvSpPr>
          <p:spPr bwMode="auto">
            <a:xfrm>
              <a:off x="3598" y="3469"/>
              <a:ext cx="20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400">
                <a:solidFill>
                  <a:schemeClr val="tx1"/>
                </a:solidFill>
                <a:latin typeface="Times New Roman" panose="02020603050405020304" pitchFamily="18" charset="0"/>
              </a:endParaRPr>
            </a:p>
          </p:txBody>
        </p:sp>
        <p:sp>
          <p:nvSpPr>
            <p:cNvPr id="61534" name="Text Box 197"/>
            <p:cNvSpPr txBox="1">
              <a:spLocks noChangeArrowheads="1"/>
            </p:cNvSpPr>
            <p:nvPr/>
          </p:nvSpPr>
          <p:spPr bwMode="auto">
            <a:xfrm>
              <a:off x="3799" y="3469"/>
              <a:ext cx="140"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a:solidFill>
                  <a:schemeClr val="tx2"/>
                </a:solidFill>
                <a:latin typeface="Times New Roman" panose="02020603050405020304" pitchFamily="18" charset="0"/>
              </a:endParaRPr>
            </a:p>
          </p:txBody>
        </p:sp>
        <p:sp>
          <p:nvSpPr>
            <p:cNvPr id="61535" name="Line 198"/>
            <p:cNvSpPr>
              <a:spLocks noChangeShapeType="1"/>
            </p:cNvSpPr>
            <p:nvPr/>
          </p:nvSpPr>
          <p:spPr bwMode="auto">
            <a:xfrm>
              <a:off x="974" y="1857"/>
              <a:ext cx="3231" cy="0"/>
            </a:xfrm>
            <a:prstGeom prst="line">
              <a:avLst/>
            </a:prstGeom>
            <a:noFill/>
            <a:ln w="9525">
              <a:solidFill>
                <a:schemeClr val="hlink"/>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61536" name="Line 199"/>
            <p:cNvSpPr>
              <a:spLocks noChangeShapeType="1"/>
            </p:cNvSpPr>
            <p:nvPr/>
          </p:nvSpPr>
          <p:spPr bwMode="auto">
            <a:xfrm>
              <a:off x="974" y="2961"/>
              <a:ext cx="3231" cy="0"/>
            </a:xfrm>
            <a:prstGeom prst="line">
              <a:avLst/>
            </a:prstGeom>
            <a:noFill/>
            <a:ln w="9525">
              <a:solidFill>
                <a:schemeClr val="hlink"/>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61537" name="Text Box 200"/>
            <p:cNvSpPr txBox="1">
              <a:spLocks noChangeArrowheads="1"/>
            </p:cNvSpPr>
            <p:nvPr/>
          </p:nvSpPr>
          <p:spPr bwMode="auto">
            <a:xfrm>
              <a:off x="953" y="2390"/>
              <a:ext cx="93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200">
                  <a:solidFill>
                    <a:schemeClr val="tx1"/>
                  </a:solidFill>
                  <a:latin typeface="Times New Roman" panose="02020603050405020304" pitchFamily="18" charset="0"/>
                </a:rPr>
                <a:t>编程使用的链表</a:t>
              </a:r>
              <a:endParaRPr lang="en-US" altLang="zh-CN" sz="1200">
                <a:solidFill>
                  <a:schemeClr val="tx1"/>
                </a:solidFill>
                <a:latin typeface="Times New Roman" panose="02020603050405020304" pitchFamily="18" charset="0"/>
              </a:endParaRPr>
            </a:p>
          </p:txBody>
        </p:sp>
        <p:sp>
          <p:nvSpPr>
            <p:cNvPr id="61538" name="Text Box 201"/>
            <p:cNvSpPr txBox="1">
              <a:spLocks noChangeArrowheads="1"/>
            </p:cNvSpPr>
            <p:nvPr/>
          </p:nvSpPr>
          <p:spPr bwMode="auto">
            <a:xfrm>
              <a:off x="953" y="1287"/>
              <a:ext cx="93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200">
                  <a:solidFill>
                    <a:schemeClr val="tx1"/>
                  </a:solidFill>
                  <a:latin typeface="Times New Roman" panose="02020603050405020304" pitchFamily="18" charset="0"/>
                </a:rPr>
                <a:t>编程使用的链表</a:t>
              </a:r>
              <a:endParaRPr lang="en-US" altLang="zh-CN" sz="1200">
                <a:solidFill>
                  <a:schemeClr val="tx1"/>
                </a:solidFill>
                <a:latin typeface="Times New Roman" panose="02020603050405020304" pitchFamily="18" charset="0"/>
              </a:endParaRPr>
            </a:p>
          </p:txBody>
        </p:sp>
        <p:sp>
          <p:nvSpPr>
            <p:cNvPr id="61539" name="Text Box 202"/>
            <p:cNvSpPr txBox="1">
              <a:spLocks noChangeArrowheads="1"/>
            </p:cNvSpPr>
            <p:nvPr/>
          </p:nvSpPr>
          <p:spPr bwMode="auto">
            <a:xfrm>
              <a:off x="816" y="2530"/>
              <a:ext cx="44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400">
                  <a:solidFill>
                    <a:schemeClr val="tx1"/>
                  </a:solidFill>
                  <a:latin typeface="Times New Roman" panose="02020603050405020304" pitchFamily="18" charset="0"/>
                </a:rPr>
                <a:t>head</a:t>
              </a:r>
              <a:endParaRPr lang="en-US" altLang="zh-CN" sz="1400">
                <a:solidFill>
                  <a:schemeClr val="tx1"/>
                </a:solidFill>
                <a:latin typeface="Times New Roman" panose="02020603050405020304" pitchFamily="18" charset="0"/>
              </a:endParaRPr>
            </a:p>
          </p:txBody>
        </p:sp>
        <p:sp>
          <p:nvSpPr>
            <p:cNvPr id="61540" name="Text Box 203"/>
            <p:cNvSpPr txBox="1">
              <a:spLocks noChangeArrowheads="1"/>
            </p:cNvSpPr>
            <p:nvPr/>
          </p:nvSpPr>
          <p:spPr bwMode="auto">
            <a:xfrm>
              <a:off x="851" y="1427"/>
              <a:ext cx="44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400">
                  <a:solidFill>
                    <a:schemeClr val="tx1"/>
                  </a:solidFill>
                  <a:latin typeface="Times New Roman" panose="02020603050405020304" pitchFamily="18" charset="0"/>
                </a:rPr>
                <a:t>head</a:t>
              </a:r>
              <a:endParaRPr lang="en-US" altLang="zh-CN" sz="1400">
                <a:solidFill>
                  <a:schemeClr val="tx1"/>
                </a:solidFill>
                <a:latin typeface="Times New Roman" panose="02020603050405020304" pitchFamily="18" charset="0"/>
              </a:endParaRPr>
            </a:p>
          </p:txBody>
        </p:sp>
      </p:grpSp>
      <p:sp>
        <p:nvSpPr>
          <p:cNvPr id="61447" name="Line 204"/>
          <p:cNvSpPr>
            <a:spLocks noChangeShapeType="1"/>
          </p:cNvSpPr>
          <p:nvPr/>
        </p:nvSpPr>
        <p:spPr bwMode="auto">
          <a:xfrm>
            <a:off x="3419475" y="1206500"/>
            <a:ext cx="0" cy="4267200"/>
          </a:xfrm>
          <a:prstGeom prst="line">
            <a:avLst/>
          </a:prstGeom>
          <a:noFill/>
          <a:ln w="9525">
            <a:solidFill>
              <a:schemeClr val="hlink"/>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61448" name="Line 205"/>
          <p:cNvSpPr>
            <a:spLocks noChangeShapeType="1"/>
          </p:cNvSpPr>
          <p:nvPr/>
        </p:nvSpPr>
        <p:spPr bwMode="auto">
          <a:xfrm>
            <a:off x="3363913" y="5445125"/>
            <a:ext cx="5757862" cy="0"/>
          </a:xfrm>
          <a:prstGeom prst="line">
            <a:avLst/>
          </a:prstGeom>
          <a:noFill/>
          <a:ln w="9525">
            <a:solidFill>
              <a:schemeClr val="hlink"/>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61449" name="Text Box 206"/>
          <p:cNvSpPr txBox="1">
            <a:spLocks noChangeArrowheads="1"/>
          </p:cNvSpPr>
          <p:nvPr/>
        </p:nvSpPr>
        <p:spPr bwMode="auto">
          <a:xfrm>
            <a:off x="4321175" y="2895600"/>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400" b="0">
                <a:solidFill>
                  <a:schemeClr val="tx1"/>
                </a:solidFill>
                <a:latin typeface="Times New Roman" panose="02020603050405020304" pitchFamily="18" charset="0"/>
              </a:rPr>
              <a:t>p</a:t>
            </a:r>
            <a:endParaRPr lang="en-US" altLang="zh-CN" sz="1400" b="0">
              <a:solidFill>
                <a:schemeClr val="tx1"/>
              </a:solidFill>
              <a:latin typeface="Times New Roman" panose="02020603050405020304" pitchFamily="18" charset="0"/>
            </a:endParaRPr>
          </a:p>
        </p:txBody>
      </p:sp>
      <p:sp>
        <p:nvSpPr>
          <p:cNvPr id="61450" name="Line 207"/>
          <p:cNvSpPr>
            <a:spLocks noChangeShapeType="1"/>
          </p:cNvSpPr>
          <p:nvPr/>
        </p:nvSpPr>
        <p:spPr bwMode="auto">
          <a:xfrm>
            <a:off x="4572000" y="3068638"/>
            <a:ext cx="2159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51" name="Text Box 208"/>
          <p:cNvSpPr txBox="1">
            <a:spLocks noChangeArrowheads="1"/>
          </p:cNvSpPr>
          <p:nvPr/>
        </p:nvSpPr>
        <p:spPr bwMode="auto">
          <a:xfrm>
            <a:off x="4500563" y="393382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400" b="0">
                <a:solidFill>
                  <a:schemeClr val="tx1"/>
                </a:solidFill>
                <a:latin typeface="Times New Roman" panose="02020603050405020304" pitchFamily="18" charset="0"/>
              </a:rPr>
              <a:t>q</a:t>
            </a:r>
            <a:endParaRPr lang="en-US" altLang="zh-CN" sz="1400" b="0">
              <a:solidFill>
                <a:schemeClr val="tx1"/>
              </a:solidFill>
              <a:latin typeface="Times New Roman" panose="02020603050405020304" pitchFamily="18" charset="0"/>
            </a:endParaRPr>
          </a:p>
        </p:txBody>
      </p:sp>
      <p:sp>
        <p:nvSpPr>
          <p:cNvPr id="61452" name="Line 209"/>
          <p:cNvSpPr>
            <a:spLocks noChangeShapeType="1"/>
          </p:cNvSpPr>
          <p:nvPr/>
        </p:nvSpPr>
        <p:spPr bwMode="auto">
          <a:xfrm flipV="1">
            <a:off x="4787900" y="4005263"/>
            <a:ext cx="215900" cy="1444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7AF31EB9-16ED-49D5-A42B-000D33137A5B}"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63491"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3.2 </a:t>
            </a:r>
            <a:r>
              <a:rPr lang="zh-CN" altLang="en-US" sz="2400">
                <a:latin typeface="宋体" panose="02010600030101010101" pitchFamily="2" charset="-122"/>
                <a:ea typeface="宋体" panose="02010600030101010101" pitchFamily="2" charset="-122"/>
              </a:rPr>
              <a:t>线性表</a:t>
            </a:r>
            <a:endParaRPr lang="zh-CN" altLang="en-US" sz="2400">
              <a:latin typeface="宋体" panose="02010600030101010101" pitchFamily="2" charset="-122"/>
              <a:ea typeface="宋体" panose="02010600030101010101" pitchFamily="2" charset="-122"/>
            </a:endParaRPr>
          </a:p>
        </p:txBody>
      </p:sp>
      <p:sp>
        <p:nvSpPr>
          <p:cNvPr id="63492" name="Rectangle 3"/>
          <p:cNvSpPr>
            <a:spLocks noGrp="1" noChangeArrowheads="1"/>
          </p:cNvSpPr>
          <p:nvPr>
            <p:ph type="body" idx="1"/>
          </p:nvPr>
        </p:nvSpPr>
        <p:spPr>
          <a:xfrm>
            <a:off x="34925" y="950913"/>
            <a:ext cx="8610600" cy="5791200"/>
          </a:xfrm>
        </p:spPr>
        <p:txBody>
          <a:bodyPr/>
          <a:lstStyle/>
          <a:p>
            <a:pPr marL="285750" indent="-285750">
              <a:lnSpc>
                <a:spcPct val="90000"/>
              </a:lnSpc>
            </a:pPr>
            <a:r>
              <a:rPr lang="zh-CN" altLang="en-US">
                <a:latin typeface="宋体" panose="02010600030101010101" pitchFamily="2" charset="-122"/>
                <a:ea typeface="宋体" panose="02010600030101010101" pitchFamily="2" charset="-122"/>
              </a:rPr>
              <a:t>链式存储的线性表</a:t>
            </a:r>
            <a:endParaRPr lang="zh-CN" altLang="en-US">
              <a:latin typeface="宋体" panose="02010600030101010101" pitchFamily="2" charset="-122"/>
              <a:ea typeface="宋体" panose="02010600030101010101" pitchFamily="2" charset="-122"/>
            </a:endParaRPr>
          </a:p>
          <a:p>
            <a:pPr marL="285750" indent="-285750">
              <a:lnSpc>
                <a:spcPct val="90000"/>
              </a:lnSpc>
              <a:buFontTx/>
              <a:buNone/>
            </a:pPr>
            <a:r>
              <a:rPr lang="zh-CN" altLang="en-US" sz="1800">
                <a:solidFill>
                  <a:schemeClr val="tx2"/>
                </a:solidFill>
                <a:latin typeface="宋体" panose="02010600030101010101" pitchFamily="2" charset="-122"/>
                <a:ea typeface="宋体" panose="02010600030101010101" pitchFamily="2" charset="-122"/>
              </a:rPr>
              <a:t>删除（</a:t>
            </a:r>
            <a:r>
              <a:rPr lang="en-US" altLang="zh-CN" sz="1800">
                <a:solidFill>
                  <a:schemeClr val="tx2"/>
                </a:solidFill>
                <a:latin typeface="宋体" panose="02010600030101010101" pitchFamily="2" charset="-122"/>
                <a:ea typeface="宋体" panose="02010600030101010101" pitchFamily="2" charset="-122"/>
              </a:rPr>
              <a:t>delete）</a:t>
            </a:r>
            <a:endParaRPr lang="en-US" altLang="zh-CN" sz="1800">
              <a:solidFill>
                <a:schemeClr val="tx2"/>
              </a:solidFill>
              <a:latin typeface="宋体" panose="02010600030101010101" pitchFamily="2" charset="-122"/>
              <a:ea typeface="宋体" panose="02010600030101010101" pitchFamily="2" charset="-122"/>
            </a:endParaRPr>
          </a:p>
          <a:p>
            <a:pPr marL="285750" indent="-285750">
              <a:lnSpc>
                <a:spcPct val="90000"/>
              </a:lnSpc>
              <a:buFontTx/>
              <a:buNone/>
            </a:pPr>
            <a:r>
              <a:rPr lang="en-US" altLang="zh-CN" sz="1600">
                <a:solidFill>
                  <a:schemeClr val="tx2"/>
                </a:solidFill>
                <a:latin typeface="宋体" panose="02010600030101010101" pitchFamily="2" charset="-122"/>
                <a:ea typeface="宋体" panose="02010600030101010101" pitchFamily="2" charset="-122"/>
              </a:rPr>
              <a:t>DeleteLinkedList</a:t>
            </a:r>
            <a:r>
              <a:rPr lang="en-US" altLang="zh-CN" sz="1600">
                <a:latin typeface="宋体" panose="02010600030101010101" pitchFamily="2" charset="-122"/>
                <a:ea typeface="宋体" panose="02010600030101010101" pitchFamily="2" charset="-122"/>
              </a:rPr>
              <a:t>( head, a )</a:t>
            </a:r>
            <a:endParaRPr lang="en-US" altLang="zh-CN" sz="1600">
              <a:latin typeface="宋体" panose="02010600030101010101" pitchFamily="2" charset="-122"/>
              <a:ea typeface="宋体" panose="02010600030101010101" pitchFamily="2" charset="-122"/>
            </a:endParaRPr>
          </a:p>
          <a:p>
            <a:pPr marL="285750" indent="-285750">
              <a:lnSpc>
                <a:spcPct val="90000"/>
              </a:lnSpc>
              <a:buFontTx/>
              <a:buNone/>
            </a:pPr>
            <a:r>
              <a:rPr lang="en-US" altLang="zh-CN" sz="1600">
                <a:latin typeface="宋体" panose="02010600030101010101" pitchFamily="2" charset="-122"/>
                <a:ea typeface="宋体" panose="02010600030101010101" pitchFamily="2" charset="-122"/>
              </a:rPr>
              <a:t>   if ( head = Nil ) then { //</a:t>
            </a:r>
            <a:r>
              <a:rPr lang="zh-CN" altLang="en-US" sz="1600">
                <a:latin typeface="宋体" panose="02010600030101010101" pitchFamily="2" charset="-122"/>
                <a:ea typeface="宋体" panose="02010600030101010101" pitchFamily="2" charset="-122"/>
              </a:rPr>
              <a:t>空表</a:t>
            </a:r>
            <a:endParaRPr lang="zh-CN" altLang="en-US" sz="1600">
              <a:latin typeface="宋体" panose="02010600030101010101" pitchFamily="2" charset="-122"/>
              <a:ea typeface="宋体" panose="02010600030101010101" pitchFamily="2" charset="-122"/>
            </a:endParaRPr>
          </a:p>
          <a:p>
            <a:pPr marL="285750" indent="-285750">
              <a:lnSpc>
                <a:spcPct val="90000"/>
              </a:lnSpc>
              <a:buFontTx/>
              <a:buNone/>
            </a:pPr>
            <a:r>
              <a:rPr lang="zh-CN" altLang="en-US" sz="1600">
                <a:latin typeface="宋体" panose="02010600030101010101" pitchFamily="2" charset="-122"/>
                <a:ea typeface="宋体" panose="02010600030101010101" pitchFamily="2" charset="-122"/>
              </a:rPr>
              <a:t>      </a:t>
            </a:r>
            <a:r>
              <a:rPr lang="en-US" altLang="zh-CN" sz="1600">
                <a:latin typeface="宋体" panose="02010600030101010101" pitchFamily="2" charset="-122"/>
                <a:ea typeface="宋体" panose="02010600030101010101" pitchFamily="2" charset="-122"/>
              </a:rPr>
              <a:t>return</a:t>
            </a:r>
            <a:endParaRPr lang="en-US" altLang="zh-CN" sz="1600">
              <a:latin typeface="宋体" panose="02010600030101010101" pitchFamily="2" charset="-122"/>
              <a:ea typeface="宋体" panose="02010600030101010101" pitchFamily="2" charset="-122"/>
            </a:endParaRPr>
          </a:p>
          <a:p>
            <a:pPr marL="285750" indent="-285750">
              <a:lnSpc>
                <a:spcPct val="90000"/>
              </a:lnSpc>
              <a:buFontTx/>
              <a:buNone/>
            </a:pPr>
            <a:r>
              <a:rPr lang="en-US" altLang="zh-CN" sz="1600">
                <a:latin typeface="宋体" panose="02010600030101010101" pitchFamily="2" charset="-122"/>
                <a:ea typeface="宋体" panose="02010600030101010101" pitchFamily="2" charset="-122"/>
              </a:rPr>
              <a:t>   }</a:t>
            </a:r>
            <a:endParaRPr lang="en-US" altLang="zh-CN" sz="1600">
              <a:latin typeface="宋体" panose="02010600030101010101" pitchFamily="2" charset="-122"/>
              <a:ea typeface="宋体" panose="02010600030101010101" pitchFamily="2" charset="-122"/>
            </a:endParaRPr>
          </a:p>
          <a:p>
            <a:pPr marL="285750" indent="-285750">
              <a:lnSpc>
                <a:spcPct val="90000"/>
              </a:lnSpc>
              <a:buFontTx/>
              <a:buNone/>
            </a:pPr>
            <a:r>
              <a:rPr lang="en-US" altLang="zh-CN" sz="1600">
                <a:latin typeface="宋体" panose="02010600030101010101" pitchFamily="2" charset="-122"/>
                <a:ea typeface="宋体" panose="02010600030101010101" pitchFamily="2" charset="-122"/>
              </a:rPr>
              <a:t>   if ( data( head ) = a ) then {</a:t>
            </a:r>
            <a:endParaRPr lang="en-US" altLang="zh-CN" sz="1600">
              <a:latin typeface="宋体" panose="02010600030101010101" pitchFamily="2" charset="-122"/>
              <a:ea typeface="宋体" panose="02010600030101010101" pitchFamily="2" charset="-122"/>
            </a:endParaRPr>
          </a:p>
          <a:p>
            <a:pPr marL="285750" indent="-285750">
              <a:lnSpc>
                <a:spcPct val="90000"/>
              </a:lnSpc>
              <a:buFontTx/>
              <a:buNone/>
            </a:pPr>
            <a:r>
              <a:rPr lang="en-US" altLang="zh-CN" sz="1600">
                <a:latin typeface="宋体" panose="02010600030101010101" pitchFamily="2" charset="-122"/>
                <a:ea typeface="宋体" panose="02010600030101010101" pitchFamily="2" charset="-122"/>
              </a:rPr>
              <a:t>      s ← next( head )</a:t>
            </a:r>
            <a:endParaRPr lang="en-US" altLang="zh-CN" sz="1600">
              <a:latin typeface="宋体" panose="02010600030101010101" pitchFamily="2" charset="-122"/>
              <a:ea typeface="宋体" panose="02010600030101010101" pitchFamily="2" charset="-122"/>
            </a:endParaRPr>
          </a:p>
          <a:p>
            <a:pPr marL="285750" indent="-285750">
              <a:lnSpc>
                <a:spcPct val="90000"/>
              </a:lnSpc>
              <a:buFontTx/>
              <a:buNone/>
            </a:pPr>
            <a:r>
              <a:rPr lang="en-US" altLang="zh-CN" sz="1600">
                <a:latin typeface="宋体" panose="02010600030101010101" pitchFamily="2" charset="-122"/>
                <a:ea typeface="宋体" panose="02010600030101010101" pitchFamily="2" charset="-122"/>
              </a:rPr>
              <a:t>      Ret( head )</a:t>
            </a:r>
            <a:endParaRPr lang="en-US" altLang="zh-CN" sz="1600">
              <a:latin typeface="宋体" panose="02010600030101010101" pitchFamily="2" charset="-122"/>
              <a:ea typeface="宋体" panose="02010600030101010101" pitchFamily="2" charset="-122"/>
            </a:endParaRPr>
          </a:p>
          <a:p>
            <a:pPr marL="285750" indent="-285750">
              <a:lnSpc>
                <a:spcPct val="90000"/>
              </a:lnSpc>
              <a:buFontTx/>
              <a:buNone/>
            </a:pPr>
            <a:r>
              <a:rPr lang="en-US" altLang="zh-CN" sz="1600">
                <a:latin typeface="宋体" panose="02010600030101010101" pitchFamily="2" charset="-122"/>
                <a:ea typeface="宋体" panose="02010600030101010101" pitchFamily="2" charset="-122"/>
              </a:rPr>
              <a:t>      head ← s </a:t>
            </a:r>
            <a:endParaRPr lang="en-US" altLang="zh-CN" sz="1600">
              <a:latin typeface="宋体" panose="02010600030101010101" pitchFamily="2" charset="-122"/>
              <a:ea typeface="宋体" panose="02010600030101010101" pitchFamily="2" charset="-122"/>
            </a:endParaRPr>
          </a:p>
          <a:p>
            <a:pPr marL="285750" indent="-285750">
              <a:lnSpc>
                <a:spcPct val="90000"/>
              </a:lnSpc>
              <a:buFontTx/>
              <a:buNone/>
            </a:pPr>
            <a:r>
              <a:rPr lang="en-US" altLang="zh-CN" sz="1600">
                <a:latin typeface="宋体" panose="02010600030101010101" pitchFamily="2" charset="-122"/>
                <a:ea typeface="宋体" panose="02010600030101010101" pitchFamily="2" charset="-122"/>
              </a:rPr>
              <a:t>   }</a:t>
            </a:r>
            <a:endParaRPr lang="en-US" altLang="zh-CN" sz="1600">
              <a:latin typeface="宋体" panose="02010600030101010101" pitchFamily="2" charset="-122"/>
              <a:ea typeface="宋体" panose="02010600030101010101" pitchFamily="2" charset="-122"/>
            </a:endParaRPr>
          </a:p>
          <a:p>
            <a:pPr marL="285750" indent="-285750">
              <a:lnSpc>
                <a:spcPct val="90000"/>
              </a:lnSpc>
              <a:buFontTx/>
              <a:buNone/>
            </a:pPr>
            <a:r>
              <a:rPr lang="en-US" altLang="zh-CN" sz="1600">
                <a:latin typeface="宋体" panose="02010600030101010101" pitchFamily="2" charset="-122"/>
                <a:ea typeface="宋体" panose="02010600030101010101" pitchFamily="2" charset="-122"/>
              </a:rPr>
              <a:t>   else {</a:t>
            </a:r>
            <a:endParaRPr lang="en-US" altLang="zh-CN" sz="1600">
              <a:latin typeface="宋体" panose="02010600030101010101" pitchFamily="2" charset="-122"/>
              <a:ea typeface="宋体" panose="02010600030101010101" pitchFamily="2" charset="-122"/>
            </a:endParaRPr>
          </a:p>
          <a:p>
            <a:pPr marL="285750" indent="-285750">
              <a:lnSpc>
                <a:spcPct val="90000"/>
              </a:lnSpc>
              <a:buFontTx/>
              <a:buNone/>
            </a:pPr>
            <a:r>
              <a:rPr lang="en-US" altLang="zh-CN" sz="1600">
                <a:latin typeface="宋体" panose="02010600030101010101" pitchFamily="2" charset="-122"/>
                <a:ea typeface="宋体" panose="02010600030101010101" pitchFamily="2" charset="-122"/>
              </a:rPr>
              <a:t>      LookFor( head, a, q )</a:t>
            </a:r>
            <a:endParaRPr lang="en-US" altLang="zh-CN" sz="1600">
              <a:latin typeface="宋体" panose="02010600030101010101" pitchFamily="2" charset="-122"/>
              <a:ea typeface="宋体" panose="02010600030101010101" pitchFamily="2" charset="-122"/>
            </a:endParaRPr>
          </a:p>
          <a:p>
            <a:pPr marL="285750" indent="-285750">
              <a:lnSpc>
                <a:spcPct val="90000"/>
              </a:lnSpc>
              <a:buFontTx/>
              <a:buNone/>
            </a:pPr>
            <a:r>
              <a:rPr lang="en-US" altLang="zh-CN" sz="1600">
                <a:latin typeface="宋体" panose="02010600030101010101" pitchFamily="2" charset="-122"/>
                <a:ea typeface="宋体" panose="02010600030101010101" pitchFamily="2" charset="-122"/>
              </a:rPr>
              <a:t>      if ( next( q ) = Nil ) then</a:t>
            </a:r>
            <a:endParaRPr lang="en-US" altLang="zh-CN" sz="1600">
              <a:latin typeface="宋体" panose="02010600030101010101" pitchFamily="2" charset="-122"/>
              <a:ea typeface="宋体" panose="02010600030101010101" pitchFamily="2" charset="-122"/>
            </a:endParaRPr>
          </a:p>
          <a:p>
            <a:pPr marL="285750" indent="-285750">
              <a:lnSpc>
                <a:spcPct val="90000"/>
              </a:lnSpc>
              <a:buFontTx/>
              <a:buNone/>
            </a:pPr>
            <a:r>
              <a:rPr lang="en-US" altLang="zh-CN" sz="1600">
                <a:latin typeface="宋体" panose="02010600030101010101" pitchFamily="2" charset="-122"/>
                <a:ea typeface="宋体" panose="02010600030101010101" pitchFamily="2" charset="-122"/>
              </a:rPr>
              <a:t>         { </a:t>
            </a:r>
            <a:r>
              <a:rPr lang="zh-CN" altLang="en-US" sz="1600">
                <a:latin typeface="宋体" panose="02010600030101010101" pitchFamily="2" charset="-122"/>
                <a:ea typeface="宋体" panose="02010600030101010101" pitchFamily="2" charset="-122"/>
              </a:rPr>
              <a:t>无此结点 </a:t>
            </a:r>
            <a:r>
              <a:rPr lang="en-US" altLang="zh-CN" sz="1600">
                <a:latin typeface="宋体" panose="02010600030101010101" pitchFamily="2" charset="-122"/>
                <a:ea typeface="宋体" panose="02010600030101010101" pitchFamily="2" charset="-122"/>
              </a:rPr>
              <a:t>return }</a:t>
            </a:r>
            <a:endParaRPr lang="en-US" altLang="zh-CN" sz="1600">
              <a:latin typeface="宋体" panose="02010600030101010101" pitchFamily="2" charset="-122"/>
              <a:ea typeface="宋体" panose="02010600030101010101" pitchFamily="2" charset="-122"/>
            </a:endParaRPr>
          </a:p>
          <a:p>
            <a:pPr marL="285750" indent="-285750">
              <a:lnSpc>
                <a:spcPct val="90000"/>
              </a:lnSpc>
              <a:buFontTx/>
              <a:buNone/>
            </a:pPr>
            <a:r>
              <a:rPr lang="en-US" altLang="zh-CN" sz="1600">
                <a:latin typeface="宋体" panose="02010600030101010101" pitchFamily="2" charset="-122"/>
                <a:ea typeface="宋体" panose="02010600030101010101" pitchFamily="2" charset="-122"/>
              </a:rPr>
              <a:t>      p ← next( q )</a:t>
            </a:r>
            <a:endParaRPr lang="en-US" altLang="zh-CN" sz="1600">
              <a:latin typeface="宋体" panose="02010600030101010101" pitchFamily="2" charset="-122"/>
              <a:ea typeface="宋体" panose="02010600030101010101" pitchFamily="2" charset="-122"/>
            </a:endParaRPr>
          </a:p>
          <a:p>
            <a:pPr marL="285750" indent="-285750">
              <a:lnSpc>
                <a:spcPct val="90000"/>
              </a:lnSpc>
              <a:buFontTx/>
              <a:buNone/>
            </a:pPr>
            <a:r>
              <a:rPr lang="en-US" altLang="zh-CN" sz="1600">
                <a:latin typeface="宋体" panose="02010600030101010101" pitchFamily="2" charset="-122"/>
                <a:ea typeface="宋体" panose="02010600030101010101" pitchFamily="2" charset="-122"/>
              </a:rPr>
              <a:t>      next( q ) = next( p )</a:t>
            </a:r>
            <a:endParaRPr lang="en-US" altLang="zh-CN" sz="1600">
              <a:latin typeface="宋体" panose="02010600030101010101" pitchFamily="2" charset="-122"/>
              <a:ea typeface="宋体" panose="02010600030101010101" pitchFamily="2" charset="-122"/>
            </a:endParaRPr>
          </a:p>
          <a:p>
            <a:pPr marL="285750" indent="-285750">
              <a:lnSpc>
                <a:spcPct val="90000"/>
              </a:lnSpc>
              <a:buFontTx/>
              <a:buNone/>
            </a:pPr>
            <a:r>
              <a:rPr lang="en-US" altLang="zh-CN" sz="1600">
                <a:latin typeface="宋体" panose="02010600030101010101" pitchFamily="2" charset="-122"/>
                <a:ea typeface="宋体" panose="02010600030101010101" pitchFamily="2" charset="-122"/>
              </a:rPr>
              <a:t>	   Ret( p )</a:t>
            </a:r>
            <a:endParaRPr lang="en-US" altLang="zh-CN" sz="1600">
              <a:latin typeface="宋体" panose="02010600030101010101" pitchFamily="2" charset="-122"/>
              <a:ea typeface="宋体" panose="02010600030101010101" pitchFamily="2" charset="-122"/>
            </a:endParaRPr>
          </a:p>
          <a:p>
            <a:pPr marL="285750" indent="-285750">
              <a:lnSpc>
                <a:spcPct val="90000"/>
              </a:lnSpc>
              <a:buFontTx/>
              <a:buNone/>
            </a:pPr>
            <a:r>
              <a:rPr lang="en-US" altLang="zh-CN" sz="1600">
                <a:latin typeface="宋体" panose="02010600030101010101" pitchFamily="2" charset="-122"/>
                <a:ea typeface="宋体" panose="02010600030101010101" pitchFamily="2" charset="-122"/>
              </a:rPr>
              <a:t>   }</a:t>
            </a:r>
            <a:endParaRPr lang="en-US" altLang="zh-CN" sz="1600">
              <a:latin typeface="宋体" panose="02010600030101010101" pitchFamily="2" charset="-122"/>
              <a:ea typeface="宋体" panose="02010600030101010101" pitchFamily="2" charset="-122"/>
            </a:endParaRPr>
          </a:p>
          <a:p>
            <a:pPr marL="285750" indent="-285750">
              <a:lnSpc>
                <a:spcPct val="90000"/>
              </a:lnSpc>
              <a:buFontTx/>
              <a:buNone/>
            </a:pPr>
            <a:r>
              <a:rPr lang="en-US" altLang="zh-CN" sz="1600">
                <a:latin typeface="宋体" panose="02010600030101010101" pitchFamily="2" charset="-122"/>
                <a:ea typeface="宋体" panose="02010600030101010101" pitchFamily="2" charset="-122"/>
              </a:rPr>
              <a:t>  return</a:t>
            </a:r>
            <a:endParaRPr lang="en-US" altLang="zh-CN" sz="1600">
              <a:latin typeface="宋体" panose="02010600030101010101" pitchFamily="2" charset="-122"/>
              <a:ea typeface="宋体" panose="02010600030101010101" pitchFamily="2" charset="-122"/>
            </a:endParaRPr>
          </a:p>
        </p:txBody>
      </p:sp>
      <p:sp>
        <p:nvSpPr>
          <p:cNvPr id="63493" name="Line 93"/>
          <p:cNvSpPr>
            <a:spLocks noChangeShapeType="1"/>
          </p:cNvSpPr>
          <p:nvPr/>
        </p:nvSpPr>
        <p:spPr bwMode="auto">
          <a:xfrm>
            <a:off x="3786188" y="1295400"/>
            <a:ext cx="0" cy="4267200"/>
          </a:xfrm>
          <a:prstGeom prst="line">
            <a:avLst/>
          </a:prstGeom>
          <a:noFill/>
          <a:ln w="9525">
            <a:solidFill>
              <a:schemeClr val="hlink"/>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63494" name="Line 94"/>
          <p:cNvSpPr>
            <a:spLocks noChangeShapeType="1"/>
          </p:cNvSpPr>
          <p:nvPr/>
        </p:nvSpPr>
        <p:spPr bwMode="auto">
          <a:xfrm>
            <a:off x="3925888" y="5583238"/>
            <a:ext cx="5038725" cy="0"/>
          </a:xfrm>
          <a:prstGeom prst="line">
            <a:avLst/>
          </a:prstGeom>
          <a:noFill/>
          <a:ln w="9525">
            <a:solidFill>
              <a:schemeClr val="hlink"/>
            </a:solidFill>
            <a:prstDash val="lgDash"/>
            <a:round/>
          </a:ln>
          <a:extLst>
            <a:ext uri="{909E8E84-426E-40DD-AFC4-6F175D3DCCD1}">
              <a14:hiddenFill xmlns:a14="http://schemas.microsoft.com/office/drawing/2010/main">
                <a:noFill/>
              </a14:hiddenFill>
            </a:ext>
          </a:extLst>
        </p:spPr>
        <p:txBody>
          <a:bodyPr/>
          <a:lstStyle/>
          <a:p>
            <a:endParaRPr lang="zh-CN" altLang="en-US"/>
          </a:p>
        </p:txBody>
      </p:sp>
      <p:grpSp>
        <p:nvGrpSpPr>
          <p:cNvPr id="63495" name="Group 184"/>
          <p:cNvGrpSpPr/>
          <p:nvPr/>
        </p:nvGrpSpPr>
        <p:grpSpPr bwMode="auto">
          <a:xfrm>
            <a:off x="3714750" y="1238250"/>
            <a:ext cx="5486400" cy="4095750"/>
            <a:chOff x="816" y="1082"/>
            <a:chExt cx="3456" cy="2580"/>
          </a:xfrm>
        </p:grpSpPr>
        <p:sp>
          <p:nvSpPr>
            <p:cNvPr id="63500" name="Text Box 185"/>
            <p:cNvSpPr txBox="1">
              <a:spLocks noChangeArrowheads="1"/>
            </p:cNvSpPr>
            <p:nvPr/>
          </p:nvSpPr>
          <p:spPr bwMode="auto">
            <a:xfrm>
              <a:off x="1234" y="1521"/>
              <a:ext cx="188"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b="0">
                <a:solidFill>
                  <a:schemeClr val="tx1"/>
                </a:solidFill>
                <a:latin typeface="Times New Roman" panose="02020603050405020304" pitchFamily="18" charset="0"/>
              </a:endParaRPr>
            </a:p>
          </p:txBody>
        </p:sp>
        <p:sp>
          <p:nvSpPr>
            <p:cNvPr id="63501" name="Text Box 186"/>
            <p:cNvSpPr txBox="1">
              <a:spLocks noChangeArrowheads="1"/>
            </p:cNvSpPr>
            <p:nvPr/>
          </p:nvSpPr>
          <p:spPr bwMode="auto">
            <a:xfrm>
              <a:off x="1422" y="1521"/>
              <a:ext cx="13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b="0">
                <a:solidFill>
                  <a:schemeClr val="tx2"/>
                </a:solidFill>
                <a:latin typeface="Times New Roman" panose="02020603050405020304" pitchFamily="18" charset="0"/>
              </a:endParaRPr>
            </a:p>
          </p:txBody>
        </p:sp>
        <p:sp>
          <p:nvSpPr>
            <p:cNvPr id="63502" name="Line 187"/>
            <p:cNvSpPr>
              <a:spLocks noChangeShapeType="1"/>
            </p:cNvSpPr>
            <p:nvPr/>
          </p:nvSpPr>
          <p:spPr bwMode="auto">
            <a:xfrm flipV="1">
              <a:off x="1054" y="1613"/>
              <a:ext cx="16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03" name="Line 188"/>
            <p:cNvSpPr>
              <a:spLocks noChangeShapeType="1"/>
            </p:cNvSpPr>
            <p:nvPr/>
          </p:nvSpPr>
          <p:spPr bwMode="auto">
            <a:xfrm>
              <a:off x="1498" y="1605"/>
              <a:ext cx="332" cy="0"/>
            </a:xfrm>
            <a:prstGeom prst="line">
              <a:avLst/>
            </a:prstGeom>
            <a:noFill/>
            <a:ln w="9525">
              <a:solidFill>
                <a:schemeClr val="tx1"/>
              </a:solidFill>
              <a:prstDash val="lgDashDot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04" name="Text Box 189"/>
            <p:cNvSpPr txBox="1">
              <a:spLocks noChangeArrowheads="1"/>
            </p:cNvSpPr>
            <p:nvPr/>
          </p:nvSpPr>
          <p:spPr bwMode="auto">
            <a:xfrm>
              <a:off x="3264" y="1170"/>
              <a:ext cx="49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200" b="0">
                  <a:solidFill>
                    <a:schemeClr val="tx1"/>
                  </a:solidFill>
                  <a:latin typeface="Times New Roman" panose="02020603050405020304" pitchFamily="18" charset="0"/>
                </a:rPr>
                <a:t>分配池</a:t>
              </a:r>
              <a:endParaRPr lang="zh-CN" altLang="en-US" sz="1200" b="0">
                <a:solidFill>
                  <a:schemeClr val="tx1"/>
                </a:solidFill>
                <a:latin typeface="Times New Roman" panose="02020603050405020304" pitchFamily="18" charset="0"/>
              </a:endParaRPr>
            </a:p>
          </p:txBody>
        </p:sp>
        <p:sp>
          <p:nvSpPr>
            <p:cNvPr id="63505" name="Line 190"/>
            <p:cNvSpPr>
              <a:spLocks noChangeShapeType="1"/>
            </p:cNvSpPr>
            <p:nvPr/>
          </p:nvSpPr>
          <p:spPr bwMode="auto">
            <a:xfrm>
              <a:off x="2106" y="1611"/>
              <a:ext cx="26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06" name="Text Box 191"/>
            <p:cNvSpPr txBox="1">
              <a:spLocks noChangeArrowheads="1"/>
            </p:cNvSpPr>
            <p:nvPr/>
          </p:nvSpPr>
          <p:spPr bwMode="auto">
            <a:xfrm>
              <a:off x="1843" y="1521"/>
              <a:ext cx="18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b="0">
                <a:solidFill>
                  <a:schemeClr val="tx1"/>
                </a:solidFill>
                <a:latin typeface="Times New Roman" panose="02020603050405020304" pitchFamily="18" charset="0"/>
              </a:endParaRPr>
            </a:p>
          </p:txBody>
        </p:sp>
        <p:sp>
          <p:nvSpPr>
            <p:cNvPr id="63507" name="Text Box 192"/>
            <p:cNvSpPr txBox="1">
              <a:spLocks noChangeArrowheads="1"/>
            </p:cNvSpPr>
            <p:nvPr/>
          </p:nvSpPr>
          <p:spPr bwMode="auto">
            <a:xfrm>
              <a:off x="2030" y="1521"/>
              <a:ext cx="13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b="0">
                <a:solidFill>
                  <a:schemeClr val="tx2"/>
                </a:solidFill>
                <a:latin typeface="Times New Roman" panose="02020603050405020304" pitchFamily="18" charset="0"/>
              </a:endParaRPr>
            </a:p>
          </p:txBody>
        </p:sp>
        <p:sp>
          <p:nvSpPr>
            <p:cNvPr id="63508" name="Text Box 193"/>
            <p:cNvSpPr txBox="1">
              <a:spLocks noChangeArrowheads="1"/>
            </p:cNvSpPr>
            <p:nvPr/>
          </p:nvSpPr>
          <p:spPr bwMode="auto">
            <a:xfrm>
              <a:off x="2383" y="1521"/>
              <a:ext cx="18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400" b="0">
                  <a:solidFill>
                    <a:schemeClr val="tx1"/>
                  </a:solidFill>
                  <a:latin typeface="Times New Roman" panose="02020603050405020304" pitchFamily="18" charset="0"/>
                </a:rPr>
                <a:t>a</a:t>
              </a:r>
              <a:endParaRPr lang="en-US" altLang="zh-CN" sz="1400" b="0">
                <a:solidFill>
                  <a:schemeClr val="tx1"/>
                </a:solidFill>
                <a:latin typeface="Times New Roman" panose="02020603050405020304" pitchFamily="18" charset="0"/>
              </a:endParaRPr>
            </a:p>
          </p:txBody>
        </p:sp>
        <p:sp>
          <p:nvSpPr>
            <p:cNvPr id="63509" name="Text Box 194"/>
            <p:cNvSpPr txBox="1">
              <a:spLocks noChangeArrowheads="1"/>
            </p:cNvSpPr>
            <p:nvPr/>
          </p:nvSpPr>
          <p:spPr bwMode="auto">
            <a:xfrm>
              <a:off x="2570" y="1521"/>
              <a:ext cx="13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b="0">
                <a:solidFill>
                  <a:schemeClr val="tx2"/>
                </a:solidFill>
                <a:latin typeface="Times New Roman" panose="02020603050405020304" pitchFamily="18" charset="0"/>
              </a:endParaRPr>
            </a:p>
          </p:txBody>
        </p:sp>
        <p:sp>
          <p:nvSpPr>
            <p:cNvPr id="63510" name="Line 195"/>
            <p:cNvSpPr>
              <a:spLocks noChangeShapeType="1"/>
            </p:cNvSpPr>
            <p:nvPr/>
          </p:nvSpPr>
          <p:spPr bwMode="auto">
            <a:xfrm>
              <a:off x="2648" y="1611"/>
              <a:ext cx="26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11" name="Text Box 196"/>
            <p:cNvSpPr txBox="1">
              <a:spLocks noChangeArrowheads="1"/>
            </p:cNvSpPr>
            <p:nvPr/>
          </p:nvSpPr>
          <p:spPr bwMode="auto">
            <a:xfrm>
              <a:off x="2924" y="1521"/>
              <a:ext cx="188"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b="0">
                <a:solidFill>
                  <a:schemeClr val="tx1"/>
                </a:solidFill>
                <a:latin typeface="Times New Roman" panose="02020603050405020304" pitchFamily="18" charset="0"/>
              </a:endParaRPr>
            </a:p>
          </p:txBody>
        </p:sp>
        <p:sp>
          <p:nvSpPr>
            <p:cNvPr id="63512" name="Text Box 197"/>
            <p:cNvSpPr txBox="1">
              <a:spLocks noChangeArrowheads="1"/>
            </p:cNvSpPr>
            <p:nvPr/>
          </p:nvSpPr>
          <p:spPr bwMode="auto">
            <a:xfrm>
              <a:off x="3112" y="1521"/>
              <a:ext cx="13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b="0">
                <a:solidFill>
                  <a:schemeClr val="tx2"/>
                </a:solidFill>
                <a:latin typeface="Times New Roman" panose="02020603050405020304" pitchFamily="18" charset="0"/>
              </a:endParaRPr>
            </a:p>
          </p:txBody>
        </p:sp>
        <p:sp>
          <p:nvSpPr>
            <p:cNvPr id="63513" name="Line 198"/>
            <p:cNvSpPr>
              <a:spLocks noChangeShapeType="1"/>
            </p:cNvSpPr>
            <p:nvPr/>
          </p:nvSpPr>
          <p:spPr bwMode="auto">
            <a:xfrm>
              <a:off x="3188" y="1611"/>
              <a:ext cx="333" cy="0"/>
            </a:xfrm>
            <a:prstGeom prst="line">
              <a:avLst/>
            </a:prstGeom>
            <a:noFill/>
            <a:ln w="9525">
              <a:solidFill>
                <a:schemeClr val="tx1"/>
              </a:solidFill>
              <a:prstDash val="lgDashDot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14" name="Text Box 199"/>
            <p:cNvSpPr txBox="1">
              <a:spLocks noChangeArrowheads="1"/>
            </p:cNvSpPr>
            <p:nvPr/>
          </p:nvSpPr>
          <p:spPr bwMode="auto">
            <a:xfrm>
              <a:off x="3530" y="1521"/>
              <a:ext cx="189"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b="0">
                <a:solidFill>
                  <a:schemeClr val="tx1"/>
                </a:solidFill>
                <a:latin typeface="Times New Roman" panose="02020603050405020304" pitchFamily="18" charset="0"/>
              </a:endParaRPr>
            </a:p>
          </p:txBody>
        </p:sp>
        <p:sp>
          <p:nvSpPr>
            <p:cNvPr id="63515" name="Text Box 200"/>
            <p:cNvSpPr txBox="1">
              <a:spLocks noChangeArrowheads="1"/>
            </p:cNvSpPr>
            <p:nvPr/>
          </p:nvSpPr>
          <p:spPr bwMode="auto">
            <a:xfrm>
              <a:off x="3719" y="1521"/>
              <a:ext cx="13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b="0">
                  <a:solidFill>
                    <a:schemeClr val="tx2"/>
                  </a:solidFill>
                  <a:latin typeface="Times New Roman" panose="02020603050405020304" pitchFamily="18" charset="0"/>
                </a:rPr>
                <a:t>^</a:t>
              </a:r>
              <a:endParaRPr lang="zh-CN" altLang="en-US" sz="1400" b="0">
                <a:solidFill>
                  <a:schemeClr val="tx2"/>
                </a:solidFill>
                <a:latin typeface="Times New Roman" panose="02020603050405020304" pitchFamily="18" charset="0"/>
              </a:endParaRPr>
            </a:p>
          </p:txBody>
        </p:sp>
        <p:sp>
          <p:nvSpPr>
            <p:cNvPr id="63516" name="Line 201"/>
            <p:cNvSpPr>
              <a:spLocks noChangeShapeType="1"/>
            </p:cNvSpPr>
            <p:nvPr/>
          </p:nvSpPr>
          <p:spPr bwMode="auto">
            <a:xfrm>
              <a:off x="2098" y="1254"/>
              <a:ext cx="16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17" name="Text Box 202"/>
            <p:cNvSpPr txBox="1">
              <a:spLocks noChangeArrowheads="1"/>
            </p:cNvSpPr>
            <p:nvPr/>
          </p:nvSpPr>
          <p:spPr bwMode="auto">
            <a:xfrm>
              <a:off x="2277" y="1164"/>
              <a:ext cx="18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400" b="0">
                <a:solidFill>
                  <a:schemeClr val="tx1"/>
                </a:solidFill>
                <a:latin typeface="Times New Roman" panose="02020603050405020304" pitchFamily="18" charset="0"/>
              </a:endParaRPr>
            </a:p>
          </p:txBody>
        </p:sp>
        <p:sp>
          <p:nvSpPr>
            <p:cNvPr id="63518" name="Text Box 203"/>
            <p:cNvSpPr txBox="1">
              <a:spLocks noChangeArrowheads="1"/>
            </p:cNvSpPr>
            <p:nvPr/>
          </p:nvSpPr>
          <p:spPr bwMode="auto">
            <a:xfrm>
              <a:off x="2464" y="1164"/>
              <a:ext cx="13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b="0">
                <a:solidFill>
                  <a:schemeClr val="tx2"/>
                </a:solidFill>
                <a:latin typeface="Times New Roman" panose="02020603050405020304" pitchFamily="18" charset="0"/>
              </a:endParaRPr>
            </a:p>
          </p:txBody>
        </p:sp>
        <p:sp>
          <p:nvSpPr>
            <p:cNvPr id="63519" name="Line 204"/>
            <p:cNvSpPr>
              <a:spLocks noChangeShapeType="1"/>
            </p:cNvSpPr>
            <p:nvPr/>
          </p:nvSpPr>
          <p:spPr bwMode="auto">
            <a:xfrm>
              <a:off x="2530" y="1254"/>
              <a:ext cx="333" cy="0"/>
            </a:xfrm>
            <a:prstGeom prst="line">
              <a:avLst/>
            </a:prstGeom>
            <a:noFill/>
            <a:ln w="9525">
              <a:solidFill>
                <a:schemeClr val="tx1"/>
              </a:solidFill>
              <a:prstDash val="lgDashDot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20" name="Text Box 205"/>
            <p:cNvSpPr txBox="1">
              <a:spLocks noChangeArrowheads="1"/>
            </p:cNvSpPr>
            <p:nvPr/>
          </p:nvSpPr>
          <p:spPr bwMode="auto">
            <a:xfrm>
              <a:off x="2872" y="1164"/>
              <a:ext cx="189"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b="0">
                <a:solidFill>
                  <a:schemeClr val="tx1"/>
                </a:solidFill>
                <a:latin typeface="Times New Roman" panose="02020603050405020304" pitchFamily="18" charset="0"/>
              </a:endParaRPr>
            </a:p>
          </p:txBody>
        </p:sp>
        <p:sp>
          <p:nvSpPr>
            <p:cNvPr id="63521" name="Text Box 206"/>
            <p:cNvSpPr txBox="1">
              <a:spLocks noChangeArrowheads="1"/>
            </p:cNvSpPr>
            <p:nvPr/>
          </p:nvSpPr>
          <p:spPr bwMode="auto">
            <a:xfrm>
              <a:off x="3061" y="1164"/>
              <a:ext cx="13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b="0">
                  <a:solidFill>
                    <a:schemeClr val="tx2"/>
                  </a:solidFill>
                  <a:latin typeface="Times New Roman" panose="02020603050405020304" pitchFamily="18" charset="0"/>
                </a:rPr>
                <a:t>^</a:t>
              </a:r>
              <a:endParaRPr lang="zh-CN" altLang="en-US" sz="1400" b="0">
                <a:solidFill>
                  <a:schemeClr val="tx2"/>
                </a:solidFill>
                <a:latin typeface="Times New Roman" panose="02020603050405020304" pitchFamily="18" charset="0"/>
              </a:endParaRPr>
            </a:p>
          </p:txBody>
        </p:sp>
        <p:sp>
          <p:nvSpPr>
            <p:cNvPr id="63522" name="Text Box 207"/>
            <p:cNvSpPr txBox="1">
              <a:spLocks noChangeArrowheads="1"/>
            </p:cNvSpPr>
            <p:nvPr/>
          </p:nvSpPr>
          <p:spPr bwMode="auto">
            <a:xfrm>
              <a:off x="1902" y="1082"/>
              <a:ext cx="2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en-US" altLang="zh-CN" sz="1400" b="0">
                  <a:solidFill>
                    <a:schemeClr val="tx1"/>
                  </a:solidFill>
                  <a:latin typeface="Times New Roman" panose="02020603050405020304" pitchFamily="18" charset="0"/>
                </a:rPr>
                <a:t>av</a:t>
              </a:r>
              <a:endParaRPr lang="en-US" altLang="zh-CN" sz="1400" b="0">
                <a:solidFill>
                  <a:schemeClr val="tx1"/>
                </a:solidFill>
                <a:latin typeface="Times New Roman" panose="02020603050405020304" pitchFamily="18" charset="0"/>
              </a:endParaRPr>
            </a:p>
          </p:txBody>
        </p:sp>
        <p:sp>
          <p:nvSpPr>
            <p:cNvPr id="63523" name="Text Box 208"/>
            <p:cNvSpPr txBox="1">
              <a:spLocks noChangeArrowheads="1"/>
            </p:cNvSpPr>
            <p:nvPr/>
          </p:nvSpPr>
          <p:spPr bwMode="auto">
            <a:xfrm>
              <a:off x="1215" y="2590"/>
              <a:ext cx="188"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b="0">
                <a:solidFill>
                  <a:schemeClr val="tx1"/>
                </a:solidFill>
                <a:latin typeface="Times New Roman" panose="02020603050405020304" pitchFamily="18" charset="0"/>
              </a:endParaRPr>
            </a:p>
          </p:txBody>
        </p:sp>
        <p:sp>
          <p:nvSpPr>
            <p:cNvPr id="63524" name="Text Box 209"/>
            <p:cNvSpPr txBox="1">
              <a:spLocks noChangeArrowheads="1"/>
            </p:cNvSpPr>
            <p:nvPr/>
          </p:nvSpPr>
          <p:spPr bwMode="auto">
            <a:xfrm>
              <a:off x="1403" y="2590"/>
              <a:ext cx="13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b="0">
                <a:solidFill>
                  <a:schemeClr val="tx2"/>
                </a:solidFill>
                <a:latin typeface="Times New Roman" panose="02020603050405020304" pitchFamily="18" charset="0"/>
              </a:endParaRPr>
            </a:p>
          </p:txBody>
        </p:sp>
        <p:sp>
          <p:nvSpPr>
            <p:cNvPr id="63525" name="Line 210"/>
            <p:cNvSpPr>
              <a:spLocks noChangeShapeType="1"/>
            </p:cNvSpPr>
            <p:nvPr/>
          </p:nvSpPr>
          <p:spPr bwMode="auto">
            <a:xfrm flipV="1">
              <a:off x="1035" y="2682"/>
              <a:ext cx="16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26" name="Line 211"/>
            <p:cNvSpPr>
              <a:spLocks noChangeShapeType="1"/>
            </p:cNvSpPr>
            <p:nvPr/>
          </p:nvSpPr>
          <p:spPr bwMode="auto">
            <a:xfrm>
              <a:off x="1479" y="2674"/>
              <a:ext cx="332" cy="0"/>
            </a:xfrm>
            <a:prstGeom prst="line">
              <a:avLst/>
            </a:prstGeom>
            <a:noFill/>
            <a:ln w="9525">
              <a:solidFill>
                <a:schemeClr val="tx1"/>
              </a:solidFill>
              <a:prstDash val="lgDashDot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27" name="Text Box 212"/>
            <p:cNvSpPr txBox="1">
              <a:spLocks noChangeArrowheads="1"/>
            </p:cNvSpPr>
            <p:nvPr/>
          </p:nvSpPr>
          <p:spPr bwMode="auto">
            <a:xfrm>
              <a:off x="3253" y="2048"/>
              <a:ext cx="49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200" b="0">
                  <a:solidFill>
                    <a:schemeClr val="tx1"/>
                  </a:solidFill>
                  <a:latin typeface="Times New Roman" panose="02020603050405020304" pitchFamily="18" charset="0"/>
                </a:rPr>
                <a:t>分配池</a:t>
              </a:r>
              <a:endParaRPr lang="zh-CN" altLang="en-US" sz="1200" b="0">
                <a:solidFill>
                  <a:schemeClr val="tx1"/>
                </a:solidFill>
                <a:latin typeface="Times New Roman" panose="02020603050405020304" pitchFamily="18" charset="0"/>
              </a:endParaRPr>
            </a:p>
          </p:txBody>
        </p:sp>
        <p:sp>
          <p:nvSpPr>
            <p:cNvPr id="63528" name="Line 213"/>
            <p:cNvSpPr>
              <a:spLocks noChangeShapeType="1"/>
            </p:cNvSpPr>
            <p:nvPr/>
          </p:nvSpPr>
          <p:spPr bwMode="auto">
            <a:xfrm>
              <a:off x="2087" y="2680"/>
              <a:ext cx="267" cy="0"/>
            </a:xfrm>
            <a:prstGeom prst="line">
              <a:avLst/>
            </a:prstGeom>
            <a:noFill/>
            <a:ln w="9525">
              <a:solidFill>
                <a:schemeClr val="accent2"/>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29" name="Text Box 214"/>
            <p:cNvSpPr txBox="1">
              <a:spLocks noChangeArrowheads="1"/>
            </p:cNvSpPr>
            <p:nvPr/>
          </p:nvSpPr>
          <p:spPr bwMode="auto">
            <a:xfrm>
              <a:off x="1824" y="2590"/>
              <a:ext cx="18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b="0">
                <a:solidFill>
                  <a:schemeClr val="tx1"/>
                </a:solidFill>
                <a:latin typeface="Times New Roman" panose="02020603050405020304" pitchFamily="18" charset="0"/>
              </a:endParaRPr>
            </a:p>
          </p:txBody>
        </p:sp>
        <p:sp>
          <p:nvSpPr>
            <p:cNvPr id="63530" name="Text Box 215"/>
            <p:cNvSpPr txBox="1">
              <a:spLocks noChangeArrowheads="1"/>
            </p:cNvSpPr>
            <p:nvPr/>
          </p:nvSpPr>
          <p:spPr bwMode="auto">
            <a:xfrm>
              <a:off x="2011" y="2590"/>
              <a:ext cx="132"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b="0">
                <a:solidFill>
                  <a:schemeClr val="tx2"/>
                </a:solidFill>
                <a:latin typeface="Times New Roman" panose="02020603050405020304" pitchFamily="18" charset="0"/>
              </a:endParaRPr>
            </a:p>
          </p:txBody>
        </p:sp>
        <p:sp>
          <p:nvSpPr>
            <p:cNvPr id="63531" name="Text Box 216"/>
            <p:cNvSpPr txBox="1">
              <a:spLocks noChangeArrowheads="1"/>
            </p:cNvSpPr>
            <p:nvPr/>
          </p:nvSpPr>
          <p:spPr bwMode="auto">
            <a:xfrm>
              <a:off x="2364" y="2590"/>
              <a:ext cx="18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400" b="0">
                  <a:solidFill>
                    <a:schemeClr val="tx1"/>
                  </a:solidFill>
                  <a:latin typeface="Times New Roman" panose="02020603050405020304" pitchFamily="18" charset="0"/>
                </a:rPr>
                <a:t>a</a:t>
              </a:r>
              <a:endParaRPr lang="en-US" altLang="zh-CN" sz="1400" b="0">
                <a:solidFill>
                  <a:schemeClr val="tx1"/>
                </a:solidFill>
                <a:latin typeface="Times New Roman" panose="02020603050405020304" pitchFamily="18" charset="0"/>
              </a:endParaRPr>
            </a:p>
          </p:txBody>
        </p:sp>
        <p:sp>
          <p:nvSpPr>
            <p:cNvPr id="63532" name="Text Box 217"/>
            <p:cNvSpPr txBox="1">
              <a:spLocks noChangeArrowheads="1"/>
            </p:cNvSpPr>
            <p:nvPr/>
          </p:nvSpPr>
          <p:spPr bwMode="auto">
            <a:xfrm>
              <a:off x="2551" y="2590"/>
              <a:ext cx="132"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b="0">
                <a:solidFill>
                  <a:schemeClr val="tx2"/>
                </a:solidFill>
                <a:latin typeface="Times New Roman" panose="02020603050405020304" pitchFamily="18" charset="0"/>
              </a:endParaRPr>
            </a:p>
          </p:txBody>
        </p:sp>
        <p:sp>
          <p:nvSpPr>
            <p:cNvPr id="63533" name="Line 218"/>
            <p:cNvSpPr>
              <a:spLocks noChangeShapeType="1"/>
            </p:cNvSpPr>
            <p:nvPr/>
          </p:nvSpPr>
          <p:spPr bwMode="auto">
            <a:xfrm>
              <a:off x="2628" y="2680"/>
              <a:ext cx="266" cy="0"/>
            </a:xfrm>
            <a:prstGeom prst="line">
              <a:avLst/>
            </a:prstGeom>
            <a:noFill/>
            <a:ln w="9525">
              <a:solidFill>
                <a:schemeClr val="accent2"/>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34" name="Text Box 219"/>
            <p:cNvSpPr txBox="1">
              <a:spLocks noChangeArrowheads="1"/>
            </p:cNvSpPr>
            <p:nvPr/>
          </p:nvSpPr>
          <p:spPr bwMode="auto">
            <a:xfrm>
              <a:off x="2905" y="2590"/>
              <a:ext cx="188"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b="0">
                <a:solidFill>
                  <a:schemeClr val="tx1"/>
                </a:solidFill>
                <a:latin typeface="Times New Roman" panose="02020603050405020304" pitchFamily="18" charset="0"/>
              </a:endParaRPr>
            </a:p>
          </p:txBody>
        </p:sp>
        <p:sp>
          <p:nvSpPr>
            <p:cNvPr id="63535" name="Text Box 220"/>
            <p:cNvSpPr txBox="1">
              <a:spLocks noChangeArrowheads="1"/>
            </p:cNvSpPr>
            <p:nvPr/>
          </p:nvSpPr>
          <p:spPr bwMode="auto">
            <a:xfrm>
              <a:off x="3093" y="2590"/>
              <a:ext cx="13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b="0">
                <a:solidFill>
                  <a:schemeClr val="tx2"/>
                </a:solidFill>
                <a:latin typeface="Times New Roman" panose="02020603050405020304" pitchFamily="18" charset="0"/>
              </a:endParaRPr>
            </a:p>
          </p:txBody>
        </p:sp>
        <p:sp>
          <p:nvSpPr>
            <p:cNvPr id="63536" name="Line 221"/>
            <p:cNvSpPr>
              <a:spLocks noChangeShapeType="1"/>
            </p:cNvSpPr>
            <p:nvPr/>
          </p:nvSpPr>
          <p:spPr bwMode="auto">
            <a:xfrm>
              <a:off x="3169" y="2680"/>
              <a:ext cx="333" cy="0"/>
            </a:xfrm>
            <a:prstGeom prst="line">
              <a:avLst/>
            </a:prstGeom>
            <a:noFill/>
            <a:ln w="9525">
              <a:solidFill>
                <a:schemeClr val="tx1"/>
              </a:solidFill>
              <a:prstDash val="lgDashDot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37" name="Text Box 222"/>
            <p:cNvSpPr txBox="1">
              <a:spLocks noChangeArrowheads="1"/>
            </p:cNvSpPr>
            <p:nvPr/>
          </p:nvSpPr>
          <p:spPr bwMode="auto">
            <a:xfrm>
              <a:off x="3511" y="2590"/>
              <a:ext cx="188"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b="0">
                <a:solidFill>
                  <a:schemeClr val="tx1"/>
                </a:solidFill>
                <a:latin typeface="Times New Roman" panose="02020603050405020304" pitchFamily="18" charset="0"/>
              </a:endParaRPr>
            </a:p>
          </p:txBody>
        </p:sp>
        <p:sp>
          <p:nvSpPr>
            <p:cNvPr id="63538" name="Text Box 223"/>
            <p:cNvSpPr txBox="1">
              <a:spLocks noChangeArrowheads="1"/>
            </p:cNvSpPr>
            <p:nvPr/>
          </p:nvSpPr>
          <p:spPr bwMode="auto">
            <a:xfrm>
              <a:off x="3699" y="2590"/>
              <a:ext cx="13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b="0">
                  <a:solidFill>
                    <a:schemeClr val="tx2"/>
                  </a:solidFill>
                  <a:latin typeface="Times New Roman" panose="02020603050405020304" pitchFamily="18" charset="0"/>
                </a:rPr>
                <a:t>^</a:t>
              </a:r>
              <a:endParaRPr lang="zh-CN" altLang="en-US" sz="1400" b="0">
                <a:solidFill>
                  <a:schemeClr val="tx2"/>
                </a:solidFill>
                <a:latin typeface="Times New Roman" panose="02020603050405020304" pitchFamily="18" charset="0"/>
              </a:endParaRPr>
            </a:p>
          </p:txBody>
        </p:sp>
        <p:sp>
          <p:nvSpPr>
            <p:cNvPr id="63539" name="Text Box 224"/>
            <p:cNvSpPr txBox="1">
              <a:spLocks noChangeArrowheads="1"/>
            </p:cNvSpPr>
            <p:nvPr/>
          </p:nvSpPr>
          <p:spPr bwMode="auto">
            <a:xfrm>
              <a:off x="2278" y="2042"/>
              <a:ext cx="188"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400" b="0">
                <a:solidFill>
                  <a:schemeClr val="tx1"/>
                </a:solidFill>
                <a:latin typeface="Times New Roman" panose="02020603050405020304" pitchFamily="18" charset="0"/>
              </a:endParaRPr>
            </a:p>
          </p:txBody>
        </p:sp>
        <p:sp>
          <p:nvSpPr>
            <p:cNvPr id="63540" name="Text Box 225"/>
            <p:cNvSpPr txBox="1">
              <a:spLocks noChangeArrowheads="1"/>
            </p:cNvSpPr>
            <p:nvPr/>
          </p:nvSpPr>
          <p:spPr bwMode="auto">
            <a:xfrm>
              <a:off x="2466" y="2042"/>
              <a:ext cx="13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b="0">
                <a:solidFill>
                  <a:schemeClr val="tx2"/>
                </a:solidFill>
                <a:latin typeface="Times New Roman" panose="02020603050405020304" pitchFamily="18" charset="0"/>
              </a:endParaRPr>
            </a:p>
          </p:txBody>
        </p:sp>
        <p:sp>
          <p:nvSpPr>
            <p:cNvPr id="63541" name="Line 226"/>
            <p:cNvSpPr>
              <a:spLocks noChangeShapeType="1"/>
            </p:cNvSpPr>
            <p:nvPr/>
          </p:nvSpPr>
          <p:spPr bwMode="auto">
            <a:xfrm>
              <a:off x="2537" y="2132"/>
              <a:ext cx="332" cy="0"/>
            </a:xfrm>
            <a:prstGeom prst="line">
              <a:avLst/>
            </a:prstGeom>
            <a:noFill/>
            <a:ln w="9525">
              <a:solidFill>
                <a:schemeClr val="tx1"/>
              </a:solidFill>
              <a:prstDash val="lgDashDot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42" name="Text Box 227"/>
            <p:cNvSpPr txBox="1">
              <a:spLocks noChangeArrowheads="1"/>
            </p:cNvSpPr>
            <p:nvPr/>
          </p:nvSpPr>
          <p:spPr bwMode="auto">
            <a:xfrm>
              <a:off x="2878" y="2042"/>
              <a:ext cx="189"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b="0">
                <a:solidFill>
                  <a:schemeClr val="tx1"/>
                </a:solidFill>
                <a:latin typeface="Times New Roman" panose="02020603050405020304" pitchFamily="18" charset="0"/>
              </a:endParaRPr>
            </a:p>
          </p:txBody>
        </p:sp>
        <p:sp>
          <p:nvSpPr>
            <p:cNvPr id="63543" name="Text Box 228"/>
            <p:cNvSpPr txBox="1">
              <a:spLocks noChangeArrowheads="1"/>
            </p:cNvSpPr>
            <p:nvPr/>
          </p:nvSpPr>
          <p:spPr bwMode="auto">
            <a:xfrm>
              <a:off x="3067" y="2042"/>
              <a:ext cx="13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b="0">
                  <a:solidFill>
                    <a:schemeClr val="tx2"/>
                  </a:solidFill>
                  <a:latin typeface="Times New Roman" panose="02020603050405020304" pitchFamily="18" charset="0"/>
                </a:rPr>
                <a:t>^</a:t>
              </a:r>
              <a:endParaRPr lang="zh-CN" altLang="en-US" sz="1400" b="0">
                <a:solidFill>
                  <a:schemeClr val="tx2"/>
                </a:solidFill>
                <a:latin typeface="Times New Roman" panose="02020603050405020304" pitchFamily="18" charset="0"/>
              </a:endParaRPr>
            </a:p>
          </p:txBody>
        </p:sp>
        <p:sp>
          <p:nvSpPr>
            <p:cNvPr id="63544" name="Text Box 229"/>
            <p:cNvSpPr txBox="1">
              <a:spLocks noChangeArrowheads="1"/>
            </p:cNvSpPr>
            <p:nvPr/>
          </p:nvSpPr>
          <p:spPr bwMode="auto">
            <a:xfrm>
              <a:off x="1841" y="2016"/>
              <a:ext cx="2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en-US" altLang="zh-CN" sz="1400" b="0">
                  <a:solidFill>
                    <a:schemeClr val="tx1"/>
                  </a:solidFill>
                  <a:latin typeface="Times New Roman" panose="02020603050405020304" pitchFamily="18" charset="0"/>
                </a:rPr>
                <a:t>av</a:t>
              </a:r>
              <a:endParaRPr lang="en-US" altLang="zh-CN" sz="1400" b="0">
                <a:solidFill>
                  <a:schemeClr val="tx1"/>
                </a:solidFill>
                <a:latin typeface="Times New Roman" panose="02020603050405020304" pitchFamily="18" charset="0"/>
              </a:endParaRPr>
            </a:p>
          </p:txBody>
        </p:sp>
        <p:sp>
          <p:nvSpPr>
            <p:cNvPr id="63545" name="Text Box 230"/>
            <p:cNvSpPr txBox="1">
              <a:spLocks noChangeArrowheads="1"/>
            </p:cNvSpPr>
            <p:nvPr/>
          </p:nvSpPr>
          <p:spPr bwMode="auto">
            <a:xfrm>
              <a:off x="1212" y="3483"/>
              <a:ext cx="18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b="0">
                <a:solidFill>
                  <a:schemeClr val="tx1"/>
                </a:solidFill>
                <a:latin typeface="Times New Roman" panose="02020603050405020304" pitchFamily="18" charset="0"/>
              </a:endParaRPr>
            </a:p>
          </p:txBody>
        </p:sp>
        <p:sp>
          <p:nvSpPr>
            <p:cNvPr id="63546" name="Text Box 231"/>
            <p:cNvSpPr txBox="1">
              <a:spLocks noChangeArrowheads="1"/>
            </p:cNvSpPr>
            <p:nvPr/>
          </p:nvSpPr>
          <p:spPr bwMode="auto">
            <a:xfrm>
              <a:off x="1399" y="3483"/>
              <a:ext cx="132"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b="0">
                <a:solidFill>
                  <a:schemeClr val="tx2"/>
                </a:solidFill>
                <a:latin typeface="Times New Roman" panose="02020603050405020304" pitchFamily="18" charset="0"/>
              </a:endParaRPr>
            </a:p>
          </p:txBody>
        </p:sp>
        <p:sp>
          <p:nvSpPr>
            <p:cNvPr id="63547" name="Text Box 232"/>
            <p:cNvSpPr txBox="1">
              <a:spLocks noChangeArrowheads="1"/>
            </p:cNvSpPr>
            <p:nvPr/>
          </p:nvSpPr>
          <p:spPr bwMode="auto">
            <a:xfrm>
              <a:off x="866" y="3409"/>
              <a:ext cx="32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400" b="0">
                  <a:solidFill>
                    <a:schemeClr val="tx1"/>
                  </a:solidFill>
                  <a:latin typeface="Times New Roman" panose="02020603050405020304" pitchFamily="18" charset="0"/>
                </a:rPr>
                <a:t>head</a:t>
              </a:r>
              <a:endParaRPr lang="en-US" altLang="zh-CN" sz="1400" b="0">
                <a:solidFill>
                  <a:schemeClr val="tx1"/>
                </a:solidFill>
                <a:latin typeface="Times New Roman" panose="02020603050405020304" pitchFamily="18" charset="0"/>
              </a:endParaRPr>
            </a:p>
          </p:txBody>
        </p:sp>
        <p:sp>
          <p:nvSpPr>
            <p:cNvPr id="63548" name="Line 233"/>
            <p:cNvSpPr>
              <a:spLocks noChangeShapeType="1"/>
            </p:cNvSpPr>
            <p:nvPr/>
          </p:nvSpPr>
          <p:spPr bwMode="auto">
            <a:xfrm flipV="1">
              <a:off x="1032" y="3575"/>
              <a:ext cx="16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49" name="Line 234"/>
            <p:cNvSpPr>
              <a:spLocks noChangeShapeType="1"/>
            </p:cNvSpPr>
            <p:nvPr/>
          </p:nvSpPr>
          <p:spPr bwMode="auto">
            <a:xfrm>
              <a:off x="1475" y="3567"/>
              <a:ext cx="332" cy="0"/>
            </a:xfrm>
            <a:prstGeom prst="line">
              <a:avLst/>
            </a:prstGeom>
            <a:noFill/>
            <a:ln w="9525">
              <a:solidFill>
                <a:schemeClr val="tx1"/>
              </a:solidFill>
              <a:prstDash val="lgDashDot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50" name="Text Box 235"/>
            <p:cNvSpPr txBox="1">
              <a:spLocks noChangeArrowheads="1"/>
            </p:cNvSpPr>
            <p:nvPr/>
          </p:nvSpPr>
          <p:spPr bwMode="auto">
            <a:xfrm>
              <a:off x="3885" y="3153"/>
              <a:ext cx="38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200" b="0">
                  <a:solidFill>
                    <a:schemeClr val="tx1"/>
                  </a:solidFill>
                  <a:latin typeface="Times New Roman" panose="02020603050405020304" pitchFamily="18" charset="0"/>
                </a:rPr>
                <a:t>分配池</a:t>
              </a:r>
              <a:endParaRPr lang="zh-CN" altLang="en-US" sz="1200" b="0">
                <a:solidFill>
                  <a:schemeClr val="tx1"/>
                </a:solidFill>
                <a:latin typeface="Times New Roman" panose="02020603050405020304" pitchFamily="18" charset="0"/>
              </a:endParaRPr>
            </a:p>
          </p:txBody>
        </p:sp>
        <p:sp>
          <p:nvSpPr>
            <p:cNvPr id="63551" name="Text Box 236"/>
            <p:cNvSpPr txBox="1">
              <a:spLocks noChangeArrowheads="1"/>
            </p:cNvSpPr>
            <p:nvPr/>
          </p:nvSpPr>
          <p:spPr bwMode="auto">
            <a:xfrm>
              <a:off x="1820" y="3483"/>
              <a:ext cx="188"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b="0">
                <a:solidFill>
                  <a:schemeClr val="tx1"/>
                </a:solidFill>
                <a:latin typeface="Times New Roman" panose="02020603050405020304" pitchFamily="18" charset="0"/>
              </a:endParaRPr>
            </a:p>
          </p:txBody>
        </p:sp>
        <p:sp>
          <p:nvSpPr>
            <p:cNvPr id="63552" name="Text Box 237"/>
            <p:cNvSpPr txBox="1">
              <a:spLocks noChangeArrowheads="1"/>
            </p:cNvSpPr>
            <p:nvPr/>
          </p:nvSpPr>
          <p:spPr bwMode="auto">
            <a:xfrm>
              <a:off x="2008" y="3483"/>
              <a:ext cx="13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b="0">
                <a:solidFill>
                  <a:schemeClr val="tx2"/>
                </a:solidFill>
                <a:latin typeface="Times New Roman" panose="02020603050405020304" pitchFamily="18" charset="0"/>
              </a:endParaRPr>
            </a:p>
          </p:txBody>
        </p:sp>
        <p:sp>
          <p:nvSpPr>
            <p:cNvPr id="63553" name="Line 238"/>
            <p:cNvSpPr>
              <a:spLocks noChangeShapeType="1"/>
            </p:cNvSpPr>
            <p:nvPr/>
          </p:nvSpPr>
          <p:spPr bwMode="auto">
            <a:xfrm>
              <a:off x="2081" y="3573"/>
              <a:ext cx="26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54" name="Text Box 239"/>
            <p:cNvSpPr txBox="1">
              <a:spLocks noChangeArrowheads="1"/>
            </p:cNvSpPr>
            <p:nvPr/>
          </p:nvSpPr>
          <p:spPr bwMode="auto">
            <a:xfrm>
              <a:off x="2357" y="3483"/>
              <a:ext cx="189"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400" b="0">
                <a:solidFill>
                  <a:schemeClr val="tx1"/>
                </a:solidFill>
                <a:latin typeface="Times New Roman" panose="02020603050405020304" pitchFamily="18" charset="0"/>
              </a:endParaRPr>
            </a:p>
          </p:txBody>
        </p:sp>
        <p:sp>
          <p:nvSpPr>
            <p:cNvPr id="63555" name="Text Box 240"/>
            <p:cNvSpPr txBox="1">
              <a:spLocks noChangeArrowheads="1"/>
            </p:cNvSpPr>
            <p:nvPr/>
          </p:nvSpPr>
          <p:spPr bwMode="auto">
            <a:xfrm>
              <a:off x="2546" y="3483"/>
              <a:ext cx="13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b="0">
                <a:solidFill>
                  <a:schemeClr val="tx2"/>
                </a:solidFill>
                <a:latin typeface="Times New Roman" panose="02020603050405020304" pitchFamily="18" charset="0"/>
              </a:endParaRPr>
            </a:p>
          </p:txBody>
        </p:sp>
        <p:sp>
          <p:nvSpPr>
            <p:cNvPr id="63556" name="Line 241"/>
            <p:cNvSpPr>
              <a:spLocks noChangeShapeType="1"/>
            </p:cNvSpPr>
            <p:nvPr/>
          </p:nvSpPr>
          <p:spPr bwMode="auto">
            <a:xfrm>
              <a:off x="2616" y="3573"/>
              <a:ext cx="332" cy="0"/>
            </a:xfrm>
            <a:prstGeom prst="line">
              <a:avLst/>
            </a:prstGeom>
            <a:noFill/>
            <a:ln w="9525">
              <a:solidFill>
                <a:schemeClr val="tx1"/>
              </a:solidFill>
              <a:prstDash val="lgDashDot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57" name="Text Box 242"/>
            <p:cNvSpPr txBox="1">
              <a:spLocks noChangeArrowheads="1"/>
            </p:cNvSpPr>
            <p:nvPr/>
          </p:nvSpPr>
          <p:spPr bwMode="auto">
            <a:xfrm>
              <a:off x="2957" y="3483"/>
              <a:ext cx="189"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b="0">
                <a:solidFill>
                  <a:schemeClr val="tx1"/>
                </a:solidFill>
                <a:latin typeface="Times New Roman" panose="02020603050405020304" pitchFamily="18" charset="0"/>
              </a:endParaRPr>
            </a:p>
          </p:txBody>
        </p:sp>
        <p:sp>
          <p:nvSpPr>
            <p:cNvPr id="63558" name="Text Box 243"/>
            <p:cNvSpPr txBox="1">
              <a:spLocks noChangeArrowheads="1"/>
            </p:cNvSpPr>
            <p:nvPr/>
          </p:nvSpPr>
          <p:spPr bwMode="auto">
            <a:xfrm>
              <a:off x="3146" y="3483"/>
              <a:ext cx="13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b="0">
                  <a:solidFill>
                    <a:schemeClr val="tx2"/>
                  </a:solidFill>
                  <a:latin typeface="Times New Roman" panose="02020603050405020304" pitchFamily="18" charset="0"/>
                </a:rPr>
                <a:t>^</a:t>
              </a:r>
              <a:endParaRPr lang="zh-CN" altLang="en-US" sz="1400" b="0">
                <a:solidFill>
                  <a:schemeClr val="tx2"/>
                </a:solidFill>
                <a:latin typeface="Times New Roman" panose="02020603050405020304" pitchFamily="18" charset="0"/>
              </a:endParaRPr>
            </a:p>
          </p:txBody>
        </p:sp>
        <p:sp>
          <p:nvSpPr>
            <p:cNvPr id="63559" name="Line 244"/>
            <p:cNvSpPr>
              <a:spLocks noChangeShapeType="1"/>
            </p:cNvSpPr>
            <p:nvPr/>
          </p:nvSpPr>
          <p:spPr bwMode="auto">
            <a:xfrm>
              <a:off x="2083" y="3237"/>
              <a:ext cx="26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60" name="Text Box 245"/>
            <p:cNvSpPr txBox="1">
              <a:spLocks noChangeArrowheads="1"/>
            </p:cNvSpPr>
            <p:nvPr/>
          </p:nvSpPr>
          <p:spPr bwMode="auto">
            <a:xfrm>
              <a:off x="2359" y="3147"/>
              <a:ext cx="188"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400" b="0" i="1">
                  <a:solidFill>
                    <a:schemeClr val="tx1"/>
                  </a:solidFill>
                  <a:latin typeface="Times New Roman" panose="02020603050405020304" pitchFamily="18" charset="0"/>
                </a:rPr>
                <a:t>a</a:t>
              </a:r>
              <a:endParaRPr lang="en-US" altLang="zh-CN" sz="1400" b="0" i="1">
                <a:solidFill>
                  <a:schemeClr val="tx1"/>
                </a:solidFill>
                <a:latin typeface="Times New Roman" panose="02020603050405020304" pitchFamily="18" charset="0"/>
              </a:endParaRPr>
            </a:p>
          </p:txBody>
        </p:sp>
        <p:sp>
          <p:nvSpPr>
            <p:cNvPr id="63561" name="Text Box 246"/>
            <p:cNvSpPr txBox="1">
              <a:spLocks noChangeArrowheads="1"/>
            </p:cNvSpPr>
            <p:nvPr/>
          </p:nvSpPr>
          <p:spPr bwMode="auto">
            <a:xfrm>
              <a:off x="2547" y="3147"/>
              <a:ext cx="13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b="0">
                <a:solidFill>
                  <a:schemeClr val="tx2"/>
                </a:solidFill>
                <a:latin typeface="Times New Roman" panose="02020603050405020304" pitchFamily="18" charset="0"/>
              </a:endParaRPr>
            </a:p>
          </p:txBody>
        </p:sp>
        <p:sp>
          <p:nvSpPr>
            <p:cNvPr id="63562" name="Line 247"/>
            <p:cNvSpPr>
              <a:spLocks noChangeShapeType="1"/>
            </p:cNvSpPr>
            <p:nvPr/>
          </p:nvSpPr>
          <p:spPr bwMode="auto">
            <a:xfrm>
              <a:off x="3164" y="3237"/>
              <a:ext cx="332" cy="0"/>
            </a:xfrm>
            <a:prstGeom prst="line">
              <a:avLst/>
            </a:prstGeom>
            <a:noFill/>
            <a:ln w="9525">
              <a:solidFill>
                <a:schemeClr val="tx1"/>
              </a:solidFill>
              <a:prstDash val="lgDashDot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63" name="Text Box 248"/>
            <p:cNvSpPr txBox="1">
              <a:spLocks noChangeArrowheads="1"/>
            </p:cNvSpPr>
            <p:nvPr/>
          </p:nvSpPr>
          <p:spPr bwMode="auto">
            <a:xfrm>
              <a:off x="3505" y="3147"/>
              <a:ext cx="188"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b="0">
                <a:solidFill>
                  <a:schemeClr val="tx1"/>
                </a:solidFill>
                <a:latin typeface="Times New Roman" panose="02020603050405020304" pitchFamily="18" charset="0"/>
              </a:endParaRPr>
            </a:p>
          </p:txBody>
        </p:sp>
        <p:sp>
          <p:nvSpPr>
            <p:cNvPr id="63564" name="Text Box 249"/>
            <p:cNvSpPr txBox="1">
              <a:spLocks noChangeArrowheads="1"/>
            </p:cNvSpPr>
            <p:nvPr/>
          </p:nvSpPr>
          <p:spPr bwMode="auto">
            <a:xfrm>
              <a:off x="3693" y="3147"/>
              <a:ext cx="132"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400" b="0">
                  <a:solidFill>
                    <a:schemeClr val="tx2"/>
                  </a:solidFill>
                  <a:latin typeface="Times New Roman" panose="02020603050405020304" pitchFamily="18" charset="0"/>
                </a:rPr>
                <a:t>^</a:t>
              </a:r>
              <a:endParaRPr lang="zh-CN" altLang="en-US" sz="1400" b="0">
                <a:solidFill>
                  <a:schemeClr val="tx2"/>
                </a:solidFill>
                <a:latin typeface="Times New Roman" panose="02020603050405020304" pitchFamily="18" charset="0"/>
              </a:endParaRPr>
            </a:p>
          </p:txBody>
        </p:sp>
        <p:sp>
          <p:nvSpPr>
            <p:cNvPr id="63565" name="Text Box 250"/>
            <p:cNvSpPr txBox="1">
              <a:spLocks noChangeArrowheads="1"/>
            </p:cNvSpPr>
            <p:nvPr/>
          </p:nvSpPr>
          <p:spPr bwMode="auto">
            <a:xfrm>
              <a:off x="1881" y="3071"/>
              <a:ext cx="2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en-US" altLang="zh-CN" sz="1400" b="0">
                  <a:solidFill>
                    <a:schemeClr val="tx1"/>
                  </a:solidFill>
                  <a:latin typeface="Times New Roman" panose="02020603050405020304" pitchFamily="18" charset="0"/>
                </a:rPr>
                <a:t>av</a:t>
              </a:r>
              <a:endParaRPr lang="en-US" altLang="zh-CN" sz="1400" b="0">
                <a:solidFill>
                  <a:schemeClr val="tx1"/>
                </a:solidFill>
                <a:latin typeface="Times New Roman" panose="02020603050405020304" pitchFamily="18" charset="0"/>
              </a:endParaRPr>
            </a:p>
          </p:txBody>
        </p:sp>
        <p:sp>
          <p:nvSpPr>
            <p:cNvPr id="63566" name="Text Box 251"/>
            <p:cNvSpPr txBox="1">
              <a:spLocks noChangeArrowheads="1"/>
            </p:cNvSpPr>
            <p:nvPr/>
          </p:nvSpPr>
          <p:spPr bwMode="auto">
            <a:xfrm>
              <a:off x="961" y="3279"/>
              <a:ext cx="88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200" b="0">
                  <a:solidFill>
                    <a:schemeClr val="tx1"/>
                  </a:solidFill>
                  <a:latin typeface="Times New Roman" panose="02020603050405020304" pitchFamily="18" charset="0"/>
                </a:rPr>
                <a:t>编程使用的链表</a:t>
              </a:r>
              <a:endParaRPr lang="en-US" altLang="zh-CN" sz="1200" b="0">
                <a:solidFill>
                  <a:schemeClr val="tx1"/>
                </a:solidFill>
                <a:latin typeface="Times New Roman" panose="02020603050405020304" pitchFamily="18" charset="0"/>
              </a:endParaRPr>
            </a:p>
          </p:txBody>
        </p:sp>
        <p:sp>
          <p:nvSpPr>
            <p:cNvPr id="63567" name="Line 252"/>
            <p:cNvSpPr>
              <a:spLocks noChangeShapeType="1"/>
            </p:cNvSpPr>
            <p:nvPr/>
          </p:nvSpPr>
          <p:spPr bwMode="auto">
            <a:xfrm>
              <a:off x="964" y="1892"/>
              <a:ext cx="3029" cy="0"/>
            </a:xfrm>
            <a:prstGeom prst="line">
              <a:avLst/>
            </a:prstGeom>
            <a:noFill/>
            <a:ln w="9525">
              <a:solidFill>
                <a:schemeClr val="hlink"/>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63568" name="Line 253"/>
            <p:cNvSpPr>
              <a:spLocks noChangeShapeType="1"/>
            </p:cNvSpPr>
            <p:nvPr/>
          </p:nvSpPr>
          <p:spPr bwMode="auto">
            <a:xfrm>
              <a:off x="964" y="2996"/>
              <a:ext cx="3029" cy="0"/>
            </a:xfrm>
            <a:prstGeom prst="line">
              <a:avLst/>
            </a:prstGeom>
            <a:noFill/>
            <a:ln w="9525">
              <a:solidFill>
                <a:schemeClr val="hlink"/>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63569" name="Text Box 254"/>
            <p:cNvSpPr txBox="1">
              <a:spLocks noChangeArrowheads="1"/>
            </p:cNvSpPr>
            <p:nvPr/>
          </p:nvSpPr>
          <p:spPr bwMode="auto">
            <a:xfrm>
              <a:off x="944" y="2390"/>
              <a:ext cx="88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200" b="0">
                  <a:solidFill>
                    <a:schemeClr val="tx1"/>
                  </a:solidFill>
                  <a:latin typeface="Times New Roman" panose="02020603050405020304" pitchFamily="18" charset="0"/>
                </a:rPr>
                <a:t>编程使用的链表</a:t>
              </a:r>
              <a:endParaRPr lang="en-US" altLang="zh-CN" sz="1200" b="0">
                <a:solidFill>
                  <a:schemeClr val="tx1"/>
                </a:solidFill>
                <a:latin typeface="Times New Roman" panose="02020603050405020304" pitchFamily="18" charset="0"/>
              </a:endParaRPr>
            </a:p>
          </p:txBody>
        </p:sp>
        <p:sp>
          <p:nvSpPr>
            <p:cNvPr id="63570" name="Text Box 255"/>
            <p:cNvSpPr txBox="1">
              <a:spLocks noChangeArrowheads="1"/>
            </p:cNvSpPr>
            <p:nvPr/>
          </p:nvSpPr>
          <p:spPr bwMode="auto">
            <a:xfrm>
              <a:off x="944" y="1322"/>
              <a:ext cx="88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200" b="0">
                  <a:solidFill>
                    <a:schemeClr val="tx1"/>
                  </a:solidFill>
                  <a:latin typeface="Times New Roman" panose="02020603050405020304" pitchFamily="18" charset="0"/>
                </a:rPr>
                <a:t>编程使用的链表</a:t>
              </a:r>
              <a:endParaRPr lang="en-US" altLang="zh-CN" sz="1200" b="0">
                <a:solidFill>
                  <a:schemeClr val="tx1"/>
                </a:solidFill>
                <a:latin typeface="Times New Roman" panose="02020603050405020304" pitchFamily="18" charset="0"/>
              </a:endParaRPr>
            </a:p>
          </p:txBody>
        </p:sp>
        <p:sp>
          <p:nvSpPr>
            <p:cNvPr id="63571" name="Text Box 256"/>
            <p:cNvSpPr txBox="1">
              <a:spLocks noChangeArrowheads="1"/>
            </p:cNvSpPr>
            <p:nvPr/>
          </p:nvSpPr>
          <p:spPr bwMode="auto">
            <a:xfrm>
              <a:off x="816" y="2530"/>
              <a:ext cx="4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400" b="0">
                  <a:solidFill>
                    <a:schemeClr val="tx1"/>
                  </a:solidFill>
                  <a:latin typeface="Times New Roman" panose="02020603050405020304" pitchFamily="18" charset="0"/>
                </a:rPr>
                <a:t>head</a:t>
              </a:r>
              <a:endParaRPr lang="en-US" altLang="zh-CN" sz="1400" b="0">
                <a:solidFill>
                  <a:schemeClr val="tx1"/>
                </a:solidFill>
                <a:latin typeface="Times New Roman" panose="02020603050405020304" pitchFamily="18" charset="0"/>
              </a:endParaRPr>
            </a:p>
          </p:txBody>
        </p:sp>
        <p:sp>
          <p:nvSpPr>
            <p:cNvPr id="63572" name="Text Box 257"/>
            <p:cNvSpPr txBox="1">
              <a:spLocks noChangeArrowheads="1"/>
            </p:cNvSpPr>
            <p:nvPr/>
          </p:nvSpPr>
          <p:spPr bwMode="auto">
            <a:xfrm>
              <a:off x="849" y="1462"/>
              <a:ext cx="4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400" b="0">
                  <a:solidFill>
                    <a:schemeClr val="tx1"/>
                  </a:solidFill>
                  <a:latin typeface="Times New Roman" panose="02020603050405020304" pitchFamily="18" charset="0"/>
                </a:rPr>
                <a:t>head</a:t>
              </a:r>
              <a:endParaRPr lang="en-US" altLang="zh-CN" sz="1400" b="0">
                <a:solidFill>
                  <a:schemeClr val="tx1"/>
                </a:solidFill>
                <a:latin typeface="Times New Roman" panose="02020603050405020304" pitchFamily="18" charset="0"/>
              </a:endParaRPr>
            </a:p>
          </p:txBody>
        </p:sp>
        <p:sp>
          <p:nvSpPr>
            <p:cNvPr id="63573" name="Line 258"/>
            <p:cNvSpPr>
              <a:spLocks noChangeShapeType="1"/>
            </p:cNvSpPr>
            <p:nvPr/>
          </p:nvSpPr>
          <p:spPr bwMode="auto">
            <a:xfrm>
              <a:off x="2096" y="2133"/>
              <a:ext cx="167" cy="0"/>
            </a:xfrm>
            <a:prstGeom prst="line">
              <a:avLst/>
            </a:prstGeom>
            <a:noFill/>
            <a:ln w="9525">
              <a:solidFill>
                <a:schemeClr val="accent2"/>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74" name="Line 259"/>
            <p:cNvSpPr>
              <a:spLocks noChangeShapeType="1"/>
            </p:cNvSpPr>
            <p:nvPr/>
          </p:nvSpPr>
          <p:spPr bwMode="auto">
            <a:xfrm flipH="1" flipV="1">
              <a:off x="2357" y="2230"/>
              <a:ext cx="272" cy="43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75" name="Line 260"/>
            <p:cNvSpPr>
              <a:spLocks noChangeShapeType="1"/>
            </p:cNvSpPr>
            <p:nvPr/>
          </p:nvSpPr>
          <p:spPr bwMode="auto">
            <a:xfrm>
              <a:off x="2037" y="2194"/>
              <a:ext cx="384" cy="38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76" name="Freeform 261"/>
            <p:cNvSpPr/>
            <p:nvPr/>
          </p:nvSpPr>
          <p:spPr bwMode="auto">
            <a:xfrm>
              <a:off x="2063" y="2667"/>
              <a:ext cx="920" cy="208"/>
            </a:xfrm>
            <a:custGeom>
              <a:avLst/>
              <a:gdLst>
                <a:gd name="T0" fmla="*/ 8 w 920"/>
                <a:gd name="T1" fmla="*/ 0 h 208"/>
                <a:gd name="T2" fmla="*/ 56 w 920"/>
                <a:gd name="T3" fmla="*/ 144 h 208"/>
                <a:gd name="T4" fmla="*/ 344 w 920"/>
                <a:gd name="T5" fmla="*/ 192 h 208"/>
                <a:gd name="T6" fmla="*/ 824 w 920"/>
                <a:gd name="T7" fmla="*/ 192 h 208"/>
                <a:gd name="T8" fmla="*/ 920 w 920"/>
                <a:gd name="T9" fmla="*/ 96 h 208"/>
                <a:gd name="T10" fmla="*/ 0 60000 65536"/>
                <a:gd name="T11" fmla="*/ 0 60000 65536"/>
                <a:gd name="T12" fmla="*/ 0 60000 65536"/>
                <a:gd name="T13" fmla="*/ 0 60000 65536"/>
                <a:gd name="T14" fmla="*/ 0 60000 65536"/>
                <a:gd name="T15" fmla="*/ 0 w 920"/>
                <a:gd name="T16" fmla="*/ 0 h 208"/>
                <a:gd name="T17" fmla="*/ 920 w 920"/>
                <a:gd name="T18" fmla="*/ 208 h 208"/>
              </a:gdLst>
              <a:ahLst/>
              <a:cxnLst>
                <a:cxn ang="T10">
                  <a:pos x="T0" y="T1"/>
                </a:cxn>
                <a:cxn ang="T11">
                  <a:pos x="T2" y="T3"/>
                </a:cxn>
                <a:cxn ang="T12">
                  <a:pos x="T4" y="T5"/>
                </a:cxn>
                <a:cxn ang="T13">
                  <a:pos x="T6" y="T7"/>
                </a:cxn>
                <a:cxn ang="T14">
                  <a:pos x="T8" y="T9"/>
                </a:cxn>
              </a:cxnLst>
              <a:rect l="T15" t="T16" r="T17" b="T18"/>
              <a:pathLst>
                <a:path w="920" h="208">
                  <a:moveTo>
                    <a:pt x="8" y="0"/>
                  </a:moveTo>
                  <a:cubicBezTo>
                    <a:pt x="4" y="56"/>
                    <a:pt x="0" y="112"/>
                    <a:pt x="56" y="144"/>
                  </a:cubicBezTo>
                  <a:cubicBezTo>
                    <a:pt x="112" y="176"/>
                    <a:pt x="216" y="184"/>
                    <a:pt x="344" y="192"/>
                  </a:cubicBezTo>
                  <a:cubicBezTo>
                    <a:pt x="472" y="200"/>
                    <a:pt x="728" y="208"/>
                    <a:pt x="824" y="192"/>
                  </a:cubicBezTo>
                  <a:cubicBezTo>
                    <a:pt x="920" y="176"/>
                    <a:pt x="920" y="136"/>
                    <a:pt x="920" y="96"/>
                  </a:cubicBezTo>
                </a:path>
              </a:pathLst>
            </a:custGeom>
            <a:noFill/>
            <a:ln w="952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577" name="Line 262"/>
            <p:cNvSpPr>
              <a:spLocks noChangeShapeType="1"/>
            </p:cNvSpPr>
            <p:nvPr/>
          </p:nvSpPr>
          <p:spPr bwMode="auto">
            <a:xfrm>
              <a:off x="2623" y="3236"/>
              <a:ext cx="26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78" name="Text Box 263"/>
            <p:cNvSpPr txBox="1">
              <a:spLocks noChangeArrowheads="1"/>
            </p:cNvSpPr>
            <p:nvPr/>
          </p:nvSpPr>
          <p:spPr bwMode="auto">
            <a:xfrm>
              <a:off x="2899" y="3146"/>
              <a:ext cx="189"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400" b="0">
                <a:solidFill>
                  <a:schemeClr val="tx1"/>
                </a:solidFill>
                <a:latin typeface="Times New Roman" panose="02020603050405020304" pitchFamily="18" charset="0"/>
              </a:endParaRPr>
            </a:p>
          </p:txBody>
        </p:sp>
        <p:sp>
          <p:nvSpPr>
            <p:cNvPr id="63579" name="Text Box 264"/>
            <p:cNvSpPr txBox="1">
              <a:spLocks noChangeArrowheads="1"/>
            </p:cNvSpPr>
            <p:nvPr/>
          </p:nvSpPr>
          <p:spPr bwMode="auto">
            <a:xfrm>
              <a:off x="3088" y="3146"/>
              <a:ext cx="131"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200" b="0">
                <a:solidFill>
                  <a:schemeClr val="tx2"/>
                </a:solidFill>
                <a:latin typeface="Times New Roman" panose="02020603050405020304" pitchFamily="18" charset="0"/>
              </a:endParaRPr>
            </a:p>
          </p:txBody>
        </p:sp>
      </p:grpSp>
      <p:sp>
        <p:nvSpPr>
          <p:cNvPr id="63496" name="Text Box 265"/>
          <p:cNvSpPr txBox="1">
            <a:spLocks noChangeArrowheads="1"/>
          </p:cNvSpPr>
          <p:nvPr/>
        </p:nvSpPr>
        <p:spPr bwMode="auto">
          <a:xfrm>
            <a:off x="4911725" y="400367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400" b="0">
                <a:solidFill>
                  <a:schemeClr val="tx1"/>
                </a:solidFill>
                <a:latin typeface="Times New Roman" panose="02020603050405020304" pitchFamily="18" charset="0"/>
              </a:rPr>
              <a:t>q</a:t>
            </a:r>
            <a:endParaRPr lang="en-US" altLang="zh-CN" sz="1400" b="0">
              <a:solidFill>
                <a:schemeClr val="tx1"/>
              </a:solidFill>
              <a:latin typeface="Times New Roman" panose="02020603050405020304" pitchFamily="18" charset="0"/>
            </a:endParaRPr>
          </a:p>
        </p:txBody>
      </p:sp>
      <p:sp>
        <p:nvSpPr>
          <p:cNvPr id="63497" name="Line 266"/>
          <p:cNvSpPr>
            <a:spLocks noChangeShapeType="1"/>
          </p:cNvSpPr>
          <p:nvPr/>
        </p:nvSpPr>
        <p:spPr bwMode="auto">
          <a:xfrm flipV="1">
            <a:off x="5148263" y="3933825"/>
            <a:ext cx="360362" cy="2159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498" name="Text Box 268"/>
          <p:cNvSpPr txBox="1">
            <a:spLocks noChangeArrowheads="1"/>
          </p:cNvSpPr>
          <p:nvPr/>
        </p:nvSpPr>
        <p:spPr bwMode="auto">
          <a:xfrm>
            <a:off x="5694363" y="3227388"/>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400" b="0">
                <a:solidFill>
                  <a:schemeClr val="tx1"/>
                </a:solidFill>
                <a:latin typeface="Times New Roman" panose="02020603050405020304" pitchFamily="18" charset="0"/>
              </a:rPr>
              <a:t>p</a:t>
            </a:r>
            <a:endParaRPr lang="en-US" altLang="zh-CN" sz="1400" b="0">
              <a:solidFill>
                <a:schemeClr val="tx1"/>
              </a:solidFill>
              <a:latin typeface="Times New Roman" panose="02020603050405020304" pitchFamily="18" charset="0"/>
            </a:endParaRPr>
          </a:p>
        </p:txBody>
      </p:sp>
      <p:sp>
        <p:nvSpPr>
          <p:cNvPr id="63499" name="Line 269"/>
          <p:cNvSpPr>
            <a:spLocks noChangeShapeType="1"/>
          </p:cNvSpPr>
          <p:nvPr/>
        </p:nvSpPr>
        <p:spPr bwMode="auto">
          <a:xfrm>
            <a:off x="5940425" y="3500438"/>
            <a:ext cx="360363" cy="1444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A3C1AAA1-0733-44BC-A9F9-F03D156536AF}"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65539"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3.2 </a:t>
            </a:r>
            <a:r>
              <a:rPr lang="zh-CN" altLang="en-US" sz="2400">
                <a:latin typeface="宋体" panose="02010600030101010101" pitchFamily="2" charset="-122"/>
                <a:ea typeface="宋体" panose="02010600030101010101" pitchFamily="2" charset="-122"/>
              </a:rPr>
              <a:t>线性表</a:t>
            </a:r>
            <a:endParaRPr lang="zh-CN" altLang="en-US" sz="2400">
              <a:latin typeface="宋体" panose="02010600030101010101" pitchFamily="2" charset="-122"/>
              <a:ea typeface="宋体" panose="02010600030101010101" pitchFamily="2" charset="-122"/>
            </a:endParaRPr>
          </a:p>
        </p:txBody>
      </p:sp>
      <p:sp>
        <p:nvSpPr>
          <p:cNvPr id="40964" name="Rectangle 3"/>
          <p:cNvSpPr>
            <a:spLocks noGrp="1" noChangeArrowheads="1"/>
          </p:cNvSpPr>
          <p:nvPr>
            <p:ph type="body" idx="1"/>
          </p:nvPr>
        </p:nvSpPr>
        <p:spPr>
          <a:xfrm>
            <a:off x="0" y="1052513"/>
            <a:ext cx="9144000" cy="5689600"/>
          </a:xfrm>
        </p:spPr>
        <p:txBody>
          <a:bodyPr>
            <a:normAutofit fontScale="70000" lnSpcReduction="20000"/>
          </a:bodyPr>
          <a:lstStyle/>
          <a:p>
            <a:pPr marL="285750" indent="-285750">
              <a:defRPr/>
            </a:pPr>
            <a:r>
              <a:rPr lang="zh-CN" altLang="en-US" dirty="0">
                <a:solidFill>
                  <a:schemeClr val="bg1"/>
                </a:solidFill>
                <a:latin typeface="宋体" panose="02010600030101010101" pitchFamily="2" charset="-122"/>
                <a:ea typeface="宋体" panose="02010600030101010101" pitchFamily="2" charset="-122"/>
              </a:rPr>
              <a:t>单链表</a:t>
            </a:r>
            <a:endParaRPr lang="zh-CN" altLang="en-US" dirty="0">
              <a:solidFill>
                <a:schemeClr val="bg1"/>
              </a:solidFill>
              <a:latin typeface="宋体" panose="02010600030101010101" pitchFamily="2" charset="-122"/>
              <a:ea typeface="宋体" panose="02010600030101010101" pitchFamily="2" charset="-122"/>
            </a:endParaRPr>
          </a:p>
          <a:p>
            <a:pPr marL="862330" lvl="1">
              <a:defRPr/>
            </a:pPr>
            <a:endParaRPr lang="zh-CN" altLang="en-US" dirty="0">
              <a:solidFill>
                <a:schemeClr val="tx2"/>
              </a:solidFill>
              <a:latin typeface="宋体" panose="02010600030101010101" pitchFamily="2" charset="-122"/>
              <a:ea typeface="宋体" panose="02010600030101010101" pitchFamily="2" charset="-122"/>
            </a:endParaRPr>
          </a:p>
          <a:p>
            <a:pPr marL="862330" lvl="1">
              <a:defRPr/>
            </a:pPr>
            <a:endParaRPr lang="zh-CN" altLang="en-US" dirty="0">
              <a:solidFill>
                <a:schemeClr val="tx2"/>
              </a:solidFill>
              <a:latin typeface="宋体" panose="02010600030101010101" pitchFamily="2" charset="-122"/>
              <a:ea typeface="宋体" panose="02010600030101010101" pitchFamily="2" charset="-122"/>
            </a:endParaRPr>
          </a:p>
          <a:p>
            <a:pPr marL="862330" lvl="1">
              <a:defRPr/>
            </a:pPr>
            <a:endParaRPr lang="en-US" altLang="zh-CN" dirty="0">
              <a:solidFill>
                <a:schemeClr val="tx2"/>
              </a:solidFill>
              <a:latin typeface="宋体" panose="02010600030101010101" pitchFamily="2" charset="-122"/>
              <a:ea typeface="宋体" panose="02010600030101010101" pitchFamily="2" charset="-122"/>
            </a:endParaRPr>
          </a:p>
          <a:p>
            <a:pPr marL="862330" lvl="1">
              <a:defRPr/>
            </a:pPr>
            <a:endParaRPr lang="en-US" altLang="zh-CN" dirty="0">
              <a:solidFill>
                <a:schemeClr val="tx2"/>
              </a:solidFill>
              <a:latin typeface="宋体" panose="02010600030101010101" pitchFamily="2" charset="-122"/>
              <a:ea typeface="宋体" panose="02010600030101010101" pitchFamily="2" charset="-122"/>
            </a:endParaRPr>
          </a:p>
          <a:p>
            <a:pPr marL="862330" lvl="1">
              <a:defRPr/>
            </a:pPr>
            <a:endParaRPr lang="en-US" altLang="zh-CN" dirty="0">
              <a:solidFill>
                <a:schemeClr val="tx2"/>
              </a:solidFill>
              <a:latin typeface="宋体" panose="02010600030101010101" pitchFamily="2" charset="-122"/>
              <a:ea typeface="宋体" panose="02010600030101010101" pitchFamily="2" charset="-122"/>
            </a:endParaRPr>
          </a:p>
          <a:p>
            <a:pPr marL="1262380" lvl="2">
              <a:defRPr/>
            </a:pPr>
            <a:r>
              <a:rPr lang="zh-CN" altLang="en-US" dirty="0">
                <a:solidFill>
                  <a:schemeClr val="bg1"/>
                </a:solidFill>
                <a:latin typeface="宋体" panose="02010600030101010101" pitchFamily="2" charset="-122"/>
                <a:ea typeface="宋体" panose="02010600030101010101" pitchFamily="2" charset="-122"/>
              </a:rPr>
              <a:t>最后一个结点的指针域的指针为空</a:t>
            </a:r>
            <a:endParaRPr lang="en-US" altLang="zh-CN" dirty="0">
              <a:solidFill>
                <a:schemeClr val="bg1"/>
              </a:solidFill>
              <a:latin typeface="宋体" panose="02010600030101010101" pitchFamily="2" charset="-122"/>
              <a:ea typeface="宋体" panose="02010600030101010101" pitchFamily="2" charset="-122"/>
            </a:endParaRPr>
          </a:p>
          <a:p>
            <a:pPr marL="2176780" lvl="4">
              <a:defRPr/>
            </a:pPr>
            <a:endParaRPr lang="en-US" altLang="zh-CN" dirty="0">
              <a:solidFill>
                <a:schemeClr val="bg1"/>
              </a:solidFill>
              <a:latin typeface="宋体" panose="02010600030101010101" pitchFamily="2" charset="-122"/>
              <a:ea typeface="宋体" panose="02010600030101010101" pitchFamily="2" charset="-122"/>
            </a:endParaRPr>
          </a:p>
          <a:p>
            <a:pPr marL="862330" lvl="1">
              <a:defRPr/>
            </a:pPr>
            <a:r>
              <a:rPr lang="zh-CN" altLang="en-US" dirty="0">
                <a:solidFill>
                  <a:schemeClr val="tx1"/>
                </a:solidFill>
                <a:latin typeface="宋体" panose="02010600030101010101" pitchFamily="2" charset="-122"/>
                <a:ea typeface="宋体" panose="02010600030101010101" pitchFamily="2" charset="-122"/>
              </a:rPr>
              <a:t>有时</a:t>
            </a:r>
            <a:r>
              <a:rPr lang="zh-CN" altLang="en-US" dirty="0">
                <a:solidFill>
                  <a:schemeClr val="bg1"/>
                </a:solidFill>
                <a:latin typeface="宋体" panose="02010600030101010101" pitchFamily="2" charset="-122"/>
                <a:ea typeface="宋体" panose="02010600030101010101" pitchFamily="2" charset="-122"/>
              </a:rPr>
              <a:t>可以在第一个结点之前加一个头结点，其结构与其它结点相同，但数据域中不存放数据元素，指针域指向第一个数据元素。</a:t>
            </a:r>
            <a:endParaRPr lang="en-US" altLang="zh-CN" dirty="0">
              <a:solidFill>
                <a:schemeClr val="bg1"/>
              </a:solidFill>
              <a:latin typeface="宋体" panose="02010600030101010101" pitchFamily="2" charset="-122"/>
              <a:ea typeface="宋体" panose="02010600030101010101" pitchFamily="2" charset="-122"/>
            </a:endParaRPr>
          </a:p>
          <a:p>
            <a:pPr marL="862330" lvl="1">
              <a:defRPr/>
            </a:pPr>
            <a:r>
              <a:rPr lang="zh-CN" altLang="en-US" dirty="0">
                <a:solidFill>
                  <a:schemeClr val="bg1"/>
                </a:solidFill>
                <a:latin typeface="宋体" panose="02010600030101010101" pitchFamily="2" charset="-122"/>
                <a:ea typeface="宋体" panose="02010600030101010101" pitchFamily="2" charset="-122"/>
              </a:rPr>
              <a:t>当表空时只有一个头结点，它的指针域为空。</a:t>
            </a:r>
            <a:endParaRPr lang="zh-CN" altLang="en-US" dirty="0">
              <a:solidFill>
                <a:schemeClr val="bg1"/>
              </a:solidFill>
              <a:latin typeface="宋体" panose="02010600030101010101" pitchFamily="2" charset="-122"/>
              <a:ea typeface="宋体" panose="02010600030101010101" pitchFamily="2" charset="-122"/>
            </a:endParaRPr>
          </a:p>
          <a:p>
            <a:pPr marL="862330" lvl="1">
              <a:defRPr/>
            </a:pPr>
            <a:endParaRPr lang="en-US" altLang="zh-CN" dirty="0">
              <a:solidFill>
                <a:schemeClr val="tx2"/>
              </a:solidFill>
              <a:latin typeface="宋体" panose="02010600030101010101" pitchFamily="2" charset="-122"/>
              <a:ea typeface="宋体" panose="02010600030101010101" pitchFamily="2" charset="-122"/>
            </a:endParaRPr>
          </a:p>
          <a:p>
            <a:pPr marL="862330" lvl="1">
              <a:defRPr/>
            </a:pPr>
            <a:endParaRPr lang="en-US" altLang="zh-CN" dirty="0">
              <a:solidFill>
                <a:schemeClr val="tx2"/>
              </a:solidFill>
              <a:latin typeface="宋体" panose="02010600030101010101" pitchFamily="2" charset="-122"/>
              <a:ea typeface="宋体" panose="02010600030101010101" pitchFamily="2" charset="-122"/>
            </a:endParaRPr>
          </a:p>
          <a:p>
            <a:pPr marL="862330" lvl="1">
              <a:defRPr/>
            </a:pPr>
            <a:endParaRPr lang="en-US" altLang="zh-CN" dirty="0">
              <a:solidFill>
                <a:schemeClr val="tx2"/>
              </a:solidFill>
              <a:latin typeface="宋体" panose="02010600030101010101" pitchFamily="2" charset="-122"/>
              <a:ea typeface="宋体" panose="02010600030101010101" pitchFamily="2" charset="-122"/>
            </a:endParaRPr>
          </a:p>
          <a:p>
            <a:pPr marL="862330" lvl="1">
              <a:defRPr/>
            </a:pPr>
            <a:endParaRPr lang="en-US" altLang="zh-CN" dirty="0">
              <a:solidFill>
                <a:schemeClr val="tx2"/>
              </a:solidFill>
              <a:latin typeface="宋体" panose="02010600030101010101" pitchFamily="2" charset="-122"/>
              <a:ea typeface="宋体" panose="02010600030101010101" pitchFamily="2" charset="-122"/>
            </a:endParaRPr>
          </a:p>
          <a:p>
            <a:pPr marL="2384425" lvl="4">
              <a:buFontTx/>
              <a:buNone/>
              <a:defRPr/>
            </a:pPr>
            <a:endParaRPr lang="en-US" altLang="zh-CN" dirty="0">
              <a:solidFill>
                <a:schemeClr val="tx2"/>
              </a:solidFill>
              <a:latin typeface="宋体" panose="02010600030101010101" pitchFamily="2" charset="-122"/>
              <a:ea typeface="宋体" panose="02010600030101010101" pitchFamily="2" charset="-122"/>
            </a:endParaRPr>
          </a:p>
          <a:p>
            <a:pPr marL="2384425" lvl="4">
              <a:buFontTx/>
              <a:buNone/>
              <a:defRPr/>
            </a:pPr>
            <a:endParaRPr lang="en-US" altLang="zh-CN" dirty="0">
              <a:solidFill>
                <a:schemeClr val="tx2"/>
              </a:solidFill>
              <a:latin typeface="宋体" panose="02010600030101010101" pitchFamily="2" charset="-122"/>
              <a:ea typeface="宋体" panose="02010600030101010101" pitchFamily="2" charset="-122"/>
            </a:endParaRPr>
          </a:p>
          <a:p>
            <a:pPr marL="2384425" lvl="4">
              <a:buFontTx/>
              <a:buNone/>
              <a:defRPr/>
            </a:pPr>
            <a:endParaRPr lang="en-US" altLang="zh-CN" dirty="0">
              <a:solidFill>
                <a:schemeClr val="tx2"/>
              </a:solidFill>
              <a:latin typeface="宋体" panose="02010600030101010101" pitchFamily="2" charset="-122"/>
              <a:ea typeface="宋体" panose="02010600030101010101" pitchFamily="2" charset="-122"/>
            </a:endParaRPr>
          </a:p>
          <a:p>
            <a:pPr marL="2384425" lvl="4">
              <a:buFontTx/>
              <a:buNone/>
              <a:defRPr/>
            </a:pPr>
            <a:endParaRPr lang="en-US" altLang="zh-CN" dirty="0">
              <a:solidFill>
                <a:schemeClr val="tx2"/>
              </a:solidFill>
              <a:latin typeface="宋体" panose="02010600030101010101" pitchFamily="2" charset="-122"/>
              <a:ea typeface="宋体" panose="02010600030101010101" pitchFamily="2" charset="-122"/>
            </a:endParaRPr>
          </a:p>
          <a:p>
            <a:pPr marL="1262380" lvl="2">
              <a:defRPr/>
            </a:pPr>
            <a:r>
              <a:rPr lang="zh-CN" altLang="en-US" dirty="0">
                <a:solidFill>
                  <a:schemeClr val="bg1"/>
                </a:solidFill>
                <a:latin typeface="宋体" panose="02010600030101010101" pitchFamily="2" charset="-122"/>
                <a:ea typeface="宋体" panose="02010600030101010101" pitchFamily="2" charset="-122"/>
              </a:rPr>
              <a:t>好处：便于表达一个空表。</a:t>
            </a:r>
            <a:endParaRPr lang="zh-CN" altLang="en-US" dirty="0">
              <a:solidFill>
                <a:schemeClr val="bg1"/>
              </a:solidFill>
              <a:latin typeface="宋体" panose="02010600030101010101" pitchFamily="2" charset="-122"/>
              <a:ea typeface="宋体" panose="02010600030101010101" pitchFamily="2" charset="-122"/>
            </a:endParaRPr>
          </a:p>
        </p:txBody>
      </p:sp>
      <p:grpSp>
        <p:nvGrpSpPr>
          <p:cNvPr id="65541" name="Group 4"/>
          <p:cNvGrpSpPr/>
          <p:nvPr/>
        </p:nvGrpSpPr>
        <p:grpSpPr bwMode="auto">
          <a:xfrm>
            <a:off x="468313" y="1557338"/>
            <a:ext cx="8207375" cy="1574800"/>
            <a:chOff x="612" y="1117"/>
            <a:chExt cx="5035" cy="992"/>
          </a:xfrm>
        </p:grpSpPr>
        <p:grpSp>
          <p:nvGrpSpPr>
            <p:cNvPr id="65567" name="Group 5"/>
            <p:cNvGrpSpPr/>
            <p:nvPr/>
          </p:nvGrpSpPr>
          <p:grpSpPr bwMode="auto">
            <a:xfrm>
              <a:off x="1486" y="1325"/>
              <a:ext cx="714" cy="201"/>
              <a:chOff x="3200" y="2623"/>
              <a:chExt cx="634" cy="179"/>
            </a:xfrm>
          </p:grpSpPr>
          <p:sp>
            <p:nvSpPr>
              <p:cNvPr id="65586" name="Text Box 6"/>
              <p:cNvSpPr txBox="1">
                <a:spLocks noChangeArrowheads="1"/>
              </p:cNvSpPr>
              <p:nvPr/>
            </p:nvSpPr>
            <p:spPr bwMode="auto">
              <a:xfrm>
                <a:off x="3200"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1"/>
                    </a:solidFill>
                    <a:latin typeface="Times New Roman" panose="02020603050405020304" pitchFamily="18" charset="0"/>
                  </a:rPr>
                  <a:t>a1</a:t>
                </a:r>
                <a:endParaRPr lang="en-US" altLang="zh-CN" sz="1600" b="0">
                  <a:solidFill>
                    <a:schemeClr val="tx1"/>
                  </a:solidFill>
                  <a:latin typeface="Times New Roman" panose="02020603050405020304" pitchFamily="18" charset="0"/>
                </a:endParaRPr>
              </a:p>
            </p:txBody>
          </p:sp>
          <p:sp>
            <p:nvSpPr>
              <p:cNvPr id="65587" name="Text Box 7"/>
              <p:cNvSpPr txBox="1">
                <a:spLocks noChangeArrowheads="1"/>
              </p:cNvSpPr>
              <p:nvPr/>
            </p:nvSpPr>
            <p:spPr bwMode="auto">
              <a:xfrm>
                <a:off x="3517"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2"/>
                    </a:solidFill>
                    <a:latin typeface="Times New Roman" panose="02020603050405020304" pitchFamily="18" charset="0"/>
                  </a:rPr>
                  <a:t>AB01</a:t>
                </a:r>
                <a:endParaRPr lang="zh-CN" altLang="en-US" sz="1600" b="0">
                  <a:solidFill>
                    <a:schemeClr val="tx2"/>
                  </a:solidFill>
                  <a:latin typeface="Times New Roman" panose="02020603050405020304" pitchFamily="18" charset="0"/>
                </a:endParaRPr>
              </a:p>
            </p:txBody>
          </p:sp>
        </p:grpSp>
        <p:sp>
          <p:nvSpPr>
            <p:cNvPr id="65568" name="Text Box 8"/>
            <p:cNvSpPr txBox="1">
              <a:spLocks noChangeArrowheads="1"/>
            </p:cNvSpPr>
            <p:nvPr/>
          </p:nvSpPr>
          <p:spPr bwMode="auto">
            <a:xfrm>
              <a:off x="612" y="1117"/>
              <a:ext cx="730" cy="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1"/>
                  </a:solidFill>
                  <a:latin typeface="Times New Roman" panose="02020603050405020304" pitchFamily="18" charset="0"/>
                </a:rPr>
                <a:t>Head </a:t>
              </a:r>
              <a:r>
                <a:rPr lang="zh-CN" altLang="en-US" sz="1600" b="0">
                  <a:solidFill>
                    <a:schemeClr val="tx1"/>
                  </a:solidFill>
                  <a:latin typeface="Times New Roman" panose="02020603050405020304" pitchFamily="18" charset="0"/>
                </a:rPr>
                <a:t>地址</a:t>
              </a:r>
              <a:endParaRPr lang="zh-CN" altLang="en-US" sz="1600" b="0">
                <a:solidFill>
                  <a:schemeClr val="tx1"/>
                </a:solidFill>
                <a:latin typeface="Times New Roman" panose="02020603050405020304" pitchFamily="18" charset="0"/>
              </a:endParaRPr>
            </a:p>
            <a:p>
              <a:pPr algn="ctr">
                <a:spcBef>
                  <a:spcPct val="50000"/>
                </a:spcBef>
                <a:buFontTx/>
                <a:buNone/>
              </a:pPr>
              <a:r>
                <a:rPr lang="en-US" altLang="zh-CN" sz="1600" b="0">
                  <a:solidFill>
                    <a:schemeClr val="tx1"/>
                  </a:solidFill>
                  <a:latin typeface="Times New Roman" panose="02020603050405020304" pitchFamily="18" charset="0"/>
                </a:rPr>
                <a:t>B03D</a:t>
              </a:r>
              <a:endParaRPr lang="en-US" altLang="zh-CN" sz="1600" b="0">
                <a:solidFill>
                  <a:schemeClr val="tx1"/>
                </a:solidFill>
                <a:latin typeface="Times New Roman" panose="02020603050405020304" pitchFamily="18" charset="0"/>
              </a:endParaRPr>
            </a:p>
          </p:txBody>
        </p:sp>
        <p:sp>
          <p:nvSpPr>
            <p:cNvPr id="65569" name="Line 9"/>
            <p:cNvSpPr>
              <a:spLocks noChangeShapeType="1"/>
            </p:cNvSpPr>
            <p:nvPr/>
          </p:nvSpPr>
          <p:spPr bwMode="auto">
            <a:xfrm flipV="1">
              <a:off x="1127" y="1326"/>
              <a:ext cx="347" cy="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70" name="Line 10"/>
            <p:cNvSpPr>
              <a:spLocks noChangeShapeType="1"/>
            </p:cNvSpPr>
            <p:nvPr/>
          </p:nvSpPr>
          <p:spPr bwMode="auto">
            <a:xfrm>
              <a:off x="2153" y="1427"/>
              <a:ext cx="357" cy="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71" name="Text Box 11"/>
            <p:cNvSpPr txBox="1">
              <a:spLocks noChangeArrowheads="1"/>
            </p:cNvSpPr>
            <p:nvPr/>
          </p:nvSpPr>
          <p:spPr bwMode="auto">
            <a:xfrm>
              <a:off x="2315" y="1236"/>
              <a:ext cx="30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en-US" altLang="zh-CN" sz="1600" b="0">
                  <a:solidFill>
                    <a:schemeClr val="tx1"/>
                  </a:solidFill>
                  <a:latin typeface="Times New Roman" panose="02020603050405020304" pitchFamily="18" charset="0"/>
                </a:rPr>
                <a:t>AB01</a:t>
              </a:r>
              <a:endParaRPr lang="en-US" altLang="zh-CN" sz="1600" b="0">
                <a:solidFill>
                  <a:schemeClr val="tx1"/>
                </a:solidFill>
                <a:latin typeface="Times New Roman" panose="02020603050405020304" pitchFamily="18" charset="0"/>
              </a:endParaRPr>
            </a:p>
          </p:txBody>
        </p:sp>
        <p:grpSp>
          <p:nvGrpSpPr>
            <p:cNvPr id="65572" name="Group 12"/>
            <p:cNvGrpSpPr/>
            <p:nvPr/>
          </p:nvGrpSpPr>
          <p:grpSpPr bwMode="auto">
            <a:xfrm>
              <a:off x="2524" y="1436"/>
              <a:ext cx="714" cy="201"/>
              <a:chOff x="3200" y="2623"/>
              <a:chExt cx="634" cy="179"/>
            </a:xfrm>
          </p:grpSpPr>
          <p:sp>
            <p:nvSpPr>
              <p:cNvPr id="65584" name="Text Box 13"/>
              <p:cNvSpPr txBox="1">
                <a:spLocks noChangeArrowheads="1"/>
              </p:cNvSpPr>
              <p:nvPr/>
            </p:nvSpPr>
            <p:spPr bwMode="auto">
              <a:xfrm>
                <a:off x="3200"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1"/>
                    </a:solidFill>
                    <a:latin typeface="Times New Roman" panose="02020603050405020304" pitchFamily="18" charset="0"/>
                  </a:rPr>
                  <a:t>a2</a:t>
                </a:r>
                <a:endParaRPr lang="en-US" altLang="zh-CN" sz="1600" b="0">
                  <a:solidFill>
                    <a:schemeClr val="tx1"/>
                  </a:solidFill>
                  <a:latin typeface="Times New Roman" panose="02020603050405020304" pitchFamily="18" charset="0"/>
                </a:endParaRPr>
              </a:p>
            </p:txBody>
          </p:sp>
          <p:sp>
            <p:nvSpPr>
              <p:cNvPr id="65585" name="Text Box 14"/>
              <p:cNvSpPr txBox="1">
                <a:spLocks noChangeArrowheads="1"/>
              </p:cNvSpPr>
              <p:nvPr/>
            </p:nvSpPr>
            <p:spPr bwMode="auto">
              <a:xfrm>
                <a:off x="3517"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2"/>
                    </a:solidFill>
                    <a:latin typeface="Times New Roman" panose="02020603050405020304" pitchFamily="18" charset="0"/>
                  </a:rPr>
                  <a:t>DA29</a:t>
                </a:r>
                <a:endParaRPr lang="zh-CN" altLang="en-US" sz="1600" b="0">
                  <a:solidFill>
                    <a:schemeClr val="tx2"/>
                  </a:solidFill>
                  <a:latin typeface="Times New Roman" panose="02020603050405020304" pitchFamily="18" charset="0"/>
                </a:endParaRPr>
              </a:p>
            </p:txBody>
          </p:sp>
        </p:grpSp>
        <p:grpSp>
          <p:nvGrpSpPr>
            <p:cNvPr id="65573" name="Group 15"/>
            <p:cNvGrpSpPr/>
            <p:nvPr/>
          </p:nvGrpSpPr>
          <p:grpSpPr bwMode="auto">
            <a:xfrm>
              <a:off x="3574" y="1541"/>
              <a:ext cx="714" cy="201"/>
              <a:chOff x="3200" y="2623"/>
              <a:chExt cx="634" cy="179"/>
            </a:xfrm>
          </p:grpSpPr>
          <p:sp>
            <p:nvSpPr>
              <p:cNvPr id="65582" name="Text Box 16"/>
              <p:cNvSpPr txBox="1">
                <a:spLocks noChangeArrowheads="1"/>
              </p:cNvSpPr>
              <p:nvPr/>
            </p:nvSpPr>
            <p:spPr bwMode="auto">
              <a:xfrm>
                <a:off x="3200"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1"/>
                    </a:solidFill>
                    <a:latin typeface="Times New Roman" panose="02020603050405020304" pitchFamily="18" charset="0"/>
                  </a:rPr>
                  <a:t>a3</a:t>
                </a:r>
                <a:endParaRPr lang="en-US" altLang="zh-CN" sz="1600" b="0">
                  <a:solidFill>
                    <a:schemeClr val="tx1"/>
                  </a:solidFill>
                  <a:latin typeface="Times New Roman" panose="02020603050405020304" pitchFamily="18" charset="0"/>
                </a:endParaRPr>
              </a:p>
            </p:txBody>
          </p:sp>
          <p:sp>
            <p:nvSpPr>
              <p:cNvPr id="65583" name="Text Box 17"/>
              <p:cNvSpPr txBox="1">
                <a:spLocks noChangeArrowheads="1"/>
              </p:cNvSpPr>
              <p:nvPr/>
            </p:nvSpPr>
            <p:spPr bwMode="auto">
              <a:xfrm>
                <a:off x="3517"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2"/>
                    </a:solidFill>
                    <a:latin typeface="Times New Roman" panose="02020603050405020304" pitchFamily="18" charset="0"/>
                  </a:rPr>
                  <a:t>BEF5</a:t>
                </a:r>
                <a:endParaRPr lang="zh-CN" altLang="en-US" sz="1600" b="0">
                  <a:solidFill>
                    <a:schemeClr val="tx2"/>
                  </a:solidFill>
                  <a:latin typeface="Times New Roman" panose="02020603050405020304" pitchFamily="18" charset="0"/>
                </a:endParaRPr>
              </a:p>
            </p:txBody>
          </p:sp>
        </p:grpSp>
        <p:sp>
          <p:nvSpPr>
            <p:cNvPr id="65574" name="Line 18"/>
            <p:cNvSpPr>
              <a:spLocks noChangeShapeType="1"/>
            </p:cNvSpPr>
            <p:nvPr/>
          </p:nvSpPr>
          <p:spPr bwMode="auto">
            <a:xfrm>
              <a:off x="3196" y="1541"/>
              <a:ext cx="357" cy="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75" name="Text Box 19"/>
            <p:cNvSpPr txBox="1">
              <a:spLocks noChangeArrowheads="1"/>
            </p:cNvSpPr>
            <p:nvPr/>
          </p:nvSpPr>
          <p:spPr bwMode="auto">
            <a:xfrm>
              <a:off x="3364" y="1350"/>
              <a:ext cx="3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en-US" altLang="zh-CN" sz="1600" b="0">
                  <a:solidFill>
                    <a:schemeClr val="tx1"/>
                  </a:solidFill>
                  <a:latin typeface="Times New Roman" panose="02020603050405020304" pitchFamily="18" charset="0"/>
                </a:rPr>
                <a:t>DA29</a:t>
              </a:r>
              <a:endParaRPr lang="en-US" altLang="zh-CN" sz="1600" b="0">
                <a:solidFill>
                  <a:schemeClr val="tx1"/>
                </a:solidFill>
                <a:latin typeface="Times New Roman" panose="02020603050405020304" pitchFamily="18" charset="0"/>
              </a:endParaRPr>
            </a:p>
          </p:txBody>
        </p:sp>
        <p:grpSp>
          <p:nvGrpSpPr>
            <p:cNvPr id="65576" name="Group 20"/>
            <p:cNvGrpSpPr/>
            <p:nvPr/>
          </p:nvGrpSpPr>
          <p:grpSpPr bwMode="auto">
            <a:xfrm>
              <a:off x="4615" y="1641"/>
              <a:ext cx="714" cy="201"/>
              <a:chOff x="3200" y="2623"/>
              <a:chExt cx="634" cy="179"/>
            </a:xfrm>
          </p:grpSpPr>
          <p:sp>
            <p:nvSpPr>
              <p:cNvPr id="65580" name="Text Box 21"/>
              <p:cNvSpPr txBox="1">
                <a:spLocks noChangeArrowheads="1"/>
              </p:cNvSpPr>
              <p:nvPr/>
            </p:nvSpPr>
            <p:spPr bwMode="auto">
              <a:xfrm>
                <a:off x="3200"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1"/>
                    </a:solidFill>
                    <a:latin typeface="Times New Roman" panose="02020603050405020304" pitchFamily="18" charset="0"/>
                  </a:rPr>
                  <a:t>a4</a:t>
                </a:r>
                <a:endParaRPr lang="en-US" altLang="zh-CN" sz="1600" b="0">
                  <a:solidFill>
                    <a:schemeClr val="tx1"/>
                  </a:solidFill>
                  <a:latin typeface="Times New Roman" panose="02020603050405020304" pitchFamily="18" charset="0"/>
                </a:endParaRPr>
              </a:p>
            </p:txBody>
          </p:sp>
          <p:sp>
            <p:nvSpPr>
              <p:cNvPr id="65581" name="Text Box 22"/>
              <p:cNvSpPr txBox="1">
                <a:spLocks noChangeArrowheads="1"/>
              </p:cNvSpPr>
              <p:nvPr/>
            </p:nvSpPr>
            <p:spPr bwMode="auto">
              <a:xfrm>
                <a:off x="3517"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2"/>
                    </a:solidFill>
                    <a:latin typeface="Times New Roman" panose="02020603050405020304" pitchFamily="18" charset="0"/>
                  </a:rPr>
                  <a:t>Nil</a:t>
                </a:r>
                <a:endParaRPr lang="en-US" altLang="zh-CN" sz="1600" b="0">
                  <a:solidFill>
                    <a:schemeClr val="tx2"/>
                  </a:solidFill>
                  <a:latin typeface="Times New Roman" panose="02020603050405020304" pitchFamily="18" charset="0"/>
                </a:endParaRPr>
              </a:p>
            </p:txBody>
          </p:sp>
        </p:grpSp>
        <p:sp>
          <p:nvSpPr>
            <p:cNvPr id="65577" name="Line 23"/>
            <p:cNvSpPr>
              <a:spLocks noChangeShapeType="1"/>
            </p:cNvSpPr>
            <p:nvPr/>
          </p:nvSpPr>
          <p:spPr bwMode="auto">
            <a:xfrm>
              <a:off x="4246" y="1641"/>
              <a:ext cx="357" cy="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78" name="Text Box 24"/>
            <p:cNvSpPr txBox="1">
              <a:spLocks noChangeArrowheads="1"/>
            </p:cNvSpPr>
            <p:nvPr/>
          </p:nvSpPr>
          <p:spPr bwMode="auto">
            <a:xfrm>
              <a:off x="4405" y="1450"/>
              <a:ext cx="3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en-US" altLang="zh-CN" sz="1600" b="0">
                  <a:solidFill>
                    <a:schemeClr val="tx1"/>
                  </a:solidFill>
                  <a:latin typeface="Times New Roman" panose="02020603050405020304" pitchFamily="18" charset="0"/>
                </a:rPr>
                <a:t>BEF5</a:t>
              </a:r>
              <a:endParaRPr lang="en-US" altLang="zh-CN" sz="1600" b="0">
                <a:solidFill>
                  <a:schemeClr val="tx1"/>
                </a:solidFill>
                <a:latin typeface="Times New Roman" panose="02020603050405020304" pitchFamily="18" charset="0"/>
              </a:endParaRPr>
            </a:p>
          </p:txBody>
        </p:sp>
        <p:sp>
          <p:nvSpPr>
            <p:cNvPr id="65579" name="Text Box 25"/>
            <p:cNvSpPr txBox="1">
              <a:spLocks noChangeArrowheads="1"/>
            </p:cNvSpPr>
            <p:nvPr/>
          </p:nvSpPr>
          <p:spPr bwMode="auto">
            <a:xfrm>
              <a:off x="4105" y="1897"/>
              <a:ext cx="154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1"/>
                  </a:solidFill>
                  <a:latin typeface="Times New Roman" panose="02020603050405020304" pitchFamily="18" charset="0"/>
                </a:rPr>
                <a:t>Nil </a:t>
              </a:r>
              <a:r>
                <a:rPr lang="zh-CN" altLang="en-US" sz="1600" b="0">
                  <a:solidFill>
                    <a:schemeClr val="tx1"/>
                  </a:solidFill>
                  <a:latin typeface="Times New Roman" panose="02020603050405020304" pitchFamily="18" charset="0"/>
                </a:rPr>
                <a:t>表示空指针（值为 0 ）</a:t>
              </a:r>
              <a:endParaRPr lang="zh-CN" altLang="en-US" sz="1600" b="0">
                <a:solidFill>
                  <a:schemeClr val="tx1"/>
                </a:solidFill>
                <a:latin typeface="Times New Roman" panose="02020603050405020304" pitchFamily="18" charset="0"/>
              </a:endParaRPr>
            </a:p>
          </p:txBody>
        </p:sp>
      </p:grpSp>
      <p:grpSp>
        <p:nvGrpSpPr>
          <p:cNvPr id="65542" name="组合 54"/>
          <p:cNvGrpSpPr/>
          <p:nvPr/>
        </p:nvGrpSpPr>
        <p:grpSpPr bwMode="auto">
          <a:xfrm>
            <a:off x="395288" y="4365625"/>
            <a:ext cx="8423275" cy="1574800"/>
            <a:chOff x="395536" y="4437112"/>
            <a:chExt cx="8423399" cy="1574800"/>
          </a:xfrm>
        </p:grpSpPr>
        <p:sp>
          <p:nvSpPr>
            <p:cNvPr id="65549" name="Text Box 8"/>
            <p:cNvSpPr txBox="1">
              <a:spLocks noChangeArrowheads="1"/>
            </p:cNvSpPr>
            <p:nvPr/>
          </p:nvSpPr>
          <p:spPr bwMode="auto">
            <a:xfrm>
              <a:off x="395536" y="4437112"/>
              <a:ext cx="12212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1"/>
                  </a:solidFill>
                  <a:latin typeface="Times New Roman" panose="02020603050405020304" pitchFamily="18" charset="0"/>
                </a:rPr>
                <a:t>Head </a:t>
              </a:r>
              <a:r>
                <a:rPr lang="zh-CN" altLang="en-US" sz="1600" b="0">
                  <a:solidFill>
                    <a:schemeClr val="tx1"/>
                  </a:solidFill>
                  <a:latin typeface="Times New Roman" panose="02020603050405020304" pitchFamily="18" charset="0"/>
                </a:rPr>
                <a:t>地址</a:t>
              </a:r>
              <a:endParaRPr lang="zh-CN" altLang="en-US" sz="1600" b="0">
                <a:solidFill>
                  <a:schemeClr val="tx1"/>
                </a:solidFill>
                <a:latin typeface="Times New Roman" panose="02020603050405020304" pitchFamily="18" charset="0"/>
              </a:endParaRPr>
            </a:p>
          </p:txBody>
        </p:sp>
        <p:sp>
          <p:nvSpPr>
            <p:cNvPr id="65550" name="Line 9"/>
            <p:cNvSpPr>
              <a:spLocks noChangeShapeType="1"/>
            </p:cNvSpPr>
            <p:nvPr/>
          </p:nvSpPr>
          <p:spPr bwMode="auto">
            <a:xfrm flipV="1">
              <a:off x="1257115" y="4768900"/>
              <a:ext cx="580520" cy="15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51" name="Line 10"/>
            <p:cNvSpPr>
              <a:spLocks noChangeShapeType="1"/>
            </p:cNvSpPr>
            <p:nvPr/>
          </p:nvSpPr>
          <p:spPr bwMode="auto">
            <a:xfrm flipV="1">
              <a:off x="2790850" y="4949873"/>
              <a:ext cx="792088" cy="1034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65552" name="Group 12"/>
            <p:cNvGrpSpPr/>
            <p:nvPr/>
          </p:nvGrpSpPr>
          <p:grpSpPr bwMode="auto">
            <a:xfrm>
              <a:off x="3594253" y="4943525"/>
              <a:ext cx="1194500" cy="319088"/>
              <a:chOff x="3200" y="2623"/>
              <a:chExt cx="634" cy="179"/>
            </a:xfrm>
          </p:grpSpPr>
          <p:sp>
            <p:nvSpPr>
              <p:cNvPr id="65565" name="Text Box 13"/>
              <p:cNvSpPr txBox="1">
                <a:spLocks noChangeArrowheads="1"/>
              </p:cNvSpPr>
              <p:nvPr/>
            </p:nvSpPr>
            <p:spPr bwMode="auto">
              <a:xfrm>
                <a:off x="3200"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1"/>
                    </a:solidFill>
                    <a:latin typeface="Times New Roman" panose="02020603050405020304" pitchFamily="18" charset="0"/>
                  </a:rPr>
                  <a:t>a1</a:t>
                </a:r>
                <a:endParaRPr lang="en-US" altLang="zh-CN" sz="1600" b="0">
                  <a:solidFill>
                    <a:schemeClr val="tx1"/>
                  </a:solidFill>
                  <a:latin typeface="Times New Roman" panose="02020603050405020304" pitchFamily="18" charset="0"/>
                </a:endParaRPr>
              </a:p>
            </p:txBody>
          </p:sp>
          <p:sp>
            <p:nvSpPr>
              <p:cNvPr id="65566" name="Text Box 14"/>
              <p:cNvSpPr txBox="1">
                <a:spLocks noChangeArrowheads="1"/>
              </p:cNvSpPr>
              <p:nvPr/>
            </p:nvSpPr>
            <p:spPr bwMode="auto">
              <a:xfrm>
                <a:off x="3517"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600" b="0">
                  <a:solidFill>
                    <a:schemeClr val="tx2"/>
                  </a:solidFill>
                  <a:latin typeface="Times New Roman" panose="02020603050405020304" pitchFamily="18" charset="0"/>
                </a:endParaRPr>
              </a:p>
            </p:txBody>
          </p:sp>
        </p:grpSp>
        <p:grpSp>
          <p:nvGrpSpPr>
            <p:cNvPr id="65553" name="Group 15"/>
            <p:cNvGrpSpPr/>
            <p:nvPr/>
          </p:nvGrpSpPr>
          <p:grpSpPr bwMode="auto">
            <a:xfrm>
              <a:off x="5350870" y="5110212"/>
              <a:ext cx="1194500" cy="319088"/>
              <a:chOff x="3200" y="2623"/>
              <a:chExt cx="634" cy="179"/>
            </a:xfrm>
          </p:grpSpPr>
          <p:sp>
            <p:nvSpPr>
              <p:cNvPr id="65563" name="Text Box 16"/>
              <p:cNvSpPr txBox="1">
                <a:spLocks noChangeArrowheads="1"/>
              </p:cNvSpPr>
              <p:nvPr/>
            </p:nvSpPr>
            <p:spPr bwMode="auto">
              <a:xfrm>
                <a:off x="3200"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1"/>
                    </a:solidFill>
                    <a:latin typeface="Times New Roman" panose="02020603050405020304" pitchFamily="18" charset="0"/>
                  </a:rPr>
                  <a:t>a2</a:t>
                </a:r>
                <a:endParaRPr lang="en-US" altLang="zh-CN" sz="1600" b="0">
                  <a:solidFill>
                    <a:schemeClr val="tx1"/>
                  </a:solidFill>
                  <a:latin typeface="Times New Roman" panose="02020603050405020304" pitchFamily="18" charset="0"/>
                </a:endParaRPr>
              </a:p>
            </p:txBody>
          </p:sp>
          <p:sp>
            <p:nvSpPr>
              <p:cNvPr id="65564" name="Text Box 17"/>
              <p:cNvSpPr txBox="1">
                <a:spLocks noChangeArrowheads="1"/>
              </p:cNvSpPr>
              <p:nvPr/>
            </p:nvSpPr>
            <p:spPr bwMode="auto">
              <a:xfrm>
                <a:off x="3517"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600" b="0">
                  <a:solidFill>
                    <a:schemeClr val="tx2"/>
                  </a:solidFill>
                  <a:latin typeface="Times New Roman" panose="02020603050405020304" pitchFamily="18" charset="0"/>
                </a:endParaRPr>
              </a:p>
            </p:txBody>
          </p:sp>
        </p:grpSp>
        <p:sp>
          <p:nvSpPr>
            <p:cNvPr id="65554" name="Line 18"/>
            <p:cNvSpPr>
              <a:spLocks noChangeShapeType="1"/>
            </p:cNvSpPr>
            <p:nvPr/>
          </p:nvSpPr>
          <p:spPr bwMode="auto">
            <a:xfrm flipV="1">
              <a:off x="4518750" y="5111800"/>
              <a:ext cx="845338" cy="63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65555" name="Group 20"/>
            <p:cNvGrpSpPr/>
            <p:nvPr/>
          </p:nvGrpSpPr>
          <p:grpSpPr bwMode="auto">
            <a:xfrm>
              <a:off x="7092431" y="5268962"/>
              <a:ext cx="1194500" cy="319088"/>
              <a:chOff x="3200" y="2623"/>
              <a:chExt cx="634" cy="179"/>
            </a:xfrm>
          </p:grpSpPr>
          <p:sp>
            <p:nvSpPr>
              <p:cNvPr id="65561" name="Text Box 21"/>
              <p:cNvSpPr txBox="1">
                <a:spLocks noChangeArrowheads="1"/>
              </p:cNvSpPr>
              <p:nvPr/>
            </p:nvSpPr>
            <p:spPr bwMode="auto">
              <a:xfrm>
                <a:off x="3200"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1"/>
                    </a:solidFill>
                    <a:latin typeface="Times New Roman" panose="02020603050405020304" pitchFamily="18" charset="0"/>
                  </a:rPr>
                  <a:t>a3</a:t>
                </a:r>
                <a:endParaRPr lang="en-US" altLang="zh-CN" sz="1600" b="0">
                  <a:solidFill>
                    <a:schemeClr val="tx1"/>
                  </a:solidFill>
                  <a:latin typeface="Times New Roman" panose="02020603050405020304" pitchFamily="18" charset="0"/>
                </a:endParaRPr>
              </a:p>
            </p:txBody>
          </p:sp>
          <p:sp>
            <p:nvSpPr>
              <p:cNvPr id="65562" name="Text Box 22"/>
              <p:cNvSpPr txBox="1">
                <a:spLocks noChangeArrowheads="1"/>
              </p:cNvSpPr>
              <p:nvPr/>
            </p:nvSpPr>
            <p:spPr bwMode="auto">
              <a:xfrm>
                <a:off x="3517"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2"/>
                    </a:solidFill>
                    <a:latin typeface="Times New Roman" panose="02020603050405020304" pitchFamily="18" charset="0"/>
                  </a:rPr>
                  <a:t>Nil</a:t>
                </a:r>
                <a:endParaRPr lang="en-US" altLang="zh-CN" sz="1600" b="0">
                  <a:solidFill>
                    <a:schemeClr val="tx2"/>
                  </a:solidFill>
                  <a:latin typeface="Times New Roman" panose="02020603050405020304" pitchFamily="18" charset="0"/>
                </a:endParaRPr>
              </a:p>
            </p:txBody>
          </p:sp>
        </p:grpSp>
        <p:sp>
          <p:nvSpPr>
            <p:cNvPr id="65556" name="Line 23"/>
            <p:cNvSpPr>
              <a:spLocks noChangeShapeType="1"/>
            </p:cNvSpPr>
            <p:nvPr/>
          </p:nvSpPr>
          <p:spPr bwMode="auto">
            <a:xfrm>
              <a:off x="6248400" y="5276850"/>
              <a:ext cx="836655" cy="5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57" name="Text Box 25"/>
            <p:cNvSpPr txBox="1">
              <a:spLocks noChangeArrowheads="1"/>
            </p:cNvSpPr>
            <p:nvPr/>
          </p:nvSpPr>
          <p:spPr bwMode="auto">
            <a:xfrm>
              <a:off x="6239217" y="5675362"/>
              <a:ext cx="257971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1"/>
                  </a:solidFill>
                  <a:latin typeface="Times New Roman" panose="02020603050405020304" pitchFamily="18" charset="0"/>
                </a:rPr>
                <a:t>Nil </a:t>
              </a:r>
              <a:r>
                <a:rPr lang="zh-CN" altLang="en-US" sz="1600" b="0">
                  <a:solidFill>
                    <a:schemeClr val="tx1"/>
                  </a:solidFill>
                  <a:latin typeface="Times New Roman" panose="02020603050405020304" pitchFamily="18" charset="0"/>
                </a:rPr>
                <a:t>表示空指针（值为 0 ）</a:t>
              </a:r>
              <a:endParaRPr lang="zh-CN" altLang="en-US" sz="1600" b="0">
                <a:solidFill>
                  <a:schemeClr val="tx1"/>
                </a:solidFill>
                <a:latin typeface="Times New Roman" panose="02020603050405020304" pitchFamily="18" charset="0"/>
              </a:endParaRPr>
            </a:p>
          </p:txBody>
        </p:sp>
        <p:grpSp>
          <p:nvGrpSpPr>
            <p:cNvPr id="65558" name="组合 53"/>
            <p:cNvGrpSpPr/>
            <p:nvPr/>
          </p:nvGrpSpPr>
          <p:grpSpPr bwMode="auto">
            <a:xfrm>
              <a:off x="1835696" y="4757419"/>
              <a:ext cx="1216515" cy="328981"/>
              <a:chOff x="1835696" y="4757419"/>
              <a:chExt cx="1216515" cy="328981"/>
            </a:xfrm>
          </p:grpSpPr>
          <p:sp>
            <p:nvSpPr>
              <p:cNvPr id="65559" name="Text Box 7"/>
              <p:cNvSpPr txBox="1">
                <a:spLocks noChangeArrowheads="1"/>
              </p:cNvSpPr>
              <p:nvPr/>
            </p:nvSpPr>
            <p:spPr bwMode="auto">
              <a:xfrm>
                <a:off x="2454961" y="4767312"/>
                <a:ext cx="597250" cy="319088"/>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1600" b="0">
                  <a:solidFill>
                    <a:schemeClr val="tx2"/>
                  </a:solidFill>
                  <a:latin typeface="Times New Roman" panose="02020603050405020304" pitchFamily="18" charset="0"/>
                </a:endParaRPr>
              </a:p>
            </p:txBody>
          </p:sp>
          <p:sp>
            <p:nvSpPr>
              <p:cNvPr id="65560" name="Text Box 68" descr="浅色上对角线"/>
              <p:cNvSpPr txBox="1">
                <a:spLocks noChangeArrowheads="1"/>
              </p:cNvSpPr>
              <p:nvPr/>
            </p:nvSpPr>
            <p:spPr bwMode="auto">
              <a:xfrm>
                <a:off x="1835696" y="4757419"/>
                <a:ext cx="626556" cy="327766"/>
              </a:xfrm>
              <a:prstGeom prst="rect">
                <a:avLst/>
              </a:prstGeom>
              <a:blipFill dpi="0" rotWithShape="0">
                <a:blip r:embed="rId1"/>
                <a:srcRect/>
                <a:tile tx="0" ty="0" sx="100000" sy="100000" flip="none" algn="tl"/>
              </a:blipFill>
              <a:ln w="9525">
                <a:solidFill>
                  <a:schemeClr val="tx2"/>
                </a:solidFill>
                <a:miter lim="800000"/>
              </a:ln>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b="0">
                  <a:solidFill>
                    <a:schemeClr val="tx1"/>
                  </a:solidFill>
                  <a:latin typeface="Times New Roman" panose="02020603050405020304" pitchFamily="18" charset="0"/>
                </a:endParaRPr>
              </a:p>
            </p:txBody>
          </p:sp>
        </p:grpSp>
      </p:grpSp>
      <p:grpSp>
        <p:nvGrpSpPr>
          <p:cNvPr id="65543" name="组合 61"/>
          <p:cNvGrpSpPr/>
          <p:nvPr/>
        </p:nvGrpSpPr>
        <p:grpSpPr bwMode="auto">
          <a:xfrm>
            <a:off x="468313" y="5229225"/>
            <a:ext cx="2667000" cy="650875"/>
            <a:chOff x="467544" y="5373216"/>
            <a:chExt cx="2667264" cy="650152"/>
          </a:xfrm>
        </p:grpSpPr>
        <p:sp>
          <p:nvSpPr>
            <p:cNvPr id="65545" name="Text Box 8"/>
            <p:cNvSpPr txBox="1">
              <a:spLocks noChangeArrowheads="1"/>
            </p:cNvSpPr>
            <p:nvPr/>
          </p:nvSpPr>
          <p:spPr bwMode="auto">
            <a:xfrm>
              <a:off x="467544" y="5373216"/>
              <a:ext cx="12212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1"/>
                  </a:solidFill>
                  <a:latin typeface="Times New Roman" panose="02020603050405020304" pitchFamily="18" charset="0"/>
                </a:rPr>
                <a:t>Head </a:t>
              </a:r>
              <a:r>
                <a:rPr lang="zh-CN" altLang="en-US" sz="1600" b="0">
                  <a:solidFill>
                    <a:schemeClr val="tx1"/>
                  </a:solidFill>
                  <a:latin typeface="Times New Roman" panose="02020603050405020304" pitchFamily="18" charset="0"/>
                </a:rPr>
                <a:t>地址</a:t>
              </a:r>
              <a:endParaRPr lang="zh-CN" altLang="en-US" sz="1600" b="0">
                <a:solidFill>
                  <a:schemeClr val="tx1"/>
                </a:solidFill>
                <a:latin typeface="Times New Roman" panose="02020603050405020304" pitchFamily="18" charset="0"/>
              </a:endParaRPr>
            </a:p>
          </p:txBody>
        </p:sp>
        <p:sp>
          <p:nvSpPr>
            <p:cNvPr id="65546" name="Line 9"/>
            <p:cNvSpPr>
              <a:spLocks noChangeShapeType="1"/>
            </p:cNvSpPr>
            <p:nvPr/>
          </p:nvSpPr>
          <p:spPr bwMode="auto">
            <a:xfrm flipV="1">
              <a:off x="1329123" y="5705004"/>
              <a:ext cx="580520" cy="15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47" name="Text Box 68" descr="浅色上对角线"/>
            <p:cNvSpPr txBox="1">
              <a:spLocks noChangeArrowheads="1"/>
            </p:cNvSpPr>
            <p:nvPr/>
          </p:nvSpPr>
          <p:spPr bwMode="auto">
            <a:xfrm>
              <a:off x="1907704" y="5693523"/>
              <a:ext cx="626556" cy="327766"/>
            </a:xfrm>
            <a:prstGeom prst="rect">
              <a:avLst/>
            </a:prstGeom>
            <a:blipFill dpi="0" rotWithShape="0">
              <a:blip r:embed="rId1"/>
              <a:srcRect/>
              <a:tile tx="0" ty="0" sx="100000" sy="100000" flip="none" algn="tl"/>
            </a:blipFill>
            <a:ln w="9525">
              <a:solidFill>
                <a:schemeClr val="tx2"/>
              </a:solidFill>
              <a:miter lim="800000"/>
            </a:ln>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b="0">
                <a:solidFill>
                  <a:schemeClr val="tx1"/>
                </a:solidFill>
                <a:latin typeface="Times New Roman" panose="02020603050405020304" pitchFamily="18" charset="0"/>
              </a:endParaRPr>
            </a:p>
          </p:txBody>
        </p:sp>
        <p:sp>
          <p:nvSpPr>
            <p:cNvPr id="65548" name="Text Box 22"/>
            <p:cNvSpPr txBox="1">
              <a:spLocks noChangeArrowheads="1"/>
            </p:cNvSpPr>
            <p:nvPr/>
          </p:nvSpPr>
          <p:spPr bwMode="auto">
            <a:xfrm>
              <a:off x="2537558" y="5704280"/>
              <a:ext cx="597250" cy="319088"/>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2"/>
                  </a:solidFill>
                  <a:latin typeface="Times New Roman" panose="02020603050405020304" pitchFamily="18" charset="0"/>
                </a:rPr>
                <a:t>Nil</a:t>
              </a:r>
              <a:endParaRPr lang="en-US" altLang="zh-CN" sz="1600" b="0">
                <a:solidFill>
                  <a:schemeClr val="tx2"/>
                </a:solidFill>
                <a:latin typeface="Times New Roman" panose="02020603050405020304" pitchFamily="18" charset="0"/>
              </a:endParaRPr>
            </a:p>
          </p:txBody>
        </p:sp>
      </p:grpSp>
      <p:sp>
        <p:nvSpPr>
          <p:cNvPr id="65544" name="Text Box 8"/>
          <p:cNvSpPr txBox="1">
            <a:spLocks noChangeArrowheads="1"/>
          </p:cNvSpPr>
          <p:nvPr/>
        </p:nvSpPr>
        <p:spPr bwMode="auto">
          <a:xfrm>
            <a:off x="1476375" y="5949950"/>
            <a:ext cx="12207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b="0">
                <a:solidFill>
                  <a:schemeClr val="tx1"/>
                </a:solidFill>
                <a:latin typeface="Times New Roman" panose="02020603050405020304" pitchFamily="18" charset="0"/>
              </a:rPr>
              <a:t>空表</a:t>
            </a:r>
            <a:endParaRPr lang="zh-CN" altLang="en-US" sz="1600" b="0">
              <a:solidFill>
                <a:schemeClr val="tx1"/>
              </a:solidFill>
              <a:latin typeface="Times New Roman" panose="02020603050405020304" pitchFamily="18" charset="0"/>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2C5ECD65-3152-4FF9-9523-5A5EF32DA234}"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67587"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3.2 </a:t>
            </a:r>
            <a:r>
              <a:rPr lang="zh-CN" altLang="en-US" sz="2400">
                <a:latin typeface="宋体" panose="02010600030101010101" pitchFamily="2" charset="-122"/>
                <a:ea typeface="宋体" panose="02010600030101010101" pitchFamily="2" charset="-122"/>
              </a:rPr>
              <a:t>线性表</a:t>
            </a:r>
            <a:endParaRPr lang="zh-CN" altLang="en-US" sz="2400">
              <a:latin typeface="宋体" panose="02010600030101010101" pitchFamily="2" charset="-122"/>
              <a:ea typeface="宋体" panose="02010600030101010101" pitchFamily="2" charset="-122"/>
            </a:endParaRPr>
          </a:p>
        </p:txBody>
      </p:sp>
      <p:sp>
        <p:nvSpPr>
          <p:cNvPr id="67588" name="Rectangle 3"/>
          <p:cNvSpPr>
            <a:spLocks noGrp="1" noChangeArrowheads="1"/>
          </p:cNvSpPr>
          <p:nvPr>
            <p:ph type="body" idx="1"/>
          </p:nvPr>
        </p:nvSpPr>
        <p:spPr>
          <a:xfrm>
            <a:off x="107950" y="1035050"/>
            <a:ext cx="9036050" cy="5761038"/>
          </a:xfrm>
        </p:spPr>
        <p:txBody>
          <a:bodyPr/>
          <a:lstStyle/>
          <a:p>
            <a:pPr marL="285750" indent="-285750">
              <a:lnSpc>
                <a:spcPct val="80000"/>
              </a:lnSpc>
            </a:pPr>
            <a:r>
              <a:rPr lang="zh-CN" altLang="en-US" sz="2800">
                <a:latin typeface="宋体" panose="02010600030101010101" pitchFamily="2" charset="-122"/>
                <a:ea typeface="宋体" panose="02010600030101010101" pitchFamily="2" charset="-122"/>
              </a:rPr>
              <a:t>线性表的其它形式</a:t>
            </a:r>
            <a:endParaRPr lang="zh-CN" altLang="en-US" sz="2800">
              <a:latin typeface="宋体" panose="02010600030101010101" pitchFamily="2" charset="-122"/>
              <a:ea typeface="宋体" panose="02010600030101010101" pitchFamily="2" charset="-122"/>
            </a:endParaRPr>
          </a:p>
          <a:p>
            <a:pPr marL="862330" lvl="1">
              <a:lnSpc>
                <a:spcPct val="80000"/>
              </a:lnSpc>
            </a:pPr>
            <a:r>
              <a:rPr lang="zh-CN" altLang="en-US" sz="2000">
                <a:solidFill>
                  <a:schemeClr val="tx2"/>
                </a:solidFill>
                <a:latin typeface="宋体" panose="02010600030101010101" pitchFamily="2" charset="-122"/>
                <a:ea typeface="宋体" panose="02010600030101010101" pitchFamily="2" charset="-122"/>
              </a:rPr>
              <a:t>循环链表</a:t>
            </a:r>
            <a:endParaRPr lang="zh-CN" altLang="en-US" sz="2000">
              <a:solidFill>
                <a:schemeClr val="tx2"/>
              </a:solidFill>
              <a:latin typeface="宋体" panose="02010600030101010101" pitchFamily="2" charset="-122"/>
              <a:ea typeface="宋体" panose="02010600030101010101" pitchFamily="2" charset="-122"/>
            </a:endParaRPr>
          </a:p>
          <a:p>
            <a:pPr marL="1333500" lvl="2">
              <a:lnSpc>
                <a:spcPct val="80000"/>
              </a:lnSpc>
            </a:pPr>
            <a:r>
              <a:rPr lang="zh-CN" altLang="en-US" sz="1800">
                <a:latin typeface="宋体" panose="02010600030101010101" pitchFamily="2" charset="-122"/>
                <a:ea typeface="宋体" panose="02010600030101010101" pitchFamily="2" charset="-122"/>
              </a:rPr>
              <a:t>表中的最后一个结点的指针域不为空，而是指向表头</a:t>
            </a:r>
            <a:endParaRPr lang="zh-CN" altLang="en-US" sz="1800">
              <a:latin typeface="宋体" panose="02010600030101010101" pitchFamily="2" charset="-122"/>
              <a:ea typeface="宋体" panose="02010600030101010101" pitchFamily="2" charset="-122"/>
            </a:endParaRPr>
          </a:p>
          <a:p>
            <a:pPr marL="1333500" lvl="2">
              <a:lnSpc>
                <a:spcPct val="80000"/>
              </a:lnSpc>
            </a:pPr>
            <a:r>
              <a:rPr lang="zh-CN" altLang="en-US" sz="1800">
                <a:latin typeface="宋体" panose="02010600030101010101" pitchFamily="2" charset="-122"/>
                <a:ea typeface="宋体" panose="02010600030101010101" pitchFamily="2" charset="-122"/>
              </a:rPr>
              <a:t>链表的指针形成一个环</a:t>
            </a:r>
            <a:endParaRPr lang="zh-CN" altLang="en-US" sz="1800">
              <a:latin typeface="宋体" panose="02010600030101010101" pitchFamily="2" charset="-122"/>
              <a:ea typeface="宋体" panose="02010600030101010101" pitchFamily="2" charset="-122"/>
            </a:endParaRPr>
          </a:p>
          <a:p>
            <a:pPr marL="1333500" lvl="2">
              <a:lnSpc>
                <a:spcPct val="80000"/>
              </a:lnSpc>
            </a:pPr>
            <a:r>
              <a:rPr lang="zh-CN" altLang="en-US" sz="1800">
                <a:latin typeface="宋体" panose="02010600030101010101" pitchFamily="2" charset="-122"/>
                <a:ea typeface="宋体" panose="02010600030101010101" pitchFamily="2" charset="-122"/>
              </a:rPr>
              <a:t>只要给定循环链表中任意结点的地址，就可以查遍表中所有结点</a:t>
            </a:r>
            <a:endParaRPr lang="zh-CN" altLang="en-US" sz="1800">
              <a:latin typeface="宋体" panose="02010600030101010101" pitchFamily="2" charset="-122"/>
              <a:ea typeface="宋体" panose="02010600030101010101" pitchFamily="2" charset="-122"/>
            </a:endParaRPr>
          </a:p>
          <a:p>
            <a:pPr marL="1333500" lvl="2">
              <a:lnSpc>
                <a:spcPct val="80000"/>
              </a:lnSpc>
            </a:pPr>
            <a:endParaRPr lang="zh-CN" altLang="en-US" sz="1800">
              <a:latin typeface="宋体" panose="02010600030101010101" pitchFamily="2" charset="-122"/>
              <a:ea typeface="宋体" panose="02010600030101010101" pitchFamily="2" charset="-122"/>
            </a:endParaRPr>
          </a:p>
          <a:p>
            <a:pPr marL="1333500" lvl="2">
              <a:lnSpc>
                <a:spcPct val="80000"/>
              </a:lnSpc>
            </a:pPr>
            <a:endParaRPr lang="zh-CN" altLang="en-US" sz="1800">
              <a:latin typeface="宋体" panose="02010600030101010101" pitchFamily="2" charset="-122"/>
              <a:ea typeface="宋体" panose="02010600030101010101" pitchFamily="2" charset="-122"/>
            </a:endParaRPr>
          </a:p>
          <a:p>
            <a:pPr marL="1333500" lvl="2">
              <a:lnSpc>
                <a:spcPct val="80000"/>
              </a:lnSpc>
            </a:pPr>
            <a:endParaRPr lang="zh-CN" altLang="en-US" sz="1800">
              <a:latin typeface="宋体" panose="02010600030101010101" pitchFamily="2" charset="-122"/>
              <a:ea typeface="宋体" panose="02010600030101010101" pitchFamily="2" charset="-122"/>
            </a:endParaRPr>
          </a:p>
          <a:p>
            <a:pPr marL="1333500" lvl="2">
              <a:lnSpc>
                <a:spcPct val="80000"/>
              </a:lnSpc>
            </a:pPr>
            <a:endParaRPr lang="zh-CN" altLang="en-US" sz="1800">
              <a:latin typeface="宋体" panose="02010600030101010101" pitchFamily="2" charset="-122"/>
              <a:ea typeface="宋体" panose="02010600030101010101" pitchFamily="2" charset="-122"/>
            </a:endParaRPr>
          </a:p>
          <a:p>
            <a:pPr marL="1333500" lvl="2">
              <a:lnSpc>
                <a:spcPct val="80000"/>
              </a:lnSpc>
            </a:pPr>
            <a:endParaRPr lang="zh-CN" altLang="en-US" sz="1800">
              <a:latin typeface="宋体" panose="02010600030101010101" pitchFamily="2" charset="-122"/>
              <a:ea typeface="宋体" panose="02010600030101010101" pitchFamily="2" charset="-122"/>
            </a:endParaRPr>
          </a:p>
          <a:p>
            <a:pPr marL="862330" lvl="1">
              <a:lnSpc>
                <a:spcPct val="80000"/>
              </a:lnSpc>
            </a:pPr>
            <a:r>
              <a:rPr lang="zh-CN" altLang="en-US" sz="2000">
                <a:solidFill>
                  <a:schemeClr val="tx2"/>
                </a:solidFill>
                <a:latin typeface="宋体" panose="02010600030101010101" pitchFamily="2" charset="-122"/>
                <a:ea typeface="宋体" panose="02010600030101010101" pitchFamily="2" charset="-122"/>
              </a:rPr>
              <a:t>双向链表</a:t>
            </a:r>
            <a:endParaRPr lang="zh-CN" altLang="en-US" sz="2000">
              <a:solidFill>
                <a:schemeClr val="tx2"/>
              </a:solidFill>
              <a:latin typeface="宋体" panose="02010600030101010101" pitchFamily="2" charset="-122"/>
              <a:ea typeface="宋体" panose="02010600030101010101" pitchFamily="2" charset="-122"/>
            </a:endParaRPr>
          </a:p>
          <a:p>
            <a:pPr marL="862330" lvl="1">
              <a:lnSpc>
                <a:spcPct val="80000"/>
              </a:lnSpc>
            </a:pPr>
            <a:endParaRPr lang="zh-CN" altLang="en-US" sz="2000">
              <a:latin typeface="宋体" panose="02010600030101010101" pitchFamily="2" charset="-122"/>
              <a:ea typeface="宋体" panose="02010600030101010101" pitchFamily="2" charset="-122"/>
            </a:endParaRPr>
          </a:p>
          <a:p>
            <a:pPr marL="862330" lvl="1">
              <a:lnSpc>
                <a:spcPct val="80000"/>
              </a:lnSpc>
            </a:pPr>
            <a:endParaRPr lang="zh-CN" altLang="en-US" sz="2000">
              <a:latin typeface="宋体" panose="02010600030101010101" pitchFamily="2" charset="-122"/>
              <a:ea typeface="宋体" panose="02010600030101010101" pitchFamily="2" charset="-122"/>
            </a:endParaRPr>
          </a:p>
          <a:p>
            <a:pPr marL="862330" lvl="1">
              <a:lnSpc>
                <a:spcPct val="80000"/>
              </a:lnSpc>
            </a:pPr>
            <a:endParaRPr lang="zh-CN" altLang="en-US" sz="2000">
              <a:latin typeface="宋体" panose="02010600030101010101" pitchFamily="2" charset="-122"/>
              <a:ea typeface="宋体" panose="02010600030101010101" pitchFamily="2" charset="-122"/>
            </a:endParaRPr>
          </a:p>
          <a:p>
            <a:pPr marL="862330" lvl="1">
              <a:lnSpc>
                <a:spcPct val="80000"/>
              </a:lnSpc>
            </a:pPr>
            <a:endParaRPr lang="zh-CN" altLang="en-US" sz="2000">
              <a:latin typeface="宋体" panose="02010600030101010101" pitchFamily="2" charset="-122"/>
              <a:ea typeface="宋体" panose="02010600030101010101" pitchFamily="2" charset="-122"/>
            </a:endParaRPr>
          </a:p>
          <a:p>
            <a:pPr marL="862330" lvl="1">
              <a:lnSpc>
                <a:spcPct val="80000"/>
              </a:lnSpc>
            </a:pPr>
            <a:endParaRPr lang="zh-CN" altLang="en-US" sz="2000">
              <a:latin typeface="宋体" panose="02010600030101010101" pitchFamily="2" charset="-122"/>
              <a:ea typeface="宋体" panose="02010600030101010101" pitchFamily="2" charset="-122"/>
            </a:endParaRPr>
          </a:p>
          <a:p>
            <a:pPr marL="862330" lvl="1">
              <a:lnSpc>
                <a:spcPct val="80000"/>
              </a:lnSpc>
            </a:pPr>
            <a:endParaRPr lang="zh-CN" altLang="en-US" sz="2000">
              <a:latin typeface="宋体" panose="02010600030101010101" pitchFamily="2" charset="-122"/>
              <a:ea typeface="宋体" panose="02010600030101010101" pitchFamily="2" charset="-122"/>
            </a:endParaRPr>
          </a:p>
          <a:p>
            <a:pPr marL="862330" lvl="1">
              <a:lnSpc>
                <a:spcPct val="80000"/>
              </a:lnSpc>
            </a:pPr>
            <a:r>
              <a:rPr lang="zh-CN" altLang="en-US" sz="2000">
                <a:latin typeface="宋体" panose="02010600030101010101" pitchFamily="2" charset="-122"/>
                <a:ea typeface="宋体" panose="02010600030101010101" pitchFamily="2" charset="-122"/>
              </a:rPr>
              <a:t>每个节点中仅包含一个指针域的叫</a:t>
            </a:r>
            <a:r>
              <a:rPr lang="zh-CN" altLang="en-US" sz="2000">
                <a:solidFill>
                  <a:schemeClr val="tx2"/>
                </a:solidFill>
                <a:latin typeface="宋体" panose="02010600030101010101" pitchFamily="2" charset="-122"/>
                <a:ea typeface="宋体" panose="02010600030101010101" pitchFamily="2" charset="-122"/>
              </a:rPr>
              <a:t>线性链表</a:t>
            </a:r>
            <a:r>
              <a:rPr lang="zh-CN" altLang="en-US" sz="2000">
                <a:latin typeface="宋体" panose="02010600030101010101" pitchFamily="2" charset="-122"/>
                <a:ea typeface="宋体" panose="02010600030101010101" pitchFamily="2" charset="-122"/>
              </a:rPr>
              <a:t>，包含多个指针域的叫</a:t>
            </a:r>
            <a:r>
              <a:rPr lang="zh-CN" altLang="en-US" sz="2000">
                <a:solidFill>
                  <a:schemeClr val="tx2"/>
                </a:solidFill>
                <a:latin typeface="宋体" panose="02010600030101010101" pitchFamily="2" charset="-122"/>
                <a:ea typeface="宋体" panose="02010600030101010101" pitchFamily="2" charset="-122"/>
              </a:rPr>
              <a:t>非线性链表</a:t>
            </a:r>
            <a:endParaRPr lang="en-US" altLang="zh-CN" sz="2000">
              <a:solidFill>
                <a:schemeClr val="tx2"/>
              </a:solidFill>
              <a:latin typeface="宋体" panose="02010600030101010101" pitchFamily="2" charset="-122"/>
              <a:ea typeface="宋体" panose="02010600030101010101" pitchFamily="2" charset="-122"/>
            </a:endParaRPr>
          </a:p>
          <a:p>
            <a:pPr marL="862330" lvl="1">
              <a:lnSpc>
                <a:spcPct val="80000"/>
              </a:lnSpc>
            </a:pPr>
            <a:endParaRPr lang="zh-CN" altLang="en-US" sz="2000">
              <a:latin typeface="宋体" panose="02010600030101010101" pitchFamily="2" charset="-122"/>
              <a:ea typeface="宋体" panose="02010600030101010101" pitchFamily="2" charset="-122"/>
            </a:endParaRPr>
          </a:p>
        </p:txBody>
      </p:sp>
      <p:grpSp>
        <p:nvGrpSpPr>
          <p:cNvPr id="67589" name="Group 4"/>
          <p:cNvGrpSpPr/>
          <p:nvPr/>
        </p:nvGrpSpPr>
        <p:grpSpPr bwMode="auto">
          <a:xfrm>
            <a:off x="519113" y="4437063"/>
            <a:ext cx="8156575" cy="671512"/>
            <a:chOff x="180" y="3225"/>
            <a:chExt cx="5138" cy="423"/>
          </a:xfrm>
        </p:grpSpPr>
        <p:grpSp>
          <p:nvGrpSpPr>
            <p:cNvPr id="67619" name="Group 5"/>
            <p:cNvGrpSpPr/>
            <p:nvPr/>
          </p:nvGrpSpPr>
          <p:grpSpPr bwMode="auto">
            <a:xfrm>
              <a:off x="180" y="3225"/>
              <a:ext cx="3917" cy="423"/>
              <a:chOff x="180" y="3225"/>
              <a:chExt cx="3917" cy="423"/>
            </a:xfrm>
          </p:grpSpPr>
          <p:sp>
            <p:nvSpPr>
              <p:cNvPr id="67627" name="Text Box 6"/>
              <p:cNvSpPr txBox="1">
                <a:spLocks noChangeArrowheads="1"/>
              </p:cNvSpPr>
              <p:nvPr/>
            </p:nvSpPr>
            <p:spPr bwMode="auto">
              <a:xfrm>
                <a:off x="180" y="3274"/>
                <a:ext cx="33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200" b="0">
                    <a:solidFill>
                      <a:schemeClr val="tx1"/>
                    </a:solidFill>
                    <a:latin typeface="Times New Roman" panose="02020603050405020304" pitchFamily="18" charset="0"/>
                  </a:rPr>
                  <a:t>Head</a:t>
                </a:r>
                <a:endParaRPr lang="en-US" altLang="zh-CN" sz="1200" b="0">
                  <a:solidFill>
                    <a:schemeClr val="tx1"/>
                  </a:solidFill>
                  <a:latin typeface="Times New Roman" panose="02020603050405020304" pitchFamily="18" charset="0"/>
                </a:endParaRPr>
              </a:p>
            </p:txBody>
          </p:sp>
          <p:sp>
            <p:nvSpPr>
              <p:cNvPr id="67628" name="Text Box 7"/>
              <p:cNvSpPr txBox="1">
                <a:spLocks noChangeArrowheads="1"/>
              </p:cNvSpPr>
              <p:nvPr/>
            </p:nvSpPr>
            <p:spPr bwMode="auto">
              <a:xfrm>
                <a:off x="689" y="3225"/>
                <a:ext cx="384" cy="141"/>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800" b="0">
                  <a:solidFill>
                    <a:schemeClr val="tx1"/>
                  </a:solidFill>
                  <a:latin typeface="Times New Roman" panose="02020603050405020304" pitchFamily="18" charset="0"/>
                </a:endParaRPr>
              </a:p>
            </p:txBody>
          </p:sp>
          <p:sp>
            <p:nvSpPr>
              <p:cNvPr id="67629" name="Text Box 8" descr="浅色上对角线"/>
              <p:cNvSpPr txBox="1">
                <a:spLocks noChangeArrowheads="1"/>
              </p:cNvSpPr>
              <p:nvPr/>
            </p:nvSpPr>
            <p:spPr bwMode="auto">
              <a:xfrm>
                <a:off x="689" y="3369"/>
                <a:ext cx="384" cy="141"/>
              </a:xfrm>
              <a:prstGeom prst="rect">
                <a:avLst/>
              </a:prstGeom>
              <a:blipFill dpi="0" rotWithShape="0">
                <a:blip r:embed="rId1"/>
                <a:srcRect/>
                <a:tile tx="0" ty="0" sx="100000" sy="100000" flip="none" algn="tl"/>
              </a:blipFill>
              <a:ln w="9525">
                <a:solidFill>
                  <a:schemeClr val="tx2"/>
                </a:solidFill>
                <a:miter lim="800000"/>
              </a:ln>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800" b="0">
                  <a:solidFill>
                    <a:schemeClr val="tx1"/>
                  </a:solidFill>
                  <a:latin typeface="Times New Roman" panose="02020603050405020304" pitchFamily="18" charset="0"/>
                </a:endParaRPr>
              </a:p>
            </p:txBody>
          </p:sp>
          <p:sp>
            <p:nvSpPr>
              <p:cNvPr id="67630" name="Text Box 9"/>
              <p:cNvSpPr txBox="1">
                <a:spLocks noChangeArrowheads="1"/>
              </p:cNvSpPr>
              <p:nvPr/>
            </p:nvSpPr>
            <p:spPr bwMode="auto">
              <a:xfrm>
                <a:off x="689" y="3507"/>
                <a:ext cx="384" cy="141"/>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800" b="0">
                  <a:solidFill>
                    <a:schemeClr val="tx1"/>
                  </a:solidFill>
                  <a:latin typeface="Times New Roman" panose="02020603050405020304" pitchFamily="18" charset="0"/>
                </a:endParaRPr>
              </a:p>
            </p:txBody>
          </p:sp>
          <p:sp>
            <p:nvSpPr>
              <p:cNvPr id="67631" name="Line 10"/>
              <p:cNvSpPr>
                <a:spLocks noChangeShapeType="1"/>
              </p:cNvSpPr>
              <p:nvPr/>
            </p:nvSpPr>
            <p:spPr bwMode="auto">
              <a:xfrm>
                <a:off x="977" y="3298"/>
                <a:ext cx="30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32" name="Text Box 11"/>
              <p:cNvSpPr txBox="1">
                <a:spLocks noChangeArrowheads="1"/>
              </p:cNvSpPr>
              <p:nvPr/>
            </p:nvSpPr>
            <p:spPr bwMode="auto">
              <a:xfrm>
                <a:off x="1293" y="3225"/>
                <a:ext cx="384" cy="141"/>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800" b="0">
                  <a:solidFill>
                    <a:schemeClr val="tx1"/>
                  </a:solidFill>
                  <a:latin typeface="Times New Roman" panose="02020603050405020304" pitchFamily="18" charset="0"/>
                </a:endParaRPr>
              </a:p>
            </p:txBody>
          </p:sp>
          <p:sp>
            <p:nvSpPr>
              <p:cNvPr id="67633" name="Text Box 12"/>
              <p:cNvSpPr txBox="1">
                <a:spLocks noChangeArrowheads="1"/>
              </p:cNvSpPr>
              <p:nvPr/>
            </p:nvSpPr>
            <p:spPr bwMode="auto">
              <a:xfrm>
                <a:off x="1293" y="3369"/>
                <a:ext cx="384" cy="141"/>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800" b="0">
                  <a:solidFill>
                    <a:schemeClr val="tx1"/>
                  </a:solidFill>
                  <a:latin typeface="Times New Roman" panose="02020603050405020304" pitchFamily="18" charset="0"/>
                </a:endParaRPr>
              </a:p>
            </p:txBody>
          </p:sp>
          <p:sp>
            <p:nvSpPr>
              <p:cNvPr id="67634" name="Text Box 13"/>
              <p:cNvSpPr txBox="1">
                <a:spLocks noChangeArrowheads="1"/>
              </p:cNvSpPr>
              <p:nvPr/>
            </p:nvSpPr>
            <p:spPr bwMode="auto">
              <a:xfrm>
                <a:off x="1293" y="3507"/>
                <a:ext cx="384" cy="141"/>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800" b="0">
                  <a:solidFill>
                    <a:schemeClr val="tx1"/>
                  </a:solidFill>
                  <a:latin typeface="Times New Roman" panose="02020603050405020304" pitchFamily="18" charset="0"/>
                </a:endParaRPr>
              </a:p>
            </p:txBody>
          </p:sp>
          <p:sp>
            <p:nvSpPr>
              <p:cNvPr id="67635" name="Line 14"/>
              <p:cNvSpPr>
                <a:spLocks noChangeShapeType="1"/>
              </p:cNvSpPr>
              <p:nvPr/>
            </p:nvSpPr>
            <p:spPr bwMode="auto">
              <a:xfrm>
                <a:off x="1581" y="3298"/>
                <a:ext cx="30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36" name="Line 15"/>
              <p:cNvSpPr>
                <a:spLocks noChangeShapeType="1"/>
              </p:cNvSpPr>
              <p:nvPr/>
            </p:nvSpPr>
            <p:spPr bwMode="auto">
              <a:xfrm>
                <a:off x="1677" y="3573"/>
                <a:ext cx="308" cy="0"/>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37" name="Line 16"/>
              <p:cNvSpPr>
                <a:spLocks noChangeShapeType="1"/>
              </p:cNvSpPr>
              <p:nvPr/>
            </p:nvSpPr>
            <p:spPr bwMode="auto">
              <a:xfrm>
                <a:off x="1089" y="3573"/>
                <a:ext cx="308" cy="0"/>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38" name="Text Box 17"/>
              <p:cNvSpPr txBox="1">
                <a:spLocks noChangeArrowheads="1"/>
              </p:cNvSpPr>
              <p:nvPr/>
            </p:nvSpPr>
            <p:spPr bwMode="auto">
              <a:xfrm>
                <a:off x="1895" y="3225"/>
                <a:ext cx="384" cy="141"/>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800" b="0">
                  <a:solidFill>
                    <a:schemeClr val="tx1"/>
                  </a:solidFill>
                  <a:latin typeface="Times New Roman" panose="02020603050405020304" pitchFamily="18" charset="0"/>
                </a:endParaRPr>
              </a:p>
            </p:txBody>
          </p:sp>
          <p:sp>
            <p:nvSpPr>
              <p:cNvPr id="67639" name="Text Box 18"/>
              <p:cNvSpPr txBox="1">
                <a:spLocks noChangeArrowheads="1"/>
              </p:cNvSpPr>
              <p:nvPr/>
            </p:nvSpPr>
            <p:spPr bwMode="auto">
              <a:xfrm>
                <a:off x="1895" y="3369"/>
                <a:ext cx="384" cy="141"/>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800" b="0">
                  <a:solidFill>
                    <a:schemeClr val="tx1"/>
                  </a:solidFill>
                  <a:latin typeface="Times New Roman" panose="02020603050405020304" pitchFamily="18" charset="0"/>
                </a:endParaRPr>
              </a:p>
            </p:txBody>
          </p:sp>
          <p:sp>
            <p:nvSpPr>
              <p:cNvPr id="67640" name="Text Box 19"/>
              <p:cNvSpPr txBox="1">
                <a:spLocks noChangeArrowheads="1"/>
              </p:cNvSpPr>
              <p:nvPr/>
            </p:nvSpPr>
            <p:spPr bwMode="auto">
              <a:xfrm>
                <a:off x="1895" y="3507"/>
                <a:ext cx="384" cy="141"/>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800" b="0">
                  <a:solidFill>
                    <a:schemeClr val="tx1"/>
                  </a:solidFill>
                  <a:latin typeface="Times New Roman" panose="02020603050405020304" pitchFamily="18" charset="0"/>
                </a:endParaRPr>
              </a:p>
            </p:txBody>
          </p:sp>
          <p:sp>
            <p:nvSpPr>
              <p:cNvPr id="67641" name="Line 20"/>
              <p:cNvSpPr>
                <a:spLocks noChangeShapeType="1"/>
              </p:cNvSpPr>
              <p:nvPr/>
            </p:nvSpPr>
            <p:spPr bwMode="auto">
              <a:xfrm>
                <a:off x="2183" y="3298"/>
                <a:ext cx="30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42" name="Line 21"/>
              <p:cNvSpPr>
                <a:spLocks noChangeShapeType="1"/>
              </p:cNvSpPr>
              <p:nvPr/>
            </p:nvSpPr>
            <p:spPr bwMode="auto">
              <a:xfrm>
                <a:off x="2295" y="3573"/>
                <a:ext cx="308" cy="0"/>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43" name="Text Box 22"/>
              <p:cNvSpPr txBox="1">
                <a:spLocks noChangeArrowheads="1"/>
              </p:cNvSpPr>
              <p:nvPr/>
            </p:nvSpPr>
            <p:spPr bwMode="auto">
              <a:xfrm>
                <a:off x="2489" y="3225"/>
                <a:ext cx="384" cy="141"/>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800" b="0">
                  <a:solidFill>
                    <a:schemeClr val="tx1"/>
                  </a:solidFill>
                  <a:latin typeface="Times New Roman" panose="02020603050405020304" pitchFamily="18" charset="0"/>
                </a:endParaRPr>
              </a:p>
            </p:txBody>
          </p:sp>
          <p:sp>
            <p:nvSpPr>
              <p:cNvPr id="67644" name="Text Box 23"/>
              <p:cNvSpPr txBox="1">
                <a:spLocks noChangeArrowheads="1"/>
              </p:cNvSpPr>
              <p:nvPr/>
            </p:nvSpPr>
            <p:spPr bwMode="auto">
              <a:xfrm>
                <a:off x="2489" y="3369"/>
                <a:ext cx="384" cy="141"/>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800" b="0">
                  <a:solidFill>
                    <a:schemeClr val="tx1"/>
                  </a:solidFill>
                  <a:latin typeface="Times New Roman" panose="02020603050405020304" pitchFamily="18" charset="0"/>
                </a:endParaRPr>
              </a:p>
            </p:txBody>
          </p:sp>
          <p:sp>
            <p:nvSpPr>
              <p:cNvPr id="67645" name="Text Box 24"/>
              <p:cNvSpPr txBox="1">
                <a:spLocks noChangeArrowheads="1"/>
              </p:cNvSpPr>
              <p:nvPr/>
            </p:nvSpPr>
            <p:spPr bwMode="auto">
              <a:xfrm>
                <a:off x="2489" y="3507"/>
                <a:ext cx="384" cy="141"/>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800" b="0">
                  <a:solidFill>
                    <a:schemeClr val="tx1"/>
                  </a:solidFill>
                  <a:latin typeface="Times New Roman" panose="02020603050405020304" pitchFamily="18" charset="0"/>
                </a:endParaRPr>
              </a:p>
            </p:txBody>
          </p:sp>
          <p:sp>
            <p:nvSpPr>
              <p:cNvPr id="67646" name="Line 25"/>
              <p:cNvSpPr>
                <a:spLocks noChangeShapeType="1"/>
              </p:cNvSpPr>
              <p:nvPr/>
            </p:nvSpPr>
            <p:spPr bwMode="auto">
              <a:xfrm>
                <a:off x="2777" y="3298"/>
                <a:ext cx="30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47" name="Line 26"/>
              <p:cNvSpPr>
                <a:spLocks noChangeShapeType="1"/>
              </p:cNvSpPr>
              <p:nvPr/>
            </p:nvSpPr>
            <p:spPr bwMode="auto">
              <a:xfrm>
                <a:off x="2889" y="3573"/>
                <a:ext cx="308" cy="0"/>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48" name="Line 27"/>
              <p:cNvSpPr>
                <a:spLocks noChangeShapeType="1"/>
              </p:cNvSpPr>
              <p:nvPr/>
            </p:nvSpPr>
            <p:spPr bwMode="auto">
              <a:xfrm>
                <a:off x="3251" y="3573"/>
                <a:ext cx="195" cy="0"/>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67649" name="Line 28"/>
              <p:cNvSpPr>
                <a:spLocks noChangeShapeType="1"/>
              </p:cNvSpPr>
              <p:nvPr/>
            </p:nvSpPr>
            <p:spPr bwMode="auto">
              <a:xfrm>
                <a:off x="3149" y="3304"/>
                <a:ext cx="195" cy="0"/>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67650" name="Line 29"/>
              <p:cNvSpPr>
                <a:spLocks noChangeShapeType="1"/>
              </p:cNvSpPr>
              <p:nvPr/>
            </p:nvSpPr>
            <p:spPr bwMode="auto">
              <a:xfrm>
                <a:off x="3473" y="3573"/>
                <a:ext cx="308" cy="0"/>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51" name="Line 30"/>
              <p:cNvSpPr>
                <a:spLocks noChangeShapeType="1"/>
              </p:cNvSpPr>
              <p:nvPr/>
            </p:nvSpPr>
            <p:spPr bwMode="auto">
              <a:xfrm>
                <a:off x="3395" y="3303"/>
                <a:ext cx="30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52" name="Text Box 31"/>
              <p:cNvSpPr txBox="1">
                <a:spLocks noChangeArrowheads="1"/>
              </p:cNvSpPr>
              <p:nvPr/>
            </p:nvSpPr>
            <p:spPr bwMode="auto">
              <a:xfrm>
                <a:off x="3707" y="3225"/>
                <a:ext cx="384" cy="141"/>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800" b="0">
                  <a:solidFill>
                    <a:schemeClr val="tx1"/>
                  </a:solidFill>
                  <a:latin typeface="Times New Roman" panose="02020603050405020304" pitchFamily="18" charset="0"/>
                </a:endParaRPr>
              </a:p>
            </p:txBody>
          </p:sp>
          <p:sp>
            <p:nvSpPr>
              <p:cNvPr id="67653" name="Text Box 32"/>
              <p:cNvSpPr txBox="1">
                <a:spLocks noChangeArrowheads="1"/>
              </p:cNvSpPr>
              <p:nvPr/>
            </p:nvSpPr>
            <p:spPr bwMode="auto">
              <a:xfrm>
                <a:off x="3707" y="3369"/>
                <a:ext cx="384" cy="141"/>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800" b="0">
                  <a:solidFill>
                    <a:schemeClr val="tx1"/>
                  </a:solidFill>
                  <a:latin typeface="Times New Roman" panose="02020603050405020304" pitchFamily="18" charset="0"/>
                </a:endParaRPr>
              </a:p>
            </p:txBody>
          </p:sp>
          <p:sp>
            <p:nvSpPr>
              <p:cNvPr id="67654" name="Text Box 33"/>
              <p:cNvSpPr txBox="1">
                <a:spLocks noChangeArrowheads="1"/>
              </p:cNvSpPr>
              <p:nvPr/>
            </p:nvSpPr>
            <p:spPr bwMode="auto">
              <a:xfrm>
                <a:off x="3707" y="3507"/>
                <a:ext cx="384" cy="141"/>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800" b="0">
                  <a:solidFill>
                    <a:schemeClr val="tx1"/>
                  </a:solidFill>
                  <a:latin typeface="Times New Roman" panose="02020603050405020304" pitchFamily="18" charset="0"/>
                </a:endParaRPr>
              </a:p>
            </p:txBody>
          </p:sp>
          <p:sp>
            <p:nvSpPr>
              <p:cNvPr id="67655" name="Line 34"/>
              <p:cNvSpPr>
                <a:spLocks noChangeShapeType="1"/>
              </p:cNvSpPr>
              <p:nvPr/>
            </p:nvSpPr>
            <p:spPr bwMode="auto">
              <a:xfrm flipV="1">
                <a:off x="384" y="3430"/>
                <a:ext cx="30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67656" name="AutoShape 35"/>
              <p:cNvCxnSpPr>
                <a:cxnSpLocks noChangeShapeType="1"/>
              </p:cNvCxnSpPr>
              <p:nvPr/>
            </p:nvCxnSpPr>
            <p:spPr bwMode="auto">
              <a:xfrm flipH="1">
                <a:off x="683" y="3296"/>
                <a:ext cx="3330" cy="1"/>
              </a:xfrm>
              <a:prstGeom prst="curvedConnector5">
                <a:avLst>
                  <a:gd name="adj1" fmla="val -4324"/>
                  <a:gd name="adj2" fmla="val -21500009"/>
                  <a:gd name="adj3" fmla="val 104324"/>
                </a:avLst>
              </a:prstGeom>
              <a:noFill/>
              <a:ln w="9525">
                <a:solidFill>
                  <a:schemeClr val="tx2"/>
                </a:solidFill>
                <a:round/>
                <a:tailEnd type="triangle" w="med" len="med"/>
              </a:ln>
              <a:extLst>
                <a:ext uri="{909E8E84-426E-40DD-AFC4-6F175D3DCCD1}">
                  <a14:hiddenFill xmlns:a14="http://schemas.microsoft.com/office/drawing/2010/main">
                    <a:noFill/>
                  </a14:hiddenFill>
                </a:ext>
              </a:extLst>
            </p:spPr>
          </p:cxnSp>
          <p:cxnSp>
            <p:nvCxnSpPr>
              <p:cNvPr id="67657" name="AutoShape 36"/>
              <p:cNvCxnSpPr>
                <a:cxnSpLocks noChangeShapeType="1"/>
              </p:cNvCxnSpPr>
              <p:nvPr/>
            </p:nvCxnSpPr>
            <p:spPr bwMode="auto">
              <a:xfrm rot="10800000" flipH="1" flipV="1">
                <a:off x="767" y="3578"/>
                <a:ext cx="3330" cy="1"/>
              </a:xfrm>
              <a:prstGeom prst="curvedConnector5">
                <a:avLst>
                  <a:gd name="adj1" fmla="val -4324"/>
                  <a:gd name="adj2" fmla="val 25299991"/>
                  <a:gd name="adj3" fmla="val 104324"/>
                </a:avLst>
              </a:prstGeom>
              <a:noFill/>
              <a:ln w="9525">
                <a:solidFill>
                  <a:schemeClr val="tx2"/>
                </a:solidFill>
                <a:round/>
                <a:tailEnd type="triangle" w="med" len="med"/>
              </a:ln>
              <a:extLst>
                <a:ext uri="{909E8E84-426E-40DD-AFC4-6F175D3DCCD1}">
                  <a14:hiddenFill xmlns:a14="http://schemas.microsoft.com/office/drawing/2010/main">
                    <a:noFill/>
                  </a14:hiddenFill>
                </a:ext>
              </a:extLst>
            </p:spPr>
          </p:cxnSp>
        </p:grpSp>
        <p:grpSp>
          <p:nvGrpSpPr>
            <p:cNvPr id="67620" name="Group 37"/>
            <p:cNvGrpSpPr/>
            <p:nvPr/>
          </p:nvGrpSpPr>
          <p:grpSpPr bwMode="auto">
            <a:xfrm>
              <a:off x="4560" y="3225"/>
              <a:ext cx="758" cy="423"/>
              <a:chOff x="4879" y="3120"/>
              <a:chExt cx="758" cy="423"/>
            </a:xfrm>
          </p:grpSpPr>
          <p:sp>
            <p:nvSpPr>
              <p:cNvPr id="67621" name="Text Box 38"/>
              <p:cNvSpPr txBox="1">
                <a:spLocks noChangeArrowheads="1"/>
              </p:cNvSpPr>
              <p:nvPr/>
            </p:nvSpPr>
            <p:spPr bwMode="auto">
              <a:xfrm>
                <a:off x="5184" y="3120"/>
                <a:ext cx="453" cy="141"/>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800" b="0">
                  <a:solidFill>
                    <a:schemeClr val="tx1"/>
                  </a:solidFill>
                  <a:latin typeface="Times New Roman" panose="02020603050405020304" pitchFamily="18" charset="0"/>
                </a:endParaRPr>
              </a:p>
            </p:txBody>
          </p:sp>
          <p:sp>
            <p:nvSpPr>
              <p:cNvPr id="67622" name="Text Box 39" descr="浅色上对角线"/>
              <p:cNvSpPr txBox="1">
                <a:spLocks noChangeArrowheads="1"/>
              </p:cNvSpPr>
              <p:nvPr/>
            </p:nvSpPr>
            <p:spPr bwMode="auto">
              <a:xfrm>
                <a:off x="5184" y="3264"/>
                <a:ext cx="453" cy="141"/>
              </a:xfrm>
              <a:prstGeom prst="rect">
                <a:avLst/>
              </a:prstGeom>
              <a:blipFill dpi="0" rotWithShape="0">
                <a:blip r:embed="rId1"/>
                <a:srcRect/>
                <a:tile tx="0" ty="0" sx="100000" sy="100000" flip="none" algn="tl"/>
              </a:blipFill>
              <a:ln w="9525">
                <a:solidFill>
                  <a:schemeClr val="tx2"/>
                </a:solidFill>
                <a:miter lim="800000"/>
              </a:ln>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800" b="0">
                  <a:solidFill>
                    <a:schemeClr val="tx1"/>
                  </a:solidFill>
                  <a:latin typeface="Times New Roman" panose="02020603050405020304" pitchFamily="18" charset="0"/>
                </a:endParaRPr>
              </a:p>
            </p:txBody>
          </p:sp>
          <p:sp>
            <p:nvSpPr>
              <p:cNvPr id="67623" name="Text Box 40"/>
              <p:cNvSpPr txBox="1">
                <a:spLocks noChangeArrowheads="1"/>
              </p:cNvSpPr>
              <p:nvPr/>
            </p:nvSpPr>
            <p:spPr bwMode="auto">
              <a:xfrm>
                <a:off x="5184" y="3402"/>
                <a:ext cx="453" cy="141"/>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zh-CN" altLang="en-US" sz="800" b="0">
                  <a:solidFill>
                    <a:schemeClr val="tx1"/>
                  </a:solidFill>
                  <a:latin typeface="Times New Roman" panose="02020603050405020304" pitchFamily="18" charset="0"/>
                </a:endParaRPr>
              </a:p>
            </p:txBody>
          </p:sp>
          <p:sp>
            <p:nvSpPr>
              <p:cNvPr id="67624" name="Line 41"/>
              <p:cNvSpPr>
                <a:spLocks noChangeShapeType="1"/>
              </p:cNvSpPr>
              <p:nvPr/>
            </p:nvSpPr>
            <p:spPr bwMode="auto">
              <a:xfrm flipV="1">
                <a:off x="4879" y="3325"/>
                <a:ext cx="30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67625" name="AutoShape 42"/>
              <p:cNvCxnSpPr>
                <a:cxnSpLocks noChangeShapeType="1"/>
              </p:cNvCxnSpPr>
              <p:nvPr/>
            </p:nvCxnSpPr>
            <p:spPr bwMode="auto">
              <a:xfrm flipH="1">
                <a:off x="5184" y="3185"/>
                <a:ext cx="384" cy="1"/>
              </a:xfrm>
              <a:prstGeom prst="curvedConnector5">
                <a:avLst>
                  <a:gd name="adj1" fmla="val -37500"/>
                  <a:gd name="adj2" fmla="val -21500009"/>
                  <a:gd name="adj3" fmla="val 137500"/>
                </a:avLst>
              </a:prstGeom>
              <a:noFill/>
              <a:ln w="9525">
                <a:solidFill>
                  <a:schemeClr val="tx2"/>
                </a:solidFill>
                <a:round/>
                <a:tailEnd type="triangle" w="med" len="med"/>
              </a:ln>
              <a:extLst>
                <a:ext uri="{909E8E84-426E-40DD-AFC4-6F175D3DCCD1}">
                  <a14:hiddenFill xmlns:a14="http://schemas.microsoft.com/office/drawing/2010/main">
                    <a:noFill/>
                  </a14:hiddenFill>
                </a:ext>
              </a:extLst>
            </p:spPr>
          </p:cxnSp>
          <p:cxnSp>
            <p:nvCxnSpPr>
              <p:cNvPr id="67626" name="AutoShape 43"/>
              <p:cNvCxnSpPr>
                <a:cxnSpLocks noChangeShapeType="1"/>
              </p:cNvCxnSpPr>
              <p:nvPr/>
            </p:nvCxnSpPr>
            <p:spPr bwMode="auto">
              <a:xfrm flipH="1">
                <a:off x="5184" y="3467"/>
                <a:ext cx="384" cy="1"/>
              </a:xfrm>
              <a:prstGeom prst="curvedConnector5">
                <a:avLst>
                  <a:gd name="adj1" fmla="val -37500"/>
                  <a:gd name="adj2" fmla="val 21400009"/>
                  <a:gd name="adj3" fmla="val 137500"/>
                </a:avLst>
              </a:prstGeom>
              <a:noFill/>
              <a:ln w="9525">
                <a:solidFill>
                  <a:schemeClr val="tx2"/>
                </a:solidFill>
                <a:round/>
                <a:tailEnd type="triangle" w="med" len="med"/>
              </a:ln>
              <a:extLst>
                <a:ext uri="{909E8E84-426E-40DD-AFC4-6F175D3DCCD1}">
                  <a14:hiddenFill xmlns:a14="http://schemas.microsoft.com/office/drawing/2010/main">
                    <a:noFill/>
                  </a14:hiddenFill>
                </a:ext>
              </a:extLst>
            </p:spPr>
          </p:cxnSp>
        </p:grpSp>
      </p:grpSp>
      <p:sp>
        <p:nvSpPr>
          <p:cNvPr id="67590" name="Text Box 44"/>
          <p:cNvSpPr txBox="1">
            <a:spLocks noChangeArrowheads="1"/>
          </p:cNvSpPr>
          <p:nvPr/>
        </p:nvSpPr>
        <p:spPr bwMode="auto">
          <a:xfrm>
            <a:off x="6694488" y="4779963"/>
            <a:ext cx="685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200" b="0">
                <a:solidFill>
                  <a:schemeClr val="tx1"/>
                </a:solidFill>
                <a:latin typeface="Times New Roman" panose="02020603050405020304" pitchFamily="18" charset="0"/>
              </a:rPr>
              <a:t>Head</a:t>
            </a:r>
            <a:endParaRPr lang="en-US" altLang="zh-CN" sz="1200" b="0">
              <a:solidFill>
                <a:schemeClr val="tx1"/>
              </a:solidFill>
              <a:latin typeface="Times New Roman" panose="02020603050405020304" pitchFamily="18" charset="0"/>
            </a:endParaRPr>
          </a:p>
        </p:txBody>
      </p:sp>
      <p:grpSp>
        <p:nvGrpSpPr>
          <p:cNvPr id="67591" name="Group 45"/>
          <p:cNvGrpSpPr/>
          <p:nvPr/>
        </p:nvGrpSpPr>
        <p:grpSpPr bwMode="auto">
          <a:xfrm>
            <a:off x="354013" y="2565400"/>
            <a:ext cx="8610600" cy="995363"/>
            <a:chOff x="96" y="1879"/>
            <a:chExt cx="5424" cy="627"/>
          </a:xfrm>
        </p:grpSpPr>
        <p:grpSp>
          <p:nvGrpSpPr>
            <p:cNvPr id="67592" name="Group 46"/>
            <p:cNvGrpSpPr/>
            <p:nvPr/>
          </p:nvGrpSpPr>
          <p:grpSpPr bwMode="auto">
            <a:xfrm>
              <a:off x="96" y="1879"/>
              <a:ext cx="4002" cy="627"/>
              <a:chOff x="96" y="1963"/>
              <a:chExt cx="4002" cy="627"/>
            </a:xfrm>
          </p:grpSpPr>
          <p:sp>
            <p:nvSpPr>
              <p:cNvPr id="67599" name="Text Box 47" descr="浅色上对角线"/>
              <p:cNvSpPr txBox="1">
                <a:spLocks noChangeArrowheads="1"/>
              </p:cNvSpPr>
              <p:nvPr/>
            </p:nvSpPr>
            <p:spPr bwMode="auto">
              <a:xfrm>
                <a:off x="698" y="2130"/>
                <a:ext cx="317" cy="179"/>
              </a:xfrm>
              <a:prstGeom prst="rect">
                <a:avLst/>
              </a:prstGeom>
              <a:blipFill dpi="0" rotWithShape="0">
                <a:blip r:embed="rId1"/>
                <a:srcRect/>
                <a:tile tx="0" ty="0" sx="100000" sy="100000" flip="none" algn="tl"/>
              </a:blipFill>
              <a:ln w="9525">
                <a:solidFill>
                  <a:schemeClr val="tx2"/>
                </a:solidFill>
                <a:miter lim="800000"/>
              </a:ln>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b="0">
                  <a:solidFill>
                    <a:schemeClr val="tx1"/>
                  </a:solidFill>
                  <a:latin typeface="Times New Roman" panose="02020603050405020304" pitchFamily="18" charset="0"/>
                </a:endParaRPr>
              </a:p>
            </p:txBody>
          </p:sp>
          <p:sp>
            <p:nvSpPr>
              <p:cNvPr id="67600" name="Text Box 48"/>
              <p:cNvSpPr txBox="1">
                <a:spLocks noChangeArrowheads="1"/>
              </p:cNvSpPr>
              <p:nvPr/>
            </p:nvSpPr>
            <p:spPr bwMode="auto">
              <a:xfrm>
                <a:off x="1015" y="2130"/>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200" b="0">
                    <a:solidFill>
                      <a:schemeClr val="tx2"/>
                    </a:solidFill>
                    <a:latin typeface="Times New Roman" panose="02020603050405020304" pitchFamily="18" charset="0"/>
                  </a:rPr>
                  <a:t>AB01</a:t>
                </a:r>
                <a:endParaRPr lang="zh-CN" altLang="en-US" sz="1200" b="0">
                  <a:solidFill>
                    <a:schemeClr val="tx2"/>
                  </a:solidFill>
                  <a:latin typeface="Times New Roman" panose="02020603050405020304" pitchFamily="18" charset="0"/>
                </a:endParaRPr>
              </a:p>
            </p:txBody>
          </p:sp>
          <p:sp>
            <p:nvSpPr>
              <p:cNvPr id="67601" name="Text Box 49"/>
              <p:cNvSpPr txBox="1">
                <a:spLocks noChangeArrowheads="1"/>
              </p:cNvSpPr>
              <p:nvPr/>
            </p:nvSpPr>
            <p:spPr bwMode="auto">
              <a:xfrm>
                <a:off x="96" y="1963"/>
                <a:ext cx="6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200" b="0">
                    <a:solidFill>
                      <a:schemeClr val="tx1"/>
                    </a:solidFill>
                    <a:latin typeface="Times New Roman" panose="02020603050405020304" pitchFamily="18" charset="0"/>
                  </a:rPr>
                  <a:t>Head (B03D)</a:t>
                </a:r>
                <a:endParaRPr lang="en-US" altLang="zh-CN" sz="1200" b="0">
                  <a:solidFill>
                    <a:schemeClr val="tx1"/>
                  </a:solidFill>
                  <a:latin typeface="Times New Roman" panose="02020603050405020304" pitchFamily="18" charset="0"/>
                </a:endParaRPr>
              </a:p>
            </p:txBody>
          </p:sp>
          <p:sp>
            <p:nvSpPr>
              <p:cNvPr id="67602" name="Line 50"/>
              <p:cNvSpPr>
                <a:spLocks noChangeShapeType="1"/>
              </p:cNvSpPr>
              <p:nvPr/>
            </p:nvSpPr>
            <p:spPr bwMode="auto">
              <a:xfrm flipV="1">
                <a:off x="379" y="2131"/>
                <a:ext cx="308" cy="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03" name="Line 51"/>
              <p:cNvSpPr>
                <a:spLocks noChangeShapeType="1"/>
              </p:cNvSpPr>
              <p:nvPr/>
            </p:nvSpPr>
            <p:spPr bwMode="auto">
              <a:xfrm>
                <a:off x="1290" y="2221"/>
                <a:ext cx="317" cy="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04" name="Text Box 52"/>
              <p:cNvSpPr txBox="1">
                <a:spLocks noChangeArrowheads="1"/>
              </p:cNvSpPr>
              <p:nvPr/>
            </p:nvSpPr>
            <p:spPr bwMode="auto">
              <a:xfrm>
                <a:off x="1434" y="2051"/>
                <a:ext cx="27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en-US" altLang="zh-CN" sz="1200" b="0">
                    <a:solidFill>
                      <a:schemeClr val="tx1"/>
                    </a:solidFill>
                    <a:latin typeface="Times New Roman" panose="02020603050405020304" pitchFamily="18" charset="0"/>
                  </a:rPr>
                  <a:t>AB01</a:t>
                </a:r>
                <a:endParaRPr lang="en-US" altLang="zh-CN" sz="1200" b="0">
                  <a:solidFill>
                    <a:schemeClr val="tx1"/>
                  </a:solidFill>
                  <a:latin typeface="Times New Roman" panose="02020603050405020304" pitchFamily="18" charset="0"/>
                </a:endParaRPr>
              </a:p>
            </p:txBody>
          </p:sp>
          <p:grpSp>
            <p:nvGrpSpPr>
              <p:cNvPr id="67605" name="Group 53"/>
              <p:cNvGrpSpPr/>
              <p:nvPr/>
            </p:nvGrpSpPr>
            <p:grpSpPr bwMode="auto">
              <a:xfrm>
                <a:off x="1619" y="2229"/>
                <a:ext cx="634" cy="179"/>
                <a:chOff x="3200" y="2623"/>
                <a:chExt cx="634" cy="179"/>
              </a:xfrm>
            </p:grpSpPr>
            <p:sp>
              <p:nvSpPr>
                <p:cNvPr id="67617" name="Text Box 54"/>
                <p:cNvSpPr txBox="1">
                  <a:spLocks noChangeArrowheads="1"/>
                </p:cNvSpPr>
                <p:nvPr/>
              </p:nvSpPr>
              <p:spPr bwMode="auto">
                <a:xfrm>
                  <a:off x="3200"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200" b="0">
                      <a:solidFill>
                        <a:schemeClr val="tx1"/>
                      </a:solidFill>
                      <a:latin typeface="Times New Roman" panose="02020603050405020304" pitchFamily="18" charset="0"/>
                    </a:rPr>
                    <a:t>a1</a:t>
                  </a:r>
                  <a:endParaRPr lang="en-US" altLang="zh-CN" sz="1200" b="0">
                    <a:solidFill>
                      <a:schemeClr val="tx1"/>
                    </a:solidFill>
                    <a:latin typeface="Times New Roman" panose="02020603050405020304" pitchFamily="18" charset="0"/>
                  </a:endParaRPr>
                </a:p>
              </p:txBody>
            </p:sp>
            <p:sp>
              <p:nvSpPr>
                <p:cNvPr id="67618" name="Text Box 55"/>
                <p:cNvSpPr txBox="1">
                  <a:spLocks noChangeArrowheads="1"/>
                </p:cNvSpPr>
                <p:nvPr/>
              </p:nvSpPr>
              <p:spPr bwMode="auto">
                <a:xfrm>
                  <a:off x="3517"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200" b="0">
                      <a:solidFill>
                        <a:schemeClr val="tx2"/>
                      </a:solidFill>
                      <a:latin typeface="Times New Roman" panose="02020603050405020304" pitchFamily="18" charset="0"/>
                    </a:rPr>
                    <a:t>DA29</a:t>
                  </a:r>
                  <a:endParaRPr lang="zh-CN" altLang="en-US" sz="1200" b="0">
                    <a:solidFill>
                      <a:schemeClr val="tx2"/>
                    </a:solidFill>
                    <a:latin typeface="Times New Roman" panose="02020603050405020304" pitchFamily="18" charset="0"/>
                  </a:endParaRPr>
                </a:p>
              </p:txBody>
            </p:sp>
          </p:grpSp>
          <p:grpSp>
            <p:nvGrpSpPr>
              <p:cNvPr id="67606" name="Group 56"/>
              <p:cNvGrpSpPr/>
              <p:nvPr/>
            </p:nvGrpSpPr>
            <p:grpSpPr bwMode="auto">
              <a:xfrm>
                <a:off x="2551" y="2322"/>
                <a:ext cx="634" cy="179"/>
                <a:chOff x="3200" y="2623"/>
                <a:chExt cx="634" cy="179"/>
              </a:xfrm>
            </p:grpSpPr>
            <p:sp>
              <p:nvSpPr>
                <p:cNvPr id="67615" name="Text Box 57"/>
                <p:cNvSpPr txBox="1">
                  <a:spLocks noChangeArrowheads="1"/>
                </p:cNvSpPr>
                <p:nvPr/>
              </p:nvSpPr>
              <p:spPr bwMode="auto">
                <a:xfrm>
                  <a:off x="3200"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200" b="0">
                      <a:solidFill>
                        <a:schemeClr val="tx1"/>
                      </a:solidFill>
                      <a:latin typeface="Times New Roman" panose="02020603050405020304" pitchFamily="18" charset="0"/>
                    </a:rPr>
                    <a:t>a2</a:t>
                  </a:r>
                  <a:endParaRPr lang="en-US" altLang="zh-CN" sz="1200" b="0">
                    <a:solidFill>
                      <a:schemeClr val="tx1"/>
                    </a:solidFill>
                    <a:latin typeface="Times New Roman" panose="02020603050405020304" pitchFamily="18" charset="0"/>
                  </a:endParaRPr>
                </a:p>
              </p:txBody>
            </p:sp>
            <p:sp>
              <p:nvSpPr>
                <p:cNvPr id="67616" name="Text Box 58"/>
                <p:cNvSpPr txBox="1">
                  <a:spLocks noChangeArrowheads="1"/>
                </p:cNvSpPr>
                <p:nvPr/>
              </p:nvSpPr>
              <p:spPr bwMode="auto">
                <a:xfrm>
                  <a:off x="3517"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200" b="0">
                      <a:solidFill>
                        <a:schemeClr val="tx2"/>
                      </a:solidFill>
                      <a:latin typeface="Times New Roman" panose="02020603050405020304" pitchFamily="18" charset="0"/>
                    </a:rPr>
                    <a:t>BEF5</a:t>
                  </a:r>
                  <a:endParaRPr lang="zh-CN" altLang="en-US" sz="1200" b="0">
                    <a:solidFill>
                      <a:schemeClr val="tx2"/>
                    </a:solidFill>
                    <a:latin typeface="Times New Roman" panose="02020603050405020304" pitchFamily="18" charset="0"/>
                  </a:endParaRPr>
                </a:p>
              </p:txBody>
            </p:sp>
          </p:grpSp>
          <p:sp>
            <p:nvSpPr>
              <p:cNvPr id="67607" name="Line 59"/>
              <p:cNvSpPr>
                <a:spLocks noChangeShapeType="1"/>
              </p:cNvSpPr>
              <p:nvPr/>
            </p:nvSpPr>
            <p:spPr bwMode="auto">
              <a:xfrm>
                <a:off x="2216" y="2322"/>
                <a:ext cx="317" cy="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08" name="Text Box 60"/>
              <p:cNvSpPr txBox="1">
                <a:spLocks noChangeArrowheads="1"/>
              </p:cNvSpPr>
              <p:nvPr/>
            </p:nvSpPr>
            <p:spPr bwMode="auto">
              <a:xfrm>
                <a:off x="2365" y="2152"/>
                <a:ext cx="27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en-US" altLang="zh-CN" sz="1200" b="0">
                    <a:solidFill>
                      <a:schemeClr val="tx1"/>
                    </a:solidFill>
                    <a:latin typeface="Times New Roman" panose="02020603050405020304" pitchFamily="18" charset="0"/>
                  </a:rPr>
                  <a:t>DA29</a:t>
                </a:r>
                <a:endParaRPr lang="en-US" altLang="zh-CN" sz="1200" b="0">
                  <a:solidFill>
                    <a:schemeClr val="tx1"/>
                  </a:solidFill>
                  <a:latin typeface="Times New Roman" panose="02020603050405020304" pitchFamily="18" charset="0"/>
                </a:endParaRPr>
              </a:p>
            </p:txBody>
          </p:sp>
          <p:grpSp>
            <p:nvGrpSpPr>
              <p:cNvPr id="67609" name="Group 61"/>
              <p:cNvGrpSpPr/>
              <p:nvPr/>
            </p:nvGrpSpPr>
            <p:grpSpPr bwMode="auto">
              <a:xfrm>
                <a:off x="3464" y="2411"/>
                <a:ext cx="634" cy="179"/>
                <a:chOff x="3200" y="2623"/>
                <a:chExt cx="634" cy="179"/>
              </a:xfrm>
            </p:grpSpPr>
            <p:sp>
              <p:nvSpPr>
                <p:cNvPr id="67613" name="Text Box 62"/>
                <p:cNvSpPr txBox="1">
                  <a:spLocks noChangeArrowheads="1"/>
                </p:cNvSpPr>
                <p:nvPr/>
              </p:nvSpPr>
              <p:spPr bwMode="auto">
                <a:xfrm>
                  <a:off x="3200"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200" b="0">
                      <a:solidFill>
                        <a:schemeClr val="tx1"/>
                      </a:solidFill>
                      <a:latin typeface="Times New Roman" panose="02020603050405020304" pitchFamily="18" charset="0"/>
                    </a:rPr>
                    <a:t>a3</a:t>
                  </a:r>
                  <a:endParaRPr lang="en-US" altLang="zh-CN" sz="1200" b="0">
                    <a:solidFill>
                      <a:schemeClr val="tx1"/>
                    </a:solidFill>
                    <a:latin typeface="Times New Roman" panose="02020603050405020304" pitchFamily="18" charset="0"/>
                  </a:endParaRPr>
                </a:p>
              </p:txBody>
            </p:sp>
            <p:sp>
              <p:nvSpPr>
                <p:cNvPr id="67614" name="Text Box 63"/>
                <p:cNvSpPr txBox="1">
                  <a:spLocks noChangeArrowheads="1"/>
                </p:cNvSpPr>
                <p:nvPr/>
              </p:nvSpPr>
              <p:spPr bwMode="auto">
                <a:xfrm>
                  <a:off x="3517" y="2623"/>
                  <a:ext cx="317"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200" b="0">
                      <a:solidFill>
                        <a:schemeClr val="tx2"/>
                      </a:solidFill>
                      <a:latin typeface="Times New Roman" panose="02020603050405020304" pitchFamily="18" charset="0"/>
                    </a:rPr>
                    <a:t>B03D</a:t>
                  </a:r>
                  <a:endParaRPr lang="en-US" altLang="zh-CN" sz="1200" b="0">
                    <a:solidFill>
                      <a:schemeClr val="tx2"/>
                    </a:solidFill>
                    <a:latin typeface="Times New Roman" panose="02020603050405020304" pitchFamily="18" charset="0"/>
                  </a:endParaRPr>
                </a:p>
              </p:txBody>
            </p:sp>
          </p:grpSp>
          <p:sp>
            <p:nvSpPr>
              <p:cNvPr id="67610" name="Line 64"/>
              <p:cNvSpPr>
                <a:spLocks noChangeShapeType="1"/>
              </p:cNvSpPr>
              <p:nvPr/>
            </p:nvSpPr>
            <p:spPr bwMode="auto">
              <a:xfrm>
                <a:off x="3148" y="2411"/>
                <a:ext cx="317" cy="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11" name="Text Box 65"/>
              <p:cNvSpPr txBox="1">
                <a:spLocks noChangeArrowheads="1"/>
              </p:cNvSpPr>
              <p:nvPr/>
            </p:nvSpPr>
            <p:spPr bwMode="auto">
              <a:xfrm>
                <a:off x="3289" y="2241"/>
                <a:ext cx="27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r">
                  <a:spcBef>
                    <a:spcPct val="50000"/>
                  </a:spcBef>
                  <a:buFontTx/>
                  <a:buNone/>
                </a:pPr>
                <a:r>
                  <a:rPr lang="en-US" altLang="zh-CN" sz="1200" b="0">
                    <a:solidFill>
                      <a:schemeClr val="tx1"/>
                    </a:solidFill>
                    <a:latin typeface="Times New Roman" panose="02020603050405020304" pitchFamily="18" charset="0"/>
                  </a:rPr>
                  <a:t>BEF5</a:t>
                </a:r>
                <a:endParaRPr lang="en-US" altLang="zh-CN" sz="1200" b="0">
                  <a:solidFill>
                    <a:schemeClr val="tx1"/>
                  </a:solidFill>
                  <a:latin typeface="Times New Roman" panose="02020603050405020304" pitchFamily="18" charset="0"/>
                </a:endParaRPr>
              </a:p>
            </p:txBody>
          </p:sp>
          <p:cxnSp>
            <p:nvCxnSpPr>
              <p:cNvPr id="67612" name="AutoShape 66"/>
              <p:cNvCxnSpPr>
                <a:cxnSpLocks noChangeShapeType="1"/>
              </p:cNvCxnSpPr>
              <p:nvPr/>
            </p:nvCxnSpPr>
            <p:spPr bwMode="auto">
              <a:xfrm flipH="1" flipV="1">
                <a:off x="698" y="2268"/>
                <a:ext cx="3310" cy="281"/>
              </a:xfrm>
              <a:prstGeom prst="curvedConnector5">
                <a:avLst>
                  <a:gd name="adj1" fmla="val -4352"/>
                  <a:gd name="adj2" fmla="val -59787"/>
                  <a:gd name="adj3" fmla="val 104352"/>
                </a:avLst>
              </a:prstGeom>
              <a:noFill/>
              <a:ln w="9525">
                <a:solidFill>
                  <a:schemeClr val="tx2"/>
                </a:solidFill>
                <a:round/>
                <a:tailEnd type="triangle" w="med" len="med"/>
              </a:ln>
              <a:extLst>
                <a:ext uri="{909E8E84-426E-40DD-AFC4-6F175D3DCCD1}">
                  <a14:hiddenFill xmlns:a14="http://schemas.microsoft.com/office/drawing/2010/main">
                    <a:noFill/>
                  </a14:hiddenFill>
                </a:ext>
              </a:extLst>
            </p:spPr>
          </p:cxnSp>
        </p:grpSp>
        <p:grpSp>
          <p:nvGrpSpPr>
            <p:cNvPr id="67593" name="Group 67"/>
            <p:cNvGrpSpPr/>
            <p:nvPr/>
          </p:nvGrpSpPr>
          <p:grpSpPr bwMode="auto">
            <a:xfrm>
              <a:off x="4254" y="2060"/>
              <a:ext cx="1266" cy="304"/>
              <a:chOff x="4254" y="2144"/>
              <a:chExt cx="1266" cy="304"/>
            </a:xfrm>
          </p:grpSpPr>
          <p:sp>
            <p:nvSpPr>
              <p:cNvPr id="67594" name="Text Box 68" descr="浅色上对角线"/>
              <p:cNvSpPr txBox="1">
                <a:spLocks noChangeArrowheads="1"/>
              </p:cNvSpPr>
              <p:nvPr/>
            </p:nvSpPr>
            <p:spPr bwMode="auto">
              <a:xfrm>
                <a:off x="4927" y="2269"/>
                <a:ext cx="295" cy="179"/>
              </a:xfrm>
              <a:prstGeom prst="rect">
                <a:avLst/>
              </a:prstGeom>
              <a:blipFill dpi="0" rotWithShape="0">
                <a:blip r:embed="rId1"/>
                <a:srcRect/>
                <a:tile tx="0" ty="0" sx="100000" sy="100000" flip="none" algn="tl"/>
              </a:blipFill>
              <a:ln w="9525">
                <a:solidFill>
                  <a:schemeClr val="tx2"/>
                </a:solidFill>
                <a:miter lim="800000"/>
              </a:ln>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b="0">
                  <a:solidFill>
                    <a:schemeClr val="tx1"/>
                  </a:solidFill>
                  <a:latin typeface="Times New Roman" panose="02020603050405020304" pitchFamily="18" charset="0"/>
                </a:endParaRPr>
              </a:p>
            </p:txBody>
          </p:sp>
          <p:sp>
            <p:nvSpPr>
              <p:cNvPr id="67595" name="Text Box 69"/>
              <p:cNvSpPr txBox="1">
                <a:spLocks noChangeArrowheads="1"/>
              </p:cNvSpPr>
              <p:nvPr/>
            </p:nvSpPr>
            <p:spPr bwMode="auto">
              <a:xfrm>
                <a:off x="5225" y="2269"/>
                <a:ext cx="295" cy="17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endParaRPr lang="en-US" altLang="zh-CN" sz="1200" b="0">
                  <a:solidFill>
                    <a:schemeClr val="tx2"/>
                  </a:solidFill>
                  <a:latin typeface="Times New Roman" panose="02020603050405020304" pitchFamily="18" charset="0"/>
                </a:endParaRPr>
              </a:p>
            </p:txBody>
          </p:sp>
          <p:sp>
            <p:nvSpPr>
              <p:cNvPr id="67596" name="Text Box 70"/>
              <p:cNvSpPr txBox="1">
                <a:spLocks noChangeArrowheads="1"/>
              </p:cNvSpPr>
              <p:nvPr/>
            </p:nvSpPr>
            <p:spPr bwMode="auto">
              <a:xfrm>
                <a:off x="4254" y="214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200" b="0">
                    <a:solidFill>
                      <a:schemeClr val="tx1"/>
                    </a:solidFill>
                    <a:latin typeface="Times New Roman" panose="02020603050405020304" pitchFamily="18" charset="0"/>
                  </a:rPr>
                  <a:t>Head (B03D)</a:t>
                </a:r>
                <a:endParaRPr lang="en-US" altLang="zh-CN" sz="1200" b="0">
                  <a:solidFill>
                    <a:schemeClr val="tx1"/>
                  </a:solidFill>
                  <a:latin typeface="Times New Roman" panose="02020603050405020304" pitchFamily="18" charset="0"/>
                </a:endParaRPr>
              </a:p>
            </p:txBody>
          </p:sp>
          <p:sp>
            <p:nvSpPr>
              <p:cNvPr id="67597" name="Line 71"/>
              <p:cNvSpPr>
                <a:spLocks noChangeShapeType="1"/>
              </p:cNvSpPr>
              <p:nvPr/>
            </p:nvSpPr>
            <p:spPr bwMode="auto">
              <a:xfrm flipV="1">
                <a:off x="4603" y="2270"/>
                <a:ext cx="30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67598" name="AutoShape 72"/>
              <p:cNvCxnSpPr>
                <a:cxnSpLocks noChangeShapeType="1"/>
              </p:cNvCxnSpPr>
              <p:nvPr/>
            </p:nvCxnSpPr>
            <p:spPr bwMode="auto">
              <a:xfrm flipH="1">
                <a:off x="4921" y="2365"/>
                <a:ext cx="555" cy="1"/>
              </a:xfrm>
              <a:prstGeom prst="curvedConnector5">
                <a:avLst>
                  <a:gd name="adj1" fmla="val -25944"/>
                  <a:gd name="adj2" fmla="val 22000009"/>
                  <a:gd name="adj3" fmla="val 125944"/>
                </a:avLst>
              </a:prstGeom>
              <a:noFill/>
              <a:ln w="9525">
                <a:solidFill>
                  <a:schemeClr val="tx2"/>
                </a:solidFill>
                <a:round/>
                <a:tailEnd type="triangle" w="med" len="med"/>
              </a:ln>
              <a:extLst>
                <a:ext uri="{909E8E84-426E-40DD-AFC4-6F175D3DCCD1}">
                  <a14:hiddenFill xmlns:a14="http://schemas.microsoft.com/office/drawing/2010/main">
                    <a:noFill/>
                  </a14:hiddenFill>
                </a:ext>
              </a:extLst>
            </p:spPr>
          </p:cxnSp>
        </p:grpSp>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6B1D4996-F3C5-422A-A30F-408730065957}"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69635"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3.2 </a:t>
            </a:r>
            <a:r>
              <a:rPr lang="zh-CN" altLang="en-US" sz="2400">
                <a:latin typeface="宋体" panose="02010600030101010101" pitchFamily="2" charset="-122"/>
                <a:ea typeface="宋体" panose="02010600030101010101" pitchFamily="2" charset="-122"/>
              </a:rPr>
              <a:t>线性表</a:t>
            </a:r>
            <a:endParaRPr lang="zh-CN" altLang="en-US" sz="2400">
              <a:latin typeface="宋体" panose="02010600030101010101" pitchFamily="2" charset="-122"/>
              <a:ea typeface="宋体" panose="02010600030101010101" pitchFamily="2" charset="-122"/>
            </a:endParaRPr>
          </a:p>
        </p:txBody>
      </p:sp>
      <p:sp>
        <p:nvSpPr>
          <p:cNvPr id="69636" name="Rectangle 3"/>
          <p:cNvSpPr>
            <a:spLocks noGrp="1" noChangeArrowheads="1"/>
          </p:cNvSpPr>
          <p:nvPr>
            <p:ph type="body" idx="1"/>
          </p:nvPr>
        </p:nvSpPr>
        <p:spPr>
          <a:xfrm>
            <a:off x="65088" y="981075"/>
            <a:ext cx="9078912" cy="5876925"/>
          </a:xfrm>
        </p:spPr>
        <p:txBody>
          <a:bodyPr/>
          <a:lstStyle/>
          <a:p>
            <a:pPr marL="285750" indent="-285750"/>
            <a:r>
              <a:rPr lang="zh-CN" altLang="en-US" sz="2800">
                <a:latin typeface="宋体" panose="02010600030101010101" pitchFamily="2" charset="-122"/>
                <a:ea typeface="宋体" panose="02010600030101010101" pitchFamily="2" charset="-122"/>
              </a:rPr>
              <a:t>线性表的顺序存储和链式存储的选择</a:t>
            </a:r>
            <a:endParaRPr lang="zh-CN" altLang="en-US" sz="2800">
              <a:latin typeface="宋体" panose="02010600030101010101" pitchFamily="2" charset="-122"/>
              <a:ea typeface="宋体" panose="02010600030101010101" pitchFamily="2" charset="-122"/>
            </a:endParaRPr>
          </a:p>
          <a:p>
            <a:pPr marL="862330" lvl="1"/>
            <a:r>
              <a:rPr lang="zh-CN" altLang="en-US" sz="2400">
                <a:latin typeface="宋体" panose="02010600030101010101" pitchFamily="2" charset="-122"/>
                <a:ea typeface="宋体" panose="02010600030101010101" pitchFamily="2" charset="-122"/>
              </a:rPr>
              <a:t>在使用线性表时，存储形式的选择</a:t>
            </a:r>
            <a:r>
              <a:rPr lang="zh-CN" altLang="en-US" sz="2400">
                <a:solidFill>
                  <a:schemeClr val="tx2"/>
                </a:solidFill>
                <a:latin typeface="宋体" panose="02010600030101010101" pitchFamily="2" charset="-122"/>
                <a:ea typeface="宋体" panose="02010600030101010101" pitchFamily="2" charset="-122"/>
              </a:rPr>
              <a:t>取决于线性表的应用特点</a:t>
            </a:r>
            <a:endParaRPr lang="zh-CN" altLang="en-US" sz="2400">
              <a:solidFill>
                <a:schemeClr val="tx2"/>
              </a:solidFill>
              <a:latin typeface="宋体" panose="02010600030101010101" pitchFamily="2" charset="-122"/>
              <a:ea typeface="宋体" panose="02010600030101010101" pitchFamily="2" charset="-122"/>
            </a:endParaRPr>
          </a:p>
          <a:p>
            <a:pPr marL="862330" lvl="1"/>
            <a:r>
              <a:rPr lang="zh-CN" altLang="en-US" sz="2400">
                <a:latin typeface="宋体" panose="02010600030101010101" pitchFamily="2" charset="-122"/>
                <a:ea typeface="宋体" panose="02010600030101010101" pitchFamily="2" charset="-122"/>
              </a:rPr>
              <a:t>线性表的长度是否固定</a:t>
            </a:r>
            <a:endParaRPr lang="zh-CN" altLang="en-US" sz="2400">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数据元素数目的确定</a:t>
            </a:r>
            <a:endParaRPr lang="zh-CN" altLang="en-US" sz="2000">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最大长度、有效长度的确定</a:t>
            </a:r>
            <a:endParaRPr lang="zh-CN" altLang="en-US" sz="2000">
              <a:latin typeface="宋体" panose="02010600030101010101" pitchFamily="2" charset="-122"/>
              <a:ea typeface="宋体" panose="02010600030101010101" pitchFamily="2" charset="-122"/>
            </a:endParaRPr>
          </a:p>
          <a:p>
            <a:pPr marL="862330" lvl="1"/>
            <a:r>
              <a:rPr lang="zh-CN" altLang="en-US" sz="2400">
                <a:latin typeface="宋体" panose="02010600030101010101" pitchFamily="2" charset="-122"/>
                <a:ea typeface="宋体" panose="02010600030101010101" pitchFamily="2" charset="-122"/>
              </a:rPr>
              <a:t>线性表的主要操作</a:t>
            </a:r>
            <a:endParaRPr lang="zh-CN" altLang="en-US" sz="2400">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插入、删除操作</a:t>
            </a:r>
            <a:endParaRPr lang="zh-CN" altLang="en-US" sz="2000">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查询操作</a:t>
            </a:r>
            <a:endParaRPr lang="zh-CN" altLang="en-US" sz="2000">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操作的频繁程度</a:t>
            </a:r>
            <a:endParaRPr lang="zh-CN" altLang="en-US" sz="2000">
              <a:latin typeface="宋体" panose="02010600030101010101" pitchFamily="2" charset="-122"/>
              <a:ea typeface="宋体" panose="02010600030101010101" pitchFamily="2" charset="-122"/>
            </a:endParaRPr>
          </a:p>
          <a:p>
            <a:pPr marL="862330" lvl="1"/>
            <a:r>
              <a:rPr lang="zh-CN" altLang="en-US" sz="2400">
                <a:latin typeface="宋体" panose="02010600030101010101" pitchFamily="2" charset="-122"/>
                <a:ea typeface="宋体" panose="02010600030101010101" pitchFamily="2" charset="-122"/>
              </a:rPr>
              <a:t>实现线性表的程序语言</a:t>
            </a:r>
            <a:endParaRPr lang="zh-CN" altLang="en-US" sz="2400">
              <a:latin typeface="宋体" panose="02010600030101010101" pitchFamily="2" charset="-122"/>
              <a:ea typeface="宋体" panose="02010600030101010101" pitchFamily="2" charset="-122"/>
            </a:endParaRPr>
          </a:p>
          <a:p>
            <a:pPr marL="1333500" lvl="2"/>
            <a:r>
              <a:rPr lang="zh-CN" altLang="en-US" sz="2000">
                <a:solidFill>
                  <a:schemeClr val="tx2"/>
                </a:solidFill>
                <a:latin typeface="宋体" panose="02010600030101010101" pitchFamily="2" charset="-122"/>
                <a:ea typeface="宋体" panose="02010600030101010101" pitchFamily="2" charset="-122"/>
              </a:rPr>
              <a:t>不同程序语言对实现向量和链表的支持是不同的</a:t>
            </a:r>
            <a:endParaRPr lang="zh-CN" altLang="en-US" sz="2000">
              <a:solidFill>
                <a:schemeClr val="tx2"/>
              </a:solidFill>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有的程序语言对向量的支持很丰富，</a:t>
            </a:r>
            <a:r>
              <a:rPr lang="en-US" altLang="zh-CN" sz="2000">
                <a:latin typeface="宋体" panose="02010600030101010101" pitchFamily="2" charset="-122"/>
                <a:ea typeface="宋体" panose="02010600030101010101" pitchFamily="2" charset="-122"/>
              </a:rPr>
              <a:t>Visual Basic</a:t>
            </a:r>
            <a:r>
              <a:rPr lang="zh-CN" altLang="en-US" sz="2000">
                <a:latin typeface="宋体" panose="02010600030101010101" pitchFamily="2" charset="-122"/>
                <a:ea typeface="宋体" panose="02010600030101010101" pitchFamily="2" charset="-122"/>
              </a:rPr>
              <a:t>等</a:t>
            </a:r>
            <a:endParaRPr lang="zh-CN" altLang="en-US" sz="2000">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有的程序语言对指针链表的支持很丰富，</a:t>
            </a:r>
            <a:r>
              <a:rPr lang="en-US" altLang="zh-CN" sz="2000">
                <a:latin typeface="宋体" panose="02010600030101010101" pitchFamily="2" charset="-122"/>
                <a:ea typeface="宋体" panose="02010600030101010101" pitchFamily="2" charset="-122"/>
              </a:rPr>
              <a:t>C</a:t>
            </a:r>
            <a:r>
              <a:rPr lang="zh-CN" altLang="en-US" sz="2000">
                <a:latin typeface="宋体" panose="02010600030101010101" pitchFamily="2" charset="-122"/>
                <a:ea typeface="宋体" panose="02010600030101010101" pitchFamily="2" charset="-122"/>
              </a:rPr>
              <a:t>++等</a:t>
            </a:r>
            <a:endParaRPr lang="zh-CN" altLang="en-US" sz="2000">
              <a:latin typeface="宋体" panose="02010600030101010101" pitchFamily="2" charset="-122"/>
              <a:ea typeface="宋体" panose="0201060003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2ED41095-B6E2-46E0-AA5D-792EB81D6593}" type="slidenum">
              <a:rPr lang="zh-CN" altLang="en-US" sz="1400" b="0" smtClean="0">
                <a:latin typeface="Arial" panose="020B0604020202020204" pitchFamily="34" charset="0"/>
              </a:rPr>
            </a:fld>
            <a:endParaRPr lang="en-US" altLang="zh-CN" sz="1400" b="0">
              <a:latin typeface="Times New Roman" panose="02020603050405020304" pitchFamily="18" charset="0"/>
            </a:endParaRPr>
          </a:p>
        </p:txBody>
      </p:sp>
      <p:sp>
        <p:nvSpPr>
          <p:cNvPr id="70659" name="Rectangle 2"/>
          <p:cNvSpPr>
            <a:spLocks noGrp="1" noChangeArrowheads="1"/>
          </p:cNvSpPr>
          <p:nvPr>
            <p:ph type="title"/>
          </p:nvPr>
        </p:nvSpPr>
        <p:spPr>
          <a:xfrm>
            <a:off x="685800" y="1828800"/>
            <a:ext cx="7772400" cy="2057400"/>
          </a:xfrm>
        </p:spPr>
        <p:txBody>
          <a:bodyPr/>
          <a:lstStyle/>
          <a:p>
            <a:pPr>
              <a:lnSpc>
                <a:spcPct val="150000"/>
              </a:lnSpc>
            </a:pPr>
            <a:r>
              <a:rPr lang="en-US" altLang="zh-CN" sz="8000" b="1" dirty="0">
                <a:latin typeface="宋体" panose="02010600030101010101" pitchFamily="2" charset="-122"/>
                <a:ea typeface="宋体" panose="02010600030101010101" pitchFamily="2" charset="-122"/>
              </a:rPr>
              <a:t>End</a:t>
            </a:r>
            <a:br>
              <a:rPr lang="en-US" altLang="zh-CN" sz="8000" b="1" dirty="0">
                <a:latin typeface="宋体" panose="02010600030101010101" pitchFamily="2" charset="-122"/>
                <a:ea typeface="宋体" panose="02010600030101010101" pitchFamily="2" charset="-122"/>
              </a:rPr>
            </a:br>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p:sld>
</file>

<file path=ppt/tags/tag1.xml><?xml version="1.0" encoding="utf-8"?>
<p:tagLst xmlns:p="http://schemas.openxmlformats.org/presentationml/2006/main">
  <p:tag name="commondata" val="eyJoZGlkIjoiNGI2ODAxN2Y4NGM4NjYxMDk5NDNjMTFhMzQ1NjYxOGIifQ=="/>
</p:tagLst>
</file>

<file path=ppt/theme/theme1.xml><?xml version="1.0" encoding="utf-8"?>
<a:theme xmlns:a="http://schemas.openxmlformats.org/drawingml/2006/main" name="InternetComputing">
  <a:themeElements>
    <a:clrScheme name="软件技术基础">
      <a:dk1>
        <a:srgbClr val="000000"/>
      </a:dk1>
      <a:lt1>
        <a:srgbClr val="FF0000"/>
      </a:lt1>
      <a:dk2>
        <a:srgbClr val="000000"/>
      </a:dk2>
      <a:lt2>
        <a:srgbClr val="FF0000"/>
      </a:lt2>
      <a:accent1>
        <a:srgbClr val="0000D4"/>
      </a:accent1>
      <a:accent2>
        <a:srgbClr val="FFCBCC"/>
      </a:accent2>
      <a:accent3>
        <a:srgbClr val="AAAAFF"/>
      </a:accent3>
      <a:accent4>
        <a:srgbClr val="DADADA"/>
      </a:accent4>
      <a:accent5>
        <a:srgbClr val="FFCAAA"/>
      </a:accent5>
      <a:accent6>
        <a:srgbClr val="00E7E7"/>
      </a:accent6>
      <a:hlink>
        <a:srgbClr val="FF0000"/>
      </a:hlink>
      <a:folHlink>
        <a:srgbClr val="969696"/>
      </a:folHlink>
    </a:clrScheme>
    <a:fontScheme name="InternetComputing">
      <a:majorFont>
        <a:latin typeface="Arial"/>
        <a:ea typeface=""/>
        <a:cs typeface=""/>
      </a:majorFont>
      <a:minorFont>
        <a:latin typeface="Book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2"/>
          </a:solidFill>
          <a:prstDash val="solid"/>
          <a:round/>
          <a:headEnd type="none" w="med" len="med"/>
          <a:tailEnd type="none" w="med" len="med"/>
        </a:ln>
      </a:spPr>
      <a:bodyPr vert="horz" wrap="square" lIns="18000" tIns="10800" rIns="18000" bIns="10800" numCol="1" anchor="t" anchorCtr="0" compatLnSpc="1">
        <a:spAutoFit/>
      </a:bodyPr>
      <a:lstStyle>
        <a:defPPr marL="0" marR="0" indent="0" algn="ctr" defTabSz="914400" rtl="0" eaLnBrk="0" fontAlgn="base" latinLnBrk="0" hangingPunct="0">
          <a:lnSpc>
            <a:spcPct val="100000"/>
          </a:lnSpc>
          <a:spcBef>
            <a:spcPct val="0"/>
          </a:spcBef>
          <a:spcAft>
            <a:spcPct val="0"/>
          </a:spcAft>
          <a:buClrTx/>
          <a:buSzTx/>
          <a:buFontTx/>
          <a:buNone/>
          <a:defRPr kumimoji="0" 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chemeClr val="tx2"/>
          </a:solidFill>
          <a:prstDash val="solid"/>
          <a:round/>
          <a:headEnd type="none" w="med" len="med"/>
          <a:tailEnd type="none" w="med" len="med"/>
        </a:ln>
      </a:spPr>
      <a:bodyPr vert="horz" wrap="square" lIns="18000" tIns="10800" rIns="18000" bIns="10800" numCol="1" anchor="t" anchorCtr="0" compatLnSpc="1">
        <a:spAutoFit/>
      </a:bodyPr>
      <a:lstStyle>
        <a:defPPr marL="0" marR="0" indent="0" algn="ctr" defTabSz="914400" rtl="0" eaLnBrk="0" fontAlgn="base" latinLnBrk="0" hangingPunct="0">
          <a:lnSpc>
            <a:spcPct val="100000"/>
          </a:lnSpc>
          <a:spcBef>
            <a:spcPct val="0"/>
          </a:spcBef>
          <a:spcAft>
            <a:spcPct val="0"/>
          </a:spcAft>
          <a:buClrTx/>
          <a:buSzTx/>
          <a:buFontTx/>
          <a:buNone/>
          <a:defRPr kumimoji="0" 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InternetComputing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nternetComputing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nternetComputing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nternetComputing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nternetComputing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nternetComputing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nternetComputing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7735</Words>
  <Application>WPS 演示</Application>
  <PresentationFormat>全屏显示(4:3)</PresentationFormat>
  <Paragraphs>933</Paragraphs>
  <Slides>29</Slides>
  <Notes>24</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29</vt:i4>
      </vt:variant>
    </vt:vector>
  </HeadingPairs>
  <TitlesOfParts>
    <vt:vector size="40" baseType="lpstr">
      <vt:lpstr>Arial</vt:lpstr>
      <vt:lpstr>宋体</vt:lpstr>
      <vt:lpstr>Wingdings</vt:lpstr>
      <vt:lpstr>Times New Roman</vt:lpstr>
      <vt:lpstr>微软雅黑</vt:lpstr>
      <vt:lpstr>Bookman</vt:lpstr>
      <vt:lpstr>Bookman Old Style</vt:lpstr>
      <vt:lpstr>Arial Unicode MS</vt:lpstr>
      <vt:lpstr>InternetComputing</vt:lpstr>
      <vt:lpstr>Equation.DSMT4</vt:lpstr>
      <vt:lpstr>Equation.DSMT4</vt:lpstr>
      <vt:lpstr>数据结构与操作系统 （第三讲）</vt:lpstr>
      <vt:lpstr>3. 数据结构</vt:lpstr>
      <vt:lpstr>3. 数据结构 3.1 概述</vt:lpstr>
      <vt:lpstr>3. 数据结构 3.1 概述</vt:lpstr>
      <vt:lpstr>3. 数据结构 3.1 概述</vt:lpstr>
      <vt:lpstr>3. 数据结构 3.1 概述</vt:lpstr>
      <vt:lpstr>3. 数据结构 3.1 概述</vt:lpstr>
      <vt:lpstr>3. 数据结构 3.1 概述</vt:lpstr>
      <vt:lpstr>3. 数据结构 3.1 概述</vt:lpstr>
      <vt:lpstr>3. 数据结构 3.2 线性表</vt:lpstr>
      <vt:lpstr>3. 数据结构 3.2 线性表</vt:lpstr>
      <vt:lpstr>3. 数据结构 3.2 线性表</vt:lpstr>
      <vt:lpstr>3. 数据结构 3.2 线性表</vt:lpstr>
      <vt:lpstr>3. 数据结构 3.2 线性表</vt:lpstr>
      <vt:lpstr>3. 数据结构 3.2 线性表</vt:lpstr>
      <vt:lpstr>3. 数据结构 3.2 线性表</vt:lpstr>
      <vt:lpstr>3. 数据结构 3.2 线性表</vt:lpstr>
      <vt:lpstr>3. 数据结构 3.2 线性表</vt:lpstr>
      <vt:lpstr>3. 数据结构 3.2 线性表</vt:lpstr>
      <vt:lpstr>3. 数据结构 3.2 线性表</vt:lpstr>
      <vt:lpstr>3. 数据结构 3.2 线性表</vt:lpstr>
      <vt:lpstr>3. 数据结构 3.2 线性表</vt:lpstr>
      <vt:lpstr>3. 数据结构 3.2 线性表</vt:lpstr>
      <vt:lpstr>3. 数据结构 3.2 线性表</vt:lpstr>
      <vt:lpstr>3. 数据结构 3.2 线性表</vt:lpstr>
      <vt:lpstr>3. 数据结构 3.2 线性表</vt:lpstr>
      <vt:lpstr>3. 数据结构 3.2 线性表</vt:lpstr>
      <vt:lpstr>3. 数据结构 3.2 线性表</vt:lpstr>
      <vt:lpstr>End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1072</cp:revision>
  <dcterms:created xsi:type="dcterms:W3CDTF">1999-12-08T03:20:00Z</dcterms:created>
  <dcterms:modified xsi:type="dcterms:W3CDTF">2024-05-13T00:48:19Z</dcterms:modified>
</cp:coreProperties>
</file>