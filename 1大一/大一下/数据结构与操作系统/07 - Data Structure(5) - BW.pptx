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8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80" r:id="rId13"/>
    <p:sldId id="281" r:id="rId14"/>
    <p:sldId id="287" r:id="rId15"/>
    <p:sldId id="271" r:id="rId16"/>
    <p:sldId id="272" r:id="rId17"/>
    <p:sldId id="274" r:id="rId18"/>
    <p:sldId id="282" r:id="rId19"/>
    <p:sldId id="283" r:id="rId20"/>
    <p:sldId id="275" r:id="rId21"/>
    <p:sldId id="284" r:id="rId22"/>
    <p:sldId id="276" r:id="rId23"/>
    <p:sldId id="277" r:id="rId24"/>
    <p:sldId id="278" r:id="rId25"/>
    <p:sldId id="285" r:id="rId26"/>
    <p:sldId id="286" r:id="rId27"/>
    <p:sldId id="279" r:id="rId28"/>
  </p:sldIdLst>
  <p:sldSz cx="9144000" cy="6858000" type="screen4x3"/>
  <p:notesSz cx="6648450" cy="97821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66CC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00CC"/>
    <a:srgbClr val="FF66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 autoAdjust="0"/>
    <p:restoredTop sz="95253" autoAdjust="0"/>
  </p:normalViewPr>
  <p:slideViewPr>
    <p:cSldViewPr>
      <p:cViewPr varScale="1">
        <p:scale>
          <a:sx n="107" d="100"/>
          <a:sy n="107" d="100"/>
        </p:scale>
        <p:origin x="1734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1AA8C52-E1DC-4C00-B107-70A4FC879F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EDADA17-E016-469D-B90C-0ED7A6DDB3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04CFE0A7-78BC-4DE1-B512-6632958F2F8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6827C3DB-366E-4BA0-8C2B-DDCB64EB67C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fld id="{68962880-F97A-4D48-BCA2-6875A2F7062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883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F14009C-D1AD-4CF0-80F5-831B2C0B29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89AA48A-CE95-4C12-90B1-BE6E1EB48EE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39F4EA9-67AE-4284-AEFC-EA338A61133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5013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D0EAB69-820E-4980-8430-E5A5EDD675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F4610010-7769-44A3-A24B-B28411BE437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8700627-1F9D-4BD0-B6C1-C4EB7039D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fld id="{E92838B4-6C42-4D3C-AE75-C9D3A4D1432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01382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8C201E50-1F10-4121-BD03-FC85DFDBF0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DE53221-15AD-462D-BE5D-132CE2AD2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/>
              <a:t>例如：顶点表示城市，或工程当中的一个任务。</a:t>
            </a: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F0FCB0E1-528A-425A-92F7-59493DD00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72F8FBA-4B83-4C48-B46E-B94E0DB54F9F}" type="slidenum">
              <a:rPr lang="zh-CN" altLang="en-US" sz="1200"/>
              <a:pPr/>
              <a:t>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746980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E4F2017B-81B7-4537-B7CD-95AA79635D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35229A0F-1864-41AB-A453-60DD08157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就是原图的一部分。</a:t>
            </a:r>
            <a:endParaRPr lang="en-US" altLang="zh-CN"/>
          </a:p>
          <a:p>
            <a:r>
              <a:rPr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zh-CN" altLang="en-US" b="1">
                <a:cs typeface="Times New Roman" panose="02020603050405020304" pitchFamily="18" charset="0"/>
                <a:sym typeface="Symbol" panose="05050102010706020507" pitchFamily="18" charset="2"/>
              </a:rPr>
              <a:t>包含于或等于</a:t>
            </a:r>
            <a:endParaRPr lang="zh-CN" altLang="en-US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103FD424-94E1-4622-BDB9-47A4FE2DE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82B04CA-9DF3-4B05-AAF0-4D75E153B8F2}" type="slidenum">
              <a:rPr lang="zh-CN" altLang="en-US" sz="1200"/>
              <a:pPr/>
              <a:t>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485257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A1074A56-8893-4E7A-A8D3-3CDD67DAFC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55857E1A-73F3-4E8D-A52E-5E7FCEA9A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树中结点的度，类似于有向图中结点的出度。</a:t>
            </a:r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41B4BD73-BBAC-4492-A694-4C6E23A95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0A48F51-2C6F-44F0-8DEC-5D5C64111C11}" type="slidenum">
              <a:rPr lang="zh-CN" altLang="en-US" sz="1200"/>
              <a:pPr/>
              <a:t>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118743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531A3D83-27C6-458D-8FF4-4240FBB26D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228C7710-C511-49E8-9C00-94EFB898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网络的路径长度，确切地说是：网络中两个顶点之间的路径长度。</a:t>
            </a:r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EE752863-C552-405A-868D-1E7837F31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19932A6-A282-4888-8A60-CC204C2C6FEE}" type="slidenum">
              <a:rPr lang="zh-CN" altLang="en-US" sz="1200"/>
              <a:pPr/>
              <a:t>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582791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8A5672E3-A048-4B0D-9502-FF45FA7937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09CFD712-C741-43EC-B023-F5588DB77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极大连通子图</a:t>
            </a:r>
            <a:r>
              <a:rPr lang="en-US" altLang="zh-CN"/>
              <a:t>:</a:t>
            </a:r>
            <a:r>
              <a:rPr lang="zh-CN" altLang="en-US"/>
              <a:t>如果子图中再增加一个结点和（或）一条边的话，就变成非连通图。例如：结点</a:t>
            </a:r>
            <a:r>
              <a:rPr lang="en-US" altLang="zh-CN"/>
              <a:t>4,8,6</a:t>
            </a:r>
            <a:r>
              <a:rPr lang="zh-CN" altLang="en-US"/>
              <a:t>构成一个连通子图，但不是极大连通子图，因为加入结点</a:t>
            </a:r>
            <a:r>
              <a:rPr lang="en-US" altLang="zh-CN"/>
              <a:t>11</a:t>
            </a:r>
            <a:r>
              <a:rPr lang="zh-CN" altLang="en-US"/>
              <a:t>后，仍然是连通子图。</a:t>
            </a:r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69F2F0FB-2343-415B-B9F3-BD92A04D1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D7AF6FA-9EDB-40B5-AD9B-F8CB53E7E7A5}" type="slidenum">
              <a:rPr lang="zh-CN" altLang="en-US" sz="1200"/>
              <a:pPr/>
              <a:t>7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17562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9F1CF5DE-D011-4D62-96D2-3BD6A8837F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9BDFCE78-D9A8-448F-9B1F-FA6C1E3D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一旦转化为矩阵，就可以采用矩阵的存储方式进行存储。</a:t>
            </a:r>
            <a:endParaRPr lang="en-US" altLang="zh-CN"/>
          </a:p>
          <a:p>
            <a:r>
              <a:rPr lang="zh-CN" altLang="en-US"/>
              <a:t>对于图，矩阵中存储的是边或弧的信息，对于网，矩阵中存储的是边或弧上权重的信息。</a:t>
            </a:r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F6DB3A10-D88B-44C6-A349-3E73FDCA6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B0189B7-1156-4C46-AC45-7266B4B4A77E}" type="slidenum">
              <a:rPr lang="zh-CN" altLang="en-US" sz="1200"/>
              <a:pPr/>
              <a:t>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627689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8299936D-CB0E-42BA-B7E3-77DBB70126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F510A308-3303-4904-AF45-53E0F0CE1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一旦用矩阵表示了图，就可以采用矩阵的存储方式来存储图了。</a:t>
            </a:r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4EF1F8C4-AE8C-4F13-B3B3-264109A71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F0EC47A-93BB-4239-909A-63A62A3E9C93}" type="slidenum">
              <a:rPr lang="zh-CN" altLang="en-US" sz="1200"/>
              <a:pPr/>
              <a:t>10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69268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51B742FA-A340-434E-88C0-2E430A81CF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25FBC815-DE83-47E6-8766-2FB655834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这里值得注意的是：链表节点表示的是边或弧，而不是图中的顶点。</a:t>
            </a:r>
            <a:endParaRPr lang="en-US" altLang="zh-CN"/>
          </a:p>
          <a:p>
            <a:r>
              <a:rPr lang="zh-CN" altLang="en-US"/>
              <a:t>表头节点中的数据域，存储顶点的有关信息，不是顶点的编号。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65493D7C-6617-45F0-BCED-B3D19BFF7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B969298-6762-4AC2-A6A8-57951AFB96E3}" type="slidenum">
              <a:rPr lang="zh-CN" altLang="en-US" sz="1200"/>
              <a:pPr/>
              <a:t>11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174529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21DB8D3D-925D-4710-9C8E-384D0EAB39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06AF46B9-6AB8-4C71-9CD8-97F0644CC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每一个顶点形成一个单链表，表头结点存储在数组当中，</a:t>
            </a:r>
            <a:endParaRPr lang="en-US" altLang="zh-CN"/>
          </a:p>
          <a:p>
            <a:r>
              <a:rPr lang="zh-CN" altLang="en-US"/>
              <a:t>对于无向图，单链表中的结点表示的是边；对于有向图，表示的是弧。</a:t>
            </a:r>
            <a:endParaRPr lang="en-US" altLang="zh-CN"/>
          </a:p>
          <a:p>
            <a:r>
              <a:rPr lang="zh-CN" altLang="en-US"/>
              <a:t>例如：第一个顶点的单链表中，有三个节点，表示与第一个顶点链接的边有三条，分别是边（</a:t>
            </a:r>
            <a:r>
              <a:rPr lang="en-US" altLang="zh-CN"/>
              <a:t>v1</a:t>
            </a:r>
            <a:r>
              <a:rPr lang="zh-CN" altLang="en-US"/>
              <a:t>，</a:t>
            </a:r>
            <a:r>
              <a:rPr lang="en-US" altLang="zh-CN"/>
              <a:t>v2</a:t>
            </a:r>
            <a:r>
              <a:rPr lang="zh-CN" altLang="en-US"/>
              <a:t>）构成的边和（</a:t>
            </a:r>
            <a:r>
              <a:rPr lang="en-US" altLang="zh-CN"/>
              <a:t>v1</a:t>
            </a:r>
            <a:r>
              <a:rPr lang="zh-CN" altLang="en-US"/>
              <a:t>，</a:t>
            </a:r>
            <a:r>
              <a:rPr lang="en-US" altLang="zh-CN"/>
              <a:t>v3</a:t>
            </a:r>
            <a:r>
              <a:rPr lang="zh-CN" altLang="en-US"/>
              <a:t>）、（</a:t>
            </a:r>
            <a:r>
              <a:rPr lang="en-US" altLang="zh-CN"/>
              <a:t>v1</a:t>
            </a:r>
            <a:r>
              <a:rPr lang="zh-CN" altLang="en-US"/>
              <a:t>，</a:t>
            </a:r>
            <a:r>
              <a:rPr lang="en-US" altLang="zh-CN"/>
              <a:t>v4</a:t>
            </a:r>
            <a:r>
              <a:rPr lang="zh-CN" altLang="en-US"/>
              <a:t>）构成的边。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表头节点中的数据域，存储顶点的有关信息。例如顶点表示城市的话，就应该保存城市名称。（虽然这里保存的是编号）</a:t>
            </a:r>
          </a:p>
          <a:p>
            <a:endParaRPr lang="en-US" altLang="zh-CN"/>
          </a:p>
          <a:p>
            <a:r>
              <a:rPr lang="zh-CN" altLang="en-US"/>
              <a:t>类似于稀疏矩阵中带行指针向量的单链表。</a:t>
            </a: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85FCF866-B73E-480B-B134-D0DF1ECC4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B422CD0-E6D1-47B3-89C5-8C5C9922EFAF}" type="slidenum">
              <a:rPr lang="zh-CN" altLang="en-US" sz="1200"/>
              <a:pPr/>
              <a:t>12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16895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486DB2C6-AAF4-46C6-B2C4-E272CE6AFD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F7078CC9-A8C6-4105-AEBA-25C41FA4E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邻接表的存储方式，对于无向图或无向网，具有较大的数据冗余。每条边的数据都被保存了两次。</a:t>
            </a:r>
            <a:endParaRPr lang="en-US" altLang="zh-CN"/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6CF321B5-EABC-4C64-A85C-E3E40671E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9314CF1-CC6C-4B85-B3CE-EE491601A6D3}" type="slidenum">
              <a:rPr lang="zh-CN" altLang="en-US" sz="1200"/>
              <a:pPr/>
              <a:t>13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89794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243E4D53-0120-48FC-A9F1-A805A2DF47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74476326-679B-4A7B-A42D-C5873668A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9CC482BE-2A75-4B79-8B35-59227AB39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7C3A2DA-CE95-4BB3-8E15-82AA1EBAA943}" type="slidenum">
              <a:rPr lang="zh-CN" altLang="en-US" sz="1200"/>
              <a:pPr/>
              <a:t>14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786480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04AD60D9-2456-4578-ADE8-01B7D47533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E81CC513-1B13-465F-87FD-DC66412B3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3F910F22-81F3-47C6-9152-D5ABF3027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A9F2B91-1422-4B34-A532-E7115E635D7C}" type="slidenum">
              <a:rPr lang="zh-CN" altLang="en-US" sz="1200"/>
              <a:pPr/>
              <a:t>15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397702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55D45BCE-467D-494B-A9F5-095F0A3738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B0C72F90-6BF3-4181-BE3E-D86A87318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如果不设置访问标志，就会产生死循环。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访问标志数组。</a:t>
            </a:r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38B7E36A-6C0E-4802-8D6C-D1A6D1A27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7F39645-678E-4F02-95F8-EE7BFE7E6610}" type="slidenum">
              <a:rPr lang="zh-CN" altLang="en-US" sz="1200"/>
              <a:pPr/>
              <a:t>16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672206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B6FE63DF-537D-4450-BE2B-79EBCDFA47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D0830B16-05DA-4B07-A572-2EC53F63B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D7959FCC-D8EC-4691-9C4B-9AC051F80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6CC3671-561E-41D6-BEC4-A84E19FBEFA3}" type="slidenum">
              <a:rPr lang="zh-CN" altLang="en-US" sz="1200"/>
              <a:pPr/>
              <a:t>18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840034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8091FC70-3825-4999-ABA1-4DA3486282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6D0A55B2-B89B-4C26-B329-543A9869F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求任意两个点之间的最短路径。这个问题这也被称为“多源最短路径”问题。</a:t>
            </a:r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6D25588D-6F8D-4D2C-9CCC-1DBE197A3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ECEE5E3-2C4C-4E1C-B697-2E8F7CD88E4F}" type="slidenum">
              <a:rPr lang="zh-CN" altLang="en-US" sz="1200"/>
              <a:pPr/>
              <a:t>20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810101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500CAB4E-876E-451B-A3FC-3850274E51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40F09747-DF7B-47AC-9E04-3EA35A046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例如：找顶点</a:t>
            </a:r>
            <a:r>
              <a:rPr lang="en-US" altLang="zh-CN"/>
              <a:t>1</a:t>
            </a:r>
            <a:r>
              <a:rPr lang="zh-CN" altLang="en-US"/>
              <a:t>到其它顶点的最短路。首先找</a:t>
            </a:r>
            <a:r>
              <a:rPr lang="en-US" altLang="zh-CN"/>
              <a:t>1</a:t>
            </a:r>
            <a:r>
              <a:rPr lang="zh-CN" altLang="en-US"/>
              <a:t>到其它顶点的直达路径，其中最短的是</a:t>
            </a:r>
            <a:r>
              <a:rPr lang="en-US" altLang="zh-CN"/>
              <a:t>1-3</a:t>
            </a:r>
            <a:r>
              <a:rPr lang="zh-CN" altLang="en-US"/>
              <a:t>的路径；然后找通过</a:t>
            </a:r>
            <a:r>
              <a:rPr lang="en-US" altLang="zh-CN"/>
              <a:t>3</a:t>
            </a:r>
            <a:r>
              <a:rPr lang="zh-CN" altLang="en-US"/>
              <a:t>以后直接到达其它顶点（排除</a:t>
            </a:r>
            <a:r>
              <a:rPr lang="en-US" altLang="zh-CN"/>
              <a:t>3</a:t>
            </a:r>
            <a:r>
              <a:rPr lang="zh-CN" altLang="en-US"/>
              <a:t>）的最短距离，并更新距离和路径，此时路径的值修改为</a:t>
            </a:r>
            <a:r>
              <a:rPr lang="en-US" altLang="zh-CN"/>
              <a:t>3</a:t>
            </a:r>
            <a:r>
              <a:rPr lang="zh-CN" altLang="en-US"/>
              <a:t>，依此类推。</a:t>
            </a:r>
            <a:endParaRPr lang="en-US" altLang="zh-CN"/>
          </a:p>
          <a:p>
            <a:endParaRPr lang="en-US" altLang="zh-CN"/>
          </a:p>
          <a:p>
            <a:r>
              <a:rPr lang="zh-CN" altLang="en-US" b="1"/>
              <a:t>算法的实现过程中：</a:t>
            </a:r>
            <a:endParaRPr lang="en-US" altLang="zh-CN" b="1"/>
          </a:p>
          <a:p>
            <a:r>
              <a:rPr lang="en-US" altLang="zh-CN" b="1"/>
              <a:t>1. </a:t>
            </a:r>
            <a:r>
              <a:rPr lang="zh-CN" altLang="en-US" b="1"/>
              <a:t>设置一个邻接矩阵，保存各顶点到其它顶点的直达路径</a:t>
            </a:r>
            <a:endParaRPr lang="en-US" altLang="zh-CN" b="1"/>
          </a:p>
          <a:p>
            <a:r>
              <a:rPr lang="en-US" altLang="zh-CN" b="1"/>
              <a:t>2. </a:t>
            </a:r>
            <a:r>
              <a:rPr lang="zh-CN" altLang="en-US" b="1"/>
              <a:t>设置一个二维数组，保存所找到的路径与距离</a:t>
            </a:r>
            <a:endParaRPr lang="en-US" altLang="zh-CN" b="1"/>
          </a:p>
          <a:p>
            <a:r>
              <a:rPr lang="en-US" altLang="zh-CN" b="1"/>
              <a:t>3. </a:t>
            </a:r>
            <a:r>
              <a:rPr lang="zh-CN" altLang="en-US" b="1"/>
              <a:t>设置一个一维数组，保存是否已经找到最短路的标志。</a:t>
            </a:r>
            <a:endParaRPr lang="en-US" altLang="zh-CN" b="1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演示时首先清除表格中的内容（第一列不动）。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最短路的求解方法有很多：穷举法、动态规划法、</a:t>
            </a:r>
            <a:r>
              <a:rPr lang="en-US" altLang="zh-CN"/>
              <a:t>Dijkstra</a:t>
            </a:r>
            <a:r>
              <a:rPr lang="zh-CN" altLang="en-US"/>
              <a:t>，</a:t>
            </a:r>
            <a:r>
              <a:rPr lang="en-US" altLang="zh-CN"/>
              <a:t>Floyd</a:t>
            </a:r>
            <a:r>
              <a:rPr lang="zh-CN" altLang="en-US"/>
              <a:t>算法等等。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FEAC9A22-CF29-424C-B117-8BBDD8239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3F0DAF9-5BB5-4907-B18E-F785C722F26E}" type="slidenum">
              <a:rPr lang="zh-CN" altLang="en-US" sz="1200"/>
              <a:pPr/>
              <a:t>21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934014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62C85234-AB55-43BD-9475-0FADE04E1D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87C21B77-3E55-4D1C-A51D-2CFCF1E63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6D0D2D0F-0852-4482-90B6-040C73C7C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63E8459-AF96-4EA6-82E9-8EB2337B79BA}" type="slidenum">
              <a:rPr lang="zh-CN" altLang="en-US" sz="1200"/>
              <a:pPr/>
              <a:t>22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3932460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E49385FC-8592-42B5-BA98-AA591B492F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ECF1F643-C9B1-4487-B759-FADD0AA8D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4203E3E5-8BDB-40B9-B005-AA43AD13D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564DB99-B5FE-4065-A90A-022601E91CE0}" type="slidenum">
              <a:rPr lang="zh-CN" altLang="en-US" sz="1200"/>
              <a:pPr/>
              <a:t>23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2659341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E3992BEA-D23E-41C1-BAC3-B9971DACE5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FBEB8DA7-8942-4457-A909-2C17ECB94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17087160-C46F-4226-B2C8-92D0E33DF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E6DBDF2-08B7-4369-A1D2-21D59CD470F3}" type="slidenum">
              <a:rPr lang="zh-CN" altLang="en-US" sz="1200"/>
              <a:pPr/>
              <a:t>24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4827538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37551060-A032-43E1-B62F-BE8542BDC2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4A0527A7-C7F4-4B53-B1DA-C5BA1A8C9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66EB418C-DC6E-46C6-A59E-35C65F6B3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7E202AB-40D5-45DC-816F-64EC7B1CBD6A}" type="slidenum">
              <a:rPr lang="zh-CN" altLang="en-US" sz="1200"/>
              <a:pPr/>
              <a:t>25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7716034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2D7CA0D7-7D5C-483C-A298-0052635DCE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E3698C7C-AB94-4B36-B56D-E674B297D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详细算法在运筹学中有介绍</a:t>
            </a:r>
            <a:r>
              <a:rPr lang="en-US" altLang="zh-CN"/>
              <a:t>.</a:t>
            </a:r>
          </a:p>
          <a:p>
            <a:r>
              <a:rPr lang="zh-CN" altLang="en-US"/>
              <a:t>最早开始时间选前驱节点</a:t>
            </a:r>
            <a:r>
              <a:rPr lang="en-US" altLang="zh-CN"/>
              <a:t>+</a:t>
            </a:r>
            <a:r>
              <a:rPr lang="zh-CN" altLang="en-US"/>
              <a:t>活动时间的最大值；最迟开始时间选后继结点</a:t>
            </a:r>
            <a:r>
              <a:rPr lang="en-US" altLang="zh-CN"/>
              <a:t>-</a:t>
            </a:r>
            <a:r>
              <a:rPr lang="zh-CN" altLang="en-US"/>
              <a:t>活动时间的最小值。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5B781C5C-3CDE-4070-8FBF-C3F28A352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CF21EF1-40C2-4BF3-BBDB-35FEA4310E63}" type="slidenum">
              <a:rPr lang="zh-CN" altLang="en-US" sz="1200"/>
              <a:pPr/>
              <a:t>26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5348365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3BF3A8E4-AC20-41A4-A700-91BAFA1355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184C630-048F-4580-B719-9EE70B6713FF}" type="slidenum">
              <a:rPr lang="zh-CN" altLang="en-US" sz="1200"/>
              <a:pPr/>
              <a:t>27</a:t>
            </a:fld>
            <a:endParaRPr lang="en-US" altLang="zh-CN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00A207F-9BC2-4232-A69C-F2862E7E1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C2AEED5E-AF84-4755-992C-3E12E8D56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072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5153842"/>
      </p:ext>
    </p:extLst>
  </p:cSld>
  <p:clrMapOvr>
    <a:masterClrMapping/>
  </p:clrMapOvr>
  <p:transition advClick="0"/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101725"/>
            <a:ext cx="8828118" cy="54768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7902430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8EC528D-2396-485C-A51E-63235644E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445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D24E91E-B156-42E6-BEA5-49CF515B4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3" y="1101725"/>
            <a:ext cx="8993187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1C7FA48-0F26-4929-907B-E993729906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37BEF87-7FAE-401C-AA06-F6623A5306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D4B40D2-1602-4BDA-9F3C-544B6B6EE0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31050" y="6524625"/>
            <a:ext cx="1905000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2CC08114-A397-436C-87AF-0EFDF9928BA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53" r:id="rId1"/>
    <p:sldLayoutId id="2147484154" r:id="rId2"/>
  </p:sldLayoutIdLst>
  <p:transition advClick="0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bg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png"/><Relationship Id="rId5" Type="http://schemas.openxmlformats.org/officeDocument/2006/relationships/image" Target="../media/image17.emf"/><Relationship Id="rId4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6.png"/><Relationship Id="rId4" Type="http://schemas.openxmlformats.org/officeDocument/2006/relationships/image" Target="../media/image2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32DD3AD-843A-4F00-937B-314BDB503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数据结构与操作系统</a:t>
            </a:r>
            <a:b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（第七讲）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7C4C3816-1D53-47F2-B88D-31F9EE8D85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张瑞友 教授</a:t>
            </a:r>
            <a:endParaRPr lang="en-US" altLang="zh-CN" dirty="0"/>
          </a:p>
          <a:p>
            <a:r>
              <a:rPr lang="zh-CN" altLang="en-US" dirty="0"/>
              <a:t>人工智能系</a:t>
            </a:r>
            <a:endParaRPr lang="en-US" altLang="zh-CN" dirty="0"/>
          </a:p>
          <a:p>
            <a:r>
              <a:rPr lang="en-US" altLang="zh-CN" dirty="0"/>
              <a:t>2024</a:t>
            </a:r>
            <a:r>
              <a:rPr lang="zh-CN" altLang="en-US" dirty="0"/>
              <a:t>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2B63CB-2F14-412C-8F5C-07DFC78ADA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1050" y="6524625"/>
            <a:ext cx="1905000" cy="2174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73FE639-C234-4E9A-910A-19A90FCCCE3E}" type="slidenum">
              <a:rPr lang="zh-CN" altLang="en-US" smtClean="0"/>
              <a:pPr>
                <a:defRPr/>
              </a:pPr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083584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9D7AAB2-ECE0-46D6-95A0-9E3C2BDF3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FB64CC8-1EF8-4D69-80D2-0AC4620B8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7562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500">
                <a:ea typeface="宋体" panose="02010600030101010101" pitchFamily="2" charset="-122"/>
              </a:rPr>
              <a:t>图 ：另一种</a:t>
            </a:r>
            <a:r>
              <a:rPr lang="zh-CN" altLang="en-US" sz="2500">
                <a:solidFill>
                  <a:srgbClr val="FF0000"/>
                </a:solidFill>
                <a:ea typeface="宋体" panose="02010600030101010101" pitchFamily="2" charset="-122"/>
              </a:rPr>
              <a:t>非线性</a:t>
            </a:r>
            <a:r>
              <a:rPr lang="zh-CN" altLang="en-US" sz="2500">
                <a:ea typeface="宋体" panose="02010600030101010101" pitchFamily="2" charset="-122"/>
              </a:rPr>
              <a:t>的数据结构</a:t>
            </a:r>
          </a:p>
          <a:p>
            <a:pPr lvl="1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比树要复杂，树可以看作是简单的图</a:t>
            </a:r>
          </a:p>
          <a:p>
            <a:pPr lvl="1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应用领域：语言学、逻辑学、数学、物理、化学、计算机科学等</a:t>
            </a:r>
          </a:p>
          <a:p>
            <a:pPr lvl="1">
              <a:lnSpc>
                <a:spcPct val="80000"/>
              </a:lnSpc>
            </a:pPr>
            <a:endParaRPr lang="zh-CN" altLang="en-US" sz="22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500">
                <a:ea typeface="宋体" panose="02010600030101010101" pitchFamily="2" charset="-122"/>
              </a:rPr>
              <a:t>图的定义（</a:t>
            </a:r>
            <a:r>
              <a:rPr lang="en-US" altLang="zh-CN" sz="2500">
                <a:ea typeface="宋体" panose="02010600030101010101" pitchFamily="2" charset="-122"/>
              </a:rPr>
              <a:t>graph）</a:t>
            </a:r>
          </a:p>
          <a:p>
            <a:pPr lvl="1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顶点集合</a:t>
            </a:r>
            <a:r>
              <a:rPr lang="en-US" altLang="zh-CN" sz="2200" i="1">
                <a:ea typeface="宋体" panose="02010600030101010101" pitchFamily="2" charset="-122"/>
              </a:rPr>
              <a:t>V</a:t>
            </a:r>
            <a:r>
              <a:rPr lang="en-US" altLang="zh-CN" sz="2200">
                <a:ea typeface="宋体" panose="02010600030101010101" pitchFamily="2" charset="-122"/>
              </a:rPr>
              <a:t> </a:t>
            </a:r>
            <a:r>
              <a:rPr lang="zh-CN" altLang="en-US" sz="2200">
                <a:ea typeface="宋体" panose="02010600030101010101" pitchFamily="2" charset="-122"/>
              </a:rPr>
              <a:t>和顶点之间关系集合</a:t>
            </a:r>
            <a:r>
              <a:rPr lang="en-US" altLang="zh-CN" sz="2200" i="1">
                <a:ea typeface="宋体" panose="02010600030101010101" pitchFamily="2" charset="-122"/>
              </a:rPr>
              <a:t>R</a:t>
            </a:r>
            <a:r>
              <a:rPr lang="en-US" altLang="zh-CN" sz="2200">
                <a:ea typeface="宋体" panose="02010600030101010101" pitchFamily="2" charset="-122"/>
              </a:rPr>
              <a:t> </a:t>
            </a:r>
            <a:r>
              <a:rPr lang="zh-CN" altLang="en-US" sz="2200">
                <a:ea typeface="宋体" panose="02010600030101010101" pitchFamily="2" charset="-122"/>
              </a:rPr>
              <a:t>组成</a:t>
            </a:r>
          </a:p>
          <a:p>
            <a:pPr lvl="1">
              <a:lnSpc>
                <a:spcPct val="80000"/>
              </a:lnSpc>
            </a:pP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,…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}, </a:t>
            </a:r>
            <a:r>
              <a:rPr lang="zh-CN" altLang="en-US" sz="2200">
                <a:ea typeface="宋体" panose="02010600030101010101" pitchFamily="2" charset="-122"/>
              </a:rPr>
              <a:t>顶点的非空有穷集合</a:t>
            </a:r>
            <a:endParaRPr lang="en-US" altLang="zh-CN" sz="22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={(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),…},  or  {&lt;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&gt;,…},</a:t>
            </a:r>
            <a:endParaRPr lang="en-US" altLang="zh-CN" sz="22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无向图</a:t>
            </a:r>
            <a:r>
              <a:rPr lang="zh-CN" altLang="en-US" sz="2200">
                <a:ea typeface="宋体" panose="02010600030101010101" pitchFamily="2" charset="-122"/>
              </a:rPr>
              <a:t> ：</a:t>
            </a:r>
            <a:r>
              <a:rPr lang="en-US" altLang="zh-CN" sz="2200">
                <a:ea typeface="宋体" panose="02010600030101010101" pitchFamily="2" charset="-122"/>
              </a:rPr>
              <a:t>(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200">
                <a:ea typeface="宋体" panose="02010600030101010101" pitchFamily="2" charset="-122"/>
              </a:rPr>
              <a:t>)=(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200">
                <a:ea typeface="宋体" panose="02010600030101010101" pitchFamily="2" charset="-122"/>
              </a:rPr>
              <a:t>)，</a:t>
            </a:r>
            <a:r>
              <a:rPr lang="zh-CN" altLang="en-US" sz="2200">
                <a:ea typeface="宋体" panose="02010600030101010101" pitchFamily="2" charset="-122"/>
              </a:rPr>
              <a:t>顶点之间的关系为 </a:t>
            </a: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无序对，“边”</a:t>
            </a:r>
          </a:p>
          <a:p>
            <a:pPr lvl="1">
              <a:lnSpc>
                <a:spcPct val="80000"/>
              </a:lnSpc>
            </a:pPr>
            <a:r>
              <a:rPr lang="en-US" altLang="zh-CN" sz="2200">
                <a:ea typeface="宋体" panose="02010600030101010101" pitchFamily="2" charset="-122"/>
              </a:rPr>
              <a:t>   </a:t>
            </a:r>
            <a:r>
              <a:rPr lang="en-US" altLang="zh-CN" sz="2200" i="1">
                <a:ea typeface="宋体" panose="02010600030101010101" pitchFamily="2" charset="-122"/>
              </a:rPr>
              <a:t>V</a:t>
            </a:r>
            <a:r>
              <a:rPr lang="en-US" altLang="zh-CN" sz="2200">
                <a:ea typeface="宋体" panose="02010600030101010101" pitchFamily="2" charset="-122"/>
              </a:rPr>
              <a:t> = {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200">
                <a:ea typeface="宋体" panose="02010600030101010101" pitchFamily="2" charset="-122"/>
              </a:rPr>
              <a:t>}</a:t>
            </a:r>
            <a:endParaRPr lang="zh-CN" altLang="en-US" sz="22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200">
                <a:ea typeface="宋体" panose="02010600030101010101" pitchFamily="2" charset="-122"/>
              </a:rPr>
              <a:t>   </a:t>
            </a:r>
            <a:r>
              <a:rPr lang="en-US" altLang="zh-CN" sz="22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200">
                <a:ea typeface="宋体" panose="02010600030101010101" pitchFamily="2" charset="-122"/>
              </a:rPr>
              <a:t> = {(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200">
                <a:ea typeface="宋体" panose="02010600030101010101" pitchFamily="2" charset="-122"/>
              </a:rPr>
              <a:t>),(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200">
                <a:ea typeface="宋体" panose="02010600030101010101" pitchFamily="2" charset="-122"/>
              </a:rPr>
              <a:t>),(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200">
                <a:ea typeface="宋体" panose="02010600030101010101" pitchFamily="2" charset="-122"/>
              </a:rPr>
              <a:t>),(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200">
                <a:ea typeface="宋体" panose="02010600030101010101" pitchFamily="2" charset="-122"/>
              </a:rPr>
              <a:t>),(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200">
                <a:ea typeface="宋体" panose="02010600030101010101" pitchFamily="2" charset="-122"/>
              </a:rPr>
              <a:t>)}</a:t>
            </a:r>
          </a:p>
          <a:p>
            <a:pPr lvl="1">
              <a:lnSpc>
                <a:spcPct val="80000"/>
              </a:lnSpc>
            </a:pP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有向图：</a:t>
            </a:r>
            <a:r>
              <a:rPr lang="en-US" altLang="zh-CN" sz="2200">
                <a:ea typeface="宋体" panose="02010600030101010101" pitchFamily="2" charset="-122"/>
              </a:rPr>
              <a:t>&lt;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en-US" altLang="zh-CN" sz="2200">
                <a:ea typeface="宋体" panose="02010600030101010101" pitchFamily="2" charset="-122"/>
              </a:rPr>
              <a:t>&gt;≠&lt;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200">
                <a:ea typeface="宋体" panose="02010600030101010101" pitchFamily="2" charset="-122"/>
              </a:rPr>
              <a:t>&gt;，</a:t>
            </a:r>
            <a:r>
              <a:rPr lang="zh-CN" altLang="en-US" sz="2200">
                <a:ea typeface="宋体" panose="02010600030101010101" pitchFamily="2" charset="-122"/>
              </a:rPr>
              <a:t>顶点之间的关系为 </a:t>
            </a: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有序对，“弧”</a:t>
            </a:r>
            <a:endParaRPr lang="en-US" altLang="zh-CN" sz="22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        弧的初始点称为弧尾，弧的终端点称为弧头</a:t>
            </a:r>
          </a:p>
          <a:p>
            <a:pPr lvl="1">
              <a:lnSpc>
                <a:spcPct val="80000"/>
              </a:lnSpc>
            </a:pPr>
            <a:r>
              <a:rPr lang="en-US" altLang="zh-CN" sz="2200">
                <a:ea typeface="宋体" panose="02010600030101010101" pitchFamily="2" charset="-122"/>
              </a:rPr>
              <a:t>   </a:t>
            </a:r>
            <a:r>
              <a:rPr lang="en-US" altLang="zh-CN" sz="2200" i="1">
                <a:ea typeface="宋体" panose="02010600030101010101" pitchFamily="2" charset="-122"/>
              </a:rPr>
              <a:t>V</a:t>
            </a:r>
            <a:r>
              <a:rPr lang="en-US" altLang="zh-CN" sz="2200">
                <a:ea typeface="宋体" panose="02010600030101010101" pitchFamily="2" charset="-122"/>
              </a:rPr>
              <a:t> = {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200">
                <a:ea typeface="宋体" panose="02010600030101010101" pitchFamily="2" charset="-122"/>
              </a:rPr>
              <a:t>}</a:t>
            </a:r>
            <a:endParaRPr lang="zh-CN" altLang="en-US" sz="22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200">
                <a:ea typeface="宋体" panose="02010600030101010101" pitchFamily="2" charset="-122"/>
              </a:rPr>
              <a:t>   </a:t>
            </a:r>
            <a:r>
              <a:rPr lang="en-US" altLang="zh-CN" sz="22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200">
                <a:ea typeface="宋体" panose="02010600030101010101" pitchFamily="2" charset="-122"/>
              </a:rPr>
              <a:t> = {&lt;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200">
                <a:ea typeface="宋体" panose="02010600030101010101" pitchFamily="2" charset="-122"/>
              </a:rPr>
              <a:t>&gt;,&lt;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200">
                <a:ea typeface="宋体" panose="02010600030101010101" pitchFamily="2" charset="-122"/>
              </a:rPr>
              <a:t>&gt;,&lt;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200">
                <a:ea typeface="宋体" panose="02010600030101010101" pitchFamily="2" charset="-122"/>
              </a:rPr>
              <a:t>&gt;,&lt;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>
                <a:ea typeface="宋体" panose="02010600030101010101" pitchFamily="2" charset="-122"/>
              </a:rPr>
              <a:t>&gt;}</a:t>
            </a:r>
          </a:p>
        </p:txBody>
      </p:sp>
      <p:sp>
        <p:nvSpPr>
          <p:cNvPr id="8196" name="灯片编号占位符 5">
            <a:extLst>
              <a:ext uri="{FF2B5EF4-FFF2-40B4-BE49-F238E27FC236}">
                <a16:creationId xmlns:a16="http://schemas.microsoft.com/office/drawing/2014/main" id="{262AE60F-B90F-42BC-95F8-E48C2C136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050840-5C9D-4A87-855B-BCAF83087A44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8197" name="Picture 3" descr="D:\Lsa_DOC\软件技术\SoftwareTB\图\Snap1.gif">
            <a:extLst>
              <a:ext uri="{FF2B5EF4-FFF2-40B4-BE49-F238E27FC236}">
                <a16:creationId xmlns:a16="http://schemas.microsoft.com/office/drawing/2014/main" id="{62ECF6E7-65DB-431F-8D09-1EB1EA5DB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989138"/>
            <a:ext cx="3527425" cy="224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A390285-5747-4907-BBC2-7926F1969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D4EF1DA-5E3F-477F-A70F-A22C56FBB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2471738"/>
          </a:xfrm>
        </p:spPr>
        <p:txBody>
          <a:bodyPr/>
          <a:lstStyle/>
          <a:p>
            <a:r>
              <a:rPr lang="zh-CN" altLang="en-US" sz="3000">
                <a:ea typeface="宋体" panose="02010600030101010101" pitchFamily="2" charset="-122"/>
              </a:rPr>
              <a:t>图的定义（</a:t>
            </a:r>
            <a:r>
              <a:rPr lang="en-US" altLang="zh-CN" sz="3000">
                <a:ea typeface="宋体" panose="02010600030101010101" pitchFamily="2" charset="-122"/>
              </a:rPr>
              <a:t>graph）</a:t>
            </a:r>
          </a:p>
          <a:p>
            <a:pPr lvl="1"/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</a:rPr>
              <a:t>网</a:t>
            </a:r>
            <a:r>
              <a:rPr lang="zh-CN" altLang="en-US" sz="2600">
                <a:ea typeface="宋体" panose="02010600030101010101" pitchFamily="2" charset="-122"/>
              </a:rPr>
              <a:t>：如果图中每条边都有一个相应的数值（权），则称之为网。这个数可以表示两点之间的距离或花费等</a:t>
            </a:r>
            <a:endParaRPr lang="en-US" altLang="zh-CN" sz="2600">
              <a:ea typeface="宋体" panose="02010600030101010101" pitchFamily="2" charset="-122"/>
            </a:endParaRPr>
          </a:p>
          <a:p>
            <a:pPr lvl="1"/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</a:rPr>
              <a:t>无向网</a:t>
            </a:r>
            <a:r>
              <a:rPr lang="zh-CN" altLang="en-US" sz="2600">
                <a:ea typeface="宋体" panose="02010600030101010101" pitchFamily="2" charset="-122"/>
              </a:rPr>
              <a:t>（</a:t>
            </a:r>
            <a:r>
              <a:rPr lang="en-US" altLang="zh-CN" sz="2600">
                <a:ea typeface="宋体" panose="02010600030101010101" pitchFamily="2" charset="-122"/>
              </a:rPr>
              <a:t>net），</a:t>
            </a:r>
            <a:r>
              <a:rPr lang="zh-CN" altLang="en-US" sz="2600">
                <a:ea typeface="宋体" panose="02010600030101010101" pitchFamily="2" charset="-122"/>
              </a:rPr>
              <a:t>或简称 </a:t>
            </a:r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</a:rPr>
              <a:t>网</a:t>
            </a:r>
            <a:r>
              <a:rPr lang="zh-CN" altLang="en-US" sz="2600">
                <a:ea typeface="宋体" panose="02010600030101010101" pitchFamily="2" charset="-122"/>
              </a:rPr>
              <a:t>，带权的无向图</a:t>
            </a:r>
            <a:endParaRPr lang="en-US" altLang="zh-CN" sz="2600">
              <a:ea typeface="宋体" panose="02010600030101010101" pitchFamily="2" charset="-122"/>
            </a:endParaRPr>
          </a:p>
          <a:p>
            <a:pPr lvl="1"/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</a:rPr>
              <a:t>有向网</a:t>
            </a:r>
            <a:r>
              <a:rPr lang="zh-CN" altLang="en-US" sz="2600">
                <a:ea typeface="宋体" panose="02010600030101010101" pitchFamily="2" charset="-122"/>
              </a:rPr>
              <a:t>（</a:t>
            </a:r>
            <a:r>
              <a:rPr lang="en-US" altLang="zh-CN" sz="2600">
                <a:ea typeface="宋体" panose="02010600030101010101" pitchFamily="2" charset="-122"/>
              </a:rPr>
              <a:t>directed net），</a:t>
            </a:r>
            <a:r>
              <a:rPr lang="zh-CN" altLang="en-US" sz="2600">
                <a:ea typeface="宋体" panose="02010600030101010101" pitchFamily="2" charset="-122"/>
              </a:rPr>
              <a:t>带权的有向图</a:t>
            </a:r>
            <a:endParaRPr lang="en-US" altLang="zh-CN" sz="2600">
              <a:ea typeface="宋体" panose="02010600030101010101" pitchFamily="2" charset="-122"/>
            </a:endParaRPr>
          </a:p>
        </p:txBody>
      </p:sp>
      <p:sp>
        <p:nvSpPr>
          <p:cNvPr id="10244" name="灯片编号占位符 5">
            <a:extLst>
              <a:ext uri="{FF2B5EF4-FFF2-40B4-BE49-F238E27FC236}">
                <a16:creationId xmlns:a16="http://schemas.microsoft.com/office/drawing/2014/main" id="{D058387E-5170-4632-8A22-4BED41075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36E5BA-C0CE-4E05-89E8-5747EAAA3415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10245" name="Picture 2" descr="D:\Lsa_DOC\软件技术\SoftwareTB\图\Snap2.gif">
            <a:extLst>
              <a:ext uri="{FF2B5EF4-FFF2-40B4-BE49-F238E27FC236}">
                <a16:creationId xmlns:a16="http://schemas.microsoft.com/office/drawing/2014/main" id="{3D3F499F-626F-4B78-8440-68299FA09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429000"/>
            <a:ext cx="7847012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E445F49-CB41-4113-BDEF-57383EF66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F4835EE-7B55-4F95-84E7-30452FE871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4768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图的基本概念</a:t>
            </a:r>
          </a:p>
          <a:p>
            <a:pPr lvl="1"/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子图</a:t>
            </a:r>
          </a:p>
          <a:p>
            <a:pPr lvl="2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两个图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(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G’ = (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)</a:t>
            </a:r>
          </a:p>
          <a:p>
            <a:pPr lvl="2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如果满足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则称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的子图</a:t>
            </a:r>
          </a:p>
        </p:txBody>
      </p:sp>
      <p:sp>
        <p:nvSpPr>
          <p:cNvPr id="11268" name="灯片编号占位符 5">
            <a:extLst>
              <a:ext uri="{FF2B5EF4-FFF2-40B4-BE49-F238E27FC236}">
                <a16:creationId xmlns:a16="http://schemas.microsoft.com/office/drawing/2014/main" id="{3122C8FE-6CFF-43D2-BF24-7674D6D6C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62986A-C12A-4AF9-85B1-C4C0C6BC4272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11269" name="Picture 3" descr="D:\Lsa_DOC\软件技术\SoftwareTB\图\Snap1.gif">
            <a:extLst>
              <a:ext uri="{FF2B5EF4-FFF2-40B4-BE49-F238E27FC236}">
                <a16:creationId xmlns:a16="http://schemas.microsoft.com/office/drawing/2014/main" id="{0708B360-F797-4C63-B6A7-483F81AED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0438"/>
            <a:ext cx="3527425" cy="224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9" descr="D:\Lsa_DOC\软件技术\SoftwareTB\图\Snap3.gif">
            <a:extLst>
              <a:ext uri="{FF2B5EF4-FFF2-40B4-BE49-F238E27FC236}">
                <a16:creationId xmlns:a16="http://schemas.microsoft.com/office/drawing/2014/main" id="{FBD24B57-D58D-4C79-B270-DAACBB763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3213100"/>
            <a:ext cx="5891213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4E8FB60-1378-4252-A8FF-A7506139E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1E91701-E307-40EC-9510-37CCD2267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3335338"/>
          </a:xfrm>
        </p:spPr>
        <p:txBody>
          <a:bodyPr/>
          <a:lstStyle/>
          <a:p>
            <a:r>
              <a:rPr lang="zh-CN" altLang="en-US" sz="3000">
                <a:ea typeface="宋体" panose="02010600030101010101" pitchFamily="2" charset="-122"/>
              </a:rPr>
              <a:t>图的基本概念</a:t>
            </a:r>
          </a:p>
          <a:p>
            <a:pPr lvl="1"/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</a:rPr>
              <a:t>度、入度、出度：</a:t>
            </a:r>
          </a:p>
          <a:p>
            <a:pPr lvl="2"/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无向图</a:t>
            </a:r>
            <a:r>
              <a:rPr lang="zh-CN" altLang="en-US" sz="2200">
                <a:ea typeface="宋体" panose="02010600030101010101" pitchFamily="2" charset="-122"/>
              </a:rPr>
              <a:t>，与某顶点相连的边的数目称为该顶点的</a:t>
            </a: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度</a:t>
            </a:r>
            <a:r>
              <a:rPr lang="zh-CN" altLang="en-US" sz="2200">
                <a:ea typeface="宋体" panose="02010600030101010101" pitchFamily="2" charset="-122"/>
              </a:rPr>
              <a:t>(</a:t>
            </a:r>
            <a:r>
              <a:rPr lang="en-US" altLang="zh-CN" sz="2200">
                <a:ea typeface="宋体" panose="02010600030101010101" pitchFamily="2" charset="-122"/>
              </a:rPr>
              <a:t>degree)</a:t>
            </a:r>
          </a:p>
          <a:p>
            <a:pPr lvl="3"/>
            <a:r>
              <a:rPr lang="en-US" altLang="zh-CN" sz="1900">
                <a:ea typeface="宋体" panose="02010600030101010101" pitchFamily="2" charset="-122"/>
              </a:rPr>
              <a:t>degree( 2 ) = 2；degree( 1 ) = 3；degree( 4 ) = 1</a:t>
            </a:r>
          </a:p>
          <a:p>
            <a:pPr lvl="2"/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有向图</a:t>
            </a:r>
            <a:r>
              <a:rPr lang="zh-CN" altLang="en-US" sz="2200">
                <a:ea typeface="宋体" panose="02010600030101010101" pitchFamily="2" charset="-122"/>
              </a:rPr>
              <a:t>，以某顶点为初始点的弧的数目称为该顶点的</a:t>
            </a: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出度</a:t>
            </a:r>
            <a:r>
              <a:rPr lang="zh-CN" altLang="en-US" sz="2200">
                <a:ea typeface="宋体" panose="02010600030101010101" pitchFamily="2" charset="-122"/>
              </a:rPr>
              <a:t>(</a:t>
            </a:r>
            <a:r>
              <a:rPr lang="en-US" altLang="zh-CN" sz="2200">
                <a:ea typeface="宋体" panose="02010600030101010101" pitchFamily="2" charset="-122"/>
              </a:rPr>
              <a:t>out-degree),</a:t>
            </a:r>
            <a:r>
              <a:rPr lang="zh-CN" altLang="en-US" sz="2200">
                <a:ea typeface="宋体" panose="02010600030101010101" pitchFamily="2" charset="-122"/>
              </a:rPr>
              <a:t>以某顶点为终端点的弧的数目称为该顶点的</a:t>
            </a: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入度</a:t>
            </a:r>
            <a:r>
              <a:rPr lang="zh-CN" altLang="en-US" sz="2200">
                <a:ea typeface="宋体" panose="02010600030101010101" pitchFamily="2" charset="-122"/>
              </a:rPr>
              <a:t>(</a:t>
            </a:r>
            <a:r>
              <a:rPr lang="en-US" altLang="zh-CN" sz="2200">
                <a:ea typeface="宋体" panose="02010600030101010101" pitchFamily="2" charset="-122"/>
              </a:rPr>
              <a:t>in-degree)</a:t>
            </a:r>
          </a:p>
          <a:p>
            <a:pPr lvl="3"/>
            <a:r>
              <a:rPr lang="en-US" altLang="zh-CN" sz="1900">
                <a:ea typeface="宋体" panose="02010600030101010101" pitchFamily="2" charset="-122"/>
              </a:rPr>
              <a:t>in-degree( 1 ) = 1；out-degree( 1 ) = 2</a:t>
            </a:r>
          </a:p>
        </p:txBody>
      </p:sp>
      <p:sp>
        <p:nvSpPr>
          <p:cNvPr id="13316" name="灯片编号占位符 5">
            <a:extLst>
              <a:ext uri="{FF2B5EF4-FFF2-40B4-BE49-F238E27FC236}">
                <a16:creationId xmlns:a16="http://schemas.microsoft.com/office/drawing/2014/main" id="{CEAAAA3C-51CC-4EA9-8ABE-37FD48F99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7E9D59-8F7A-43CD-BEB8-7FD44353F33F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13317" name="Picture 3" descr="D:\Lsa_DOC\软件技术\SoftwareTB\图\Snap1.gif">
            <a:extLst>
              <a:ext uri="{FF2B5EF4-FFF2-40B4-BE49-F238E27FC236}">
                <a16:creationId xmlns:a16="http://schemas.microsoft.com/office/drawing/2014/main" id="{3A1A6074-3364-4514-8015-9BE7B6C95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4508500"/>
            <a:ext cx="3527425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A299211-61EB-499D-877F-A4F1F6A76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D108F30-28BA-4955-81FE-3A467E477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3406775"/>
          </a:xfrm>
        </p:spPr>
        <p:txBody>
          <a:bodyPr/>
          <a:lstStyle/>
          <a:p>
            <a:pPr lvl="1">
              <a:lnSpc>
                <a:spcPct val="80000"/>
              </a:lnSpc>
            </a:pPr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</a:rPr>
              <a:t>路径</a:t>
            </a:r>
            <a:r>
              <a:rPr lang="zh-CN" altLang="en-US" sz="2600">
                <a:ea typeface="宋体" panose="02010600030101010101" pitchFamily="2" charset="-122"/>
              </a:rPr>
              <a:t>（</a:t>
            </a:r>
            <a:r>
              <a:rPr lang="en-US" altLang="zh-CN" sz="2600">
                <a:ea typeface="宋体" panose="02010600030101010101" pitchFamily="2" charset="-122"/>
              </a:rPr>
              <a:t>path）</a:t>
            </a:r>
            <a:r>
              <a:rPr lang="zh-CN" altLang="en-US" sz="2600">
                <a:ea typeface="宋体" panose="02010600030101010101" pitchFamily="2" charset="-122"/>
              </a:rPr>
              <a:t>：表示为两顶点之间的顶点序列</a:t>
            </a:r>
            <a:endParaRPr lang="en-US" altLang="zh-CN" sz="26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无向图，顶点序列组成 </a:t>
            </a: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边</a:t>
            </a:r>
            <a:r>
              <a:rPr lang="zh-CN" altLang="en-US" sz="2200">
                <a:ea typeface="宋体" panose="02010600030101010101" pitchFamily="2" charset="-122"/>
              </a:rPr>
              <a:t> 的集合</a:t>
            </a:r>
          </a:p>
          <a:p>
            <a:pPr lvl="3">
              <a:lnSpc>
                <a:spcPct val="80000"/>
              </a:lnSpc>
            </a:pPr>
            <a:r>
              <a:rPr lang="zh-CN" altLang="en-US" sz="1900">
                <a:ea typeface="宋体" panose="02010600030101010101" pitchFamily="2" charset="-122"/>
              </a:rPr>
              <a:t>顶点5到顶点4的路径可有两条</a:t>
            </a:r>
            <a:r>
              <a:rPr lang="zh-CN" altLang="en-US" sz="1900">
                <a:ea typeface="宋体" panose="02010600030101010101" pitchFamily="2" charset="-122"/>
                <a:sym typeface="Wingdings" panose="05000000000000000000" pitchFamily="2" charset="2"/>
              </a:rPr>
              <a:t>： </a:t>
            </a:r>
            <a:r>
              <a:rPr lang="zh-CN" altLang="en-US" sz="1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 和 </a:t>
            </a:r>
            <a:r>
              <a:rPr lang="zh-CN" altLang="en-US" sz="1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有向图，顶点序列组成 </a:t>
            </a: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弧</a:t>
            </a:r>
            <a:r>
              <a:rPr lang="zh-CN" altLang="en-US" sz="2200">
                <a:ea typeface="宋体" panose="02010600030101010101" pitchFamily="2" charset="-122"/>
              </a:rPr>
              <a:t> 的集合</a:t>
            </a:r>
          </a:p>
          <a:p>
            <a:pPr lvl="3">
              <a:lnSpc>
                <a:spcPct val="80000"/>
              </a:lnSpc>
            </a:pPr>
            <a:r>
              <a:rPr lang="zh-CN" altLang="en-US" sz="1900">
                <a:ea typeface="宋体" panose="02010600030101010101" pitchFamily="2" charset="-122"/>
              </a:rPr>
              <a:t>顶点4到顶点3的路径只有一条：</a:t>
            </a:r>
            <a:r>
              <a:rPr lang="zh-CN" altLang="en-US" sz="1900">
                <a:ea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900">
                <a:ea typeface="宋体" panose="02010600030101010101" pitchFamily="2" charset="-122"/>
              </a:rPr>
              <a:t>)</a:t>
            </a:r>
          </a:p>
          <a:p>
            <a:pPr lvl="3">
              <a:lnSpc>
                <a:spcPct val="80000"/>
              </a:lnSpc>
            </a:pPr>
            <a:r>
              <a:rPr lang="zh-CN" altLang="en-US" sz="1900">
                <a:ea typeface="宋体" panose="02010600030101010101" pitchFamily="2" charset="-122"/>
              </a:rPr>
              <a:t>顶点2到顶点3的没有路径</a:t>
            </a:r>
          </a:p>
          <a:p>
            <a:pPr lvl="2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两个顶点之间的路径可以没有，也可以有多条路径</a:t>
            </a:r>
          </a:p>
          <a:p>
            <a:pPr lvl="2">
              <a:lnSpc>
                <a:spcPct val="80000"/>
              </a:lnSpc>
            </a:pP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路径长度</a:t>
            </a:r>
            <a:r>
              <a:rPr lang="zh-CN" altLang="en-US" sz="2200">
                <a:ea typeface="宋体" panose="02010600030101010101" pitchFamily="2" charset="-122"/>
              </a:rPr>
              <a:t>：路径上边或弧的数目</a:t>
            </a:r>
          </a:p>
          <a:p>
            <a:pPr lvl="3">
              <a:lnSpc>
                <a:spcPct val="80000"/>
              </a:lnSpc>
            </a:pPr>
            <a:r>
              <a:rPr lang="zh-CN" altLang="en-US" sz="1900">
                <a:ea typeface="宋体" panose="02010600030101010101" pitchFamily="2" charset="-122"/>
              </a:rPr>
              <a:t>顶点5到顶点4的路径 </a:t>
            </a:r>
            <a:r>
              <a:rPr lang="zh-CN" altLang="en-US" sz="190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900" i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9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9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900">
                <a:latin typeface="Times New Roman" panose="02020603050405020304" pitchFamily="18" charset="0"/>
                <a:ea typeface="宋体" panose="02010600030101010101" pitchFamily="2" charset="-122"/>
              </a:rPr>
              <a:t> ) </a:t>
            </a:r>
            <a:r>
              <a:rPr lang="zh-CN" altLang="en-US" sz="1900">
                <a:ea typeface="宋体" panose="02010600030101010101" pitchFamily="2" charset="-122"/>
              </a:rPr>
              <a:t>的长度是 3</a:t>
            </a:r>
          </a:p>
          <a:p>
            <a:pPr lvl="2">
              <a:lnSpc>
                <a:spcPct val="80000"/>
              </a:lnSpc>
            </a:pPr>
            <a:r>
              <a:rPr lang="zh-CN" altLang="en-US" sz="2200">
                <a:solidFill>
                  <a:srgbClr val="FF0000"/>
                </a:solidFill>
                <a:ea typeface="宋体" panose="02010600030101010101" pitchFamily="2" charset="-122"/>
              </a:rPr>
              <a:t>网络的路径长度</a:t>
            </a:r>
            <a:r>
              <a:rPr lang="zh-CN" altLang="en-US" sz="2200">
                <a:ea typeface="宋体" panose="02010600030101010101" pitchFamily="2" charset="-122"/>
              </a:rPr>
              <a:t>：路径上的权值之和</a:t>
            </a:r>
          </a:p>
        </p:txBody>
      </p:sp>
      <p:sp>
        <p:nvSpPr>
          <p:cNvPr id="15364" name="灯片编号占位符 5">
            <a:extLst>
              <a:ext uri="{FF2B5EF4-FFF2-40B4-BE49-F238E27FC236}">
                <a16:creationId xmlns:a16="http://schemas.microsoft.com/office/drawing/2014/main" id="{1DD9F179-205A-49B3-8B19-C7690CACA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49D599-5FEA-4382-B34C-519FA5AAC45B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15365" name="Picture 3" descr="D:\Lsa_DOC\软件技术\SoftwareTB\图\Snap1.gif">
            <a:extLst>
              <a:ext uri="{FF2B5EF4-FFF2-40B4-BE49-F238E27FC236}">
                <a16:creationId xmlns:a16="http://schemas.microsoft.com/office/drawing/2014/main" id="{82C0870A-1277-450B-9182-7B65A0852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5625"/>
            <a:ext cx="3203575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2" descr="D:\Lsa_DOC\软件技术\SoftwareTB\图\Snap2.gif">
            <a:extLst>
              <a:ext uri="{FF2B5EF4-FFF2-40B4-BE49-F238E27FC236}">
                <a16:creationId xmlns:a16="http://schemas.microsoft.com/office/drawing/2014/main" id="{AB234BEE-A4CA-4147-97B0-AF8E4910A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288" y="4005263"/>
            <a:ext cx="6189662" cy="279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6EBEBB1-CE2A-4CDD-8B2B-C523B8BC0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60D93B4-47CC-416B-8358-5E389A6F2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3622675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简单路径</a:t>
            </a:r>
            <a:r>
              <a:rPr lang="zh-CN" altLang="en-US" sz="2400">
                <a:ea typeface="宋体" panose="02010600030101010101" pitchFamily="2" charset="-122"/>
              </a:rPr>
              <a:t>：除首、尾顶点外，路径上的其它顶点各不相同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简单回路</a:t>
            </a:r>
            <a:r>
              <a:rPr lang="zh-CN" altLang="en-US" sz="2400">
                <a:ea typeface="宋体" panose="02010600030101010101" pitchFamily="2" charset="-122"/>
              </a:rPr>
              <a:t>：首、尾顶点相同的简单路径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连通图：</a:t>
            </a:r>
            <a:r>
              <a:rPr lang="zh-CN" altLang="en-US" sz="2400">
                <a:ea typeface="宋体" panose="02010600030101010101" pitchFamily="2" charset="-122"/>
              </a:rPr>
              <a:t>无向图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(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 </a:t>
            </a:r>
            <a:r>
              <a:rPr lang="zh-CN" altLang="en-US" sz="2400">
                <a:ea typeface="宋体" panose="02010600030101010101" pitchFamily="2" charset="-122"/>
              </a:rPr>
              <a:t>中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如果从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000">
                <a:ea typeface="宋体" panose="02010600030101010101" pitchFamily="2" charset="-122"/>
              </a:rPr>
              <a:t> 到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ea typeface="宋体" panose="02010600030101010101" pitchFamily="2" charset="-122"/>
              </a:rPr>
              <a:t> 存在路径，则称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000">
                <a:ea typeface="宋体" panose="02010600030101010101" pitchFamily="2" charset="-122"/>
              </a:rPr>
              <a:t>和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ea typeface="宋体" panose="02010600030101010101" pitchFamily="2" charset="-122"/>
              </a:rPr>
              <a:t> 是连通的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如果顶点集合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 </a:t>
            </a:r>
            <a:r>
              <a:rPr lang="zh-CN" altLang="en-US" sz="2000">
                <a:ea typeface="宋体" panose="02010600030101010101" pitchFamily="2" charset="-122"/>
              </a:rPr>
              <a:t>中任何两个顶点都是连通的，则称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r>
              <a:rPr lang="zh-CN" altLang="en-US" sz="2000">
                <a:ea typeface="宋体" panose="02010600030101010101" pitchFamily="2" charset="-122"/>
              </a:rPr>
              <a:t>是连通图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非连通图</a:t>
            </a:r>
            <a:r>
              <a:rPr lang="zh-CN" altLang="en-US" sz="2400">
                <a:ea typeface="宋体" panose="02010600030101010101" pitchFamily="2" charset="-122"/>
              </a:rPr>
              <a:t>：由多个连通的子图构成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连通分量</a:t>
            </a:r>
            <a:r>
              <a:rPr lang="zh-CN" altLang="en-US" sz="2400">
                <a:ea typeface="宋体" panose="02010600030101010101" pitchFamily="2" charset="-122"/>
              </a:rPr>
              <a:t>：无向图中的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极大连通子图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连通图只有一个连通分量，就是它本身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非连通图有二个以上的连通分量</a:t>
            </a:r>
          </a:p>
        </p:txBody>
      </p:sp>
      <p:sp>
        <p:nvSpPr>
          <p:cNvPr id="17412" name="灯片编号占位符 5">
            <a:extLst>
              <a:ext uri="{FF2B5EF4-FFF2-40B4-BE49-F238E27FC236}">
                <a16:creationId xmlns:a16="http://schemas.microsoft.com/office/drawing/2014/main" id="{58D21465-86D8-454C-AEBA-5437EB9D2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FB3CF6-F9DD-4D50-ADF0-DEF4DA975458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17413" name="Picture 7" descr="D:\Lsa_DOC\软件技术\SoftwareTB\图\Snap4.gif">
            <a:extLst>
              <a:ext uri="{FF2B5EF4-FFF2-40B4-BE49-F238E27FC236}">
                <a16:creationId xmlns:a16="http://schemas.microsoft.com/office/drawing/2014/main" id="{1174A963-10D1-4A8D-B2C5-2E34FE7B2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4292600"/>
            <a:ext cx="6437313" cy="270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4F784C61-98FB-4B97-A361-0D925ABD0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19459" name="Rectangle 1038">
            <a:extLst>
              <a:ext uri="{FF2B5EF4-FFF2-40B4-BE49-F238E27FC236}">
                <a16:creationId xmlns:a16="http://schemas.microsoft.com/office/drawing/2014/main" id="{0EAE0A18-ED5C-4F81-826F-3F8304BCB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6403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700">
                <a:solidFill>
                  <a:srgbClr val="FF0000"/>
                </a:solidFill>
                <a:ea typeface="宋体" panose="02010600030101010101" pitchFamily="2" charset="-122"/>
              </a:rPr>
              <a:t>图的存储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宋体" panose="02010600030101010101" pitchFamily="2" charset="-122"/>
              </a:rPr>
              <a:t>图结构复杂，任意两个顶点都有可能存在连接，因此无法用一维线性结构进行存储。又由于图中结点的度数不同，采用多重链表进行存储时，要么浪费空间要么操作不便。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宋体" panose="02010600030101010101" pitchFamily="2" charset="-122"/>
              </a:rPr>
              <a:t>图的两种存储结构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邻接矩阵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邻接表</a:t>
            </a:r>
          </a:p>
          <a:p>
            <a:pPr>
              <a:lnSpc>
                <a:spcPct val="90000"/>
              </a:lnSpc>
            </a:pPr>
            <a:r>
              <a:rPr lang="zh-CN" altLang="en-US" sz="2700">
                <a:solidFill>
                  <a:srgbClr val="FF0000"/>
                </a:solidFill>
                <a:ea typeface="宋体" panose="02010600030101010101" pitchFamily="2" charset="-122"/>
              </a:rPr>
              <a:t>邻接矩阵</a:t>
            </a:r>
            <a:r>
              <a:rPr lang="zh-CN" altLang="en-US" sz="27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7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adjacent matrix</a:t>
            </a:r>
            <a:r>
              <a:rPr lang="zh-CN" altLang="en-US" sz="27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700">
                <a:ea typeface="宋体" panose="02010600030101010101" pitchFamily="2" charset="-122"/>
              </a:rPr>
              <a:t>又称</a:t>
            </a:r>
            <a:r>
              <a:rPr lang="zh-CN" altLang="en-US" sz="2700">
                <a:solidFill>
                  <a:srgbClr val="FF0000"/>
                </a:solidFill>
                <a:ea typeface="宋体" panose="02010600030101010101" pitchFamily="2" charset="-122"/>
              </a:rPr>
              <a:t>关系矩阵</a:t>
            </a:r>
            <a:r>
              <a:rPr lang="zh-CN" altLang="en-US" sz="2700">
                <a:ea typeface="宋体" panose="02010600030101010101" pitchFamily="2" charset="-122"/>
              </a:rPr>
              <a:t>或</a:t>
            </a:r>
            <a:r>
              <a:rPr lang="zh-CN" altLang="en-US" sz="2700">
                <a:solidFill>
                  <a:srgbClr val="FF0000"/>
                </a:solidFill>
                <a:ea typeface="宋体" panose="02010600030101010101" pitchFamily="2" charset="-122"/>
              </a:rPr>
              <a:t>关联矩阵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宋体" panose="02010600030101010101" pitchFamily="2" charset="-122"/>
              </a:rPr>
              <a:t>对于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>
                <a:ea typeface="宋体" panose="02010600030101010101" pitchFamily="2" charset="-122"/>
              </a:rPr>
              <a:t>个顶点的图或网，可以用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0">
                <a:ea typeface="宋体" panose="02010600030101010101" pitchFamily="2" charset="-122"/>
              </a:rPr>
              <a:t>x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>
                <a:ea typeface="宋体" panose="02010600030101010101" pitchFamily="2" charset="-122"/>
              </a:rPr>
              <a:t>的矩阵来表示，矩阵中的数据元素定义为：</a:t>
            </a:r>
          </a:p>
          <a:p>
            <a:pPr lvl="3">
              <a:lnSpc>
                <a:spcPct val="90000"/>
              </a:lnSpc>
            </a:pPr>
            <a:endParaRPr lang="en-US" altLang="zh-CN" sz="170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宋体" panose="02010600030101010101" pitchFamily="2" charset="-122"/>
              </a:rPr>
              <a:t>对于图</a:t>
            </a:r>
          </a:p>
          <a:p>
            <a:pPr lvl="1">
              <a:lnSpc>
                <a:spcPct val="90000"/>
              </a:lnSpc>
            </a:pPr>
            <a:endParaRPr lang="zh-CN" altLang="en-US" sz="240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宋体" panose="02010600030101010101" pitchFamily="2" charset="-122"/>
              </a:rPr>
              <a:t>对于网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19460" name="灯片编号占位符 5">
            <a:extLst>
              <a:ext uri="{FF2B5EF4-FFF2-40B4-BE49-F238E27FC236}">
                <a16:creationId xmlns:a16="http://schemas.microsoft.com/office/drawing/2014/main" id="{AD4EEA19-F067-4F8E-AD0F-7A30FEC47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0F8FEC-8ECE-428E-9236-F527952FA6D9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461" name="Object 2">
            <a:extLst>
              <a:ext uri="{FF2B5EF4-FFF2-40B4-BE49-F238E27FC236}">
                <a16:creationId xmlns:a16="http://schemas.microsoft.com/office/drawing/2014/main" id="{03078A69-ECB0-4343-8097-6863A58F5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3288" y="5013325"/>
          <a:ext cx="578326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4" imgW="3190857" imgH="495236" progId="Equation.DSMT4">
                  <p:embed/>
                </p:oleObj>
              </mc:Choice>
              <mc:Fallback>
                <p:oleObj name="Equation" r:id="rId4" imgW="3190857" imgH="49523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5013325"/>
                        <a:ext cx="5783262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3">
            <a:extLst>
              <a:ext uri="{FF2B5EF4-FFF2-40B4-BE49-F238E27FC236}">
                <a16:creationId xmlns:a16="http://schemas.microsoft.com/office/drawing/2014/main" id="{BB8A1288-E0BA-4847-BD6B-F5865F45F2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5988" y="5749925"/>
          <a:ext cx="59864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6" imgW="3314743" imgH="495236" progId="Equation.DSMT4">
                  <p:embed/>
                </p:oleObj>
              </mc:Choice>
              <mc:Fallback>
                <p:oleObj name="Equation" r:id="rId6" imgW="3314743" imgH="49523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5749925"/>
                        <a:ext cx="59864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A004D8F-04F3-4A84-8538-23FFB76FEA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21507" name="内容占位符 9">
            <a:extLst>
              <a:ext uri="{FF2B5EF4-FFF2-40B4-BE49-F238E27FC236}">
                <a16:creationId xmlns:a16="http://schemas.microsoft.com/office/drawing/2014/main" id="{832DB857-FB76-40FD-82F9-2D71BC9E5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101725"/>
            <a:ext cx="8828087" cy="30480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邻接矩阵实例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对于图，都是</a:t>
            </a:r>
            <a:r>
              <a:rPr lang="en-US" altLang="zh-CN">
                <a:ea typeface="宋体" panose="02010600030101010101" pitchFamily="2" charset="-122"/>
              </a:rPr>
              <a:t>01</a:t>
            </a:r>
            <a:r>
              <a:rPr lang="zh-CN" altLang="en-US">
                <a:ea typeface="宋体" panose="02010600030101010101" pitchFamily="2" charset="-122"/>
              </a:rPr>
              <a:t>矩阵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对于无向图是对称矩阵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8" name="灯片编号占位符 5">
            <a:extLst>
              <a:ext uri="{FF2B5EF4-FFF2-40B4-BE49-F238E27FC236}">
                <a16:creationId xmlns:a16="http://schemas.microsoft.com/office/drawing/2014/main" id="{55A58378-6101-4EBA-BF5C-5FCA7A313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3BA269-3919-4FBC-B5EA-1B86E6C67DCB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21509" name="Object 2">
            <a:extLst>
              <a:ext uri="{FF2B5EF4-FFF2-40B4-BE49-F238E27FC236}">
                <a16:creationId xmlns:a16="http://schemas.microsoft.com/office/drawing/2014/main" id="{A0F5EB90-CC9E-47A8-BECF-D5F06D3D5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8038" y="1198563"/>
          <a:ext cx="2716212" cy="251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3" imgW="1095545" imgH="1104810" progId="Equation.DSMT4">
                  <p:embed/>
                </p:oleObj>
              </mc:Choice>
              <mc:Fallback>
                <p:oleObj name="Equation" r:id="rId3" imgW="1095545" imgH="110481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8038" y="1198563"/>
                        <a:ext cx="2716212" cy="251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3">
            <a:extLst>
              <a:ext uri="{FF2B5EF4-FFF2-40B4-BE49-F238E27FC236}">
                <a16:creationId xmlns:a16="http://schemas.microsoft.com/office/drawing/2014/main" id="{459D1D4F-5835-46E4-88C4-DED1B4247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9975" y="4089400"/>
          <a:ext cx="2238375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5" imgW="876228" imgH="876133" progId="Equation.DSMT4">
                  <p:embed/>
                </p:oleObj>
              </mc:Choice>
              <mc:Fallback>
                <p:oleObj name="Equation" r:id="rId5" imgW="876228" imgH="87613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975" y="4089400"/>
                        <a:ext cx="2238375" cy="221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1" name="Picture 3" descr="D:\Lsa_DOC\软件技术\SoftwareTB\图\Snap1.gif">
            <a:extLst>
              <a:ext uri="{FF2B5EF4-FFF2-40B4-BE49-F238E27FC236}">
                <a16:creationId xmlns:a16="http://schemas.microsoft.com/office/drawing/2014/main" id="{E90EF8F4-CB35-4E21-8DCA-E0F5AF68A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068638"/>
            <a:ext cx="4824413" cy="289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1">
            <a:extLst>
              <a:ext uri="{FF2B5EF4-FFF2-40B4-BE49-F238E27FC236}">
                <a16:creationId xmlns:a16="http://schemas.microsoft.com/office/drawing/2014/main" id="{179F3CB1-DD77-47DC-9763-4722AC310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575" y="6375400"/>
            <a:ext cx="1584325" cy="54927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round/>
            <a:headEnd/>
            <a:tailEnd/>
          </a:ln>
        </p:spPr>
        <p:txBody>
          <a:bodyPr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250F36B-EC62-423A-AFA9-571B10D7A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22532" name="内容占位符 10">
            <a:extLst>
              <a:ext uri="{FF2B5EF4-FFF2-40B4-BE49-F238E27FC236}">
                <a16:creationId xmlns:a16="http://schemas.microsoft.com/office/drawing/2014/main" id="{A5AF3142-4238-42B5-80A1-886A2770C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128713"/>
            <a:ext cx="8828087" cy="57562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000">
                <a:ea typeface="宋体" panose="02010600030101010101" pitchFamily="2" charset="-122"/>
              </a:rPr>
              <a:t>邻接矩阵实例</a:t>
            </a:r>
            <a:r>
              <a:rPr lang="en-US" altLang="zh-CN" sz="3000">
                <a:ea typeface="宋体" panose="02010600030101010101" pitchFamily="2" charset="-122"/>
              </a:rPr>
              <a:t>2</a:t>
            </a:r>
          </a:p>
          <a:p>
            <a:pPr lvl="1">
              <a:lnSpc>
                <a:spcPct val="90000"/>
              </a:lnSpc>
            </a:pPr>
            <a:r>
              <a:rPr lang="zh-CN" altLang="en-US" sz="2600">
                <a:ea typeface="宋体" panose="02010600030101010101" pitchFamily="2" charset="-122"/>
              </a:rPr>
              <a:t>对于网都是实数矩阵；对于无向网是对称矩阵</a:t>
            </a:r>
            <a:endParaRPr lang="en-US" altLang="zh-CN" sz="260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60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60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60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60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60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600">
              <a:ea typeface="宋体" panose="02010600030101010101" pitchFamily="2" charset="-122"/>
            </a:endParaRPr>
          </a:p>
          <a:p>
            <a:pPr lvl="1"/>
            <a:endParaRPr lang="en-US" altLang="zh-CN" sz="2600">
              <a:ea typeface="宋体" panose="02010600030101010101" pitchFamily="2" charset="-122"/>
            </a:endParaRPr>
          </a:p>
          <a:p>
            <a:pPr lvl="1"/>
            <a:endParaRPr lang="en-US" altLang="zh-CN" sz="2600">
              <a:ea typeface="宋体" panose="02010600030101010101" pitchFamily="2" charset="-122"/>
            </a:endParaRPr>
          </a:p>
          <a:p>
            <a:pPr lvl="1"/>
            <a:endParaRPr lang="en-US" altLang="zh-CN" sz="2600">
              <a:ea typeface="宋体" panose="02010600030101010101" pitchFamily="2" charset="-122"/>
            </a:endParaRPr>
          </a:p>
          <a:p>
            <a:pPr lvl="1"/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邻接矩阵中保存的仅仅是图或网中的边或弧的信息，</a:t>
            </a:r>
            <a:endParaRPr lang="en-US" altLang="zh-CN" sz="20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如果要保存图中顶点的信息，可以再采用一个一维数组进行存放。</a:t>
            </a:r>
            <a:endParaRPr lang="en-US" altLang="zh-CN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2533" name="灯片编号占位符 5">
            <a:extLst>
              <a:ext uri="{FF2B5EF4-FFF2-40B4-BE49-F238E27FC236}">
                <a16:creationId xmlns:a16="http://schemas.microsoft.com/office/drawing/2014/main" id="{104FCDBF-A07B-4871-8699-A8C1563CA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7575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EFC97E-C09D-4565-B347-F6D3074F4830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22534" name="Object 2">
            <a:extLst>
              <a:ext uri="{FF2B5EF4-FFF2-40B4-BE49-F238E27FC236}">
                <a16:creationId xmlns:a16="http://schemas.microsoft.com/office/drawing/2014/main" id="{D2399195-488C-47EB-83F3-2CE2D2AB2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4800" y="2055813"/>
          <a:ext cx="2852738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4" imgW="2009945" imgH="1562164" progId="Equation.DSMT4">
                  <p:embed/>
                </p:oleObj>
              </mc:Choice>
              <mc:Fallback>
                <p:oleObj name="Equation" r:id="rId4" imgW="2009945" imgH="1562164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2055813"/>
                        <a:ext cx="2852738" cy="206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3">
            <a:extLst>
              <a:ext uri="{FF2B5EF4-FFF2-40B4-BE49-F238E27FC236}">
                <a16:creationId xmlns:a16="http://schemas.microsoft.com/office/drawing/2014/main" id="{F7154B85-0C05-4C10-81A6-2C7994957F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2650" y="2057400"/>
          <a:ext cx="2974975" cy="206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6" imgW="2105029" imgH="1562164" progId="Equation.DSMT4">
                  <p:embed/>
                </p:oleObj>
              </mc:Choice>
              <mc:Fallback>
                <p:oleObj name="Equation" r:id="rId6" imgW="2105029" imgH="156216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0" y="2057400"/>
                        <a:ext cx="2974975" cy="206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6" name="Picture 2" descr="D:\Lsa_DOC\软件技术\SoftwareTB\图\Snap2.gif">
            <a:extLst>
              <a:ext uri="{FF2B5EF4-FFF2-40B4-BE49-F238E27FC236}">
                <a16:creationId xmlns:a16="http://schemas.microsoft.com/office/drawing/2014/main" id="{54FB9276-C7CA-4FB9-8B59-CE89D655F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933825"/>
            <a:ext cx="7847013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087E5FB-705E-45FE-95A4-5C543BCDA4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B9E33F6-76B9-43E9-B6DA-5B1D5FAB8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49196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000">
                <a:solidFill>
                  <a:srgbClr val="FF0000"/>
                </a:solidFill>
                <a:ea typeface="宋体" panose="02010600030101010101" pitchFamily="2" charset="-122"/>
              </a:rPr>
              <a:t>邻接表</a:t>
            </a:r>
            <a:r>
              <a:rPr lang="en-US" altLang="zh-CN" sz="3000">
                <a:ea typeface="宋体" panose="02010600030101010101" pitchFamily="2" charset="-122"/>
              </a:rPr>
              <a:t>--</a:t>
            </a:r>
            <a:r>
              <a:rPr lang="zh-CN" altLang="en-US" sz="3000">
                <a:ea typeface="宋体" panose="02010600030101010101" pitchFamily="2" charset="-122"/>
              </a:rPr>
              <a:t>图的一种链式存储结构</a:t>
            </a:r>
          </a:p>
          <a:p>
            <a:pPr lvl="1">
              <a:lnSpc>
                <a:spcPct val="80000"/>
              </a:lnSpc>
            </a:pPr>
            <a:r>
              <a:rPr lang="zh-CN" altLang="en-US" sz="2600">
                <a:ea typeface="宋体" panose="02010600030101010101" pitchFamily="2" charset="-122"/>
              </a:rPr>
              <a:t>每个顶点建立一个单链表，链表中的结点表示与该顶点直接连接的“边”或以该顶点为尾“弧”</a:t>
            </a:r>
          </a:p>
          <a:p>
            <a:pPr lvl="2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邻接域（</a:t>
            </a:r>
            <a:r>
              <a:rPr lang="en-US" altLang="zh-CN" sz="2200">
                <a:ea typeface="宋体" panose="02010600030101010101" pitchFamily="2" charset="-122"/>
              </a:rPr>
              <a:t>adjvex）：</a:t>
            </a:r>
            <a:r>
              <a:rPr lang="zh-CN" altLang="en-US" sz="2200">
                <a:ea typeface="宋体" panose="02010600030101010101" pitchFamily="2" charset="-122"/>
              </a:rPr>
              <a:t>与该顶点邻接的顶点的“</a:t>
            </a:r>
            <a:r>
              <a:rPr lang="zh-CN" altLang="en-US" sz="2200">
                <a:solidFill>
                  <a:srgbClr val="0000CC"/>
                </a:solidFill>
                <a:ea typeface="宋体" panose="02010600030101010101" pitchFamily="2" charset="-122"/>
              </a:rPr>
              <a:t>序号</a:t>
            </a:r>
            <a:r>
              <a:rPr lang="zh-CN" altLang="en-US" sz="2200">
                <a:ea typeface="宋体" panose="02010600030101010101" pitchFamily="2" charset="-122"/>
              </a:rPr>
              <a:t>”</a:t>
            </a:r>
          </a:p>
          <a:p>
            <a:pPr lvl="2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数据域（</a:t>
            </a:r>
            <a:r>
              <a:rPr lang="en-US" altLang="zh-CN" sz="2200">
                <a:ea typeface="宋体" panose="02010600030101010101" pitchFamily="2" charset="-122"/>
              </a:rPr>
              <a:t>data）：</a:t>
            </a:r>
            <a:r>
              <a:rPr lang="zh-CN" altLang="en-US" sz="2200">
                <a:ea typeface="宋体" panose="02010600030101010101" pitchFamily="2" charset="-122"/>
              </a:rPr>
              <a:t>存储边或弧的相关信息，例如“</a:t>
            </a:r>
            <a:r>
              <a:rPr lang="zh-CN" altLang="en-US" sz="2200">
                <a:solidFill>
                  <a:srgbClr val="0000CC"/>
                </a:solidFill>
                <a:ea typeface="宋体" panose="02010600030101010101" pitchFamily="2" charset="-122"/>
              </a:rPr>
              <a:t>权值</a:t>
            </a:r>
            <a:r>
              <a:rPr lang="zh-CN" altLang="en-US" sz="2200">
                <a:ea typeface="宋体" panose="02010600030101010101" pitchFamily="2" charset="-122"/>
              </a:rPr>
              <a:t>”</a:t>
            </a:r>
          </a:p>
          <a:p>
            <a:pPr lvl="2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链域（</a:t>
            </a:r>
            <a:r>
              <a:rPr lang="en-US" altLang="zh-CN" sz="2200">
                <a:ea typeface="宋体" panose="02010600030101010101" pitchFamily="2" charset="-122"/>
              </a:rPr>
              <a:t>nextarc）：</a:t>
            </a:r>
            <a:r>
              <a:rPr lang="zh-CN" altLang="en-US" sz="2200">
                <a:ea typeface="宋体" panose="02010600030101010101" pitchFamily="2" charset="-122"/>
              </a:rPr>
              <a:t>存储指向下一条边或弧的结点的“</a:t>
            </a:r>
            <a:r>
              <a:rPr lang="zh-CN" altLang="en-US" sz="2200">
                <a:solidFill>
                  <a:srgbClr val="0000CC"/>
                </a:solidFill>
                <a:ea typeface="宋体" panose="02010600030101010101" pitchFamily="2" charset="-122"/>
              </a:rPr>
              <a:t>指针”</a:t>
            </a:r>
            <a:endParaRPr lang="en-US" altLang="zh-CN" sz="22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endParaRPr lang="en-US" altLang="zh-CN" sz="22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endParaRPr lang="en-US" altLang="zh-CN" sz="22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endParaRPr lang="zh-CN" altLang="en-US" sz="22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600">
                <a:ea typeface="宋体" panose="02010600030101010101" pitchFamily="2" charset="-122"/>
              </a:rPr>
              <a:t>每一个单链表都有一个表头结点，统一存放在顺序存储结构的</a:t>
            </a:r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</a:rPr>
              <a:t>数组</a:t>
            </a:r>
            <a:r>
              <a:rPr lang="zh-CN" altLang="en-US" sz="2600">
                <a:ea typeface="宋体" panose="02010600030101010101" pitchFamily="2" charset="-122"/>
              </a:rPr>
              <a:t>（向量）中</a:t>
            </a:r>
          </a:p>
          <a:p>
            <a:pPr lvl="2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数据域（</a:t>
            </a:r>
            <a:r>
              <a:rPr lang="en-US" altLang="zh-CN" sz="2200">
                <a:ea typeface="宋体" panose="02010600030101010101" pitchFamily="2" charset="-122"/>
              </a:rPr>
              <a:t>vexdata）：</a:t>
            </a:r>
            <a:r>
              <a:rPr lang="zh-CN" altLang="en-US" sz="2200">
                <a:ea typeface="宋体" panose="02010600030101010101" pitchFamily="2" charset="-122"/>
              </a:rPr>
              <a:t>存储顶点的有关信息，例如“城市名”</a:t>
            </a:r>
          </a:p>
          <a:p>
            <a:pPr lvl="2">
              <a:lnSpc>
                <a:spcPct val="80000"/>
              </a:lnSpc>
            </a:pPr>
            <a:r>
              <a:rPr lang="zh-CN" altLang="en-US" sz="2200">
                <a:ea typeface="宋体" panose="02010600030101010101" pitchFamily="2" charset="-122"/>
              </a:rPr>
              <a:t>链域（</a:t>
            </a:r>
            <a:r>
              <a:rPr lang="en-US" altLang="zh-CN" sz="2200">
                <a:ea typeface="宋体" panose="02010600030101010101" pitchFamily="2" charset="-122"/>
              </a:rPr>
              <a:t>firarc）：</a:t>
            </a:r>
            <a:r>
              <a:rPr lang="zh-CN" altLang="en-US" sz="2200">
                <a:ea typeface="宋体" panose="02010600030101010101" pitchFamily="2" charset="-122"/>
              </a:rPr>
              <a:t>存储指向单链表的首结点的“</a:t>
            </a:r>
            <a:r>
              <a:rPr lang="zh-CN" altLang="en-US" sz="2200">
                <a:solidFill>
                  <a:srgbClr val="0000CC"/>
                </a:solidFill>
                <a:ea typeface="宋体" panose="02010600030101010101" pitchFamily="2" charset="-122"/>
              </a:rPr>
              <a:t>指针</a:t>
            </a:r>
            <a:r>
              <a:rPr lang="zh-CN" altLang="en-US" sz="2200">
                <a:ea typeface="宋体" panose="02010600030101010101" pitchFamily="2" charset="-122"/>
              </a:rPr>
              <a:t>”</a:t>
            </a:r>
          </a:p>
        </p:txBody>
      </p:sp>
      <p:grpSp>
        <p:nvGrpSpPr>
          <p:cNvPr id="24580" name="Group 131">
            <a:extLst>
              <a:ext uri="{FF2B5EF4-FFF2-40B4-BE49-F238E27FC236}">
                <a16:creationId xmlns:a16="http://schemas.microsoft.com/office/drawing/2014/main" id="{91D5A940-FEC9-432C-8546-38F62DEAA0CD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5876925"/>
            <a:ext cx="3140075" cy="376238"/>
            <a:chOff x="2932" y="2355"/>
            <a:chExt cx="2348" cy="237"/>
          </a:xfrm>
        </p:grpSpPr>
        <p:grpSp>
          <p:nvGrpSpPr>
            <p:cNvPr id="24587" name="Group 127">
              <a:extLst>
                <a:ext uri="{FF2B5EF4-FFF2-40B4-BE49-F238E27FC236}">
                  <a16:creationId xmlns:a16="http://schemas.microsoft.com/office/drawing/2014/main" id="{D009CE7D-8493-4D92-809C-8788C2F094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355"/>
              <a:ext cx="1440" cy="237"/>
              <a:chOff x="3648" y="2304"/>
              <a:chExt cx="1440" cy="237"/>
            </a:xfrm>
          </p:grpSpPr>
          <p:sp>
            <p:nvSpPr>
              <p:cNvPr id="24589" name="Text Box 124">
                <a:extLst>
                  <a:ext uri="{FF2B5EF4-FFF2-40B4-BE49-F238E27FC236}">
                    <a16:creationId xmlns:a16="http://schemas.microsoft.com/office/drawing/2014/main" id="{E8C556C8-415E-496B-AB0E-58175E6784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8" y="2304"/>
                <a:ext cx="1440" cy="237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vexdata        firarc</a:t>
                </a:r>
              </a:p>
            </p:txBody>
          </p:sp>
          <p:sp>
            <p:nvSpPr>
              <p:cNvPr id="24590" name="Line 126">
                <a:extLst>
                  <a:ext uri="{FF2B5EF4-FFF2-40B4-BE49-F238E27FC236}">
                    <a16:creationId xmlns:a16="http://schemas.microsoft.com/office/drawing/2014/main" id="{B794BB87-0A46-45B0-90B1-21902AEF8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310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8" name="Text Box 128">
              <a:extLst>
                <a:ext uri="{FF2B5EF4-FFF2-40B4-BE49-F238E27FC236}">
                  <a16:creationId xmlns:a16="http://schemas.microsoft.com/office/drawing/2014/main" id="{F286CFAB-7BCD-4429-9B2E-96E4C1D84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357"/>
              <a:ext cx="9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表头结点</a:t>
              </a:r>
            </a:p>
          </p:txBody>
        </p:sp>
      </p:grpSp>
      <p:grpSp>
        <p:nvGrpSpPr>
          <p:cNvPr id="24581" name="Group 130">
            <a:extLst>
              <a:ext uri="{FF2B5EF4-FFF2-40B4-BE49-F238E27FC236}">
                <a16:creationId xmlns:a16="http://schemas.microsoft.com/office/drawing/2014/main" id="{1FD57101-1643-4E2F-88D2-C8C1578D7760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573463"/>
            <a:ext cx="3989387" cy="387350"/>
            <a:chOff x="2868" y="1676"/>
            <a:chExt cx="2700" cy="244"/>
          </a:xfrm>
        </p:grpSpPr>
        <p:grpSp>
          <p:nvGrpSpPr>
            <p:cNvPr id="24582" name="Group 119">
              <a:extLst>
                <a:ext uri="{FF2B5EF4-FFF2-40B4-BE49-F238E27FC236}">
                  <a16:creationId xmlns:a16="http://schemas.microsoft.com/office/drawing/2014/main" id="{16022E59-37D3-4A74-A7DC-881F270793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683"/>
              <a:ext cx="1920" cy="237"/>
              <a:chOff x="3744" y="3888"/>
              <a:chExt cx="1920" cy="237"/>
            </a:xfrm>
          </p:grpSpPr>
          <p:sp>
            <p:nvSpPr>
              <p:cNvPr id="24584" name="Text Box 120">
                <a:extLst>
                  <a:ext uri="{FF2B5EF4-FFF2-40B4-BE49-F238E27FC236}">
                    <a16:creationId xmlns:a16="http://schemas.microsoft.com/office/drawing/2014/main" id="{42D7C5D2-C32D-498C-B322-DA4F78AB6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3888"/>
                <a:ext cx="1920" cy="237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adjvex        data        nextarc</a:t>
                </a:r>
              </a:p>
            </p:txBody>
          </p:sp>
          <p:sp>
            <p:nvSpPr>
              <p:cNvPr id="24585" name="Line 121">
                <a:extLst>
                  <a:ext uri="{FF2B5EF4-FFF2-40B4-BE49-F238E27FC236}">
                    <a16:creationId xmlns:a16="http://schemas.microsoft.com/office/drawing/2014/main" id="{F2AE543A-BC03-480E-A056-FED0956AA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3894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86" name="Line 122">
                <a:extLst>
                  <a:ext uri="{FF2B5EF4-FFF2-40B4-BE49-F238E27FC236}">
                    <a16:creationId xmlns:a16="http://schemas.microsoft.com/office/drawing/2014/main" id="{965BC6E0-C810-4B5D-9E9A-FBB23497A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4" y="3894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3" name="Text Box 129">
              <a:extLst>
                <a:ext uri="{FF2B5EF4-FFF2-40B4-BE49-F238E27FC236}">
                  <a16:creationId xmlns:a16="http://schemas.microsoft.com/office/drawing/2014/main" id="{BAEF66B4-4F74-4AB8-98E3-402D37E40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" y="1676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链表结点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5" descr="D:\Lsa_DOC\软件技术\SoftwareTB\图\Snap6.gif">
            <a:extLst>
              <a:ext uri="{FF2B5EF4-FFF2-40B4-BE49-F238E27FC236}">
                <a16:creationId xmlns:a16="http://schemas.microsoft.com/office/drawing/2014/main" id="{68B9866C-70D5-4430-B38B-E5F7C71D2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3213100"/>
            <a:ext cx="602932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2">
            <a:extLst>
              <a:ext uri="{FF2B5EF4-FFF2-40B4-BE49-F238E27FC236}">
                <a16:creationId xmlns:a16="http://schemas.microsoft.com/office/drawing/2014/main" id="{FAC2453D-4621-439A-A576-61EE37157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ECF4B29-B39E-4C66-A574-B3AA1DD0C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10318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邻接表实例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>—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针对图的存储</a:t>
            </a:r>
            <a:endParaRPr lang="en-US" altLang="zh-CN">
              <a:solidFill>
                <a:schemeClr val="bg1"/>
              </a:solidFill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没有数据域</a:t>
            </a:r>
          </a:p>
        </p:txBody>
      </p:sp>
      <p:sp>
        <p:nvSpPr>
          <p:cNvPr id="26629" name="灯片编号占位符 5">
            <a:extLst>
              <a:ext uri="{FF2B5EF4-FFF2-40B4-BE49-F238E27FC236}">
                <a16:creationId xmlns:a16="http://schemas.microsoft.com/office/drawing/2014/main" id="{EA7106EC-956E-4ACD-8C0C-953E8E50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824517-19AF-4572-84D0-FE9D56D0E64C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grpSp>
        <p:nvGrpSpPr>
          <p:cNvPr id="26630" name="Group 131">
            <a:extLst>
              <a:ext uri="{FF2B5EF4-FFF2-40B4-BE49-F238E27FC236}">
                <a16:creationId xmlns:a16="http://schemas.microsoft.com/office/drawing/2014/main" id="{B1479FE4-D911-4014-84E6-811047DE27F2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2252663"/>
            <a:ext cx="3140075" cy="376237"/>
            <a:chOff x="2932" y="2355"/>
            <a:chExt cx="2348" cy="237"/>
          </a:xfrm>
        </p:grpSpPr>
        <p:grpSp>
          <p:nvGrpSpPr>
            <p:cNvPr id="26645" name="Group 127">
              <a:extLst>
                <a:ext uri="{FF2B5EF4-FFF2-40B4-BE49-F238E27FC236}">
                  <a16:creationId xmlns:a16="http://schemas.microsoft.com/office/drawing/2014/main" id="{01B43783-605E-44E2-ABC6-26AB85B794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355"/>
              <a:ext cx="1440" cy="237"/>
              <a:chOff x="3648" y="2304"/>
              <a:chExt cx="1440" cy="237"/>
            </a:xfrm>
          </p:grpSpPr>
          <p:sp>
            <p:nvSpPr>
              <p:cNvPr id="26647" name="Text Box 124">
                <a:extLst>
                  <a:ext uri="{FF2B5EF4-FFF2-40B4-BE49-F238E27FC236}">
                    <a16:creationId xmlns:a16="http://schemas.microsoft.com/office/drawing/2014/main" id="{7DFB9EB8-37BA-4EDA-8347-0BD199FD6D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8" y="2304"/>
                <a:ext cx="1440" cy="237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vexdata        firarc</a:t>
                </a:r>
              </a:p>
            </p:txBody>
          </p:sp>
          <p:sp>
            <p:nvSpPr>
              <p:cNvPr id="26648" name="Line 126">
                <a:extLst>
                  <a:ext uri="{FF2B5EF4-FFF2-40B4-BE49-F238E27FC236}">
                    <a16:creationId xmlns:a16="http://schemas.microsoft.com/office/drawing/2014/main" id="{4699F411-85FF-4E76-B2EE-E01DD40E15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310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46" name="Text Box 128">
              <a:extLst>
                <a:ext uri="{FF2B5EF4-FFF2-40B4-BE49-F238E27FC236}">
                  <a16:creationId xmlns:a16="http://schemas.microsoft.com/office/drawing/2014/main" id="{745E038C-8A22-4126-A8EF-E988425CD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357"/>
              <a:ext cx="9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表头结点</a:t>
              </a:r>
            </a:p>
          </p:txBody>
        </p:sp>
      </p:grpSp>
      <p:grpSp>
        <p:nvGrpSpPr>
          <p:cNvPr id="26631" name="Group 130">
            <a:extLst>
              <a:ext uri="{FF2B5EF4-FFF2-40B4-BE49-F238E27FC236}">
                <a16:creationId xmlns:a16="http://schemas.microsoft.com/office/drawing/2014/main" id="{62BD4BBC-B02C-44CB-A918-D9CF3B470202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2249488"/>
            <a:ext cx="3989387" cy="387350"/>
            <a:chOff x="2868" y="1676"/>
            <a:chExt cx="2700" cy="244"/>
          </a:xfrm>
        </p:grpSpPr>
        <p:grpSp>
          <p:nvGrpSpPr>
            <p:cNvPr id="26640" name="Group 119">
              <a:extLst>
                <a:ext uri="{FF2B5EF4-FFF2-40B4-BE49-F238E27FC236}">
                  <a16:creationId xmlns:a16="http://schemas.microsoft.com/office/drawing/2014/main" id="{C9025D7B-AD63-4020-ABA7-D8A3AD87A9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683"/>
              <a:ext cx="1920" cy="237"/>
              <a:chOff x="3744" y="3888"/>
              <a:chExt cx="1920" cy="237"/>
            </a:xfrm>
          </p:grpSpPr>
          <p:sp>
            <p:nvSpPr>
              <p:cNvPr id="26642" name="Text Box 120">
                <a:extLst>
                  <a:ext uri="{FF2B5EF4-FFF2-40B4-BE49-F238E27FC236}">
                    <a16:creationId xmlns:a16="http://schemas.microsoft.com/office/drawing/2014/main" id="{AA8A5271-B3F3-4DF7-AFC5-821A9E30D8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3888"/>
                <a:ext cx="1920" cy="237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adjvex        data        nextarc</a:t>
                </a:r>
              </a:p>
            </p:txBody>
          </p:sp>
          <p:sp>
            <p:nvSpPr>
              <p:cNvPr id="26643" name="Line 121">
                <a:extLst>
                  <a:ext uri="{FF2B5EF4-FFF2-40B4-BE49-F238E27FC236}">
                    <a16:creationId xmlns:a16="http://schemas.microsoft.com/office/drawing/2014/main" id="{8D001DCE-C9D7-4E81-AA0D-10D85C1B48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3894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4" name="Line 122">
                <a:extLst>
                  <a:ext uri="{FF2B5EF4-FFF2-40B4-BE49-F238E27FC236}">
                    <a16:creationId xmlns:a16="http://schemas.microsoft.com/office/drawing/2014/main" id="{7A4F016B-8B3E-453E-B111-BBFBAAC3DF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4" y="3894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41" name="Text Box 129">
              <a:extLst>
                <a:ext uri="{FF2B5EF4-FFF2-40B4-BE49-F238E27FC236}">
                  <a16:creationId xmlns:a16="http://schemas.microsoft.com/office/drawing/2014/main" id="{DB707105-7464-44FA-8109-74DD6E767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" y="1676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链表结点</a:t>
              </a:r>
            </a:p>
          </p:txBody>
        </p:sp>
      </p:grpSp>
      <p:sp>
        <p:nvSpPr>
          <p:cNvPr id="26632" name="AutoShape 134">
            <a:extLst>
              <a:ext uri="{FF2B5EF4-FFF2-40B4-BE49-F238E27FC236}">
                <a16:creationId xmlns:a16="http://schemas.microsoft.com/office/drawing/2014/main" id="{0F2A758F-AE2F-406A-9A6C-85C306FDA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3262313"/>
            <a:ext cx="838200" cy="2398712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3" name="AutoShape 137">
            <a:extLst>
              <a:ext uri="{FF2B5EF4-FFF2-40B4-BE49-F238E27FC236}">
                <a16:creationId xmlns:a16="http://schemas.microsoft.com/office/drawing/2014/main" id="{457E42C9-7AE0-4E10-945E-D481DA0B0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84538"/>
            <a:ext cx="2362200" cy="230505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4" name="Text Box 138">
            <a:extLst>
              <a:ext uri="{FF2B5EF4-FFF2-40B4-BE49-F238E27FC236}">
                <a16:creationId xmlns:a16="http://schemas.microsoft.com/office/drawing/2014/main" id="{6F9984A2-C872-4F01-85CD-1C92C58AF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725" y="5745163"/>
            <a:ext cx="106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zh-CN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表头结点</a:t>
            </a:r>
          </a:p>
        </p:txBody>
      </p:sp>
      <p:sp>
        <p:nvSpPr>
          <p:cNvPr id="26635" name="Line 139">
            <a:extLst>
              <a:ext uri="{FF2B5EF4-FFF2-40B4-BE49-F238E27FC236}">
                <a16:creationId xmlns:a16="http://schemas.microsoft.com/office/drawing/2014/main" id="{E84CBAC7-7E4E-4D24-948A-CD81F92D7E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5516563"/>
            <a:ext cx="53340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Text Box 140">
            <a:extLst>
              <a:ext uri="{FF2B5EF4-FFF2-40B4-BE49-F238E27FC236}">
                <a16:creationId xmlns:a16="http://schemas.microsoft.com/office/drawing/2014/main" id="{1DF0CA8D-DB9C-4995-8E9C-A42E1D01B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5805488"/>
            <a:ext cx="106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zh-CN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链表结点</a:t>
            </a:r>
          </a:p>
        </p:txBody>
      </p:sp>
      <p:sp>
        <p:nvSpPr>
          <p:cNvPr id="26637" name="Line 141">
            <a:extLst>
              <a:ext uri="{FF2B5EF4-FFF2-40B4-BE49-F238E27FC236}">
                <a16:creationId xmlns:a16="http://schemas.microsoft.com/office/drawing/2014/main" id="{3D0969F8-9627-4DE3-9AD6-63F577ADF7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91175" y="5472113"/>
            <a:ext cx="420688" cy="33337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38" name="Picture 3" descr="D:\Lsa_DOC\软件技术\SoftwareTB\图\Snap1.gif">
            <a:extLst>
              <a:ext uri="{FF2B5EF4-FFF2-40B4-BE49-F238E27FC236}">
                <a16:creationId xmlns:a16="http://schemas.microsoft.com/office/drawing/2014/main" id="{187B3FBF-40D7-4717-BA7C-102949DBA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73463"/>
            <a:ext cx="30591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9" name="TextBox 23">
            <a:extLst>
              <a:ext uri="{FF2B5EF4-FFF2-40B4-BE49-F238E27FC236}">
                <a16:creationId xmlns:a16="http://schemas.microsoft.com/office/drawing/2014/main" id="{7AD2A08A-BB68-4CAD-96A8-04939AEF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2708275"/>
            <a:ext cx="6769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rPr>
              <a:t>邻接域            数据域           链域                                                数据域           链域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DD7D81D-375A-43C8-A28D-69E99970C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8A6C3E8-3761-48E2-A069-4896147CC6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270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000">
                <a:solidFill>
                  <a:srgbClr val="FF0000"/>
                </a:solidFill>
                <a:ea typeface="宋体" panose="02010600030101010101" pitchFamily="2" charset="-122"/>
              </a:rPr>
              <a:t>邻接表实例</a:t>
            </a:r>
            <a:r>
              <a:rPr lang="en-US" altLang="zh-CN" sz="3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000">
                <a:solidFill>
                  <a:schemeClr val="bg1"/>
                </a:solidFill>
                <a:ea typeface="宋体" panose="02010600030101010101" pitchFamily="2" charset="-122"/>
              </a:rPr>
              <a:t>—</a:t>
            </a:r>
            <a:r>
              <a:rPr lang="zh-CN" altLang="en-US" sz="3000">
                <a:solidFill>
                  <a:schemeClr val="bg1"/>
                </a:solidFill>
                <a:ea typeface="宋体" panose="02010600030101010101" pitchFamily="2" charset="-122"/>
              </a:rPr>
              <a:t>针对网的存储</a:t>
            </a:r>
            <a:endParaRPr lang="en-US" altLang="zh-CN" sz="30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8676" name="灯片编号占位符 5">
            <a:extLst>
              <a:ext uri="{FF2B5EF4-FFF2-40B4-BE49-F238E27FC236}">
                <a16:creationId xmlns:a16="http://schemas.microsoft.com/office/drawing/2014/main" id="{D35ED9A7-6AC8-41E9-9141-23A2BEC27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5C712C-E202-4566-B08A-ED65ABEA8DF9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grpSp>
        <p:nvGrpSpPr>
          <p:cNvPr id="28677" name="Group 131">
            <a:extLst>
              <a:ext uri="{FF2B5EF4-FFF2-40B4-BE49-F238E27FC236}">
                <a16:creationId xmlns:a16="http://schemas.microsoft.com/office/drawing/2014/main" id="{177B9260-5232-4924-91AE-14647C4185CA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1776413"/>
            <a:ext cx="3140075" cy="376237"/>
            <a:chOff x="2932" y="2355"/>
            <a:chExt cx="2348" cy="237"/>
          </a:xfrm>
        </p:grpSpPr>
        <p:grpSp>
          <p:nvGrpSpPr>
            <p:cNvPr id="28687" name="Group 127">
              <a:extLst>
                <a:ext uri="{FF2B5EF4-FFF2-40B4-BE49-F238E27FC236}">
                  <a16:creationId xmlns:a16="http://schemas.microsoft.com/office/drawing/2014/main" id="{59ACB77E-5736-49B4-BFC5-5281EDDFC7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355"/>
              <a:ext cx="1440" cy="237"/>
              <a:chOff x="3648" y="2304"/>
              <a:chExt cx="1440" cy="237"/>
            </a:xfrm>
          </p:grpSpPr>
          <p:sp>
            <p:nvSpPr>
              <p:cNvPr id="28689" name="Text Box 124">
                <a:extLst>
                  <a:ext uri="{FF2B5EF4-FFF2-40B4-BE49-F238E27FC236}">
                    <a16:creationId xmlns:a16="http://schemas.microsoft.com/office/drawing/2014/main" id="{779D0BA8-986B-42C4-B45F-E4237424A8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8" y="2304"/>
                <a:ext cx="1440" cy="237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vexdata        firarc</a:t>
                </a:r>
              </a:p>
            </p:txBody>
          </p:sp>
          <p:sp>
            <p:nvSpPr>
              <p:cNvPr id="28690" name="Line 126">
                <a:extLst>
                  <a:ext uri="{FF2B5EF4-FFF2-40B4-BE49-F238E27FC236}">
                    <a16:creationId xmlns:a16="http://schemas.microsoft.com/office/drawing/2014/main" id="{6A84EC0A-C711-4132-B902-09B9D7AE9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310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688" name="Text Box 128">
              <a:extLst>
                <a:ext uri="{FF2B5EF4-FFF2-40B4-BE49-F238E27FC236}">
                  <a16:creationId xmlns:a16="http://schemas.microsoft.com/office/drawing/2014/main" id="{E3084578-ABF7-40E6-B368-0197C56A6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357"/>
              <a:ext cx="9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表头结点</a:t>
              </a:r>
            </a:p>
          </p:txBody>
        </p:sp>
      </p:grpSp>
      <p:grpSp>
        <p:nvGrpSpPr>
          <p:cNvPr id="28678" name="Group 130">
            <a:extLst>
              <a:ext uri="{FF2B5EF4-FFF2-40B4-BE49-F238E27FC236}">
                <a16:creationId xmlns:a16="http://schemas.microsoft.com/office/drawing/2014/main" id="{70C6EFC7-8380-4F01-BCDA-8622BBF54B31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1773238"/>
            <a:ext cx="3989387" cy="387350"/>
            <a:chOff x="2868" y="1676"/>
            <a:chExt cx="2700" cy="244"/>
          </a:xfrm>
        </p:grpSpPr>
        <p:grpSp>
          <p:nvGrpSpPr>
            <p:cNvPr id="28682" name="Group 119">
              <a:extLst>
                <a:ext uri="{FF2B5EF4-FFF2-40B4-BE49-F238E27FC236}">
                  <a16:creationId xmlns:a16="http://schemas.microsoft.com/office/drawing/2014/main" id="{0343C369-0379-47D0-9997-1F8C6CEE66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683"/>
              <a:ext cx="1920" cy="237"/>
              <a:chOff x="3744" y="3888"/>
              <a:chExt cx="1920" cy="237"/>
            </a:xfrm>
          </p:grpSpPr>
          <p:sp>
            <p:nvSpPr>
              <p:cNvPr id="28684" name="Text Box 120">
                <a:extLst>
                  <a:ext uri="{FF2B5EF4-FFF2-40B4-BE49-F238E27FC236}">
                    <a16:creationId xmlns:a16="http://schemas.microsoft.com/office/drawing/2014/main" id="{247E055D-AF21-445A-BFF1-A92EC0FFC5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3888"/>
                <a:ext cx="1920" cy="237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adjvex        data        nextarc</a:t>
                </a:r>
              </a:p>
            </p:txBody>
          </p:sp>
          <p:sp>
            <p:nvSpPr>
              <p:cNvPr id="28685" name="Line 121">
                <a:extLst>
                  <a:ext uri="{FF2B5EF4-FFF2-40B4-BE49-F238E27FC236}">
                    <a16:creationId xmlns:a16="http://schemas.microsoft.com/office/drawing/2014/main" id="{1935A8D2-268D-4998-8083-C32C969E6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3894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86" name="Line 122">
                <a:extLst>
                  <a:ext uri="{FF2B5EF4-FFF2-40B4-BE49-F238E27FC236}">
                    <a16:creationId xmlns:a16="http://schemas.microsoft.com/office/drawing/2014/main" id="{711C39B9-DEA6-44B1-AF33-23C72D76E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4" y="3894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683" name="Text Box 129">
              <a:extLst>
                <a:ext uri="{FF2B5EF4-FFF2-40B4-BE49-F238E27FC236}">
                  <a16:creationId xmlns:a16="http://schemas.microsoft.com/office/drawing/2014/main" id="{7C267805-A904-4D70-8E4A-E4F02D851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" y="1676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链表结点</a:t>
              </a:r>
            </a:p>
          </p:txBody>
        </p:sp>
      </p:grpSp>
      <p:pic>
        <p:nvPicPr>
          <p:cNvPr id="28679" name="Picture 2" descr="D:\Lsa_DOC\软件技术\SoftwareTB\图\Snap2.gif">
            <a:extLst>
              <a:ext uri="{FF2B5EF4-FFF2-40B4-BE49-F238E27FC236}">
                <a16:creationId xmlns:a16="http://schemas.microsoft.com/office/drawing/2014/main" id="{A63A7A05-E405-42E2-B131-BFCAA9601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133600"/>
            <a:ext cx="74898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Picture 18" descr="D:\Lsa_DOC\软件技术\SoftwareTB\图\Snap7.gif">
            <a:extLst>
              <a:ext uri="{FF2B5EF4-FFF2-40B4-BE49-F238E27FC236}">
                <a16:creationId xmlns:a16="http://schemas.microsoft.com/office/drawing/2014/main" id="{CC89530A-E093-43F7-8C08-CF3C9E138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775075"/>
            <a:ext cx="748823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1" name="TextBox 1">
            <a:extLst>
              <a:ext uri="{FF2B5EF4-FFF2-40B4-BE49-F238E27FC236}">
                <a16:creationId xmlns:a16="http://schemas.microsoft.com/office/drawing/2014/main" id="{E40EA5BE-E51A-4FB6-85B1-8F8C04A6E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300788"/>
            <a:ext cx="2241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冗余较大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123BA68-43CE-4D02-9158-82A3BE896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30723" name="Rectangle 5">
            <a:extLst>
              <a:ext uri="{FF2B5EF4-FFF2-40B4-BE49-F238E27FC236}">
                <a16:creationId xmlns:a16="http://schemas.microsoft.com/office/drawing/2014/main" id="{04026DBC-2956-4CA1-A7EB-6EC919810B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4768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700">
                <a:solidFill>
                  <a:schemeClr val="tx2"/>
                </a:solidFill>
                <a:ea typeface="宋体" panose="02010600030101010101" pitchFamily="2" charset="-122"/>
              </a:rPr>
              <a:t>图的遍历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所谓遍历，即从某顶点出发，沿着某条路径对图中其余顶点进行访问，且每一个顶点仅被访问一次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通常有两条遍历路径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r>
              <a:rPr lang="zh-CN" altLang="en-US" sz="2000">
                <a:ea typeface="宋体" panose="02010600030101010101" pitchFamily="2" charset="-122"/>
              </a:rPr>
              <a:t>深度优先搜索</a:t>
            </a:r>
            <a:endParaRPr lang="en-US" altLang="zh-CN" sz="20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r>
              <a:rPr lang="zh-CN" altLang="en-US" sz="2000">
                <a:ea typeface="宋体" panose="02010600030101010101" pitchFamily="2" charset="-122"/>
              </a:rPr>
              <a:t>广度优先搜索</a:t>
            </a:r>
          </a:p>
          <a:p>
            <a:pPr>
              <a:lnSpc>
                <a:spcPct val="80000"/>
              </a:lnSpc>
            </a:pPr>
            <a:endParaRPr lang="en-US" altLang="zh-CN" sz="2700">
              <a:ea typeface="宋体" panose="02010600030101010101" pitchFamily="2" charset="-122"/>
            </a:endParaRPr>
          </a:p>
        </p:txBody>
      </p:sp>
      <p:sp>
        <p:nvSpPr>
          <p:cNvPr id="30724" name="灯片编号占位符 5">
            <a:extLst>
              <a:ext uri="{FF2B5EF4-FFF2-40B4-BE49-F238E27FC236}">
                <a16:creationId xmlns:a16="http://schemas.microsoft.com/office/drawing/2014/main" id="{FCD7F765-F790-451B-9071-DD9BD37EC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C45CBD-B6D6-48BA-9C28-99963A645D28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30725" name="Picture 12" descr="D:\Lsa_DOC\软件技术\SoftwareTB\Snap1.gif">
            <a:extLst>
              <a:ext uri="{FF2B5EF4-FFF2-40B4-BE49-F238E27FC236}">
                <a16:creationId xmlns:a16="http://schemas.microsoft.com/office/drawing/2014/main" id="{6F9E9835-A2EB-46F4-9BE4-6C905F6A0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3573463"/>
            <a:ext cx="3917950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8" descr="E:\_北方实验室\进度图上墙\_上墙实例\Snap1.gif">
            <a:extLst>
              <a:ext uri="{FF2B5EF4-FFF2-40B4-BE49-F238E27FC236}">
                <a16:creationId xmlns:a16="http://schemas.microsoft.com/office/drawing/2014/main" id="{52F6D160-AC8D-4B0B-A3D6-73E217751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3862388"/>
            <a:ext cx="39243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燕尾形箭头 7">
            <a:extLst>
              <a:ext uri="{FF2B5EF4-FFF2-40B4-BE49-F238E27FC236}">
                <a16:creationId xmlns:a16="http://schemas.microsoft.com/office/drawing/2014/main" id="{870F1C67-F794-4E64-8F6F-A9381F33C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284538"/>
            <a:ext cx="3095625" cy="471487"/>
          </a:xfrm>
          <a:prstGeom prst="notchedRightArrow">
            <a:avLst>
              <a:gd name="adj1" fmla="val 50000"/>
              <a:gd name="adj2" fmla="val 49972"/>
            </a:avLst>
          </a:prstGeom>
          <a:gradFill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0"/>
          </a:gra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8" name="燕尾形箭头 8">
            <a:extLst>
              <a:ext uri="{FF2B5EF4-FFF2-40B4-BE49-F238E27FC236}">
                <a16:creationId xmlns:a16="http://schemas.microsoft.com/office/drawing/2014/main" id="{C3A3AC14-D7BE-4DD0-84FD-6FC3A314A74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25425" y="4697413"/>
            <a:ext cx="2576513" cy="471487"/>
          </a:xfrm>
          <a:prstGeom prst="notchedRightArrow">
            <a:avLst>
              <a:gd name="adj1" fmla="val 50000"/>
              <a:gd name="adj2" fmla="val 49991"/>
            </a:avLst>
          </a:prstGeom>
          <a:gradFill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0"/>
          </a:gra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2EB0DEC-3F0F-4CE7-AC84-144F43A31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47EAA714-13F2-4A57-B6FB-737C6D738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4768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700">
                <a:solidFill>
                  <a:schemeClr val="tx2"/>
                </a:solidFill>
                <a:ea typeface="宋体" panose="02010600030101010101" pitchFamily="2" charset="-122"/>
              </a:rPr>
              <a:t>深度优先搜索</a:t>
            </a:r>
            <a:r>
              <a:rPr lang="zh-CN" altLang="en-US" sz="2700">
                <a:ea typeface="宋体" panose="02010600030101010101" pitchFamily="2" charset="-122"/>
              </a:rPr>
              <a:t>（</a:t>
            </a:r>
            <a:r>
              <a:rPr lang="en-US" altLang="zh-CN" sz="2700">
                <a:ea typeface="宋体" panose="02010600030101010101" pitchFamily="2" charset="-122"/>
              </a:rPr>
              <a:t>DFS，depth-first search）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从某一顶点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出发，先访问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的一个尚未访问过的邻接点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出发继续进行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深度优先搜索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直到被访问的顶点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的所有邻接点都被访问过为止，回溯到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访问前的顶点，继续访问其尚未访问的邻接点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直到回溯到起始点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为止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（是一个递归定义）</a:t>
            </a: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顶点访问序列如下：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zh-CN" altLang="en-US" sz="24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2" name="灯片编号占位符 5">
            <a:extLst>
              <a:ext uri="{FF2B5EF4-FFF2-40B4-BE49-F238E27FC236}">
                <a16:creationId xmlns:a16="http://schemas.microsoft.com/office/drawing/2014/main" id="{D21F7972-8246-4FFF-9391-274A857BD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703CFC-FFE7-43A3-AC88-388538AFDFAF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32773" name="Object 2">
            <a:extLst>
              <a:ext uri="{FF2B5EF4-FFF2-40B4-BE49-F238E27FC236}">
                <a16:creationId xmlns:a16="http://schemas.microsoft.com/office/drawing/2014/main" id="{EBC72400-761C-4F9C-A7A2-66E73329C3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3300" y="6127750"/>
          <a:ext cx="57467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4" imgW="2790742" imgH="190449" progId="Equation.DSMT4">
                  <p:embed/>
                </p:oleObj>
              </mc:Choice>
              <mc:Fallback>
                <p:oleObj name="Equation" r:id="rId4" imgW="2790742" imgH="19044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6127750"/>
                        <a:ext cx="5746750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74" name="Picture 12" descr="D:\Lsa_DOC\软件技术\SoftwareTB\Snap1.gif">
            <a:extLst>
              <a:ext uri="{FF2B5EF4-FFF2-40B4-BE49-F238E27FC236}">
                <a16:creationId xmlns:a16="http://schemas.microsoft.com/office/drawing/2014/main" id="{324599CB-DB9A-4259-B88B-C91442E1C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16338"/>
            <a:ext cx="4392613" cy="263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5" name="组合 14">
            <a:extLst>
              <a:ext uri="{FF2B5EF4-FFF2-40B4-BE49-F238E27FC236}">
                <a16:creationId xmlns:a16="http://schemas.microsoft.com/office/drawing/2014/main" id="{D48883E1-328E-4715-BF43-F2539680F2C4}"/>
              </a:ext>
            </a:extLst>
          </p:cNvPr>
          <p:cNvGrpSpPr>
            <a:grpSpLocks/>
          </p:cNvGrpSpPr>
          <p:nvPr/>
        </p:nvGrpSpPr>
        <p:grpSpPr bwMode="auto">
          <a:xfrm>
            <a:off x="4730750" y="3656013"/>
            <a:ext cx="2362200" cy="349250"/>
            <a:chOff x="3810000" y="3048000"/>
            <a:chExt cx="2362200" cy="348165"/>
          </a:xfrm>
        </p:grpSpPr>
        <p:sp>
          <p:nvSpPr>
            <p:cNvPr id="32776" name="Text Box 8">
              <a:extLst>
                <a:ext uri="{FF2B5EF4-FFF2-40B4-BE49-F238E27FC236}">
                  <a16:creationId xmlns:a16="http://schemas.microsoft.com/office/drawing/2014/main" id="{E21B3F86-A320-40CF-8E1F-34BCCFB91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3048000"/>
              <a:ext cx="609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lang="zh-CN" altLang="en-US" sz="16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32777" name="Text Box 9">
              <a:extLst>
                <a:ext uri="{FF2B5EF4-FFF2-40B4-BE49-F238E27FC236}">
                  <a16:creationId xmlns:a16="http://schemas.microsoft.com/office/drawing/2014/main" id="{C0409B04-663B-456C-8A4C-6F2DDC071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3059615"/>
              <a:ext cx="609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lang="zh-CN" altLang="en-US" sz="16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结束</a:t>
              </a:r>
            </a:p>
          </p:txBody>
        </p:sp>
        <p:sp>
          <p:nvSpPr>
            <p:cNvPr id="32778" name="Line 10">
              <a:extLst>
                <a:ext uri="{FF2B5EF4-FFF2-40B4-BE49-F238E27FC236}">
                  <a16:creationId xmlns:a16="http://schemas.microsoft.com/office/drawing/2014/main" id="{5AAB99FE-46A7-4717-9040-EAFF45ABC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450" y="3200400"/>
              <a:ext cx="471488" cy="508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9" name="Line 11">
              <a:extLst>
                <a:ext uri="{FF2B5EF4-FFF2-40B4-BE49-F238E27FC236}">
                  <a16:creationId xmlns:a16="http://schemas.microsoft.com/office/drawing/2014/main" id="{AA08FEE6-A7DF-4E38-8446-50F28A92A6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65725" y="3230563"/>
              <a:ext cx="493713" cy="4603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>
            <a:extLst>
              <a:ext uri="{FF2B5EF4-FFF2-40B4-BE49-F238E27FC236}">
                <a16:creationId xmlns:a16="http://schemas.microsoft.com/office/drawing/2014/main" id="{0FBE933F-2B5C-46E1-821D-C9B07FF9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207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700">
                <a:ea typeface="宋体" panose="02010600030101010101" pitchFamily="2" charset="-122"/>
              </a:rPr>
              <a:t>深度优先搜索算法 － 用邻接矩阵作为图的存储结构</a:t>
            </a:r>
            <a:endParaRPr lang="en-US" altLang="zh-CN" sz="27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一般用递归算法实现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zh-CN" altLang="en-US" sz="24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1900">
                <a:ea typeface="宋体" panose="02010600030101010101" pitchFamily="2" charset="-122"/>
              </a:rPr>
              <a:t>  // </a:t>
            </a:r>
            <a:r>
              <a:rPr lang="en-US" altLang="zh-CN" sz="1900">
                <a:ea typeface="宋体" panose="02010600030101010101" pitchFamily="2" charset="-122"/>
              </a:rPr>
              <a:t>A[1:n,1:n]</a:t>
            </a:r>
            <a:r>
              <a:rPr lang="zh-CN" altLang="en-US" sz="1900">
                <a:ea typeface="宋体" panose="02010600030101010101" pitchFamily="2" charset="-122"/>
              </a:rPr>
              <a:t>为邻接矩阵，</a:t>
            </a:r>
            <a:r>
              <a:rPr lang="en-US" altLang="zh-CN" sz="1900">
                <a:ea typeface="宋体" panose="02010600030101010101" pitchFamily="2" charset="-122"/>
              </a:rPr>
              <a:t>V</a:t>
            </a:r>
            <a:r>
              <a:rPr lang="zh-CN" altLang="en-US" sz="1900">
                <a:ea typeface="宋体" panose="02010600030101010101" pitchFamily="2" charset="-122"/>
              </a:rPr>
              <a:t>为起始顶点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900">
                <a:ea typeface="宋体" panose="02010600030101010101" pitchFamily="2" charset="-122"/>
              </a:rPr>
              <a:t>  DFS(A, n, v)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900">
                <a:ea typeface="宋体" panose="02010600030101010101" pitchFamily="2" charset="-122"/>
              </a:rPr>
              <a:t>    visit(v)          // </a:t>
            </a:r>
            <a:r>
              <a:rPr lang="zh-CN" altLang="en-US" sz="1900">
                <a:ea typeface="宋体" panose="02010600030101010101" pitchFamily="2" charset="-122"/>
              </a:rPr>
              <a:t>访问顶点</a:t>
            </a:r>
            <a:endParaRPr lang="en-US" altLang="zh-CN" sz="19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900">
                <a:ea typeface="宋体" panose="02010600030101010101" pitchFamily="2" charset="-122"/>
              </a:rPr>
              <a:t>    </a:t>
            </a:r>
            <a:r>
              <a:rPr lang="en-US" altLang="zh-CN" sz="1900">
                <a:solidFill>
                  <a:srgbClr val="FF0000"/>
                </a:solidFill>
                <a:ea typeface="宋体" panose="02010600030101010101" pitchFamily="2" charset="-122"/>
              </a:rPr>
              <a:t>visited[v]←true  </a:t>
            </a:r>
            <a:r>
              <a:rPr lang="en-US" altLang="zh-CN" sz="1900">
                <a:ea typeface="宋体" panose="02010600030101010101" pitchFamily="2" charset="-122"/>
              </a:rPr>
              <a:t>//</a:t>
            </a:r>
            <a:r>
              <a:rPr lang="zh-CN" altLang="en-US" sz="1900">
                <a:solidFill>
                  <a:schemeClr val="tx2"/>
                </a:solidFill>
                <a:ea typeface="宋体" panose="02010600030101010101" pitchFamily="2" charset="-122"/>
              </a:rPr>
              <a:t>设置访问标志</a:t>
            </a:r>
            <a:endParaRPr lang="en-US" altLang="zh-CN" sz="190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900">
                <a:ea typeface="宋体" panose="02010600030101010101" pitchFamily="2" charset="-122"/>
              </a:rPr>
              <a:t>    for j=1 to 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900">
                <a:ea typeface="宋体" panose="02010600030101010101" pitchFamily="2" charset="-122"/>
              </a:rPr>
              <a:t>       if (A[v,j]=1) and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900">
                <a:ea typeface="宋体" panose="02010600030101010101" pitchFamily="2" charset="-122"/>
              </a:rPr>
              <a:t>		   (</a:t>
            </a:r>
            <a:r>
              <a:rPr lang="en-US" altLang="zh-CN" sz="1900">
                <a:solidFill>
                  <a:schemeClr val="tx2"/>
                </a:solidFill>
                <a:ea typeface="宋体" panose="02010600030101010101" pitchFamily="2" charset="-122"/>
              </a:rPr>
              <a:t>not visited</a:t>
            </a:r>
            <a:r>
              <a:rPr lang="en-US" altLang="zh-CN" sz="1900">
                <a:ea typeface="宋体" panose="02010600030101010101" pitchFamily="2" charset="-122"/>
              </a:rPr>
              <a:t>[j]) then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900">
                <a:ea typeface="宋体" panose="02010600030101010101" pitchFamily="2" charset="-122"/>
              </a:rPr>
              <a:t>          DFS(A, n, j)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900">
                <a:ea typeface="宋体" panose="02010600030101010101" pitchFamily="2" charset="-122"/>
              </a:rPr>
              <a:t>       endif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900">
                <a:ea typeface="宋体" panose="02010600030101010101" pitchFamily="2" charset="-122"/>
              </a:rPr>
              <a:t>    endfor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19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CN" sz="1900">
              <a:ea typeface="宋体" panose="02010600030101010101" pitchFamily="2" charset="-122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6124A74-C34E-4916-9076-4B37BB1EC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3.6 </a:t>
            </a:r>
            <a:r>
              <a:rPr lang="zh-CN" altLang="en-US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34820" name="灯片编号占位符 5">
            <a:extLst>
              <a:ext uri="{FF2B5EF4-FFF2-40B4-BE49-F238E27FC236}">
                <a16:creationId xmlns:a16="http://schemas.microsoft.com/office/drawing/2014/main" id="{2A861CF0-27E8-46A0-A63E-F1D2B9CD1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B130A3-A04A-43FF-B7CC-A5A27017EC63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34821" name="Object 2">
            <a:extLst>
              <a:ext uri="{FF2B5EF4-FFF2-40B4-BE49-F238E27FC236}">
                <a16:creationId xmlns:a16="http://schemas.microsoft.com/office/drawing/2014/main" id="{C937F217-870F-4344-992E-133E9C414F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6200" y="3911600"/>
          <a:ext cx="3886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4" imgW="1790628" imgH="190449" progId="Equation.DSMT4">
                  <p:embed/>
                </p:oleObj>
              </mc:Choice>
              <mc:Fallback>
                <p:oleObj name="Equation" r:id="rId4" imgW="1790628" imgH="19044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6200" y="3911600"/>
                        <a:ext cx="3886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22" name="Picture 16">
            <a:extLst>
              <a:ext uri="{FF2B5EF4-FFF2-40B4-BE49-F238E27FC236}">
                <a16:creationId xmlns:a16="http://schemas.microsoft.com/office/drawing/2014/main" id="{0ADD4BDE-2F02-45E6-AEBC-E7497E14A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4581525"/>
            <a:ext cx="2636838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17">
            <a:extLst>
              <a:ext uri="{FF2B5EF4-FFF2-40B4-BE49-F238E27FC236}">
                <a16:creationId xmlns:a16="http://schemas.microsoft.com/office/drawing/2014/main" id="{C6E88E96-4F56-466A-BC8C-E65D6D166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4581525"/>
            <a:ext cx="4643437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4" name="Picture 18">
            <a:extLst>
              <a:ext uri="{FF2B5EF4-FFF2-40B4-BE49-F238E27FC236}">
                <a16:creationId xmlns:a16="http://schemas.microsoft.com/office/drawing/2014/main" id="{F5E31A8B-3757-4D48-8BEB-9ABAD6059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275" y="1628775"/>
            <a:ext cx="2484438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5" name="Text Box 7">
            <a:extLst>
              <a:ext uri="{FF2B5EF4-FFF2-40B4-BE49-F238E27FC236}">
                <a16:creationId xmlns:a16="http://schemas.microsoft.com/office/drawing/2014/main" id="{DB24A020-DAE9-4983-993C-54B337E42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413" y="2432050"/>
            <a:ext cx="6969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zh-CN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结束</a:t>
            </a:r>
          </a:p>
        </p:txBody>
      </p:sp>
      <p:sp>
        <p:nvSpPr>
          <p:cNvPr id="34826" name="Text Box 9">
            <a:extLst>
              <a:ext uri="{FF2B5EF4-FFF2-40B4-BE49-F238E27FC236}">
                <a16:creationId xmlns:a16="http://schemas.microsoft.com/office/drawing/2014/main" id="{73EA84AD-0F10-403E-81E9-43D435E8F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2768600"/>
            <a:ext cx="6699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zh-CN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开始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8DC39E9-480A-4C2E-BBAC-39FB8E72F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4C7ABBC-EF14-451C-9644-AB58A04CC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2614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000">
                <a:solidFill>
                  <a:srgbClr val="FF0000"/>
                </a:solidFill>
                <a:ea typeface="宋体" panose="02010600030101010101" pitchFamily="2" charset="-122"/>
              </a:rPr>
              <a:t>广度优先搜索</a:t>
            </a:r>
            <a:r>
              <a:rPr lang="zh-CN" altLang="en-US" sz="3000">
                <a:solidFill>
                  <a:schemeClr val="bg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000">
                <a:solidFill>
                  <a:schemeClr val="bg1"/>
                </a:solidFill>
                <a:ea typeface="宋体" panose="02010600030101010101" pitchFamily="2" charset="-122"/>
              </a:rPr>
              <a:t>BFS</a:t>
            </a:r>
            <a:r>
              <a:rPr lang="zh-CN" altLang="en-US" sz="3000">
                <a:solidFill>
                  <a:schemeClr val="bg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000">
                <a:solidFill>
                  <a:schemeClr val="bg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b="0">
                <a:solidFill>
                  <a:schemeClr val="bg1"/>
                </a:solidFill>
                <a:ea typeface="宋体" panose="02010600030101010101" pitchFamily="2" charset="-122"/>
              </a:rPr>
              <a:t>readth-first search</a:t>
            </a:r>
            <a:r>
              <a:rPr lang="zh-CN" altLang="en-US" sz="3000">
                <a:solidFill>
                  <a:schemeClr val="bg1"/>
                </a:solidFill>
                <a:ea typeface="宋体" panose="02010600030101010101" pitchFamily="2" charset="-122"/>
              </a:rPr>
              <a:t>）</a:t>
            </a:r>
          </a:p>
          <a:p>
            <a:pPr lvl="1">
              <a:lnSpc>
                <a:spcPct val="90000"/>
              </a:lnSpc>
            </a:pP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从某一顶点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6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 </a:t>
            </a: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出发，先访问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6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lvl="1">
              <a:lnSpc>
                <a:spcPct val="90000"/>
              </a:lnSpc>
            </a:pP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依次访问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6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的每个尚未访问过的邻接点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6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6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…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v</a:t>
            </a:r>
            <a:r>
              <a:rPr lang="en-US" altLang="zh-CN" sz="26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endParaRPr lang="zh-CN" altLang="en-US" sz="26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再依次访问这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个顶点的每个尚未访问过的邻接点</a:t>
            </a:r>
          </a:p>
          <a:p>
            <a:pPr lvl="1">
              <a:lnSpc>
                <a:spcPct val="90000"/>
              </a:lnSpc>
            </a:pP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依此类推，直到被访问过的顶点的所有邻接点都被访问过为止。</a:t>
            </a:r>
          </a:p>
        </p:txBody>
      </p:sp>
      <p:sp>
        <p:nvSpPr>
          <p:cNvPr id="36868" name="灯片编号占位符 5">
            <a:extLst>
              <a:ext uri="{FF2B5EF4-FFF2-40B4-BE49-F238E27FC236}">
                <a16:creationId xmlns:a16="http://schemas.microsoft.com/office/drawing/2014/main" id="{5393746D-105B-4BE0-82A2-0CB456927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975353-B61F-4E7E-BEA9-3AE24D1F21E8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36869" name="Object 2">
            <a:extLst>
              <a:ext uri="{FF2B5EF4-FFF2-40B4-BE49-F238E27FC236}">
                <a16:creationId xmlns:a16="http://schemas.microsoft.com/office/drawing/2014/main" id="{7F2EFF72-2D63-49D3-9B59-4450D66A35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6850" y="3573463"/>
          <a:ext cx="60293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3" imgW="2790742" imgH="190449" progId="Equation.DSMT4">
                  <p:embed/>
                </p:oleObj>
              </mc:Choice>
              <mc:Fallback>
                <p:oleObj name="Equation" r:id="rId3" imgW="2790742" imgH="19044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3573463"/>
                        <a:ext cx="60293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70" name="Picture 8" descr="E:\_北方实验室\进度图上墙\_上墙实例\Snap1.gif">
            <a:extLst>
              <a:ext uri="{FF2B5EF4-FFF2-40B4-BE49-F238E27FC236}">
                <a16:creationId xmlns:a16="http://schemas.microsoft.com/office/drawing/2014/main" id="{D323D1D4-2762-49CC-A5F2-78F7E9044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3940175"/>
            <a:ext cx="4460875" cy="294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7D9E1AF-8832-4454-B86A-F7EAC641D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A8AD506E-9F52-4C52-901D-FA2D9D002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6403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800" dirty="0">
                <a:ea typeface="宋体" pitchFamily="2" charset="-122"/>
              </a:rPr>
              <a:t>广度优先搜索算法－ 用邻接矩阵作为图的存储结构</a:t>
            </a:r>
            <a:endParaRPr lang="zh-CN" altLang="en-US" sz="3000" dirty="0">
              <a:solidFill>
                <a:srgbClr val="FF0000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  <a:defRPr/>
            </a:pPr>
            <a:r>
              <a:rPr lang="zh-CN" altLang="en-US" sz="26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为搜索需要，设置一个队列，保存已被访问过的顶点。</a:t>
            </a:r>
            <a:endParaRPr lang="en-US" altLang="zh-CN" sz="26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lnSpc>
                <a:spcPct val="90000"/>
              </a:lnSpc>
              <a:defRPr/>
            </a:pPr>
            <a:endParaRPr lang="en-US" altLang="zh-CN" sz="26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900" dirty="0">
                <a:ea typeface="宋体" pitchFamily="2" charset="-122"/>
              </a:rPr>
              <a:t>// </a:t>
            </a:r>
            <a:r>
              <a:rPr lang="en-US" altLang="zh-CN" sz="1900" dirty="0">
                <a:ea typeface="宋体" pitchFamily="2" charset="-122"/>
              </a:rPr>
              <a:t>A[1:n,1:n]</a:t>
            </a:r>
            <a:r>
              <a:rPr lang="zh-CN" altLang="en-US" sz="1900" dirty="0">
                <a:ea typeface="宋体" pitchFamily="2" charset="-122"/>
              </a:rPr>
              <a:t>为邻接矩阵，</a:t>
            </a:r>
            <a:r>
              <a:rPr lang="en-US" altLang="zh-CN" sz="1900" dirty="0">
                <a:ea typeface="宋体" pitchFamily="2" charset="-122"/>
              </a:rPr>
              <a:t>V</a:t>
            </a:r>
            <a:r>
              <a:rPr lang="zh-CN" altLang="en-US" sz="1900" dirty="0">
                <a:ea typeface="宋体" pitchFamily="2" charset="-122"/>
              </a:rPr>
              <a:t>为起始顶点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BFS(A, n, v)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</a:t>
            </a:r>
            <a:r>
              <a:rPr lang="en-US" altLang="zh-CN" sz="1900" dirty="0" err="1">
                <a:ea typeface="宋体" pitchFamily="2" charset="-122"/>
              </a:rPr>
              <a:t>InitQueue</a:t>
            </a:r>
            <a:r>
              <a:rPr lang="en-US" altLang="zh-CN" sz="1900" dirty="0">
                <a:ea typeface="宋体" pitchFamily="2" charset="-122"/>
              </a:rPr>
              <a:t>(VQ)     //</a:t>
            </a:r>
            <a:r>
              <a:rPr lang="zh-CN" altLang="en-US" sz="1900" dirty="0">
                <a:ea typeface="宋体" pitchFamily="2" charset="-122"/>
              </a:rPr>
              <a:t>队列初始化</a:t>
            </a:r>
            <a:endParaRPr lang="en-US" altLang="zh-CN" sz="19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visit(v)          //</a:t>
            </a:r>
            <a:r>
              <a:rPr lang="zh-CN" altLang="en-US" sz="1900" dirty="0">
                <a:ea typeface="宋体" pitchFamily="2" charset="-122"/>
              </a:rPr>
              <a:t>访问顶点</a:t>
            </a:r>
            <a:endParaRPr lang="en-US" altLang="zh-CN" sz="19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</a:t>
            </a:r>
            <a:r>
              <a:rPr lang="en-US" altLang="zh-CN" sz="1900" dirty="0">
                <a:solidFill>
                  <a:srgbClr val="FF0000"/>
                </a:solidFill>
                <a:ea typeface="宋体" pitchFamily="2" charset="-122"/>
              </a:rPr>
              <a:t>visited[v]←true  </a:t>
            </a:r>
            <a:r>
              <a:rPr lang="en-US" altLang="zh-CN" sz="1900" dirty="0">
                <a:ea typeface="宋体" pitchFamily="2" charset="-122"/>
              </a:rPr>
              <a:t>//</a:t>
            </a:r>
            <a:r>
              <a:rPr lang="zh-CN" altLang="en-US" sz="1900" dirty="0">
                <a:solidFill>
                  <a:schemeClr val="tx2"/>
                </a:solidFill>
                <a:ea typeface="宋体" pitchFamily="2" charset="-122"/>
              </a:rPr>
              <a:t>设置访问标志</a:t>
            </a:r>
            <a:endParaRPr lang="en-US" altLang="zh-CN" sz="1900" dirty="0">
              <a:solidFill>
                <a:schemeClr val="tx2"/>
              </a:solidFill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</a:t>
            </a:r>
            <a:r>
              <a:rPr lang="en-US" altLang="zh-CN" sz="1900" dirty="0" err="1">
                <a:ea typeface="宋体" pitchFamily="2" charset="-122"/>
              </a:rPr>
              <a:t>InQueue</a:t>
            </a:r>
            <a:r>
              <a:rPr lang="en-US" altLang="zh-CN" sz="1900" dirty="0">
                <a:ea typeface="宋体" pitchFamily="2" charset="-122"/>
              </a:rPr>
              <a:t>(VQ, v)    //</a:t>
            </a:r>
            <a:r>
              <a:rPr lang="zh-CN" altLang="en-US" sz="1900" dirty="0">
                <a:ea typeface="宋体" pitchFamily="2" charset="-122"/>
              </a:rPr>
              <a:t>访问的顶点进队</a:t>
            </a:r>
            <a:endParaRPr lang="en-US" altLang="zh-CN" sz="19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while (</a:t>
            </a:r>
            <a:r>
              <a:rPr lang="en-US" altLang="zh-CN" sz="1900" dirty="0" err="1">
                <a:ea typeface="宋体" pitchFamily="2" charset="-122"/>
              </a:rPr>
              <a:t>VQ.Count</a:t>
            </a:r>
            <a:r>
              <a:rPr lang="en-US" altLang="zh-CN" sz="1900" dirty="0">
                <a:ea typeface="宋体" pitchFamily="2" charset="-122"/>
              </a:rPr>
              <a:t> != 0) do  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   </a:t>
            </a:r>
            <a:r>
              <a:rPr lang="en-US" altLang="zh-CN" sz="1900" dirty="0" err="1">
                <a:ea typeface="宋体" pitchFamily="2" charset="-122"/>
              </a:rPr>
              <a:t>OutQueue</a:t>
            </a:r>
            <a:r>
              <a:rPr lang="en-US" altLang="zh-CN" sz="1900" dirty="0">
                <a:ea typeface="宋体" pitchFamily="2" charset="-122"/>
              </a:rPr>
              <a:t>(VQ, v)  //</a:t>
            </a:r>
            <a:r>
              <a:rPr lang="zh-CN" altLang="en-US" sz="1900" dirty="0">
                <a:ea typeface="宋体" pitchFamily="2" charset="-122"/>
              </a:rPr>
              <a:t>访问过的顶点出队</a:t>
            </a:r>
            <a:endParaRPr lang="en-US" altLang="zh-CN" sz="19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   for j=1 to n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      if (A[</a:t>
            </a:r>
            <a:r>
              <a:rPr lang="en-US" altLang="zh-CN" sz="1900" dirty="0" err="1">
                <a:ea typeface="宋体" pitchFamily="2" charset="-122"/>
              </a:rPr>
              <a:t>v,j</a:t>
            </a:r>
            <a:r>
              <a:rPr lang="en-US" altLang="zh-CN" sz="1900" dirty="0">
                <a:ea typeface="宋体" pitchFamily="2" charset="-122"/>
              </a:rPr>
              <a:t>]=1) and (</a:t>
            </a:r>
            <a:r>
              <a:rPr lang="en-US" altLang="zh-CN" sz="1900" dirty="0">
                <a:solidFill>
                  <a:schemeClr val="tx2"/>
                </a:solidFill>
                <a:ea typeface="宋体" pitchFamily="2" charset="-122"/>
              </a:rPr>
              <a:t>not visited</a:t>
            </a:r>
            <a:r>
              <a:rPr lang="en-US" altLang="zh-CN" sz="1900" dirty="0">
                <a:ea typeface="宋体" pitchFamily="2" charset="-122"/>
              </a:rPr>
              <a:t>[j]) then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         visit(j)          //</a:t>
            </a:r>
            <a:r>
              <a:rPr lang="zh-CN" altLang="en-US" sz="1900" dirty="0">
                <a:ea typeface="宋体" pitchFamily="2" charset="-122"/>
              </a:rPr>
              <a:t>访问邻接顶点</a:t>
            </a:r>
            <a:endParaRPr lang="en-US" altLang="zh-CN" sz="19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         visited[j]←true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         </a:t>
            </a:r>
            <a:r>
              <a:rPr lang="en-US" altLang="zh-CN" sz="1900" dirty="0" err="1">
                <a:ea typeface="宋体" pitchFamily="2" charset="-122"/>
              </a:rPr>
              <a:t>InQueue</a:t>
            </a:r>
            <a:r>
              <a:rPr lang="en-US" altLang="zh-CN" sz="1900" dirty="0">
                <a:ea typeface="宋体" pitchFamily="2" charset="-122"/>
              </a:rPr>
              <a:t>(VQ, j)    //</a:t>
            </a:r>
            <a:r>
              <a:rPr lang="zh-CN" altLang="en-US" sz="1900" dirty="0">
                <a:ea typeface="宋体" pitchFamily="2" charset="-122"/>
              </a:rPr>
              <a:t>访问的顶点进队</a:t>
            </a:r>
            <a:endParaRPr lang="en-US" altLang="zh-CN" sz="19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      </a:t>
            </a:r>
            <a:r>
              <a:rPr lang="en-US" altLang="zh-CN" sz="1900" dirty="0" err="1">
                <a:ea typeface="宋体" pitchFamily="2" charset="-122"/>
              </a:rPr>
              <a:t>endif</a:t>
            </a:r>
            <a:endParaRPr lang="en-US" altLang="zh-CN" sz="19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   </a:t>
            </a:r>
            <a:r>
              <a:rPr lang="en-US" altLang="zh-CN" sz="1900" dirty="0" err="1">
                <a:ea typeface="宋体" pitchFamily="2" charset="-122"/>
              </a:rPr>
              <a:t>endfor</a:t>
            </a:r>
            <a:endParaRPr lang="en-US" altLang="zh-CN" sz="19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ea typeface="宋体" pitchFamily="2" charset="-122"/>
              </a:rPr>
              <a:t>   </a:t>
            </a:r>
            <a:r>
              <a:rPr lang="en-US" altLang="zh-CN" sz="1900" dirty="0" err="1">
                <a:ea typeface="宋体" pitchFamily="2" charset="-122"/>
              </a:rPr>
              <a:t>endwhile</a:t>
            </a:r>
            <a:endParaRPr lang="en-US" altLang="zh-CN" sz="19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9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  <a:endParaRPr lang="zh-CN" altLang="en-US" sz="26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7892" name="灯片编号占位符 5">
            <a:extLst>
              <a:ext uri="{FF2B5EF4-FFF2-40B4-BE49-F238E27FC236}">
                <a16:creationId xmlns:a16="http://schemas.microsoft.com/office/drawing/2014/main" id="{5C53DB6A-051D-4309-A454-3BF96566A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B7A6A5-44D1-4981-A2C2-1572A0F762A4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37893" name="Picture 3" descr="D:\Lsa_DOC\软件技术\SoftwareTB\图\复件 Snap9.gif">
            <a:extLst>
              <a:ext uri="{FF2B5EF4-FFF2-40B4-BE49-F238E27FC236}">
                <a16:creationId xmlns:a16="http://schemas.microsoft.com/office/drawing/2014/main" id="{E1E3E109-9E83-4C8B-9728-3D330A0A9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1916113"/>
            <a:ext cx="2387600" cy="469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7894" name="Object 2">
            <a:extLst>
              <a:ext uri="{FF2B5EF4-FFF2-40B4-BE49-F238E27FC236}">
                <a16:creationId xmlns:a16="http://schemas.microsoft.com/office/drawing/2014/main" id="{041D5CC3-A3CE-4E13-914D-5BFAC4E71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2538" y="6218238"/>
          <a:ext cx="39941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5" imgW="1790628" imgH="190449" progId="Equation.DSMT4">
                  <p:embed/>
                </p:oleObj>
              </mc:Choice>
              <mc:Fallback>
                <p:oleObj name="Equation" r:id="rId5" imgW="1790628" imgH="19044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6218238"/>
                        <a:ext cx="39941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BF01F44-67FF-4ED6-8592-49635B9BFEB4}"/>
              </a:ext>
            </a:extLst>
          </p:cNvPr>
          <p:cNvGraphicFramePr>
            <a:graphicFrameLocks noGrp="1"/>
          </p:cNvGraphicFramePr>
          <p:nvPr/>
        </p:nvGraphicFramePr>
        <p:xfrm>
          <a:off x="3851275" y="5794375"/>
          <a:ext cx="2376488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0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0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49" marR="91449" marT="45798" marB="45798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49" marR="91449" marT="45798" marB="45798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</a:rPr>
                        <a:t>5</a:t>
                      </a:r>
                      <a:endParaRPr lang="zh-CN" altLang="en-US" sz="1800" dirty="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49" marR="91449" marT="45798" marB="45798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49" marR="91449" marT="45798" marB="45798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</a:rPr>
                        <a:t>4</a:t>
                      </a:r>
                      <a:endParaRPr lang="zh-CN" altLang="en-US" sz="1800" dirty="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49" marR="91449" marT="45798" marB="45798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</a:rPr>
                        <a:t>6</a:t>
                      </a:r>
                      <a:endParaRPr lang="zh-CN" altLang="en-US" sz="1800" dirty="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49" marR="91449" marT="45798" marB="45798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11" name="TextBox 9">
            <a:extLst>
              <a:ext uri="{FF2B5EF4-FFF2-40B4-BE49-F238E27FC236}">
                <a16:creationId xmlns:a16="http://schemas.microsoft.com/office/drawing/2014/main" id="{CD2F9004-05EF-4B67-A648-6F52CBD7C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5792788"/>
            <a:ext cx="1392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队列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VQ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37912" name="Text Box 9">
            <a:extLst>
              <a:ext uri="{FF2B5EF4-FFF2-40B4-BE49-F238E27FC236}">
                <a16:creationId xmlns:a16="http://schemas.microsoft.com/office/drawing/2014/main" id="{CCC3AFF1-D018-4A40-B894-266A4C40D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2674938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开始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C61DD04-F9B3-42CA-AB15-8E40E8B13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78B9094-37F4-4E70-8EB7-47A6DADB3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4229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搜索算法总结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遍历是图的基本运算，很多有关图的算法均可通过遍历来实现；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上述搜索算法，不仅适用于无向图，对有向图同样适用；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若采用不同的存储结构（例如：</a:t>
            </a:r>
            <a:r>
              <a:rPr lang="en-US" altLang="zh-CN">
                <a:ea typeface="宋体" panose="02010600030101010101" pitchFamily="2" charset="-122"/>
              </a:rPr>
              <a:t>P71</a:t>
            </a:r>
            <a:r>
              <a:rPr lang="zh-CN" altLang="en-US">
                <a:ea typeface="宋体" panose="02010600030101010101" pitchFamily="2" charset="-122"/>
              </a:rPr>
              <a:t>中的广度优先搜索算法，以邻接表作为存储结构），算法的实现过程会有所不同；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若为非连通图则一次搜索不能访问到所有顶点，要实现对非连通图的遍历，需要多次调用搜索算法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9940" name="灯片编号占位符 5">
            <a:extLst>
              <a:ext uri="{FF2B5EF4-FFF2-40B4-BE49-F238E27FC236}">
                <a16:creationId xmlns:a16="http://schemas.microsoft.com/office/drawing/2014/main" id="{95405E19-1345-4B7A-BB9A-036F54F8D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ADA8C0-40EF-49CB-B9A4-0E13356996F6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017FB4C-1CE8-40DD-AC76-F79F65F4A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25603" name="Rectangle 8">
            <a:extLst>
              <a:ext uri="{FF2B5EF4-FFF2-40B4-BE49-F238E27FC236}">
                <a16:creationId xmlns:a16="http://schemas.microsoft.com/office/drawing/2014/main" id="{49791007-446C-4D51-A5DE-196C9C558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34798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zh-CN" altLang="en-US" sz="3000" dirty="0">
                <a:ea typeface="宋体" pitchFamily="2" charset="-122"/>
              </a:rPr>
              <a:t>图的应用 </a:t>
            </a:r>
            <a:r>
              <a:rPr lang="en-US" altLang="zh-CN" sz="3000" dirty="0">
                <a:ea typeface="宋体" pitchFamily="2" charset="-122"/>
              </a:rPr>
              <a:t>-- </a:t>
            </a:r>
            <a:r>
              <a:rPr lang="zh-CN" altLang="en-US" sz="3000" dirty="0">
                <a:solidFill>
                  <a:srgbClr val="FF0000"/>
                </a:solidFill>
                <a:ea typeface="宋体" pitchFamily="2" charset="-122"/>
              </a:rPr>
              <a:t>单源最短路径</a:t>
            </a:r>
          </a:p>
          <a:p>
            <a:pPr lvl="1">
              <a:defRPr/>
            </a:pPr>
            <a:r>
              <a:rPr lang="zh-CN" altLang="en-US" sz="2600" dirty="0">
                <a:ea typeface="宋体" pitchFamily="2" charset="-122"/>
              </a:rPr>
              <a:t>在有向网中，从一个源点到其它各顶点是否有路径？</a:t>
            </a:r>
          </a:p>
          <a:p>
            <a:pPr lvl="1">
              <a:defRPr/>
            </a:pPr>
            <a:r>
              <a:rPr lang="zh-CN" altLang="en-US" sz="2600" dirty="0">
                <a:ea typeface="宋体" pitchFamily="2" charset="-122"/>
              </a:rPr>
              <a:t>最短路径是哪一条？</a:t>
            </a:r>
          </a:p>
          <a:p>
            <a:pPr lvl="1">
              <a:defRPr/>
            </a:pPr>
            <a:r>
              <a:rPr lang="zh-CN" altLang="en-US" sz="2600" dirty="0">
                <a:ea typeface="宋体" pitchFamily="2" charset="-122"/>
              </a:rPr>
              <a:t>最短路径的长度是多少？</a:t>
            </a:r>
            <a:endParaRPr lang="en-US" altLang="zh-CN" sz="2600" dirty="0">
              <a:ea typeface="宋体" pitchFamily="2" charset="-122"/>
            </a:endParaRPr>
          </a:p>
          <a:p>
            <a:pPr lvl="1">
              <a:defRPr/>
            </a:pPr>
            <a:r>
              <a:rPr lang="zh-CN" altLang="en-US" sz="2600" dirty="0">
                <a:solidFill>
                  <a:srgbClr val="FF0000"/>
                </a:solidFill>
                <a:ea typeface="宋体" pitchFamily="2" charset="-122"/>
              </a:rPr>
              <a:t>最短路问题举例：</a:t>
            </a:r>
            <a:r>
              <a:rPr lang="en-US" altLang="zh-CN" sz="2600" dirty="0">
                <a:solidFill>
                  <a:srgbClr val="FF0000"/>
                </a:solidFill>
                <a:ea typeface="宋体" pitchFamily="2" charset="-122"/>
              </a:rPr>
              <a:t>…</a:t>
            </a:r>
            <a:endParaRPr lang="zh-CN" altLang="en-US" sz="2600" dirty="0">
              <a:solidFill>
                <a:srgbClr val="FF0000"/>
              </a:solidFill>
              <a:ea typeface="宋体" pitchFamily="2" charset="-122"/>
            </a:endParaRPr>
          </a:p>
          <a:p>
            <a:pPr lvl="1">
              <a:defRPr/>
            </a:pPr>
            <a:r>
              <a:rPr lang="zh-CN" altLang="en-US" sz="2600" dirty="0">
                <a:ea typeface="宋体" pitchFamily="2" charset="-122"/>
              </a:rPr>
              <a:t>三种可能性：</a:t>
            </a:r>
          </a:p>
          <a:p>
            <a:pPr lvl="2">
              <a:defRPr/>
            </a:pPr>
            <a:r>
              <a:rPr lang="zh-CN" altLang="en-US" sz="2200" dirty="0">
                <a:ea typeface="宋体" pitchFamily="2" charset="-122"/>
              </a:rPr>
              <a:t>没有路径：</a:t>
            </a:r>
            <a:r>
              <a:rPr lang="en-US" altLang="zh-CN" sz="2200" dirty="0">
                <a:ea typeface="宋体" pitchFamily="2" charset="-122"/>
              </a:rPr>
              <a:t>v2</a:t>
            </a:r>
            <a:r>
              <a:rPr lang="zh-CN" altLang="en-US" sz="2200" dirty="0">
                <a:ea typeface="宋体" pitchFamily="2" charset="-122"/>
              </a:rPr>
              <a:t>到</a:t>
            </a:r>
            <a:r>
              <a:rPr lang="en-US" altLang="zh-CN" sz="2200" dirty="0">
                <a:ea typeface="宋体" pitchFamily="2" charset="-122"/>
              </a:rPr>
              <a:t>v6</a:t>
            </a:r>
            <a:endParaRPr lang="zh-CN" altLang="en-US" sz="2200" dirty="0">
              <a:ea typeface="宋体" pitchFamily="2" charset="-122"/>
            </a:endParaRPr>
          </a:p>
          <a:p>
            <a:pPr lvl="2">
              <a:defRPr/>
            </a:pPr>
            <a:r>
              <a:rPr lang="zh-CN" altLang="en-US" sz="2200" dirty="0">
                <a:ea typeface="宋体" pitchFamily="2" charset="-122"/>
              </a:rPr>
              <a:t>只有一条路径</a:t>
            </a:r>
            <a:r>
              <a:rPr lang="en-US" altLang="zh-CN" sz="2200" dirty="0">
                <a:ea typeface="宋体" pitchFamily="2" charset="-122"/>
              </a:rPr>
              <a:t>:v2</a:t>
            </a:r>
            <a:r>
              <a:rPr lang="zh-CN" altLang="en-US" sz="2200" dirty="0">
                <a:ea typeface="宋体" pitchFamily="2" charset="-122"/>
              </a:rPr>
              <a:t>到</a:t>
            </a:r>
            <a:r>
              <a:rPr lang="en-US" altLang="zh-CN" sz="2200" dirty="0">
                <a:ea typeface="宋体" pitchFamily="2" charset="-122"/>
              </a:rPr>
              <a:t>v1</a:t>
            </a:r>
            <a:r>
              <a:rPr lang="zh-CN" altLang="en-US" sz="2200" dirty="0">
                <a:ea typeface="宋体" pitchFamily="2" charset="-122"/>
              </a:rPr>
              <a:t>，</a:t>
            </a:r>
            <a:r>
              <a:rPr lang="en-US" altLang="zh-CN" sz="2200" dirty="0">
                <a:ea typeface="宋体" pitchFamily="2" charset="-122"/>
              </a:rPr>
              <a:t>v2-&gt;v3-&gt;v1</a:t>
            </a:r>
            <a:endParaRPr lang="zh-CN" altLang="en-US" sz="2200" dirty="0">
              <a:ea typeface="宋体" pitchFamily="2" charset="-122"/>
            </a:endParaRPr>
          </a:p>
          <a:p>
            <a:pPr lvl="2">
              <a:defRPr/>
            </a:pPr>
            <a:r>
              <a:rPr lang="zh-CN" altLang="en-US" sz="2200" dirty="0">
                <a:ea typeface="宋体" pitchFamily="2" charset="-122"/>
              </a:rPr>
              <a:t>有几条路径，其中至少有一条是最短路径：</a:t>
            </a:r>
            <a:r>
              <a:rPr lang="en-US" altLang="zh-CN" sz="2200" dirty="0">
                <a:ea typeface="宋体" pitchFamily="2" charset="-122"/>
              </a:rPr>
              <a:t>v2</a:t>
            </a:r>
            <a:r>
              <a:rPr lang="zh-CN" altLang="en-US" sz="2200" dirty="0">
                <a:ea typeface="宋体" pitchFamily="2" charset="-122"/>
              </a:rPr>
              <a:t>到</a:t>
            </a:r>
            <a:r>
              <a:rPr lang="en-US" altLang="zh-CN" sz="2200" dirty="0">
                <a:ea typeface="宋体" pitchFamily="2" charset="-122"/>
              </a:rPr>
              <a:t>v4</a:t>
            </a:r>
            <a:r>
              <a:rPr lang="zh-CN" altLang="en-US" sz="2200" dirty="0">
                <a:ea typeface="宋体" pitchFamily="2" charset="-122"/>
              </a:rPr>
              <a:t>，有三条，最短的是：</a:t>
            </a:r>
            <a:r>
              <a:rPr lang="en-US" altLang="zh-CN" sz="2200" dirty="0">
                <a:ea typeface="宋体" pitchFamily="2" charset="-122"/>
              </a:rPr>
              <a:t>v2-&gt;v3-v4, </a:t>
            </a:r>
            <a:r>
              <a:rPr lang="zh-CN" altLang="en-US" sz="2200" dirty="0">
                <a:ea typeface="宋体" pitchFamily="2" charset="-122"/>
              </a:rPr>
              <a:t>路径长度为：</a:t>
            </a:r>
            <a:r>
              <a:rPr lang="en-US" altLang="zh-CN" sz="2200" dirty="0">
                <a:ea typeface="宋体" pitchFamily="2" charset="-122"/>
              </a:rPr>
              <a:t>30</a:t>
            </a:r>
            <a:endParaRPr lang="zh-CN" altLang="en-US" sz="2200" dirty="0">
              <a:ea typeface="宋体" pitchFamily="2" charset="-122"/>
            </a:endParaRPr>
          </a:p>
        </p:txBody>
      </p:sp>
      <p:sp>
        <p:nvSpPr>
          <p:cNvPr id="40964" name="灯片编号占位符 5">
            <a:extLst>
              <a:ext uri="{FF2B5EF4-FFF2-40B4-BE49-F238E27FC236}">
                <a16:creationId xmlns:a16="http://schemas.microsoft.com/office/drawing/2014/main" id="{DE3AD51A-0766-4578-AB21-4262BEC84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5CCE33-7615-4AEF-AEF0-5FEDD4122151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40965" name="Picture 8" descr="D:\Lsa_DOC\软件技术\SoftwareTB\图\Snap11.gif">
            <a:extLst>
              <a:ext uri="{FF2B5EF4-FFF2-40B4-BE49-F238E27FC236}">
                <a16:creationId xmlns:a16="http://schemas.microsoft.com/office/drawing/2014/main" id="{5FD08457-B7FE-4FCE-B69B-41AFFE03C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4365625"/>
            <a:ext cx="6264275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F2295E-D756-4FBC-9771-CD624CA8FB35}"/>
              </a:ext>
            </a:extLst>
          </p:cNvPr>
          <p:cNvSpPr txBox="1"/>
          <p:nvPr/>
        </p:nvSpPr>
        <p:spPr>
          <a:xfrm>
            <a:off x="9251950" y="1557338"/>
            <a:ext cx="8640763" cy="28622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accent1"/>
            </a:solidFill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/>
              <a:t>如果图中的顶点是城市，弧是一个城市到另一个城市的距离，那么问题就变成求从一个城市出发到另一个城市的最短路径问题；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如果弧是运输费用，那么问题就变成从一个城市到另一个城市的运输费用最少的问题；</a:t>
            </a:r>
            <a:endParaRPr lang="en-US" altLang="zh-CN" sz="2000" b="1" dirty="0"/>
          </a:p>
          <a:p>
            <a:pPr>
              <a:defRPr/>
            </a:pP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最短路的应用非常广泛：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飞机最优航线确定问题、大型船只的航线确定问题、移动机器人路径规划、</a:t>
            </a:r>
            <a:endParaRPr lang="en-US" altLang="zh-CN" sz="2000" b="1" dirty="0"/>
          </a:p>
          <a:p>
            <a:pPr>
              <a:defRPr/>
            </a:pPr>
            <a:r>
              <a:rPr lang="en-US" altLang="zh-CN" sz="2000" b="1" dirty="0"/>
              <a:t>IP</a:t>
            </a:r>
            <a:r>
              <a:rPr lang="zh-CN" altLang="en-US" sz="2000" b="1" dirty="0"/>
              <a:t>路由选择问题、管道铺设、医院向导系统、高速公路收费系统、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旅游线路设计问题、 中文分词问题、多阶段决策问题。。。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792 4.85661E-6 L -0.97639 0.0013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2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F5B2773-F899-4E9A-8081-A5371D922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43011" name="Rectangle 8">
            <a:extLst>
              <a:ext uri="{FF2B5EF4-FFF2-40B4-BE49-F238E27FC236}">
                <a16:creationId xmlns:a16="http://schemas.microsoft.com/office/drawing/2014/main" id="{05664162-DFC8-4F62-AF0B-87EE9074EF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40560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700">
                <a:ea typeface="宋体" panose="02010600030101010101" pitchFamily="2" charset="-122"/>
              </a:rPr>
              <a:t>图的应用 </a:t>
            </a:r>
            <a:r>
              <a:rPr lang="en-US" altLang="zh-CN" sz="2700">
                <a:ea typeface="宋体" panose="02010600030101010101" pitchFamily="2" charset="-122"/>
              </a:rPr>
              <a:t>-- </a:t>
            </a:r>
            <a:r>
              <a:rPr lang="zh-CN" altLang="en-US" sz="2700">
                <a:solidFill>
                  <a:srgbClr val="FF0000"/>
                </a:solidFill>
                <a:ea typeface="宋体" panose="02010600030101010101" pitchFamily="2" charset="-122"/>
              </a:rPr>
              <a:t>单源最短路径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求解算法的基本步骤</a:t>
            </a:r>
            <a:r>
              <a:rPr lang="zh-CN" altLang="en-US" sz="2400">
                <a:ea typeface="宋体" panose="02010600030101010101" pitchFamily="2" charset="-122"/>
              </a:rPr>
              <a:t>：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首先找出从源点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>
                <a:ea typeface="宋体" panose="02010600030101010101" pitchFamily="2" charset="-122"/>
              </a:rPr>
              <a:t>到各终点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>
                <a:ea typeface="宋体" panose="02010600030101010101" pitchFamily="2" charset="-122"/>
              </a:rPr>
              <a:t>(</a:t>
            </a:r>
            <a:r>
              <a:rPr lang="zh-CN" altLang="en-US" sz="2000">
                <a:ea typeface="宋体" panose="02010600030101010101" pitchFamily="2" charset="-122"/>
              </a:rPr>
              <a:t>所有其它端点</a:t>
            </a:r>
            <a:r>
              <a:rPr lang="en-US" altLang="zh-CN" sz="2000">
                <a:ea typeface="宋体" panose="02010600030101010101" pitchFamily="2" charset="-122"/>
              </a:rPr>
              <a:t>)</a:t>
            </a:r>
            <a:r>
              <a:rPr lang="zh-CN" altLang="en-US" sz="2000">
                <a:ea typeface="宋体" panose="02010600030101010101" pitchFamily="2" charset="-122"/>
              </a:rPr>
              <a:t>的直达路径</a:t>
            </a:r>
            <a:r>
              <a:rPr lang="en-US" altLang="zh-CN" sz="2000">
                <a:ea typeface="宋体" panose="02010600030101010101" pitchFamily="2" charset="-122"/>
              </a:rPr>
              <a:t>&lt;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000"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en-US" altLang="zh-CN" sz="2000">
                <a:ea typeface="宋体" panose="02010600030101010101" pitchFamily="2" charset="-122"/>
              </a:rPr>
              <a:t>&gt;</a:t>
            </a:r>
            <a:r>
              <a:rPr lang="zh-CN" altLang="en-US" sz="2000">
                <a:ea typeface="宋体" panose="02010600030101010101" pitchFamily="2" charset="-122"/>
              </a:rPr>
              <a:t>，即通过一条弧到达的路径</a:t>
            </a:r>
            <a:r>
              <a:rPr lang="en-US" altLang="zh-CN" sz="2000">
                <a:ea typeface="宋体" panose="02010600030101010101" pitchFamily="2" charset="-122"/>
              </a:rPr>
              <a:t>(</a:t>
            </a:r>
            <a:r>
              <a:rPr lang="zh-CN" altLang="en-US" sz="2000">
                <a:ea typeface="宋体" panose="02010600030101010101" pitchFamily="2" charset="-122"/>
              </a:rPr>
              <a:t>没有视为无穷大</a:t>
            </a:r>
            <a:r>
              <a:rPr lang="en-US" altLang="zh-CN" sz="2000">
                <a:ea typeface="宋体" panose="02010600030101010101" pitchFamily="2" charset="-122"/>
              </a:rPr>
              <a:t>);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从中找出一条长度最短的路径</a:t>
            </a:r>
            <a:r>
              <a:rPr lang="en-US" altLang="zh-CN" sz="2000">
                <a:ea typeface="宋体" panose="02010600030101010101" pitchFamily="2" charset="-122"/>
              </a:rPr>
              <a:t>&lt;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000"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&gt;,</a:t>
            </a:r>
            <a:r>
              <a:rPr lang="zh-CN" altLang="en-US" sz="2000">
                <a:ea typeface="宋体" panose="02010600030101010101" pitchFamily="2" charset="-122"/>
              </a:rPr>
              <a:t>然后对其余各条可能调整的路径进行调整；</a:t>
            </a:r>
            <a:endParaRPr lang="en-US" altLang="zh-CN" sz="2000"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如果存在</a:t>
            </a:r>
            <a:r>
              <a:rPr lang="en-US" altLang="zh-CN" sz="2000">
                <a:ea typeface="宋体" panose="02010600030101010101" pitchFamily="2" charset="-122"/>
              </a:rPr>
              <a:t>&lt;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000"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&gt;+&lt;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en-US" altLang="zh-CN" sz="2000">
                <a:ea typeface="宋体" panose="02010600030101010101" pitchFamily="2" charset="-122"/>
              </a:rPr>
              <a:t>&gt; </a:t>
            </a:r>
            <a:r>
              <a:rPr lang="zh-CN" altLang="en-US" sz="2000">
                <a:ea typeface="宋体" panose="02010600030101010101" pitchFamily="2" charset="-122"/>
              </a:rPr>
              <a:t>小于 </a:t>
            </a:r>
            <a:r>
              <a:rPr lang="en-US" altLang="zh-CN" sz="2000">
                <a:ea typeface="宋体" panose="02010600030101010101" pitchFamily="2" charset="-122"/>
              </a:rPr>
              <a:t>&lt;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000"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en-US" altLang="zh-CN" sz="2000">
                <a:ea typeface="宋体" panose="02010600030101010101" pitchFamily="2" charset="-122"/>
              </a:rPr>
              <a:t>&gt;</a:t>
            </a:r>
            <a:r>
              <a:rPr lang="zh-CN" altLang="en-US" sz="2000">
                <a:ea typeface="宋体" panose="02010600030101010101" pitchFamily="2" charset="-122"/>
              </a:rPr>
              <a:t>，则以</a:t>
            </a:r>
            <a:r>
              <a:rPr lang="en-US" altLang="zh-CN" sz="2000">
                <a:ea typeface="宋体" panose="02010600030101010101" pitchFamily="2" charset="-122"/>
              </a:rPr>
              <a:t>&lt;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000"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en-US" altLang="zh-CN" sz="2000">
                <a:ea typeface="宋体" panose="02010600030101010101" pitchFamily="2" charset="-122"/>
              </a:rPr>
              <a:t>&gt;</a:t>
            </a:r>
            <a:r>
              <a:rPr lang="zh-CN" altLang="en-US" sz="2000">
                <a:ea typeface="宋体" panose="02010600030101010101" pitchFamily="2" charset="-122"/>
              </a:rPr>
              <a:t>代替</a:t>
            </a:r>
            <a:r>
              <a:rPr lang="en-US" altLang="zh-CN" sz="2000">
                <a:ea typeface="宋体" panose="02010600030101010101" pitchFamily="2" charset="-122"/>
              </a:rPr>
              <a:t>&lt;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000"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en-US" altLang="zh-CN" sz="2000">
                <a:ea typeface="宋体" panose="02010600030101010101" pitchFamily="2" charset="-122"/>
              </a:rPr>
              <a:t>&gt;</a:t>
            </a:r>
            <a:r>
              <a:rPr lang="zh-CN" altLang="en-US" sz="2000">
                <a:ea typeface="宋体" panose="02010600030101010101" pitchFamily="2" charset="-122"/>
              </a:rPr>
              <a:t>，作为当前找到的最短路径；</a:t>
            </a:r>
            <a:endParaRPr lang="en-US" altLang="zh-CN" sz="2000"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在调整后的所有路径当中（排除到达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zh-CN" altLang="en-US" sz="2000">
                <a:ea typeface="宋体" panose="02010600030101010101" pitchFamily="2" charset="-122"/>
              </a:rPr>
              <a:t>的路径），再找长度最短的路径，按上述规则对其它路径进行调整；</a:t>
            </a:r>
            <a:endParaRPr lang="en-US" altLang="zh-CN" sz="2000"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依此类推，直到所有路径调整完毕，即可获得从源点到所有终点的最短路径。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43012" name="灯片编号占位符 5">
            <a:extLst>
              <a:ext uri="{FF2B5EF4-FFF2-40B4-BE49-F238E27FC236}">
                <a16:creationId xmlns:a16="http://schemas.microsoft.com/office/drawing/2014/main" id="{681FADB4-D314-4DDC-B900-4A487A9A2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7C1E2F-BB40-40C8-B241-4BEF15F17616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43013" name="Picture 8" descr="D:\Lsa_DOC\软件技术\SoftwareTB\图\Snap11.gif">
            <a:extLst>
              <a:ext uri="{FF2B5EF4-FFF2-40B4-BE49-F238E27FC236}">
                <a16:creationId xmlns:a16="http://schemas.microsoft.com/office/drawing/2014/main" id="{F2A9D0D5-CA37-4E45-819B-07DD4E051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4724400"/>
            <a:ext cx="4681538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CBBFF94-6B56-4CB0-B1B4-20158D22F813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4724400"/>
          <a:ext cx="4321175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2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2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02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314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91455" marR="91455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marL="91455" marR="91455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marL="91455" marR="91455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marL="91455" marR="91455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marL="91455" marR="91455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marL="91455" marR="91455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marL="91455" marR="91455" marT="45725" marB="4572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9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距离</a:t>
                      </a:r>
                    </a:p>
                  </a:txBody>
                  <a:tcPr marL="91455" marR="91455" marT="45725" marB="45725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50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10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atin typeface="宋体"/>
                          <a:ea typeface="宋体"/>
                        </a:rPr>
                        <a:t>25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45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atin typeface="宋体"/>
                          <a:ea typeface="宋体"/>
                        </a:rPr>
                        <a:t>∞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7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路径</a:t>
                      </a:r>
                    </a:p>
                  </a:txBody>
                  <a:tcPr marL="91455" marR="91455" marT="45725" marB="45725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2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标志</a:t>
                      </a:r>
                    </a:p>
                  </a:txBody>
                  <a:tcPr marL="91455" marR="91455" marT="45725" marB="45725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F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F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F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F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</a:rPr>
                        <a:t>F</a:t>
                      </a:r>
                      <a:endParaRPr lang="zh-CN" altLang="en-US" sz="18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91455" marR="91455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C383136-ED72-48B0-848C-BD355A459DC3}"/>
              </a:ext>
            </a:extLst>
          </p:cNvPr>
          <p:cNvSpPr txBox="1"/>
          <p:nvPr/>
        </p:nvSpPr>
        <p:spPr>
          <a:xfrm>
            <a:off x="9251950" y="4657725"/>
            <a:ext cx="8640763" cy="19399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accent1"/>
            </a:solidFill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/>
              <a:t>为什么要进行路径调整：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由于</a:t>
            </a:r>
            <a:r>
              <a:rPr lang="en-US" altLang="zh-CN" sz="2000" b="1" dirty="0"/>
              <a:t>&lt;</a:t>
            </a:r>
            <a:r>
              <a:rPr lang="en-US" altLang="zh-CN" sz="2000" b="1" i="1" dirty="0">
                <a:cs typeface="Times New Roman" pitchFamily="18" charset="0"/>
              </a:rPr>
              <a:t>v</a:t>
            </a:r>
            <a:r>
              <a:rPr lang="en-US" altLang="zh-CN" sz="2000" b="1" i="1" baseline="-25000" dirty="0">
                <a:cs typeface="Times New Roman" pitchFamily="18" charset="0"/>
              </a:rPr>
              <a:t>0 </a:t>
            </a:r>
            <a:r>
              <a:rPr lang="en-US" altLang="zh-CN" sz="2000" b="1" dirty="0"/>
              <a:t>,</a:t>
            </a:r>
            <a:r>
              <a:rPr lang="en-US" altLang="zh-CN" sz="2000" b="1" i="1" dirty="0"/>
              <a:t>u</a:t>
            </a:r>
            <a:r>
              <a:rPr lang="en-US" altLang="zh-CN" sz="2000" b="1" i="1" baseline="-25000" dirty="0"/>
              <a:t> </a:t>
            </a:r>
            <a:r>
              <a:rPr lang="en-US" altLang="zh-CN" sz="2000" b="1" dirty="0"/>
              <a:t>&gt;</a:t>
            </a:r>
            <a:r>
              <a:rPr lang="zh-CN" altLang="en-US" sz="2000" b="1" dirty="0"/>
              <a:t>是</a:t>
            </a:r>
            <a:r>
              <a:rPr lang="en-US" altLang="zh-CN" sz="2000" b="1" i="1" dirty="0"/>
              <a:t>v</a:t>
            </a:r>
            <a:r>
              <a:rPr lang="en-US" altLang="zh-CN" sz="2000" b="1" i="1" baseline="-25000" dirty="0"/>
              <a:t>0</a:t>
            </a:r>
            <a:r>
              <a:rPr lang="zh-CN" altLang="en-US" sz="2000" b="1" dirty="0"/>
              <a:t>直接到所有顶点当中的最小值，所以肯定是</a:t>
            </a:r>
            <a:r>
              <a:rPr lang="en-US" altLang="zh-CN" sz="2000" b="1" i="1" dirty="0"/>
              <a:t>v</a:t>
            </a:r>
            <a:r>
              <a:rPr lang="en-US" altLang="zh-CN" sz="2000" b="1" i="1" baseline="-25000" dirty="0"/>
              <a:t>0</a:t>
            </a:r>
            <a:r>
              <a:rPr lang="zh-CN" altLang="en-US" sz="2000" b="1" dirty="0"/>
              <a:t>到</a:t>
            </a:r>
            <a:r>
              <a:rPr lang="en-US" altLang="zh-CN" sz="2000" b="1" dirty="0"/>
              <a:t>u</a:t>
            </a:r>
            <a:r>
              <a:rPr lang="zh-CN" altLang="en-US" sz="2000" b="1" dirty="0"/>
              <a:t>的最小值，因为不可能存在通过其它顶点然后再到</a:t>
            </a:r>
            <a:r>
              <a:rPr lang="en-US" altLang="zh-CN" sz="2000" b="1" dirty="0"/>
              <a:t>u</a:t>
            </a:r>
            <a:r>
              <a:rPr lang="zh-CN" altLang="en-US" sz="2000" b="1" dirty="0"/>
              <a:t>的路径会比</a:t>
            </a:r>
            <a:r>
              <a:rPr lang="en-US" altLang="zh-CN" sz="2000" b="1" dirty="0"/>
              <a:t>&lt;</a:t>
            </a:r>
            <a:r>
              <a:rPr lang="en-US" altLang="zh-CN" sz="2000" b="1" i="1" dirty="0"/>
              <a:t>v</a:t>
            </a:r>
            <a:r>
              <a:rPr lang="en-US" altLang="zh-CN" sz="2000" b="1" i="1" baseline="-25000" dirty="0"/>
              <a:t>0 </a:t>
            </a:r>
            <a:r>
              <a:rPr lang="en-US" altLang="zh-CN" sz="2000" b="1" dirty="0"/>
              <a:t>,</a:t>
            </a:r>
            <a:r>
              <a:rPr lang="en-US" altLang="zh-CN" sz="2000" b="1" i="1" dirty="0"/>
              <a:t>u</a:t>
            </a:r>
            <a:r>
              <a:rPr lang="en-US" altLang="zh-CN" sz="2000" b="1" i="1" baseline="-25000" dirty="0"/>
              <a:t> </a:t>
            </a:r>
            <a:r>
              <a:rPr lang="en-US" altLang="zh-CN" sz="2000" b="1" dirty="0"/>
              <a:t>&gt;</a:t>
            </a:r>
            <a:r>
              <a:rPr lang="zh-CN" altLang="en-US" sz="2000" b="1" dirty="0"/>
              <a:t>更短的了。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但是却有可能存在通过</a:t>
            </a:r>
            <a:r>
              <a:rPr lang="en-US" altLang="zh-CN" sz="2000" b="1" dirty="0"/>
              <a:t>u</a:t>
            </a:r>
            <a:r>
              <a:rPr lang="zh-CN" altLang="en-US" sz="2000" b="1" dirty="0"/>
              <a:t>到其它的顶点，而比直接到其它顶点更近的路径，所以应该找出这样的路径，并进行替换。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这就是这种算法的基本思想。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792 4.85661E-6 L -0.97639 0.0013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2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矩形 1">
            <a:extLst>
              <a:ext uri="{FF2B5EF4-FFF2-40B4-BE49-F238E27FC236}">
                <a16:creationId xmlns:a16="http://schemas.microsoft.com/office/drawing/2014/main" id="{FCE58570-7375-4E6A-94DE-8501592C2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6165850"/>
            <a:ext cx="2735262" cy="692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B7EBA1A-96F0-4C83-9945-F0AF2FAB6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8F0AD81-E82A-42CA-8DC0-DAA1DDBF1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7562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700">
                <a:ea typeface="宋体" panose="02010600030101010101" pitchFamily="2" charset="-122"/>
              </a:rPr>
              <a:t>图的应用 </a:t>
            </a:r>
            <a:r>
              <a:rPr lang="en-US" altLang="zh-CN" sz="2700">
                <a:ea typeface="宋体" panose="02010600030101010101" pitchFamily="2" charset="-122"/>
              </a:rPr>
              <a:t>-- </a:t>
            </a:r>
            <a:r>
              <a:rPr lang="zh-CN" altLang="en-US" sz="2700">
                <a:solidFill>
                  <a:srgbClr val="FF0000"/>
                </a:solidFill>
                <a:ea typeface="宋体" panose="02010600030101010101" pitchFamily="2" charset="-122"/>
              </a:rPr>
              <a:t>拓扑排序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我们常用有向图描述一个工程的进行过程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一个工程分为若干子工程，每个工程称为活动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在图中，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顶点表示活动</a:t>
            </a:r>
            <a:r>
              <a:rPr lang="zh-CN" altLang="en-US" sz="2400">
                <a:ea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弧表示活动之间的优先关系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这种有向图称为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作业活动网或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AOV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网</a:t>
            </a:r>
            <a:r>
              <a:rPr lang="zh-CN" altLang="en-US" sz="2400">
                <a:ea typeface="宋体" panose="02010600030101010101" pitchFamily="2" charset="-122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activity on vertex</a:t>
            </a:r>
            <a:r>
              <a:rPr lang="zh-CN" altLang="en-US" sz="2400">
                <a:ea typeface="宋体" panose="02010600030101010101" pitchFamily="2" charset="-122"/>
              </a:rPr>
              <a:t>）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AOV</a:t>
            </a:r>
            <a:r>
              <a:rPr lang="zh-CN" altLang="en-US" sz="2400">
                <a:ea typeface="宋体" panose="02010600030101010101" pitchFamily="2" charset="-122"/>
              </a:rPr>
              <a:t>网中不允许存在回路（死锁：一个活动的开始以其自身结束为前提）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>
                <a:ea typeface="宋体" panose="02010600030101010101" pitchFamily="2" charset="-122"/>
              </a:rPr>
              <a:t>如果：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顶点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到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有一条弧，称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是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前驱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是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后继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，如果只有一条弧，</a:t>
            </a:r>
            <a:r>
              <a:rPr lang="zh-CN" altLang="en-US" sz="2400">
                <a:ea typeface="宋体" panose="02010600030101010101" pitchFamily="2" charset="-122"/>
              </a:rPr>
              <a:t>称为直接前驱、直接后继。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拓扑排序</a:t>
            </a:r>
            <a:r>
              <a:rPr lang="zh-CN" altLang="en-US" sz="2400">
                <a:ea typeface="宋体" panose="02010600030101010101" pitchFamily="2" charset="-122"/>
              </a:rPr>
              <a:t>：为</a:t>
            </a:r>
            <a:r>
              <a:rPr lang="en-US" altLang="zh-CN" sz="2400">
                <a:ea typeface="宋体" panose="02010600030101010101" pitchFamily="2" charset="-122"/>
              </a:rPr>
              <a:t>AOV</a:t>
            </a:r>
            <a:r>
              <a:rPr lang="zh-CN" altLang="en-US" sz="2400">
                <a:ea typeface="宋体" panose="02010600030101010101" pitchFamily="2" charset="-122"/>
              </a:rPr>
              <a:t>网中的每项活动的执行安排一个线性序列关系，例如（</a:t>
            </a:r>
            <a:r>
              <a:rPr lang="en-US" altLang="zh-CN" sz="2400">
                <a:ea typeface="宋体" panose="02010600030101010101" pitchFamily="2" charset="-122"/>
              </a:rPr>
              <a:t>a）</a:t>
            </a:r>
            <a:r>
              <a:rPr lang="zh-CN" altLang="en-US" sz="2400">
                <a:ea typeface="宋体" panose="02010600030101010101" pitchFamily="2" charset="-122"/>
              </a:rPr>
              <a:t>中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2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24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endParaRPr lang="en-US" altLang="zh-CN" sz="20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endParaRPr lang="en-US" altLang="zh-CN" sz="20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r>
              <a:rPr lang="zh-CN" altLang="en-US" sz="2000">
                <a:ea typeface="宋体" panose="02010600030101010101" pitchFamily="2" charset="-122"/>
              </a:rPr>
              <a:t>排序的结果是一个线性序列，表示活动之间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一种可行的先后关系</a:t>
            </a:r>
            <a:r>
              <a:rPr lang="zh-CN" altLang="en-US" sz="2000">
                <a:ea typeface="宋体" panose="02010600030101010101" pitchFamily="2" charset="-122"/>
              </a:rPr>
              <a:t>。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45061" name="灯片编号占位符 5">
            <a:extLst>
              <a:ext uri="{FF2B5EF4-FFF2-40B4-BE49-F238E27FC236}">
                <a16:creationId xmlns:a16="http://schemas.microsoft.com/office/drawing/2014/main" id="{6913F74D-2B39-454B-B1D8-E6FBD9B2E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937EF7-50A8-4FA6-83F0-EFD79E59235C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45062" name="Object 2">
            <a:extLst>
              <a:ext uri="{FF2B5EF4-FFF2-40B4-BE49-F238E27FC236}">
                <a16:creationId xmlns:a16="http://schemas.microsoft.com/office/drawing/2014/main" id="{E7598781-3A1C-4C35-993C-C6D441D25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0913" y="5200650"/>
          <a:ext cx="392906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4" imgW="1790628" imgH="190449" progId="Equation.DSMT4">
                  <p:embed/>
                </p:oleObj>
              </mc:Choice>
              <mc:Fallback>
                <p:oleObj name="Equation" r:id="rId4" imgW="1790628" imgH="19044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5200650"/>
                        <a:ext cx="3929062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063" name="Picture 8" descr="D:\Lsa_DOC\软件技术\SoftwareTB\图\Snap12.gif">
            <a:extLst>
              <a:ext uri="{FF2B5EF4-FFF2-40B4-BE49-F238E27FC236}">
                <a16:creationId xmlns:a16="http://schemas.microsoft.com/office/drawing/2014/main" id="{B19CD9BA-5FF0-4415-AD97-F5E86FAA2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8" y="4484688"/>
            <a:ext cx="4037012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AC3F08-6A69-4F88-B999-2B739FCF47A7}"/>
              </a:ext>
            </a:extLst>
          </p:cNvPr>
          <p:cNvSpPr txBox="1"/>
          <p:nvPr/>
        </p:nvSpPr>
        <p:spPr>
          <a:xfrm>
            <a:off x="9251950" y="2852738"/>
            <a:ext cx="6408738" cy="16319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accent1"/>
            </a:solidFill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2">
              <a:defRPr/>
            </a:pPr>
            <a:r>
              <a:rPr lang="zh-CN" altLang="en-US" sz="2000" b="1" dirty="0"/>
              <a:t>例如：</a:t>
            </a:r>
            <a:endParaRPr lang="en-US" altLang="zh-CN" sz="2000" b="1" dirty="0"/>
          </a:p>
          <a:p>
            <a:pPr marL="0" lvl="2">
              <a:defRPr/>
            </a:pPr>
            <a:r>
              <a:rPr lang="zh-CN" altLang="en-US" sz="2000" b="1" dirty="0"/>
              <a:t>把一本书的各章节学习作为顶点，各章节的先学后修关系作为弧，构成一个有向图。如果按有向图的拓扑次序安排章节，就能保证在学习某章节时，其预备知识已在前面的章节里介绍过。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42 -0.00209 L -0.83854 -0.000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26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4" descr="D:\Lsa_DOC\软件技术\SoftwareTB\图\Snap13.gif">
            <a:extLst>
              <a:ext uri="{FF2B5EF4-FFF2-40B4-BE49-F238E27FC236}">
                <a16:creationId xmlns:a16="http://schemas.microsoft.com/office/drawing/2014/main" id="{DCDB3431-7A3E-476E-AE49-05414BA04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4221163"/>
            <a:ext cx="8847137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Rectangle 2">
            <a:extLst>
              <a:ext uri="{FF2B5EF4-FFF2-40B4-BE49-F238E27FC236}">
                <a16:creationId xmlns:a16="http://schemas.microsoft.com/office/drawing/2014/main" id="{539097B5-EC12-4FB9-82C4-61860D962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E1345DD-5DDB-425D-BE59-BA661A843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32639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图的应用 </a:t>
            </a:r>
            <a:r>
              <a:rPr lang="en-US" altLang="zh-CN">
                <a:ea typeface="宋体" panose="02010600030101010101" pitchFamily="2" charset="-122"/>
              </a:rPr>
              <a:t>-- 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拓扑排序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拓扑排序的方法：</a:t>
            </a: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1）在有向图中选取一个没有前驱的顶点（即入度为零的顶点），并输出该顶点</a:t>
            </a: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2）从有向图中删除该顶点和以它为尾的所有弧</a:t>
            </a: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重复这两步，直到下列条件之一满足为止</a:t>
            </a:r>
          </a:p>
          <a:p>
            <a:pPr lvl="3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全部顶点都被输出</a:t>
            </a:r>
          </a:p>
          <a:p>
            <a:pPr lvl="3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有向图中没有入度为零的顶点（说明有向图中存在回路）</a:t>
            </a:r>
          </a:p>
        </p:txBody>
      </p:sp>
      <p:sp>
        <p:nvSpPr>
          <p:cNvPr id="47109" name="灯片编号占位符 5">
            <a:extLst>
              <a:ext uri="{FF2B5EF4-FFF2-40B4-BE49-F238E27FC236}">
                <a16:creationId xmlns:a16="http://schemas.microsoft.com/office/drawing/2014/main" id="{C55463AE-12E5-4578-98BE-419120D3B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7BA6FF-D596-4C80-BDEF-1122EE03ACA0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7110" name="Oval 7">
            <a:extLst>
              <a:ext uri="{FF2B5EF4-FFF2-40B4-BE49-F238E27FC236}">
                <a16:creationId xmlns:a16="http://schemas.microsoft.com/office/drawing/2014/main" id="{BCA6216B-7618-42D8-8BE3-EAAA4E174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6057900"/>
            <a:ext cx="323850" cy="323850"/>
          </a:xfrm>
          <a:prstGeom prst="ellipse">
            <a:avLst/>
          </a:prstGeom>
          <a:noFill/>
          <a:ln w="158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1" name="Oval 8">
            <a:extLst>
              <a:ext uri="{FF2B5EF4-FFF2-40B4-BE49-F238E27FC236}">
                <a16:creationId xmlns:a16="http://schemas.microsoft.com/office/drawing/2014/main" id="{6FFC7C6E-F831-48A9-953F-694297020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6057900"/>
            <a:ext cx="323850" cy="323850"/>
          </a:xfrm>
          <a:prstGeom prst="ellipse">
            <a:avLst/>
          </a:prstGeom>
          <a:noFill/>
          <a:ln w="158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2" name="Oval 10">
            <a:extLst>
              <a:ext uri="{FF2B5EF4-FFF2-40B4-BE49-F238E27FC236}">
                <a16:creationId xmlns:a16="http://schemas.microsoft.com/office/drawing/2014/main" id="{5ED4E2AE-6CDE-4B4E-B539-3E3A1E4A8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6067425"/>
            <a:ext cx="323850" cy="323850"/>
          </a:xfrm>
          <a:prstGeom prst="ellipse">
            <a:avLst/>
          </a:prstGeom>
          <a:noFill/>
          <a:ln w="158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3" name="Oval 13">
            <a:extLst>
              <a:ext uri="{FF2B5EF4-FFF2-40B4-BE49-F238E27FC236}">
                <a16:creationId xmlns:a16="http://schemas.microsoft.com/office/drawing/2014/main" id="{A7D7F264-352E-4537-B8BA-83B053E1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2025" y="6067425"/>
            <a:ext cx="323850" cy="323850"/>
          </a:xfrm>
          <a:prstGeom prst="ellipse">
            <a:avLst/>
          </a:prstGeom>
          <a:noFill/>
          <a:ln w="158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4" name="Oval 14">
            <a:extLst>
              <a:ext uri="{FF2B5EF4-FFF2-40B4-BE49-F238E27FC236}">
                <a16:creationId xmlns:a16="http://schemas.microsoft.com/office/drawing/2014/main" id="{D06BF0B8-CE69-44CF-B29D-45049705F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6067425"/>
            <a:ext cx="323850" cy="323850"/>
          </a:xfrm>
          <a:prstGeom prst="ellipse">
            <a:avLst/>
          </a:prstGeom>
          <a:noFill/>
          <a:ln w="158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5" name="Oval 15">
            <a:extLst>
              <a:ext uri="{FF2B5EF4-FFF2-40B4-BE49-F238E27FC236}">
                <a16:creationId xmlns:a16="http://schemas.microsoft.com/office/drawing/2014/main" id="{B901EEB0-F694-492D-A9FC-96C17475D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6076950"/>
            <a:ext cx="323850" cy="323850"/>
          </a:xfrm>
          <a:prstGeom prst="ellipse">
            <a:avLst/>
          </a:prstGeom>
          <a:noFill/>
          <a:ln w="158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7116" name="Object 2">
            <a:extLst>
              <a:ext uri="{FF2B5EF4-FFF2-40B4-BE49-F238E27FC236}">
                <a16:creationId xmlns:a16="http://schemas.microsoft.com/office/drawing/2014/main" id="{CA8B13B8-982D-4F7F-8EFE-7A287C6D55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3700" y="6257925"/>
          <a:ext cx="42751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5" imgW="1790628" imgH="190449" progId="Equation.DSMT4">
                  <p:embed/>
                </p:oleObj>
              </mc:Choice>
              <mc:Fallback>
                <p:oleObj name="Equation" r:id="rId5" imgW="1790628" imgH="19044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6257925"/>
                        <a:ext cx="4275138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AA7C904-9684-44B6-88A3-7DECBC1CE957}"/>
              </a:ext>
            </a:extLst>
          </p:cNvPr>
          <p:cNvSpPr txBox="1"/>
          <p:nvPr/>
        </p:nvSpPr>
        <p:spPr>
          <a:xfrm>
            <a:off x="9251950" y="1860550"/>
            <a:ext cx="7632700" cy="22780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accent1"/>
            </a:solidFill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400" b="1" dirty="0"/>
              <a:t>显然，排序结果不一定是唯一的，但都是可行的，不会违反作业的先后顺序。</a:t>
            </a:r>
            <a:endParaRPr lang="en-US" altLang="zh-CN" sz="2400" b="1" dirty="0"/>
          </a:p>
          <a:p>
            <a:pPr algn="ctr">
              <a:defRPr/>
            </a:pPr>
            <a:endParaRPr lang="en-US" altLang="zh-CN" sz="2400" b="1" dirty="0"/>
          </a:p>
          <a:p>
            <a:pPr algn="ctr">
              <a:defRPr/>
            </a:pPr>
            <a:r>
              <a:rPr lang="zh-CN" altLang="en-US" sz="2400" b="1" dirty="0">
                <a:sym typeface="Wingdings" panose="05000000000000000000" pitchFamily="2" charset="2"/>
              </a:rPr>
              <a:t>另外，顶点之间的先后顺序，仅表明一种可行的顺序</a:t>
            </a:r>
            <a:endParaRPr lang="en-US" altLang="zh-CN" sz="2400" b="1" dirty="0"/>
          </a:p>
          <a:p>
            <a:pPr marL="0" lvl="2">
              <a:spcBef>
                <a:spcPct val="30000"/>
              </a:spcBef>
              <a:defRPr/>
            </a:pPr>
            <a:r>
              <a:rPr lang="zh-CN" altLang="en-US" sz="2000" dirty="0"/>
              <a:t>例如：</a:t>
            </a:r>
            <a:r>
              <a:rPr lang="en-US" altLang="zh-CN" sz="2000" dirty="0"/>
              <a:t>V6</a:t>
            </a:r>
            <a:r>
              <a:rPr lang="en-US" altLang="zh-CN" sz="2000" dirty="0">
                <a:sym typeface="Wingdings" panose="05000000000000000000" pitchFamily="2" charset="2"/>
              </a:rPr>
              <a:t>V1</a:t>
            </a:r>
            <a:r>
              <a:rPr lang="zh-CN" altLang="en-US" sz="2000" dirty="0">
                <a:sym typeface="Wingdings" panose="05000000000000000000" pitchFamily="2" charset="2"/>
              </a:rPr>
              <a:t>，只表示活动</a:t>
            </a:r>
            <a:r>
              <a:rPr lang="en-US" altLang="zh-CN" sz="2000" dirty="0">
                <a:sym typeface="Wingdings" panose="05000000000000000000" pitchFamily="2" charset="2"/>
              </a:rPr>
              <a:t>6</a:t>
            </a:r>
            <a:r>
              <a:rPr lang="zh-CN" altLang="en-US" sz="2000" dirty="0">
                <a:sym typeface="Wingdings" panose="05000000000000000000" pitchFamily="2" charset="2"/>
              </a:rPr>
              <a:t>在活动</a:t>
            </a:r>
            <a:r>
              <a:rPr lang="en-US" altLang="zh-CN" sz="2000" dirty="0">
                <a:sym typeface="Wingdings" panose="05000000000000000000" pitchFamily="2" charset="2"/>
              </a:rPr>
              <a:t>1</a:t>
            </a:r>
            <a:r>
              <a:rPr lang="zh-CN" altLang="en-US" sz="2000" dirty="0">
                <a:sym typeface="Wingdings" panose="05000000000000000000" pitchFamily="2" charset="2"/>
              </a:rPr>
              <a:t>之前是可行的，不代表</a:t>
            </a:r>
            <a:r>
              <a:rPr lang="en-US" altLang="zh-CN" sz="2000" dirty="0">
                <a:sym typeface="Wingdings" panose="05000000000000000000" pitchFamily="2" charset="2"/>
              </a:rPr>
              <a:t>V6</a:t>
            </a:r>
            <a:r>
              <a:rPr lang="zh-CN" altLang="en-US" sz="2000" dirty="0">
                <a:sym typeface="Wingdings" panose="05000000000000000000" pitchFamily="2" charset="2"/>
              </a:rPr>
              <a:t>必须在</a:t>
            </a:r>
            <a:r>
              <a:rPr lang="en-US" altLang="zh-CN" sz="2000" dirty="0">
                <a:sym typeface="Wingdings" panose="05000000000000000000" pitchFamily="2" charset="2"/>
              </a:rPr>
              <a:t>V1</a:t>
            </a:r>
            <a:r>
              <a:rPr lang="zh-CN" altLang="en-US" sz="2000" dirty="0">
                <a:sym typeface="Wingdings" panose="05000000000000000000" pitchFamily="2" charset="2"/>
              </a:rPr>
              <a:t>之前，也不代表</a:t>
            </a:r>
            <a:r>
              <a:rPr lang="en-US" altLang="zh-CN" sz="2000" dirty="0">
                <a:sym typeface="Wingdings" panose="05000000000000000000" pitchFamily="2" charset="2"/>
              </a:rPr>
              <a:t>V1</a:t>
            </a:r>
            <a:r>
              <a:rPr lang="zh-CN" altLang="en-US" sz="2000" dirty="0">
                <a:sym typeface="Wingdings" panose="05000000000000000000" pitchFamily="2" charset="2"/>
              </a:rPr>
              <a:t>在</a:t>
            </a:r>
            <a:r>
              <a:rPr lang="en-US" altLang="zh-CN" sz="2000" dirty="0">
                <a:sym typeface="Wingdings" panose="05000000000000000000" pitchFamily="2" charset="2"/>
              </a:rPr>
              <a:t>V6</a:t>
            </a:r>
            <a:r>
              <a:rPr lang="zh-CN" altLang="en-US" sz="2000" dirty="0">
                <a:sym typeface="Wingdings" panose="05000000000000000000" pitchFamily="2" charset="2"/>
              </a:rPr>
              <a:t>之前就不可行。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7969 -0.01227 L -0.9342 -0.0108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26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214968D1-2DAC-4CA7-A5D6-99F97E53AE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E3A04FC-1526-4739-9296-DEC6ECE9C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4768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500">
                <a:ea typeface="宋体" panose="02010600030101010101" pitchFamily="2" charset="-122"/>
              </a:rPr>
              <a:t>图的应用 </a:t>
            </a:r>
            <a:r>
              <a:rPr lang="en-US" altLang="zh-CN" sz="2500">
                <a:ea typeface="宋体" panose="02010600030101010101" pitchFamily="2" charset="-122"/>
              </a:rPr>
              <a:t>-- </a:t>
            </a:r>
            <a:r>
              <a:rPr lang="zh-CN" altLang="en-US" sz="2500">
                <a:solidFill>
                  <a:srgbClr val="FF0000"/>
                </a:solidFill>
                <a:ea typeface="宋体" panose="02010600030101010101" pitchFamily="2" charset="-122"/>
              </a:rPr>
              <a:t>关键路径</a:t>
            </a:r>
          </a:p>
          <a:p>
            <a:pPr lvl="1">
              <a:lnSpc>
                <a:spcPct val="80000"/>
              </a:lnSpc>
            </a:pPr>
            <a:r>
              <a:rPr lang="zh-CN" altLang="en-US" sz="2300">
                <a:ea typeface="宋体" panose="02010600030101010101" pitchFamily="2" charset="-122"/>
              </a:rPr>
              <a:t>我们常用有向图描述一个工程的进行过程</a:t>
            </a:r>
            <a:endParaRPr lang="en-US" altLang="zh-CN" sz="23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300">
                <a:ea typeface="宋体" panose="02010600030101010101" pitchFamily="2" charset="-122"/>
              </a:rPr>
              <a:t>一个工程分为若干子工程，每个工程称为活动</a:t>
            </a:r>
            <a:endParaRPr lang="en-US" altLang="zh-CN" sz="23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300">
                <a:ea typeface="宋体" panose="02010600030101010101" pitchFamily="2" charset="-122"/>
              </a:rPr>
              <a:t>在图中，</a:t>
            </a:r>
            <a:r>
              <a:rPr lang="zh-CN" altLang="en-US" sz="2300">
                <a:solidFill>
                  <a:srgbClr val="FF0000"/>
                </a:solidFill>
                <a:ea typeface="宋体" panose="02010600030101010101" pitchFamily="2" charset="-122"/>
              </a:rPr>
              <a:t>顶点表示事件，弧表示活动，权表示活动时间</a:t>
            </a:r>
          </a:p>
          <a:p>
            <a:pPr lvl="1">
              <a:lnSpc>
                <a:spcPct val="80000"/>
              </a:lnSpc>
            </a:pPr>
            <a:r>
              <a:rPr lang="zh-CN" altLang="en-US" sz="2300">
                <a:ea typeface="宋体" panose="02010600030101010101" pitchFamily="2" charset="-122"/>
              </a:rPr>
              <a:t>这种有向无环网称为 </a:t>
            </a:r>
            <a:r>
              <a:rPr lang="en-US" altLang="zh-CN" sz="2300">
                <a:solidFill>
                  <a:srgbClr val="FF0000"/>
                </a:solidFill>
                <a:ea typeface="宋体" panose="02010600030101010101" pitchFamily="2" charset="-122"/>
              </a:rPr>
              <a:t>AOE </a:t>
            </a:r>
            <a:r>
              <a:rPr lang="zh-CN" altLang="en-US" sz="2300">
                <a:solidFill>
                  <a:srgbClr val="FF0000"/>
                </a:solidFill>
                <a:ea typeface="宋体" panose="02010600030101010101" pitchFamily="2" charset="-122"/>
              </a:rPr>
              <a:t>网</a:t>
            </a:r>
            <a:r>
              <a:rPr lang="zh-CN" altLang="en-US" sz="2300">
                <a:ea typeface="宋体" panose="02010600030101010101" pitchFamily="2" charset="-122"/>
              </a:rPr>
              <a:t>（</a:t>
            </a:r>
            <a:r>
              <a:rPr lang="en-US" altLang="zh-CN" sz="23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activity on edge</a:t>
            </a:r>
            <a:r>
              <a:rPr lang="zh-CN" altLang="en-US" sz="2300">
                <a:ea typeface="宋体" panose="02010600030101010101" pitchFamily="2" charset="-122"/>
              </a:rPr>
              <a:t>）</a:t>
            </a:r>
          </a:p>
          <a:p>
            <a:pPr lvl="1">
              <a:lnSpc>
                <a:spcPct val="80000"/>
              </a:lnSpc>
            </a:pPr>
            <a:r>
              <a:rPr lang="zh-CN" altLang="en-US" sz="2300">
                <a:ea typeface="宋体" panose="02010600030101010101" pitchFamily="2" charset="-122"/>
              </a:rPr>
              <a:t>通常用来估算一个工程的完工时间</a:t>
            </a:r>
            <a:endParaRPr lang="en-US" altLang="zh-CN" sz="23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300">
                <a:solidFill>
                  <a:srgbClr val="FF0000"/>
                </a:solidFill>
                <a:ea typeface="宋体" panose="02010600030101010101" pitchFamily="2" charset="-122"/>
              </a:rPr>
              <a:t>源点</a:t>
            </a:r>
            <a:r>
              <a:rPr lang="zh-CN" altLang="en-US" sz="2300">
                <a:ea typeface="宋体" panose="02010600030101010101" pitchFamily="2" charset="-122"/>
              </a:rPr>
              <a:t>：入度为零的顶点（表示工程开始）</a:t>
            </a:r>
          </a:p>
          <a:p>
            <a:pPr lvl="1">
              <a:lnSpc>
                <a:spcPct val="80000"/>
              </a:lnSpc>
            </a:pPr>
            <a:r>
              <a:rPr lang="zh-CN" altLang="en-US" sz="2300">
                <a:solidFill>
                  <a:srgbClr val="FF0000"/>
                </a:solidFill>
                <a:ea typeface="宋体" panose="02010600030101010101" pitchFamily="2" charset="-122"/>
              </a:rPr>
              <a:t>汇点</a:t>
            </a:r>
            <a:r>
              <a:rPr lang="zh-CN" altLang="en-US" sz="2300">
                <a:ea typeface="宋体" panose="02010600030101010101" pitchFamily="2" charset="-122"/>
              </a:rPr>
              <a:t>：出度为零的顶点（表示工程结束）</a:t>
            </a:r>
          </a:p>
          <a:p>
            <a:pPr lvl="1">
              <a:lnSpc>
                <a:spcPct val="80000"/>
              </a:lnSpc>
            </a:pPr>
            <a:r>
              <a:rPr lang="zh-CN" altLang="en-US" sz="2300">
                <a:ea typeface="宋体" panose="02010600030101010101" pitchFamily="2" charset="-122"/>
              </a:rPr>
              <a:t>正常情况下，源点和汇点各一个</a:t>
            </a:r>
          </a:p>
          <a:p>
            <a:pPr lvl="1">
              <a:lnSpc>
                <a:spcPct val="80000"/>
              </a:lnSpc>
            </a:pPr>
            <a:r>
              <a:rPr lang="zh-CN" altLang="en-US" sz="2300">
                <a:ea typeface="宋体" panose="02010600030101010101" pitchFamily="2" charset="-122"/>
              </a:rPr>
              <a:t>每个事件的发生，表示：</a:t>
            </a:r>
            <a:endParaRPr lang="en-US" altLang="zh-CN" sz="23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r>
              <a:rPr lang="zh-CN" altLang="en-US" sz="1900">
                <a:ea typeface="宋体" panose="02010600030101010101" pitchFamily="2" charset="-122"/>
              </a:rPr>
              <a:t>在它之前的活动已经完成，</a:t>
            </a:r>
            <a:endParaRPr lang="en-US" altLang="zh-CN" sz="190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r>
              <a:rPr lang="zh-CN" altLang="en-US" sz="1900">
                <a:ea typeface="宋体" panose="02010600030101010101" pitchFamily="2" charset="-122"/>
              </a:rPr>
              <a:t>在它之后的活动可以开始</a:t>
            </a:r>
          </a:p>
        </p:txBody>
      </p:sp>
      <p:sp>
        <p:nvSpPr>
          <p:cNvPr id="49156" name="灯片编号占位符 5">
            <a:extLst>
              <a:ext uri="{FF2B5EF4-FFF2-40B4-BE49-F238E27FC236}">
                <a16:creationId xmlns:a16="http://schemas.microsoft.com/office/drawing/2014/main" id="{724A324C-9340-42BD-A9DD-2D154A0A8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B8759D-DC09-49ED-BE08-D55DA45B073F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49157" name="Picture 7" descr="D:\Lsa_DOC\软件技术\SoftwareTB\图\Snap14.gif">
            <a:extLst>
              <a:ext uri="{FF2B5EF4-FFF2-40B4-BE49-F238E27FC236}">
                <a16:creationId xmlns:a16="http://schemas.microsoft.com/office/drawing/2014/main" id="{EA056FE4-7D87-4A2A-A1DA-15A5CF965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3933825"/>
            <a:ext cx="443706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F274253-BA16-475D-A1D0-2DDAC25510D6}"/>
              </a:ext>
            </a:extLst>
          </p:cNvPr>
          <p:cNvCxnSpPr/>
          <p:nvPr/>
        </p:nvCxnSpPr>
        <p:spPr bwMode="auto">
          <a:xfrm flipV="1">
            <a:off x="5818188" y="5084763"/>
            <a:ext cx="409575" cy="431800"/>
          </a:xfrm>
          <a:prstGeom prst="straightConnector1">
            <a:avLst/>
          </a:prstGeom>
          <a:noFill/>
          <a:ln w="34925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B1C85BD-8590-48F2-9306-339A4558A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90CA499-2167-4E32-A89F-39F1A6713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8828087" cy="54768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图的应用</a:t>
            </a:r>
            <a:r>
              <a:rPr lang="en-US" altLang="zh-CN">
                <a:ea typeface="宋体" panose="02010600030101010101" pitchFamily="2" charset="-122"/>
              </a:rPr>
              <a:t>--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关键路径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研究的问题</a:t>
            </a:r>
          </a:p>
          <a:p>
            <a:pPr lvl="2"/>
            <a:r>
              <a:rPr lang="zh-CN" altLang="en-US">
                <a:ea typeface="宋体" panose="02010600030101010101" pitchFamily="2" charset="-122"/>
              </a:rPr>
              <a:t>完成整个工程需要多少时间</a:t>
            </a:r>
          </a:p>
          <a:p>
            <a:pPr lvl="2"/>
            <a:r>
              <a:rPr lang="zh-CN" altLang="en-US">
                <a:ea typeface="宋体" panose="02010600030101010101" pitchFamily="2" charset="-122"/>
              </a:rPr>
              <a:t>哪些是影响工程进度的关键活动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关键路径</a:t>
            </a:r>
          </a:p>
          <a:p>
            <a:pPr lvl="2"/>
            <a:r>
              <a:rPr lang="zh-CN" altLang="en-US">
                <a:ea typeface="宋体" panose="02010600030101010101" pitchFamily="2" charset="-122"/>
              </a:rPr>
              <a:t>完成工程的最短时间（没有耽搁时间）是从源点到汇点的最长路径长度（累计持续时间），这条最长路径称为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关键路径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2"/>
            <a:r>
              <a:rPr lang="zh-CN" altLang="en-US">
                <a:ea typeface="宋体" panose="02010600030101010101" pitchFamily="2" charset="-122"/>
              </a:rPr>
              <a:t>关键路径中的活动就是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关键活动</a:t>
            </a:r>
            <a:r>
              <a:rPr lang="zh-CN" altLang="en-US">
                <a:ea typeface="宋体" panose="02010600030101010101" pitchFamily="2" charset="-122"/>
              </a:rPr>
              <a:t>，提高关键活动的效率可以缩短整个工期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AOE</a:t>
            </a:r>
            <a:r>
              <a:rPr lang="zh-CN" altLang="en-US">
                <a:ea typeface="宋体" panose="02010600030101010101" pitchFamily="2" charset="-122"/>
              </a:rPr>
              <a:t>网中，活动可以并行，提前完成非关键活动并不能加快整个工程的进度</a:t>
            </a:r>
          </a:p>
        </p:txBody>
      </p:sp>
      <p:sp>
        <p:nvSpPr>
          <p:cNvPr id="51204" name="灯片编号占位符 5">
            <a:extLst>
              <a:ext uri="{FF2B5EF4-FFF2-40B4-BE49-F238E27FC236}">
                <a16:creationId xmlns:a16="http://schemas.microsoft.com/office/drawing/2014/main" id="{B27038C5-DB46-4838-AB52-D7C0C235E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B09FFD-5096-4B30-BF12-EE89754F7896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51205" name="Picture 2" descr="D:\Lsa_DOC\软件技术\SoftwareTB\Snap1.gif">
            <a:extLst>
              <a:ext uri="{FF2B5EF4-FFF2-40B4-BE49-F238E27FC236}">
                <a16:creationId xmlns:a16="http://schemas.microsoft.com/office/drawing/2014/main" id="{0FCFA37E-143D-4F9F-A112-687238D2A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476250"/>
            <a:ext cx="4751387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A225686-D687-4E9B-8CE3-892F3817361E}"/>
              </a:ext>
            </a:extLst>
          </p:cNvPr>
          <p:cNvCxnSpPr/>
          <p:nvPr/>
        </p:nvCxnSpPr>
        <p:spPr bwMode="auto">
          <a:xfrm flipV="1">
            <a:off x="6300788" y="1773238"/>
            <a:ext cx="431800" cy="503237"/>
          </a:xfrm>
          <a:prstGeom prst="straightConnector1">
            <a:avLst/>
          </a:prstGeom>
          <a:noFill/>
          <a:ln w="34925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7CCC737-9A0E-4007-848E-FB2937FD6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3.6 </a:t>
            </a:r>
            <a:r>
              <a:rPr lang="zh-CN" altLang="en-US" sz="2400">
                <a:ea typeface="宋体" panose="02010600030101010101" pitchFamily="2" charset="-122"/>
              </a:rPr>
              <a:t>图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CA81100-FF0B-4F9B-BC4E-FA98DE692B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101725"/>
            <a:ext cx="5294312" cy="547687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zh-CN" altLang="en-US" dirty="0">
                <a:ea typeface="宋体" pitchFamily="2" charset="-122"/>
              </a:rPr>
              <a:t>图的应用</a:t>
            </a:r>
            <a:r>
              <a:rPr lang="en-US" altLang="zh-CN" dirty="0">
                <a:ea typeface="宋体" pitchFamily="2" charset="-122"/>
              </a:rPr>
              <a:t>--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关键路径</a:t>
            </a:r>
          </a:p>
          <a:p>
            <a:pPr lvl="1">
              <a:lnSpc>
                <a:spcPct val="110000"/>
              </a:lnSpc>
              <a:defRPr/>
            </a:pPr>
            <a:r>
              <a:rPr lang="zh-CN" altLang="en-US" dirty="0">
                <a:ea typeface="宋体" pitchFamily="2" charset="-122"/>
              </a:rPr>
              <a:t>基本思想：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110000"/>
              </a:lnSpc>
              <a:defRPr/>
            </a:pPr>
            <a:r>
              <a:rPr lang="zh-CN" altLang="en-US" dirty="0">
                <a:ea typeface="宋体" pitchFamily="2" charset="-122"/>
              </a:rPr>
              <a:t>设源点</a:t>
            </a:r>
            <a:r>
              <a:rPr lang="en-US" altLang="zh-CN" dirty="0">
                <a:ea typeface="宋体" pitchFamily="2" charset="-122"/>
              </a:rPr>
              <a:t>V1</a:t>
            </a:r>
            <a:r>
              <a:rPr lang="zh-CN" altLang="en-US" dirty="0">
                <a:ea typeface="宋体" pitchFamily="2" charset="-122"/>
              </a:rPr>
              <a:t>的最早开始时间为</a:t>
            </a:r>
            <a:r>
              <a:rPr lang="en-US" altLang="zh-CN" dirty="0">
                <a:ea typeface="宋体" pitchFamily="2" charset="-122"/>
              </a:rPr>
              <a:t>0</a:t>
            </a:r>
            <a:r>
              <a:rPr lang="zh-CN" altLang="en-US" dirty="0">
                <a:ea typeface="宋体" pitchFamily="2" charset="-122"/>
              </a:rPr>
              <a:t>，根据弧上活动的时间，逐步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向前递推</a:t>
            </a:r>
            <a:r>
              <a:rPr lang="zh-CN" altLang="en-US" dirty="0">
                <a:ea typeface="宋体" pitchFamily="2" charset="-122"/>
              </a:rPr>
              <a:t>，可以获得所有顶点（事件）的最早开始时间；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110000"/>
              </a:lnSpc>
              <a:defRPr/>
            </a:pPr>
            <a:r>
              <a:rPr lang="zh-CN" altLang="en-US" dirty="0">
                <a:ea typeface="宋体" pitchFamily="2" charset="-122"/>
              </a:rPr>
              <a:t>令终点的“最早开始时间</a:t>
            </a:r>
            <a:r>
              <a:rPr lang="en-US" altLang="zh-CN" dirty="0">
                <a:ea typeface="宋体" pitchFamily="2" charset="-122"/>
              </a:rPr>
              <a:t>=</a:t>
            </a:r>
            <a:r>
              <a:rPr lang="zh-CN" altLang="en-US" dirty="0">
                <a:ea typeface="宋体" pitchFamily="2" charset="-122"/>
              </a:rPr>
              <a:t>最迟开始时间”，根据弧上的活动时间，逐步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向后递推</a:t>
            </a:r>
            <a:r>
              <a:rPr lang="zh-CN" altLang="en-US" dirty="0">
                <a:ea typeface="宋体" pitchFamily="2" charset="-122"/>
              </a:rPr>
              <a:t>，可以获得所有顶点（事件）的最迟开始时间。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110000"/>
              </a:lnSpc>
              <a:defRPr/>
            </a:pPr>
            <a:r>
              <a:rPr lang="zh-CN" altLang="en-US" dirty="0">
                <a:ea typeface="宋体" pitchFamily="2" charset="-122"/>
              </a:rPr>
              <a:t>由“最早开始时间</a:t>
            </a:r>
            <a:r>
              <a:rPr lang="en-US" altLang="zh-CN" dirty="0">
                <a:ea typeface="宋体" pitchFamily="2" charset="-122"/>
              </a:rPr>
              <a:t>=</a:t>
            </a:r>
            <a:r>
              <a:rPr lang="zh-CN" altLang="en-US" dirty="0">
                <a:ea typeface="宋体" pitchFamily="2" charset="-122"/>
              </a:rPr>
              <a:t>最迟开始时间”的顶点序列所表示的路径就是关键路径。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110000"/>
              </a:lnSpc>
              <a:defRPr/>
            </a:pPr>
            <a:r>
              <a:rPr lang="zh-CN" altLang="en-US" dirty="0">
                <a:ea typeface="宋体" pitchFamily="2" charset="-122"/>
              </a:rPr>
              <a:t>算法实现时，可以按拓扑排序的顺序计算各顶点的最早开始时间和最迟开始时间。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11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 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53252" name="灯片编号占位符 5">
            <a:extLst>
              <a:ext uri="{FF2B5EF4-FFF2-40B4-BE49-F238E27FC236}">
                <a16:creationId xmlns:a16="http://schemas.microsoft.com/office/drawing/2014/main" id="{F835FE5E-C464-429F-9A4D-57AA194A6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39000" y="6524625"/>
            <a:ext cx="1905000" cy="217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5CA766-9F80-48E7-8B03-4DEB762211A3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53253" name="Picture 2" descr="D:\Lsa_DOC\软件技术\SoftwareTB\Snap1.gif">
            <a:extLst>
              <a:ext uri="{FF2B5EF4-FFF2-40B4-BE49-F238E27FC236}">
                <a16:creationId xmlns:a16="http://schemas.microsoft.com/office/drawing/2014/main" id="{FE101254-5B4C-4D99-A6A6-7FC1D2C2C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404813"/>
            <a:ext cx="4457700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2E48CA5-CF4C-4E66-854E-059089E9A49F}"/>
              </a:ext>
            </a:extLst>
          </p:cNvPr>
          <p:cNvGraphicFramePr>
            <a:graphicFrameLocks noGrp="1"/>
          </p:cNvGraphicFramePr>
          <p:nvPr/>
        </p:nvGraphicFramePr>
        <p:xfrm>
          <a:off x="5508625" y="3460750"/>
          <a:ext cx="3635375" cy="335280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628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顶点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最早开始时间</a:t>
                      </a: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最迟开始时间</a:t>
                      </a:r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zh-CN" altLang="en-US" sz="1600" b="1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zh-CN" altLang="en-US" sz="1600" b="1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6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6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3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4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6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4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5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8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zh-CN" altLang="en-US" sz="1600" b="1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7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7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6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7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zh-CN" altLang="en-US" sz="1600" b="1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16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16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zh-CN" altLang="en-US" sz="1600" b="1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14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14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6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zh-CN" altLang="en-US" sz="1600" b="1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18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18</a:t>
                      </a:r>
                      <a:endParaRPr lang="zh-CN" altLang="en-US" sz="1600" b="1" dirty="0"/>
                    </a:p>
                  </a:txBody>
                  <a:tcPr marL="91427" marR="914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3285" name="Object 2">
            <a:extLst>
              <a:ext uri="{FF2B5EF4-FFF2-40B4-BE49-F238E27FC236}">
                <a16:creationId xmlns:a16="http://schemas.microsoft.com/office/drawing/2014/main" id="{8895720E-8C6D-48E4-9B3E-0FFC2AC786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63" y="6094413"/>
          <a:ext cx="51228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5" imgW="2790742" imgH="190449" progId="Equation.DSMT4">
                  <p:embed/>
                </p:oleObj>
              </mc:Choice>
              <mc:Fallback>
                <p:oleObj name="Equation" r:id="rId5" imgW="2790742" imgH="19044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6094413"/>
                        <a:ext cx="51228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741526A-BD0B-4FDE-9720-00061EB77CED}"/>
              </a:ext>
            </a:extLst>
          </p:cNvPr>
          <p:cNvCxnSpPr/>
          <p:nvPr/>
        </p:nvCxnSpPr>
        <p:spPr bwMode="auto">
          <a:xfrm flipV="1">
            <a:off x="6462713" y="1622425"/>
            <a:ext cx="433387" cy="454025"/>
          </a:xfrm>
          <a:prstGeom prst="straightConnector1">
            <a:avLst/>
          </a:prstGeom>
          <a:noFill/>
          <a:ln w="34925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26B8CF0A-832E-4194-9491-841FF891F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B78A7A-F938-412B-98F2-7EF9E9209173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5299" name="Rectangle 1026">
            <a:extLst>
              <a:ext uri="{FF2B5EF4-FFF2-40B4-BE49-F238E27FC236}">
                <a16:creationId xmlns:a16="http://schemas.microsoft.com/office/drawing/2014/main" id="{5CA1F889-6143-4D4B-8E34-9AA5DE576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28800"/>
            <a:ext cx="7772400" cy="2057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7200" b="1">
                <a:latin typeface="宋体" panose="02010600030101010101" pitchFamily="2" charset="-122"/>
                <a:ea typeface="宋体" panose="02010600030101010101" pitchFamily="2" charset="-122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etComputing">
  <a:themeElements>
    <a:clrScheme name="软件技术基础">
      <a:dk1>
        <a:srgbClr val="000000"/>
      </a:dk1>
      <a:lt1>
        <a:srgbClr val="FF0000"/>
      </a:lt1>
      <a:dk2>
        <a:srgbClr val="000000"/>
      </a:dk2>
      <a:lt2>
        <a:srgbClr val="FF0000"/>
      </a:lt2>
      <a:accent1>
        <a:srgbClr val="0000D4"/>
      </a:accent1>
      <a:accent2>
        <a:srgbClr val="FFCBCC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InternetComputing">
      <a:majorFont>
        <a:latin typeface="Arial"/>
        <a:ea typeface=""/>
        <a:cs typeface=""/>
      </a:majorFont>
      <a:minorFont>
        <a:latin typeface="Book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InternetComput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etComputin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27204</TotalTime>
  <Words>3730</Words>
  <Application>Microsoft Office PowerPoint</Application>
  <PresentationFormat>全屏显示(4:3)</PresentationFormat>
  <Paragraphs>431</Paragraphs>
  <Slides>27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Bookman</vt:lpstr>
      <vt:lpstr>宋体</vt:lpstr>
      <vt:lpstr>微软雅黑</vt:lpstr>
      <vt:lpstr>Arial</vt:lpstr>
      <vt:lpstr>Symbol</vt:lpstr>
      <vt:lpstr>Times New Roman</vt:lpstr>
      <vt:lpstr>Wingdings</vt:lpstr>
      <vt:lpstr>InternetComputing</vt:lpstr>
      <vt:lpstr>Equation</vt:lpstr>
      <vt:lpstr>数据结构与操作系统 （第七讲）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3. 数据结构 3.6 图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1087</cp:revision>
  <dcterms:created xsi:type="dcterms:W3CDTF">1999-12-08T03:20:02Z</dcterms:created>
  <dcterms:modified xsi:type="dcterms:W3CDTF">2024-03-05T01:27:52Z</dcterms:modified>
</cp:coreProperties>
</file>